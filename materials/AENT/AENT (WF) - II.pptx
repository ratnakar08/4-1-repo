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7" r:id="rId4"/>
    <p:sldId id="258" r:id="rId5"/>
    <p:sldId id="259" r:id="rId6"/>
    <p:sldId id="268" r:id="rId7"/>
    <p:sldId id="260" r:id="rId8"/>
    <p:sldId id="269" r:id="rId9"/>
    <p:sldId id="266" r:id="rId10"/>
    <p:sldId id="264" r:id="rId11"/>
    <p:sldId id="265" r:id="rId12"/>
    <p:sldId id="261" r:id="rId13"/>
    <p:sldId id="263" r:id="rId14"/>
    <p:sldId id="271" r:id="rId15"/>
    <p:sldId id="270" r:id="rId16"/>
    <p:sldId id="262" r:id="rId17"/>
    <p:sldId id="272" r:id="rId18"/>
    <p:sldId id="273" r:id="rId19"/>
    <p:sldId id="274" r:id="rId20"/>
    <p:sldId id="275" r:id="rId21"/>
    <p:sldId id="281" r:id="rId22"/>
    <p:sldId id="280" r:id="rId23"/>
    <p:sldId id="279" r:id="rId24"/>
    <p:sldId id="278" r:id="rId25"/>
    <p:sldId id="277" r:id="rId26"/>
    <p:sldId id="27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50" d="100"/>
          <a:sy n="50" d="100"/>
        </p:scale>
        <p:origin x="-1086" y="-48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11/9/2021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11/9/2021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bigcommerce.com/blog/target-market-analysis/" TargetMode="External"/><Relationship Id="rId2" Type="http://schemas.openxmlformats.org/officeDocument/2006/relationships/hyperlink" Target="https://www.bigcommerce.com/blog/customer-acquisition-engagement/" TargetMode="External"/><Relationship Id="rId1" Type="http://schemas.openxmlformats.org/officeDocument/2006/relationships/slideLayout" Target="../slideLayouts/slideLayout2.xml"/><Relationship Id="rId4" Type="http://schemas.openxmlformats.org/officeDocument/2006/relationships/hyperlink" Target="https://www.bigcommerce.com/blog/ecommerce-apps-customer-servic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etthematic.com/insights/how-to-get-actionable-insights-from-your-customer-feedback-analysis/" TargetMode="External"/><Relationship Id="rId2" Type="http://schemas.openxmlformats.org/officeDocument/2006/relationships/hyperlink" Target="https://www.bigcommerce.com/blog/email-marketing-engagement-tips/" TargetMode="External"/><Relationship Id="rId1" Type="http://schemas.openxmlformats.org/officeDocument/2006/relationships/slideLayout" Target="../slideLayouts/slideLayout2.xml"/><Relationship Id="rId4" Type="http://schemas.openxmlformats.org/officeDocument/2006/relationships/hyperlink" Target="https://www.bigcommerce.com/blog/social-media-influencer-progra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05930"/>
            <a:ext cx="8763000" cy="1470025"/>
          </a:xfrm>
        </p:spPr>
        <p:txBody>
          <a:bodyPr>
            <a:normAutofit fontScale="90000"/>
          </a:bodyPr>
          <a:lstStyle/>
          <a:p>
            <a:r>
              <a:rPr lang="en-US" dirty="0" smtClean="0"/>
              <a:t>AENT – UNIT – II</a:t>
            </a:r>
            <a:br>
              <a:rPr lang="en-US" dirty="0" smtClean="0"/>
            </a:br>
            <a:r>
              <a:rPr lang="en-US" sz="3800" dirty="0" smtClean="0"/>
              <a:t>BUSINESS PLANNING &amp; EXPLORING REVENUE</a:t>
            </a:r>
            <a:endParaRPr lang="en-US" sz="3800" dirty="0"/>
          </a:p>
        </p:txBody>
      </p:sp>
    </p:spTree>
    <p:extLst>
      <p:ext uri="{BB962C8B-B14F-4D97-AF65-F5344CB8AC3E}">
        <p14:creationId xmlns:p14="http://schemas.microsoft.com/office/powerpoint/2010/main" xmlns="" val="37812155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r>
              <a:rPr lang="en-US" b="1" dirty="0" smtClean="0"/>
              <a:t>Contents:</a:t>
            </a:r>
            <a:endParaRPr lang="en-US" b="1" dirty="0"/>
          </a:p>
        </p:txBody>
      </p:sp>
      <p:sp>
        <p:nvSpPr>
          <p:cNvPr id="3" name="Content Placeholder 2"/>
          <p:cNvSpPr>
            <a:spLocks noGrp="1"/>
          </p:cNvSpPr>
          <p:nvPr>
            <p:ph sz="quarter" idx="1"/>
          </p:nvPr>
        </p:nvSpPr>
        <p:spPr>
          <a:xfrm>
            <a:off x="1295400" y="990600"/>
            <a:ext cx="7467600" cy="5410200"/>
          </a:xfrm>
        </p:spPr>
        <p:txBody>
          <a:bodyPr>
            <a:noAutofit/>
          </a:bodyPr>
          <a:lstStyle/>
          <a:p>
            <a:pPr marL="514350" indent="-514350">
              <a:buClr>
                <a:schemeClr val="tx1"/>
              </a:buClr>
              <a:buSzPct val="90000"/>
              <a:buFont typeface="+mj-lt"/>
              <a:buAutoNum type="arabicPeriod"/>
            </a:pPr>
            <a:r>
              <a:rPr lang="en-US" dirty="0" smtClean="0"/>
              <a:t>Business Plan</a:t>
            </a:r>
          </a:p>
          <a:p>
            <a:pPr marL="514350" indent="-514350">
              <a:buClr>
                <a:schemeClr val="tx1"/>
              </a:buClr>
              <a:buSzPct val="90000"/>
              <a:buFont typeface="+mj-lt"/>
              <a:buAutoNum type="arabicPeriod"/>
            </a:pPr>
            <a:r>
              <a:rPr lang="en-US" dirty="0" smtClean="0"/>
              <a:t>Sales Plan</a:t>
            </a:r>
          </a:p>
          <a:p>
            <a:pPr marL="514350" indent="-514350">
              <a:buClr>
                <a:schemeClr val="tx1"/>
              </a:buClr>
              <a:buSzPct val="90000"/>
              <a:buFont typeface="+mj-lt"/>
              <a:buAutoNum type="arabicPeriod"/>
            </a:pPr>
            <a:r>
              <a:rPr lang="en-US" dirty="0" smtClean="0"/>
              <a:t>Hiring Sale Team</a:t>
            </a:r>
          </a:p>
          <a:p>
            <a:pPr marL="514350" indent="-514350">
              <a:buClr>
                <a:schemeClr val="tx1"/>
              </a:buClr>
              <a:buSzPct val="90000"/>
              <a:buFont typeface="+mj-lt"/>
              <a:buAutoNum type="arabicPeriod"/>
            </a:pPr>
            <a:r>
              <a:rPr lang="en-US" dirty="0" smtClean="0"/>
              <a:t>People Plan</a:t>
            </a:r>
          </a:p>
          <a:p>
            <a:pPr marL="514350" indent="-514350">
              <a:buClr>
                <a:schemeClr val="tx1"/>
              </a:buClr>
              <a:buSzPct val="90000"/>
              <a:buFont typeface="+mj-lt"/>
              <a:buAutoNum type="arabicPeriod"/>
            </a:pPr>
            <a:r>
              <a:rPr lang="en-US" dirty="0" smtClean="0"/>
              <a:t>Financial Planning</a:t>
            </a:r>
          </a:p>
          <a:p>
            <a:pPr marL="514350" indent="-514350">
              <a:buClr>
                <a:schemeClr val="tx1"/>
              </a:buClr>
              <a:buSzPct val="90000"/>
              <a:buFont typeface="+mj-lt"/>
              <a:buAutoNum type="arabicPeriod"/>
            </a:pPr>
            <a:r>
              <a:rPr lang="en-US" dirty="0" smtClean="0"/>
              <a:t>Financial Forecasting</a:t>
            </a:r>
          </a:p>
          <a:p>
            <a:pPr marL="514350" indent="-514350">
              <a:buClr>
                <a:schemeClr val="tx1"/>
              </a:buClr>
              <a:buSzPct val="90000"/>
              <a:buFont typeface="+mj-lt"/>
              <a:buAutoNum type="arabicPeriod"/>
            </a:pPr>
            <a:r>
              <a:rPr lang="en-US" dirty="0" smtClean="0"/>
              <a:t>Procurement Plan</a:t>
            </a:r>
          </a:p>
          <a:p>
            <a:pPr marL="514350" indent="-514350">
              <a:buClr>
                <a:schemeClr val="tx1"/>
              </a:buClr>
              <a:buSzPct val="90000"/>
              <a:buFont typeface="+mj-lt"/>
              <a:buAutoNum type="arabicPeriod"/>
            </a:pPr>
            <a:r>
              <a:rPr lang="en-US" dirty="0" smtClean="0"/>
              <a:t>Negotiating Role Play</a:t>
            </a:r>
          </a:p>
          <a:p>
            <a:pPr marL="514350" indent="-514350">
              <a:buClr>
                <a:schemeClr val="tx1"/>
              </a:buClr>
              <a:buSzPct val="90000"/>
              <a:buFont typeface="+mj-lt"/>
              <a:buAutoNum type="arabicPeriod"/>
            </a:pPr>
            <a:r>
              <a:rPr lang="en-US" dirty="0" smtClean="0"/>
              <a:t>Understanding Primary Revenue Sources</a:t>
            </a:r>
          </a:p>
          <a:p>
            <a:pPr marL="514350" indent="-514350">
              <a:buClr>
                <a:schemeClr val="tx1"/>
              </a:buClr>
              <a:buSzPct val="90000"/>
              <a:buFont typeface="+mj-lt"/>
              <a:buAutoNum type="arabicPeriod"/>
            </a:pPr>
            <a:r>
              <a:rPr lang="en-US" dirty="0" smtClean="0"/>
              <a:t>Exploring Customer Lifecycle for Growth Customers</a:t>
            </a:r>
          </a:p>
          <a:p>
            <a:pPr marL="514350" indent="-514350">
              <a:buClr>
                <a:schemeClr val="tx1"/>
              </a:buClr>
              <a:buSzPct val="90000"/>
              <a:buFont typeface="+mj-lt"/>
              <a:buAutoNum type="arabicPeriod"/>
            </a:pPr>
            <a:r>
              <a:rPr lang="en-US" dirty="0" smtClean="0"/>
              <a:t> Exploring and Identify Secondary Sources of Revenue</a:t>
            </a:r>
            <a:endParaRPr lang="en-US" dirty="0"/>
          </a:p>
        </p:txBody>
      </p:sp>
    </p:spTree>
    <p:extLst>
      <p:ext uri="{BB962C8B-B14F-4D97-AF65-F5344CB8AC3E}">
        <p14:creationId xmlns:p14="http://schemas.microsoft.com/office/powerpoint/2010/main" xmlns="" val="29806569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Deliver a Winning Startup Business Plan - QuestFusion"/>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1168" y="533400"/>
            <a:ext cx="8783944" cy="5867400"/>
          </a:xfrm>
          <a:prstGeom prst="ellipse">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63048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r>
              <a:rPr lang="en-US" b="1" dirty="0" smtClean="0"/>
              <a:t>1. Business Plan</a:t>
            </a:r>
            <a:endParaRPr lang="en-US" b="1" dirty="0"/>
          </a:p>
        </p:txBody>
      </p:sp>
      <p:sp>
        <p:nvSpPr>
          <p:cNvPr id="3" name="Content Placeholder 2"/>
          <p:cNvSpPr>
            <a:spLocks noGrp="1"/>
          </p:cNvSpPr>
          <p:nvPr>
            <p:ph sz="quarter" idx="1"/>
          </p:nvPr>
        </p:nvSpPr>
        <p:spPr>
          <a:xfrm>
            <a:off x="762000" y="1295400"/>
            <a:ext cx="8001000" cy="4876800"/>
          </a:xfrm>
        </p:spPr>
        <p:txBody>
          <a:bodyPr>
            <a:noAutofit/>
          </a:bodyPr>
          <a:lstStyle/>
          <a:p>
            <a:pPr algn="just"/>
            <a:r>
              <a:rPr lang="en-US" sz="2800" dirty="0" smtClean="0"/>
              <a:t>A </a:t>
            </a:r>
            <a:r>
              <a:rPr lang="en-US" sz="2800" dirty="0"/>
              <a:t>business plan is a written document that describes in detail how a business — usually a </a:t>
            </a:r>
            <a:r>
              <a:rPr lang="en-US" sz="2800" u="sng" dirty="0"/>
              <a:t>startup</a:t>
            </a:r>
            <a:r>
              <a:rPr lang="en-US" sz="2800" dirty="0"/>
              <a:t> — defines its objectives and how it is to go about achieving its goals. A business plan lays out a written roadmap for the firm from each of a sales, financial, and Human Resource planning</a:t>
            </a:r>
            <a:r>
              <a:rPr lang="en-US" sz="2800" dirty="0" smtClean="0"/>
              <a:t>.</a:t>
            </a:r>
          </a:p>
          <a:p>
            <a:pPr algn="just"/>
            <a:endParaRPr lang="en-US" sz="2800" dirty="0"/>
          </a:p>
          <a:p>
            <a:pPr algn="just"/>
            <a:r>
              <a:rPr lang="en-US" sz="2800" dirty="0"/>
              <a:t>Business plans are important documents used to attract investment before a company has established a proven track record. They are also a good way for companies to keep themselves on target going forward.</a:t>
            </a:r>
          </a:p>
          <a:p>
            <a:pPr algn="just"/>
            <a:endParaRPr lang="en-US" sz="2800" dirty="0"/>
          </a:p>
        </p:txBody>
      </p:sp>
    </p:spTree>
    <p:extLst>
      <p:ext uri="{BB962C8B-B14F-4D97-AF65-F5344CB8AC3E}">
        <p14:creationId xmlns:p14="http://schemas.microsoft.com/office/powerpoint/2010/main" xmlns="" val="125420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72400" cy="868362"/>
          </a:xfrm>
        </p:spPr>
        <p:txBody>
          <a:bodyPr/>
          <a:lstStyle/>
          <a:p>
            <a:r>
              <a:rPr lang="en-US" b="1" dirty="0" smtClean="0"/>
              <a:t>1. Business Plan</a:t>
            </a:r>
            <a:endParaRPr lang="en-US" b="1" dirty="0"/>
          </a:p>
        </p:txBody>
      </p:sp>
      <p:sp>
        <p:nvSpPr>
          <p:cNvPr id="3" name="Content Placeholder 2"/>
          <p:cNvSpPr>
            <a:spLocks noGrp="1"/>
          </p:cNvSpPr>
          <p:nvPr>
            <p:ph sz="quarter" idx="1"/>
          </p:nvPr>
        </p:nvSpPr>
        <p:spPr>
          <a:xfrm>
            <a:off x="762000" y="914400"/>
            <a:ext cx="8001000" cy="3048000"/>
          </a:xfrm>
        </p:spPr>
        <p:txBody>
          <a:bodyPr>
            <a:noAutofit/>
          </a:bodyPr>
          <a:lstStyle/>
          <a:p>
            <a:pPr marL="0" indent="0">
              <a:buNone/>
            </a:pPr>
            <a:r>
              <a:rPr lang="en-US" sz="3200" b="1" i="1" dirty="0"/>
              <a:t>Types of Business Plans</a:t>
            </a:r>
          </a:p>
          <a:p>
            <a:pPr algn="just"/>
            <a:r>
              <a:rPr lang="en-US" sz="2800" dirty="0"/>
              <a:t>Business plans help companies identify their objectives and remain on track. They can help companies start and manage themselves, and to help grow after they're up and running. They also act as a means to get people to work with and invest in the business</a:t>
            </a:r>
            <a:r>
              <a:rPr lang="en-US" sz="2800" dirty="0" smtClean="0"/>
              <a:t>.</a:t>
            </a:r>
          </a:p>
          <a:p>
            <a:pPr marL="0" indent="0">
              <a:buNone/>
            </a:pPr>
            <a:r>
              <a:rPr lang="en-US" sz="3200" b="1" i="1" dirty="0" smtClean="0"/>
              <a:t>Components </a:t>
            </a:r>
            <a:r>
              <a:rPr lang="en-US" sz="3200" b="1" i="1" dirty="0"/>
              <a:t>of Business Plans</a:t>
            </a:r>
          </a:p>
          <a:p>
            <a:pPr marL="834390" lvl="1" indent="-514350">
              <a:buFont typeface="+mj-lt"/>
              <a:buAutoNum type="arabicPeriod"/>
            </a:pPr>
            <a:r>
              <a:rPr lang="en-US" sz="2800" dirty="0"/>
              <a:t>Executive </a:t>
            </a:r>
            <a:r>
              <a:rPr lang="en-US" sz="2800" dirty="0" smtClean="0"/>
              <a:t>summary</a:t>
            </a:r>
          </a:p>
          <a:p>
            <a:pPr marL="834390" lvl="1" indent="-514350">
              <a:buFont typeface="+mj-lt"/>
              <a:buAutoNum type="arabicPeriod"/>
            </a:pPr>
            <a:r>
              <a:rPr lang="en-US" sz="2800" dirty="0" smtClean="0"/>
              <a:t>Business </a:t>
            </a:r>
            <a:r>
              <a:rPr lang="en-US" sz="2800" dirty="0"/>
              <a:t>description and structure. </a:t>
            </a:r>
          </a:p>
          <a:p>
            <a:pPr marL="834390" lvl="1" indent="-514350">
              <a:buFont typeface="+mj-lt"/>
              <a:buAutoNum type="arabicPeriod"/>
            </a:pPr>
            <a:r>
              <a:rPr lang="en-US" sz="2800" dirty="0"/>
              <a:t>Market research and strategies. </a:t>
            </a:r>
          </a:p>
          <a:p>
            <a:pPr marL="834390" lvl="1" indent="-514350">
              <a:buFont typeface="+mj-lt"/>
              <a:buAutoNum type="arabicPeriod"/>
            </a:pPr>
            <a:r>
              <a:rPr lang="en-US" sz="2800" dirty="0"/>
              <a:t>Management and personnel. </a:t>
            </a:r>
          </a:p>
          <a:p>
            <a:pPr marL="834390" lvl="1" indent="-514350">
              <a:buFont typeface="+mj-lt"/>
              <a:buAutoNum type="arabicPeriod"/>
            </a:pPr>
            <a:r>
              <a:rPr lang="en-US" sz="2800" dirty="0"/>
              <a:t>Financial documents</a:t>
            </a:r>
            <a:r>
              <a:rPr lang="en-US" dirty="0"/>
              <a:t>.</a:t>
            </a:r>
          </a:p>
        </p:txBody>
      </p:sp>
    </p:spTree>
    <p:extLst>
      <p:ext uri="{BB962C8B-B14F-4D97-AF65-F5344CB8AC3E}">
        <p14:creationId xmlns:p14="http://schemas.microsoft.com/office/powerpoint/2010/main" xmlns="" val="37168466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should be the ingredients of a sales plan to boost your revenue? -  SlideBazaar Blo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3400" y="685800"/>
            <a:ext cx="8229599" cy="5761509"/>
          </a:xfrm>
          <a:prstGeom prst="ellipse">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92053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r>
              <a:rPr lang="en-US" b="1" dirty="0" smtClean="0"/>
              <a:t>2. Sales Plan</a:t>
            </a:r>
            <a:endParaRPr lang="en-US" b="1" dirty="0"/>
          </a:p>
        </p:txBody>
      </p:sp>
      <p:sp>
        <p:nvSpPr>
          <p:cNvPr id="3" name="Content Placeholder 2"/>
          <p:cNvSpPr>
            <a:spLocks noGrp="1"/>
          </p:cNvSpPr>
          <p:nvPr>
            <p:ph sz="quarter" idx="1"/>
          </p:nvPr>
        </p:nvSpPr>
        <p:spPr>
          <a:xfrm>
            <a:off x="228600" y="1295400"/>
            <a:ext cx="8686800" cy="4953000"/>
          </a:xfrm>
        </p:spPr>
        <p:txBody>
          <a:bodyPr>
            <a:noAutofit/>
          </a:bodyPr>
          <a:lstStyle/>
          <a:p>
            <a:pPr fontAlgn="base"/>
            <a:r>
              <a:rPr lang="en-US" sz="2800" dirty="0"/>
              <a:t>Sales plans often include information about the </a:t>
            </a:r>
            <a:r>
              <a:rPr lang="en-US" sz="2800" b="1" dirty="0" smtClean="0"/>
              <a:t>business </a:t>
            </a:r>
            <a:r>
              <a:rPr lang="en-US" sz="2800" b="1" dirty="0"/>
              <a:t>target customers, revenue goals, team structure, and the strategies and resources</a:t>
            </a:r>
            <a:r>
              <a:rPr lang="en-US" sz="2800" dirty="0"/>
              <a:t> necessary for achieving its targets.</a:t>
            </a:r>
          </a:p>
          <a:p>
            <a:pPr fontAlgn="base"/>
            <a:r>
              <a:rPr lang="en-US" sz="2800" dirty="0"/>
              <a:t>An effective sales plan should do the following:</a:t>
            </a:r>
          </a:p>
          <a:p>
            <a:pPr fontAlgn="base"/>
            <a:r>
              <a:rPr lang="en-US" sz="2800" dirty="0"/>
              <a:t>Communicate your company’s goals and objectives to your sales team.</a:t>
            </a:r>
          </a:p>
          <a:p>
            <a:pPr fontAlgn="base"/>
            <a:r>
              <a:rPr lang="en-US" sz="2800" dirty="0"/>
              <a:t>Provide strategic direction for your sales team.</a:t>
            </a:r>
          </a:p>
          <a:p>
            <a:pPr fontAlgn="base"/>
            <a:r>
              <a:rPr lang="en-US" sz="2800" dirty="0"/>
              <a:t>Outline roles and responsibilities for your sales team and leadership.</a:t>
            </a:r>
          </a:p>
          <a:p>
            <a:pPr fontAlgn="base"/>
            <a:r>
              <a:rPr lang="en-US" sz="2800" dirty="0"/>
              <a:t>Monitor your sales team’s progress to organizational goal</a:t>
            </a:r>
          </a:p>
          <a:p>
            <a:endParaRPr lang="en-US" sz="2800" dirty="0"/>
          </a:p>
        </p:txBody>
      </p:sp>
    </p:spTree>
    <p:extLst>
      <p:ext uri="{BB962C8B-B14F-4D97-AF65-F5344CB8AC3E}">
        <p14:creationId xmlns:p14="http://schemas.microsoft.com/office/powerpoint/2010/main" xmlns="" val="29513916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elm Coaching Group Hiring a Sales Team - Helm Coaching Grou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5" name="Picture 3"/>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3607"/>
          <a:stretch/>
        </p:blipFill>
        <p:spPr bwMode="auto">
          <a:xfrm>
            <a:off x="457005" y="1798320"/>
            <a:ext cx="8077395" cy="2895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344093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r>
              <a:rPr lang="en-US" b="1" dirty="0"/>
              <a:t>3</a:t>
            </a:r>
            <a:r>
              <a:rPr lang="en-US" b="1" dirty="0" smtClean="0"/>
              <a:t>. Hiring Sales Team:</a:t>
            </a:r>
            <a:endParaRPr lang="en-US" b="1" dirty="0"/>
          </a:p>
        </p:txBody>
      </p:sp>
      <p:sp>
        <p:nvSpPr>
          <p:cNvPr id="3" name="Content Placeholder 2"/>
          <p:cNvSpPr>
            <a:spLocks noGrp="1"/>
          </p:cNvSpPr>
          <p:nvPr>
            <p:ph sz="quarter" idx="1"/>
          </p:nvPr>
        </p:nvSpPr>
        <p:spPr>
          <a:xfrm>
            <a:off x="609600" y="1219200"/>
            <a:ext cx="8153400" cy="4953000"/>
          </a:xfrm>
        </p:spPr>
        <p:txBody>
          <a:bodyPr>
            <a:noAutofit/>
          </a:bodyPr>
          <a:lstStyle/>
          <a:p>
            <a:pPr marL="0" indent="0" algn="just">
              <a:buNone/>
            </a:pPr>
            <a:r>
              <a:rPr lang="en-US" dirty="0"/>
              <a:t>companies need to hire </a:t>
            </a:r>
            <a:r>
              <a:rPr lang="en-US" b="1" dirty="0"/>
              <a:t>sales</a:t>
            </a:r>
            <a:r>
              <a:rPr lang="en-US" dirty="0"/>
              <a:t> teams that are </a:t>
            </a:r>
            <a:r>
              <a:rPr lang="en-US" b="1" dirty="0"/>
              <a:t>multi-dimensional—salespeople who collaborate with others, help customers, use analytics, and work social media</a:t>
            </a:r>
            <a:r>
              <a:rPr lang="en-US" dirty="0"/>
              <a:t>. With expert recruiting advice and the latest </a:t>
            </a:r>
            <a:r>
              <a:rPr lang="en-US" b="1" dirty="0"/>
              <a:t>hiring</a:t>
            </a:r>
            <a:r>
              <a:rPr lang="en-US" dirty="0"/>
              <a:t> trends, Monster </a:t>
            </a:r>
            <a:r>
              <a:rPr lang="en-US" b="1" dirty="0"/>
              <a:t>Hiring</a:t>
            </a:r>
            <a:r>
              <a:rPr lang="en-US" dirty="0"/>
              <a:t> Solutions can help your company find the best salespeople to grow your business.</a:t>
            </a:r>
            <a:endParaRPr lang="en-US" dirty="0" smtClean="0"/>
          </a:p>
          <a:p>
            <a:r>
              <a:rPr lang="en-US" dirty="0" smtClean="0"/>
              <a:t>Make </a:t>
            </a:r>
            <a:r>
              <a:rPr lang="en-US" dirty="0"/>
              <a:t>Sure You're Actually Ready to </a:t>
            </a:r>
            <a:r>
              <a:rPr lang="en-US" b="1" dirty="0"/>
              <a:t>Hire</a:t>
            </a:r>
            <a:r>
              <a:rPr lang="en-US" dirty="0"/>
              <a:t> Commission Only </a:t>
            </a:r>
            <a:r>
              <a:rPr lang="en-US" b="1" dirty="0"/>
              <a:t>Sales Reps</a:t>
            </a:r>
            <a:r>
              <a:rPr lang="en-US" dirty="0"/>
              <a:t>.</a:t>
            </a:r>
          </a:p>
          <a:p>
            <a:r>
              <a:rPr lang="en-US" dirty="0"/>
              <a:t>Put Your </a:t>
            </a:r>
            <a:r>
              <a:rPr lang="en-US" b="1" dirty="0"/>
              <a:t>Best</a:t>
            </a:r>
            <a:r>
              <a:rPr lang="en-US" dirty="0"/>
              <a:t> Foot Forward.</a:t>
            </a:r>
          </a:p>
          <a:p>
            <a:r>
              <a:rPr lang="en-US" dirty="0"/>
              <a:t>Provide the </a:t>
            </a:r>
            <a:r>
              <a:rPr lang="en-US" b="1" dirty="0"/>
              <a:t>Sales</a:t>
            </a:r>
            <a:r>
              <a:rPr lang="en-US" dirty="0"/>
              <a:t> Training that Your </a:t>
            </a:r>
            <a:r>
              <a:rPr lang="en-US" b="1" dirty="0"/>
              <a:t>Reps</a:t>
            </a:r>
            <a:r>
              <a:rPr lang="en-US" dirty="0"/>
              <a:t> and Teams Need.</a:t>
            </a:r>
          </a:p>
          <a:p>
            <a:r>
              <a:rPr lang="en-US" dirty="0"/>
              <a:t>Explain Your </a:t>
            </a:r>
            <a:r>
              <a:rPr lang="en-US" b="1" dirty="0"/>
              <a:t>Sales</a:t>
            </a:r>
            <a:r>
              <a:rPr lang="en-US" dirty="0"/>
              <a:t> Process Clearly.</a:t>
            </a:r>
          </a:p>
          <a:p>
            <a:r>
              <a:rPr lang="en-US" b="1" dirty="0"/>
              <a:t>Create the Right Power Dynamic</a:t>
            </a:r>
            <a:r>
              <a:rPr lang="en-US" dirty="0"/>
              <a:t>.</a:t>
            </a:r>
          </a:p>
        </p:txBody>
      </p:sp>
    </p:spTree>
    <p:extLst>
      <p:ext uri="{BB962C8B-B14F-4D97-AF65-F5344CB8AC3E}">
        <p14:creationId xmlns:p14="http://schemas.microsoft.com/office/powerpoint/2010/main" xmlns="" val="35357698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r>
              <a:rPr lang="en-US" b="1" dirty="0" smtClean="0"/>
              <a:t>4. People Plan:</a:t>
            </a:r>
            <a:endParaRPr lang="en-US" b="1" dirty="0"/>
          </a:p>
        </p:txBody>
      </p:sp>
      <p:sp>
        <p:nvSpPr>
          <p:cNvPr id="3" name="Content Placeholder 2"/>
          <p:cNvSpPr>
            <a:spLocks noGrp="1"/>
          </p:cNvSpPr>
          <p:nvPr>
            <p:ph sz="quarter" idx="1"/>
          </p:nvPr>
        </p:nvSpPr>
        <p:spPr>
          <a:xfrm>
            <a:off x="304800" y="1066800"/>
            <a:ext cx="8458200" cy="5181600"/>
          </a:xfrm>
        </p:spPr>
        <p:txBody>
          <a:bodyPr>
            <a:noAutofit/>
          </a:bodyPr>
          <a:lstStyle/>
          <a:p>
            <a:pPr algn="just"/>
            <a:r>
              <a:rPr lang="en-US" dirty="0"/>
              <a:t>What Is </a:t>
            </a:r>
            <a:r>
              <a:rPr lang="en-US" b="1" dirty="0"/>
              <a:t>Human Resource Planning (HRP)?</a:t>
            </a:r>
          </a:p>
          <a:p>
            <a:pPr algn="just"/>
            <a:r>
              <a:rPr lang="en-US" dirty="0"/>
              <a:t>Human resource planning (HRP) is the continuous process of systematic planning ahead to achieve optimum use of an organization's most valuable </a:t>
            </a:r>
            <a:r>
              <a:rPr lang="en-US" b="1" dirty="0"/>
              <a:t>asset—quality employees</a:t>
            </a:r>
            <a:r>
              <a:rPr lang="en-US" dirty="0"/>
              <a:t>. </a:t>
            </a:r>
            <a:r>
              <a:rPr lang="en-US" u="sng" dirty="0"/>
              <a:t>Human resources</a:t>
            </a:r>
            <a:r>
              <a:rPr lang="en-US" dirty="0"/>
              <a:t> planning ensures the </a:t>
            </a:r>
            <a:r>
              <a:rPr lang="en-US" b="1" dirty="0"/>
              <a:t>best fit between employees and jobs while avoiding manpower shortages or surpluses.</a:t>
            </a:r>
          </a:p>
          <a:p>
            <a:pPr algn="just"/>
            <a:r>
              <a:rPr lang="en-US" dirty="0"/>
              <a:t>There are four key steps to the HRP process. They include analyzing present </a:t>
            </a:r>
            <a:r>
              <a:rPr lang="en-US" b="1" dirty="0"/>
              <a:t>labor supply, </a:t>
            </a:r>
            <a:r>
              <a:rPr lang="en-US" b="1" u="sng" dirty="0"/>
              <a:t>forecasting</a:t>
            </a:r>
            <a:r>
              <a:rPr lang="en-US" b="1" dirty="0"/>
              <a:t> labor demand, balancing projected labor demand with supply, and supporting organizational goals. </a:t>
            </a:r>
            <a:r>
              <a:rPr lang="en-US" dirty="0"/>
              <a:t>HRP is an important investment for any business as it allows companies to remain both </a:t>
            </a:r>
            <a:r>
              <a:rPr lang="en-US" b="1" dirty="0"/>
              <a:t>productive and profitable.</a:t>
            </a:r>
          </a:p>
          <a:p>
            <a:pPr algn="just"/>
            <a:endParaRPr lang="en-US" dirty="0"/>
          </a:p>
        </p:txBody>
      </p:sp>
    </p:spTree>
    <p:extLst>
      <p:ext uri="{BB962C8B-B14F-4D97-AF65-F5344CB8AC3E}">
        <p14:creationId xmlns:p14="http://schemas.microsoft.com/office/powerpoint/2010/main" xmlns="" val="10618210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295400"/>
            <a:ext cx="8153400" cy="4800600"/>
          </a:xfrm>
        </p:spPr>
        <p:txBody>
          <a:bodyPr>
            <a:normAutofit fontScale="92500" lnSpcReduction="20000"/>
          </a:bodyPr>
          <a:lstStyle/>
          <a:p>
            <a:pPr marL="0" indent="0" algn="just">
              <a:buNone/>
            </a:pPr>
            <a:r>
              <a:rPr lang="en-US" sz="3000" dirty="0" smtClean="0"/>
              <a:t>Workforce or </a:t>
            </a:r>
            <a:r>
              <a:rPr lang="en-US" sz="3000" b="1" dirty="0" smtClean="0"/>
              <a:t>People</a:t>
            </a:r>
            <a:r>
              <a:rPr lang="en-US" sz="3000" dirty="0" smtClean="0"/>
              <a:t> Planning - Simple Steps. Workforce, or </a:t>
            </a:r>
            <a:r>
              <a:rPr lang="en-US" sz="3000" b="1" dirty="0" smtClean="0"/>
              <a:t>people</a:t>
            </a:r>
            <a:r>
              <a:rPr lang="en-US" sz="3000" dirty="0" smtClean="0"/>
              <a:t> planning, means identifying the strengths and skills you will need </a:t>
            </a:r>
            <a:r>
              <a:rPr lang="en-US" sz="3000" b="1" dirty="0" smtClean="0"/>
              <a:t>people</a:t>
            </a:r>
            <a:r>
              <a:rPr lang="en-US" sz="3000" dirty="0" smtClean="0"/>
              <a:t> to have, the work they will need to do, and when you will need them, to meet future objectives.</a:t>
            </a:r>
          </a:p>
          <a:p>
            <a:pPr marL="0" indent="0">
              <a:buNone/>
            </a:pPr>
            <a:r>
              <a:rPr lang="en-US" sz="3200" b="1" i="1" dirty="0" smtClean="0"/>
              <a:t>Strategies: </a:t>
            </a:r>
            <a:endParaRPr lang="en-US" sz="2800" b="1" i="1" dirty="0" smtClean="0"/>
          </a:p>
          <a:p>
            <a:pPr marL="788670" lvl="1" indent="-514350">
              <a:buFont typeface="+mj-lt"/>
              <a:buAutoNum type="arabicPeriod"/>
            </a:pPr>
            <a:r>
              <a:rPr lang="en-US" sz="3000" dirty="0" smtClean="0"/>
              <a:t>Treat your applicants well. </a:t>
            </a:r>
          </a:p>
          <a:p>
            <a:pPr marL="788670" lvl="1" indent="-514350">
              <a:buFont typeface="+mj-lt"/>
              <a:buAutoNum type="arabicPeriod"/>
            </a:pPr>
            <a:r>
              <a:rPr lang="en-US" sz="3000" dirty="0" smtClean="0"/>
              <a:t>Think </a:t>
            </a:r>
            <a:r>
              <a:rPr lang="en-US" sz="3000" dirty="0"/>
              <a:t>about the cost/benefit before your hire. </a:t>
            </a:r>
          </a:p>
          <a:p>
            <a:pPr marL="788670" lvl="1" indent="-514350">
              <a:buFont typeface="+mj-lt"/>
              <a:buAutoNum type="arabicPeriod"/>
            </a:pPr>
            <a:r>
              <a:rPr lang="en-US" sz="3000" dirty="0"/>
              <a:t>Try a freelancer. </a:t>
            </a:r>
          </a:p>
          <a:p>
            <a:pPr marL="788670" lvl="1" indent="-514350">
              <a:buFont typeface="+mj-lt"/>
              <a:buAutoNum type="arabicPeriod"/>
            </a:pPr>
            <a:r>
              <a:rPr lang="en-US" sz="3000" dirty="0"/>
              <a:t>Get potential employees with previous </a:t>
            </a:r>
            <a:r>
              <a:rPr lang="en-US" sz="3000" b="1" dirty="0"/>
              <a:t>startup</a:t>
            </a:r>
            <a:r>
              <a:rPr lang="en-US" sz="3000" dirty="0"/>
              <a:t> experience</a:t>
            </a:r>
            <a:r>
              <a:rPr lang="en-US" sz="3000" dirty="0" smtClean="0"/>
              <a:t>.</a:t>
            </a:r>
          </a:p>
          <a:p>
            <a:pPr marL="788670" lvl="1" indent="-514350">
              <a:buFont typeface="+mj-lt"/>
              <a:buAutoNum type="arabicPeriod"/>
            </a:pPr>
            <a:r>
              <a:rPr lang="en-US" sz="3000" dirty="0" smtClean="0"/>
              <a:t> to </a:t>
            </a:r>
            <a:r>
              <a:rPr lang="en-US" sz="3000" dirty="0"/>
              <a:t>strengthen your employer brand. </a:t>
            </a:r>
          </a:p>
          <a:p>
            <a:pPr marL="788670" lvl="1" indent="-514350">
              <a:buFont typeface="+mj-lt"/>
              <a:buAutoNum type="arabicPeriod"/>
            </a:pPr>
            <a:r>
              <a:rPr lang="en-US" sz="3000" dirty="0"/>
              <a:t>Use an employee referral program.</a:t>
            </a:r>
          </a:p>
        </p:txBody>
      </p:sp>
      <p:sp>
        <p:nvSpPr>
          <p:cNvPr id="4" name="Title 1"/>
          <p:cNvSpPr>
            <a:spLocks noGrp="1"/>
          </p:cNvSpPr>
          <p:nvPr>
            <p:ph type="title"/>
          </p:nvPr>
        </p:nvSpPr>
        <p:spPr>
          <a:xfrm>
            <a:off x="609600" y="274638"/>
            <a:ext cx="7772400" cy="868362"/>
          </a:xfrm>
        </p:spPr>
        <p:txBody>
          <a:bodyPr/>
          <a:lstStyle/>
          <a:p>
            <a:r>
              <a:rPr lang="en-US" b="1" dirty="0" smtClean="0"/>
              <a:t>4. People Plan:</a:t>
            </a:r>
            <a:endParaRPr lang="en-US" b="1" dirty="0"/>
          </a:p>
        </p:txBody>
      </p:sp>
    </p:spTree>
    <p:extLst>
      <p:ext uri="{BB962C8B-B14F-4D97-AF65-F5344CB8AC3E}">
        <p14:creationId xmlns:p14="http://schemas.microsoft.com/office/powerpoint/2010/main" xmlns="" val="3443162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pPr algn="just"/>
            <a:r>
              <a:rPr lang="en-US" b="1" dirty="0" smtClean="0"/>
              <a:t>5. Financial Planning:</a:t>
            </a:r>
            <a:endParaRPr lang="en-US" b="1" dirty="0"/>
          </a:p>
        </p:txBody>
      </p:sp>
      <p:sp>
        <p:nvSpPr>
          <p:cNvPr id="3" name="Content Placeholder 2"/>
          <p:cNvSpPr>
            <a:spLocks noGrp="1"/>
          </p:cNvSpPr>
          <p:nvPr>
            <p:ph sz="quarter" idx="1"/>
          </p:nvPr>
        </p:nvSpPr>
        <p:spPr>
          <a:xfrm>
            <a:off x="457200" y="1676400"/>
            <a:ext cx="8305800" cy="3581400"/>
          </a:xfrm>
        </p:spPr>
        <p:txBody>
          <a:bodyPr>
            <a:noAutofit/>
          </a:bodyPr>
          <a:lstStyle/>
          <a:p>
            <a:pPr algn="just"/>
            <a:r>
              <a:rPr lang="en-US" sz="2800" dirty="0"/>
              <a:t>A financial plan is a document containing a person's current money situation and long-term monetary goals, as well as strategies to achieve those goals. A financial plan may be created independently or with the help of a certified </a:t>
            </a:r>
            <a:r>
              <a:rPr lang="en-US" sz="2800" u="sng" dirty="0"/>
              <a:t>financial planner</a:t>
            </a:r>
            <a:r>
              <a:rPr lang="en-US" sz="2800" dirty="0"/>
              <a:t>.</a:t>
            </a:r>
          </a:p>
          <a:p>
            <a:pPr algn="just"/>
            <a:r>
              <a:rPr lang="en-US" sz="2800" dirty="0"/>
              <a:t>In either case, it begins with a thorough evaluation of the individual's current financial state and future expectations.</a:t>
            </a:r>
          </a:p>
          <a:p>
            <a:pPr algn="just"/>
            <a:endParaRPr lang="en-US" sz="2800" dirty="0"/>
          </a:p>
        </p:txBody>
      </p:sp>
    </p:spTree>
    <p:extLst>
      <p:ext uri="{BB962C8B-B14F-4D97-AF65-F5344CB8AC3E}">
        <p14:creationId xmlns:p14="http://schemas.microsoft.com/office/powerpoint/2010/main" xmlns="" val="469799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pPr algn="just"/>
            <a:r>
              <a:rPr lang="en-US" b="1" dirty="0" smtClean="0"/>
              <a:t>5. Financial Planning:</a:t>
            </a:r>
            <a:endParaRPr lang="en-US" b="1" dirty="0"/>
          </a:p>
        </p:txBody>
      </p:sp>
      <p:sp>
        <p:nvSpPr>
          <p:cNvPr id="3" name="Content Placeholder 2"/>
          <p:cNvSpPr>
            <a:spLocks noGrp="1"/>
          </p:cNvSpPr>
          <p:nvPr>
            <p:ph sz="quarter" idx="1"/>
          </p:nvPr>
        </p:nvSpPr>
        <p:spPr>
          <a:xfrm>
            <a:off x="457200" y="1066800"/>
            <a:ext cx="8305800" cy="5410200"/>
          </a:xfrm>
        </p:spPr>
        <p:txBody>
          <a:bodyPr>
            <a:noAutofit/>
          </a:bodyPr>
          <a:lstStyle/>
          <a:p>
            <a:pPr algn="just"/>
            <a:r>
              <a:rPr lang="en-US" sz="2500" dirty="0"/>
              <a:t>Financial planning is a step-by-step approach to meet one’s life goals. A financial plan acts as a guide as you go through life’s journey. Essentially, it helps you be in control of your income, expenses and investments such that you can manage your money and achieve your goals.</a:t>
            </a:r>
          </a:p>
          <a:p>
            <a:pPr algn="just"/>
            <a:r>
              <a:rPr lang="en-US" sz="2500" dirty="0" smtClean="0"/>
              <a:t>If </a:t>
            </a:r>
            <a:r>
              <a:rPr lang="en-US" sz="2500" dirty="0"/>
              <a:t>you take a closer look at the above examples, you’ll find that there is one factor that connects all of them: money. You need to have an adequate amount of money to </a:t>
            </a:r>
            <a:r>
              <a:rPr lang="en-US" sz="2500" dirty="0" smtClean="0"/>
              <a:t>fulfill </a:t>
            </a:r>
            <a:r>
              <a:rPr lang="en-US" sz="2500" dirty="0"/>
              <a:t>your goals and desires. More importantly, you need to have money at the right point in time.</a:t>
            </a:r>
          </a:p>
          <a:p>
            <a:pPr algn="just"/>
            <a:r>
              <a:rPr lang="en-US" sz="2500" dirty="0" smtClean="0"/>
              <a:t>For </a:t>
            </a:r>
            <a:r>
              <a:rPr lang="en-US" sz="2500" dirty="0"/>
              <a:t>example, if you want to build up a corpus of Rs. 10 lakh for your daughter’s college education through investments, you need to grow this amount by the time she turns 18. Not a year later. This is where financial planning becomes essential.</a:t>
            </a:r>
          </a:p>
          <a:p>
            <a:pPr algn="just"/>
            <a:endParaRPr lang="en-US" sz="2500" dirty="0"/>
          </a:p>
        </p:txBody>
      </p:sp>
    </p:spTree>
    <p:extLst>
      <p:ext uri="{BB962C8B-B14F-4D97-AF65-F5344CB8AC3E}">
        <p14:creationId xmlns:p14="http://schemas.microsoft.com/office/powerpoint/2010/main" xmlns="" val="30833978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Financial Forecast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9" name="Picture 3"/>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5321" r="19591"/>
          <a:stretch/>
        </p:blipFill>
        <p:spPr bwMode="auto">
          <a:xfrm>
            <a:off x="760249" y="685800"/>
            <a:ext cx="7545551" cy="56268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8721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7772400" cy="868362"/>
          </a:xfrm>
        </p:spPr>
        <p:txBody>
          <a:bodyPr/>
          <a:lstStyle/>
          <a:p>
            <a:pPr algn="just"/>
            <a:r>
              <a:rPr lang="en-US" b="1" dirty="0"/>
              <a:t>6</a:t>
            </a:r>
            <a:r>
              <a:rPr lang="en-US" b="1" dirty="0" smtClean="0"/>
              <a:t>. Financial Forecasting:</a:t>
            </a:r>
            <a:endParaRPr lang="en-US" b="1" dirty="0"/>
          </a:p>
        </p:txBody>
      </p:sp>
      <p:sp>
        <p:nvSpPr>
          <p:cNvPr id="3" name="Content Placeholder 2"/>
          <p:cNvSpPr>
            <a:spLocks noGrp="1"/>
          </p:cNvSpPr>
          <p:nvPr>
            <p:ph sz="quarter" idx="1"/>
          </p:nvPr>
        </p:nvSpPr>
        <p:spPr>
          <a:xfrm>
            <a:off x="457200" y="1524000"/>
            <a:ext cx="8305800" cy="4495800"/>
          </a:xfrm>
        </p:spPr>
        <p:txBody>
          <a:bodyPr>
            <a:noAutofit/>
          </a:bodyPr>
          <a:lstStyle/>
          <a:p>
            <a:pPr algn="just">
              <a:lnSpc>
                <a:spcPct val="120000"/>
              </a:lnSpc>
            </a:pPr>
            <a:r>
              <a:rPr lang="en-US" sz="2700" dirty="0"/>
              <a:t>Financial Forecasting is the process of predicting or estimating future stats of an organization i.e. how business will perform in the future based on historical data like by analyzing the income statement, position statement, current conditions, past trends of the financial, future internal and external environment which is usually undertaken with the objective of preparing and developing budget and allocating available resources to ensure best possible utilization.</a:t>
            </a:r>
          </a:p>
        </p:txBody>
      </p:sp>
    </p:spTree>
    <p:extLst>
      <p:ext uri="{BB962C8B-B14F-4D97-AF65-F5344CB8AC3E}">
        <p14:creationId xmlns:p14="http://schemas.microsoft.com/office/powerpoint/2010/main" xmlns="" val="1479986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a:xfrm>
            <a:off x="457200" y="381000"/>
            <a:ext cx="8305800" cy="6096000"/>
          </a:xfrm>
        </p:spPr>
        <p:txBody>
          <a:bodyPr>
            <a:normAutofit fontScale="92500" lnSpcReduction="20000"/>
          </a:bodyPr>
          <a:lstStyle/>
          <a:p>
            <a:pPr algn="just"/>
            <a:r>
              <a:rPr lang="en-US" b="1" dirty="0"/>
              <a:t>New Business Promotion</a:t>
            </a:r>
            <a:r>
              <a:rPr lang="en-US" dirty="0"/>
              <a:t> – Financial forecasting helps businesses utilize its funds to promote new business ventures and initiatives. It also helps in determining the success rate of the business they are promoting.</a:t>
            </a:r>
          </a:p>
          <a:p>
            <a:pPr algn="just"/>
            <a:r>
              <a:rPr lang="en-US" b="1" dirty="0"/>
              <a:t>Seamless Functioning</a:t>
            </a:r>
            <a:r>
              <a:rPr lang="en-US" dirty="0"/>
              <a:t>– Accurate and effective forecasting of the finances like current revenue, revenue potential, and other expenses helps in the organization’s smooth running. The forecast also helps in anticipating future roadblocks.</a:t>
            </a:r>
          </a:p>
          <a:p>
            <a:pPr algn="just"/>
            <a:r>
              <a:rPr lang="en-US" b="1" dirty="0"/>
              <a:t>Estimating Financial Requirements</a:t>
            </a:r>
            <a:r>
              <a:rPr lang="en-US" dirty="0"/>
              <a:t> – It helps determine sales and cost of customer acquisition, capital for a specific project, and other expenses required for further management of the business. This preemptive forecast helps in making sound business decisions.</a:t>
            </a:r>
          </a:p>
          <a:p>
            <a:pPr algn="just"/>
            <a:r>
              <a:rPr lang="en-US" b="1" dirty="0"/>
              <a:t>Control Cash Flow</a:t>
            </a:r>
            <a:r>
              <a:rPr lang="en-US" dirty="0"/>
              <a:t> – It helps in controlling the cash flows of a business. Organizations with a good amount of cash/bank balance are more financially organized and better control their business operations.</a:t>
            </a:r>
          </a:p>
          <a:p>
            <a:pPr algn="just"/>
            <a:r>
              <a:rPr lang="en-US" b="1" dirty="0"/>
              <a:t>Archive Overall Success </a:t>
            </a:r>
            <a:r>
              <a:rPr lang="en-US" dirty="0"/>
              <a:t>– Financial forecast is important in achieving overall success for the business as it forms a strong foundation for the complete budgeting of departments across the organizations.</a:t>
            </a:r>
          </a:p>
          <a:p>
            <a:pPr algn="just"/>
            <a:endParaRPr lang="en-US" dirty="0"/>
          </a:p>
        </p:txBody>
      </p:sp>
    </p:spTree>
    <p:extLst>
      <p:ext uri="{BB962C8B-B14F-4D97-AF65-F5344CB8AC3E}">
        <p14:creationId xmlns:p14="http://schemas.microsoft.com/office/powerpoint/2010/main" xmlns="" val="278076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792162"/>
          </a:xfrm>
        </p:spPr>
        <p:txBody>
          <a:bodyPr/>
          <a:lstStyle/>
          <a:p>
            <a:r>
              <a:rPr lang="en-US" b="1" dirty="0" smtClean="0"/>
              <a:t>7. Procurement Plan</a:t>
            </a:r>
            <a:endParaRPr lang="en-US" b="1" dirty="0"/>
          </a:p>
        </p:txBody>
      </p:sp>
      <p:sp>
        <p:nvSpPr>
          <p:cNvPr id="3" name="Content Placeholder 2"/>
          <p:cNvSpPr>
            <a:spLocks noGrp="1"/>
          </p:cNvSpPr>
          <p:nvPr>
            <p:ph sz="quarter" idx="1"/>
          </p:nvPr>
        </p:nvSpPr>
        <p:spPr>
          <a:xfrm>
            <a:off x="381000" y="990600"/>
            <a:ext cx="8305800" cy="5029200"/>
          </a:xfrm>
        </p:spPr>
        <p:txBody>
          <a:bodyPr>
            <a:noAutofit/>
          </a:bodyPr>
          <a:lstStyle/>
          <a:p>
            <a:pPr algn="just"/>
            <a:r>
              <a:rPr lang="en-US" sz="2000" dirty="0"/>
              <a:t> procurement plan -- also called a procurement management plan -- is a document that is used to manage the process of finding and selecting a vendor. The plan justifies the need for an external supplier and explains how the process of finding a supplier will be performed -- from identifying the project requirements to closing the contract.</a:t>
            </a:r>
          </a:p>
          <a:p>
            <a:pPr algn="just"/>
            <a:r>
              <a:rPr lang="en-US" sz="2000" dirty="0"/>
              <a:t>The goal of a procurement plan is to increase the efficiency, effectiveness and transparency of the procurement process. The document specifically describes how products or services will be acquired and how vendors will be managed during the project. It includes information such as the types of contracts that will be used, the planned delivery or implementation dates for the contracted products or services, the types of metrics that will be used to evaluate the vendor's performance and an explanation of how the procurement process will be performed.</a:t>
            </a:r>
          </a:p>
          <a:p>
            <a:pPr algn="just"/>
            <a:r>
              <a:rPr lang="en-US" sz="2000" dirty="0"/>
              <a:t>Creating a procurement plan helps an organization avoid surprises and last-minute considerations. The document helps leaders decide what to buy, when to buy it and what sources to purchase from. A procurement plan also allows project planners to determine if their expectations and requirements are realistic and can be completed in the proposed project timeline.</a:t>
            </a:r>
          </a:p>
          <a:p>
            <a:pPr algn="just"/>
            <a:endParaRPr lang="en-US" sz="2000" dirty="0"/>
          </a:p>
        </p:txBody>
      </p:sp>
    </p:spTree>
    <p:extLst>
      <p:ext uri="{BB962C8B-B14F-4D97-AF65-F5344CB8AC3E}">
        <p14:creationId xmlns:p14="http://schemas.microsoft.com/office/powerpoint/2010/main" xmlns="" val="4194101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cdn.ttgtmedia.com/rms/onlineImages/whatis-procurement_plan_components-f.pn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12592" t="11319" r="12296" b="13420"/>
          <a:stretch/>
        </p:blipFill>
        <p:spPr bwMode="auto">
          <a:xfrm>
            <a:off x="304799" y="761999"/>
            <a:ext cx="8442113" cy="54102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63684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14350" indent="-514350" algn="ctr"/>
            <a:r>
              <a:rPr lang="en-US" b="1" dirty="0" smtClean="0"/>
              <a:t/>
            </a:r>
            <a:br>
              <a:rPr lang="en-US" b="1" dirty="0" smtClean="0"/>
            </a:br>
            <a:r>
              <a:rPr lang="en-US" b="1" dirty="0" smtClean="0">
                <a:solidFill>
                  <a:schemeClr val="tx1"/>
                </a:solidFill>
              </a:rPr>
              <a:t>NEGOTIATING ROLE PLAY</a:t>
            </a:r>
            <a:r>
              <a:rPr lang="en-US" dirty="0" smtClean="0"/>
              <a:t/>
            </a:r>
            <a:br>
              <a:rPr lang="en-US" dirty="0" smtClean="0"/>
            </a:br>
            <a:endParaRPr lang="en-US" dirty="0"/>
          </a:p>
        </p:txBody>
      </p:sp>
      <p:sp>
        <p:nvSpPr>
          <p:cNvPr id="3" name="Content Placeholder 2"/>
          <p:cNvSpPr>
            <a:spLocks noGrp="1"/>
          </p:cNvSpPr>
          <p:nvPr>
            <p:ph sz="quarter" idx="1"/>
          </p:nvPr>
        </p:nvSpPr>
        <p:spPr>
          <a:xfrm>
            <a:off x="914400" y="609600"/>
            <a:ext cx="7772400" cy="4572000"/>
          </a:xfrm>
        </p:spPr>
        <p:txBody>
          <a:bodyPr>
            <a:normAutofit fontScale="25000" lnSpcReduction="20000"/>
          </a:bodyPr>
          <a:lstStyle/>
          <a:p>
            <a:endParaRPr lang="en-US" sz="9600" b="1" dirty="0" smtClean="0">
              <a:latin typeface="Times New Roman" pitchFamily="18" charset="0"/>
              <a:cs typeface="Times New Roman" pitchFamily="18" charset="0"/>
            </a:endParaRPr>
          </a:p>
          <a:p>
            <a:pPr>
              <a:buNone/>
            </a:pPr>
            <a:r>
              <a:rPr lang="en-US" sz="9600" b="1" dirty="0" smtClean="0">
                <a:latin typeface="Times New Roman" pitchFamily="18" charset="0"/>
                <a:cs typeface="Times New Roman" pitchFamily="18" charset="0"/>
              </a:rPr>
              <a:t>&gt;&gt;&gt;negotiation plays</a:t>
            </a:r>
            <a:r>
              <a:rPr lang="en-US" sz="9600" dirty="0" smtClean="0">
                <a:latin typeface="Times New Roman" pitchFamily="18" charset="0"/>
                <a:cs typeface="Times New Roman" pitchFamily="18" charset="0"/>
              </a:rPr>
              <a:t> an important </a:t>
            </a:r>
            <a:r>
              <a:rPr lang="en-US" sz="9600" b="1" dirty="0" smtClean="0">
                <a:latin typeface="Times New Roman" pitchFamily="18" charset="0"/>
                <a:cs typeface="Times New Roman" pitchFamily="18" charset="0"/>
              </a:rPr>
              <a:t>role</a:t>
            </a:r>
            <a:r>
              <a:rPr lang="en-US" sz="9600" dirty="0" smtClean="0">
                <a:latin typeface="Times New Roman" pitchFamily="18" charset="0"/>
                <a:cs typeface="Times New Roman" pitchFamily="18" charset="0"/>
              </a:rPr>
              <a:t> in determining whether a customer purchases, and if so, at what price. A retailer may adopt </a:t>
            </a:r>
            <a:r>
              <a:rPr lang="en-US" sz="9600" b="1" dirty="0" smtClean="0">
                <a:latin typeface="Times New Roman" pitchFamily="18" charset="0"/>
                <a:cs typeface="Times New Roman" pitchFamily="18" charset="0"/>
              </a:rPr>
              <a:t>negotiation</a:t>
            </a:r>
          </a:p>
          <a:p>
            <a:pPr>
              <a:buNone/>
            </a:pPr>
            <a:endParaRPr lang="en-US" sz="9600" b="1" dirty="0" smtClean="0">
              <a:latin typeface="Times New Roman" pitchFamily="18" charset="0"/>
              <a:cs typeface="Times New Roman" pitchFamily="18" charset="0"/>
            </a:endParaRPr>
          </a:p>
          <a:p>
            <a:pPr>
              <a:buNone/>
            </a:pPr>
            <a:r>
              <a:rPr lang="en-US" sz="9600" b="1" dirty="0" smtClean="0">
                <a:latin typeface="Times New Roman" pitchFamily="18" charset="0"/>
                <a:cs typeface="Times New Roman" pitchFamily="18" charset="0"/>
              </a:rPr>
              <a:t>		Negotiating skills</a:t>
            </a:r>
            <a:r>
              <a:rPr lang="en-US" sz="9600" dirty="0" smtClean="0">
                <a:latin typeface="Times New Roman" pitchFamily="18" charset="0"/>
                <a:cs typeface="Times New Roman" pitchFamily="18" charset="0"/>
              </a:rPr>
              <a:t> for </a:t>
            </a:r>
            <a:r>
              <a:rPr lang="en-US" sz="9600" b="1" dirty="0" smtClean="0">
                <a:latin typeface="Times New Roman" pitchFamily="18" charset="0"/>
                <a:cs typeface="Times New Roman" pitchFamily="18" charset="0"/>
              </a:rPr>
              <a:t>sales team people</a:t>
            </a:r>
            <a:r>
              <a:rPr lang="en-US" sz="9600" dirty="0" smtClean="0">
                <a:latin typeface="Times New Roman" pitchFamily="18" charset="0"/>
                <a:cs typeface="Times New Roman" pitchFamily="18" charset="0"/>
              </a:rPr>
              <a:t> are crucial and improving them will set the foundation for a successful sale transaction</a:t>
            </a:r>
            <a:endParaRPr lang="en-US" sz="9600" b="1" dirty="0" smtClean="0">
              <a:latin typeface="Times New Roman" pitchFamily="18" charset="0"/>
              <a:cs typeface="Times New Roman" pitchFamily="18" charset="0"/>
            </a:endParaRPr>
          </a:p>
          <a:p>
            <a:pPr algn="ctr">
              <a:buNone/>
            </a:pPr>
            <a:endParaRPr lang="en-US" sz="9600" b="1" dirty="0" smtClean="0">
              <a:latin typeface="Times New Roman" pitchFamily="18" charset="0"/>
              <a:cs typeface="Times New Roman" pitchFamily="18" charset="0"/>
            </a:endParaRPr>
          </a:p>
          <a:p>
            <a:pPr>
              <a:buNone/>
            </a:pPr>
            <a:r>
              <a:rPr lang="en-US" sz="9600" b="1" u="sng" dirty="0" smtClean="0">
                <a:latin typeface="Times New Roman" pitchFamily="18" charset="0"/>
                <a:cs typeface="Times New Roman" pitchFamily="18" charset="0"/>
              </a:rPr>
              <a:t>Guidelines:</a:t>
            </a:r>
            <a:endParaRPr lang="en-US" sz="9600" u="sng" dirty="0" smtClean="0">
              <a:latin typeface="Times New Roman" pitchFamily="18" charset="0"/>
              <a:cs typeface="Times New Roman" pitchFamily="18" charset="0"/>
            </a:endParaRPr>
          </a:p>
          <a:p>
            <a:r>
              <a:rPr lang="en-US" sz="9600" dirty="0" smtClean="0">
                <a:latin typeface="Times New Roman" pitchFamily="18" charset="0"/>
                <a:cs typeface="Times New Roman" pitchFamily="18" charset="0"/>
              </a:rPr>
              <a:t>Write down one personal area for improvement related to </a:t>
            </a:r>
            <a:r>
              <a:rPr lang="en-US" sz="9600" b="1" dirty="0" smtClean="0">
                <a:latin typeface="Times New Roman" pitchFamily="18" charset="0"/>
                <a:cs typeface="Times New Roman" pitchFamily="18" charset="0"/>
              </a:rPr>
              <a:t>negotiating</a:t>
            </a:r>
            <a:r>
              <a:rPr lang="en-US" sz="9600" dirty="0" smtClean="0">
                <a:latin typeface="Times New Roman" pitchFamily="18" charset="0"/>
                <a:cs typeface="Times New Roman" pitchFamily="18" charset="0"/>
              </a:rPr>
              <a:t>.</a:t>
            </a:r>
          </a:p>
          <a:p>
            <a:r>
              <a:rPr lang="en-US" sz="9600" dirty="0" smtClean="0">
                <a:latin typeface="Times New Roman" pitchFamily="18" charset="0"/>
                <a:cs typeface="Times New Roman" pitchFamily="18" charset="0"/>
              </a:rPr>
              <a:t>Choose who will </a:t>
            </a:r>
            <a:r>
              <a:rPr lang="en-US" sz="9600" b="1" dirty="0" smtClean="0">
                <a:latin typeface="Times New Roman" pitchFamily="18" charset="0"/>
                <a:cs typeface="Times New Roman" pitchFamily="18" charset="0"/>
              </a:rPr>
              <a:t>play</a:t>
            </a:r>
            <a:r>
              <a:rPr lang="en-US" sz="9600" dirty="0" smtClean="0">
                <a:latin typeface="Times New Roman" pitchFamily="18" charset="0"/>
                <a:cs typeface="Times New Roman" pitchFamily="18" charset="0"/>
              </a:rPr>
              <a:t> the salesperson and who will </a:t>
            </a:r>
            <a:r>
              <a:rPr lang="en-US" sz="9600" b="1" dirty="0" smtClean="0">
                <a:latin typeface="Times New Roman" pitchFamily="18" charset="0"/>
                <a:cs typeface="Times New Roman" pitchFamily="18" charset="0"/>
              </a:rPr>
              <a:t>play</a:t>
            </a:r>
            <a:r>
              <a:rPr lang="en-US" sz="9600" dirty="0" smtClean="0">
                <a:latin typeface="Times New Roman" pitchFamily="18" charset="0"/>
                <a:cs typeface="Times New Roman" pitchFamily="18" charset="0"/>
              </a:rPr>
              <a:t> the prospect. ...</a:t>
            </a:r>
          </a:p>
          <a:p>
            <a:r>
              <a:rPr lang="en-US" sz="9600" dirty="0" smtClean="0">
                <a:latin typeface="Times New Roman" pitchFamily="18" charset="0"/>
                <a:cs typeface="Times New Roman" pitchFamily="18" charset="0"/>
              </a:rPr>
              <a:t>Go through a standard </a:t>
            </a:r>
            <a:r>
              <a:rPr lang="en-US" sz="9600" b="1" dirty="0" smtClean="0">
                <a:latin typeface="Times New Roman" pitchFamily="18" charset="0"/>
                <a:cs typeface="Times New Roman" pitchFamily="18" charset="0"/>
              </a:rPr>
              <a:t>negotiation</a:t>
            </a:r>
            <a:r>
              <a:rPr lang="en-US" sz="9600" dirty="0" smtClean="0">
                <a:latin typeface="Times New Roman" pitchFamily="18" charset="0"/>
                <a:cs typeface="Times New Roman" pitchFamily="18" charset="0"/>
              </a:rPr>
              <a:t>. ...</a:t>
            </a:r>
          </a:p>
          <a:p>
            <a:r>
              <a:rPr lang="en-US" sz="9600" dirty="0" smtClean="0">
                <a:latin typeface="Times New Roman" pitchFamily="18" charset="0"/>
                <a:cs typeface="Times New Roman" pitchFamily="18" charset="0"/>
              </a:rPr>
              <a:t>After you come to an agreement or decide your needs are incompatible, debrief. ...</a:t>
            </a:r>
          </a:p>
          <a:p>
            <a:r>
              <a:rPr lang="en-US" sz="9600" dirty="0" smtClean="0">
                <a:latin typeface="Times New Roman" pitchFamily="18" charset="0"/>
                <a:cs typeface="Times New Roman" pitchFamily="18" charset="0"/>
              </a:rPr>
              <a:t>Switch </a:t>
            </a:r>
            <a:r>
              <a:rPr lang="en-US" sz="9600" b="1" dirty="0" smtClean="0">
                <a:latin typeface="Times New Roman" pitchFamily="18" charset="0"/>
                <a:cs typeface="Times New Roman" pitchFamily="18" charset="0"/>
              </a:rPr>
              <a:t>roles</a:t>
            </a:r>
            <a:endParaRPr lang="en-US" sz="9600" dirty="0" smtClean="0">
              <a:latin typeface="Times New Roman" pitchFamily="18" charset="0"/>
              <a:cs typeface="Times New Roman" pitchFamily="18" charset="0"/>
            </a:endParaRPr>
          </a:p>
          <a:p>
            <a:endParaRPr lang="en-US"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gopisetti\Desktop\advanced-negotiation-communication-presentation-skills-6-638.jpg"/>
          <p:cNvPicPr>
            <a:picLocks noGrp="1" noChangeAspect="1" noChangeArrowheads="1"/>
          </p:cNvPicPr>
          <p:nvPr>
            <p:ph sz="quarter" idx="1"/>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solidFill>
                  <a:schemeClr val="tx1"/>
                </a:solidFill>
              </a:rPr>
              <a:t> UNDERSTANDING PRIMARY REVENUE SOURCES</a:t>
            </a:r>
            <a:endParaRPr lang="en-US" dirty="0"/>
          </a:p>
        </p:txBody>
      </p:sp>
      <p:sp>
        <p:nvSpPr>
          <p:cNvPr id="3" name="Content Placeholder 2"/>
          <p:cNvSpPr>
            <a:spLocks noGrp="1"/>
          </p:cNvSpPr>
          <p:nvPr>
            <p:ph sz="quarter" idx="1"/>
          </p:nvPr>
        </p:nvSpPr>
        <p:spPr/>
        <p:txBody>
          <a:bodyPr/>
          <a:lstStyle/>
          <a:p>
            <a:r>
              <a:rPr lang="en-US" dirty="0" smtClean="0"/>
              <a:t>A </a:t>
            </a:r>
            <a:r>
              <a:rPr lang="en-US" b="1" dirty="0" smtClean="0"/>
              <a:t>revenue stream</a:t>
            </a:r>
            <a:r>
              <a:rPr lang="en-US" dirty="0" smtClean="0"/>
              <a:t> is a distinct source of income that can come from either be recurring </a:t>
            </a:r>
            <a:r>
              <a:rPr lang="en-US" b="1" dirty="0" smtClean="0"/>
              <a:t>revenue</a:t>
            </a:r>
            <a:r>
              <a:rPr lang="en-US" dirty="0" smtClean="0"/>
              <a:t>, transaction-based or service </a:t>
            </a:r>
            <a:r>
              <a:rPr lang="en-US" b="1" dirty="0" smtClean="0"/>
              <a:t>revenue</a:t>
            </a:r>
            <a:r>
              <a:rPr lang="en-US" dirty="0" smtClean="0"/>
              <a:t>. A </a:t>
            </a:r>
            <a:r>
              <a:rPr lang="en-US" b="1" dirty="0" smtClean="0"/>
              <a:t>business</a:t>
            </a:r>
            <a:r>
              <a:rPr lang="en-US" dirty="0" smtClean="0"/>
              <a:t> can have a single source of </a:t>
            </a:r>
            <a:r>
              <a:rPr lang="en-US" b="1" dirty="0" smtClean="0"/>
              <a:t>revenue</a:t>
            </a:r>
            <a:r>
              <a:rPr lang="en-US" dirty="0" smtClean="0"/>
              <a:t> or multiple sources depending on its </a:t>
            </a:r>
            <a:r>
              <a:rPr lang="en-US" b="1" dirty="0" smtClean="0"/>
              <a:t>business model</a:t>
            </a:r>
          </a:p>
          <a:p>
            <a:endParaRPr lang="en-US" b="1" dirty="0" smtClean="0"/>
          </a:p>
          <a:p>
            <a:r>
              <a:rPr lang="en-US" dirty="0" smtClean="0"/>
              <a:t>For any company, the primary revenue sources may be considered as the </a:t>
            </a:r>
            <a:r>
              <a:rPr lang="en-US" b="1" dirty="0" smtClean="0"/>
              <a:t>SALE</a:t>
            </a:r>
            <a:r>
              <a:rPr lang="en-US" dirty="0" smtClean="0"/>
              <a:t> of goods or services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solidFill>
                  <a:schemeClr val="tx1"/>
                </a:solidFill>
              </a:rPr>
              <a:t> EXPLORING CUSTOMER LIFECYCLE FOR GROWTH CUSTOMERS</a:t>
            </a:r>
            <a:endParaRPr lang="en-US" dirty="0">
              <a:solidFill>
                <a:schemeClr val="tx1"/>
              </a:solidFill>
            </a:endParaRPr>
          </a:p>
        </p:txBody>
      </p:sp>
      <p:sp>
        <p:nvSpPr>
          <p:cNvPr id="3" name="Content Placeholder 2"/>
          <p:cNvSpPr>
            <a:spLocks noGrp="1"/>
          </p:cNvSpPr>
          <p:nvPr>
            <p:ph sz="quarter" idx="1"/>
          </p:nvPr>
        </p:nvSpPr>
        <p:spPr/>
        <p:txBody>
          <a:bodyPr>
            <a:normAutofit fontScale="92500" lnSpcReduction="10000"/>
          </a:bodyPr>
          <a:lstStyle/>
          <a:p>
            <a:endParaRPr lang="en-US" dirty="0" smtClean="0"/>
          </a:p>
          <a:p>
            <a:r>
              <a:rPr lang="en-US" dirty="0" smtClean="0"/>
              <a:t>In terms of customer relationship management, the customer lifecycle describes the various stages a consumer goes through before, during and after they complete a transaction. Simply put, it's the Point A to Point B journey a customer takes until they make the final purchase.</a:t>
            </a:r>
          </a:p>
          <a:p>
            <a:endParaRPr lang="en-US" dirty="0" smtClean="0"/>
          </a:p>
          <a:p>
            <a:r>
              <a:rPr lang="en-US" b="1" dirty="0" smtClean="0"/>
              <a:t>Life cycle management</a:t>
            </a:r>
            <a:r>
              <a:rPr lang="en-US" dirty="0" smtClean="0"/>
              <a:t> is a practice that can make or break your ability to </a:t>
            </a:r>
            <a:r>
              <a:rPr lang="en-US" dirty="0" err="1" smtClean="0"/>
              <a:t>upsell</a:t>
            </a:r>
            <a:r>
              <a:rPr lang="en-US" dirty="0" smtClean="0"/>
              <a:t>, cross-sell, and otherwise grow an existing </a:t>
            </a:r>
            <a:r>
              <a:rPr lang="en-US" b="1" dirty="0" smtClean="0"/>
              <a:t>customer</a:t>
            </a:r>
            <a:r>
              <a:rPr lang="en-US" dirty="0" smtClean="0"/>
              <a:t> relationship, and it helps companies cultivate brand loyalty by identifying opportunities for adding value to the </a:t>
            </a:r>
            <a:r>
              <a:rPr lang="en-US" b="1" dirty="0" smtClean="0"/>
              <a:t>customer</a:t>
            </a:r>
            <a:r>
              <a:rPr lang="en-US" dirty="0" smtClean="0"/>
              <a:t> equation at </a:t>
            </a:r>
            <a:r>
              <a:rPr lang="en-US" b="1" dirty="0" smtClean="0"/>
              <a:t>key</a:t>
            </a:r>
            <a:r>
              <a:rPr lang="en-US" dirty="0" smtClean="0"/>
              <a:t> points in time.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0"/>
            <a:ext cx="9144000" cy="6858000"/>
          </a:xfrm>
        </p:spPr>
        <p:txBody>
          <a:bodyPr>
            <a:normAutofit lnSpcReduction="10000"/>
          </a:bodyPr>
          <a:lstStyle/>
          <a:p>
            <a:pPr>
              <a:buNone/>
            </a:pPr>
            <a:r>
              <a:rPr lang="en-US" dirty="0" smtClean="0"/>
              <a:t>			</a:t>
            </a:r>
            <a:r>
              <a:rPr lang="en-US" b="1" dirty="0" smtClean="0"/>
              <a:t>There five basic stages of a customer lifecycle:</a:t>
            </a:r>
          </a:p>
          <a:p>
            <a:r>
              <a:rPr lang="en-US" b="1" dirty="0" smtClean="0"/>
              <a:t>Reach:</a:t>
            </a:r>
            <a:r>
              <a:rPr lang="en-US" dirty="0" smtClean="0"/>
              <a:t> Your marketing material and content needs to be in places where consumers will find it. Reach is the first step in the lifecycle because it develops awareness right away.</a:t>
            </a:r>
          </a:p>
          <a:p>
            <a:r>
              <a:rPr lang="en-US" b="1" dirty="0" smtClean="0"/>
              <a:t>Acquire</a:t>
            </a:r>
            <a:r>
              <a:rPr lang="en-US" dirty="0" smtClean="0"/>
              <a:t>: </a:t>
            </a:r>
            <a:r>
              <a:rPr lang="en-US" dirty="0" smtClean="0">
                <a:hlinkClick r:id="rId2"/>
              </a:rPr>
              <a:t>Ecommerce acquisition</a:t>
            </a:r>
            <a:r>
              <a:rPr lang="en-US" dirty="0" smtClean="0"/>
              <a:t> is very important. Reaching potential customers won't mean much if you can't offer relevant content or messaging. Understanding your brand, the products you offer and </a:t>
            </a:r>
            <a:r>
              <a:rPr lang="en-US" dirty="0" smtClean="0">
                <a:hlinkClick r:id="rId3"/>
              </a:rPr>
              <a:t>what type of person will buy them</a:t>
            </a:r>
            <a:r>
              <a:rPr lang="en-US" dirty="0" smtClean="0"/>
              <a:t> will help with acquisition. Contacting them directly with personalized communication improves the odds of a future conversion.</a:t>
            </a:r>
          </a:p>
          <a:p>
            <a:r>
              <a:rPr lang="en-US" b="1" dirty="0" smtClean="0"/>
              <a:t>Develop/nurture</a:t>
            </a:r>
            <a:r>
              <a:rPr lang="en-US" dirty="0" smtClean="0"/>
              <a:t>: Once that first purchase is made, your business needs to </a:t>
            </a:r>
            <a:r>
              <a:rPr lang="en-US" dirty="0" smtClean="0">
                <a:hlinkClick r:id="rId4"/>
              </a:rPr>
              <a:t>keep in contact with the customer</a:t>
            </a:r>
            <a:r>
              <a:rPr lang="en-US" dirty="0" smtClean="0"/>
              <a:t>. This is where you develop a relationship with the buyer, ensuring they're fully satisfied with their initial transaction. You can also use back-end analytics to predict what else they may like based on what they bought the first time around. Asking for feedback also helps develop the relationship; customers like that their opinion is valued.</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0"/>
            <a:ext cx="9144000" cy="7315200"/>
          </a:xfrm>
        </p:spPr>
        <p:txBody>
          <a:bodyPr>
            <a:normAutofit/>
          </a:bodyPr>
          <a:lstStyle/>
          <a:p>
            <a:r>
              <a:rPr lang="en-US" b="1" dirty="0" smtClean="0"/>
              <a:t>Retention</a:t>
            </a:r>
            <a:r>
              <a:rPr lang="en-US" dirty="0" smtClean="0"/>
              <a:t>: If you're able to continually </a:t>
            </a:r>
            <a:r>
              <a:rPr lang="en-US" dirty="0" smtClean="0">
                <a:hlinkClick r:id="rId2"/>
              </a:rPr>
              <a:t>send relevant and meaningful messaging</a:t>
            </a:r>
            <a:r>
              <a:rPr lang="en-US" dirty="0" smtClean="0"/>
              <a:t> to a customer, the chances that they return and make another purchase are higher. Retention begins with satisfying a consumer's needs, caring for them and cultivating the relationship. If you can take a customer's feedback and use it to improve a product or service, you make them feel as if they were a part of the process. Performing a </a:t>
            </a:r>
            <a:r>
              <a:rPr lang="en-US" dirty="0" smtClean="0">
                <a:hlinkClick r:id="rId3"/>
              </a:rPr>
              <a:t>customer feedback analysis</a:t>
            </a:r>
            <a:r>
              <a:rPr lang="en-US" dirty="0" smtClean="0"/>
              <a:t> is key in finding actionable insights that can lead to a stronger customer relationship. This type of trust is valuable to customer retention.</a:t>
            </a:r>
          </a:p>
          <a:p>
            <a:r>
              <a:rPr lang="en-US" b="1" dirty="0" smtClean="0"/>
              <a:t>Advocacy</a:t>
            </a:r>
            <a:r>
              <a:rPr lang="en-US" dirty="0" smtClean="0"/>
              <a:t>: Once the retention stage of the lifecycle is reached, you want these customers to become a brand advocate for your business. If they are truly satisfied, they likely won't have issues </a:t>
            </a:r>
            <a:r>
              <a:rPr lang="en-US" dirty="0" smtClean="0">
                <a:hlinkClick r:id="rId4"/>
              </a:rPr>
              <a:t>recommending your products or services</a:t>
            </a:r>
            <a:r>
              <a:rPr lang="en-US" dirty="0" smtClean="0"/>
              <a:t> to friends and family. Spreading awareness amongst social circles is easy to do once a customer is loyal to a brand, and if they continually spread positive recommendations, their extended network is more likely to convert as well.</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solidFill>
                  <a:schemeClr val="tx1"/>
                </a:solidFill>
              </a:rPr>
              <a:t> EXPLORING AND IDENTIFY SECONDARY SOURCES OF REVENUE</a:t>
            </a:r>
            <a:endParaRPr lang="en-US" dirty="0">
              <a:solidFill>
                <a:schemeClr val="tx1"/>
              </a:solidFill>
            </a:endParaRPr>
          </a:p>
        </p:txBody>
      </p:sp>
      <p:sp>
        <p:nvSpPr>
          <p:cNvPr id="3" name="Content Placeholder 2"/>
          <p:cNvSpPr>
            <a:spLocks noGrp="1"/>
          </p:cNvSpPr>
          <p:nvPr>
            <p:ph sz="quarter" idx="1"/>
          </p:nvPr>
        </p:nvSpPr>
        <p:spPr/>
        <p:txBody>
          <a:bodyPr/>
          <a:lstStyle/>
          <a:p>
            <a:r>
              <a:rPr lang="en-US" b="1" dirty="0" smtClean="0"/>
              <a:t>Secondary revenue</a:t>
            </a:r>
            <a:r>
              <a:rPr lang="en-US" dirty="0" smtClean="0"/>
              <a:t> refers to </a:t>
            </a:r>
            <a:r>
              <a:rPr lang="en-US" b="1" dirty="0" smtClean="0"/>
              <a:t>revenue</a:t>
            </a:r>
            <a:r>
              <a:rPr lang="en-US" dirty="0" smtClean="0"/>
              <a:t> generated from goods or services which differ from the main product or service lines of a company. It may also be referred to as </a:t>
            </a:r>
            <a:r>
              <a:rPr lang="en-US" dirty="0" err="1" smtClean="0"/>
              <a:t>ancilliary</a:t>
            </a:r>
            <a:r>
              <a:rPr lang="en-US" dirty="0" smtClean="0"/>
              <a:t> or non-core </a:t>
            </a:r>
            <a:r>
              <a:rPr lang="en-US" b="1" dirty="0" smtClean="0"/>
              <a:t>revenue</a:t>
            </a:r>
            <a:r>
              <a:rPr lang="en-US" dirty="0" smtClean="0"/>
              <a:t> or as </a:t>
            </a:r>
            <a:r>
              <a:rPr lang="en-US" dirty="0" err="1" smtClean="0"/>
              <a:t>monetisation</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38600"/>
            <a:ext cx="7772400" cy="1143000"/>
          </a:xfrm>
        </p:spPr>
        <p:txBody>
          <a:bodyPr>
            <a:noAutofit/>
          </a:bodyPr>
          <a:lstStyle/>
          <a:p>
            <a:pPr algn="ctr"/>
            <a:r>
              <a:rPr lang="en-US" sz="16600" dirty="0" smtClean="0">
                <a:solidFill>
                  <a:schemeClr val="tx1"/>
                </a:solidFill>
              </a:rPr>
              <a:t>THANK YOU</a:t>
            </a:r>
            <a:endParaRPr lang="en-US" sz="16600" dirty="0">
              <a:solidFill>
                <a:schemeClr val="tx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453</TotalTime>
  <Words>636</Words>
  <Application>Microsoft Office PowerPoint</Application>
  <PresentationFormat>On-screen Show (4:3)</PresentationFormat>
  <Paragraphs>101</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Equity</vt:lpstr>
      <vt:lpstr>AENT – UNIT – II BUSINESS PLANNING &amp; EXPLORING REVENUE</vt:lpstr>
      <vt:lpstr>Contents:</vt:lpstr>
      <vt:lpstr>Slide 3</vt:lpstr>
      <vt:lpstr>1. Business Plan</vt:lpstr>
      <vt:lpstr>1. Business Plan</vt:lpstr>
      <vt:lpstr>Slide 6</vt:lpstr>
      <vt:lpstr>2. Sales Plan</vt:lpstr>
      <vt:lpstr>Slide 8</vt:lpstr>
      <vt:lpstr>3. Hiring Sales Team:</vt:lpstr>
      <vt:lpstr>4. People Plan:</vt:lpstr>
      <vt:lpstr>4. People Plan:</vt:lpstr>
      <vt:lpstr>5. Financial Planning:</vt:lpstr>
      <vt:lpstr>5. Financial Planning:</vt:lpstr>
      <vt:lpstr>Slide 14</vt:lpstr>
      <vt:lpstr>6. Financial Forecasting:</vt:lpstr>
      <vt:lpstr>Slide 16</vt:lpstr>
      <vt:lpstr>7. Procurement Plan</vt:lpstr>
      <vt:lpstr>Slide 18</vt:lpstr>
      <vt:lpstr> NEGOTIATING ROLE PLAY </vt:lpstr>
      <vt:lpstr>Slide 20</vt:lpstr>
      <vt:lpstr>  UNDERSTANDING PRIMARY REVENUE SOURCES</vt:lpstr>
      <vt:lpstr>  EXPLORING CUSTOMER LIFECYCLE FOR GROWTH CUSTOMERS</vt:lpstr>
      <vt:lpstr>Slide 23</vt:lpstr>
      <vt:lpstr>Slide 24</vt:lpstr>
      <vt:lpstr>       EXPLORING AND IDENTIFY SECONDARY SOURCES OF REVENUE</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AENT – UNIT – II BUSINESS PLANNING &amp; EXPLORING REVENUE</dc:title>
  <dc:creator>harinadh karimikonda</dc:creator>
  <cp:lastModifiedBy>Rahul</cp:lastModifiedBy>
  <cp:revision>40</cp:revision>
  <dcterms:created xsi:type="dcterms:W3CDTF">2006-08-16T00:00:00Z</dcterms:created>
  <dcterms:modified xsi:type="dcterms:W3CDTF">2021-11-09T07:47:11Z</dcterms:modified>
</cp:coreProperties>
</file>