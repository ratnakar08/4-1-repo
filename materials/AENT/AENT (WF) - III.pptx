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7"/>
  </p:notesMasterIdLst>
  <p:sldIdLst>
    <p:sldId id="256" r:id="rId2"/>
    <p:sldId id="279" r:id="rId3"/>
    <p:sldId id="359" r:id="rId4"/>
    <p:sldId id="281" r:id="rId5"/>
    <p:sldId id="360" r:id="rId6"/>
    <p:sldId id="275" r:id="rId7"/>
    <p:sldId id="265" r:id="rId8"/>
    <p:sldId id="337" r:id="rId9"/>
    <p:sldId id="338" r:id="rId10"/>
    <p:sldId id="296" r:id="rId11"/>
    <p:sldId id="292" r:id="rId12"/>
    <p:sldId id="293" r:id="rId13"/>
    <p:sldId id="294" r:id="rId14"/>
    <p:sldId id="295" r:id="rId15"/>
    <p:sldId id="266" r:id="rId16"/>
    <p:sldId id="297" r:id="rId17"/>
    <p:sldId id="340" r:id="rId18"/>
    <p:sldId id="339" r:id="rId19"/>
    <p:sldId id="268" r:id="rId20"/>
    <p:sldId id="299" r:id="rId21"/>
    <p:sldId id="276" r:id="rId22"/>
    <p:sldId id="277" r:id="rId23"/>
    <p:sldId id="371" r:id="rId24"/>
    <p:sldId id="341" r:id="rId25"/>
    <p:sldId id="358" r:id="rId26"/>
    <p:sldId id="355" r:id="rId27"/>
    <p:sldId id="353" r:id="rId28"/>
    <p:sldId id="356" r:id="rId29"/>
    <p:sldId id="357" r:id="rId30"/>
    <p:sldId id="354" r:id="rId31"/>
    <p:sldId id="352" r:id="rId32"/>
    <p:sldId id="342" r:id="rId33"/>
    <p:sldId id="343" r:id="rId34"/>
    <p:sldId id="344" r:id="rId35"/>
    <p:sldId id="366" r:id="rId36"/>
    <p:sldId id="367" r:id="rId37"/>
    <p:sldId id="368" r:id="rId38"/>
    <p:sldId id="369" r:id="rId39"/>
    <p:sldId id="370" r:id="rId40"/>
    <p:sldId id="309" r:id="rId41"/>
    <p:sldId id="346" r:id="rId42"/>
    <p:sldId id="345" r:id="rId43"/>
    <p:sldId id="348" r:id="rId44"/>
    <p:sldId id="349" r:id="rId45"/>
    <p:sldId id="347" r:id="rId46"/>
    <p:sldId id="361" r:id="rId47"/>
    <p:sldId id="362" r:id="rId48"/>
    <p:sldId id="350" r:id="rId49"/>
    <p:sldId id="351" r:id="rId50"/>
    <p:sldId id="312" r:id="rId51"/>
    <p:sldId id="364" r:id="rId52"/>
    <p:sldId id="365" r:id="rId53"/>
    <p:sldId id="313" r:id="rId54"/>
    <p:sldId id="363" r:id="rId55"/>
    <p:sldId id="336" r:id="rId5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100" d="100"/>
          <a:sy n="100" d="100"/>
        </p:scale>
        <p:origin x="-504" y="108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notesMaster" Target="notesMasters/notesMaster1.xml"/><Relationship Id="rId61"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724DCB5-88C3-41AD-B814-DAE69933B545}" type="datetimeFigureOut">
              <a:rPr lang="en-US" smtClean="0"/>
              <a:pPr/>
              <a:t>4/19/2021</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AE79E66-07C2-4C7A-98AB-DE4F6753D9A3}" type="slidenum">
              <a:rPr lang="en-US" smtClean="0"/>
              <a:pPr/>
              <a:t>‹#›</a:t>
            </a:fld>
            <a:endParaRPr lang="en-US"/>
          </a:p>
        </p:txBody>
      </p:sp>
    </p:spTree>
    <p:extLst>
      <p:ext uri="{BB962C8B-B14F-4D97-AF65-F5344CB8AC3E}">
        <p14:creationId xmlns:p14="http://schemas.microsoft.com/office/powerpoint/2010/main" val="34212075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Image Placeholder 1"/>
          <p:cNvSpPr>
            <a:spLocks noGrp="1" noRot="1" noChangeAspect="1" noTextEdit="1"/>
          </p:cNvSpPr>
          <p:nvPr>
            <p:ph type="sldImg"/>
          </p:nvPr>
        </p:nvSpPr>
        <p:spPr bwMode="auto">
          <a:noFill/>
          <a:ln>
            <a:solidFill>
              <a:srgbClr val="000000"/>
            </a:solidFill>
            <a:miter lim="800000"/>
            <a:headEnd/>
            <a:tailEnd/>
          </a:ln>
        </p:spPr>
      </p:sp>
      <p:sp>
        <p:nvSpPr>
          <p:cNvPr id="9219"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
        <p:nvSpPr>
          <p:cNvPr id="9220"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5D6FF25B-0486-4832-B8D7-F393712B7CB7}" type="slidenum">
              <a:rPr lang="en-US" smtClean="0"/>
              <a:pPr/>
              <a:t>23</a:t>
            </a:fld>
            <a:endParaRPr lang="en-US"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941910" y="2514601"/>
            <a:ext cx="6686549" cy="2262781"/>
          </a:xfrm>
        </p:spPr>
        <p:txBody>
          <a:bodyPr anchor="b">
            <a:normAutofit/>
          </a:bodyPr>
          <a:lstStyle>
            <a:lvl1pPr>
              <a:defRPr sz="5400"/>
            </a:lvl1pPr>
          </a:lstStyle>
          <a:p>
            <a:r>
              <a:rPr lang="en-US" smtClean="0"/>
              <a:t>Click to edit Master title style</a:t>
            </a:r>
            <a:endParaRPr lang="en-US" dirty="0"/>
          </a:p>
        </p:txBody>
      </p:sp>
      <p:sp>
        <p:nvSpPr>
          <p:cNvPr id="3" name="Subtitle 2"/>
          <p:cNvSpPr>
            <a:spLocks noGrp="1"/>
          </p:cNvSpPr>
          <p:nvPr>
            <p:ph type="subTitle" idx="1"/>
          </p:nvPr>
        </p:nvSpPr>
        <p:spPr>
          <a:xfrm>
            <a:off x="1941910" y="4777380"/>
            <a:ext cx="668654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C0F493EF-1E9E-4285-8F22-1FDFE3F22BB7}" type="datetime1">
              <a:rPr lang="en-US" smtClean="0"/>
              <a:pPr/>
              <a:t>4/19/2021</a:t>
            </a:fld>
            <a:endParaRPr lang="en-US"/>
          </a:p>
        </p:txBody>
      </p:sp>
      <p:sp>
        <p:nvSpPr>
          <p:cNvPr id="5" name="Footer Placeholder 4"/>
          <p:cNvSpPr>
            <a:spLocks noGrp="1"/>
          </p:cNvSpPr>
          <p:nvPr>
            <p:ph type="ftr" sz="quarter" idx="11"/>
          </p:nvPr>
        </p:nvSpPr>
        <p:spPr/>
        <p:txBody>
          <a:bodyPr/>
          <a:lstStyle/>
          <a:p>
            <a:endParaRPr lang="en-US"/>
          </a:p>
        </p:txBody>
      </p:sp>
      <p:sp>
        <p:nvSpPr>
          <p:cNvPr id="7" name="Freeform 6"/>
          <p:cNvSpPr/>
          <p:nvPr/>
        </p:nvSpPr>
        <p:spPr bwMode="auto">
          <a:xfrm>
            <a:off x="0" y="4323811"/>
            <a:ext cx="1308489"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398860" y="4529541"/>
            <a:ext cx="584825" cy="365125"/>
          </a:xfrm>
        </p:spPr>
        <p:txBody>
          <a:bodyPr/>
          <a:lstStyle/>
          <a:p>
            <a:fld id="{3592E275-D691-4E5D-BCC6-6858DE38E852}"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944694" y="624110"/>
            <a:ext cx="6683765" cy="1280890"/>
          </a:xfrm>
        </p:spPr>
        <p:txBody>
          <a:bodyPr/>
          <a:lstStyle/>
          <a:p>
            <a:r>
              <a:rPr lang="en-US" smtClean="0"/>
              <a:t>Click to edit Master title style</a:t>
            </a:r>
            <a:endParaRPr lang="en-US" dirty="0"/>
          </a:p>
        </p:txBody>
      </p:sp>
      <p:sp>
        <p:nvSpPr>
          <p:cNvPr id="3" name="Content Placeholder 2"/>
          <p:cNvSpPr>
            <a:spLocks noGrp="1"/>
          </p:cNvSpPr>
          <p:nvPr>
            <p:ph idx="1"/>
          </p:nvPr>
        </p:nvSpPr>
        <p:spPr>
          <a:xfrm>
            <a:off x="1941909" y="2133600"/>
            <a:ext cx="6686550" cy="377762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A9877144-D064-49A3-AA59-559826A8CE06}" type="datetime1">
              <a:rPr lang="en-US" smtClean="0"/>
              <a:pPr/>
              <a:t>4/19/2021</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3141" y="714376"/>
            <a:ext cx="1191395"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3592E275-D691-4E5D-BCC6-6858DE38E852}"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941910" y="2058750"/>
            <a:ext cx="6686549" cy="146880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941910" y="3530129"/>
            <a:ext cx="668654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C1C24B7-6642-4AB6-AF53-B772110545FF}" type="datetime1">
              <a:rPr lang="en-US" smtClean="0"/>
              <a:pPr/>
              <a:t>4/19/2021</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3141" y="3178176"/>
            <a:ext cx="1191395"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398860" y="3244140"/>
            <a:ext cx="584825" cy="365125"/>
          </a:xfrm>
        </p:spPr>
        <p:txBody>
          <a:bodyPr/>
          <a:lstStyle/>
          <a:p>
            <a:fld id="{3592E275-D691-4E5D-BCC6-6858DE38E852}"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941909" y="2133600"/>
            <a:ext cx="3235398" cy="3777622"/>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393060" y="2126222"/>
            <a:ext cx="3235398" cy="3777622"/>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FDFEB8C8-D175-438F-969F-15E168903ECB}" type="datetime1">
              <a:rPr lang="en-US" smtClean="0"/>
              <a:pPr/>
              <a:t>4/19/2021</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3141" y="714376"/>
            <a:ext cx="1191395"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398860" y="787783"/>
            <a:ext cx="584825" cy="365125"/>
          </a:xfrm>
        </p:spPr>
        <p:txBody>
          <a:bodyPr/>
          <a:lstStyle/>
          <a:p>
            <a:fld id="{3592E275-D691-4E5D-BCC6-6858DE38E852}"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2204530" y="1972703"/>
            <a:ext cx="2994549"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941909" y="2548966"/>
            <a:ext cx="3257170" cy="3354060"/>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629972" y="1969475"/>
            <a:ext cx="299925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375218" y="2545738"/>
            <a:ext cx="3254006" cy="3354060"/>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AC78630C-F48E-4229-8C10-5662C4F635D3}" type="datetime1">
              <a:rPr lang="en-US" smtClean="0"/>
              <a:pPr/>
              <a:t>4/19/2021</a:t>
            </a:fld>
            <a:endParaRPr lang="en-US"/>
          </a:p>
        </p:txBody>
      </p:sp>
      <p:sp>
        <p:nvSpPr>
          <p:cNvPr id="8" name="Footer Placeholder 7"/>
          <p:cNvSpPr>
            <a:spLocks noGrp="1"/>
          </p:cNvSpPr>
          <p:nvPr>
            <p:ph type="ftr" sz="quarter" idx="11"/>
          </p:nvPr>
        </p:nvSpPr>
        <p:spPr/>
        <p:txBody>
          <a:bodyPr/>
          <a:lstStyle/>
          <a:p>
            <a:endParaRPr lang="en-US"/>
          </a:p>
        </p:txBody>
      </p:sp>
      <p:sp>
        <p:nvSpPr>
          <p:cNvPr id="12" name="Freeform 11"/>
          <p:cNvSpPr/>
          <p:nvPr/>
        </p:nvSpPr>
        <p:spPr bwMode="auto">
          <a:xfrm flipV="1">
            <a:off x="-3141" y="714376"/>
            <a:ext cx="1191395"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398860" y="787783"/>
            <a:ext cx="584825" cy="365125"/>
          </a:xfrm>
        </p:spPr>
        <p:txBody>
          <a:bodyPr/>
          <a:lstStyle/>
          <a:p>
            <a:fld id="{3592E275-D691-4E5D-BCC6-6858DE38E852}"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937BDCB0-3FE6-44BE-AAD7-38A6132AF140}" type="datetime1">
              <a:rPr lang="en-US" smtClean="0"/>
              <a:pPr/>
              <a:t>4/19/2021</a:t>
            </a:fld>
            <a:endParaRPr lang="en-US"/>
          </a:p>
        </p:txBody>
      </p:sp>
      <p:sp>
        <p:nvSpPr>
          <p:cNvPr id="4" name="Footer Placeholder 3"/>
          <p:cNvSpPr>
            <a:spLocks noGrp="1"/>
          </p:cNvSpPr>
          <p:nvPr>
            <p:ph type="ftr" sz="quarter" idx="11"/>
          </p:nvPr>
        </p:nvSpPr>
        <p:spPr/>
        <p:txBody>
          <a:bodyPr/>
          <a:lstStyle/>
          <a:p>
            <a:endParaRPr lang="en-US"/>
          </a:p>
        </p:txBody>
      </p:sp>
      <p:sp>
        <p:nvSpPr>
          <p:cNvPr id="7" name="Freeform 11"/>
          <p:cNvSpPr/>
          <p:nvPr/>
        </p:nvSpPr>
        <p:spPr bwMode="auto">
          <a:xfrm flipV="1">
            <a:off x="-3141" y="714376"/>
            <a:ext cx="1191395"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3592E275-D691-4E5D-BCC6-6858DE38E852}"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47AB431-41F4-43D8-9508-9B9236F9F077}" type="datetime1">
              <a:rPr lang="en-US" smtClean="0"/>
              <a:pPr/>
              <a:t>4/19/2021</a:t>
            </a:fld>
            <a:endParaRPr lang="en-US"/>
          </a:p>
        </p:txBody>
      </p:sp>
      <p:sp>
        <p:nvSpPr>
          <p:cNvPr id="3" name="Footer Placeholder 2"/>
          <p:cNvSpPr>
            <a:spLocks noGrp="1"/>
          </p:cNvSpPr>
          <p:nvPr>
            <p:ph type="ftr" sz="quarter" idx="11"/>
          </p:nvPr>
        </p:nvSpPr>
        <p:spPr/>
        <p:txBody>
          <a:bodyPr/>
          <a:lstStyle/>
          <a:p>
            <a:endParaRPr lang="en-US"/>
          </a:p>
        </p:txBody>
      </p:sp>
      <p:sp>
        <p:nvSpPr>
          <p:cNvPr id="6" name="Freeform 11"/>
          <p:cNvSpPr/>
          <p:nvPr/>
        </p:nvSpPr>
        <p:spPr bwMode="auto">
          <a:xfrm flipV="1">
            <a:off x="-3141" y="714376"/>
            <a:ext cx="1191395"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3592E275-D691-4E5D-BCC6-6858DE38E852}"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41910" y="446088"/>
            <a:ext cx="2628899" cy="976312"/>
          </a:xfrm>
        </p:spPr>
        <p:txBody>
          <a:bodyPr anchor="b"/>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4742259" y="446089"/>
            <a:ext cx="3886200" cy="5414963"/>
          </a:xfrm>
        </p:spPr>
        <p:txBody>
          <a:bodyPr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941910" y="1598613"/>
            <a:ext cx="26288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9FD880E-2008-4D38-8D82-5F906A64704E}" type="datetime1">
              <a:rPr lang="en-US" smtClean="0"/>
              <a:pPr/>
              <a:t>4/19/2021</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3141" y="714376"/>
            <a:ext cx="1191395"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3592E275-D691-4E5D-BCC6-6858DE38E852}"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41910" y="4800600"/>
            <a:ext cx="6686550"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941909" y="634965"/>
            <a:ext cx="668655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941910" y="5367338"/>
            <a:ext cx="668655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88AC1AD-DBC7-4D40-B1FA-C7DCADFAFA77}" type="datetime1">
              <a:rPr lang="en-US" smtClean="0"/>
              <a:pPr/>
              <a:t>4/19/2021</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3141" y="4911726"/>
            <a:ext cx="1191395"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398860" y="4983088"/>
            <a:ext cx="584825" cy="365125"/>
          </a:xfrm>
        </p:spPr>
        <p:txBody>
          <a:bodyPr/>
          <a:lstStyle/>
          <a:p>
            <a:fld id="{3592E275-D691-4E5D-BCC6-6858DE38E852}"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941910" y="609600"/>
            <a:ext cx="6686549" cy="3117040"/>
          </a:xfrm>
        </p:spPr>
        <p:txBody>
          <a:bodyPr anchor="ctr">
            <a:normAutofit/>
          </a:bodyPr>
          <a:lstStyle>
            <a:lvl1pPr algn="l">
              <a:defRPr sz="48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941910" y="4354046"/>
            <a:ext cx="668654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0953D09-88E7-4B2F-BD55-6A3B4169A1D2}" type="datetime1">
              <a:rPr lang="en-US" smtClean="0"/>
              <a:pPr/>
              <a:t>4/19/2021</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3141" y="3178176"/>
            <a:ext cx="1191395"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398860" y="3244140"/>
            <a:ext cx="584825" cy="365125"/>
          </a:xfrm>
        </p:spPr>
        <p:txBody>
          <a:bodyPr/>
          <a:lstStyle/>
          <a:p>
            <a:fld id="{3592E275-D691-4E5D-BCC6-6858DE38E852}"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37462" y="609600"/>
            <a:ext cx="6295445" cy="2895600"/>
          </a:xfrm>
        </p:spPr>
        <p:txBody>
          <a:bodyPr anchor="ctr">
            <a:normAutofit/>
          </a:bodyPr>
          <a:lstStyle>
            <a:lvl1pPr algn="l">
              <a:defRPr sz="4800" b="0" cap="none"/>
            </a:lvl1pPr>
          </a:lstStyle>
          <a:p>
            <a:r>
              <a:rPr lang="en-US" smtClean="0"/>
              <a:t>Click to edit Master title style</a:t>
            </a:r>
            <a:endParaRPr lang="en-US" dirty="0"/>
          </a:p>
        </p:txBody>
      </p:sp>
      <p:sp>
        <p:nvSpPr>
          <p:cNvPr id="13" name="Text Placeholder 9"/>
          <p:cNvSpPr>
            <a:spLocks noGrp="1"/>
          </p:cNvSpPr>
          <p:nvPr>
            <p:ph type="body" sz="quarter" idx="13"/>
          </p:nvPr>
        </p:nvSpPr>
        <p:spPr>
          <a:xfrm>
            <a:off x="2456259" y="3505200"/>
            <a:ext cx="5652416"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1941910" y="4354046"/>
            <a:ext cx="668654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00577F4D-E8BF-486A-8246-49D6615E0D3A}" type="datetime1">
              <a:rPr lang="en-US" smtClean="0"/>
              <a:pPr/>
              <a:t>4/19/2021</a:t>
            </a:fld>
            <a:endParaRPr lang="en-US"/>
          </a:p>
        </p:txBody>
      </p:sp>
      <p:sp>
        <p:nvSpPr>
          <p:cNvPr id="5" name="Footer Placeholder 4"/>
          <p:cNvSpPr>
            <a:spLocks noGrp="1"/>
          </p:cNvSpPr>
          <p:nvPr>
            <p:ph type="ftr" sz="quarter" idx="11"/>
          </p:nvPr>
        </p:nvSpPr>
        <p:spPr/>
        <p:txBody>
          <a:bodyPr/>
          <a:lstStyle/>
          <a:p>
            <a:endParaRPr lang="en-US"/>
          </a:p>
        </p:txBody>
      </p:sp>
      <p:sp>
        <p:nvSpPr>
          <p:cNvPr id="11" name="Freeform 11"/>
          <p:cNvSpPr/>
          <p:nvPr/>
        </p:nvSpPr>
        <p:spPr bwMode="auto">
          <a:xfrm flipV="1">
            <a:off x="-3141" y="3178176"/>
            <a:ext cx="1191395"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398860" y="3244140"/>
            <a:ext cx="584825" cy="365125"/>
          </a:xfrm>
        </p:spPr>
        <p:txBody>
          <a:bodyPr/>
          <a:lstStyle/>
          <a:p>
            <a:fld id="{3592E275-D691-4E5D-BCC6-6858DE38E852}" type="slidenum">
              <a:rPr lang="en-US" smtClean="0"/>
              <a:pPr/>
              <a:t>‹#›</a:t>
            </a:fld>
            <a:endParaRPr lang="en-US"/>
          </a:p>
        </p:txBody>
      </p:sp>
      <p:sp>
        <p:nvSpPr>
          <p:cNvPr id="14" name="TextBox 13"/>
          <p:cNvSpPr txBox="1"/>
          <p:nvPr/>
        </p:nvSpPr>
        <p:spPr>
          <a:xfrm>
            <a:off x="1850739" y="648005"/>
            <a:ext cx="4572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8336139" y="2905306"/>
            <a:ext cx="4572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941910" y="2438401"/>
            <a:ext cx="6686550" cy="2724845"/>
          </a:xfrm>
        </p:spPr>
        <p:txBody>
          <a:bodyPr anchor="b">
            <a:normAutofit/>
          </a:bodyPr>
          <a:lstStyle>
            <a:lvl1pPr algn="l">
              <a:defRPr sz="4800" b="0"/>
            </a:lvl1pPr>
          </a:lstStyle>
          <a:p>
            <a:r>
              <a:rPr lang="en-US" smtClean="0"/>
              <a:t>Click to edit Master title style</a:t>
            </a:r>
            <a:endParaRPr lang="en-US" dirty="0"/>
          </a:p>
        </p:txBody>
      </p:sp>
      <p:sp>
        <p:nvSpPr>
          <p:cNvPr id="4" name="Text Placeholder 3"/>
          <p:cNvSpPr>
            <a:spLocks noGrp="1"/>
          </p:cNvSpPr>
          <p:nvPr>
            <p:ph type="body" sz="half" idx="2"/>
          </p:nvPr>
        </p:nvSpPr>
        <p:spPr>
          <a:xfrm>
            <a:off x="1941910" y="5181600"/>
            <a:ext cx="668655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Click to edit Master text styles</a:t>
            </a:r>
          </a:p>
        </p:txBody>
      </p:sp>
      <p:sp>
        <p:nvSpPr>
          <p:cNvPr id="5" name="Date Placeholder 4"/>
          <p:cNvSpPr>
            <a:spLocks noGrp="1"/>
          </p:cNvSpPr>
          <p:nvPr>
            <p:ph type="dt" sz="half" idx="10"/>
          </p:nvPr>
        </p:nvSpPr>
        <p:spPr/>
        <p:txBody>
          <a:bodyPr/>
          <a:lstStyle/>
          <a:p>
            <a:fld id="{83035728-3DBC-4F1F-B1C8-B74CA711EA18}" type="datetime1">
              <a:rPr lang="en-US" smtClean="0"/>
              <a:pPr/>
              <a:t>4/19/2021</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3141" y="4911726"/>
            <a:ext cx="1191395"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398860" y="4983088"/>
            <a:ext cx="584825" cy="365125"/>
          </a:xfrm>
        </p:spPr>
        <p:txBody>
          <a:bodyPr/>
          <a:lstStyle/>
          <a:p>
            <a:fld id="{3592E275-D691-4E5D-BCC6-6858DE38E852}"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137462" y="609600"/>
            <a:ext cx="6295445" cy="2895600"/>
          </a:xfrm>
        </p:spPr>
        <p:txBody>
          <a:bodyPr anchor="ctr">
            <a:normAutofit/>
          </a:bodyPr>
          <a:lstStyle>
            <a:lvl1pPr algn="l">
              <a:defRPr sz="4800" b="0" cap="none"/>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1941909" y="4343400"/>
            <a:ext cx="668655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4" name="Text Placeholder 3"/>
          <p:cNvSpPr>
            <a:spLocks noGrp="1"/>
          </p:cNvSpPr>
          <p:nvPr>
            <p:ph type="body" sz="half" idx="2"/>
          </p:nvPr>
        </p:nvSpPr>
        <p:spPr>
          <a:xfrm>
            <a:off x="1941910" y="5181600"/>
            <a:ext cx="668655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Click to edit Master text styles</a:t>
            </a:r>
          </a:p>
        </p:txBody>
      </p:sp>
      <p:sp>
        <p:nvSpPr>
          <p:cNvPr id="5" name="Date Placeholder 4"/>
          <p:cNvSpPr>
            <a:spLocks noGrp="1"/>
          </p:cNvSpPr>
          <p:nvPr>
            <p:ph type="dt" sz="half" idx="10"/>
          </p:nvPr>
        </p:nvSpPr>
        <p:spPr/>
        <p:txBody>
          <a:bodyPr/>
          <a:lstStyle/>
          <a:p>
            <a:fld id="{59BEE7B9-32BF-412E-B3D3-4DD5FD30623B}" type="datetime1">
              <a:rPr lang="en-US" smtClean="0"/>
              <a:pPr/>
              <a:t>4/19/2021</a:t>
            </a:fld>
            <a:endParaRPr lang="en-US"/>
          </a:p>
        </p:txBody>
      </p:sp>
      <p:sp>
        <p:nvSpPr>
          <p:cNvPr id="6" name="Footer Placeholder 5"/>
          <p:cNvSpPr>
            <a:spLocks noGrp="1"/>
          </p:cNvSpPr>
          <p:nvPr>
            <p:ph type="ftr" sz="quarter" idx="11"/>
          </p:nvPr>
        </p:nvSpPr>
        <p:spPr/>
        <p:txBody>
          <a:bodyPr/>
          <a:lstStyle/>
          <a:p>
            <a:endParaRPr lang="en-US"/>
          </a:p>
        </p:txBody>
      </p:sp>
      <p:sp>
        <p:nvSpPr>
          <p:cNvPr id="11" name="Freeform 11"/>
          <p:cNvSpPr/>
          <p:nvPr/>
        </p:nvSpPr>
        <p:spPr bwMode="auto">
          <a:xfrm flipV="1">
            <a:off x="-3141" y="4911726"/>
            <a:ext cx="1191395"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398860" y="4983088"/>
            <a:ext cx="584825" cy="365125"/>
          </a:xfrm>
        </p:spPr>
        <p:txBody>
          <a:bodyPr/>
          <a:lstStyle/>
          <a:p>
            <a:fld id="{3592E275-D691-4E5D-BCC6-6858DE38E852}" type="slidenum">
              <a:rPr lang="en-US" smtClean="0"/>
              <a:pPr/>
              <a:t>‹#›</a:t>
            </a:fld>
            <a:endParaRPr lang="en-US"/>
          </a:p>
        </p:txBody>
      </p:sp>
      <p:sp>
        <p:nvSpPr>
          <p:cNvPr id="17" name="TextBox 16"/>
          <p:cNvSpPr txBox="1"/>
          <p:nvPr/>
        </p:nvSpPr>
        <p:spPr>
          <a:xfrm>
            <a:off x="1850739" y="648005"/>
            <a:ext cx="4572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8336139" y="2905306"/>
            <a:ext cx="4572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941910" y="627407"/>
            <a:ext cx="6686549" cy="2880020"/>
          </a:xfrm>
        </p:spPr>
        <p:txBody>
          <a:bodyPr anchor="ctr">
            <a:normAutofit/>
          </a:bodyPr>
          <a:lstStyle>
            <a:lvl1pPr algn="l">
              <a:defRPr sz="4800" b="0"/>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1941909" y="4343400"/>
            <a:ext cx="668655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4" name="Text Placeholder 3"/>
          <p:cNvSpPr>
            <a:spLocks noGrp="1"/>
          </p:cNvSpPr>
          <p:nvPr>
            <p:ph type="body" sz="half" idx="2"/>
          </p:nvPr>
        </p:nvSpPr>
        <p:spPr>
          <a:xfrm>
            <a:off x="1941910" y="5181600"/>
            <a:ext cx="668655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Click to edit Master text styles</a:t>
            </a:r>
          </a:p>
        </p:txBody>
      </p:sp>
      <p:sp>
        <p:nvSpPr>
          <p:cNvPr id="5" name="Date Placeholder 4"/>
          <p:cNvSpPr>
            <a:spLocks noGrp="1"/>
          </p:cNvSpPr>
          <p:nvPr>
            <p:ph type="dt" sz="half" idx="10"/>
          </p:nvPr>
        </p:nvSpPr>
        <p:spPr/>
        <p:txBody>
          <a:bodyPr/>
          <a:lstStyle/>
          <a:p>
            <a:fld id="{7C529BA8-7F52-42B3-9BB9-7E490EBF2DAC}" type="datetime1">
              <a:rPr lang="en-US" smtClean="0"/>
              <a:pPr/>
              <a:t>4/19/2021</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3141" y="4911726"/>
            <a:ext cx="1191395"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398860" y="4983088"/>
            <a:ext cx="584825" cy="365125"/>
          </a:xfrm>
        </p:spPr>
        <p:txBody>
          <a:bodyPr/>
          <a:lstStyle/>
          <a:p>
            <a:fld id="{3592E275-D691-4E5D-BCC6-6858DE38E852}" type="slidenum">
              <a:rPr lang="en-US" smtClean="0"/>
              <a:pPr/>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CF90F500-6D7C-4475-9F6C-E1A3F7468057}" type="datetime1">
              <a:rPr lang="en-US" smtClean="0"/>
              <a:pPr/>
              <a:t>4/19/2021</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3141" y="714376"/>
            <a:ext cx="1191395"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3592E275-D691-4E5D-BCC6-6858DE38E852}" type="slidenum">
              <a:rPr lang="en-US" smtClean="0"/>
              <a:pPr/>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971109" y="627406"/>
            <a:ext cx="1655701" cy="5283817"/>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941909" y="627406"/>
            <a:ext cx="4857750" cy="5283817"/>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0EC085C5-440F-49E6-A76B-CBD97699EA41}" type="datetime1">
              <a:rPr lang="en-US" smtClean="0"/>
              <a:pPr/>
              <a:t>4/19/2021</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3141" y="714376"/>
            <a:ext cx="1191395"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3592E275-D691-4E5D-BCC6-6858DE38E852}"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8" name="Group 22"/>
          <p:cNvGrpSpPr/>
          <p:nvPr/>
        </p:nvGrpSpPr>
        <p:grpSpPr>
          <a:xfrm>
            <a:off x="1" y="228600"/>
            <a:ext cx="2138637"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9" name="Group 9"/>
          <p:cNvGrpSpPr/>
          <p:nvPr/>
        </p:nvGrpSpPr>
        <p:grpSpPr>
          <a:xfrm>
            <a:off x="20416" y="-786"/>
            <a:ext cx="1767506"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3716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1944694" y="624110"/>
            <a:ext cx="6683765" cy="128089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941909" y="2133600"/>
            <a:ext cx="6686550" cy="38862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771210" y="6130437"/>
            <a:ext cx="859712"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EBD86EF8-D3AD-4FF7-ADBC-8A83CB0AB6A8}" type="datetime1">
              <a:rPr lang="en-US" smtClean="0"/>
              <a:pPr/>
              <a:t>4/19/2021</a:t>
            </a:fld>
            <a:endParaRPr lang="en-US"/>
          </a:p>
        </p:txBody>
      </p:sp>
      <p:sp>
        <p:nvSpPr>
          <p:cNvPr id="5" name="Footer Placeholder 4"/>
          <p:cNvSpPr>
            <a:spLocks noGrp="1"/>
          </p:cNvSpPr>
          <p:nvPr>
            <p:ph type="ftr" sz="quarter" idx="3"/>
          </p:nvPr>
        </p:nvSpPr>
        <p:spPr>
          <a:xfrm>
            <a:off x="1941910" y="6135809"/>
            <a:ext cx="5714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bwMode="gray">
          <a:xfrm>
            <a:off x="398860" y="787783"/>
            <a:ext cx="584825" cy="365125"/>
          </a:xfrm>
          <a:prstGeom prst="rect">
            <a:avLst/>
          </a:prstGeom>
        </p:spPr>
        <p:txBody>
          <a:bodyPr vert="horz" lIns="91440" tIns="45720" rIns="91440" bIns="45720" rtlCol="0" anchor="ctr"/>
          <a:lstStyle>
            <a:lvl1pPr algn="r">
              <a:defRPr sz="2000">
                <a:solidFill>
                  <a:srgbClr val="FEFFFF"/>
                </a:solidFill>
              </a:defRPr>
            </a:lvl1pPr>
          </a:lstStyle>
          <a:p>
            <a:fld id="{3592E275-D691-4E5D-BCC6-6858DE38E852}"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hf hdr="0" ftr="0" dt="0"/>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71600" y="228600"/>
            <a:ext cx="7391400" cy="685799"/>
          </a:xfrm>
        </p:spPr>
        <p:txBody>
          <a:bodyPr>
            <a:noAutofit/>
          </a:bodyPr>
          <a:lstStyle/>
          <a:p>
            <a:r>
              <a:rPr lang="en-US" sz="2400" b="1" dirty="0">
                <a:latin typeface="Times New Roman" pitchFamily="18" charset="0"/>
                <a:cs typeface="Times New Roman" pitchFamily="18" charset="0"/>
              </a:rPr>
              <a:t>Unit- III: </a:t>
            </a:r>
            <a:r>
              <a:rPr lang="en-IN" sz="2400" b="1" dirty="0">
                <a:latin typeface="Times New Roman" pitchFamily="18" charset="0"/>
                <a:cs typeface="Times New Roman" pitchFamily="18" charset="0"/>
              </a:rPr>
              <a:t>Funding the Growth &amp; Building the </a:t>
            </a:r>
            <a:r>
              <a:rPr lang="en-IN" sz="2400" b="1" dirty="0" smtClean="0">
                <a:latin typeface="Times New Roman" pitchFamily="18" charset="0"/>
                <a:cs typeface="Times New Roman" pitchFamily="18" charset="0"/>
              </a:rPr>
              <a:t>A-Team</a:t>
            </a:r>
            <a:endParaRPr lang="en-US" sz="2400" dirty="0">
              <a:latin typeface="Times New Roman" pitchFamily="18" charset="0"/>
              <a:cs typeface="Times New Roman" pitchFamily="18" charset="0"/>
            </a:endParaRPr>
          </a:p>
        </p:txBody>
      </p:sp>
      <p:sp>
        <p:nvSpPr>
          <p:cNvPr id="3" name="Subtitle 2"/>
          <p:cNvSpPr>
            <a:spLocks noGrp="1"/>
          </p:cNvSpPr>
          <p:nvPr>
            <p:ph type="subTitle" idx="1"/>
          </p:nvPr>
        </p:nvSpPr>
        <p:spPr>
          <a:xfrm>
            <a:off x="1371600" y="990600"/>
            <a:ext cx="7543800" cy="5562600"/>
          </a:xfrm>
        </p:spPr>
        <p:style>
          <a:lnRef idx="2">
            <a:schemeClr val="accent4"/>
          </a:lnRef>
          <a:fillRef idx="1">
            <a:schemeClr val="lt1"/>
          </a:fillRef>
          <a:effectRef idx="0">
            <a:schemeClr val="accent4"/>
          </a:effectRef>
          <a:fontRef idx="minor">
            <a:schemeClr val="dk1"/>
          </a:fontRef>
        </p:style>
        <p:txBody>
          <a:bodyPr>
            <a:noAutofit/>
          </a:bodyPr>
          <a:lstStyle/>
          <a:p>
            <a:r>
              <a:rPr lang="en-IN" sz="2800" dirty="0">
                <a:solidFill>
                  <a:schemeClr val="tx1"/>
                </a:solidFill>
                <a:latin typeface="Times New Roman" pitchFamily="18" charset="0"/>
                <a:cs typeface="Times New Roman" pitchFamily="18" charset="0"/>
              </a:rPr>
              <a:t>Overview of Funding, </a:t>
            </a:r>
          </a:p>
          <a:p>
            <a:r>
              <a:rPr lang="en-IN" sz="2800" dirty="0">
                <a:solidFill>
                  <a:schemeClr val="tx1"/>
                </a:solidFill>
                <a:latin typeface="Times New Roman" pitchFamily="18" charset="0"/>
                <a:cs typeface="Times New Roman" pitchFamily="18" charset="0"/>
              </a:rPr>
              <a:t>Funding options for an entrepreneur, </a:t>
            </a:r>
          </a:p>
          <a:p>
            <a:r>
              <a:rPr lang="en-IN" sz="2800" dirty="0">
                <a:solidFill>
                  <a:schemeClr val="tx1"/>
                </a:solidFill>
                <a:latin typeface="Times New Roman" pitchFamily="18" charset="0"/>
                <a:cs typeface="Times New Roman" pitchFamily="18" charset="0"/>
              </a:rPr>
              <a:t>Explore the right funding options,</a:t>
            </a:r>
          </a:p>
          <a:p>
            <a:r>
              <a:rPr lang="en-IN" sz="2800" dirty="0">
                <a:solidFill>
                  <a:schemeClr val="tx1"/>
                </a:solidFill>
                <a:latin typeface="Times New Roman" pitchFamily="18" charset="0"/>
                <a:cs typeface="Times New Roman" pitchFamily="18" charset="0"/>
              </a:rPr>
              <a:t>Create Funding Plan, </a:t>
            </a:r>
          </a:p>
          <a:p>
            <a:r>
              <a:rPr lang="en-IN" sz="2800" dirty="0">
                <a:solidFill>
                  <a:schemeClr val="tx1"/>
                </a:solidFill>
                <a:latin typeface="Times New Roman" pitchFamily="18" charset="0"/>
                <a:cs typeface="Times New Roman" pitchFamily="18" charset="0"/>
              </a:rPr>
              <a:t>Pitch Deck, </a:t>
            </a:r>
          </a:p>
          <a:p>
            <a:r>
              <a:rPr lang="en-IN" sz="2800" dirty="0">
                <a:solidFill>
                  <a:schemeClr val="tx1"/>
                </a:solidFill>
                <a:latin typeface="Times New Roman" pitchFamily="18" charset="0"/>
                <a:cs typeface="Times New Roman" pitchFamily="18" charset="0"/>
              </a:rPr>
              <a:t>Introduction to building A-Team, </a:t>
            </a:r>
            <a:endParaRPr lang="en-IN" sz="2800" dirty="0" smtClean="0">
              <a:solidFill>
                <a:schemeClr val="tx1"/>
              </a:solidFill>
              <a:latin typeface="Times New Roman" pitchFamily="18" charset="0"/>
              <a:cs typeface="Times New Roman" pitchFamily="18" charset="0"/>
            </a:endParaRPr>
          </a:p>
          <a:p>
            <a:r>
              <a:rPr lang="en-IN" sz="2800" dirty="0" smtClean="0">
                <a:solidFill>
                  <a:schemeClr val="tx1"/>
                </a:solidFill>
                <a:latin typeface="Times New Roman" pitchFamily="18" charset="0"/>
                <a:cs typeface="Times New Roman" pitchFamily="18" charset="0"/>
              </a:rPr>
              <a:t>Pitching </a:t>
            </a:r>
            <a:r>
              <a:rPr lang="en-IN" sz="2800" dirty="0">
                <a:solidFill>
                  <a:schemeClr val="tx1"/>
                </a:solidFill>
                <a:latin typeface="Times New Roman" pitchFamily="18" charset="0"/>
                <a:cs typeface="Times New Roman" pitchFamily="18" charset="0"/>
              </a:rPr>
              <a:t>to attract the talent, </a:t>
            </a:r>
          </a:p>
          <a:p>
            <a:r>
              <a:rPr lang="en-IN" sz="2800" dirty="0">
                <a:solidFill>
                  <a:schemeClr val="tx1"/>
                </a:solidFill>
                <a:latin typeface="Times New Roman" pitchFamily="18" charset="0"/>
                <a:cs typeface="Times New Roman" pitchFamily="18" charset="0"/>
              </a:rPr>
              <a:t>Setting your team, </a:t>
            </a:r>
          </a:p>
          <a:p>
            <a:r>
              <a:rPr lang="en-IN" sz="2800" dirty="0">
                <a:solidFill>
                  <a:schemeClr val="tx1"/>
                </a:solidFill>
                <a:latin typeface="Times New Roman" pitchFamily="18" charset="0"/>
                <a:cs typeface="Times New Roman" pitchFamily="18" charset="0"/>
              </a:rPr>
              <a:t>Hiring the A-Team members </a:t>
            </a:r>
          </a:p>
          <a:p>
            <a:r>
              <a:rPr lang="en-IN" sz="2800" dirty="0">
                <a:solidFill>
                  <a:schemeClr val="tx1"/>
                </a:solidFill>
                <a:latin typeface="Times New Roman" pitchFamily="18" charset="0"/>
                <a:cs typeface="Times New Roman" pitchFamily="18" charset="0"/>
              </a:rPr>
              <a:t>Defining roles</a:t>
            </a:r>
            <a:endParaRPr lang="en-US" sz="2800" dirty="0">
              <a:solidFill>
                <a:schemeClr val="tx1"/>
              </a:solidFill>
              <a:latin typeface="Times New Roman" pitchFamily="18" charset="0"/>
              <a:cs typeface="Times New Roman" pitchFamily="18" charset="0"/>
            </a:endParaRPr>
          </a:p>
          <a:p>
            <a:r>
              <a:rPr lang="en-US" sz="2800" dirty="0">
                <a:solidFill>
                  <a:schemeClr val="tx1"/>
                </a:solidFill>
                <a:latin typeface="Times New Roman" pitchFamily="18" charset="0"/>
                <a:cs typeface="Times New Roman" pitchFamily="18" charset="0"/>
              </a:rPr>
              <a:t>.</a:t>
            </a:r>
          </a:p>
          <a:p>
            <a:endParaRPr lang="en-US" sz="2800" dirty="0">
              <a:solidFill>
                <a:schemeClr val="tx1"/>
              </a:solidFill>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3592E275-D691-4E5D-BCC6-6858DE38E852}" type="slidenum">
              <a:rPr lang="en-US" smtClean="0"/>
              <a:pPr/>
              <a:t>1</a:t>
            </a:fld>
            <a:endParaRPr lang="en-US"/>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0801"/>
          <p:cNvPicPr>
            <a:picLocks noChangeAspect="1" noChangeArrowheads="1"/>
          </p:cNvPicPr>
          <p:nvPr/>
        </p:nvPicPr>
        <p:blipFill>
          <a:blip r:embed="rId2">
            <a:extLst>
              <a:ext uri="{28A0092B-C50C-407E-A947-70E740481C1C}">
                <a14:useLocalDpi xmlns:a14="http://schemas.microsoft.com/office/drawing/2010/main" val="0"/>
              </a:ext>
            </a:extLst>
          </a:blip>
          <a:srcRect t="8670"/>
          <a:stretch>
            <a:fillRect/>
          </a:stretch>
        </p:blipFill>
        <p:spPr bwMode="auto">
          <a:xfrm>
            <a:off x="1166813" y="1219200"/>
            <a:ext cx="7672387" cy="5410200"/>
          </a:xfrm>
          <a:prstGeom prst="rect">
            <a:avLst/>
          </a:prstGeom>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tyle>
          <a:lnRef idx="2">
            <a:schemeClr val="accent4"/>
          </a:lnRef>
          <a:fillRef idx="1">
            <a:schemeClr val="lt1"/>
          </a:fillRef>
          <a:effectRef idx="0">
            <a:schemeClr val="accent4"/>
          </a:effectRef>
          <a:fontRef idx="minor">
            <a:schemeClr val="dk1"/>
          </a:fontRef>
        </p:style>
      </p:pic>
      <p:sp>
        <p:nvSpPr>
          <p:cNvPr id="6147" name="Title 9"/>
          <p:cNvSpPr>
            <a:spLocks noGrp="1"/>
          </p:cNvSpPr>
          <p:nvPr>
            <p:ph type="title"/>
          </p:nvPr>
        </p:nvSpPr>
        <p:spPr>
          <a:xfrm>
            <a:off x="1219200" y="152400"/>
            <a:ext cx="7543800" cy="838200"/>
          </a:xfrm>
        </p:spPr>
        <p:txBody>
          <a:bodyPr>
            <a:noAutofit/>
          </a:bodyPr>
          <a:lstStyle/>
          <a:p>
            <a:pPr algn="ctr"/>
            <a:r>
              <a:rPr lang="en-IN" b="1" dirty="0">
                <a:solidFill>
                  <a:schemeClr val="tx1"/>
                </a:solidFill>
                <a:latin typeface="Times New Roman" pitchFamily="18" charset="0"/>
                <a:cs typeface="Times New Roman" pitchFamily="18" charset="0"/>
              </a:rPr>
              <a:t>Overview of </a:t>
            </a:r>
            <a:r>
              <a:rPr lang="en-IN" b="1" dirty="0" smtClean="0">
                <a:solidFill>
                  <a:schemeClr val="tx1"/>
                </a:solidFill>
                <a:latin typeface="Times New Roman" pitchFamily="18" charset="0"/>
                <a:cs typeface="Times New Roman" pitchFamily="18" charset="0"/>
              </a:rPr>
              <a:t>Funding</a:t>
            </a:r>
            <a:endParaRPr lang="en-US" b="1" dirty="0" smtClean="0">
              <a:solidFill>
                <a:schemeClr val="tx1"/>
              </a:solidFill>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3592E275-D691-4E5D-BCC6-6858DE38E852}" type="slidenum">
              <a:rPr lang="en-US" smtClean="0"/>
              <a:pPr/>
              <a:t>2</a:t>
            </a:fld>
            <a:endParaRPr lang="en-US"/>
          </a:p>
        </p:txBody>
      </p:sp>
      <p:pic>
        <p:nvPicPr>
          <p:cNvPr id="5" name="Picture 2" descr="http://www.lemberglaw.com/wp-content/uploads/2016/04/17621-NR7PZ41.jpg"/>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11497" t="15262" r="6439" b="8421"/>
          <a:stretch/>
        </p:blipFill>
        <p:spPr bwMode="auto">
          <a:xfrm>
            <a:off x="1600200" y="1752600"/>
            <a:ext cx="1790718" cy="1918568"/>
          </a:xfrm>
          <a:prstGeom prst="rect">
            <a:avLst/>
          </a:prstGeom>
          <a:extLst>
            <a:ext uri="{909E8E84-426E-40DD-AFC4-6F175D3DCCD1}">
              <a14:hiddenFill xmlns:a14="http://schemas.microsoft.com/office/drawing/2010/main">
                <a:solidFill>
                  <a:srgbClr val="FFFFFF"/>
                </a:solidFill>
              </a14:hiddenFill>
            </a:ext>
          </a:extLst>
        </p:spPr>
        <p:style>
          <a:lnRef idx="2">
            <a:schemeClr val="accent4"/>
          </a:lnRef>
          <a:fillRef idx="1">
            <a:schemeClr val="lt1"/>
          </a:fillRef>
          <a:effectRef idx="0">
            <a:schemeClr val="accent4"/>
          </a:effectRef>
          <a:fontRef idx="minor">
            <a:schemeClr val="dk1"/>
          </a:fontRef>
        </p:style>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8" presetClass="entr" presetSubtype="3"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strips(upRight)">
                                      <p:cBhvr>
                                        <p:cTn id="7"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Title 9"/>
          <p:cNvSpPr>
            <a:spLocks noGrp="1"/>
          </p:cNvSpPr>
          <p:nvPr>
            <p:ph type="title"/>
          </p:nvPr>
        </p:nvSpPr>
        <p:spPr>
          <a:xfrm>
            <a:off x="1219200" y="152400"/>
            <a:ext cx="7543800" cy="838200"/>
          </a:xfrm>
        </p:spPr>
        <p:txBody>
          <a:bodyPr>
            <a:noAutofit/>
          </a:bodyPr>
          <a:lstStyle/>
          <a:p>
            <a:pPr algn="ctr"/>
            <a:r>
              <a:rPr lang="en-IN" b="1" dirty="0" smtClean="0">
                <a:solidFill>
                  <a:schemeClr val="tx1"/>
                </a:solidFill>
                <a:latin typeface="Times New Roman" pitchFamily="18" charset="0"/>
                <a:cs typeface="Times New Roman" pitchFamily="18" charset="0"/>
              </a:rPr>
              <a:t>Funding Stages</a:t>
            </a:r>
            <a:endParaRPr lang="en-US" b="1" dirty="0" smtClean="0">
              <a:solidFill>
                <a:schemeClr val="tx1"/>
              </a:solidFill>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3592E275-D691-4E5D-BCC6-6858DE38E852}" type="slidenum">
              <a:rPr lang="en-US" smtClean="0"/>
              <a:pPr/>
              <a:t>3</a:t>
            </a:fld>
            <a:endParaRPr lang="en-US"/>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19200" y="1143000"/>
            <a:ext cx="7467600" cy="4343400"/>
          </a:xfrm>
          <a:prstGeom prst="rect">
            <a:avLst/>
          </a:prstGeom>
        </p:spPr>
      </p:pic>
    </p:spTree>
    <p:extLst>
      <p:ext uri="{BB962C8B-B14F-4D97-AF65-F5344CB8AC3E}">
        <p14:creationId xmlns:p14="http://schemas.microsoft.com/office/powerpoint/2010/main" val="1414192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1676400" y="381000"/>
            <a:ext cx="6683765" cy="1280890"/>
          </a:xfrm>
        </p:spPr>
        <p:txBody>
          <a:bodyPr>
            <a:normAutofit fontScale="90000"/>
          </a:bodyPr>
          <a:lstStyle/>
          <a:p>
            <a:r>
              <a:rPr lang="en-IN" sz="3200" b="1" dirty="0">
                <a:solidFill>
                  <a:schemeClr val="tx1"/>
                </a:solidFill>
                <a:latin typeface="Times New Roman" pitchFamily="18" charset="0"/>
                <a:cs typeface="Times New Roman" pitchFamily="18" charset="0"/>
              </a:rPr>
              <a:t>Funding options for an </a:t>
            </a:r>
            <a:r>
              <a:rPr lang="en-IN" sz="3200" b="1" dirty="0" smtClean="0">
                <a:solidFill>
                  <a:schemeClr val="tx1"/>
                </a:solidFill>
                <a:latin typeface="Times New Roman" pitchFamily="18" charset="0"/>
                <a:cs typeface="Times New Roman" pitchFamily="18" charset="0"/>
              </a:rPr>
              <a:t>Entrepreneur</a:t>
            </a:r>
            <a:r>
              <a:rPr lang="en-IN" sz="3200" b="1" dirty="0">
                <a:solidFill>
                  <a:schemeClr val="tx1"/>
                </a:solidFill>
                <a:latin typeface="Times New Roman" pitchFamily="18" charset="0"/>
                <a:cs typeface="Times New Roman" pitchFamily="18" charset="0"/>
              </a:rPr>
              <a:t>, </a:t>
            </a:r>
            <a:br>
              <a:rPr lang="en-IN" sz="3200" b="1" dirty="0">
                <a:solidFill>
                  <a:schemeClr val="tx1"/>
                </a:solidFill>
                <a:latin typeface="Times New Roman" pitchFamily="18" charset="0"/>
                <a:cs typeface="Times New Roman" pitchFamily="18" charset="0"/>
              </a:rPr>
            </a:br>
            <a:endParaRPr lang="en-US" sz="3200" b="1" dirty="0" smtClean="0">
              <a:solidFill>
                <a:schemeClr val="tx1"/>
              </a:solidFill>
              <a:latin typeface="Times New Roman" pitchFamily="18" charset="0"/>
              <a:cs typeface="Times New Roman" pitchFamily="18" charset="0"/>
            </a:endParaRPr>
          </a:p>
        </p:txBody>
      </p:sp>
      <p:sp>
        <p:nvSpPr>
          <p:cNvPr id="3" name="Content Placeholder 2"/>
          <p:cNvSpPr>
            <a:spLocks noGrp="1"/>
          </p:cNvSpPr>
          <p:nvPr>
            <p:ph sz="half" idx="1"/>
          </p:nvPr>
        </p:nvSpPr>
        <p:spPr>
          <a:xfrm>
            <a:off x="838200" y="1905000"/>
            <a:ext cx="3810000" cy="4419600"/>
          </a:xfrm>
        </p:spPr>
        <p:style>
          <a:lnRef idx="2">
            <a:schemeClr val="accent4"/>
          </a:lnRef>
          <a:fillRef idx="1">
            <a:schemeClr val="lt1"/>
          </a:fillRef>
          <a:effectRef idx="0">
            <a:schemeClr val="accent4"/>
          </a:effectRef>
          <a:fontRef idx="minor">
            <a:schemeClr val="dk1"/>
          </a:fontRef>
        </p:style>
        <p:txBody>
          <a:bodyPr>
            <a:normAutofit fontScale="85000" lnSpcReduction="20000"/>
          </a:bodyPr>
          <a:lstStyle/>
          <a:p>
            <a:pPr>
              <a:defRPr/>
            </a:pPr>
            <a:r>
              <a:rPr lang="en-US" sz="2800" b="1" dirty="0" smtClean="0">
                <a:solidFill>
                  <a:schemeClr val="accent6"/>
                </a:solidFill>
                <a:latin typeface="Times New Roman" pitchFamily="18" charset="0"/>
                <a:cs typeface="Times New Roman" pitchFamily="18" charset="0"/>
              </a:rPr>
              <a:t>Equity Sources:</a:t>
            </a:r>
          </a:p>
          <a:p>
            <a:pPr marL="971550" lvl="1" indent="-514350">
              <a:buFont typeface="+mj-lt"/>
              <a:buAutoNum type="alphaLcPeriod"/>
              <a:defRPr/>
            </a:pPr>
            <a:r>
              <a:rPr lang="en-US" sz="2800" dirty="0" smtClean="0">
                <a:latin typeface="Times New Roman" pitchFamily="18" charset="0"/>
                <a:cs typeface="Times New Roman" pitchFamily="18" charset="0"/>
              </a:rPr>
              <a:t>Personal Sources</a:t>
            </a:r>
          </a:p>
          <a:p>
            <a:pPr marL="971550" lvl="1" indent="-514350">
              <a:buFont typeface="+mj-lt"/>
              <a:buAutoNum type="alphaLcPeriod"/>
              <a:defRPr/>
            </a:pPr>
            <a:r>
              <a:rPr lang="en-US" sz="2800" dirty="0" smtClean="0">
                <a:latin typeface="Times New Roman" pitchFamily="18" charset="0"/>
                <a:cs typeface="Times New Roman" pitchFamily="18" charset="0"/>
              </a:rPr>
              <a:t>Private Borrowings</a:t>
            </a:r>
          </a:p>
          <a:p>
            <a:pPr marL="971550" lvl="1" indent="-514350">
              <a:buFont typeface="+mj-lt"/>
              <a:buAutoNum type="alphaLcPeriod"/>
              <a:defRPr/>
            </a:pPr>
            <a:r>
              <a:rPr lang="en-US" sz="2800" dirty="0" smtClean="0">
                <a:latin typeface="Times New Roman" pitchFamily="18" charset="0"/>
                <a:cs typeface="Times New Roman" pitchFamily="18" charset="0"/>
              </a:rPr>
              <a:t>Informal Capital</a:t>
            </a:r>
          </a:p>
          <a:p>
            <a:pPr marL="971550" lvl="1" indent="-514350">
              <a:buFont typeface="+mj-lt"/>
              <a:buAutoNum type="alphaLcPeriod"/>
              <a:defRPr/>
            </a:pPr>
            <a:r>
              <a:rPr lang="en-US" sz="2800" dirty="0" smtClean="0">
                <a:latin typeface="Times New Roman" pitchFamily="18" charset="0"/>
                <a:cs typeface="Times New Roman" pitchFamily="18" charset="0"/>
              </a:rPr>
              <a:t>Corporate Securities</a:t>
            </a:r>
          </a:p>
          <a:p>
            <a:pPr marL="971550" lvl="1" indent="-514350">
              <a:buFont typeface="+mj-lt"/>
              <a:buAutoNum type="alphaLcPeriod"/>
              <a:defRPr/>
            </a:pPr>
            <a:r>
              <a:rPr lang="en-US" sz="2800" dirty="0" smtClean="0">
                <a:latin typeface="Times New Roman" pitchFamily="18" charset="0"/>
                <a:cs typeface="Times New Roman" pitchFamily="18" charset="0"/>
              </a:rPr>
              <a:t>Public Issues</a:t>
            </a:r>
          </a:p>
          <a:p>
            <a:pPr marL="971550" lvl="1" indent="-514350">
              <a:buFont typeface="+mj-lt"/>
              <a:buAutoNum type="alphaLcPeriod"/>
              <a:defRPr/>
            </a:pPr>
            <a:r>
              <a:rPr lang="en-US" sz="2800" dirty="0" smtClean="0">
                <a:latin typeface="Times New Roman" pitchFamily="18" charset="0"/>
                <a:cs typeface="Times New Roman" pitchFamily="18" charset="0"/>
              </a:rPr>
              <a:t>Internal Financing  </a:t>
            </a:r>
          </a:p>
          <a:p>
            <a:pPr marL="971550" lvl="1" indent="-514350">
              <a:buFont typeface="+mj-lt"/>
              <a:buAutoNum type="alphaLcPeriod"/>
              <a:defRPr/>
            </a:pPr>
            <a:endParaRPr lang="en-US" dirty="0"/>
          </a:p>
        </p:txBody>
      </p:sp>
      <p:sp>
        <p:nvSpPr>
          <p:cNvPr id="4" name="Content Placeholder 3"/>
          <p:cNvSpPr>
            <a:spLocks noGrp="1"/>
          </p:cNvSpPr>
          <p:nvPr>
            <p:ph sz="half" idx="2"/>
          </p:nvPr>
        </p:nvSpPr>
        <p:spPr>
          <a:xfrm>
            <a:off x="4876800" y="1905000"/>
            <a:ext cx="3962400" cy="4419600"/>
          </a:xfrm>
        </p:spPr>
        <p:style>
          <a:lnRef idx="2">
            <a:schemeClr val="accent4"/>
          </a:lnRef>
          <a:fillRef idx="1">
            <a:schemeClr val="lt1"/>
          </a:fillRef>
          <a:effectRef idx="0">
            <a:schemeClr val="accent4"/>
          </a:effectRef>
          <a:fontRef idx="minor">
            <a:schemeClr val="dk1"/>
          </a:fontRef>
        </p:style>
        <p:txBody>
          <a:bodyPr>
            <a:normAutofit fontScale="85000" lnSpcReduction="20000"/>
          </a:bodyPr>
          <a:lstStyle/>
          <a:p>
            <a:pPr>
              <a:defRPr/>
            </a:pPr>
            <a:r>
              <a:rPr lang="en-US" sz="2800" b="1" dirty="0" smtClean="0">
                <a:solidFill>
                  <a:schemeClr val="accent6"/>
                </a:solidFill>
                <a:latin typeface="Times New Roman" pitchFamily="18" charset="0"/>
                <a:cs typeface="Times New Roman" pitchFamily="18" charset="0"/>
              </a:rPr>
              <a:t>Debt Sources:</a:t>
            </a:r>
          </a:p>
          <a:p>
            <a:pPr marL="914400" lvl="1" indent="-457200">
              <a:buFont typeface="+mj-lt"/>
              <a:buAutoNum type="alphaLcPeriod"/>
              <a:defRPr/>
            </a:pPr>
            <a:r>
              <a:rPr lang="en-US" sz="2800" dirty="0" smtClean="0">
                <a:latin typeface="Times New Roman" pitchFamily="18" charset="0"/>
                <a:cs typeface="Times New Roman" pitchFamily="18" charset="0"/>
              </a:rPr>
              <a:t>Debentures</a:t>
            </a:r>
          </a:p>
          <a:p>
            <a:pPr marL="914400" lvl="1" indent="-457200">
              <a:buFont typeface="+mj-lt"/>
              <a:buAutoNum type="alphaLcPeriod"/>
              <a:defRPr/>
            </a:pPr>
            <a:r>
              <a:rPr lang="en-US" sz="2800" dirty="0" smtClean="0">
                <a:latin typeface="Times New Roman" pitchFamily="18" charset="0"/>
                <a:cs typeface="Times New Roman" pitchFamily="18" charset="0"/>
              </a:rPr>
              <a:t>Commercial Papers</a:t>
            </a:r>
          </a:p>
          <a:p>
            <a:pPr marL="914400" lvl="1" indent="-457200">
              <a:buFont typeface="+mj-lt"/>
              <a:buAutoNum type="alphaLcPeriod"/>
              <a:defRPr/>
            </a:pPr>
            <a:r>
              <a:rPr lang="en-US" sz="2800" dirty="0" smtClean="0">
                <a:latin typeface="Times New Roman" pitchFamily="18" charset="0"/>
                <a:cs typeface="Times New Roman" pitchFamily="18" charset="0"/>
              </a:rPr>
              <a:t>Inter-corporate deposits</a:t>
            </a:r>
          </a:p>
          <a:p>
            <a:pPr marL="914400" lvl="1" indent="-457200">
              <a:buFont typeface="+mj-lt"/>
              <a:buAutoNum type="alphaLcPeriod"/>
              <a:defRPr/>
            </a:pPr>
            <a:r>
              <a:rPr lang="en-US" sz="2800" dirty="0" smtClean="0">
                <a:latin typeface="Times New Roman" pitchFamily="18" charset="0"/>
                <a:cs typeface="Times New Roman" pitchFamily="18" charset="0"/>
              </a:rPr>
              <a:t>Public Deposits</a:t>
            </a:r>
          </a:p>
          <a:p>
            <a:pPr marL="914400" lvl="1" indent="-457200">
              <a:buFont typeface="+mj-lt"/>
              <a:buAutoNum type="alphaLcPeriod"/>
              <a:defRPr/>
            </a:pPr>
            <a:r>
              <a:rPr lang="en-US" sz="2800" dirty="0" smtClean="0">
                <a:latin typeface="Times New Roman" pitchFamily="18" charset="0"/>
                <a:cs typeface="Times New Roman" pitchFamily="18" charset="0"/>
              </a:rPr>
              <a:t>Institutional sources</a:t>
            </a:r>
          </a:p>
          <a:p>
            <a:pPr marL="914400" lvl="1" indent="-457200">
              <a:buFont typeface="+mj-lt"/>
              <a:buAutoNum type="alphaLcPeriod"/>
              <a:defRPr/>
            </a:pPr>
            <a:r>
              <a:rPr lang="en-US" sz="2800" dirty="0" smtClean="0">
                <a:latin typeface="Times New Roman" pitchFamily="18" charset="0"/>
                <a:cs typeface="Times New Roman" pitchFamily="18" charset="0"/>
              </a:rPr>
              <a:t>Commercial Banks</a:t>
            </a:r>
          </a:p>
          <a:p>
            <a:pPr marL="914400" lvl="1" indent="-457200">
              <a:buFont typeface="+mj-lt"/>
              <a:buAutoNum type="alphaLcPeriod"/>
              <a:defRPr/>
            </a:pPr>
            <a:r>
              <a:rPr lang="en-US" sz="2800" dirty="0" smtClean="0">
                <a:latin typeface="Times New Roman" pitchFamily="18" charset="0"/>
                <a:cs typeface="Times New Roman" pitchFamily="18" charset="0"/>
              </a:rPr>
              <a:t>Non-Institutional Arrangements (Hire, Rent and Leasing)</a:t>
            </a:r>
          </a:p>
          <a:p>
            <a:pPr marL="914400" lvl="1" indent="-457200">
              <a:buFont typeface="+mj-lt"/>
              <a:buAutoNum type="alphaLcPeriod"/>
              <a:defRPr/>
            </a:pPr>
            <a:endParaRPr lang="en-US" dirty="0"/>
          </a:p>
        </p:txBody>
      </p:sp>
      <p:sp>
        <p:nvSpPr>
          <p:cNvPr id="13317" name="Right Brace 9"/>
          <p:cNvSpPr>
            <a:spLocks/>
          </p:cNvSpPr>
          <p:nvPr/>
        </p:nvSpPr>
        <p:spPr bwMode="auto">
          <a:xfrm rot="-5400000">
            <a:off x="4027170" y="-1207770"/>
            <a:ext cx="666750" cy="5215890"/>
          </a:xfrm>
          <a:prstGeom prst="rightBrace">
            <a:avLst>
              <a:gd name="adj1" fmla="val 8332"/>
              <a:gd name="adj2" fmla="val 50000"/>
            </a:avLst>
          </a:prstGeom>
          <a:solidFill>
            <a:schemeClr val="bg1"/>
          </a:solidFill>
          <a:ln w="12700" algn="ctr">
            <a:solidFill>
              <a:schemeClr val="tx1"/>
            </a:solidFill>
            <a:round/>
            <a:headEnd type="none" w="sm" len="sm"/>
            <a:tailEnd type="none" w="sm" len="sm"/>
          </a:ln>
        </p:spPr>
        <p:txBody>
          <a:bodyPr wrap="none"/>
          <a:lstStyle/>
          <a:p>
            <a:endParaRPr lang="en-US"/>
          </a:p>
        </p:txBody>
      </p:sp>
      <p:sp>
        <p:nvSpPr>
          <p:cNvPr id="6" name="Slide Number Placeholder 5"/>
          <p:cNvSpPr>
            <a:spLocks noGrp="1"/>
          </p:cNvSpPr>
          <p:nvPr>
            <p:ph type="sldNum" sz="quarter" idx="12"/>
          </p:nvPr>
        </p:nvSpPr>
        <p:spPr/>
        <p:txBody>
          <a:bodyPr/>
          <a:lstStyle/>
          <a:p>
            <a:fld id="{3592E275-D691-4E5D-BCC6-6858DE38E852}" type="slidenum">
              <a:rPr lang="en-US" smtClean="0"/>
              <a:pPr/>
              <a:t>4</a:t>
            </a:fld>
            <a:endParaRPr lang="en-US"/>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0" y="188012"/>
            <a:ext cx="7696200" cy="573988"/>
          </a:xfrm>
        </p:spPr>
        <p:txBody>
          <a:bodyPr>
            <a:normAutofit fontScale="90000"/>
          </a:bodyPr>
          <a:lstStyle/>
          <a:p>
            <a:pPr algn="ctr"/>
            <a:r>
              <a:rPr lang="en-US" b="1" dirty="0" smtClean="0">
                <a:latin typeface="Times New Roman" pitchFamily="18" charset="0"/>
                <a:cs typeface="Times New Roman" pitchFamily="18" charset="0"/>
              </a:rPr>
              <a:t>Equity Capital </a:t>
            </a:r>
            <a:r>
              <a:rPr lang="en-US" b="1" dirty="0" err="1" smtClean="0">
                <a:latin typeface="Times New Roman" pitchFamily="18" charset="0"/>
                <a:cs typeface="Times New Roman" pitchFamily="18" charset="0"/>
              </a:rPr>
              <a:t>Vs</a:t>
            </a:r>
            <a:r>
              <a:rPr lang="en-US" b="1" dirty="0" smtClean="0">
                <a:latin typeface="Times New Roman" pitchFamily="18" charset="0"/>
                <a:cs typeface="Times New Roman" pitchFamily="18" charset="0"/>
              </a:rPr>
              <a:t> Debt Capital</a:t>
            </a:r>
            <a:endParaRPr lang="en-US" b="1" dirty="0"/>
          </a:p>
        </p:txBody>
      </p:sp>
      <p:sp>
        <p:nvSpPr>
          <p:cNvPr id="3" name="Content Placeholder 2"/>
          <p:cNvSpPr>
            <a:spLocks noGrp="1"/>
          </p:cNvSpPr>
          <p:nvPr>
            <p:ph idx="1"/>
          </p:nvPr>
        </p:nvSpPr>
        <p:spPr>
          <a:xfrm>
            <a:off x="1219200" y="914400"/>
            <a:ext cx="7696200" cy="5638800"/>
          </a:xfrm>
        </p:spPr>
        <p:style>
          <a:lnRef idx="2">
            <a:schemeClr val="accent4"/>
          </a:lnRef>
          <a:fillRef idx="1">
            <a:schemeClr val="lt1"/>
          </a:fillRef>
          <a:effectRef idx="0">
            <a:schemeClr val="accent4"/>
          </a:effectRef>
          <a:fontRef idx="minor">
            <a:schemeClr val="dk1"/>
          </a:fontRef>
        </p:style>
        <p:txBody>
          <a:bodyPr>
            <a:normAutofit/>
          </a:bodyPr>
          <a:lstStyle/>
          <a:p>
            <a:endParaRPr lang="en-US" sz="2400" dirty="0" smtClean="0">
              <a:latin typeface="Times New Roman" pitchFamily="18" charset="0"/>
              <a:cs typeface="Times New Roman" pitchFamily="18" charset="0"/>
            </a:endParaRPr>
          </a:p>
          <a:p>
            <a:endParaRPr lang="en-US" sz="2400" b="1"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3592E275-D691-4E5D-BCC6-6858DE38E852}" type="slidenum">
              <a:rPr lang="en-US" smtClean="0"/>
              <a:pPr/>
              <a:t>5</a:t>
            </a:fld>
            <a:endParaRPr lang="en-US"/>
          </a:p>
        </p:txBody>
      </p:sp>
      <p:graphicFrame>
        <p:nvGraphicFramePr>
          <p:cNvPr id="5" name="Table 4"/>
          <p:cNvGraphicFramePr>
            <a:graphicFrameLocks noGrp="1"/>
          </p:cNvGraphicFramePr>
          <p:nvPr>
            <p:extLst>
              <p:ext uri="{D42A27DB-BD31-4B8C-83A1-F6EECF244321}">
                <p14:modId xmlns:p14="http://schemas.microsoft.com/office/powerpoint/2010/main" val="205293777"/>
              </p:ext>
            </p:extLst>
          </p:nvPr>
        </p:nvGraphicFramePr>
        <p:xfrm>
          <a:off x="1371600" y="1066800"/>
          <a:ext cx="7391401" cy="5266117"/>
        </p:xfrm>
        <a:graphic>
          <a:graphicData uri="http://schemas.openxmlformats.org/drawingml/2006/table">
            <a:tbl>
              <a:tblPr firstRow="1" bandRow="1">
                <a:tableStyleId>{5C22544A-7EE6-4342-B048-85BDC9FD1C3A}</a:tableStyleId>
              </a:tblPr>
              <a:tblGrid>
                <a:gridCol w="1219200"/>
                <a:gridCol w="3124200"/>
                <a:gridCol w="3048001"/>
              </a:tblGrid>
              <a:tr h="759155">
                <a:tc>
                  <a:txBody>
                    <a:bodyPr/>
                    <a:lstStyle/>
                    <a:p>
                      <a:pPr marL="0" indent="0" algn="l" defTabSz="457200" rtl="0" eaLnBrk="1" latinLnBrk="0" hangingPunct="1">
                        <a:spcBef>
                          <a:spcPts val="1000"/>
                        </a:spcBef>
                        <a:spcAft>
                          <a:spcPts val="0"/>
                        </a:spcAft>
                        <a:buClr>
                          <a:schemeClr val="accent1"/>
                        </a:buClr>
                        <a:buFont typeface="Wingdings 3" charset="2"/>
                        <a:buNone/>
                      </a:pPr>
                      <a:r>
                        <a:rPr lang="en-US" sz="1600" kern="1200" dirty="0" smtClean="0">
                          <a:solidFill>
                            <a:schemeClr val="dk1"/>
                          </a:solidFill>
                          <a:latin typeface="Times New Roman" pitchFamily="18" charset="0"/>
                          <a:ea typeface="+mn-ea"/>
                          <a:cs typeface="Times New Roman" pitchFamily="18" charset="0"/>
                        </a:rPr>
                        <a:t>Characteristics of Investment</a:t>
                      </a:r>
                      <a:endParaRPr lang="en-US" sz="1600" kern="1200" dirty="0">
                        <a:solidFill>
                          <a:schemeClr val="dk1"/>
                        </a:solidFill>
                        <a:latin typeface="Times New Roman" pitchFamily="18" charset="0"/>
                        <a:ea typeface="+mn-ea"/>
                        <a:cs typeface="Times New Roman" pitchFamily="18" charset="0"/>
                      </a:endParaRPr>
                    </a:p>
                  </a:txBody>
                  <a:tcPr/>
                </a:tc>
                <a:tc>
                  <a:txBody>
                    <a:bodyPr/>
                    <a:lstStyle/>
                    <a:p>
                      <a:pPr marL="0" indent="0" algn="ctr" defTabSz="457200" rtl="0" eaLnBrk="1" latinLnBrk="0" hangingPunct="1">
                        <a:spcBef>
                          <a:spcPts val="1000"/>
                        </a:spcBef>
                        <a:spcAft>
                          <a:spcPts val="0"/>
                        </a:spcAft>
                        <a:buClr>
                          <a:schemeClr val="accent1"/>
                        </a:buClr>
                        <a:buFont typeface="Wingdings 3" charset="2"/>
                        <a:buNone/>
                      </a:pPr>
                      <a:r>
                        <a:rPr lang="en-US" sz="1600" kern="1200" dirty="0" smtClean="0">
                          <a:solidFill>
                            <a:schemeClr val="dk1"/>
                          </a:solidFill>
                          <a:latin typeface="Times New Roman" pitchFamily="18" charset="0"/>
                          <a:ea typeface="+mn-ea"/>
                          <a:cs typeface="Times New Roman" pitchFamily="18" charset="0"/>
                        </a:rPr>
                        <a:t>Equity Financing</a:t>
                      </a:r>
                      <a:endParaRPr lang="en-US" sz="1600" kern="1200" dirty="0">
                        <a:solidFill>
                          <a:schemeClr val="dk1"/>
                        </a:solidFill>
                        <a:latin typeface="Times New Roman" pitchFamily="18" charset="0"/>
                        <a:ea typeface="+mn-ea"/>
                        <a:cs typeface="Times New Roman" pitchFamily="18" charset="0"/>
                      </a:endParaRPr>
                    </a:p>
                  </a:txBody>
                  <a:tcPr/>
                </a:tc>
                <a:tc>
                  <a:txBody>
                    <a:bodyPr/>
                    <a:lstStyle/>
                    <a:p>
                      <a:pPr marL="0" indent="0" algn="ctr" defTabSz="457200" rtl="0" eaLnBrk="1" latinLnBrk="0" hangingPunct="1">
                        <a:spcBef>
                          <a:spcPts val="1000"/>
                        </a:spcBef>
                        <a:spcAft>
                          <a:spcPts val="0"/>
                        </a:spcAft>
                        <a:buClr>
                          <a:schemeClr val="accent1"/>
                        </a:buClr>
                        <a:buFont typeface="Wingdings 3" charset="2"/>
                        <a:buNone/>
                      </a:pPr>
                      <a:r>
                        <a:rPr lang="en-US" sz="1600" kern="1200" dirty="0" smtClean="0">
                          <a:solidFill>
                            <a:schemeClr val="dk1"/>
                          </a:solidFill>
                          <a:latin typeface="Times New Roman" pitchFamily="18" charset="0"/>
                          <a:ea typeface="+mn-ea"/>
                          <a:cs typeface="Times New Roman" pitchFamily="18" charset="0"/>
                        </a:rPr>
                        <a:t>Debt Financing</a:t>
                      </a:r>
                      <a:endParaRPr lang="en-US" sz="1600" kern="1200" dirty="0">
                        <a:solidFill>
                          <a:schemeClr val="dk1"/>
                        </a:solidFill>
                        <a:latin typeface="Times New Roman" pitchFamily="18" charset="0"/>
                        <a:ea typeface="+mn-ea"/>
                        <a:cs typeface="Times New Roman" pitchFamily="18" charset="0"/>
                      </a:endParaRPr>
                    </a:p>
                  </a:txBody>
                  <a:tcPr/>
                </a:tc>
              </a:tr>
              <a:tr h="507872">
                <a:tc>
                  <a:txBody>
                    <a:bodyPr/>
                    <a:lstStyle/>
                    <a:p>
                      <a:pPr marL="0" indent="0" algn="l" defTabSz="457200" rtl="0" eaLnBrk="1" latinLnBrk="0" hangingPunct="1">
                        <a:spcBef>
                          <a:spcPts val="1000"/>
                        </a:spcBef>
                        <a:spcAft>
                          <a:spcPts val="0"/>
                        </a:spcAft>
                        <a:buClr>
                          <a:schemeClr val="accent1"/>
                        </a:buClr>
                        <a:buFont typeface="Wingdings 3" charset="2"/>
                        <a:buNone/>
                      </a:pPr>
                      <a:r>
                        <a:rPr lang="en-US" sz="1400" kern="1200" dirty="0" smtClean="0">
                          <a:solidFill>
                            <a:schemeClr val="dk1"/>
                          </a:solidFill>
                          <a:latin typeface="Times New Roman" pitchFamily="18" charset="0"/>
                          <a:ea typeface="+mn-ea"/>
                          <a:cs typeface="Times New Roman" pitchFamily="18" charset="0"/>
                        </a:rPr>
                        <a:t>Nature</a:t>
                      </a:r>
                      <a:endParaRPr lang="en-US" sz="1400" kern="1200" dirty="0">
                        <a:solidFill>
                          <a:schemeClr val="dk1"/>
                        </a:solidFill>
                        <a:latin typeface="Times New Roman" pitchFamily="18" charset="0"/>
                        <a:ea typeface="+mn-ea"/>
                        <a:cs typeface="Times New Roman" pitchFamily="18" charset="0"/>
                      </a:endParaRPr>
                    </a:p>
                  </a:txBody>
                  <a:tcPr/>
                </a:tc>
                <a:tc>
                  <a:txBody>
                    <a:bodyPr/>
                    <a:lstStyle/>
                    <a:p>
                      <a:pPr marL="0" indent="0" algn="l" defTabSz="457200" rtl="0" eaLnBrk="1" latinLnBrk="0" hangingPunct="1">
                        <a:spcBef>
                          <a:spcPts val="1000"/>
                        </a:spcBef>
                        <a:spcAft>
                          <a:spcPts val="0"/>
                        </a:spcAft>
                        <a:buClr>
                          <a:schemeClr val="accent1"/>
                        </a:buClr>
                        <a:buFont typeface="Wingdings 3" charset="2"/>
                        <a:buNone/>
                      </a:pPr>
                      <a:r>
                        <a:rPr lang="en-US" sz="1400" kern="1200" dirty="0" smtClean="0">
                          <a:solidFill>
                            <a:schemeClr val="dk1"/>
                          </a:solidFill>
                          <a:latin typeface="Times New Roman" pitchFamily="18" charset="0"/>
                          <a:ea typeface="+mn-ea"/>
                          <a:cs typeface="Times New Roman" pitchFamily="18" charset="0"/>
                        </a:rPr>
                        <a:t>There is no component of repayment</a:t>
                      </a:r>
                      <a:r>
                        <a:rPr lang="en-US" sz="1400" kern="1200" baseline="0" dirty="0" smtClean="0">
                          <a:solidFill>
                            <a:schemeClr val="dk1"/>
                          </a:solidFill>
                          <a:latin typeface="Times New Roman" pitchFamily="18" charset="0"/>
                          <a:ea typeface="+mn-ea"/>
                          <a:cs typeface="Times New Roman" pitchFamily="18" charset="0"/>
                        </a:rPr>
                        <a:t> </a:t>
                      </a:r>
                      <a:r>
                        <a:rPr lang="en-US" sz="1400" kern="1200" dirty="0" smtClean="0">
                          <a:solidFill>
                            <a:schemeClr val="dk1"/>
                          </a:solidFill>
                          <a:latin typeface="Times New Roman" pitchFamily="18" charset="0"/>
                          <a:ea typeface="+mn-ea"/>
                          <a:cs typeface="Times New Roman" pitchFamily="18" charset="0"/>
                        </a:rPr>
                        <a:t>of the invested funds.</a:t>
                      </a:r>
                      <a:endParaRPr lang="en-US" sz="1400" kern="1200" dirty="0">
                        <a:solidFill>
                          <a:schemeClr val="dk1"/>
                        </a:solidFill>
                        <a:latin typeface="Times New Roman" pitchFamily="18" charset="0"/>
                        <a:ea typeface="+mn-ea"/>
                        <a:cs typeface="Times New Roman" pitchFamily="18" charset="0"/>
                      </a:endParaRPr>
                    </a:p>
                  </a:txBody>
                  <a:tcPr/>
                </a:tc>
                <a:tc>
                  <a:txBody>
                    <a:bodyPr/>
                    <a:lstStyle/>
                    <a:p>
                      <a:pPr marL="0" indent="0" algn="l" defTabSz="457200" rtl="0" eaLnBrk="1" latinLnBrk="0" hangingPunct="1">
                        <a:spcBef>
                          <a:spcPts val="1000"/>
                        </a:spcBef>
                        <a:spcAft>
                          <a:spcPts val="0"/>
                        </a:spcAft>
                        <a:buClr>
                          <a:schemeClr val="accent1"/>
                        </a:buClr>
                        <a:buFont typeface="Wingdings 3" charset="2"/>
                        <a:buNone/>
                      </a:pPr>
                      <a:r>
                        <a:rPr lang="en-US" sz="1400" kern="1200" dirty="0" smtClean="0">
                          <a:solidFill>
                            <a:schemeClr val="dk1"/>
                          </a:solidFill>
                          <a:latin typeface="Times New Roman" pitchFamily="18" charset="0"/>
                          <a:ea typeface="+mn-ea"/>
                          <a:cs typeface="Times New Roman" pitchFamily="18" charset="0"/>
                        </a:rPr>
                        <a:t>Invested Funds to be repaid within a stipulated time frame with interest</a:t>
                      </a:r>
                      <a:endParaRPr lang="en-US" sz="1400" kern="1200" dirty="0">
                        <a:solidFill>
                          <a:schemeClr val="dk1"/>
                        </a:solidFill>
                        <a:latin typeface="Times New Roman" pitchFamily="18" charset="0"/>
                        <a:ea typeface="+mn-ea"/>
                        <a:cs typeface="Times New Roman" pitchFamily="18" charset="0"/>
                      </a:endParaRPr>
                    </a:p>
                  </a:txBody>
                  <a:tcPr/>
                </a:tc>
              </a:tr>
              <a:tr h="592578">
                <a:tc>
                  <a:txBody>
                    <a:bodyPr/>
                    <a:lstStyle/>
                    <a:p>
                      <a:pPr marL="0" indent="0" algn="l" defTabSz="457200" rtl="0" eaLnBrk="1" latinLnBrk="0" hangingPunct="1">
                        <a:spcBef>
                          <a:spcPts val="1000"/>
                        </a:spcBef>
                        <a:spcAft>
                          <a:spcPts val="0"/>
                        </a:spcAft>
                        <a:buClr>
                          <a:schemeClr val="accent1"/>
                        </a:buClr>
                        <a:buFont typeface="Wingdings 3" charset="2"/>
                        <a:buNone/>
                      </a:pPr>
                      <a:r>
                        <a:rPr lang="en-US" sz="1400" kern="1200" dirty="0" smtClean="0">
                          <a:solidFill>
                            <a:schemeClr val="dk1"/>
                          </a:solidFill>
                          <a:latin typeface="Times New Roman" pitchFamily="18" charset="0"/>
                          <a:ea typeface="+mn-ea"/>
                          <a:cs typeface="Times New Roman" pitchFamily="18" charset="0"/>
                        </a:rPr>
                        <a:t>Risk factor for the investor </a:t>
                      </a:r>
                      <a:endParaRPr lang="en-US" sz="1400" kern="1200" dirty="0">
                        <a:solidFill>
                          <a:schemeClr val="dk1"/>
                        </a:solidFill>
                        <a:latin typeface="Times New Roman" pitchFamily="18" charset="0"/>
                        <a:ea typeface="+mn-ea"/>
                        <a:cs typeface="Times New Roman" pitchFamily="18" charset="0"/>
                      </a:endParaRPr>
                    </a:p>
                  </a:txBody>
                  <a:tcPr/>
                </a:tc>
                <a:tc>
                  <a:txBody>
                    <a:bodyPr/>
                    <a:lstStyle/>
                    <a:p>
                      <a:pPr marL="0" indent="0" algn="l" defTabSz="457200" rtl="0" eaLnBrk="1" latinLnBrk="0" hangingPunct="1">
                        <a:spcBef>
                          <a:spcPts val="1000"/>
                        </a:spcBef>
                        <a:spcAft>
                          <a:spcPts val="0"/>
                        </a:spcAft>
                        <a:buClr>
                          <a:schemeClr val="accent1"/>
                        </a:buClr>
                        <a:buFont typeface="Wingdings 3" charset="2"/>
                        <a:buNone/>
                      </a:pPr>
                      <a:r>
                        <a:rPr lang="en-US" sz="1400" kern="1200" dirty="0" smtClean="0">
                          <a:solidFill>
                            <a:schemeClr val="dk1"/>
                          </a:solidFill>
                          <a:latin typeface="Times New Roman" pitchFamily="18" charset="0"/>
                          <a:ea typeface="+mn-ea"/>
                          <a:cs typeface="Times New Roman" pitchFamily="18" charset="0"/>
                        </a:rPr>
                        <a:t>Higher as he has no guarantee against his investment</a:t>
                      </a:r>
                      <a:endParaRPr lang="en-US" sz="1400" kern="1200" dirty="0">
                        <a:solidFill>
                          <a:schemeClr val="dk1"/>
                        </a:solidFill>
                        <a:latin typeface="Times New Roman" pitchFamily="18" charset="0"/>
                        <a:ea typeface="+mn-ea"/>
                        <a:cs typeface="Times New Roman" pitchFamily="18" charset="0"/>
                      </a:endParaRPr>
                    </a:p>
                  </a:txBody>
                  <a:tcPr/>
                </a:tc>
                <a:tc>
                  <a:txBody>
                    <a:bodyPr/>
                    <a:lstStyle/>
                    <a:p>
                      <a:pPr marL="0" indent="0" algn="l" defTabSz="457200" rtl="0" eaLnBrk="1" latinLnBrk="0" hangingPunct="1">
                        <a:spcBef>
                          <a:spcPts val="1000"/>
                        </a:spcBef>
                        <a:spcAft>
                          <a:spcPts val="0"/>
                        </a:spcAft>
                        <a:buClr>
                          <a:schemeClr val="accent1"/>
                        </a:buClr>
                        <a:buFont typeface="Wingdings 3" charset="2"/>
                        <a:buNone/>
                      </a:pPr>
                      <a:r>
                        <a:rPr lang="en-US" sz="1400" kern="1200" dirty="0" smtClean="0">
                          <a:solidFill>
                            <a:schemeClr val="dk1"/>
                          </a:solidFill>
                          <a:latin typeface="Times New Roman" pitchFamily="18" charset="0"/>
                          <a:ea typeface="+mn-ea"/>
                          <a:cs typeface="Times New Roman" pitchFamily="18" charset="0"/>
                        </a:rPr>
                        <a:t>Lower as he generally has collateral against his investment</a:t>
                      </a:r>
                      <a:endParaRPr lang="en-US" sz="1400" kern="1200" dirty="0">
                        <a:solidFill>
                          <a:schemeClr val="dk1"/>
                        </a:solidFill>
                        <a:latin typeface="Times New Roman" pitchFamily="18" charset="0"/>
                        <a:ea typeface="+mn-ea"/>
                        <a:cs typeface="Times New Roman" pitchFamily="18" charset="0"/>
                      </a:endParaRPr>
                    </a:p>
                  </a:txBody>
                  <a:tcPr/>
                </a:tc>
              </a:tr>
              <a:tr h="728024">
                <a:tc>
                  <a:txBody>
                    <a:bodyPr/>
                    <a:lstStyle/>
                    <a:p>
                      <a:pPr marL="0" indent="0" algn="l" defTabSz="457200" rtl="0" eaLnBrk="1" latinLnBrk="0" hangingPunct="1">
                        <a:spcBef>
                          <a:spcPts val="1000"/>
                        </a:spcBef>
                        <a:spcAft>
                          <a:spcPts val="0"/>
                        </a:spcAft>
                        <a:buClr>
                          <a:schemeClr val="accent1"/>
                        </a:buClr>
                        <a:buFont typeface="Wingdings 3" charset="2"/>
                        <a:buNone/>
                      </a:pPr>
                      <a:r>
                        <a:rPr lang="en-US" sz="1400" kern="1200" dirty="0" smtClean="0">
                          <a:solidFill>
                            <a:schemeClr val="dk1"/>
                          </a:solidFill>
                          <a:latin typeface="Times New Roman" pitchFamily="18" charset="0"/>
                          <a:ea typeface="+mn-ea"/>
                          <a:cs typeface="Times New Roman" pitchFamily="18" charset="0"/>
                        </a:rPr>
                        <a:t>Pressure of Repayment for startups</a:t>
                      </a:r>
                      <a:endParaRPr lang="en-US" sz="1400" kern="1200" dirty="0">
                        <a:solidFill>
                          <a:schemeClr val="dk1"/>
                        </a:solidFill>
                        <a:latin typeface="Times New Roman" pitchFamily="18" charset="0"/>
                        <a:ea typeface="+mn-ea"/>
                        <a:cs typeface="Times New Roman" pitchFamily="18" charset="0"/>
                      </a:endParaRPr>
                    </a:p>
                  </a:txBody>
                  <a:tcPr/>
                </a:tc>
                <a:tc>
                  <a:txBody>
                    <a:bodyPr/>
                    <a:lstStyle/>
                    <a:p>
                      <a:pPr marL="0" indent="0" algn="l" defTabSz="457200" rtl="0" eaLnBrk="1" latinLnBrk="0" hangingPunct="1">
                        <a:spcBef>
                          <a:spcPts val="1000"/>
                        </a:spcBef>
                        <a:spcAft>
                          <a:spcPts val="0"/>
                        </a:spcAft>
                        <a:buClr>
                          <a:schemeClr val="accent1"/>
                        </a:buClr>
                        <a:buFont typeface="Wingdings 3" charset="2"/>
                        <a:buNone/>
                      </a:pPr>
                      <a:r>
                        <a:rPr lang="en-US" sz="1400" kern="1200" dirty="0" smtClean="0">
                          <a:solidFill>
                            <a:schemeClr val="dk1"/>
                          </a:solidFill>
                          <a:latin typeface="Times New Roman" pitchFamily="18" charset="0"/>
                          <a:ea typeface="+mn-ea"/>
                          <a:cs typeface="Times New Roman" pitchFamily="18" charset="0"/>
                        </a:rPr>
                        <a:t>Less pressure to adhere to a repayment timeline but added pressure from investors to achieve growth targets</a:t>
                      </a:r>
                      <a:endParaRPr lang="en-US" sz="1400" kern="1200" dirty="0">
                        <a:solidFill>
                          <a:schemeClr val="dk1"/>
                        </a:solidFill>
                        <a:latin typeface="Times New Roman" pitchFamily="18" charset="0"/>
                        <a:ea typeface="+mn-ea"/>
                        <a:cs typeface="Times New Roman" pitchFamily="18" charset="0"/>
                      </a:endParaRPr>
                    </a:p>
                  </a:txBody>
                  <a:tcPr/>
                </a:tc>
                <a:tc>
                  <a:txBody>
                    <a:bodyPr/>
                    <a:lstStyle/>
                    <a:p>
                      <a:pPr marL="0" indent="0" algn="l" defTabSz="457200" rtl="0" eaLnBrk="1" latinLnBrk="0" hangingPunct="1">
                        <a:spcBef>
                          <a:spcPts val="1000"/>
                        </a:spcBef>
                        <a:spcAft>
                          <a:spcPts val="0"/>
                        </a:spcAft>
                        <a:buClr>
                          <a:schemeClr val="accent1"/>
                        </a:buClr>
                        <a:buFont typeface="Wingdings 3" charset="2"/>
                        <a:buNone/>
                      </a:pPr>
                      <a:r>
                        <a:rPr lang="en-US" sz="1400" kern="1200" dirty="0" smtClean="0">
                          <a:solidFill>
                            <a:schemeClr val="dk1"/>
                          </a:solidFill>
                          <a:latin typeface="Times New Roman" pitchFamily="18" charset="0"/>
                          <a:ea typeface="+mn-ea"/>
                          <a:cs typeface="Times New Roman" pitchFamily="18" charset="0"/>
                        </a:rPr>
                        <a:t>More pressure to adhere to repayment timeline and as a result more pressure to generate cash flows to meet interest repayments</a:t>
                      </a:r>
                      <a:endParaRPr lang="en-US" sz="1400" kern="1200" dirty="0">
                        <a:solidFill>
                          <a:schemeClr val="dk1"/>
                        </a:solidFill>
                        <a:latin typeface="Times New Roman" pitchFamily="18" charset="0"/>
                        <a:ea typeface="+mn-ea"/>
                        <a:cs typeface="Times New Roman" pitchFamily="18" charset="0"/>
                      </a:endParaRPr>
                    </a:p>
                  </a:txBody>
                  <a:tcPr/>
                </a:tc>
              </a:tr>
              <a:tr h="507872">
                <a:tc>
                  <a:txBody>
                    <a:bodyPr/>
                    <a:lstStyle/>
                    <a:p>
                      <a:pPr marL="0" indent="0" algn="l" defTabSz="457200" rtl="0" eaLnBrk="1" latinLnBrk="0" hangingPunct="1">
                        <a:spcBef>
                          <a:spcPts val="1000"/>
                        </a:spcBef>
                        <a:spcAft>
                          <a:spcPts val="0"/>
                        </a:spcAft>
                        <a:buClr>
                          <a:schemeClr val="accent1"/>
                        </a:buClr>
                        <a:buFont typeface="Wingdings 3" charset="2"/>
                        <a:buNone/>
                      </a:pPr>
                      <a:r>
                        <a:rPr lang="en-US" sz="1400" kern="1200" dirty="0" smtClean="0">
                          <a:solidFill>
                            <a:schemeClr val="dk1"/>
                          </a:solidFill>
                          <a:latin typeface="Times New Roman" pitchFamily="18" charset="0"/>
                          <a:ea typeface="+mn-ea"/>
                          <a:cs typeface="Times New Roman" pitchFamily="18" charset="0"/>
                        </a:rPr>
                        <a:t>Return to Investor</a:t>
                      </a:r>
                      <a:endParaRPr lang="en-US" sz="1400" kern="1200" dirty="0">
                        <a:solidFill>
                          <a:schemeClr val="dk1"/>
                        </a:solidFill>
                        <a:latin typeface="Times New Roman" pitchFamily="18" charset="0"/>
                        <a:ea typeface="+mn-ea"/>
                        <a:cs typeface="Times New Roman" pitchFamily="18" charset="0"/>
                      </a:endParaRPr>
                    </a:p>
                  </a:txBody>
                  <a:tcPr/>
                </a:tc>
                <a:tc>
                  <a:txBody>
                    <a:bodyPr/>
                    <a:lstStyle/>
                    <a:p>
                      <a:pPr marL="0" indent="0" algn="l" defTabSz="457200" rtl="0" eaLnBrk="1" fontAlgn="base" latinLnBrk="0" hangingPunct="1">
                        <a:spcBef>
                          <a:spcPts val="1000"/>
                        </a:spcBef>
                        <a:spcAft>
                          <a:spcPts val="0"/>
                        </a:spcAft>
                        <a:buClr>
                          <a:schemeClr val="accent1"/>
                        </a:buClr>
                        <a:buFont typeface="Wingdings 3" charset="2"/>
                        <a:buNone/>
                      </a:pPr>
                      <a:r>
                        <a:rPr lang="en-US" sz="1400" kern="1200" dirty="0">
                          <a:solidFill>
                            <a:schemeClr val="dk1"/>
                          </a:solidFill>
                          <a:latin typeface="Times New Roman" pitchFamily="18" charset="0"/>
                          <a:ea typeface="+mn-ea"/>
                          <a:cs typeface="Times New Roman" pitchFamily="18" charset="0"/>
                        </a:rPr>
                        <a:t>Capital growth for investors</a:t>
                      </a:r>
                    </a:p>
                  </a:txBody>
                  <a:tcPr marL="76200" marR="76200" marT="95250" marB="95250"/>
                </a:tc>
                <a:tc>
                  <a:txBody>
                    <a:bodyPr/>
                    <a:lstStyle/>
                    <a:p>
                      <a:pPr marL="0" indent="0" algn="l" defTabSz="457200" rtl="0" eaLnBrk="1" fontAlgn="base" latinLnBrk="0" hangingPunct="1">
                        <a:spcBef>
                          <a:spcPts val="1000"/>
                        </a:spcBef>
                        <a:spcAft>
                          <a:spcPts val="0"/>
                        </a:spcAft>
                        <a:buClr>
                          <a:schemeClr val="accent1"/>
                        </a:buClr>
                        <a:buFont typeface="Wingdings 3" charset="2"/>
                        <a:buNone/>
                      </a:pPr>
                      <a:r>
                        <a:rPr lang="en-US" sz="1400" kern="1200" dirty="0" smtClean="0">
                          <a:solidFill>
                            <a:schemeClr val="dk1"/>
                          </a:solidFill>
                          <a:latin typeface="Times New Roman" pitchFamily="18" charset="0"/>
                          <a:ea typeface="+mn-ea"/>
                          <a:cs typeface="Times New Roman" pitchFamily="18" charset="0"/>
                        </a:rPr>
                        <a:t>Interest payments</a:t>
                      </a:r>
                      <a:endParaRPr lang="en-US" sz="1400" kern="1200" dirty="0">
                        <a:solidFill>
                          <a:schemeClr val="dk1"/>
                        </a:solidFill>
                        <a:latin typeface="Times New Roman" pitchFamily="18" charset="0"/>
                        <a:ea typeface="+mn-ea"/>
                        <a:cs typeface="Times New Roman" pitchFamily="18" charset="0"/>
                      </a:endParaRPr>
                    </a:p>
                  </a:txBody>
                  <a:tcPr marL="76200" marR="76200" marT="95250" marB="95250"/>
                </a:tc>
              </a:tr>
              <a:tr h="629982">
                <a:tc>
                  <a:txBody>
                    <a:bodyPr/>
                    <a:lstStyle/>
                    <a:p>
                      <a:pPr marL="0" indent="0" algn="l" defTabSz="457200" rtl="0" eaLnBrk="1" latinLnBrk="0" hangingPunct="1">
                        <a:spcBef>
                          <a:spcPts val="1000"/>
                        </a:spcBef>
                        <a:spcAft>
                          <a:spcPts val="0"/>
                        </a:spcAft>
                        <a:buClr>
                          <a:schemeClr val="accent1"/>
                        </a:buClr>
                        <a:buFont typeface="Wingdings 3" charset="2"/>
                        <a:buNone/>
                      </a:pPr>
                      <a:r>
                        <a:rPr lang="en-US" sz="1400" kern="1200" dirty="0" smtClean="0">
                          <a:solidFill>
                            <a:schemeClr val="dk1"/>
                          </a:solidFill>
                          <a:latin typeface="Times New Roman" pitchFamily="18" charset="0"/>
                          <a:ea typeface="+mn-ea"/>
                          <a:cs typeface="Times New Roman" pitchFamily="18" charset="0"/>
                        </a:rPr>
                        <a:t>Involvement in Decision making</a:t>
                      </a:r>
                      <a:endParaRPr lang="en-US" sz="1400" kern="1200" dirty="0">
                        <a:solidFill>
                          <a:schemeClr val="dk1"/>
                        </a:solidFill>
                        <a:latin typeface="Times New Roman" pitchFamily="18" charset="0"/>
                        <a:ea typeface="+mn-ea"/>
                        <a:cs typeface="Times New Roman" pitchFamily="18" charset="0"/>
                      </a:endParaRPr>
                    </a:p>
                  </a:txBody>
                  <a:tcPr/>
                </a:tc>
                <a:tc>
                  <a:txBody>
                    <a:bodyPr/>
                    <a:lstStyle/>
                    <a:p>
                      <a:pPr marL="0" indent="0" algn="l" defTabSz="457200" rtl="0" eaLnBrk="1" latinLnBrk="0" hangingPunct="1">
                        <a:spcBef>
                          <a:spcPts val="1000"/>
                        </a:spcBef>
                        <a:spcAft>
                          <a:spcPts val="0"/>
                        </a:spcAft>
                        <a:buClr>
                          <a:schemeClr val="accent1"/>
                        </a:buClr>
                        <a:buFont typeface="Wingdings 3" charset="2"/>
                        <a:buNone/>
                      </a:pPr>
                      <a:r>
                        <a:rPr lang="en-US" sz="1400" kern="1200" dirty="0" smtClean="0">
                          <a:solidFill>
                            <a:schemeClr val="dk1"/>
                          </a:solidFill>
                          <a:latin typeface="Times New Roman" pitchFamily="18" charset="0"/>
                          <a:ea typeface="+mn-ea"/>
                          <a:cs typeface="Times New Roman" pitchFamily="18" charset="0"/>
                        </a:rPr>
                        <a:t>Investors usually prefer to involve themselves in decision making process</a:t>
                      </a:r>
                      <a:endParaRPr lang="en-US" sz="1400" kern="1200" dirty="0">
                        <a:solidFill>
                          <a:schemeClr val="dk1"/>
                        </a:solidFill>
                        <a:latin typeface="Times New Roman" pitchFamily="18" charset="0"/>
                        <a:ea typeface="+mn-ea"/>
                        <a:cs typeface="Times New Roman" pitchFamily="18" charset="0"/>
                      </a:endParaRPr>
                    </a:p>
                  </a:txBody>
                  <a:tcPr/>
                </a:tc>
                <a:tc>
                  <a:txBody>
                    <a:bodyPr/>
                    <a:lstStyle/>
                    <a:p>
                      <a:pPr marL="0" indent="0" algn="l" defTabSz="457200" rtl="0" eaLnBrk="1" fontAlgn="base" latinLnBrk="0" hangingPunct="1">
                        <a:spcBef>
                          <a:spcPts val="1000"/>
                        </a:spcBef>
                        <a:spcAft>
                          <a:spcPts val="0"/>
                        </a:spcAft>
                        <a:buClr>
                          <a:schemeClr val="accent1"/>
                        </a:buClr>
                        <a:buFont typeface="Wingdings 3" charset="2"/>
                        <a:buNone/>
                      </a:pPr>
                      <a:r>
                        <a:rPr lang="en-US" sz="1400" kern="1200" dirty="0" smtClean="0">
                          <a:solidFill>
                            <a:schemeClr val="dk1"/>
                          </a:solidFill>
                          <a:latin typeface="Times New Roman" pitchFamily="18" charset="0"/>
                          <a:ea typeface="+mn-ea"/>
                          <a:cs typeface="Times New Roman" pitchFamily="18" charset="0"/>
                        </a:rPr>
                        <a:t>Debt Fund have very less involvement.</a:t>
                      </a:r>
                      <a:endParaRPr lang="en-US" sz="1400" kern="1200" dirty="0">
                        <a:solidFill>
                          <a:schemeClr val="dk1"/>
                        </a:solidFill>
                        <a:latin typeface="Times New Roman" pitchFamily="18" charset="0"/>
                        <a:ea typeface="+mn-ea"/>
                        <a:cs typeface="Times New Roman" pitchFamily="18" charset="0"/>
                      </a:endParaRPr>
                    </a:p>
                  </a:txBody>
                  <a:tcPr/>
                </a:tc>
              </a:tr>
              <a:tr h="998917">
                <a:tc>
                  <a:txBody>
                    <a:bodyPr/>
                    <a:lstStyle/>
                    <a:p>
                      <a:pPr marL="0" indent="0" algn="l" defTabSz="457200" rtl="0" eaLnBrk="1" latinLnBrk="0" hangingPunct="1">
                        <a:spcBef>
                          <a:spcPts val="1000"/>
                        </a:spcBef>
                        <a:spcAft>
                          <a:spcPts val="0"/>
                        </a:spcAft>
                        <a:buClr>
                          <a:schemeClr val="accent1"/>
                        </a:buClr>
                        <a:buFont typeface="Wingdings 3" charset="2"/>
                        <a:buNone/>
                      </a:pPr>
                      <a:r>
                        <a:rPr lang="en-US" sz="1400" kern="1200" dirty="0" smtClean="0">
                          <a:solidFill>
                            <a:schemeClr val="dk1"/>
                          </a:solidFill>
                          <a:latin typeface="Times New Roman" pitchFamily="18" charset="0"/>
                          <a:ea typeface="+mn-ea"/>
                          <a:cs typeface="Times New Roman" pitchFamily="18" charset="0"/>
                        </a:rPr>
                        <a:t>Sources</a:t>
                      </a:r>
                      <a:endParaRPr lang="en-US" sz="1400" kern="1200" dirty="0">
                        <a:solidFill>
                          <a:schemeClr val="dk1"/>
                        </a:solidFill>
                        <a:latin typeface="Times New Roman" pitchFamily="18" charset="0"/>
                        <a:ea typeface="+mn-ea"/>
                        <a:cs typeface="Times New Roman" pitchFamily="18" charset="0"/>
                      </a:endParaRPr>
                    </a:p>
                  </a:txBody>
                  <a:tcPr/>
                </a:tc>
                <a:tc>
                  <a:txBody>
                    <a:bodyPr/>
                    <a:lstStyle/>
                    <a:p>
                      <a:pPr marL="0" indent="0" algn="l" defTabSz="457200" rtl="0" eaLnBrk="1" latinLnBrk="0" hangingPunct="1">
                        <a:spcBef>
                          <a:spcPts val="1000"/>
                        </a:spcBef>
                        <a:spcAft>
                          <a:spcPts val="0"/>
                        </a:spcAft>
                        <a:buClr>
                          <a:schemeClr val="accent1"/>
                        </a:buClr>
                        <a:buFont typeface="Wingdings 3" charset="2"/>
                        <a:buNone/>
                      </a:pPr>
                      <a:r>
                        <a:rPr lang="en-US" sz="1400" kern="1200" dirty="0" smtClean="0">
                          <a:solidFill>
                            <a:schemeClr val="dk1"/>
                          </a:solidFill>
                          <a:latin typeface="Times New Roman" pitchFamily="18" charset="0"/>
                          <a:ea typeface="+mn-ea"/>
                          <a:cs typeface="Times New Roman" pitchFamily="18" charset="0"/>
                        </a:rPr>
                        <a:t>Angel Investors, Self-financing, Family and Friends, Venture Capitalists, Crowd Funding, Incubators/Accelerators</a:t>
                      </a:r>
                      <a:endParaRPr lang="en-US" sz="1400" kern="1200" dirty="0">
                        <a:solidFill>
                          <a:schemeClr val="dk1"/>
                        </a:solidFill>
                        <a:latin typeface="Times New Roman" pitchFamily="18" charset="0"/>
                        <a:ea typeface="+mn-ea"/>
                        <a:cs typeface="Times New Roman" pitchFamily="18" charset="0"/>
                      </a:endParaRPr>
                    </a:p>
                  </a:txBody>
                  <a:tcPr/>
                </a:tc>
                <a:tc>
                  <a:txBody>
                    <a:bodyPr/>
                    <a:lstStyle/>
                    <a:p>
                      <a:pPr marL="0" indent="0" algn="l" defTabSz="457200" rtl="0" eaLnBrk="1" latinLnBrk="0" hangingPunct="1">
                        <a:spcBef>
                          <a:spcPts val="1000"/>
                        </a:spcBef>
                        <a:spcAft>
                          <a:spcPts val="0"/>
                        </a:spcAft>
                        <a:buClr>
                          <a:schemeClr val="accent1"/>
                        </a:buClr>
                        <a:buFont typeface="Wingdings 3" charset="2"/>
                        <a:buNone/>
                      </a:pPr>
                      <a:r>
                        <a:rPr lang="en-US" sz="1400" kern="1200" dirty="0" smtClean="0">
                          <a:solidFill>
                            <a:schemeClr val="dk1"/>
                          </a:solidFill>
                          <a:latin typeface="Times New Roman" pitchFamily="18" charset="0"/>
                          <a:ea typeface="+mn-ea"/>
                          <a:cs typeface="Times New Roman" pitchFamily="18" charset="0"/>
                        </a:rPr>
                        <a:t>Banks, Non-Banking Financial Institutions, Government Loan Schemes (Example: Mudra Loan)</a:t>
                      </a:r>
                      <a:endParaRPr lang="en-US" sz="1400" kern="1200" dirty="0">
                        <a:solidFill>
                          <a:schemeClr val="dk1"/>
                        </a:solidFill>
                        <a:latin typeface="Times New Roman" pitchFamily="18" charset="0"/>
                        <a:ea typeface="+mn-ea"/>
                        <a:cs typeface="Times New Roman" pitchFamily="18" charset="0"/>
                      </a:endParaRPr>
                    </a:p>
                  </a:txBody>
                  <a:tcPr/>
                </a:tc>
              </a:tr>
            </a:tbl>
          </a:graphicData>
        </a:graphic>
      </p:graphicFrame>
    </p:spTree>
    <p:extLst>
      <p:ext uri="{BB962C8B-B14F-4D97-AF65-F5344CB8AC3E}">
        <p14:creationId xmlns:p14="http://schemas.microsoft.com/office/powerpoint/2010/main" val="130327303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3592E275-D691-4E5D-BCC6-6858DE38E852}" type="slidenum">
              <a:rPr lang="en-US" smtClean="0"/>
              <a:pPr/>
              <a:t>6</a:t>
            </a:fld>
            <a:endParaRPr lang="en-US"/>
          </a:p>
        </p:txBody>
      </p:sp>
      <p:pic>
        <p:nvPicPr>
          <p:cNvPr id="5" name="Picture 2"/>
          <p:cNvPicPr>
            <a:picLocks noGrp="1" noChangeAspect="1" noChangeArrowheads="1"/>
          </p:cNvPicPr>
          <p:nvPr>
            <p:ph idx="1"/>
          </p:nvPr>
        </p:nvPicPr>
        <p:blipFill>
          <a:blip r:embed="rId2">
            <a:lum bright="10000"/>
          </a:blip>
          <a:srcRect/>
          <a:stretch>
            <a:fillRect/>
          </a:stretch>
        </p:blipFill>
        <p:spPr bwMode="auto">
          <a:xfrm>
            <a:off x="1143000" y="228600"/>
            <a:ext cx="7772400" cy="6324600"/>
          </a:xfrm>
          <a:prstGeom prst="rect">
            <a:avLst/>
          </a:prstGeom>
          <a:ln>
            <a:headEnd/>
            <a:tailEnd/>
          </a:ln>
        </p:spPr>
        <p:style>
          <a:lnRef idx="2">
            <a:schemeClr val="accent4"/>
          </a:lnRef>
          <a:fillRef idx="1">
            <a:schemeClr val="lt1"/>
          </a:fillRef>
          <a:effectRef idx="0">
            <a:schemeClr val="accent4"/>
          </a:effectRef>
          <a:fontRef idx="minor">
            <a:schemeClr val="dk1"/>
          </a:fontRef>
        </p:style>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0" y="188012"/>
            <a:ext cx="7696200" cy="573988"/>
          </a:xfrm>
        </p:spPr>
        <p:txBody>
          <a:bodyPr>
            <a:normAutofit fontScale="90000"/>
          </a:bodyPr>
          <a:lstStyle/>
          <a:p>
            <a:pPr algn="ctr"/>
            <a:r>
              <a:rPr lang="en-US" dirty="0" smtClean="0">
                <a:latin typeface="Times New Roman" pitchFamily="18" charset="0"/>
                <a:cs typeface="Times New Roman" pitchFamily="18" charset="0"/>
              </a:rPr>
              <a:t>Bootstrapping</a:t>
            </a:r>
            <a:endParaRPr lang="en-US" dirty="0"/>
          </a:p>
        </p:txBody>
      </p:sp>
      <p:sp>
        <p:nvSpPr>
          <p:cNvPr id="3" name="Content Placeholder 2"/>
          <p:cNvSpPr>
            <a:spLocks noGrp="1"/>
          </p:cNvSpPr>
          <p:nvPr>
            <p:ph idx="1"/>
          </p:nvPr>
        </p:nvSpPr>
        <p:spPr>
          <a:xfrm>
            <a:off x="1219200" y="914400"/>
            <a:ext cx="7696200" cy="5638800"/>
          </a:xfrm>
        </p:spPr>
        <p:style>
          <a:lnRef idx="2">
            <a:schemeClr val="accent4"/>
          </a:lnRef>
          <a:fillRef idx="1">
            <a:schemeClr val="lt1"/>
          </a:fillRef>
          <a:effectRef idx="0">
            <a:schemeClr val="accent4"/>
          </a:effectRef>
          <a:fontRef idx="minor">
            <a:schemeClr val="dk1"/>
          </a:fontRef>
        </p:style>
        <p:txBody>
          <a:bodyPr>
            <a:normAutofit/>
          </a:bodyPr>
          <a:lstStyle/>
          <a:p>
            <a:r>
              <a:rPr lang="en-US" sz="2400" dirty="0" smtClean="0">
                <a:latin typeface="Times New Roman" pitchFamily="18" charset="0"/>
                <a:cs typeface="Times New Roman" pitchFamily="18" charset="0"/>
              </a:rPr>
              <a:t>Bootstrap financing is probably one of the best and most inexpensive routes an entrepreneur can explore when raising capital.</a:t>
            </a:r>
          </a:p>
          <a:p>
            <a:r>
              <a:rPr lang="en-US" sz="2400" dirty="0" smtClean="0">
                <a:latin typeface="Times New Roman" pitchFamily="18" charset="0"/>
                <a:cs typeface="Times New Roman" pitchFamily="18" charset="0"/>
              </a:rPr>
              <a:t>Bootstrap financing is a way to pull yourself up without the help of others.</a:t>
            </a:r>
          </a:p>
          <a:p>
            <a:pPr>
              <a:buNone/>
            </a:pPr>
            <a:r>
              <a:rPr lang="en-US" sz="2400" b="1" dirty="0" smtClean="0">
                <a:latin typeface="Times New Roman" pitchFamily="18" charset="0"/>
                <a:cs typeface="Times New Roman" pitchFamily="18" charset="0"/>
              </a:rPr>
              <a:t>Advantages:</a:t>
            </a:r>
          </a:p>
          <a:p>
            <a:pPr marL="457200" indent="-457200">
              <a:buFont typeface="+mj-lt"/>
              <a:buAutoNum type="arabicPeriod"/>
            </a:pPr>
            <a:r>
              <a:rPr lang="en-US" sz="2400" dirty="0" smtClean="0">
                <a:latin typeface="Times New Roman" pitchFamily="18" charset="0"/>
                <a:cs typeface="Times New Roman" pitchFamily="18" charset="0"/>
              </a:rPr>
              <a:t>Business will be worth more because less money has been borrowed.</a:t>
            </a:r>
          </a:p>
          <a:p>
            <a:pPr marL="457200" indent="-457200">
              <a:buFont typeface="+mj-lt"/>
              <a:buAutoNum type="arabicPeriod"/>
            </a:pPr>
            <a:r>
              <a:rPr lang="en-US" sz="2400" dirty="0" smtClean="0">
                <a:latin typeface="Times New Roman" pitchFamily="18" charset="0"/>
                <a:cs typeface="Times New Roman" pitchFamily="18" charset="0"/>
              </a:rPr>
              <a:t>Need not have to pay the high interest on borrowed money.</a:t>
            </a:r>
          </a:p>
          <a:p>
            <a:pPr marL="457200" indent="-457200">
              <a:buFont typeface="+mj-lt"/>
              <a:buAutoNum type="arabicPeriod"/>
            </a:pPr>
            <a:r>
              <a:rPr lang="en-US" sz="2400" dirty="0" smtClean="0">
                <a:latin typeface="Times New Roman" pitchFamily="18" charset="0"/>
                <a:cs typeface="Times New Roman" pitchFamily="18" charset="0"/>
              </a:rPr>
              <a:t>Creative in finding ways to raise profits, without having to look to external sources.</a:t>
            </a:r>
            <a:endParaRPr lang="en-US" sz="2400" b="1"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3592E275-D691-4E5D-BCC6-6858DE38E852}" type="slidenum">
              <a:rPr lang="en-US" smtClean="0"/>
              <a:pPr/>
              <a:t>7</a:t>
            </a:fld>
            <a:endParaRPr lang="en-US"/>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0" y="188012"/>
            <a:ext cx="7696200" cy="573988"/>
          </a:xfrm>
        </p:spPr>
        <p:txBody>
          <a:bodyPr>
            <a:normAutofit fontScale="90000"/>
          </a:bodyPr>
          <a:lstStyle/>
          <a:p>
            <a:pPr algn="ctr"/>
            <a:r>
              <a:rPr lang="en-US" dirty="0" smtClean="0">
                <a:latin typeface="Times New Roman" pitchFamily="18" charset="0"/>
                <a:cs typeface="Times New Roman" pitchFamily="18" charset="0"/>
              </a:rPr>
              <a:t>Bootstrapping</a:t>
            </a:r>
            <a:endParaRPr lang="en-US" dirty="0"/>
          </a:p>
        </p:txBody>
      </p:sp>
      <p:sp>
        <p:nvSpPr>
          <p:cNvPr id="3" name="Content Placeholder 2"/>
          <p:cNvSpPr>
            <a:spLocks noGrp="1"/>
          </p:cNvSpPr>
          <p:nvPr>
            <p:ph idx="1"/>
          </p:nvPr>
        </p:nvSpPr>
        <p:spPr>
          <a:xfrm>
            <a:off x="1219200" y="914400"/>
            <a:ext cx="7696200" cy="5638800"/>
          </a:xfrm>
        </p:spPr>
        <p:style>
          <a:lnRef idx="2">
            <a:schemeClr val="accent4"/>
          </a:lnRef>
          <a:fillRef idx="1">
            <a:schemeClr val="lt1"/>
          </a:fillRef>
          <a:effectRef idx="0">
            <a:schemeClr val="accent4"/>
          </a:effectRef>
          <a:fontRef idx="minor">
            <a:schemeClr val="dk1"/>
          </a:fontRef>
        </p:style>
        <p:txBody>
          <a:bodyPr>
            <a:normAutofit fontScale="92500" lnSpcReduction="10000"/>
          </a:bodyPr>
          <a:lstStyle/>
          <a:p>
            <a:pPr marL="0" indent="0">
              <a:buNone/>
            </a:pPr>
            <a:r>
              <a:rPr lang="en-US" sz="2600" dirty="0">
                <a:latin typeface="Times New Roman" pitchFamily="18" charset="0"/>
                <a:cs typeface="Times New Roman" pitchFamily="18" charset="0"/>
              </a:rPr>
              <a:t>Examples of bootstrapped enterprises:</a:t>
            </a:r>
          </a:p>
          <a:p>
            <a:r>
              <a:rPr lang="en-US" sz="2600" dirty="0">
                <a:latin typeface="Times New Roman" pitchFamily="18" charset="0"/>
                <a:cs typeface="Times New Roman" pitchFamily="18" charset="0"/>
              </a:rPr>
              <a:t>Dell Computers </a:t>
            </a:r>
            <a:endParaRPr lang="en-US" sz="2600" dirty="0" smtClean="0">
              <a:latin typeface="Times New Roman" pitchFamily="18" charset="0"/>
              <a:cs typeface="Times New Roman" pitchFamily="18" charset="0"/>
            </a:endParaRPr>
          </a:p>
          <a:p>
            <a:r>
              <a:rPr lang="en-US" sz="2600" dirty="0" smtClean="0">
                <a:latin typeface="Times New Roman" pitchFamily="18" charset="0"/>
                <a:cs typeface="Times New Roman" pitchFamily="18" charset="0"/>
              </a:rPr>
              <a:t>Facebook </a:t>
            </a:r>
            <a:r>
              <a:rPr lang="en-US" sz="2600" dirty="0">
                <a:latin typeface="Times New Roman" pitchFamily="18" charset="0"/>
                <a:cs typeface="Times New Roman" pitchFamily="18" charset="0"/>
              </a:rPr>
              <a:t>Inc. </a:t>
            </a:r>
          </a:p>
          <a:p>
            <a:r>
              <a:rPr lang="en-US" sz="2600" dirty="0">
                <a:latin typeface="Times New Roman" pitchFamily="18" charset="0"/>
                <a:cs typeface="Times New Roman" pitchFamily="18" charset="0"/>
              </a:rPr>
              <a:t>Apple Inc. </a:t>
            </a:r>
          </a:p>
          <a:p>
            <a:r>
              <a:rPr lang="en-US" sz="2600" dirty="0">
                <a:latin typeface="Times New Roman" pitchFamily="18" charset="0"/>
                <a:cs typeface="Times New Roman" pitchFamily="18" charset="0"/>
              </a:rPr>
              <a:t>Clorox Co. </a:t>
            </a:r>
          </a:p>
          <a:p>
            <a:r>
              <a:rPr lang="en-US" sz="2600" dirty="0">
                <a:latin typeface="Times New Roman" pitchFamily="18" charset="0"/>
                <a:cs typeface="Times New Roman" pitchFamily="18" charset="0"/>
              </a:rPr>
              <a:t>Coca Cola Co. </a:t>
            </a:r>
          </a:p>
          <a:p>
            <a:r>
              <a:rPr lang="en-US" sz="2600" dirty="0">
                <a:latin typeface="Times New Roman" pitchFamily="18" charset="0"/>
                <a:cs typeface="Times New Roman" pitchFamily="18" charset="0"/>
              </a:rPr>
              <a:t>Hewlett-Packard </a:t>
            </a:r>
          </a:p>
          <a:p>
            <a:r>
              <a:rPr lang="en-US" sz="2600" dirty="0">
                <a:latin typeface="Times New Roman" pitchFamily="18" charset="0"/>
                <a:cs typeface="Times New Roman" pitchFamily="18" charset="0"/>
              </a:rPr>
              <a:t>Microsoft Corp</a:t>
            </a:r>
            <a:r>
              <a:rPr lang="en-US" sz="2600" dirty="0" smtClean="0">
                <a:latin typeface="Times New Roman" pitchFamily="18" charset="0"/>
                <a:cs typeface="Times New Roman" pitchFamily="18" charset="0"/>
              </a:rPr>
              <a:t>.</a:t>
            </a:r>
            <a:endParaRPr lang="en-US" sz="2600" dirty="0">
              <a:latin typeface="Times New Roman" pitchFamily="18" charset="0"/>
              <a:cs typeface="Times New Roman" pitchFamily="18" charset="0"/>
            </a:endParaRPr>
          </a:p>
          <a:p>
            <a:r>
              <a:rPr lang="en-US" sz="2600" dirty="0">
                <a:latin typeface="Times New Roman" pitchFamily="18" charset="0"/>
                <a:cs typeface="Times New Roman" pitchFamily="18" charset="0"/>
              </a:rPr>
              <a:t>Oracle Corp</a:t>
            </a:r>
            <a:r>
              <a:rPr lang="en-US" sz="2600" dirty="0" smtClean="0">
                <a:latin typeface="Times New Roman" pitchFamily="18" charset="0"/>
                <a:cs typeface="Times New Roman" pitchFamily="18" charset="0"/>
              </a:rPr>
              <a:t>.)</a:t>
            </a:r>
            <a:endParaRPr lang="en-US" sz="2600" dirty="0">
              <a:latin typeface="Times New Roman" pitchFamily="18" charset="0"/>
              <a:cs typeface="Times New Roman" pitchFamily="18" charset="0"/>
            </a:endParaRPr>
          </a:p>
          <a:p>
            <a:r>
              <a:rPr lang="en-US" sz="2600" dirty="0">
                <a:latin typeface="Times New Roman" pitchFamily="18" charset="0"/>
                <a:cs typeface="Times New Roman" pitchFamily="18" charset="0"/>
              </a:rPr>
              <a:t>eBay Inc. </a:t>
            </a:r>
            <a:endParaRPr lang="en-US" sz="2600" dirty="0" smtClean="0">
              <a:latin typeface="Times New Roman" pitchFamily="18" charset="0"/>
              <a:cs typeface="Times New Roman" pitchFamily="18" charset="0"/>
            </a:endParaRPr>
          </a:p>
          <a:p>
            <a:r>
              <a:rPr lang="en-US" sz="2600" dirty="0" smtClean="0">
                <a:latin typeface="Times New Roman" pitchFamily="18" charset="0"/>
                <a:cs typeface="Times New Roman" pitchFamily="18" charset="0"/>
              </a:rPr>
              <a:t>Cisco </a:t>
            </a:r>
            <a:r>
              <a:rPr lang="en-US" sz="2600" dirty="0">
                <a:latin typeface="Times New Roman" pitchFamily="18" charset="0"/>
                <a:cs typeface="Times New Roman" pitchFamily="18" charset="0"/>
              </a:rPr>
              <a:t>Systems Inc. </a:t>
            </a:r>
          </a:p>
          <a:p>
            <a:r>
              <a:rPr lang="en-US" sz="2600" dirty="0">
                <a:latin typeface="Times New Roman" pitchFamily="18" charset="0"/>
                <a:cs typeface="Times New Roman" pitchFamily="18" charset="0"/>
              </a:rPr>
              <a:t>SAP </a:t>
            </a:r>
          </a:p>
          <a:p>
            <a:pPr marL="0" indent="0">
              <a:buNone/>
            </a:pPr>
            <a:endParaRPr lang="en-US" sz="26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3592E275-D691-4E5D-BCC6-6858DE38E852}" type="slidenum">
              <a:rPr lang="en-US" smtClean="0"/>
              <a:pPr/>
              <a:t>8</a:t>
            </a:fld>
            <a:endParaRPr lang="en-US"/>
          </a:p>
        </p:txBody>
      </p:sp>
    </p:spTree>
    <p:extLst>
      <p:ext uri="{BB962C8B-B14F-4D97-AF65-F5344CB8AC3E}">
        <p14:creationId xmlns:p14="http://schemas.microsoft.com/office/powerpoint/2010/main" val="153681476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0" y="188012"/>
            <a:ext cx="7696200" cy="573988"/>
          </a:xfrm>
        </p:spPr>
        <p:txBody>
          <a:bodyPr>
            <a:normAutofit fontScale="90000"/>
          </a:bodyPr>
          <a:lstStyle/>
          <a:p>
            <a:pPr algn="ctr"/>
            <a:r>
              <a:rPr lang="en-US" dirty="0" smtClean="0">
                <a:latin typeface="Times New Roman" pitchFamily="18" charset="0"/>
                <a:cs typeface="Times New Roman" pitchFamily="18" charset="0"/>
              </a:rPr>
              <a:t>Bootstrapping – Three Funding Stages</a:t>
            </a:r>
            <a:endParaRPr lang="en-US" dirty="0"/>
          </a:p>
        </p:txBody>
      </p:sp>
      <p:sp>
        <p:nvSpPr>
          <p:cNvPr id="3" name="Content Placeholder 2"/>
          <p:cNvSpPr>
            <a:spLocks noGrp="1"/>
          </p:cNvSpPr>
          <p:nvPr>
            <p:ph idx="1"/>
          </p:nvPr>
        </p:nvSpPr>
        <p:spPr>
          <a:xfrm>
            <a:off x="1219200" y="914400"/>
            <a:ext cx="7696200" cy="5638800"/>
          </a:xfrm>
        </p:spPr>
        <p:style>
          <a:lnRef idx="2">
            <a:schemeClr val="accent4"/>
          </a:lnRef>
          <a:fillRef idx="1">
            <a:schemeClr val="lt1"/>
          </a:fillRef>
          <a:effectRef idx="0">
            <a:schemeClr val="accent4"/>
          </a:effectRef>
          <a:fontRef idx="minor">
            <a:schemeClr val="dk1"/>
          </a:fontRef>
        </p:style>
        <p:txBody>
          <a:bodyPr>
            <a:normAutofit fontScale="92500" lnSpcReduction="10000"/>
          </a:bodyPr>
          <a:lstStyle/>
          <a:p>
            <a:r>
              <a:rPr lang="en-US" sz="3400" b="1" dirty="0" smtClean="0">
                <a:latin typeface="Times New Roman" pitchFamily="18" charset="0"/>
                <a:cs typeface="Times New Roman" pitchFamily="18" charset="0"/>
              </a:rPr>
              <a:t>Beginning Stage: </a:t>
            </a:r>
            <a:r>
              <a:rPr lang="en-US" sz="3400" dirty="0" smtClean="0">
                <a:latin typeface="Times New Roman" pitchFamily="18" charset="0"/>
                <a:cs typeface="Times New Roman" pitchFamily="18" charset="0"/>
              </a:rPr>
              <a:t>This </a:t>
            </a:r>
            <a:r>
              <a:rPr lang="en-US" sz="3400" dirty="0">
                <a:latin typeface="Times New Roman" pitchFamily="18" charset="0"/>
                <a:cs typeface="Times New Roman" pitchFamily="18" charset="0"/>
              </a:rPr>
              <a:t>stage normally starts with some personal savings, or borrowed or investment money from friends and family, or as a </a:t>
            </a:r>
            <a:r>
              <a:rPr lang="en-US" sz="3400" dirty="0" smtClean="0">
                <a:latin typeface="Times New Roman" pitchFamily="18" charset="0"/>
                <a:cs typeface="Times New Roman" pitchFamily="18" charset="0"/>
              </a:rPr>
              <a:t>side.</a:t>
            </a:r>
            <a:endParaRPr lang="en-US" sz="3400" dirty="0">
              <a:latin typeface="Times New Roman" pitchFamily="18" charset="0"/>
              <a:cs typeface="Times New Roman" pitchFamily="18" charset="0"/>
            </a:endParaRPr>
          </a:p>
          <a:p>
            <a:r>
              <a:rPr lang="en-US" sz="3400" b="1" dirty="0">
                <a:latin typeface="Times New Roman" pitchFamily="18" charset="0"/>
                <a:cs typeface="Times New Roman" pitchFamily="18" charset="0"/>
              </a:rPr>
              <a:t>Customer-Funded </a:t>
            </a:r>
            <a:r>
              <a:rPr lang="en-US" sz="3400" b="1" dirty="0" smtClean="0">
                <a:latin typeface="Times New Roman" pitchFamily="18" charset="0"/>
                <a:cs typeface="Times New Roman" pitchFamily="18" charset="0"/>
              </a:rPr>
              <a:t>Stage: </a:t>
            </a:r>
            <a:r>
              <a:rPr lang="en-US" sz="3400" dirty="0" smtClean="0">
                <a:latin typeface="Times New Roman" pitchFamily="18" charset="0"/>
                <a:cs typeface="Times New Roman" pitchFamily="18" charset="0"/>
              </a:rPr>
              <a:t>Money </a:t>
            </a:r>
            <a:r>
              <a:rPr lang="en-US" sz="3400" dirty="0">
                <a:latin typeface="Times New Roman" pitchFamily="18" charset="0"/>
                <a:cs typeface="Times New Roman" pitchFamily="18" charset="0"/>
              </a:rPr>
              <a:t>from customers is used to keep the business operating and, eventually, funds growth. </a:t>
            </a:r>
            <a:endParaRPr lang="en-US" sz="3400" dirty="0" smtClean="0">
              <a:latin typeface="Times New Roman" pitchFamily="18" charset="0"/>
              <a:cs typeface="Times New Roman" pitchFamily="18" charset="0"/>
            </a:endParaRPr>
          </a:p>
          <a:p>
            <a:r>
              <a:rPr lang="en-US" sz="3400" b="1" dirty="0" smtClean="0">
                <a:latin typeface="Times New Roman" pitchFamily="18" charset="0"/>
                <a:cs typeface="Times New Roman" pitchFamily="18" charset="0"/>
              </a:rPr>
              <a:t>Credit Stage: </a:t>
            </a:r>
            <a:r>
              <a:rPr lang="en-US" sz="3400" dirty="0" smtClean="0">
                <a:latin typeface="Times New Roman" pitchFamily="18" charset="0"/>
                <a:cs typeface="Times New Roman" pitchFamily="18" charset="0"/>
              </a:rPr>
              <a:t>The </a:t>
            </a:r>
            <a:r>
              <a:rPr lang="en-US" sz="3400" dirty="0">
                <a:latin typeface="Times New Roman" pitchFamily="18" charset="0"/>
                <a:cs typeface="Times New Roman" pitchFamily="18" charset="0"/>
              </a:rPr>
              <a:t>entrepreneur </a:t>
            </a:r>
            <a:r>
              <a:rPr lang="en-US" sz="3400" dirty="0" smtClean="0">
                <a:latin typeface="Times New Roman" pitchFamily="18" charset="0"/>
                <a:cs typeface="Times New Roman" pitchFamily="18" charset="0"/>
              </a:rPr>
              <a:t>focuses </a:t>
            </a:r>
            <a:r>
              <a:rPr lang="en-US" sz="3400" dirty="0">
                <a:latin typeface="Times New Roman" pitchFamily="18" charset="0"/>
                <a:cs typeface="Times New Roman" pitchFamily="18" charset="0"/>
              </a:rPr>
              <a:t>on the funding of specific activities, such as improving equipment, hiring staff, etc. At this stage, the company takes out loans or may even find venture capital, for expansion.</a:t>
            </a:r>
          </a:p>
          <a:p>
            <a:pPr marL="0" indent="0">
              <a:buNone/>
            </a:pPr>
            <a:endParaRPr lang="en-US" sz="26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3592E275-D691-4E5D-BCC6-6858DE38E852}" type="slidenum">
              <a:rPr lang="en-US" smtClean="0"/>
              <a:pPr/>
              <a:t>9</a:t>
            </a:fld>
            <a:endParaRPr lang="en-US"/>
          </a:p>
        </p:txBody>
      </p:sp>
    </p:spTree>
    <p:extLst>
      <p:ext uri="{BB962C8B-B14F-4D97-AF65-F5344CB8AC3E}">
        <p14:creationId xmlns:p14="http://schemas.microsoft.com/office/powerpoint/2010/main" val="302426916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9200" y="228600"/>
            <a:ext cx="7696200" cy="595090"/>
          </a:xfrm>
        </p:spPr>
        <p:txBody>
          <a:bodyPr>
            <a:normAutofit/>
          </a:bodyPr>
          <a:lstStyle/>
          <a:p>
            <a:pPr algn="ctr"/>
            <a:r>
              <a:rPr lang="en-US" sz="3200" b="1" dirty="0" smtClean="0">
                <a:latin typeface="Times New Roman" pitchFamily="18" charset="0"/>
                <a:cs typeface="Times New Roman" pitchFamily="18" charset="0"/>
              </a:rPr>
              <a:t>Source Of Bootstrap Financing</a:t>
            </a:r>
            <a:endParaRPr lang="en-US" sz="3200" b="1"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3592E275-D691-4E5D-BCC6-6858DE38E852}" type="slidenum">
              <a:rPr lang="en-US" smtClean="0"/>
              <a:pPr/>
              <a:t>10</a:t>
            </a:fld>
            <a:endParaRPr lang="en-US"/>
          </a:p>
        </p:txBody>
      </p:sp>
      <p:sp>
        <p:nvSpPr>
          <p:cNvPr id="5" name="Rounded Rectangle 4"/>
          <p:cNvSpPr/>
          <p:nvPr/>
        </p:nvSpPr>
        <p:spPr>
          <a:xfrm>
            <a:off x="2895600" y="1600200"/>
            <a:ext cx="3733800" cy="838200"/>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smtClean="0">
                <a:latin typeface="Times New Roman" pitchFamily="18" charset="0"/>
                <a:cs typeface="Times New Roman" pitchFamily="18" charset="0"/>
              </a:rPr>
              <a:t>Source Of Bootstrap Financing</a:t>
            </a:r>
            <a:endParaRPr lang="en-US" dirty="0">
              <a:latin typeface="Times New Roman" pitchFamily="18" charset="0"/>
              <a:cs typeface="Times New Roman" pitchFamily="18" charset="0"/>
            </a:endParaRPr>
          </a:p>
        </p:txBody>
      </p:sp>
      <p:sp>
        <p:nvSpPr>
          <p:cNvPr id="6" name="Rounded Rectangle 5"/>
          <p:cNvSpPr/>
          <p:nvPr/>
        </p:nvSpPr>
        <p:spPr>
          <a:xfrm>
            <a:off x="3505200" y="4419600"/>
            <a:ext cx="2743200" cy="762000"/>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smtClean="0"/>
              <a:t>Equipment Suppliers</a:t>
            </a:r>
            <a:endParaRPr lang="en-US" dirty="0"/>
          </a:p>
        </p:txBody>
      </p:sp>
      <p:sp>
        <p:nvSpPr>
          <p:cNvPr id="7" name="Rounded Rectangle 6"/>
          <p:cNvSpPr/>
          <p:nvPr/>
        </p:nvSpPr>
        <p:spPr>
          <a:xfrm>
            <a:off x="2743200" y="3200400"/>
            <a:ext cx="1828800" cy="762000"/>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smtClean="0"/>
              <a:t>Factoring</a:t>
            </a:r>
            <a:endParaRPr lang="en-US" dirty="0"/>
          </a:p>
        </p:txBody>
      </p:sp>
      <p:sp>
        <p:nvSpPr>
          <p:cNvPr id="8" name="Rounded Rectangle 7"/>
          <p:cNvSpPr/>
          <p:nvPr/>
        </p:nvSpPr>
        <p:spPr>
          <a:xfrm>
            <a:off x="5029200" y="3200400"/>
            <a:ext cx="1828800" cy="762000"/>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smtClean="0"/>
              <a:t>Customers</a:t>
            </a:r>
            <a:endParaRPr lang="en-US" dirty="0"/>
          </a:p>
        </p:txBody>
      </p:sp>
      <p:sp>
        <p:nvSpPr>
          <p:cNvPr id="9" name="Rounded Rectangle 8"/>
          <p:cNvSpPr/>
          <p:nvPr/>
        </p:nvSpPr>
        <p:spPr>
          <a:xfrm>
            <a:off x="7010400" y="3200400"/>
            <a:ext cx="1828800" cy="762000"/>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smtClean="0"/>
              <a:t>Real-estate</a:t>
            </a:r>
            <a:endParaRPr lang="en-US" dirty="0"/>
          </a:p>
        </p:txBody>
      </p:sp>
      <p:sp>
        <p:nvSpPr>
          <p:cNvPr id="10" name="Rounded Rectangle 9"/>
          <p:cNvSpPr/>
          <p:nvPr/>
        </p:nvSpPr>
        <p:spPr>
          <a:xfrm>
            <a:off x="685800" y="3200400"/>
            <a:ext cx="1828800" cy="762000"/>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smtClean="0"/>
              <a:t>Trade Credit</a:t>
            </a:r>
            <a:endParaRPr lang="en-US" dirty="0"/>
          </a:p>
        </p:txBody>
      </p:sp>
      <p:cxnSp>
        <p:nvCxnSpPr>
          <p:cNvPr id="12" name="Straight Arrow Connector 11"/>
          <p:cNvCxnSpPr/>
          <p:nvPr/>
        </p:nvCxnSpPr>
        <p:spPr>
          <a:xfrm rot="5400000">
            <a:off x="3809206" y="3429000"/>
            <a:ext cx="1981994" cy="794"/>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15" name="Straight Arrow Connector 14"/>
          <p:cNvCxnSpPr>
            <a:endCxn id="8" idx="0"/>
          </p:cNvCxnSpPr>
          <p:nvPr/>
        </p:nvCxnSpPr>
        <p:spPr>
          <a:xfrm rot="16200000" flipH="1">
            <a:off x="5181600" y="2438400"/>
            <a:ext cx="762000" cy="76200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0" name="Straight Arrow Connector 19"/>
          <p:cNvCxnSpPr/>
          <p:nvPr/>
        </p:nvCxnSpPr>
        <p:spPr>
          <a:xfrm rot="10800000" flipV="1">
            <a:off x="3429000" y="2438400"/>
            <a:ext cx="914400" cy="76200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2" name="Straight Arrow Connector 21"/>
          <p:cNvCxnSpPr/>
          <p:nvPr/>
        </p:nvCxnSpPr>
        <p:spPr>
          <a:xfrm rot="10800000" flipV="1">
            <a:off x="1981200" y="2438400"/>
            <a:ext cx="1905000" cy="76200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24" name="Straight Arrow Connector 23"/>
          <p:cNvCxnSpPr/>
          <p:nvPr/>
        </p:nvCxnSpPr>
        <p:spPr>
          <a:xfrm>
            <a:off x="5867400" y="2438400"/>
            <a:ext cx="1524000" cy="76200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25" name="Rounded Rectangle 24"/>
          <p:cNvSpPr/>
          <p:nvPr/>
        </p:nvSpPr>
        <p:spPr>
          <a:xfrm>
            <a:off x="2438400" y="5715000"/>
            <a:ext cx="1676400" cy="762000"/>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smtClean="0">
                <a:latin typeface="Times New Roman" pitchFamily="18" charset="0"/>
                <a:cs typeface="Times New Roman" pitchFamily="18" charset="0"/>
              </a:rPr>
              <a:t>Conditional Sales Contract</a:t>
            </a:r>
            <a:endParaRPr lang="en-US" dirty="0">
              <a:latin typeface="Times New Roman" pitchFamily="18" charset="0"/>
              <a:cs typeface="Times New Roman" pitchFamily="18" charset="0"/>
            </a:endParaRPr>
          </a:p>
        </p:txBody>
      </p:sp>
      <p:sp>
        <p:nvSpPr>
          <p:cNvPr id="27" name="Rounded Rectangle 26"/>
          <p:cNvSpPr/>
          <p:nvPr/>
        </p:nvSpPr>
        <p:spPr>
          <a:xfrm>
            <a:off x="5486400" y="5715000"/>
            <a:ext cx="1676400" cy="762000"/>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smtClean="0">
                <a:latin typeface="Times New Roman" pitchFamily="18" charset="0"/>
                <a:cs typeface="Times New Roman" pitchFamily="18" charset="0"/>
              </a:rPr>
              <a:t>Chattel Mortgage Contract</a:t>
            </a:r>
            <a:endParaRPr lang="en-US" dirty="0">
              <a:latin typeface="Times New Roman" pitchFamily="18" charset="0"/>
              <a:cs typeface="Times New Roman" pitchFamily="18" charset="0"/>
            </a:endParaRPr>
          </a:p>
        </p:txBody>
      </p:sp>
      <p:cxnSp>
        <p:nvCxnSpPr>
          <p:cNvPr id="29" name="Straight Arrow Connector 28"/>
          <p:cNvCxnSpPr/>
          <p:nvPr/>
        </p:nvCxnSpPr>
        <p:spPr>
          <a:xfrm rot="10800000" flipV="1">
            <a:off x="3505200" y="5181600"/>
            <a:ext cx="1219200" cy="53340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31" name="Straight Arrow Connector 30"/>
          <p:cNvCxnSpPr>
            <a:stCxn id="6" idx="2"/>
          </p:cNvCxnSpPr>
          <p:nvPr/>
        </p:nvCxnSpPr>
        <p:spPr>
          <a:xfrm rot="16200000" flipH="1">
            <a:off x="5143500" y="4914900"/>
            <a:ext cx="533400" cy="106680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43000" y="228600"/>
            <a:ext cx="7772400" cy="6400800"/>
          </a:xfrm>
        </p:spPr>
        <p:style>
          <a:lnRef idx="2">
            <a:schemeClr val="accent4"/>
          </a:lnRef>
          <a:fillRef idx="1">
            <a:schemeClr val="lt1"/>
          </a:fillRef>
          <a:effectRef idx="0">
            <a:schemeClr val="accent4"/>
          </a:effectRef>
          <a:fontRef idx="minor">
            <a:schemeClr val="dk1"/>
          </a:fontRef>
        </p:style>
        <p:txBody>
          <a:bodyPr>
            <a:normAutofit lnSpcReduction="10000"/>
          </a:bodyPr>
          <a:lstStyle/>
          <a:p>
            <a:pPr>
              <a:buNone/>
            </a:pPr>
            <a:r>
              <a:rPr lang="en-US" sz="2400" b="1" dirty="0" smtClean="0">
                <a:solidFill>
                  <a:srgbClr val="C00000"/>
                </a:solidFill>
                <a:latin typeface="Times New Roman" pitchFamily="18" charset="0"/>
                <a:cs typeface="Times New Roman" pitchFamily="18" charset="0"/>
              </a:rPr>
              <a:t>1.  Trade-Credit </a:t>
            </a:r>
            <a:r>
              <a:rPr lang="en-US" sz="2400" dirty="0" smtClean="0">
                <a:latin typeface="Times New Roman" pitchFamily="18" charset="0"/>
                <a:cs typeface="Times New Roman" pitchFamily="18" charset="0"/>
              </a:rPr>
              <a:t/>
            </a:r>
            <a:br>
              <a:rPr lang="en-US" sz="2400" dirty="0" smtClean="0">
                <a:latin typeface="Times New Roman" pitchFamily="18" charset="0"/>
                <a:cs typeface="Times New Roman" pitchFamily="18" charset="0"/>
              </a:rPr>
            </a:br>
            <a:r>
              <a:rPr lang="en-US" sz="2400" dirty="0" smtClean="0">
                <a:latin typeface="Times New Roman" pitchFamily="18" charset="0"/>
                <a:cs typeface="Times New Roman" pitchFamily="18" charset="0"/>
              </a:rPr>
              <a:t>Normally, a supplier will extend you credit after you're a regular customer for 30, 60 or 90 days, without charging interest. </a:t>
            </a:r>
          </a:p>
          <a:p>
            <a:r>
              <a:rPr lang="en-US" sz="2400" b="1" dirty="0" smtClean="0">
                <a:latin typeface="Times New Roman" pitchFamily="18" charset="0"/>
                <a:cs typeface="Times New Roman" pitchFamily="18" charset="0"/>
              </a:rPr>
              <a:t>Example</a:t>
            </a:r>
            <a:r>
              <a:rPr lang="en-US" sz="2400" dirty="0" smtClean="0">
                <a:latin typeface="Times New Roman" pitchFamily="18" charset="0"/>
                <a:cs typeface="Times New Roman" pitchFamily="18" charset="0"/>
              </a:rPr>
              <a:t>, suppose that a supplier ships something to you, and that bill is due in 30 days but you have trade credit or terms. </a:t>
            </a:r>
          </a:p>
          <a:p>
            <a:r>
              <a:rPr lang="en-US" sz="2400" dirty="0" smtClean="0">
                <a:latin typeface="Times New Roman" pitchFamily="18" charset="0"/>
                <a:cs typeface="Times New Roman" pitchFamily="18" charset="0"/>
              </a:rPr>
              <a:t>Your terms might be net 60 days from the receipt of goods, in which case you would have 30 extra days to pay for the items.</a:t>
            </a:r>
          </a:p>
          <a:p>
            <a:pPr>
              <a:buNone/>
            </a:pPr>
            <a:r>
              <a:rPr lang="en-US" sz="2400" dirty="0" smtClean="0">
                <a:solidFill>
                  <a:srgbClr val="C00000"/>
                </a:solidFill>
                <a:latin typeface="Times New Roman" pitchFamily="18" charset="0"/>
                <a:cs typeface="Times New Roman" pitchFamily="18" charset="0"/>
              </a:rPr>
              <a:t>2. </a:t>
            </a:r>
            <a:r>
              <a:rPr lang="en-US" sz="2400" b="1" dirty="0" smtClean="0">
                <a:solidFill>
                  <a:srgbClr val="C00000"/>
                </a:solidFill>
                <a:latin typeface="Times New Roman" pitchFamily="18" charset="0"/>
                <a:cs typeface="Times New Roman" pitchFamily="18" charset="0"/>
              </a:rPr>
              <a:t>Factoring</a:t>
            </a:r>
          </a:p>
          <a:p>
            <a:pPr algn="just"/>
            <a:r>
              <a:rPr lang="en-US" sz="2600" dirty="0" smtClean="0">
                <a:latin typeface="Times New Roman" pitchFamily="18" charset="0"/>
                <a:cs typeface="Times New Roman" pitchFamily="18" charset="0"/>
              </a:rPr>
              <a:t>This is a financing method where you actually sell your accounts receivable to a buyer such as a commercial finance company to raise capital. </a:t>
            </a:r>
          </a:p>
          <a:p>
            <a:pPr algn="just"/>
            <a:r>
              <a:rPr lang="en-US" sz="2600" dirty="0" smtClean="0">
                <a:latin typeface="Times New Roman" pitchFamily="18" charset="0"/>
                <a:cs typeface="Times New Roman" pitchFamily="18" charset="0"/>
              </a:rPr>
              <a:t>A "factor" buys accounts receivable, usually at a discount rate that ranges between one and 15 percent. </a:t>
            </a:r>
            <a:endParaRPr lang="en-US" sz="26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3592E275-D691-4E5D-BCC6-6858DE38E852}" type="slidenum">
              <a:rPr lang="en-US" smtClean="0"/>
              <a:pPr/>
              <a:t>11</a:t>
            </a:fld>
            <a:endParaRPr lang="en-US"/>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19200" y="228600"/>
            <a:ext cx="7772399" cy="6477000"/>
          </a:xfrm>
        </p:spPr>
        <p:style>
          <a:lnRef idx="2">
            <a:schemeClr val="accent4"/>
          </a:lnRef>
          <a:fillRef idx="1">
            <a:schemeClr val="lt1"/>
          </a:fillRef>
          <a:effectRef idx="0">
            <a:schemeClr val="accent4"/>
          </a:effectRef>
          <a:fontRef idx="minor">
            <a:schemeClr val="dk1"/>
          </a:fontRef>
        </p:style>
        <p:txBody>
          <a:bodyPr>
            <a:normAutofit/>
          </a:bodyPr>
          <a:lstStyle/>
          <a:p>
            <a:pPr algn="just"/>
            <a:r>
              <a:rPr lang="en-US" sz="2400" dirty="0" smtClean="0">
                <a:latin typeface="Times New Roman" pitchFamily="18" charset="0"/>
                <a:cs typeface="Times New Roman" pitchFamily="18" charset="0"/>
              </a:rPr>
              <a:t>Factoring can be performed on a non-notification basis. That means your customers aren't aware that their accounts have been sold.</a:t>
            </a:r>
          </a:p>
          <a:p>
            <a:pPr algn="just"/>
            <a:r>
              <a:rPr lang="en-US" sz="2400" dirty="0" smtClean="0">
                <a:latin typeface="Times New Roman" pitchFamily="18" charset="0"/>
                <a:cs typeface="Times New Roman" pitchFamily="18" charset="0"/>
              </a:rPr>
              <a:t>The factor then becomes the creditor and assumes the task of collecting the receivables as well as doing what would've been your paperwork chores.</a:t>
            </a:r>
          </a:p>
          <a:p>
            <a:pPr>
              <a:buNone/>
            </a:pPr>
            <a:r>
              <a:rPr lang="en-US" sz="2400" b="1" dirty="0" smtClean="0">
                <a:solidFill>
                  <a:srgbClr val="C00000"/>
                </a:solidFill>
                <a:latin typeface="Times New Roman" pitchFamily="18" charset="0"/>
                <a:cs typeface="Times New Roman" pitchFamily="18" charset="0"/>
              </a:rPr>
              <a:t>3.Customers </a:t>
            </a:r>
            <a:r>
              <a:rPr lang="en-US" sz="2400" dirty="0" smtClean="0">
                <a:latin typeface="Times New Roman" pitchFamily="18" charset="0"/>
                <a:cs typeface="Times New Roman" pitchFamily="18" charset="0"/>
              </a:rPr>
              <a:t/>
            </a:r>
            <a:br>
              <a:rPr lang="en-US" sz="2400" dirty="0" smtClean="0">
                <a:latin typeface="Times New Roman" pitchFamily="18" charset="0"/>
                <a:cs typeface="Times New Roman" pitchFamily="18" charset="0"/>
              </a:rPr>
            </a:br>
            <a:r>
              <a:rPr lang="en-US" sz="2400" dirty="0" smtClean="0">
                <a:latin typeface="Times New Roman" pitchFamily="18" charset="0"/>
                <a:cs typeface="Times New Roman" pitchFamily="18" charset="0"/>
              </a:rPr>
              <a:t>Customers are another source of bootstrap financing, and there are several different ways to take advantage of these valuable assets. </a:t>
            </a:r>
          </a:p>
          <a:p>
            <a:r>
              <a:rPr lang="en-US" sz="2400" dirty="0" smtClean="0">
                <a:latin typeface="Times New Roman" pitchFamily="18" charset="0"/>
                <a:cs typeface="Times New Roman" pitchFamily="18" charset="0"/>
              </a:rPr>
              <a:t>One way to use your customers to obtain financing is by having them write you a letter of credit. </a:t>
            </a:r>
          </a:p>
          <a:p>
            <a:pPr algn="just"/>
            <a:r>
              <a:rPr lang="en-US" sz="2400" b="1" dirty="0" smtClean="0">
                <a:latin typeface="Times New Roman" pitchFamily="18" charset="0"/>
                <a:cs typeface="Times New Roman" pitchFamily="18" charset="0"/>
              </a:rPr>
              <a:t>Example</a:t>
            </a:r>
            <a:r>
              <a:rPr lang="en-US" sz="2400" dirty="0" smtClean="0">
                <a:latin typeface="Times New Roman" pitchFamily="18" charset="0"/>
                <a:cs typeface="Times New Roman" pitchFamily="18" charset="0"/>
              </a:rPr>
              <a:t>, suppose you're starting a business manufacturing industrial bags. A large corporation has placed an order with your firm for a steady flow of cloth bags.</a:t>
            </a:r>
            <a:endParaRPr lang="en-US" sz="24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3592E275-D691-4E5D-BCC6-6858DE38E852}" type="slidenum">
              <a:rPr lang="en-US" smtClean="0"/>
              <a:pPr/>
              <a:t>12</a:t>
            </a:fld>
            <a:endParaRPr lang="en-US"/>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19200" y="304800"/>
            <a:ext cx="7772399" cy="6324600"/>
          </a:xfrm>
        </p:spPr>
        <p:style>
          <a:lnRef idx="2">
            <a:schemeClr val="accent4"/>
          </a:lnRef>
          <a:fillRef idx="1">
            <a:schemeClr val="lt1"/>
          </a:fillRef>
          <a:effectRef idx="0">
            <a:schemeClr val="accent4"/>
          </a:effectRef>
          <a:fontRef idx="minor">
            <a:schemeClr val="dk1"/>
          </a:fontRef>
        </p:style>
        <p:txBody>
          <a:bodyPr>
            <a:normAutofit/>
          </a:bodyPr>
          <a:lstStyle/>
          <a:p>
            <a:pPr algn="just"/>
            <a:r>
              <a:rPr lang="en-US" sz="2400" dirty="0" smtClean="0">
                <a:latin typeface="Times New Roman" pitchFamily="18" charset="0"/>
                <a:cs typeface="Times New Roman" pitchFamily="18" charset="0"/>
              </a:rPr>
              <a:t>The major supplier from which you will obtain the material the bags is located in India. </a:t>
            </a:r>
          </a:p>
          <a:p>
            <a:pPr algn="just"/>
            <a:r>
              <a:rPr lang="en-US" sz="2400" dirty="0" smtClean="0">
                <a:latin typeface="Times New Roman" pitchFamily="18" charset="0"/>
                <a:cs typeface="Times New Roman" pitchFamily="18" charset="0"/>
              </a:rPr>
              <a:t>In this scenario, you obtain a letter of credit from your customer when the order is placed, and the material for the bags is purchased using the letter of credit as security.</a:t>
            </a:r>
          </a:p>
          <a:p>
            <a:pPr>
              <a:buNone/>
            </a:pPr>
            <a:r>
              <a:rPr lang="en-US" sz="2400" b="1" dirty="0" smtClean="0">
                <a:solidFill>
                  <a:srgbClr val="C00000"/>
                </a:solidFill>
                <a:latin typeface="Times New Roman" pitchFamily="18" charset="0"/>
                <a:cs typeface="Times New Roman" pitchFamily="18" charset="0"/>
              </a:rPr>
              <a:t>4.Realestate </a:t>
            </a:r>
            <a:r>
              <a:rPr lang="en-US" sz="2400" dirty="0" smtClean="0"/>
              <a:t/>
            </a:r>
            <a:br>
              <a:rPr lang="en-US" sz="2400" dirty="0" smtClean="0"/>
            </a:br>
            <a:r>
              <a:rPr lang="en-US" sz="2400" dirty="0" smtClean="0">
                <a:latin typeface="Times New Roman" pitchFamily="18" charset="0"/>
                <a:cs typeface="Times New Roman" pitchFamily="18" charset="0"/>
              </a:rPr>
              <a:t>Another bootstrap financing source is real estate. </a:t>
            </a:r>
          </a:p>
          <a:p>
            <a:r>
              <a:rPr lang="en-US" sz="2400" dirty="0" smtClean="0">
                <a:latin typeface="Times New Roman" pitchFamily="18" charset="0"/>
                <a:cs typeface="Times New Roman" pitchFamily="18" charset="0"/>
              </a:rPr>
              <a:t>The first is simply to lease your facility. </a:t>
            </a:r>
          </a:p>
          <a:p>
            <a:r>
              <a:rPr lang="en-US" sz="2400" dirty="0" smtClean="0">
                <a:latin typeface="Times New Roman" pitchFamily="18" charset="0"/>
                <a:cs typeface="Times New Roman" pitchFamily="18" charset="0"/>
              </a:rPr>
              <a:t>This reduces startup costs because it costs less to lease a facility than it does to buy one. </a:t>
            </a:r>
          </a:p>
          <a:p>
            <a:r>
              <a:rPr lang="en-US" sz="2400" dirty="0" smtClean="0">
                <a:latin typeface="Times New Roman" pitchFamily="18" charset="0"/>
                <a:cs typeface="Times New Roman" pitchFamily="18" charset="0"/>
              </a:rPr>
              <a:t>Also, when negotiating a lease, you may be able to arrange payments that correspond to seasonal peaks or growth patterns.</a:t>
            </a:r>
            <a:endParaRPr lang="en-US" sz="24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3592E275-D691-4E5D-BCC6-6858DE38E852}" type="slidenum">
              <a:rPr lang="en-US" smtClean="0"/>
              <a:pPr/>
              <a:t>13</a:t>
            </a:fld>
            <a:endParaRPr lang="en-US"/>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43000" y="304800"/>
            <a:ext cx="7772400" cy="6324600"/>
          </a:xfrm>
        </p:spPr>
        <p:style>
          <a:lnRef idx="2">
            <a:schemeClr val="accent4"/>
          </a:lnRef>
          <a:fillRef idx="1">
            <a:schemeClr val="lt1"/>
          </a:fillRef>
          <a:effectRef idx="0">
            <a:schemeClr val="accent4"/>
          </a:effectRef>
          <a:fontRef idx="minor">
            <a:schemeClr val="dk1"/>
          </a:fontRef>
        </p:style>
        <p:txBody>
          <a:bodyPr>
            <a:normAutofit/>
          </a:bodyPr>
          <a:lstStyle/>
          <a:p>
            <a:pPr>
              <a:buNone/>
            </a:pPr>
            <a:r>
              <a:rPr lang="en-US" sz="2400" b="1" dirty="0" smtClean="0">
                <a:solidFill>
                  <a:srgbClr val="C00000"/>
                </a:solidFill>
                <a:latin typeface="Times New Roman" pitchFamily="18" charset="0"/>
                <a:cs typeface="Times New Roman" pitchFamily="18" charset="0"/>
              </a:rPr>
              <a:t>5. Equipment Suppliers</a:t>
            </a:r>
          </a:p>
          <a:p>
            <a:r>
              <a:rPr lang="en-US" sz="2400" dirty="0" smtClean="0">
                <a:latin typeface="Times New Roman" pitchFamily="18" charset="0"/>
                <a:cs typeface="Times New Roman" pitchFamily="18" charset="0"/>
              </a:rPr>
              <a:t>Instead of paying out cash for your equipment, you can purchase it with a loan from manufacturers; </a:t>
            </a:r>
          </a:p>
          <a:p>
            <a:r>
              <a:rPr lang="en-US" sz="2400" dirty="0" smtClean="0">
                <a:latin typeface="Times New Roman" pitchFamily="18" charset="0"/>
                <a:cs typeface="Times New Roman" pitchFamily="18" charset="0"/>
              </a:rPr>
              <a:t>In this way, equipment suppliers are a source of bootstrap financing.</a:t>
            </a:r>
          </a:p>
          <a:p>
            <a:pPr algn="just"/>
            <a:r>
              <a:rPr lang="en-US" sz="2400" dirty="0" smtClean="0">
                <a:latin typeface="Times New Roman" pitchFamily="18" charset="0"/>
                <a:cs typeface="Times New Roman" pitchFamily="18" charset="0"/>
              </a:rPr>
              <a:t>Two types of credit contracts are commonly used to finance equipment purchases:</a:t>
            </a:r>
          </a:p>
          <a:p>
            <a:pPr algn="just">
              <a:buNone/>
            </a:pPr>
            <a:r>
              <a:rPr lang="en-US" sz="2400" dirty="0" smtClean="0">
                <a:solidFill>
                  <a:srgbClr val="C00000"/>
                </a:solidFill>
                <a:latin typeface="Times New Roman" pitchFamily="18" charset="0"/>
                <a:cs typeface="Times New Roman" pitchFamily="18" charset="0"/>
              </a:rPr>
              <a:t>1. </a:t>
            </a:r>
            <a:r>
              <a:rPr lang="en-US" sz="2400" b="1" i="1" dirty="0" smtClean="0">
                <a:solidFill>
                  <a:srgbClr val="C00000"/>
                </a:solidFill>
                <a:latin typeface="Times New Roman" pitchFamily="18" charset="0"/>
                <a:cs typeface="Times New Roman" pitchFamily="18" charset="0"/>
              </a:rPr>
              <a:t>The conditional sales contract</a:t>
            </a:r>
            <a:r>
              <a:rPr lang="en-US" sz="2400" dirty="0" smtClean="0">
                <a:latin typeface="Times New Roman" pitchFamily="18" charset="0"/>
                <a:cs typeface="Times New Roman" pitchFamily="18" charset="0"/>
              </a:rPr>
              <a:t>, in which the purchaser does not receive title to the equipment until it is fully paid for.</a:t>
            </a:r>
          </a:p>
          <a:p>
            <a:pPr algn="just">
              <a:buNone/>
            </a:pPr>
            <a:r>
              <a:rPr lang="en-US" sz="2400" dirty="0" smtClean="0">
                <a:solidFill>
                  <a:srgbClr val="C00000"/>
                </a:solidFill>
                <a:latin typeface="Times New Roman" pitchFamily="18" charset="0"/>
                <a:cs typeface="Times New Roman" pitchFamily="18" charset="0"/>
              </a:rPr>
              <a:t>2. </a:t>
            </a:r>
            <a:r>
              <a:rPr lang="en-US" sz="2400" b="1" i="1" dirty="0" smtClean="0">
                <a:solidFill>
                  <a:srgbClr val="C00000"/>
                </a:solidFill>
                <a:latin typeface="Times New Roman" pitchFamily="18" charset="0"/>
                <a:cs typeface="Times New Roman" pitchFamily="18" charset="0"/>
              </a:rPr>
              <a:t>The chattel-mortgage contract</a:t>
            </a:r>
            <a:r>
              <a:rPr lang="en-US" sz="2400" dirty="0" smtClean="0">
                <a:latin typeface="Times New Roman" pitchFamily="18" charset="0"/>
                <a:cs typeface="Times New Roman" pitchFamily="18" charset="0"/>
              </a:rPr>
              <a:t>, in which the equipment becomes the property of the purchaser on delivery, but the seller holds a mortgage claim against it until the amount specified in the contract is paid.</a:t>
            </a:r>
          </a:p>
          <a:p>
            <a:pPr>
              <a:buNone/>
            </a:pPr>
            <a:endParaRPr lang="en-US" sz="2400" dirty="0">
              <a:solidFill>
                <a:srgbClr val="C00000"/>
              </a:solidFill>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3592E275-D691-4E5D-BCC6-6858DE38E852}" type="slidenum">
              <a:rPr lang="en-US" smtClean="0"/>
              <a:pPr/>
              <a:t>14</a:t>
            </a:fld>
            <a:endParaRPr lang="en-US"/>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0"/>
            <a:ext cx="7848600" cy="595090"/>
          </a:xfrm>
        </p:spPr>
        <p:txBody>
          <a:bodyPr>
            <a:normAutofit fontScale="90000"/>
          </a:bodyPr>
          <a:lstStyle/>
          <a:p>
            <a:pPr algn="ctr"/>
            <a:r>
              <a:rPr lang="en-US" b="1" dirty="0" smtClean="0">
                <a:latin typeface="Times New Roman" pitchFamily="18" charset="0"/>
                <a:cs typeface="Times New Roman" pitchFamily="18" charset="0"/>
              </a:rPr>
              <a:t>Angel Investors</a:t>
            </a:r>
            <a:endParaRPr lang="en-US" b="1" dirty="0"/>
          </a:p>
        </p:txBody>
      </p:sp>
      <p:sp>
        <p:nvSpPr>
          <p:cNvPr id="3" name="Content Placeholder 2"/>
          <p:cNvSpPr>
            <a:spLocks noGrp="1"/>
          </p:cNvSpPr>
          <p:nvPr>
            <p:ph idx="1"/>
          </p:nvPr>
        </p:nvSpPr>
        <p:spPr>
          <a:xfrm>
            <a:off x="1143000" y="533400"/>
            <a:ext cx="7848600" cy="6096000"/>
          </a:xfrm>
        </p:spPr>
        <p:style>
          <a:lnRef idx="2">
            <a:schemeClr val="accent4"/>
          </a:lnRef>
          <a:fillRef idx="1">
            <a:schemeClr val="lt1"/>
          </a:fillRef>
          <a:effectRef idx="0">
            <a:schemeClr val="accent4"/>
          </a:effectRef>
          <a:fontRef idx="minor">
            <a:schemeClr val="dk1"/>
          </a:fontRef>
        </p:style>
        <p:txBody>
          <a:bodyPr>
            <a:normAutofit fontScale="92500" lnSpcReduction="10000"/>
          </a:bodyPr>
          <a:lstStyle/>
          <a:p>
            <a:pPr algn="just"/>
            <a:r>
              <a:rPr lang="en-US" sz="2400" dirty="0" smtClean="0">
                <a:latin typeface="Times New Roman" pitchFamily="18" charset="0"/>
                <a:cs typeface="Times New Roman" pitchFamily="18" charset="0"/>
              </a:rPr>
              <a:t>A wealthy individual willing to invest own money in a business start-up. The term Angel investor was first used by William Wetzel .</a:t>
            </a:r>
          </a:p>
          <a:p>
            <a:pPr algn="just"/>
            <a:r>
              <a:rPr lang="en-US" sz="2400" dirty="0" smtClean="0">
                <a:latin typeface="Times New Roman" pitchFamily="18" charset="0"/>
                <a:cs typeface="Times New Roman" pitchFamily="18" charset="0"/>
              </a:rPr>
              <a:t>An angel investor or angel (also known as a business angel, informal investor, angel funder, private investor, or seed investor) is an affluent individual who provides capital for a business start-up, usually in exchange for convertible debt or ownership equity.</a:t>
            </a:r>
          </a:p>
          <a:p>
            <a:pPr algn="just">
              <a:buNone/>
            </a:pPr>
            <a:r>
              <a:rPr lang="en-US" sz="2400" b="1" dirty="0" smtClean="0">
                <a:solidFill>
                  <a:srgbClr val="C00000"/>
                </a:solidFill>
                <a:latin typeface="Times New Roman" pitchFamily="18" charset="0"/>
                <a:cs typeface="Times New Roman" pitchFamily="18" charset="0"/>
              </a:rPr>
              <a:t>Top Angel Investor in India </a:t>
            </a:r>
          </a:p>
          <a:p>
            <a:pPr algn="just"/>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Rajan</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Anandan</a:t>
            </a:r>
            <a:r>
              <a:rPr lang="en-US" sz="2400" dirty="0" smtClean="0">
                <a:latin typeface="Times New Roman" pitchFamily="18" charset="0"/>
                <a:cs typeface="Times New Roman" pitchFamily="18" charset="0"/>
              </a:rPr>
              <a:t>: </a:t>
            </a:r>
          </a:p>
          <a:p>
            <a:pPr algn="just"/>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Anupam</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Gopal</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Mittal</a:t>
            </a:r>
            <a:r>
              <a:rPr lang="en-US" sz="2400" dirty="0" smtClean="0">
                <a:latin typeface="Times New Roman" pitchFamily="18" charset="0"/>
                <a:cs typeface="Times New Roman" pitchFamily="18" charset="0"/>
              </a:rPr>
              <a:t>: </a:t>
            </a:r>
          </a:p>
          <a:p>
            <a:pPr algn="just"/>
            <a:r>
              <a:rPr lang="en-US" sz="2400" dirty="0" smtClean="0">
                <a:latin typeface="Times New Roman" pitchFamily="18" charset="0"/>
                <a:cs typeface="Times New Roman" pitchFamily="18" charset="0"/>
              </a:rPr>
              <a:t> Sanjay Mehta: </a:t>
            </a:r>
          </a:p>
          <a:p>
            <a:pPr algn="just"/>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Zishaan</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Hayath</a:t>
            </a:r>
            <a:r>
              <a:rPr lang="en-US" sz="2400" dirty="0" smtClean="0">
                <a:latin typeface="Times New Roman" pitchFamily="18" charset="0"/>
                <a:cs typeface="Times New Roman" pitchFamily="18" charset="0"/>
              </a:rPr>
              <a:t>: </a:t>
            </a:r>
          </a:p>
          <a:p>
            <a:pPr algn="just"/>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Sharad</a:t>
            </a:r>
            <a:r>
              <a:rPr lang="en-US" sz="2400" dirty="0" smtClean="0">
                <a:latin typeface="Times New Roman" pitchFamily="18" charset="0"/>
                <a:cs typeface="Times New Roman" pitchFamily="18" charset="0"/>
              </a:rPr>
              <a:t> Sharma: </a:t>
            </a:r>
          </a:p>
          <a:p>
            <a:pPr algn="just"/>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Anand</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Ladsariya</a:t>
            </a:r>
            <a:r>
              <a:rPr lang="en-US" sz="2400" dirty="0" smtClean="0">
                <a:latin typeface="Times New Roman" pitchFamily="18" charset="0"/>
                <a:cs typeface="Times New Roman" pitchFamily="18" charset="0"/>
              </a:rPr>
              <a:t>: </a:t>
            </a:r>
          </a:p>
          <a:p>
            <a:pPr algn="just"/>
            <a:r>
              <a:rPr lang="en-US" sz="2400" dirty="0" smtClean="0">
                <a:latin typeface="Times New Roman" pitchFamily="18" charset="0"/>
                <a:cs typeface="Times New Roman" pitchFamily="18" charset="0"/>
              </a:rPr>
              <a:t> Sunil </a:t>
            </a:r>
            <a:r>
              <a:rPr lang="en-US" sz="2400" dirty="0" err="1" smtClean="0">
                <a:latin typeface="Times New Roman" pitchFamily="18" charset="0"/>
                <a:cs typeface="Times New Roman" pitchFamily="18" charset="0"/>
              </a:rPr>
              <a:t>Kalra</a:t>
            </a:r>
            <a:endParaRPr lang="en-US" sz="24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3592E275-D691-4E5D-BCC6-6858DE38E852}" type="slidenum">
              <a:rPr lang="en-US" smtClean="0"/>
              <a:pPr/>
              <a:t>15</a:t>
            </a:fld>
            <a:endParaRPr lang="en-US" dirty="0"/>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76800" y="3124200"/>
            <a:ext cx="3886199" cy="3276600"/>
          </a:xfrm>
          <a:prstGeom prst="rect">
            <a:avLst/>
          </a:prstGeom>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152400"/>
            <a:ext cx="7924800" cy="457200"/>
          </a:xfrm>
        </p:spPr>
        <p:txBody>
          <a:bodyPr>
            <a:normAutofit fontScale="90000"/>
          </a:bodyPr>
          <a:lstStyle/>
          <a:p>
            <a:pPr algn="ctr"/>
            <a:r>
              <a:rPr lang="en-US" b="1" dirty="0" smtClean="0">
                <a:latin typeface="Times New Roman" pitchFamily="18" charset="0"/>
                <a:cs typeface="Times New Roman" pitchFamily="18" charset="0"/>
              </a:rPr>
              <a:t>Angel Investment - </a:t>
            </a:r>
            <a:r>
              <a:rPr lang="en-US" b="1" dirty="0" err="1" smtClean="0">
                <a:latin typeface="Times New Roman" pitchFamily="18" charset="0"/>
                <a:cs typeface="Times New Roman" pitchFamily="18" charset="0"/>
              </a:rPr>
              <a:t>Charactristics</a:t>
            </a:r>
            <a:endParaRPr lang="en-US" b="1" dirty="0">
              <a:latin typeface="Times New Roman" pitchFamily="18" charset="0"/>
              <a:cs typeface="Times New Roman" pitchFamily="18" charset="0"/>
            </a:endParaRPr>
          </a:p>
        </p:txBody>
      </p:sp>
      <p:sp>
        <p:nvSpPr>
          <p:cNvPr id="3" name="Content Placeholder 2"/>
          <p:cNvSpPr>
            <a:spLocks noGrp="1"/>
          </p:cNvSpPr>
          <p:nvPr>
            <p:ph idx="1"/>
          </p:nvPr>
        </p:nvSpPr>
        <p:spPr>
          <a:xfrm>
            <a:off x="1066800" y="609600"/>
            <a:ext cx="7924800" cy="6096000"/>
          </a:xfrm>
        </p:spPr>
        <p:style>
          <a:lnRef idx="2">
            <a:schemeClr val="accent4"/>
          </a:lnRef>
          <a:fillRef idx="1">
            <a:schemeClr val="lt1"/>
          </a:fillRef>
          <a:effectRef idx="0">
            <a:schemeClr val="accent4"/>
          </a:effectRef>
          <a:fontRef idx="minor">
            <a:schemeClr val="dk1"/>
          </a:fontRef>
        </p:style>
        <p:txBody>
          <a:bodyPr>
            <a:noAutofit/>
          </a:bodyPr>
          <a:lstStyle/>
          <a:p>
            <a:pPr algn="just">
              <a:lnSpc>
                <a:spcPct val="90000"/>
              </a:lnSpc>
            </a:pPr>
            <a:r>
              <a:rPr lang="en-US" sz="2200" dirty="0">
                <a:latin typeface="Times New Roman" pitchFamily="18" charset="0"/>
                <a:cs typeface="Times New Roman" pitchFamily="18" charset="0"/>
              </a:rPr>
              <a:t>An angel investor is usually a high-net-worth individual who funds startups at the early stages, often with their own money.</a:t>
            </a:r>
          </a:p>
          <a:p>
            <a:pPr algn="just">
              <a:lnSpc>
                <a:spcPct val="90000"/>
              </a:lnSpc>
            </a:pPr>
            <a:r>
              <a:rPr lang="en-US" sz="2200" dirty="0">
                <a:latin typeface="Times New Roman" pitchFamily="18" charset="0"/>
                <a:cs typeface="Times New Roman" pitchFamily="18" charset="0"/>
              </a:rPr>
              <a:t>Angel investing is often the primary source of funding for many startups who find it more appealing than other, more predatory, forms of funding.</a:t>
            </a:r>
          </a:p>
          <a:p>
            <a:pPr algn="just">
              <a:lnSpc>
                <a:spcPct val="90000"/>
              </a:lnSpc>
            </a:pPr>
            <a:r>
              <a:rPr lang="en-US" sz="2200" dirty="0">
                <a:latin typeface="Times New Roman" pitchFamily="18" charset="0"/>
                <a:cs typeface="Times New Roman" pitchFamily="18" charset="0"/>
              </a:rPr>
              <a:t>The support that angel investors provide startups fosters innovation which translates into economic growth.</a:t>
            </a:r>
          </a:p>
          <a:p>
            <a:pPr algn="just">
              <a:lnSpc>
                <a:spcPct val="90000"/>
              </a:lnSpc>
            </a:pPr>
            <a:r>
              <a:rPr lang="en-US" sz="2200" dirty="0">
                <a:latin typeface="Times New Roman" pitchFamily="18" charset="0"/>
                <a:cs typeface="Times New Roman" pitchFamily="18" charset="0"/>
              </a:rPr>
              <a:t>These types of investments are </a:t>
            </a:r>
            <a:r>
              <a:rPr lang="en-US" sz="2200" dirty="0" smtClean="0">
                <a:latin typeface="Times New Roman" pitchFamily="18" charset="0"/>
                <a:cs typeface="Times New Roman" pitchFamily="18" charset="0"/>
              </a:rPr>
              <a:t>risky</a:t>
            </a:r>
            <a:r>
              <a:rPr lang="en-US" sz="2400" dirty="0" smtClean="0"/>
              <a:t>.</a:t>
            </a:r>
          </a:p>
          <a:p>
            <a:pPr algn="just">
              <a:lnSpc>
                <a:spcPct val="90000"/>
              </a:lnSpc>
            </a:pPr>
            <a:r>
              <a:rPr lang="en-US" sz="2200" b="1" dirty="0">
                <a:latin typeface="Times New Roman" pitchFamily="18" charset="0"/>
                <a:cs typeface="Times New Roman" pitchFamily="18" charset="0"/>
              </a:rPr>
              <a:t>Five Angle Investor Types:</a:t>
            </a:r>
          </a:p>
          <a:p>
            <a:pPr algn="just">
              <a:lnSpc>
                <a:spcPct val="90000"/>
              </a:lnSpc>
            </a:pPr>
            <a:r>
              <a:rPr lang="en-US" sz="2200" b="1" dirty="0" smtClean="0">
                <a:latin typeface="Times New Roman" pitchFamily="18" charset="0"/>
                <a:cs typeface="Times New Roman" pitchFamily="18" charset="0"/>
              </a:rPr>
              <a:t>The </a:t>
            </a:r>
            <a:r>
              <a:rPr lang="en-US" sz="2200" b="1" dirty="0">
                <a:latin typeface="Times New Roman" pitchFamily="18" charset="0"/>
                <a:cs typeface="Times New Roman" pitchFamily="18" charset="0"/>
              </a:rPr>
              <a:t>Family Investor</a:t>
            </a:r>
          </a:p>
          <a:p>
            <a:pPr algn="just">
              <a:lnSpc>
                <a:spcPct val="90000"/>
              </a:lnSpc>
            </a:pPr>
            <a:r>
              <a:rPr lang="en-US" sz="2200" b="1" dirty="0">
                <a:latin typeface="Times New Roman" pitchFamily="18" charset="0"/>
                <a:cs typeface="Times New Roman" pitchFamily="18" charset="0"/>
              </a:rPr>
              <a:t>The Relationship Investor: </a:t>
            </a:r>
            <a:r>
              <a:rPr lang="en-US" sz="2200" dirty="0">
                <a:latin typeface="Times New Roman" pitchFamily="18" charset="0"/>
                <a:cs typeface="Times New Roman" pitchFamily="18" charset="0"/>
              </a:rPr>
              <a:t>a co-worker from a previous company or a business friend.</a:t>
            </a:r>
          </a:p>
          <a:p>
            <a:pPr algn="just">
              <a:lnSpc>
                <a:spcPct val="90000"/>
              </a:lnSpc>
            </a:pPr>
            <a:r>
              <a:rPr lang="en-US" sz="2200" b="1" dirty="0">
                <a:latin typeface="Times New Roman" pitchFamily="18" charset="0"/>
                <a:cs typeface="Times New Roman" pitchFamily="18" charset="0"/>
              </a:rPr>
              <a:t>The Idea Investor: </a:t>
            </a:r>
            <a:r>
              <a:rPr lang="en-US" sz="2200" dirty="0" smtClean="0">
                <a:latin typeface="Times New Roman" pitchFamily="18" charset="0"/>
                <a:cs typeface="Times New Roman" pitchFamily="18" charset="0"/>
              </a:rPr>
              <a:t>Investment </a:t>
            </a:r>
            <a:r>
              <a:rPr lang="en-US" sz="2200" dirty="0">
                <a:latin typeface="Times New Roman" pitchFamily="18" charset="0"/>
                <a:cs typeface="Times New Roman" pitchFamily="18" charset="0"/>
              </a:rPr>
              <a:t>is based on the idea and there is little </a:t>
            </a:r>
            <a:r>
              <a:rPr lang="en-US" sz="2200" dirty="0" smtClean="0">
                <a:latin typeface="Times New Roman" pitchFamily="18" charset="0"/>
                <a:cs typeface="Times New Roman" pitchFamily="18" charset="0"/>
              </a:rPr>
              <a:t>emotional aspect.</a:t>
            </a:r>
          </a:p>
          <a:p>
            <a:pPr>
              <a:lnSpc>
                <a:spcPct val="90000"/>
              </a:lnSpc>
            </a:pPr>
            <a:r>
              <a:rPr lang="en-US" sz="2200" b="1" dirty="0">
                <a:latin typeface="Times New Roman" pitchFamily="18" charset="0"/>
                <a:cs typeface="Times New Roman" pitchFamily="18" charset="0"/>
              </a:rPr>
              <a:t>The Once Removed </a:t>
            </a:r>
            <a:r>
              <a:rPr lang="en-US" sz="2200" b="1" dirty="0" smtClean="0">
                <a:latin typeface="Times New Roman" pitchFamily="18" charset="0"/>
                <a:cs typeface="Times New Roman" pitchFamily="18" charset="0"/>
              </a:rPr>
              <a:t>Investor: </a:t>
            </a:r>
            <a:r>
              <a:rPr lang="en-US" sz="2200" dirty="0">
                <a:latin typeface="Times New Roman" pitchFamily="18" charset="0"/>
                <a:cs typeface="Times New Roman" pitchFamily="18" charset="0"/>
              </a:rPr>
              <a:t>I</a:t>
            </a:r>
            <a:r>
              <a:rPr lang="en-US" sz="2200" dirty="0" smtClean="0">
                <a:latin typeface="Times New Roman" pitchFamily="18" charset="0"/>
                <a:cs typeface="Times New Roman" pitchFamily="18" charset="0"/>
              </a:rPr>
              <a:t>nvestor likely </a:t>
            </a:r>
            <a:r>
              <a:rPr lang="en-US" sz="2200" dirty="0">
                <a:latin typeface="Times New Roman" pitchFamily="18" charset="0"/>
                <a:cs typeface="Times New Roman" pitchFamily="18" charset="0"/>
              </a:rPr>
              <a:t>connected through a personal or professional </a:t>
            </a:r>
            <a:r>
              <a:rPr lang="en-US" sz="2200" dirty="0" smtClean="0">
                <a:latin typeface="Times New Roman" pitchFamily="18" charset="0"/>
                <a:cs typeface="Times New Roman" pitchFamily="18" charset="0"/>
              </a:rPr>
              <a:t>relationship.</a:t>
            </a:r>
            <a:r>
              <a:rPr lang="en-US" sz="2200" dirty="0">
                <a:latin typeface="Times New Roman" pitchFamily="18" charset="0"/>
                <a:cs typeface="Times New Roman" pitchFamily="18" charset="0"/>
              </a:rPr>
              <a:t> </a:t>
            </a:r>
            <a:endParaRPr lang="en-US" sz="2200" dirty="0" smtClean="0">
              <a:latin typeface="Times New Roman" pitchFamily="18" charset="0"/>
              <a:cs typeface="Times New Roman" pitchFamily="18" charset="0"/>
            </a:endParaRPr>
          </a:p>
          <a:p>
            <a:r>
              <a:rPr lang="en-US" sz="2400" b="1" dirty="0"/>
              <a:t>The "Archangel" Investor</a:t>
            </a:r>
            <a:endParaRPr lang="en-US" sz="2400" dirty="0"/>
          </a:p>
          <a:p>
            <a:r>
              <a:rPr lang="en-US" sz="2400" dirty="0"/>
              <a:t>An "Archangel" is a Relationship Investor or Idea Investor that has a track record of success making other Angels (and perhaps non Angels) money. </a:t>
            </a:r>
          </a:p>
          <a:p>
            <a:pPr>
              <a:lnSpc>
                <a:spcPct val="90000"/>
              </a:lnSpc>
            </a:pPr>
            <a:endParaRPr lang="en-US" sz="22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3592E275-D691-4E5D-BCC6-6858DE38E852}" type="slidenum">
              <a:rPr lang="en-US" smtClean="0"/>
              <a:pPr/>
              <a:t>16</a:t>
            </a:fld>
            <a:endParaRPr lang="en-US"/>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152400"/>
            <a:ext cx="7924800" cy="457200"/>
          </a:xfrm>
        </p:spPr>
        <p:txBody>
          <a:bodyPr>
            <a:normAutofit fontScale="90000"/>
          </a:bodyPr>
          <a:lstStyle/>
          <a:p>
            <a:pPr algn="ctr"/>
            <a:r>
              <a:rPr lang="en-US" b="1" dirty="0" smtClean="0">
                <a:latin typeface="Times New Roman" pitchFamily="18" charset="0"/>
                <a:cs typeface="Times New Roman" pitchFamily="18" charset="0"/>
              </a:rPr>
              <a:t>Angel Investors - </a:t>
            </a:r>
            <a:r>
              <a:rPr lang="en-US" b="1" dirty="0" err="1" smtClean="0">
                <a:latin typeface="Times New Roman" pitchFamily="18" charset="0"/>
                <a:cs typeface="Times New Roman" pitchFamily="18" charset="0"/>
              </a:rPr>
              <a:t>FiveTypes</a:t>
            </a:r>
            <a:endParaRPr lang="en-US" b="1" dirty="0">
              <a:latin typeface="Times New Roman" pitchFamily="18" charset="0"/>
              <a:cs typeface="Times New Roman" pitchFamily="18" charset="0"/>
            </a:endParaRPr>
          </a:p>
        </p:txBody>
      </p:sp>
      <p:sp>
        <p:nvSpPr>
          <p:cNvPr id="3" name="Content Placeholder 2"/>
          <p:cNvSpPr>
            <a:spLocks noGrp="1"/>
          </p:cNvSpPr>
          <p:nvPr>
            <p:ph idx="1"/>
          </p:nvPr>
        </p:nvSpPr>
        <p:spPr>
          <a:xfrm>
            <a:off x="1066800" y="609600"/>
            <a:ext cx="7924800" cy="6096000"/>
          </a:xfrm>
        </p:spPr>
        <p:style>
          <a:lnRef idx="2">
            <a:schemeClr val="accent4"/>
          </a:lnRef>
          <a:fillRef idx="1">
            <a:schemeClr val="lt1"/>
          </a:fillRef>
          <a:effectRef idx="0">
            <a:schemeClr val="accent4"/>
          </a:effectRef>
          <a:fontRef idx="minor">
            <a:schemeClr val="dk1"/>
          </a:fontRef>
        </p:style>
        <p:txBody>
          <a:bodyPr>
            <a:noAutofit/>
          </a:bodyPr>
          <a:lstStyle/>
          <a:p>
            <a:pPr algn="just">
              <a:lnSpc>
                <a:spcPct val="90000"/>
              </a:lnSpc>
            </a:pPr>
            <a:r>
              <a:rPr lang="en-US" sz="2200" b="1" dirty="0" smtClean="0">
                <a:latin typeface="Times New Roman" pitchFamily="18" charset="0"/>
                <a:cs typeface="Times New Roman" pitchFamily="18" charset="0"/>
              </a:rPr>
              <a:t>The </a:t>
            </a:r>
            <a:r>
              <a:rPr lang="en-US" sz="2200" b="1" dirty="0">
                <a:latin typeface="Times New Roman" pitchFamily="18" charset="0"/>
                <a:cs typeface="Times New Roman" pitchFamily="18" charset="0"/>
              </a:rPr>
              <a:t>Family </a:t>
            </a:r>
            <a:r>
              <a:rPr lang="en-US" sz="2200" b="1" dirty="0" smtClean="0">
                <a:latin typeface="Times New Roman" pitchFamily="18" charset="0"/>
                <a:cs typeface="Times New Roman" pitchFamily="18" charset="0"/>
              </a:rPr>
              <a:t>Investor: </a:t>
            </a:r>
            <a:r>
              <a:rPr lang="en-US" sz="2200" dirty="0">
                <a:latin typeface="Times New Roman" pitchFamily="18" charset="0"/>
                <a:cs typeface="Times New Roman" pitchFamily="18" charset="0"/>
              </a:rPr>
              <a:t>The Family Investor is not really a classic Angel Investor </a:t>
            </a:r>
            <a:r>
              <a:rPr lang="en-US" sz="2200" dirty="0" smtClean="0">
                <a:latin typeface="Times New Roman" pitchFamily="18" charset="0"/>
                <a:cs typeface="Times New Roman" pitchFamily="18" charset="0"/>
              </a:rPr>
              <a:t>but </a:t>
            </a:r>
            <a:r>
              <a:rPr lang="en-US" sz="2200" dirty="0">
                <a:latin typeface="Times New Roman" pitchFamily="18" charset="0"/>
                <a:cs typeface="Times New Roman" pitchFamily="18" charset="0"/>
              </a:rPr>
              <a:t>a supportive family member </a:t>
            </a:r>
            <a:r>
              <a:rPr lang="en-US" sz="2200" dirty="0" smtClean="0">
                <a:latin typeface="Times New Roman" pitchFamily="18" charset="0"/>
                <a:cs typeface="Times New Roman" pitchFamily="18" charset="0"/>
              </a:rPr>
              <a:t>knowing the entrepreneur. Their </a:t>
            </a:r>
            <a:r>
              <a:rPr lang="en-US" sz="2200" dirty="0">
                <a:latin typeface="Times New Roman" pitchFamily="18" charset="0"/>
                <a:cs typeface="Times New Roman" pitchFamily="18" charset="0"/>
              </a:rPr>
              <a:t>motivation comes from the interest in supporting a family member or friend. </a:t>
            </a:r>
          </a:p>
          <a:p>
            <a:pPr algn="just">
              <a:lnSpc>
                <a:spcPct val="90000"/>
              </a:lnSpc>
            </a:pPr>
            <a:r>
              <a:rPr lang="en-US" sz="2200" b="1" dirty="0">
                <a:latin typeface="Times New Roman" pitchFamily="18" charset="0"/>
                <a:cs typeface="Times New Roman" pitchFamily="18" charset="0"/>
              </a:rPr>
              <a:t>The Relationship Investor: </a:t>
            </a:r>
            <a:r>
              <a:rPr lang="en-US" sz="2200" dirty="0">
                <a:latin typeface="Times New Roman" pitchFamily="18" charset="0"/>
                <a:cs typeface="Times New Roman" pitchFamily="18" charset="0"/>
              </a:rPr>
              <a:t>The Relationship Investor is a co-worker from a previous company or a business friend known for a while. They want to be supportive on the one hand, but are also looking for a return. </a:t>
            </a:r>
          </a:p>
          <a:p>
            <a:pPr algn="just">
              <a:lnSpc>
                <a:spcPct val="90000"/>
              </a:lnSpc>
            </a:pPr>
            <a:r>
              <a:rPr lang="en-US" sz="2200" b="1" dirty="0">
                <a:latin typeface="Times New Roman" pitchFamily="18" charset="0"/>
                <a:cs typeface="Times New Roman" pitchFamily="18" charset="0"/>
              </a:rPr>
              <a:t>The Idea Investor: </a:t>
            </a:r>
            <a:r>
              <a:rPr lang="en-US" sz="2200" dirty="0" smtClean="0">
                <a:latin typeface="Times New Roman" pitchFamily="18" charset="0"/>
                <a:cs typeface="Times New Roman" pitchFamily="18" charset="0"/>
              </a:rPr>
              <a:t>Investment </a:t>
            </a:r>
            <a:r>
              <a:rPr lang="en-US" sz="2200" dirty="0">
                <a:latin typeface="Times New Roman" pitchFamily="18" charset="0"/>
                <a:cs typeface="Times New Roman" pitchFamily="18" charset="0"/>
              </a:rPr>
              <a:t>is based on the idea and there is little </a:t>
            </a:r>
            <a:r>
              <a:rPr lang="en-US" sz="2200" dirty="0" smtClean="0">
                <a:latin typeface="Times New Roman" pitchFamily="18" charset="0"/>
                <a:cs typeface="Times New Roman" pitchFamily="18" charset="0"/>
              </a:rPr>
              <a:t>emotional aspect. </a:t>
            </a:r>
            <a:r>
              <a:rPr lang="en-US" sz="2200" dirty="0">
                <a:latin typeface="Times New Roman" pitchFamily="18" charset="0"/>
                <a:cs typeface="Times New Roman" pitchFamily="18" charset="0"/>
              </a:rPr>
              <a:t>Often an influential Idea Investor makes a good early board member for the company.</a:t>
            </a:r>
          </a:p>
          <a:p>
            <a:pPr>
              <a:lnSpc>
                <a:spcPct val="90000"/>
              </a:lnSpc>
            </a:pPr>
            <a:r>
              <a:rPr lang="en-US" sz="2200" b="1" dirty="0">
                <a:latin typeface="Times New Roman" pitchFamily="18" charset="0"/>
                <a:cs typeface="Times New Roman" pitchFamily="18" charset="0"/>
              </a:rPr>
              <a:t>The Once Removed </a:t>
            </a:r>
            <a:r>
              <a:rPr lang="en-US" sz="2200" b="1" dirty="0" smtClean="0">
                <a:latin typeface="Times New Roman" pitchFamily="18" charset="0"/>
                <a:cs typeface="Times New Roman" pitchFamily="18" charset="0"/>
              </a:rPr>
              <a:t>Investor: </a:t>
            </a:r>
            <a:r>
              <a:rPr lang="en-US" sz="2200" dirty="0">
                <a:latin typeface="Times New Roman" pitchFamily="18" charset="0"/>
                <a:cs typeface="Times New Roman" pitchFamily="18" charset="0"/>
              </a:rPr>
              <a:t>I</a:t>
            </a:r>
            <a:r>
              <a:rPr lang="en-US" sz="2200" dirty="0" smtClean="0">
                <a:latin typeface="Times New Roman" pitchFamily="18" charset="0"/>
                <a:cs typeface="Times New Roman" pitchFamily="18" charset="0"/>
              </a:rPr>
              <a:t>nvestor likely </a:t>
            </a:r>
            <a:r>
              <a:rPr lang="en-US" sz="2200" dirty="0">
                <a:latin typeface="Times New Roman" pitchFamily="18" charset="0"/>
                <a:cs typeface="Times New Roman" pitchFamily="18" charset="0"/>
              </a:rPr>
              <a:t>connected through a personal or professional </a:t>
            </a:r>
            <a:r>
              <a:rPr lang="en-US" sz="2200" dirty="0" smtClean="0">
                <a:latin typeface="Times New Roman" pitchFamily="18" charset="0"/>
                <a:cs typeface="Times New Roman" pitchFamily="18" charset="0"/>
              </a:rPr>
              <a:t>relationship </a:t>
            </a:r>
            <a:r>
              <a:rPr lang="en-US" sz="2200" dirty="0">
                <a:latin typeface="Times New Roman" pitchFamily="18" charset="0"/>
                <a:cs typeface="Times New Roman" pitchFamily="18" charset="0"/>
              </a:rPr>
              <a:t>with either the Relationship Investor or the Idea Investor. </a:t>
            </a:r>
          </a:p>
          <a:p>
            <a:r>
              <a:rPr lang="en-US" sz="2200" b="1" dirty="0">
                <a:latin typeface="Times New Roman" pitchFamily="18" charset="0"/>
                <a:cs typeface="Times New Roman" pitchFamily="18" charset="0"/>
              </a:rPr>
              <a:t>The "Archangel" Investor: </a:t>
            </a:r>
            <a:r>
              <a:rPr lang="en-US" sz="2200" dirty="0">
                <a:latin typeface="Times New Roman" pitchFamily="18" charset="0"/>
                <a:cs typeface="Times New Roman" pitchFamily="18" charset="0"/>
              </a:rPr>
              <a:t>An "Archangel" is a Relationship Investor or Idea Investor that has a track record of success making other Angels (and perhaps non Angels) </a:t>
            </a:r>
            <a:r>
              <a:rPr lang="en-US" sz="2200" dirty="0" smtClean="0">
                <a:latin typeface="Times New Roman" pitchFamily="18" charset="0"/>
                <a:cs typeface="Times New Roman" pitchFamily="18" charset="0"/>
              </a:rPr>
              <a:t>money.</a:t>
            </a:r>
            <a:r>
              <a:rPr lang="en-US" sz="2200" dirty="0">
                <a:latin typeface="Times New Roman" pitchFamily="18" charset="0"/>
                <a:cs typeface="Times New Roman" pitchFamily="18" charset="0"/>
              </a:rPr>
              <a:t> </a:t>
            </a:r>
            <a:r>
              <a:rPr lang="en-US" sz="2200" dirty="0" smtClean="0">
                <a:latin typeface="Times New Roman" pitchFamily="18" charset="0"/>
                <a:cs typeface="Times New Roman" pitchFamily="18" charset="0"/>
              </a:rPr>
              <a:t>They </a:t>
            </a:r>
            <a:r>
              <a:rPr lang="en-US" sz="2200" dirty="0">
                <a:latin typeface="Times New Roman" pitchFamily="18" charset="0"/>
                <a:cs typeface="Times New Roman" pitchFamily="18" charset="0"/>
              </a:rPr>
              <a:t>have built a successful company in the same space, or have strong personal contacts with other Angel Investors.</a:t>
            </a:r>
          </a:p>
          <a:p>
            <a:pPr>
              <a:lnSpc>
                <a:spcPct val="90000"/>
              </a:lnSpc>
            </a:pPr>
            <a:endParaRPr lang="en-US" sz="22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3592E275-D691-4E5D-BCC6-6858DE38E852}" type="slidenum">
              <a:rPr lang="en-US" smtClean="0"/>
              <a:pPr/>
              <a:t>17</a:t>
            </a:fld>
            <a:endParaRPr lang="en-US"/>
          </a:p>
        </p:txBody>
      </p:sp>
    </p:spTree>
    <p:extLst>
      <p:ext uri="{BB962C8B-B14F-4D97-AF65-F5344CB8AC3E}">
        <p14:creationId xmlns:p14="http://schemas.microsoft.com/office/powerpoint/2010/main" val="88208453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152400"/>
            <a:ext cx="7924800" cy="457200"/>
          </a:xfrm>
        </p:spPr>
        <p:txBody>
          <a:bodyPr>
            <a:normAutofit fontScale="90000"/>
          </a:bodyPr>
          <a:lstStyle/>
          <a:p>
            <a:pPr algn="ctr"/>
            <a:r>
              <a:rPr lang="en-US" b="1" dirty="0" smtClean="0">
                <a:latin typeface="Times New Roman" pitchFamily="18" charset="0"/>
                <a:cs typeface="Times New Roman" pitchFamily="18" charset="0"/>
              </a:rPr>
              <a:t>Investment Profile  Angel Investors</a:t>
            </a:r>
            <a:endParaRPr lang="en-US" b="1" dirty="0">
              <a:latin typeface="Times New Roman" pitchFamily="18" charset="0"/>
              <a:cs typeface="Times New Roman" pitchFamily="18" charset="0"/>
            </a:endParaRPr>
          </a:p>
        </p:txBody>
      </p:sp>
      <p:sp>
        <p:nvSpPr>
          <p:cNvPr id="3" name="Content Placeholder 2"/>
          <p:cNvSpPr>
            <a:spLocks noGrp="1"/>
          </p:cNvSpPr>
          <p:nvPr>
            <p:ph idx="1"/>
          </p:nvPr>
        </p:nvSpPr>
        <p:spPr>
          <a:xfrm>
            <a:off x="1066800" y="609600"/>
            <a:ext cx="7924800" cy="6096000"/>
          </a:xfrm>
        </p:spPr>
        <p:style>
          <a:lnRef idx="2">
            <a:schemeClr val="accent4"/>
          </a:lnRef>
          <a:fillRef idx="1">
            <a:schemeClr val="lt1"/>
          </a:fillRef>
          <a:effectRef idx="0">
            <a:schemeClr val="accent4"/>
          </a:effectRef>
          <a:fontRef idx="minor">
            <a:schemeClr val="dk1"/>
          </a:fontRef>
        </p:style>
        <p:txBody>
          <a:bodyPr>
            <a:noAutofit/>
          </a:bodyPr>
          <a:lstStyle/>
          <a:p>
            <a:r>
              <a:rPr lang="en-US" sz="2400" dirty="0" smtClean="0">
                <a:solidFill>
                  <a:srgbClr val="C00000"/>
                </a:solidFill>
                <a:latin typeface="Times New Roman" pitchFamily="18" charset="0"/>
                <a:cs typeface="Times New Roman" pitchFamily="18" charset="0"/>
              </a:rPr>
              <a:t>Investment Profile </a:t>
            </a:r>
          </a:p>
          <a:p>
            <a:pPr algn="just"/>
            <a:r>
              <a:rPr lang="en-US" sz="2400" dirty="0" smtClean="0">
                <a:solidFill>
                  <a:srgbClr val="C00000"/>
                </a:solidFill>
                <a:latin typeface="Times New Roman" pitchFamily="18" charset="0"/>
                <a:cs typeface="Times New Roman" pitchFamily="18" charset="0"/>
              </a:rPr>
              <a:t> </a:t>
            </a:r>
            <a:r>
              <a:rPr lang="en-US" sz="2400" dirty="0" smtClean="0">
                <a:latin typeface="Times New Roman" pitchFamily="18" charset="0"/>
                <a:cs typeface="Times New Roman" pitchFamily="18" charset="0"/>
              </a:rPr>
              <a:t>Angel investments bear extremely high risks  As such, they require a very high return on investment. </a:t>
            </a:r>
          </a:p>
          <a:p>
            <a:pPr algn="just"/>
            <a:r>
              <a:rPr lang="en-US" sz="2400" dirty="0" smtClean="0">
                <a:latin typeface="Times New Roman" pitchFamily="18" charset="0"/>
                <a:cs typeface="Times New Roman" pitchFamily="18" charset="0"/>
              </a:rPr>
              <a:t> A large percentage of angel investments are lost completely when early stage companies fail, professional angel investors seek investments that have the potential to return at least ten or more times their original investment within 5 years, through initial public offering or an acquisition. </a:t>
            </a:r>
          </a:p>
          <a:p>
            <a:pPr algn="just"/>
            <a:r>
              <a:rPr lang="en-US" sz="2400" dirty="0" smtClean="0">
                <a:latin typeface="Times New Roman" pitchFamily="18" charset="0"/>
                <a:cs typeface="Times New Roman" pitchFamily="18" charset="0"/>
              </a:rPr>
              <a:t>Current 'best practices' suggest that angels might do better setting their sights even higher, looking for companies that will have at least the potential to provide a 20x-30x return over a five- to seven-year holding period. </a:t>
            </a:r>
          </a:p>
          <a:p>
            <a:pPr algn="just"/>
            <a:r>
              <a:rPr lang="en-US" sz="2400" dirty="0" smtClean="0">
                <a:latin typeface="Times New Roman" pitchFamily="18" charset="0"/>
                <a:cs typeface="Times New Roman" pitchFamily="18" charset="0"/>
              </a:rPr>
              <a:t> The actual effective internal rate of return for a typical successful portfolio of angel investments is, in reality, typically as 'low' as 20– 30%.</a:t>
            </a:r>
            <a:endParaRPr lang="en-US" sz="24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3592E275-D691-4E5D-BCC6-6858DE38E852}" type="slidenum">
              <a:rPr lang="en-US" smtClean="0"/>
              <a:pPr/>
              <a:t>18</a:t>
            </a:fld>
            <a:endParaRPr lang="en-US"/>
          </a:p>
        </p:txBody>
      </p:sp>
    </p:spTree>
    <p:extLst>
      <p:ext uri="{BB962C8B-B14F-4D97-AF65-F5344CB8AC3E}">
        <p14:creationId xmlns:p14="http://schemas.microsoft.com/office/powerpoint/2010/main" val="115370132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152400"/>
            <a:ext cx="7772400" cy="457200"/>
          </a:xfrm>
        </p:spPr>
        <p:txBody>
          <a:bodyPr>
            <a:normAutofit fontScale="90000"/>
          </a:bodyPr>
          <a:lstStyle/>
          <a:p>
            <a:pPr algn="ctr"/>
            <a:r>
              <a:rPr lang="en-US" b="1" dirty="0" smtClean="0">
                <a:latin typeface="Times New Roman" pitchFamily="18" charset="0"/>
                <a:cs typeface="Times New Roman" pitchFamily="18" charset="0"/>
              </a:rPr>
              <a:t>Venture Capitalists</a:t>
            </a:r>
            <a:br>
              <a:rPr lang="en-US" b="1" dirty="0" smtClean="0">
                <a:latin typeface="Times New Roman" pitchFamily="18" charset="0"/>
                <a:cs typeface="Times New Roman" pitchFamily="18" charset="0"/>
              </a:rPr>
            </a:br>
            <a:endParaRPr lang="en-US" b="1" dirty="0"/>
          </a:p>
        </p:txBody>
      </p:sp>
      <p:sp>
        <p:nvSpPr>
          <p:cNvPr id="3" name="Content Placeholder 2"/>
          <p:cNvSpPr>
            <a:spLocks noGrp="1"/>
          </p:cNvSpPr>
          <p:nvPr>
            <p:ph idx="1"/>
          </p:nvPr>
        </p:nvSpPr>
        <p:spPr>
          <a:xfrm>
            <a:off x="1143000" y="762000"/>
            <a:ext cx="7772399" cy="5867400"/>
          </a:xfrm>
        </p:spPr>
        <p:style>
          <a:lnRef idx="2">
            <a:schemeClr val="accent4"/>
          </a:lnRef>
          <a:fillRef idx="1">
            <a:schemeClr val="lt1"/>
          </a:fillRef>
          <a:effectRef idx="0">
            <a:schemeClr val="accent4"/>
          </a:effectRef>
          <a:fontRef idx="minor">
            <a:schemeClr val="dk1"/>
          </a:fontRef>
        </p:style>
        <p:txBody>
          <a:bodyPr>
            <a:normAutofit fontScale="85000" lnSpcReduction="20000"/>
          </a:bodyPr>
          <a:lstStyle/>
          <a:p>
            <a:r>
              <a:rPr lang="en-US" sz="2600" dirty="0" smtClean="0">
                <a:latin typeface="Times New Roman" pitchFamily="18" charset="0"/>
                <a:cs typeface="Times New Roman" pitchFamily="18" charset="0"/>
              </a:rPr>
              <a:t>They provide capital to young businesses in exchange for an ownership share of the business.</a:t>
            </a:r>
          </a:p>
          <a:p>
            <a:pPr algn="just"/>
            <a:r>
              <a:rPr lang="en-US" sz="2600" dirty="0" smtClean="0">
                <a:latin typeface="Times New Roman" pitchFamily="18" charset="0"/>
                <a:cs typeface="Times New Roman" pitchFamily="18" charset="0"/>
              </a:rPr>
              <a:t>The SEBI defined Venture capital fund in its regulation 1996 as a fund established in the form of a company or trust which raises money through loans, donations, issues of securities of units as the case maybe and makes or proposes to make investments in accordance with regulations.</a:t>
            </a:r>
          </a:p>
          <a:p>
            <a:pPr algn="just"/>
            <a:r>
              <a:rPr lang="en-US" sz="2600" dirty="0" smtClean="0">
                <a:latin typeface="Times New Roman" pitchFamily="18" charset="0"/>
                <a:cs typeface="Times New Roman" pitchFamily="18" charset="0"/>
              </a:rPr>
              <a:t>A venture capitalist is a person or investment firm that makes venture investments and these venture capitalists are expected as well as capital to their investments.</a:t>
            </a:r>
          </a:p>
          <a:p>
            <a:pPr algn="just">
              <a:buNone/>
            </a:pPr>
            <a:endParaRPr lang="en-US" sz="2400" b="1" dirty="0" smtClean="0">
              <a:latin typeface="Times New Roman" pitchFamily="18" charset="0"/>
              <a:cs typeface="Times New Roman" pitchFamily="18" charset="0"/>
            </a:endParaRPr>
          </a:p>
          <a:p>
            <a:pPr algn="just">
              <a:buNone/>
            </a:pPr>
            <a:r>
              <a:rPr lang="en-US" sz="2400" b="1" dirty="0" smtClean="0">
                <a:latin typeface="Times New Roman" pitchFamily="18" charset="0"/>
                <a:cs typeface="Times New Roman" pitchFamily="18" charset="0"/>
              </a:rPr>
              <a:t>Characteristics of VCs </a:t>
            </a:r>
          </a:p>
          <a:p>
            <a:pPr algn="just"/>
            <a:r>
              <a:rPr lang="en-US" sz="2400" dirty="0" smtClean="0">
                <a:latin typeface="Times New Roman" pitchFamily="18" charset="0"/>
                <a:cs typeface="Times New Roman" pitchFamily="18" charset="0"/>
              </a:rPr>
              <a:t> Well managerial skills </a:t>
            </a:r>
          </a:p>
          <a:p>
            <a:pPr algn="just"/>
            <a:r>
              <a:rPr lang="en-US" sz="2400" dirty="0" smtClean="0">
                <a:latin typeface="Times New Roman" pitchFamily="18" charset="0"/>
                <a:cs typeface="Times New Roman" pitchFamily="18" charset="0"/>
              </a:rPr>
              <a:t> Well knowledgeable </a:t>
            </a:r>
          </a:p>
          <a:p>
            <a:pPr algn="just"/>
            <a:r>
              <a:rPr lang="en-US" sz="2400" dirty="0" smtClean="0">
                <a:latin typeface="Times New Roman" pitchFamily="18" charset="0"/>
                <a:cs typeface="Times New Roman" pitchFamily="18" charset="0"/>
              </a:rPr>
              <a:t>Sophisticated investors-Comes forward to take risks </a:t>
            </a:r>
          </a:p>
          <a:p>
            <a:pPr algn="just"/>
            <a:r>
              <a:rPr lang="en-US" sz="2400" dirty="0" smtClean="0">
                <a:latin typeface="Times New Roman" pitchFamily="18" charset="0"/>
                <a:cs typeface="Times New Roman" pitchFamily="18" charset="0"/>
              </a:rPr>
              <a:t> Decision making ability </a:t>
            </a:r>
          </a:p>
          <a:p>
            <a:pPr algn="just"/>
            <a:r>
              <a:rPr lang="en-US" sz="2400" dirty="0" smtClean="0">
                <a:latin typeface="Times New Roman" pitchFamily="18" charset="0"/>
                <a:cs typeface="Times New Roman" pitchFamily="18" charset="0"/>
              </a:rPr>
              <a:t> Analyzing skills</a:t>
            </a:r>
            <a:endParaRPr lang="en-US" sz="24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3592E275-D691-4E5D-BCC6-6858DE38E852}" type="slidenum">
              <a:rPr lang="en-US" smtClean="0"/>
              <a:pPr/>
              <a:t>19</a:t>
            </a:fld>
            <a:endParaRPr lang="en-US"/>
          </a:p>
        </p:txBody>
      </p:sp>
      <p:pic>
        <p:nvPicPr>
          <p:cNvPr id="5" name="Picture Placeholder 1"/>
          <p:cNvPicPr>
            <a:picLocks noChangeAspect="1"/>
          </p:cNvPicPr>
          <p:nvPr/>
        </p:nvPicPr>
        <p:blipFill>
          <a:blip r:embed="rId2">
            <a:extLst>
              <a:ext uri="{28A0092B-C50C-407E-A947-70E740481C1C}">
                <a14:useLocalDpi xmlns:a14="http://schemas.microsoft.com/office/drawing/2010/main" val="0"/>
              </a:ext>
            </a:extLst>
          </a:blip>
          <a:srcRect l="9031" r="9031"/>
          <a:stretch>
            <a:fillRect/>
          </a:stretch>
        </p:blipFill>
        <p:spPr>
          <a:xfrm>
            <a:off x="7467600" y="3657600"/>
            <a:ext cx="1295400" cy="2809107"/>
          </a:xfrm>
          <a:prstGeom prst="rect">
            <a:avLst/>
          </a:prstGeom>
        </p:spPr>
        <p:style>
          <a:lnRef idx="2">
            <a:schemeClr val="accent4"/>
          </a:lnRef>
          <a:fillRef idx="1">
            <a:schemeClr val="lt1"/>
          </a:fillRef>
          <a:effectRef idx="0">
            <a:schemeClr val="accent4"/>
          </a:effectRef>
          <a:fontRef idx="minor">
            <a:schemeClr val="dk1"/>
          </a:fontRef>
        </p:style>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05000" y="228600"/>
            <a:ext cx="6683765" cy="457200"/>
          </a:xfrm>
        </p:spPr>
        <p:txBody>
          <a:bodyPr>
            <a:normAutofit fontScale="90000"/>
          </a:bodyPr>
          <a:lstStyle/>
          <a:p>
            <a:r>
              <a:rPr lang="en-US" sz="3200" b="1" dirty="0" smtClean="0">
                <a:solidFill>
                  <a:schemeClr val="tx1"/>
                </a:solidFill>
                <a:latin typeface="Times New Roman" pitchFamily="18" charset="0"/>
                <a:cs typeface="Times New Roman" pitchFamily="18" charset="0"/>
              </a:rPr>
              <a:t>Services generally provide by VCs</a:t>
            </a:r>
            <a:endParaRPr lang="en-US" sz="3200" b="1" dirty="0">
              <a:solidFill>
                <a:schemeClr val="tx1"/>
              </a:solidFill>
              <a:latin typeface="Times New Roman" pitchFamily="18" charset="0"/>
              <a:cs typeface="Times New Roman" pitchFamily="18" charset="0"/>
            </a:endParaRPr>
          </a:p>
        </p:txBody>
      </p:sp>
      <p:sp>
        <p:nvSpPr>
          <p:cNvPr id="3" name="Content Placeholder 2"/>
          <p:cNvSpPr>
            <a:spLocks noGrp="1"/>
          </p:cNvSpPr>
          <p:nvPr>
            <p:ph idx="1"/>
          </p:nvPr>
        </p:nvSpPr>
        <p:spPr>
          <a:xfrm>
            <a:off x="990600" y="762000"/>
            <a:ext cx="8001000" cy="5867400"/>
          </a:xfrm>
        </p:spPr>
        <p:style>
          <a:lnRef idx="2">
            <a:schemeClr val="accent4"/>
          </a:lnRef>
          <a:fillRef idx="1">
            <a:schemeClr val="lt1"/>
          </a:fillRef>
          <a:effectRef idx="0">
            <a:schemeClr val="accent4"/>
          </a:effectRef>
          <a:fontRef idx="minor">
            <a:schemeClr val="dk1"/>
          </a:fontRef>
        </p:style>
        <p:txBody>
          <a:bodyPr>
            <a:normAutofit/>
          </a:bodyPr>
          <a:lstStyle/>
          <a:p>
            <a:pPr marL="457200" indent="-457200">
              <a:buFont typeface="+mj-lt"/>
              <a:buAutoNum type="arabicPeriod"/>
            </a:pPr>
            <a:r>
              <a:rPr lang="en-US" sz="2400" dirty="0" smtClean="0">
                <a:latin typeface="Times New Roman" pitchFamily="18" charset="0"/>
                <a:cs typeface="Times New Roman" pitchFamily="18" charset="0"/>
              </a:rPr>
              <a:t>Finance to new and rapidly growing firms</a:t>
            </a:r>
          </a:p>
          <a:p>
            <a:pPr marL="457200" indent="-457200">
              <a:buFont typeface="+mj-lt"/>
              <a:buAutoNum type="arabicPeriod"/>
            </a:pPr>
            <a:r>
              <a:rPr lang="en-US" sz="2400" dirty="0" smtClean="0">
                <a:latin typeface="Times New Roman" pitchFamily="18" charset="0"/>
                <a:cs typeface="Times New Roman" pitchFamily="18" charset="0"/>
              </a:rPr>
              <a:t> Finance to typically knowledge based sustainable up scalable companies </a:t>
            </a:r>
          </a:p>
          <a:p>
            <a:pPr marL="457200" indent="-457200">
              <a:buFont typeface="+mj-lt"/>
              <a:buAutoNum type="arabicPeriod"/>
            </a:pPr>
            <a:r>
              <a:rPr lang="en-US" sz="2400" dirty="0" smtClean="0">
                <a:latin typeface="Times New Roman" pitchFamily="18" charset="0"/>
                <a:cs typeface="Times New Roman" pitchFamily="18" charset="0"/>
              </a:rPr>
              <a:t>Purchase equity and quasi equity securities </a:t>
            </a:r>
          </a:p>
          <a:p>
            <a:pPr marL="457200" indent="-457200">
              <a:buFont typeface="+mj-lt"/>
              <a:buAutoNum type="arabicPeriod"/>
            </a:pPr>
            <a:r>
              <a:rPr lang="en-US" sz="2400" dirty="0" smtClean="0">
                <a:latin typeface="Times New Roman" pitchFamily="18" charset="0"/>
                <a:cs typeface="Times New Roman" pitchFamily="18" charset="0"/>
              </a:rPr>
              <a:t>Assist in the development of new products or services </a:t>
            </a:r>
          </a:p>
          <a:p>
            <a:pPr marL="457200" indent="-457200">
              <a:buFont typeface="+mj-lt"/>
              <a:buAutoNum type="arabicPeriod"/>
            </a:pPr>
            <a:r>
              <a:rPr lang="en-US" sz="2400" dirty="0" smtClean="0">
                <a:latin typeface="Times New Roman" pitchFamily="18" charset="0"/>
                <a:cs typeface="Times New Roman" pitchFamily="18" charset="0"/>
              </a:rPr>
              <a:t>Add value to the company through active participation</a:t>
            </a:r>
          </a:p>
          <a:p>
            <a:pPr marL="457200" indent="-457200">
              <a:buNone/>
            </a:pPr>
            <a:endParaRPr lang="en-US" sz="24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3592E275-D691-4E5D-BCC6-6858DE38E852}" type="slidenum">
              <a:rPr lang="en-US" smtClean="0"/>
              <a:pPr/>
              <a:t>20</a:t>
            </a:fld>
            <a:endParaRPr lang="en-US"/>
          </a:p>
        </p:txBody>
      </p:sp>
      <p:graphicFrame>
        <p:nvGraphicFramePr>
          <p:cNvPr id="5" name="Table 4"/>
          <p:cNvGraphicFramePr>
            <a:graphicFrameLocks noGrp="1"/>
          </p:cNvGraphicFramePr>
          <p:nvPr/>
        </p:nvGraphicFramePr>
        <p:xfrm>
          <a:off x="1752600" y="3733800"/>
          <a:ext cx="6096000" cy="2667000"/>
        </p:xfrm>
        <a:graphic>
          <a:graphicData uri="http://schemas.openxmlformats.org/drawingml/2006/table">
            <a:tbl>
              <a:tblPr firstRow="1" bandRow="1">
                <a:tableStyleId>{ED083AE6-46FA-4A59-8FB0-9F97EB10719F}</a:tableStyleId>
              </a:tblPr>
              <a:tblGrid>
                <a:gridCol w="3048000"/>
                <a:gridCol w="3048000"/>
              </a:tblGrid>
              <a:tr h="481541">
                <a:tc>
                  <a:txBody>
                    <a:bodyPr/>
                    <a:lstStyle/>
                    <a:p>
                      <a:r>
                        <a:rPr lang="en-US" sz="2000" b="1" dirty="0" smtClean="0">
                          <a:latin typeface="Times New Roman" pitchFamily="18" charset="0"/>
                          <a:cs typeface="Times New Roman" pitchFamily="18" charset="0"/>
                        </a:rPr>
                        <a:t>Advantages of VC’s</a:t>
                      </a:r>
                      <a:endParaRPr lang="en-US" sz="2000" b="1" dirty="0">
                        <a:latin typeface="Times New Roman" pitchFamily="18" charset="0"/>
                        <a:cs typeface="Times New Roman" pitchFamily="18" charset="0"/>
                      </a:endParaRPr>
                    </a:p>
                  </a:txBody>
                  <a:tcPr/>
                </a:tc>
                <a:tc>
                  <a:txBody>
                    <a:bodyPr/>
                    <a:lstStyle/>
                    <a:p>
                      <a:r>
                        <a:rPr lang="en-US" sz="2000" b="1" dirty="0" smtClean="0">
                          <a:latin typeface="Times New Roman" pitchFamily="18" charset="0"/>
                          <a:cs typeface="Times New Roman" pitchFamily="18" charset="0"/>
                        </a:rPr>
                        <a:t>Dis – Advantages of VC’s</a:t>
                      </a:r>
                      <a:endParaRPr lang="en-US" sz="2000" b="1" dirty="0">
                        <a:latin typeface="Times New Roman" pitchFamily="18" charset="0"/>
                        <a:cs typeface="Times New Roman" pitchFamily="18" charset="0"/>
                      </a:endParaRPr>
                    </a:p>
                  </a:txBody>
                  <a:tcPr/>
                </a:tc>
              </a:tr>
              <a:tr h="851959">
                <a:tc>
                  <a:txBody>
                    <a:bodyPr/>
                    <a:lstStyle/>
                    <a:p>
                      <a:r>
                        <a:rPr lang="en-US" sz="2000" dirty="0" smtClean="0">
                          <a:latin typeface="Times New Roman" pitchFamily="18" charset="0"/>
                          <a:cs typeface="Times New Roman" pitchFamily="18" charset="0"/>
                        </a:rPr>
                        <a:t>Economy Oriented</a:t>
                      </a:r>
                      <a:endParaRPr lang="en-US" sz="2000" dirty="0">
                        <a:latin typeface="Times New Roman" pitchFamily="18" charset="0"/>
                        <a:cs typeface="Times New Roman" pitchFamily="18" charset="0"/>
                      </a:endParaRPr>
                    </a:p>
                  </a:txBody>
                  <a:tcPr/>
                </a:tc>
                <a:tc>
                  <a:txBody>
                    <a:bodyPr/>
                    <a:lstStyle/>
                    <a:p>
                      <a:r>
                        <a:rPr lang="en-US" sz="2000" dirty="0" smtClean="0">
                          <a:latin typeface="Times New Roman" pitchFamily="18" charset="0"/>
                          <a:cs typeface="Times New Roman" pitchFamily="18" charset="0"/>
                        </a:rPr>
                        <a:t>Lengthy and Complex</a:t>
                      </a:r>
                      <a:r>
                        <a:rPr lang="en-US" sz="2000" baseline="0" dirty="0" smtClean="0">
                          <a:latin typeface="Times New Roman" pitchFamily="18" charset="0"/>
                          <a:cs typeface="Times New Roman" pitchFamily="18" charset="0"/>
                        </a:rPr>
                        <a:t> process</a:t>
                      </a:r>
                      <a:endParaRPr lang="en-US" sz="2000" dirty="0">
                        <a:latin typeface="Times New Roman" pitchFamily="18" charset="0"/>
                        <a:cs typeface="Times New Roman" pitchFamily="18" charset="0"/>
                      </a:endParaRPr>
                    </a:p>
                  </a:txBody>
                  <a:tcPr/>
                </a:tc>
              </a:tr>
              <a:tr h="481541">
                <a:tc>
                  <a:txBody>
                    <a:bodyPr/>
                    <a:lstStyle/>
                    <a:p>
                      <a:r>
                        <a:rPr lang="en-US" sz="2000" dirty="0" smtClean="0">
                          <a:latin typeface="Times New Roman" pitchFamily="18" charset="0"/>
                          <a:cs typeface="Times New Roman" pitchFamily="18" charset="0"/>
                        </a:rPr>
                        <a:t>Investor Oriented</a:t>
                      </a:r>
                      <a:endParaRPr lang="en-US" sz="2000" dirty="0">
                        <a:latin typeface="Times New Roman" pitchFamily="18" charset="0"/>
                        <a:cs typeface="Times New Roman" pitchFamily="18" charset="0"/>
                      </a:endParaRPr>
                    </a:p>
                  </a:txBody>
                  <a:tcPr/>
                </a:tc>
                <a:tc>
                  <a:txBody>
                    <a:bodyPr/>
                    <a:lstStyle/>
                    <a:p>
                      <a:r>
                        <a:rPr lang="en-US" sz="2000" dirty="0" smtClean="0">
                          <a:latin typeface="Times New Roman" pitchFamily="18" charset="0"/>
                          <a:cs typeface="Times New Roman" pitchFamily="18" charset="0"/>
                        </a:rPr>
                        <a:t>Deal in the negotiation</a:t>
                      </a:r>
                      <a:endParaRPr lang="en-US" sz="2000" dirty="0">
                        <a:latin typeface="Times New Roman" pitchFamily="18" charset="0"/>
                        <a:cs typeface="Times New Roman" pitchFamily="18" charset="0"/>
                      </a:endParaRPr>
                    </a:p>
                  </a:txBody>
                  <a:tcPr/>
                </a:tc>
              </a:tr>
              <a:tr h="851959">
                <a:tc>
                  <a:txBody>
                    <a:bodyPr/>
                    <a:lstStyle/>
                    <a:p>
                      <a:r>
                        <a:rPr lang="en-US" sz="2000" dirty="0" smtClean="0">
                          <a:latin typeface="Times New Roman" pitchFamily="18" charset="0"/>
                          <a:cs typeface="Times New Roman" pitchFamily="18" charset="0"/>
                        </a:rPr>
                        <a:t>Entrepreneur</a:t>
                      </a:r>
                      <a:r>
                        <a:rPr lang="en-US" sz="2000" baseline="0" dirty="0" smtClean="0">
                          <a:latin typeface="Times New Roman" pitchFamily="18" charset="0"/>
                          <a:cs typeface="Times New Roman" pitchFamily="18" charset="0"/>
                        </a:rPr>
                        <a:t> Oriented</a:t>
                      </a:r>
                      <a:endParaRPr lang="en-US" sz="2000" dirty="0">
                        <a:latin typeface="Times New Roman" pitchFamily="18" charset="0"/>
                        <a:cs typeface="Times New Roman" pitchFamily="18" charset="0"/>
                      </a:endParaRPr>
                    </a:p>
                  </a:txBody>
                  <a:tcPr/>
                </a:tc>
                <a:tc>
                  <a:txBody>
                    <a:bodyPr/>
                    <a:lstStyle/>
                    <a:p>
                      <a:r>
                        <a:rPr lang="en-US" sz="2000" dirty="0" smtClean="0">
                          <a:latin typeface="Times New Roman" pitchFamily="18" charset="0"/>
                          <a:cs typeface="Times New Roman" pitchFamily="18" charset="0"/>
                        </a:rPr>
                        <a:t>Investors becomes parts of owner’s</a:t>
                      </a:r>
                      <a:r>
                        <a:rPr lang="en-US" sz="2000" baseline="0" dirty="0" smtClean="0">
                          <a:latin typeface="Times New Roman" pitchFamily="18" charset="0"/>
                          <a:cs typeface="Times New Roman" pitchFamily="18" charset="0"/>
                        </a:rPr>
                        <a:t> business.</a:t>
                      </a:r>
                      <a:endParaRPr lang="en-US" sz="2000" dirty="0">
                        <a:latin typeface="Times New Roman" pitchFamily="18" charset="0"/>
                        <a:cs typeface="Times New Roman" pitchFamily="18" charset="0"/>
                      </a:endParaRPr>
                    </a:p>
                  </a:txBody>
                  <a:tcPr/>
                </a:tc>
              </a:tr>
            </a:tbl>
          </a:graphicData>
        </a:graphic>
      </p:graphicFrame>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9200" y="152400"/>
            <a:ext cx="7924800" cy="609600"/>
          </a:xfrm>
        </p:spPr>
        <p:txBody>
          <a:bodyPr>
            <a:normAutofit/>
          </a:bodyPr>
          <a:lstStyle/>
          <a:p>
            <a:r>
              <a:rPr lang="en-US" sz="2800" b="1" dirty="0" smtClean="0">
                <a:latin typeface="Times New Roman" pitchFamily="18" charset="0"/>
                <a:cs typeface="Times New Roman" pitchFamily="18" charset="0"/>
              </a:rPr>
              <a:t>The most active Venture Capital Funds in India</a:t>
            </a:r>
            <a:endParaRPr lang="en-US" sz="2800" dirty="0"/>
          </a:p>
        </p:txBody>
      </p:sp>
      <p:sp>
        <p:nvSpPr>
          <p:cNvPr id="4" name="Slide Number Placeholder 3"/>
          <p:cNvSpPr>
            <a:spLocks noGrp="1"/>
          </p:cNvSpPr>
          <p:nvPr>
            <p:ph type="sldNum" sz="quarter" idx="12"/>
          </p:nvPr>
        </p:nvSpPr>
        <p:spPr/>
        <p:txBody>
          <a:bodyPr/>
          <a:lstStyle/>
          <a:p>
            <a:fld id="{3592E275-D691-4E5D-BCC6-6858DE38E852}" type="slidenum">
              <a:rPr lang="en-US" smtClean="0"/>
              <a:pPr/>
              <a:t>21</a:t>
            </a:fld>
            <a:endParaRPr lang="en-US"/>
          </a:p>
        </p:txBody>
      </p:sp>
      <p:pic>
        <p:nvPicPr>
          <p:cNvPr id="5" name="Picture 2"/>
          <p:cNvPicPr>
            <a:picLocks noGrp="1" noChangeAspect="1" noChangeArrowheads="1"/>
          </p:cNvPicPr>
          <p:nvPr>
            <p:ph idx="1"/>
          </p:nvPr>
        </p:nvPicPr>
        <p:blipFill>
          <a:blip r:embed="rId2"/>
          <a:srcRect/>
          <a:stretch>
            <a:fillRect/>
          </a:stretch>
        </p:blipFill>
        <p:spPr bwMode="auto">
          <a:xfrm>
            <a:off x="1219200" y="762000"/>
            <a:ext cx="7696200" cy="5867400"/>
          </a:xfrm>
          <a:prstGeom prst="rect">
            <a:avLst/>
          </a:prstGeom>
          <a:ln>
            <a:headEnd/>
            <a:tailEnd/>
          </a:ln>
        </p:spPr>
        <p:style>
          <a:lnRef idx="2">
            <a:schemeClr val="accent4"/>
          </a:lnRef>
          <a:fillRef idx="1">
            <a:schemeClr val="lt1"/>
          </a:fillRef>
          <a:effectRef idx="0">
            <a:schemeClr val="accent4"/>
          </a:effectRef>
          <a:fontRef idx="minor">
            <a:schemeClr val="dk1"/>
          </a:fontRef>
        </p:style>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9200" y="152400"/>
            <a:ext cx="7696200" cy="914400"/>
          </a:xfrm>
        </p:spPr>
        <p:txBody>
          <a:bodyPr>
            <a:noAutofit/>
          </a:bodyPr>
          <a:lstStyle/>
          <a:p>
            <a:r>
              <a:rPr lang="en-US" sz="3200" b="1" dirty="0" smtClean="0">
                <a:latin typeface="Times New Roman" pitchFamily="18" charset="0"/>
                <a:cs typeface="Times New Roman" pitchFamily="18" charset="0"/>
              </a:rPr>
              <a:t>The most active Venture Capital funds in India</a:t>
            </a:r>
            <a:endParaRPr lang="en-US" sz="3200" dirty="0"/>
          </a:p>
        </p:txBody>
      </p:sp>
      <p:sp>
        <p:nvSpPr>
          <p:cNvPr id="4" name="Slide Number Placeholder 3"/>
          <p:cNvSpPr>
            <a:spLocks noGrp="1"/>
          </p:cNvSpPr>
          <p:nvPr>
            <p:ph type="sldNum" sz="quarter" idx="12"/>
          </p:nvPr>
        </p:nvSpPr>
        <p:spPr/>
        <p:txBody>
          <a:bodyPr/>
          <a:lstStyle/>
          <a:p>
            <a:fld id="{3592E275-D691-4E5D-BCC6-6858DE38E852}" type="slidenum">
              <a:rPr lang="en-US" smtClean="0"/>
              <a:pPr/>
              <a:t>22</a:t>
            </a:fld>
            <a:endParaRPr lang="en-US"/>
          </a:p>
        </p:txBody>
      </p:sp>
      <p:pic>
        <p:nvPicPr>
          <p:cNvPr id="5" name="Picture 2"/>
          <p:cNvPicPr>
            <a:picLocks noGrp="1" noChangeAspect="1" noChangeArrowheads="1"/>
          </p:cNvPicPr>
          <p:nvPr>
            <p:ph idx="1"/>
          </p:nvPr>
        </p:nvPicPr>
        <p:blipFill>
          <a:blip r:embed="rId2"/>
          <a:srcRect/>
          <a:stretch>
            <a:fillRect/>
          </a:stretch>
        </p:blipFill>
        <p:spPr bwMode="auto">
          <a:xfrm>
            <a:off x="1143000" y="1143000"/>
            <a:ext cx="7848599" cy="5562600"/>
          </a:xfrm>
          <a:prstGeom prst="rect">
            <a:avLst/>
          </a:prstGeom>
          <a:ln>
            <a:headEnd/>
            <a:tailEnd/>
          </a:ln>
        </p:spPr>
        <p:style>
          <a:lnRef idx="2">
            <a:schemeClr val="accent4"/>
          </a:lnRef>
          <a:fillRef idx="1">
            <a:schemeClr val="lt1"/>
          </a:fillRef>
          <a:effectRef idx="0">
            <a:schemeClr val="accent4"/>
          </a:effectRef>
          <a:fontRef idx="minor">
            <a:schemeClr val="dk1"/>
          </a:fontRef>
        </p:style>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609600" y="228600"/>
            <a:ext cx="8229600" cy="665162"/>
          </a:xfrm>
          <a:noFill/>
        </p:spPr>
        <p:txBody>
          <a:bodyPr rtlCol="0">
            <a:noAutofit/>
          </a:bodyPr>
          <a:lstStyle/>
          <a:p>
            <a:pPr>
              <a:defRPr/>
            </a:pPr>
            <a:r>
              <a:rPr lang="en-US" sz="3200" b="1" dirty="0" smtClean="0">
                <a:latin typeface="Times New Roman" pitchFamily="18" charset="0"/>
                <a:cs typeface="Times New Roman" pitchFamily="18" charset="0"/>
              </a:rPr>
              <a:t>Venture Capitalists </a:t>
            </a:r>
            <a:r>
              <a:rPr lang="en-US" sz="3200" b="1" dirty="0" smtClean="0">
                <a:latin typeface="Times New Roman" pitchFamily="18" charset="0"/>
                <a:cs typeface="Times New Roman" pitchFamily="18" charset="0"/>
              </a:rPr>
              <a:t>and Angel </a:t>
            </a:r>
            <a:r>
              <a:rPr lang="en-US" sz="3200" b="1" dirty="0" smtClean="0">
                <a:latin typeface="Times New Roman" pitchFamily="18" charset="0"/>
                <a:cs typeface="Times New Roman" pitchFamily="18" charset="0"/>
              </a:rPr>
              <a:t>Investors</a:t>
            </a:r>
          </a:p>
        </p:txBody>
      </p:sp>
      <p:sp>
        <p:nvSpPr>
          <p:cNvPr id="4" name="Content Placeholder 3"/>
          <p:cNvSpPr>
            <a:spLocks noGrp="1"/>
          </p:cNvSpPr>
          <p:nvPr>
            <p:ph idx="1"/>
          </p:nvPr>
        </p:nvSpPr>
        <p:spPr>
          <a:xfrm>
            <a:off x="457200" y="1295400"/>
            <a:ext cx="8229600" cy="4648200"/>
          </a:xfrm>
        </p:spPr>
        <p:txBody>
          <a:bodyPr>
            <a:noAutofit/>
          </a:bodyPr>
          <a:lstStyle/>
          <a:p>
            <a:pPr>
              <a:buClr>
                <a:schemeClr val="tx1"/>
              </a:buClr>
            </a:pPr>
            <a:endParaRPr lang="en-US" sz="2000" b="1" dirty="0" smtClean="0">
              <a:latin typeface="Times New Roman" pitchFamily="18" charset="0"/>
              <a:cs typeface="Times New Roman" pitchFamily="18" charset="0"/>
            </a:endParaRPr>
          </a:p>
          <a:p>
            <a:pPr lvl="2">
              <a:buClr>
                <a:schemeClr val="tx1"/>
              </a:buClr>
              <a:buFont typeface="Wingdings" pitchFamily="2" charset="2"/>
              <a:buChar char="Ø"/>
            </a:pPr>
            <a:endParaRPr lang="en-US" sz="2000" dirty="0" smtClean="0">
              <a:latin typeface="Times New Roman" pitchFamily="18" charset="0"/>
              <a:cs typeface="Times New Roman" pitchFamily="18" charset="0"/>
            </a:endParaRPr>
          </a:p>
          <a:p>
            <a:pPr>
              <a:buClr>
                <a:schemeClr val="tx1"/>
              </a:buClr>
            </a:pPr>
            <a:endParaRPr lang="en-US" sz="2000" dirty="0" smtClean="0">
              <a:latin typeface="Times New Roman" pitchFamily="18" charset="0"/>
              <a:cs typeface="Times New Roman" pitchFamily="18" charset="0"/>
            </a:endParaRPr>
          </a:p>
          <a:p>
            <a:pPr>
              <a:buClr>
                <a:schemeClr val="tx1"/>
              </a:buClr>
            </a:pPr>
            <a:endParaRPr lang="en-US" sz="2000" dirty="0" smtClean="0">
              <a:latin typeface="Times New Roman" pitchFamily="18" charset="0"/>
              <a:cs typeface="Times New Roman" pitchFamily="18" charset="0"/>
            </a:endParaRPr>
          </a:p>
        </p:txBody>
      </p:sp>
      <p:graphicFrame>
        <p:nvGraphicFramePr>
          <p:cNvPr id="5" name="Table 4"/>
          <p:cNvGraphicFramePr>
            <a:graphicFrameLocks noGrp="1"/>
          </p:cNvGraphicFramePr>
          <p:nvPr>
            <p:extLst>
              <p:ext uri="{D42A27DB-BD31-4B8C-83A1-F6EECF244321}">
                <p14:modId xmlns:p14="http://schemas.microsoft.com/office/powerpoint/2010/main" val="3321782008"/>
              </p:ext>
            </p:extLst>
          </p:nvPr>
        </p:nvGraphicFramePr>
        <p:xfrm>
          <a:off x="1295400" y="914400"/>
          <a:ext cx="6858000" cy="5455920"/>
        </p:xfrm>
        <a:graphic>
          <a:graphicData uri="http://schemas.openxmlformats.org/drawingml/2006/table">
            <a:tbl>
              <a:tblPr firstRow="1" bandRow="1">
                <a:tableStyleId>{5C22544A-7EE6-4342-B048-85BDC9FD1C3A}</a:tableStyleId>
              </a:tblPr>
              <a:tblGrid>
                <a:gridCol w="771525"/>
                <a:gridCol w="3800475"/>
                <a:gridCol w="2286000"/>
              </a:tblGrid>
              <a:tr h="318565">
                <a:tc>
                  <a:txBody>
                    <a:bodyPr/>
                    <a:lstStyle/>
                    <a:p>
                      <a:r>
                        <a:rPr lang="en-US" b="1" dirty="0" err="1" smtClean="0">
                          <a:solidFill>
                            <a:schemeClr val="tx1"/>
                          </a:solidFill>
                          <a:latin typeface="Times New Roman" pitchFamily="18" charset="0"/>
                          <a:cs typeface="Times New Roman" pitchFamily="18" charset="0"/>
                        </a:rPr>
                        <a:t>S.No</a:t>
                      </a:r>
                      <a:endParaRPr lang="en-US" b="1" dirty="0">
                        <a:solidFill>
                          <a:schemeClr val="tx1"/>
                        </a:solidFill>
                        <a:latin typeface="Times New Roman" pitchFamily="18" charset="0"/>
                        <a:cs typeface="Times New Roman" pitchFamily="18" charset="0"/>
                      </a:endParaRPr>
                    </a:p>
                  </a:txBody>
                  <a:tcPr/>
                </a:tc>
                <a:tc>
                  <a:txBody>
                    <a:bodyPr/>
                    <a:lstStyle/>
                    <a:p>
                      <a:r>
                        <a:rPr lang="en-US" b="1" dirty="0" smtClean="0">
                          <a:solidFill>
                            <a:schemeClr val="tx1"/>
                          </a:solidFill>
                          <a:latin typeface="Times New Roman" pitchFamily="18" charset="0"/>
                          <a:cs typeface="Times New Roman" pitchFamily="18" charset="0"/>
                        </a:rPr>
                        <a:t>Venture Capitalists</a:t>
                      </a:r>
                      <a:endParaRPr lang="en-US" b="1" dirty="0">
                        <a:solidFill>
                          <a:schemeClr val="tx1"/>
                        </a:solidFill>
                        <a:latin typeface="Times New Roman" pitchFamily="18" charset="0"/>
                        <a:cs typeface="Times New Roman" pitchFamily="18" charset="0"/>
                      </a:endParaRPr>
                    </a:p>
                  </a:txBody>
                  <a:tcPr/>
                </a:tc>
                <a:tc>
                  <a:txBody>
                    <a:bodyPr/>
                    <a:lstStyle/>
                    <a:p>
                      <a:r>
                        <a:rPr lang="en-US" b="1" dirty="0" smtClean="0">
                          <a:solidFill>
                            <a:schemeClr val="tx1"/>
                          </a:solidFill>
                          <a:latin typeface="Times New Roman" pitchFamily="18" charset="0"/>
                          <a:cs typeface="Times New Roman" pitchFamily="18" charset="0"/>
                        </a:rPr>
                        <a:t>Angel Investors</a:t>
                      </a:r>
                      <a:endParaRPr lang="en-US" b="1" dirty="0">
                        <a:solidFill>
                          <a:schemeClr val="tx1"/>
                        </a:solidFill>
                        <a:latin typeface="Times New Roman" pitchFamily="18" charset="0"/>
                        <a:cs typeface="Times New Roman" pitchFamily="18" charset="0"/>
                      </a:endParaRPr>
                    </a:p>
                  </a:txBody>
                  <a:tcPr/>
                </a:tc>
              </a:tr>
              <a:tr h="504395">
                <a:tc>
                  <a:txBody>
                    <a:bodyPr/>
                    <a:lstStyle/>
                    <a:p>
                      <a:r>
                        <a:rPr lang="en-US" sz="1600" dirty="0" smtClean="0">
                          <a:latin typeface="Times New Roman" pitchFamily="18" charset="0"/>
                          <a:cs typeface="Times New Roman" pitchFamily="18" charset="0"/>
                        </a:rPr>
                        <a:t>1.</a:t>
                      </a:r>
                      <a:endParaRPr lang="en-US" sz="1600" dirty="0">
                        <a:latin typeface="Times New Roman" pitchFamily="18" charset="0"/>
                        <a:cs typeface="Times New Roman"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b="0" i="0" kern="1200" dirty="0" smtClean="0">
                          <a:solidFill>
                            <a:schemeClr val="dk1"/>
                          </a:solidFill>
                          <a:latin typeface="Times New Roman" pitchFamily="18" charset="0"/>
                          <a:ea typeface="+mn-ea"/>
                          <a:cs typeface="Times New Roman" pitchFamily="18" charset="0"/>
                        </a:rPr>
                        <a:t>A company or business rather than an individual</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b="0" i="0" kern="1200" dirty="0" smtClean="0">
                          <a:solidFill>
                            <a:schemeClr val="dk1"/>
                          </a:solidFill>
                          <a:latin typeface="Times New Roman" pitchFamily="18" charset="0"/>
                          <a:ea typeface="+mn-ea"/>
                          <a:cs typeface="Times New Roman" pitchFamily="18" charset="0"/>
                        </a:rPr>
                        <a:t>An individual investor</a:t>
                      </a:r>
                    </a:p>
                  </a:txBody>
                  <a:tcPr/>
                </a:tc>
              </a:tr>
              <a:tr h="929148">
                <a:tc>
                  <a:txBody>
                    <a:bodyPr/>
                    <a:lstStyle/>
                    <a:p>
                      <a:r>
                        <a:rPr lang="en-US" sz="1600" dirty="0" smtClean="0">
                          <a:latin typeface="Times New Roman" pitchFamily="18" charset="0"/>
                          <a:cs typeface="Times New Roman" pitchFamily="18" charset="0"/>
                        </a:rPr>
                        <a:t>2.</a:t>
                      </a:r>
                      <a:endParaRPr lang="en-US" sz="1600" dirty="0">
                        <a:latin typeface="Times New Roman" pitchFamily="18" charset="0"/>
                        <a:cs typeface="Times New Roman"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b="0" i="0" kern="1200" dirty="0" smtClean="0">
                          <a:solidFill>
                            <a:schemeClr val="dk1"/>
                          </a:solidFill>
                          <a:latin typeface="Times New Roman" pitchFamily="18" charset="0"/>
                          <a:ea typeface="+mn-ea"/>
                          <a:cs typeface="Times New Roman" pitchFamily="18" charset="0"/>
                        </a:rPr>
                        <a:t>Seldom interested in early-stage, unless compelling reasons (</a:t>
                      </a:r>
                      <a:r>
                        <a:rPr lang="en-US" sz="1600" b="0" i="0" kern="1200" dirty="0" err="1" smtClean="0">
                          <a:solidFill>
                            <a:schemeClr val="dk1"/>
                          </a:solidFill>
                          <a:latin typeface="Times New Roman" pitchFamily="18" charset="0"/>
                          <a:ea typeface="+mn-ea"/>
                          <a:cs typeface="Times New Roman" pitchFamily="18" charset="0"/>
                        </a:rPr>
                        <a:t>eg</a:t>
                      </a:r>
                      <a:r>
                        <a:rPr lang="en-US" sz="1600" b="0" i="0" kern="1200" dirty="0" smtClean="0">
                          <a:solidFill>
                            <a:schemeClr val="dk1"/>
                          </a:solidFill>
                          <a:latin typeface="Times New Roman" pitchFamily="18" charset="0"/>
                          <a:ea typeface="+mn-ea"/>
                          <a:cs typeface="Times New Roman" pitchFamily="18" charset="0"/>
                        </a:rPr>
                        <a:t>. high tech with already successful founders)</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b="0" i="0" kern="1200" dirty="0" smtClean="0">
                          <a:solidFill>
                            <a:schemeClr val="dk1"/>
                          </a:solidFill>
                          <a:latin typeface="Times New Roman" pitchFamily="18" charset="0"/>
                          <a:ea typeface="+mn-ea"/>
                          <a:cs typeface="Times New Roman" pitchFamily="18" charset="0"/>
                        </a:rPr>
                        <a:t>May be willing to invest in early-stage or start-up businesses, as well as established companies</a:t>
                      </a:r>
                    </a:p>
                  </a:txBody>
                  <a:tcPr/>
                </a:tc>
              </a:tr>
              <a:tr h="929148">
                <a:tc>
                  <a:txBody>
                    <a:bodyPr/>
                    <a:lstStyle/>
                    <a:p>
                      <a:r>
                        <a:rPr lang="en-US" sz="1600" dirty="0" smtClean="0">
                          <a:latin typeface="Times New Roman" pitchFamily="18" charset="0"/>
                          <a:cs typeface="Times New Roman" pitchFamily="18" charset="0"/>
                        </a:rPr>
                        <a:t>3.</a:t>
                      </a:r>
                      <a:endParaRPr lang="en-US" sz="1600" dirty="0">
                        <a:latin typeface="Times New Roman" pitchFamily="18" charset="0"/>
                        <a:cs typeface="Times New Roman"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b="0" i="0" kern="1200" dirty="0" smtClean="0">
                          <a:solidFill>
                            <a:schemeClr val="dk1"/>
                          </a:solidFill>
                          <a:latin typeface="Times New Roman" pitchFamily="18" charset="0"/>
                          <a:ea typeface="+mn-ea"/>
                          <a:cs typeface="Times New Roman" pitchFamily="18" charset="0"/>
                        </a:rPr>
                        <a:t>Investment amounts: More than £1 Million</a:t>
                      </a:r>
                      <a:endParaRPr lang="en-US" sz="1600" dirty="0">
                        <a:latin typeface="Times New Roman" pitchFamily="18" charset="0"/>
                        <a:cs typeface="Times New Roman"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b="0" i="0" kern="1200" dirty="0" smtClean="0">
                          <a:solidFill>
                            <a:schemeClr val="dk1"/>
                          </a:solidFill>
                          <a:latin typeface="Times New Roman" pitchFamily="18" charset="0"/>
                          <a:ea typeface="+mn-ea"/>
                          <a:cs typeface="Times New Roman" pitchFamily="18" charset="0"/>
                        </a:rPr>
                        <a:t>Investment amounts: £</a:t>
                      </a:r>
                      <a:r>
                        <a:rPr lang="en-US" sz="1600" b="0" i="0" kern="1200" dirty="0" err="1" smtClean="0">
                          <a:solidFill>
                            <a:schemeClr val="dk1"/>
                          </a:solidFill>
                          <a:latin typeface="Times New Roman" pitchFamily="18" charset="0"/>
                          <a:ea typeface="+mn-ea"/>
                          <a:cs typeface="Times New Roman" pitchFamily="18" charset="0"/>
                        </a:rPr>
                        <a:t>10k</a:t>
                      </a:r>
                      <a:r>
                        <a:rPr lang="en-US" sz="1600" b="0" i="0" kern="1200" dirty="0" smtClean="0">
                          <a:solidFill>
                            <a:schemeClr val="dk1"/>
                          </a:solidFill>
                          <a:latin typeface="Times New Roman" pitchFamily="18" charset="0"/>
                          <a:ea typeface="+mn-ea"/>
                          <a:cs typeface="Times New Roman" pitchFamily="18" charset="0"/>
                        </a:rPr>
                        <a:t> - £</a:t>
                      </a:r>
                      <a:r>
                        <a:rPr lang="en-US" sz="1600" b="0" i="0" kern="1200" dirty="0" err="1" smtClean="0">
                          <a:solidFill>
                            <a:schemeClr val="dk1"/>
                          </a:solidFill>
                          <a:latin typeface="Times New Roman" pitchFamily="18" charset="0"/>
                          <a:ea typeface="+mn-ea"/>
                          <a:cs typeface="Times New Roman" pitchFamily="18" charset="0"/>
                        </a:rPr>
                        <a:t>100k</a:t>
                      </a:r>
                      <a:r>
                        <a:rPr lang="en-US" sz="1600" b="0" i="0" kern="1200" dirty="0" smtClean="0">
                          <a:solidFill>
                            <a:schemeClr val="dk1"/>
                          </a:solidFill>
                          <a:latin typeface="Times New Roman" pitchFamily="18" charset="0"/>
                          <a:ea typeface="+mn-ea"/>
                          <a:cs typeface="Times New Roman" pitchFamily="18" charset="0"/>
                        </a:rPr>
                        <a:t>, sometimes a bit more, groups could go up to £</a:t>
                      </a:r>
                      <a:r>
                        <a:rPr lang="en-US" sz="1600" b="0" i="0" kern="1200" dirty="0" err="1" smtClean="0">
                          <a:solidFill>
                            <a:schemeClr val="dk1"/>
                          </a:solidFill>
                          <a:latin typeface="Times New Roman" pitchFamily="18" charset="0"/>
                          <a:ea typeface="+mn-ea"/>
                          <a:cs typeface="Times New Roman" pitchFamily="18" charset="0"/>
                        </a:rPr>
                        <a:t>1m</a:t>
                      </a:r>
                      <a:endParaRPr lang="en-US" sz="1600" b="0" i="0" kern="1200" dirty="0" smtClean="0">
                        <a:solidFill>
                          <a:schemeClr val="dk1"/>
                        </a:solidFill>
                        <a:latin typeface="Times New Roman" pitchFamily="18" charset="0"/>
                        <a:ea typeface="+mn-ea"/>
                        <a:cs typeface="Times New Roman" pitchFamily="18" charset="0"/>
                      </a:endParaRPr>
                    </a:p>
                  </a:txBody>
                  <a:tcPr/>
                </a:tc>
              </a:tr>
              <a:tr h="504395">
                <a:tc>
                  <a:txBody>
                    <a:bodyPr/>
                    <a:lstStyle/>
                    <a:p>
                      <a:r>
                        <a:rPr lang="en-US" sz="1600" dirty="0" smtClean="0">
                          <a:latin typeface="Times New Roman" pitchFamily="18" charset="0"/>
                          <a:cs typeface="Times New Roman" pitchFamily="18" charset="0"/>
                        </a:rPr>
                        <a:t>4.</a:t>
                      </a:r>
                      <a:endParaRPr lang="en-US" sz="1600" dirty="0">
                        <a:latin typeface="Times New Roman" pitchFamily="18" charset="0"/>
                        <a:cs typeface="Times New Roman"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b="0" i="0" kern="1200" dirty="0" smtClean="0">
                          <a:solidFill>
                            <a:schemeClr val="dk1"/>
                          </a:solidFill>
                          <a:latin typeface="Times New Roman" pitchFamily="18" charset="0"/>
                          <a:ea typeface="+mn-ea"/>
                          <a:cs typeface="Times New Roman" pitchFamily="18" charset="0"/>
                        </a:rPr>
                        <a:t>Invest in more mature and larger corporations and usually prefer to invest in companies that have established themselves and are looking for further investments to grow.</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b="0" i="0" kern="1200" dirty="0" smtClean="0">
                          <a:solidFill>
                            <a:schemeClr val="dk1"/>
                          </a:solidFill>
                          <a:latin typeface="Times New Roman" pitchFamily="18" charset="0"/>
                          <a:ea typeface="+mn-ea"/>
                          <a:cs typeface="Times New Roman" pitchFamily="18" charset="0"/>
                        </a:rPr>
                        <a:t>Angel investors usually invest in smaller startups with promising future outcomes.</a:t>
                      </a:r>
                    </a:p>
                  </a:txBody>
                  <a:tcPr/>
                </a:tc>
              </a:tr>
              <a:tr h="929148">
                <a:tc>
                  <a:txBody>
                    <a:bodyPr/>
                    <a:lstStyle/>
                    <a:p>
                      <a:r>
                        <a:rPr lang="en-US" sz="1600" dirty="0" smtClean="0">
                          <a:latin typeface="Times New Roman" pitchFamily="18" charset="0"/>
                          <a:cs typeface="Times New Roman" pitchFamily="18" charset="0"/>
                        </a:rPr>
                        <a:t>5.</a:t>
                      </a:r>
                      <a:endParaRPr lang="en-US" sz="1600" dirty="0">
                        <a:latin typeface="Times New Roman" pitchFamily="18" charset="0"/>
                        <a:cs typeface="Times New Roman"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b="0" i="0" kern="1200" dirty="0" smtClean="0">
                          <a:solidFill>
                            <a:schemeClr val="dk1"/>
                          </a:solidFill>
                          <a:latin typeface="Times New Roman" pitchFamily="18" charset="0"/>
                          <a:ea typeface="+mn-ea"/>
                          <a:cs typeface="Times New Roman" pitchFamily="18" charset="0"/>
                        </a:rPr>
                        <a:t>Require seat on board</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600" b="0" i="0" kern="1200" dirty="0" smtClean="0">
                        <a:solidFill>
                          <a:schemeClr val="dk1"/>
                        </a:solidFill>
                        <a:latin typeface="Times New Roman" pitchFamily="18" charset="0"/>
                        <a:ea typeface="+mn-ea"/>
                        <a:cs typeface="Times New Roman" pitchFamily="18" charset="0"/>
                      </a:endParaRPr>
                    </a:p>
                  </a:txBody>
                  <a:tcPr/>
                </a:tc>
                <a:tc>
                  <a:txBody>
                    <a:bodyPr/>
                    <a:lstStyle/>
                    <a:p>
                      <a:r>
                        <a:rPr lang="en-US" sz="1600" b="0" i="0" kern="1200" dirty="0" smtClean="0">
                          <a:solidFill>
                            <a:schemeClr val="dk1"/>
                          </a:solidFill>
                          <a:latin typeface="Times New Roman" pitchFamily="18" charset="0"/>
                          <a:ea typeface="+mn-ea"/>
                          <a:cs typeface="Times New Roman" pitchFamily="18" charset="0"/>
                        </a:rPr>
                        <a:t>May be willing to be "hands-off" or "hands-on" adding important skills</a:t>
                      </a:r>
                    </a:p>
                  </a:txBody>
                  <a:tcPr/>
                </a:tc>
              </a:tr>
            </a:tbl>
          </a:graphicData>
        </a:graphic>
      </p:graphicFrame>
    </p:spTree>
    <p:extLst>
      <p:ext uri="{BB962C8B-B14F-4D97-AF65-F5344CB8AC3E}">
        <p14:creationId xmlns:p14="http://schemas.microsoft.com/office/powerpoint/2010/main" val="3809474198"/>
      </p:ext>
    </p:extLst>
  </p:cSld>
  <p:clrMapOvr>
    <a:masterClrMapping/>
  </p:clrMapOv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152400"/>
            <a:ext cx="7543800" cy="595090"/>
          </a:xfrm>
        </p:spPr>
        <p:txBody>
          <a:bodyPr>
            <a:normAutofit fontScale="90000"/>
          </a:bodyPr>
          <a:lstStyle/>
          <a:p>
            <a:pPr algn="ctr"/>
            <a:r>
              <a:rPr lang="en-US" b="1" dirty="0" smtClean="0">
                <a:latin typeface="Times New Roman" pitchFamily="18" charset="0"/>
                <a:cs typeface="Times New Roman" pitchFamily="18" charset="0"/>
              </a:rPr>
              <a:t>Incubators</a:t>
            </a:r>
            <a:endParaRPr lang="en-US" b="1" dirty="0"/>
          </a:p>
        </p:txBody>
      </p:sp>
      <p:sp>
        <p:nvSpPr>
          <p:cNvPr id="3" name="Content Placeholder 2"/>
          <p:cNvSpPr>
            <a:spLocks noGrp="1"/>
          </p:cNvSpPr>
          <p:nvPr>
            <p:ph idx="1"/>
          </p:nvPr>
        </p:nvSpPr>
        <p:spPr>
          <a:xfrm>
            <a:off x="990600" y="762000"/>
            <a:ext cx="8001000" cy="5943600"/>
          </a:xfrm>
        </p:spPr>
        <p:style>
          <a:lnRef idx="2">
            <a:schemeClr val="accent4"/>
          </a:lnRef>
          <a:fillRef idx="1">
            <a:schemeClr val="lt1"/>
          </a:fillRef>
          <a:effectRef idx="0">
            <a:schemeClr val="accent4"/>
          </a:effectRef>
          <a:fontRef idx="minor">
            <a:schemeClr val="dk1"/>
          </a:fontRef>
        </p:style>
        <p:txBody>
          <a:bodyPr>
            <a:normAutofit lnSpcReduction="10000"/>
          </a:bodyPr>
          <a:lstStyle/>
          <a:p>
            <a:r>
              <a:rPr lang="en-US" sz="2200" dirty="0" smtClean="0">
                <a:latin typeface="Times New Roman" pitchFamily="18" charset="0"/>
                <a:cs typeface="Times New Roman" pitchFamily="18" charset="0"/>
              </a:rPr>
              <a:t>Incubators </a:t>
            </a:r>
            <a:r>
              <a:rPr lang="en-US" sz="2200" dirty="0">
                <a:latin typeface="Times New Roman" pitchFamily="18" charset="0"/>
                <a:cs typeface="Times New Roman" pitchFamily="18" charset="0"/>
              </a:rPr>
              <a:t>are an organization, platform or team of experienced professionals that helps startups bootstrap during its early stages and often provides mentoring, guidance, co-working space and also at times some funding. </a:t>
            </a:r>
            <a:endParaRPr lang="en-US" sz="2200" dirty="0" smtClean="0">
              <a:latin typeface="Times New Roman" pitchFamily="18" charset="0"/>
              <a:cs typeface="Times New Roman" pitchFamily="18" charset="0"/>
            </a:endParaRPr>
          </a:p>
          <a:p>
            <a:r>
              <a:rPr lang="en-US" sz="2200" dirty="0" smtClean="0">
                <a:latin typeface="Times New Roman" pitchFamily="18" charset="0"/>
                <a:cs typeface="Times New Roman" pitchFamily="18" charset="0"/>
              </a:rPr>
              <a:t>Traditionally </a:t>
            </a:r>
            <a:r>
              <a:rPr lang="en-US" sz="2200" dirty="0">
                <a:latin typeface="Times New Roman" pitchFamily="18" charset="0"/>
                <a:cs typeface="Times New Roman" pitchFamily="18" charset="0"/>
              </a:rPr>
              <a:t>incubators are the first port of call for any budding entrepreneur. </a:t>
            </a:r>
            <a:endParaRPr lang="en-US" sz="2200" dirty="0" smtClean="0">
              <a:latin typeface="Times New Roman" pitchFamily="18" charset="0"/>
              <a:cs typeface="Times New Roman" pitchFamily="18" charset="0"/>
            </a:endParaRPr>
          </a:p>
          <a:p>
            <a:r>
              <a:rPr lang="en-US" sz="2200" dirty="0" smtClean="0">
                <a:latin typeface="Times New Roman" pitchFamily="18" charset="0"/>
                <a:cs typeface="Times New Roman" pitchFamily="18" charset="0"/>
              </a:rPr>
              <a:t>Incubators </a:t>
            </a:r>
            <a:r>
              <a:rPr lang="en-US" sz="2200" dirty="0">
                <a:latin typeface="Times New Roman" pitchFamily="18" charset="0"/>
                <a:cs typeface="Times New Roman" pitchFamily="18" charset="0"/>
              </a:rPr>
              <a:t>work on the same age old principles of providing the right assistance to fledging startups, but have proved to be a very important cog in the startup wheel</a:t>
            </a:r>
            <a:r>
              <a:rPr lang="en-US" sz="2200" dirty="0" smtClean="0">
                <a:latin typeface="Times New Roman" pitchFamily="18" charset="0"/>
                <a:cs typeface="Times New Roman" pitchFamily="18" charset="0"/>
              </a:rPr>
              <a:t>.</a:t>
            </a:r>
          </a:p>
          <a:p>
            <a:r>
              <a:rPr lang="en-US" sz="2200" dirty="0">
                <a:latin typeface="Times New Roman" pitchFamily="18" charset="0"/>
                <a:cs typeface="Times New Roman" pitchFamily="18" charset="0"/>
              </a:rPr>
              <a:t>Starting up needs active guidance, mentoring and a considerable amount of hand holding, something that an incubator can provide. </a:t>
            </a:r>
            <a:endParaRPr lang="en-US" sz="2200" dirty="0" smtClean="0">
              <a:latin typeface="Times New Roman" pitchFamily="18" charset="0"/>
              <a:cs typeface="Times New Roman" pitchFamily="18" charset="0"/>
            </a:endParaRPr>
          </a:p>
          <a:p>
            <a:r>
              <a:rPr lang="en-US" sz="2200" dirty="0" smtClean="0">
                <a:latin typeface="Times New Roman" pitchFamily="18" charset="0"/>
                <a:cs typeface="Times New Roman" pitchFamily="18" charset="0"/>
              </a:rPr>
              <a:t>Experienced </a:t>
            </a:r>
            <a:r>
              <a:rPr lang="en-US" sz="2200" dirty="0">
                <a:latin typeface="Times New Roman" pitchFamily="18" charset="0"/>
                <a:cs typeface="Times New Roman" pitchFamily="18" charset="0"/>
              </a:rPr>
              <a:t>professionals and people who have been through the startup process often provide invaluable help and guidance</a:t>
            </a:r>
            <a:r>
              <a:rPr lang="en-US" sz="2200" dirty="0" smtClean="0">
                <a:latin typeface="Times New Roman" pitchFamily="18" charset="0"/>
                <a:cs typeface="Times New Roman" pitchFamily="18" charset="0"/>
              </a:rPr>
              <a:t>.</a:t>
            </a:r>
          </a:p>
          <a:p>
            <a:r>
              <a:rPr lang="en-US" sz="2200" dirty="0">
                <a:latin typeface="Times New Roman" pitchFamily="18" charset="0"/>
                <a:cs typeface="Times New Roman" pitchFamily="18" charset="0"/>
              </a:rPr>
              <a:t>For an early stage startup still in its bootstrapping phase, incubators make perfect sense.</a:t>
            </a:r>
            <a:br>
              <a:rPr lang="en-US" sz="2200" dirty="0">
                <a:latin typeface="Times New Roman" pitchFamily="18" charset="0"/>
                <a:cs typeface="Times New Roman" pitchFamily="18" charset="0"/>
              </a:rPr>
            </a:br>
            <a:r>
              <a:rPr lang="en-US" sz="2200" dirty="0">
                <a:latin typeface="Times New Roman" pitchFamily="18" charset="0"/>
                <a:cs typeface="Times New Roman" pitchFamily="18" charset="0"/>
              </a:rPr>
              <a:t/>
            </a:r>
            <a:br>
              <a:rPr lang="en-US" sz="2200" dirty="0">
                <a:latin typeface="Times New Roman" pitchFamily="18" charset="0"/>
                <a:cs typeface="Times New Roman" pitchFamily="18" charset="0"/>
              </a:rPr>
            </a:br>
            <a:endParaRPr lang="en-US" sz="22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3592E275-D691-4E5D-BCC6-6858DE38E852}" type="slidenum">
              <a:rPr lang="en-US" smtClean="0"/>
              <a:pPr/>
              <a:t>24</a:t>
            </a:fld>
            <a:endParaRPr lang="en-US"/>
          </a:p>
        </p:txBody>
      </p:sp>
    </p:spTree>
    <p:extLst>
      <p:ext uri="{BB962C8B-B14F-4D97-AF65-F5344CB8AC3E}">
        <p14:creationId xmlns:p14="http://schemas.microsoft.com/office/powerpoint/2010/main" val="702799619"/>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152400"/>
            <a:ext cx="7543800" cy="595090"/>
          </a:xfrm>
        </p:spPr>
        <p:txBody>
          <a:bodyPr>
            <a:normAutofit fontScale="90000"/>
          </a:bodyPr>
          <a:lstStyle/>
          <a:p>
            <a:pPr algn="ctr"/>
            <a:r>
              <a:rPr lang="en-US" b="1" dirty="0" smtClean="0">
                <a:latin typeface="Times New Roman" pitchFamily="18" charset="0"/>
                <a:cs typeface="Times New Roman" pitchFamily="18" charset="0"/>
              </a:rPr>
              <a:t>Advantages of Incubators</a:t>
            </a:r>
            <a:endParaRPr lang="en-US" b="1" dirty="0"/>
          </a:p>
        </p:txBody>
      </p:sp>
      <p:sp>
        <p:nvSpPr>
          <p:cNvPr id="3" name="Content Placeholder 2"/>
          <p:cNvSpPr>
            <a:spLocks noGrp="1"/>
          </p:cNvSpPr>
          <p:nvPr>
            <p:ph idx="1"/>
          </p:nvPr>
        </p:nvSpPr>
        <p:spPr>
          <a:xfrm>
            <a:off x="990600" y="762000"/>
            <a:ext cx="8001000" cy="5943600"/>
          </a:xfrm>
        </p:spPr>
        <p:style>
          <a:lnRef idx="2">
            <a:schemeClr val="accent4"/>
          </a:lnRef>
          <a:fillRef idx="1">
            <a:schemeClr val="lt1"/>
          </a:fillRef>
          <a:effectRef idx="0">
            <a:schemeClr val="accent4"/>
          </a:effectRef>
          <a:fontRef idx="minor">
            <a:schemeClr val="dk1"/>
          </a:fontRef>
        </p:style>
        <p:txBody>
          <a:bodyPr>
            <a:normAutofit fontScale="92500" lnSpcReduction="10000"/>
          </a:bodyPr>
          <a:lstStyle/>
          <a:p>
            <a:r>
              <a:rPr lang="en-US" sz="2200" b="1" dirty="0" smtClean="0">
                <a:latin typeface="Times New Roman" pitchFamily="18" charset="0"/>
                <a:cs typeface="Times New Roman" pitchFamily="18" charset="0"/>
              </a:rPr>
              <a:t>Validation </a:t>
            </a:r>
            <a:r>
              <a:rPr lang="en-US" sz="2200" b="1" dirty="0">
                <a:latin typeface="Times New Roman" pitchFamily="18" charset="0"/>
                <a:cs typeface="Times New Roman" pitchFamily="18" charset="0"/>
              </a:rPr>
              <a:t>of </a:t>
            </a:r>
            <a:r>
              <a:rPr lang="en-US" sz="2200" b="1" dirty="0" smtClean="0">
                <a:latin typeface="Times New Roman" pitchFamily="18" charset="0"/>
                <a:cs typeface="Times New Roman" pitchFamily="18" charset="0"/>
              </a:rPr>
              <a:t>Idea: </a:t>
            </a:r>
            <a:r>
              <a:rPr lang="en-US" sz="2200" dirty="0" smtClean="0">
                <a:latin typeface="Times New Roman" pitchFamily="18" charset="0"/>
                <a:cs typeface="Times New Roman" pitchFamily="18" charset="0"/>
              </a:rPr>
              <a:t>An </a:t>
            </a:r>
            <a:r>
              <a:rPr lang="en-US" sz="2200" dirty="0">
                <a:latin typeface="Times New Roman" pitchFamily="18" charset="0"/>
                <a:cs typeface="Times New Roman" pitchFamily="18" charset="0"/>
              </a:rPr>
              <a:t>incubator helps an entrepreneur decide if his idea can address the market needs, carry out market research to determine the best mix, get feedback and also develop a market ready prototype</a:t>
            </a:r>
            <a:r>
              <a:rPr lang="en-US" sz="2200" dirty="0" smtClean="0">
                <a:latin typeface="Times New Roman" pitchFamily="18" charset="0"/>
                <a:cs typeface="Times New Roman" pitchFamily="18" charset="0"/>
              </a:rPr>
              <a:t>.</a:t>
            </a:r>
          </a:p>
          <a:p>
            <a:r>
              <a:rPr lang="en-US" sz="2200" b="1" dirty="0">
                <a:latin typeface="Times New Roman" pitchFamily="18" charset="0"/>
                <a:cs typeface="Times New Roman" pitchFamily="18" charset="0"/>
              </a:rPr>
              <a:t>Mentoring </a:t>
            </a:r>
            <a:r>
              <a:rPr lang="en-US" sz="2200" b="1" dirty="0" smtClean="0">
                <a:latin typeface="Times New Roman" pitchFamily="18" charset="0"/>
                <a:cs typeface="Times New Roman" pitchFamily="18" charset="0"/>
              </a:rPr>
              <a:t>support:</a:t>
            </a:r>
            <a:r>
              <a:rPr lang="en-US" sz="2200" b="1" dirty="0">
                <a:latin typeface="Times New Roman" pitchFamily="18" charset="0"/>
                <a:cs typeface="Times New Roman" pitchFamily="18" charset="0"/>
              </a:rPr>
              <a:t> </a:t>
            </a:r>
            <a:r>
              <a:rPr lang="en-US" sz="2200" dirty="0">
                <a:latin typeface="Times New Roman" pitchFamily="18" charset="0"/>
                <a:cs typeface="Times New Roman" pitchFamily="18" charset="0"/>
              </a:rPr>
              <a:t>A young entrepreneur often needs mentoring about the various nuances of starting up</a:t>
            </a:r>
            <a:r>
              <a:rPr lang="en-US" sz="2200" dirty="0" smtClean="0">
                <a:latin typeface="Times New Roman" pitchFamily="18" charset="0"/>
                <a:cs typeface="Times New Roman" pitchFamily="18" charset="0"/>
              </a:rPr>
              <a:t>. </a:t>
            </a:r>
            <a:r>
              <a:rPr lang="en-US" sz="2200" dirty="0">
                <a:latin typeface="Times New Roman" pitchFamily="18" charset="0"/>
                <a:cs typeface="Times New Roman" pitchFamily="18" charset="0"/>
              </a:rPr>
              <a:t>A mentor who has experience in starting up or possesses business acumen is a good sounding board and can help the founder in ironing out a lot of issues</a:t>
            </a:r>
            <a:r>
              <a:rPr lang="en-US" sz="2200" dirty="0" smtClean="0">
                <a:latin typeface="Times New Roman" pitchFamily="18" charset="0"/>
                <a:cs typeface="Times New Roman" pitchFamily="18" charset="0"/>
              </a:rPr>
              <a:t>.</a:t>
            </a:r>
          </a:p>
          <a:p>
            <a:r>
              <a:rPr lang="en-US" sz="2200" b="1" dirty="0">
                <a:latin typeface="Times New Roman" pitchFamily="18" charset="0"/>
                <a:cs typeface="Times New Roman" pitchFamily="18" charset="0"/>
              </a:rPr>
              <a:t>Co-working space: </a:t>
            </a:r>
            <a:r>
              <a:rPr lang="en-US" sz="2200" dirty="0">
                <a:latin typeface="Times New Roman" pitchFamily="18" charset="0"/>
                <a:cs typeface="Times New Roman" pitchFamily="18" charset="0"/>
              </a:rPr>
              <a:t>Co-working space with a number of other startups and entrepreneurs also become a vibrant and a melting pot of many ideas. Entrepreneurs at incubators often support each other in their endeavors and help ride difficult times</a:t>
            </a:r>
            <a:r>
              <a:rPr lang="en-US" sz="2200" dirty="0" smtClean="0">
                <a:latin typeface="Times New Roman" pitchFamily="18" charset="0"/>
                <a:cs typeface="Times New Roman" pitchFamily="18" charset="0"/>
              </a:rPr>
              <a:t>.</a:t>
            </a:r>
          </a:p>
          <a:p>
            <a:r>
              <a:rPr lang="en-US" sz="2200" b="1" dirty="0">
                <a:latin typeface="Times New Roman" pitchFamily="18" charset="0"/>
                <a:cs typeface="Times New Roman" pitchFamily="18" charset="0"/>
              </a:rPr>
              <a:t>Support in fund raising: </a:t>
            </a:r>
            <a:r>
              <a:rPr lang="en-US" sz="2200" dirty="0">
                <a:latin typeface="Times New Roman" pitchFamily="18" charset="0"/>
                <a:cs typeface="Times New Roman" pitchFamily="18" charset="0"/>
              </a:rPr>
              <a:t>Investors also like startups from incubators as they have a certain amount of faith on well known incubators and expect the ideas and startups to be vetted to a large extent</a:t>
            </a:r>
            <a:r>
              <a:rPr lang="en-US" sz="2200" dirty="0" smtClean="0">
                <a:latin typeface="Times New Roman" pitchFamily="18" charset="0"/>
                <a:cs typeface="Times New Roman" pitchFamily="18" charset="0"/>
              </a:rPr>
              <a:t>.</a:t>
            </a:r>
          </a:p>
          <a:p>
            <a:r>
              <a:rPr lang="en-US" sz="2200" b="1" dirty="0">
                <a:latin typeface="Times New Roman" pitchFamily="18" charset="0"/>
                <a:cs typeface="Times New Roman" pitchFamily="18" charset="0"/>
              </a:rPr>
              <a:t>Shared Resource </a:t>
            </a:r>
            <a:r>
              <a:rPr lang="en-US" sz="2200" b="1" dirty="0" smtClean="0">
                <a:latin typeface="Times New Roman" pitchFamily="18" charset="0"/>
                <a:cs typeface="Times New Roman" pitchFamily="18" charset="0"/>
              </a:rPr>
              <a:t>Pool:</a:t>
            </a:r>
            <a:r>
              <a:rPr lang="en-US" sz="2200" dirty="0">
                <a:latin typeface="Times New Roman" pitchFamily="18" charset="0"/>
                <a:cs typeface="Times New Roman" pitchFamily="18" charset="0"/>
              </a:rPr>
              <a:t> Incubators often provides shared resource pool of </a:t>
            </a:r>
            <a:r>
              <a:rPr lang="en-US" sz="2200" dirty="0" err="1">
                <a:latin typeface="Times New Roman" pitchFamily="18" charset="0"/>
                <a:cs typeface="Times New Roman" pitchFamily="18" charset="0"/>
              </a:rPr>
              <a:t>rockstars</a:t>
            </a:r>
            <a:r>
              <a:rPr lang="en-US" sz="2200" dirty="0">
                <a:latin typeface="Times New Roman" pitchFamily="18" charset="0"/>
                <a:cs typeface="Times New Roman" pitchFamily="18" charset="0"/>
              </a:rPr>
              <a:t> experts in specific areas including technology which helps startup in faster realization of their idea.</a:t>
            </a:r>
            <a:br>
              <a:rPr lang="en-US" sz="2200" dirty="0">
                <a:latin typeface="Times New Roman" pitchFamily="18" charset="0"/>
                <a:cs typeface="Times New Roman" pitchFamily="18" charset="0"/>
              </a:rPr>
            </a:br>
            <a:r>
              <a:rPr lang="en-US" sz="2200" dirty="0">
                <a:latin typeface="Times New Roman" pitchFamily="18" charset="0"/>
                <a:cs typeface="Times New Roman" pitchFamily="18" charset="0"/>
              </a:rPr>
              <a:t/>
            </a:r>
            <a:br>
              <a:rPr lang="en-US" sz="2200" dirty="0">
                <a:latin typeface="Times New Roman" pitchFamily="18" charset="0"/>
                <a:cs typeface="Times New Roman" pitchFamily="18" charset="0"/>
              </a:rPr>
            </a:br>
            <a:endParaRPr lang="en-US" sz="22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3592E275-D691-4E5D-BCC6-6858DE38E852}" type="slidenum">
              <a:rPr lang="en-US" smtClean="0"/>
              <a:pPr/>
              <a:t>25</a:t>
            </a:fld>
            <a:endParaRPr lang="en-US"/>
          </a:p>
        </p:txBody>
      </p:sp>
    </p:spTree>
    <p:extLst>
      <p:ext uri="{BB962C8B-B14F-4D97-AF65-F5344CB8AC3E}">
        <p14:creationId xmlns:p14="http://schemas.microsoft.com/office/powerpoint/2010/main" val="34451006"/>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152400"/>
            <a:ext cx="7543800" cy="595090"/>
          </a:xfrm>
        </p:spPr>
        <p:txBody>
          <a:bodyPr>
            <a:normAutofit fontScale="90000"/>
          </a:bodyPr>
          <a:lstStyle/>
          <a:p>
            <a:pPr algn="ctr"/>
            <a:r>
              <a:rPr lang="en-US" b="1" dirty="0" smtClean="0">
                <a:latin typeface="Times New Roman" pitchFamily="18" charset="0"/>
                <a:cs typeface="Times New Roman" pitchFamily="18" charset="0"/>
              </a:rPr>
              <a:t>Accelerators</a:t>
            </a:r>
            <a:endParaRPr lang="en-US" b="1" dirty="0"/>
          </a:p>
        </p:txBody>
      </p:sp>
      <p:sp>
        <p:nvSpPr>
          <p:cNvPr id="3" name="Content Placeholder 2"/>
          <p:cNvSpPr>
            <a:spLocks noGrp="1"/>
          </p:cNvSpPr>
          <p:nvPr>
            <p:ph idx="1"/>
          </p:nvPr>
        </p:nvSpPr>
        <p:spPr>
          <a:xfrm>
            <a:off x="990600" y="762000"/>
            <a:ext cx="8001000" cy="5943600"/>
          </a:xfrm>
        </p:spPr>
        <p:style>
          <a:lnRef idx="2">
            <a:schemeClr val="accent4"/>
          </a:lnRef>
          <a:fillRef idx="1">
            <a:schemeClr val="lt1"/>
          </a:fillRef>
          <a:effectRef idx="0">
            <a:schemeClr val="accent4"/>
          </a:effectRef>
          <a:fontRef idx="minor">
            <a:schemeClr val="dk1"/>
          </a:fontRef>
        </p:style>
        <p:txBody>
          <a:bodyPr>
            <a:normAutofit lnSpcReduction="10000"/>
          </a:bodyPr>
          <a:lstStyle/>
          <a:p>
            <a:r>
              <a:rPr lang="en-US" sz="2200" dirty="0">
                <a:latin typeface="Times New Roman" pitchFamily="18" charset="0"/>
                <a:cs typeface="Times New Roman" pitchFamily="18" charset="0"/>
              </a:rPr>
              <a:t>A startup accelerator is an organization that offers mentorship, capital, and connections to investors and business partners. It’s designed for select startups with </a:t>
            </a:r>
            <a:r>
              <a:rPr lang="en-US" sz="2200" dirty="0" smtClean="0">
                <a:latin typeface="Times New Roman" pitchFamily="18" charset="0"/>
                <a:cs typeface="Times New Roman" pitchFamily="18" charset="0"/>
              </a:rPr>
              <a:t>promising Minimum Viable Products(MVPs)</a:t>
            </a:r>
            <a:r>
              <a:rPr lang="en-US" sz="2200" dirty="0">
                <a:latin typeface="Times New Roman" pitchFamily="18" charset="0"/>
                <a:cs typeface="Times New Roman" pitchFamily="18" charset="0"/>
              </a:rPr>
              <a:t> and founders, as a way to rapidly scale growth.</a:t>
            </a:r>
          </a:p>
          <a:p>
            <a:r>
              <a:rPr lang="en-US" sz="2200" dirty="0" smtClean="0">
                <a:latin typeface="Times New Roman" pitchFamily="18" charset="0"/>
                <a:cs typeface="Times New Roman" pitchFamily="18" charset="0"/>
              </a:rPr>
              <a:t>Startup </a:t>
            </a:r>
            <a:r>
              <a:rPr lang="en-US" sz="2200" dirty="0">
                <a:latin typeface="Times New Roman" pitchFamily="18" charset="0"/>
                <a:cs typeface="Times New Roman" pitchFamily="18" charset="0"/>
              </a:rPr>
              <a:t>accelerators support early-stage, growth-driven companies through education, mentorship, and financing. Startups enter accelerators for a fixed-period of time, and as part of a cohort of companies. </a:t>
            </a:r>
            <a:endParaRPr lang="en-US" sz="2200" dirty="0" smtClean="0">
              <a:latin typeface="Times New Roman" pitchFamily="18" charset="0"/>
              <a:cs typeface="Times New Roman" pitchFamily="18" charset="0"/>
            </a:endParaRPr>
          </a:p>
          <a:p>
            <a:r>
              <a:rPr lang="en-US" sz="2200" dirty="0" smtClean="0">
                <a:latin typeface="Times New Roman" pitchFamily="18" charset="0"/>
                <a:cs typeface="Times New Roman" pitchFamily="18" charset="0"/>
              </a:rPr>
              <a:t>The </a:t>
            </a:r>
            <a:r>
              <a:rPr lang="en-US" sz="2200" dirty="0">
                <a:latin typeface="Times New Roman" pitchFamily="18" charset="0"/>
                <a:cs typeface="Times New Roman" pitchFamily="18" charset="0"/>
              </a:rPr>
              <a:t>accelerator experience is a process of intense, rapid, and immersive education aimed at accelerating the life cycle of young innovative companies, compressing years’ worth of learning-by-doing into just a few months</a:t>
            </a:r>
            <a:r>
              <a:rPr lang="en-US" sz="2200" dirty="0" smtClean="0">
                <a:latin typeface="Times New Roman" pitchFamily="18" charset="0"/>
                <a:cs typeface="Times New Roman" pitchFamily="18" charset="0"/>
              </a:rPr>
              <a:t>.</a:t>
            </a:r>
          </a:p>
          <a:p>
            <a:r>
              <a:rPr lang="en-US" sz="2200" dirty="0">
                <a:latin typeface="Times New Roman" pitchFamily="18" charset="0"/>
                <a:cs typeface="Times New Roman" pitchFamily="18" charset="0"/>
              </a:rPr>
              <a:t>Accelerators are right for startups that are ready to </a:t>
            </a:r>
            <a:r>
              <a:rPr lang="en-US" sz="2200" dirty="0" smtClean="0">
                <a:latin typeface="Times New Roman" pitchFamily="18" charset="0"/>
                <a:cs typeface="Times New Roman" pitchFamily="18" charset="0"/>
              </a:rPr>
              <a:t>scale.</a:t>
            </a:r>
          </a:p>
          <a:p>
            <a:r>
              <a:rPr lang="en-US" sz="2200" dirty="0">
                <a:latin typeface="Times New Roman" pitchFamily="18" charset="0"/>
                <a:cs typeface="Times New Roman" pitchFamily="18" charset="0"/>
              </a:rPr>
              <a:t>Accelerators are intense and fast-paced, taking 3-6 months to get an early-stage startup ready for market</a:t>
            </a:r>
            <a:r>
              <a:rPr lang="en-US" sz="2200" dirty="0" smtClean="0">
                <a:latin typeface="Times New Roman" pitchFamily="18" charset="0"/>
                <a:cs typeface="Times New Roman" pitchFamily="18" charset="0"/>
              </a:rPr>
              <a:t>.</a:t>
            </a:r>
          </a:p>
          <a:p>
            <a:r>
              <a:rPr lang="en-US" sz="2200" dirty="0">
                <a:latin typeface="Times New Roman" pitchFamily="18" charset="0"/>
                <a:cs typeface="Times New Roman" pitchFamily="18" charset="0"/>
              </a:rPr>
              <a:t>Accelerators are predominantly focused on helping teams in the validation stage.</a:t>
            </a:r>
          </a:p>
        </p:txBody>
      </p:sp>
      <p:sp>
        <p:nvSpPr>
          <p:cNvPr id="4" name="Slide Number Placeholder 3"/>
          <p:cNvSpPr>
            <a:spLocks noGrp="1"/>
          </p:cNvSpPr>
          <p:nvPr>
            <p:ph type="sldNum" sz="quarter" idx="12"/>
          </p:nvPr>
        </p:nvSpPr>
        <p:spPr/>
        <p:txBody>
          <a:bodyPr/>
          <a:lstStyle/>
          <a:p>
            <a:fld id="{3592E275-D691-4E5D-BCC6-6858DE38E852}" type="slidenum">
              <a:rPr lang="en-US" smtClean="0"/>
              <a:pPr/>
              <a:t>26</a:t>
            </a:fld>
            <a:endParaRPr lang="en-US"/>
          </a:p>
        </p:txBody>
      </p:sp>
    </p:spTree>
    <p:extLst>
      <p:ext uri="{BB962C8B-B14F-4D97-AF65-F5344CB8AC3E}">
        <p14:creationId xmlns:p14="http://schemas.microsoft.com/office/powerpoint/2010/main" val="1809573943"/>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152400"/>
            <a:ext cx="7543800" cy="595090"/>
          </a:xfrm>
        </p:spPr>
        <p:txBody>
          <a:bodyPr>
            <a:normAutofit fontScale="90000"/>
          </a:bodyPr>
          <a:lstStyle/>
          <a:p>
            <a:r>
              <a:rPr lang="en-US" sz="3000" b="1" dirty="0" smtClean="0">
                <a:latin typeface="Times New Roman" pitchFamily="18" charset="0"/>
                <a:cs typeface="Times New Roman" pitchFamily="18" charset="0"/>
              </a:rPr>
              <a:t>Accelerator </a:t>
            </a:r>
            <a:r>
              <a:rPr lang="en-US" sz="3000" b="1" dirty="0" err="1" smtClean="0">
                <a:latin typeface="Times New Roman" pitchFamily="18" charset="0"/>
                <a:cs typeface="Times New Roman" pitchFamily="18" charset="0"/>
              </a:rPr>
              <a:t>Programme</a:t>
            </a:r>
            <a:r>
              <a:rPr lang="en-US" sz="3000" b="1" dirty="0" smtClean="0">
                <a:latin typeface="Times New Roman" pitchFamily="18" charset="0"/>
                <a:cs typeface="Times New Roman" pitchFamily="18" charset="0"/>
              </a:rPr>
              <a:t> – Application Process</a:t>
            </a:r>
            <a:endParaRPr lang="en-US" sz="3000" b="1" dirty="0"/>
          </a:p>
        </p:txBody>
      </p:sp>
      <p:sp>
        <p:nvSpPr>
          <p:cNvPr id="3" name="Content Placeholder 2"/>
          <p:cNvSpPr>
            <a:spLocks noGrp="1"/>
          </p:cNvSpPr>
          <p:nvPr>
            <p:ph idx="1"/>
          </p:nvPr>
        </p:nvSpPr>
        <p:spPr>
          <a:xfrm>
            <a:off x="990600" y="762000"/>
            <a:ext cx="8001000" cy="5943600"/>
          </a:xfrm>
        </p:spPr>
        <p:style>
          <a:lnRef idx="2">
            <a:schemeClr val="accent4"/>
          </a:lnRef>
          <a:fillRef idx="1">
            <a:schemeClr val="lt1"/>
          </a:fillRef>
          <a:effectRef idx="0">
            <a:schemeClr val="accent4"/>
          </a:effectRef>
          <a:fontRef idx="minor">
            <a:schemeClr val="dk1"/>
          </a:fontRef>
        </p:style>
        <p:txBody>
          <a:bodyPr>
            <a:normAutofit/>
          </a:bodyPr>
          <a:lstStyle/>
          <a:p>
            <a:r>
              <a:rPr lang="en-US" sz="2400" dirty="0">
                <a:latin typeface="Times New Roman" pitchFamily="18" charset="0"/>
                <a:cs typeface="Times New Roman" pitchFamily="18" charset="0"/>
              </a:rPr>
              <a:t>In most of the accelerators, the application process for startups is done in following stages:</a:t>
            </a:r>
          </a:p>
        </p:txBody>
      </p:sp>
      <p:sp>
        <p:nvSpPr>
          <p:cNvPr id="4" name="Slide Number Placeholder 3"/>
          <p:cNvSpPr>
            <a:spLocks noGrp="1"/>
          </p:cNvSpPr>
          <p:nvPr>
            <p:ph type="sldNum" sz="quarter" idx="12"/>
          </p:nvPr>
        </p:nvSpPr>
        <p:spPr/>
        <p:txBody>
          <a:bodyPr/>
          <a:lstStyle/>
          <a:p>
            <a:fld id="{3592E275-D691-4E5D-BCC6-6858DE38E852}" type="slidenum">
              <a:rPr lang="en-US" smtClean="0"/>
              <a:pPr/>
              <a:t>27</a:t>
            </a:fld>
            <a:endParaRPr lang="en-US"/>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43000" y="1600200"/>
            <a:ext cx="7392230" cy="4828902"/>
          </a:xfrm>
          <a:prstGeom prst="rect">
            <a:avLst/>
          </a:prstGeom>
        </p:spPr>
      </p:pic>
    </p:spTree>
    <p:extLst>
      <p:ext uri="{BB962C8B-B14F-4D97-AF65-F5344CB8AC3E}">
        <p14:creationId xmlns:p14="http://schemas.microsoft.com/office/powerpoint/2010/main" val="3534408258"/>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152400"/>
            <a:ext cx="7543800" cy="595090"/>
          </a:xfrm>
        </p:spPr>
        <p:txBody>
          <a:bodyPr>
            <a:normAutofit fontScale="90000"/>
          </a:bodyPr>
          <a:lstStyle/>
          <a:p>
            <a:pPr algn="ctr"/>
            <a:r>
              <a:rPr lang="en-US" b="1" dirty="0" smtClean="0">
                <a:latin typeface="Times New Roman" pitchFamily="18" charset="0"/>
                <a:cs typeface="Times New Roman" pitchFamily="18" charset="0"/>
              </a:rPr>
              <a:t>Incubators VS Accelerators - Differences</a:t>
            </a:r>
            <a:endParaRPr lang="en-US" b="1" dirty="0"/>
          </a:p>
        </p:txBody>
      </p:sp>
      <p:sp>
        <p:nvSpPr>
          <p:cNvPr id="3" name="Content Placeholder 2"/>
          <p:cNvSpPr>
            <a:spLocks noGrp="1"/>
          </p:cNvSpPr>
          <p:nvPr>
            <p:ph idx="1"/>
          </p:nvPr>
        </p:nvSpPr>
        <p:spPr>
          <a:xfrm>
            <a:off x="990600" y="762000"/>
            <a:ext cx="8001000" cy="5943600"/>
          </a:xfrm>
        </p:spPr>
        <p:style>
          <a:lnRef idx="2">
            <a:schemeClr val="accent4"/>
          </a:lnRef>
          <a:fillRef idx="1">
            <a:schemeClr val="lt1"/>
          </a:fillRef>
          <a:effectRef idx="0">
            <a:schemeClr val="accent4"/>
          </a:effectRef>
          <a:fontRef idx="minor">
            <a:schemeClr val="dk1"/>
          </a:fontRef>
        </p:style>
        <p:txBody>
          <a:bodyPr>
            <a:normAutofit/>
          </a:bodyPr>
          <a:lstStyle/>
          <a:p>
            <a:endParaRPr lang="en-US" sz="2100" dirty="0">
              <a:latin typeface="Times New Roman" pitchFamily="18" charset="0"/>
              <a:cs typeface="Times New Roman" pitchFamily="18" charset="0"/>
            </a:endParaRPr>
          </a:p>
          <a:p>
            <a:endParaRPr lang="en-US" sz="2100" dirty="0" smtClean="0">
              <a:latin typeface="Times New Roman" pitchFamily="18" charset="0"/>
              <a:cs typeface="Times New Roman" pitchFamily="18" charset="0"/>
            </a:endParaRPr>
          </a:p>
          <a:p>
            <a:endParaRPr lang="en-US" sz="2100" dirty="0">
              <a:latin typeface="Times New Roman" pitchFamily="18" charset="0"/>
              <a:cs typeface="Times New Roman" pitchFamily="18" charset="0"/>
            </a:endParaRPr>
          </a:p>
          <a:p>
            <a:endParaRPr lang="en-US" sz="2100" dirty="0" smtClean="0">
              <a:latin typeface="Times New Roman" pitchFamily="18" charset="0"/>
              <a:cs typeface="Times New Roman" pitchFamily="18" charset="0"/>
            </a:endParaRPr>
          </a:p>
          <a:p>
            <a:endParaRPr lang="en-US" sz="21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3592E275-D691-4E5D-BCC6-6858DE38E852}" type="slidenum">
              <a:rPr lang="en-US" smtClean="0"/>
              <a:pPr/>
              <a:t>28</a:t>
            </a:fld>
            <a:endParaRPr lang="en-US"/>
          </a:p>
        </p:txBody>
      </p:sp>
      <p:graphicFrame>
        <p:nvGraphicFramePr>
          <p:cNvPr id="5" name="Table 4"/>
          <p:cNvGraphicFramePr>
            <a:graphicFrameLocks noGrp="1"/>
          </p:cNvGraphicFramePr>
          <p:nvPr>
            <p:extLst>
              <p:ext uri="{D42A27DB-BD31-4B8C-83A1-F6EECF244321}">
                <p14:modId xmlns:p14="http://schemas.microsoft.com/office/powerpoint/2010/main" val="3092135986"/>
              </p:ext>
            </p:extLst>
          </p:nvPr>
        </p:nvGraphicFramePr>
        <p:xfrm>
          <a:off x="1219200" y="838200"/>
          <a:ext cx="7162800" cy="5882640"/>
        </p:xfrm>
        <a:graphic>
          <a:graphicData uri="http://schemas.openxmlformats.org/drawingml/2006/table">
            <a:tbl>
              <a:tblPr firstRow="1" bandRow="1">
                <a:tableStyleId>{5C22544A-7EE6-4342-B048-85BDC9FD1C3A}</a:tableStyleId>
              </a:tblPr>
              <a:tblGrid>
                <a:gridCol w="609600"/>
                <a:gridCol w="3449320"/>
                <a:gridCol w="3103880"/>
              </a:tblGrid>
              <a:tr h="457200">
                <a:tc>
                  <a:txBody>
                    <a:bodyPr/>
                    <a:lstStyle/>
                    <a:p>
                      <a:r>
                        <a:rPr lang="en-US" dirty="0" smtClean="0">
                          <a:latin typeface="Times New Roman" pitchFamily="18" charset="0"/>
                          <a:cs typeface="Times New Roman" pitchFamily="18" charset="0"/>
                        </a:rPr>
                        <a:t>S.N</a:t>
                      </a:r>
                      <a:endParaRPr lang="en-US" dirty="0">
                        <a:latin typeface="Times New Roman" pitchFamily="18" charset="0"/>
                        <a:cs typeface="Times New Roman" pitchFamily="18" charset="0"/>
                      </a:endParaRPr>
                    </a:p>
                  </a:txBody>
                  <a:tcPr/>
                </a:tc>
                <a:tc>
                  <a:txBody>
                    <a:bodyPr/>
                    <a:lstStyle/>
                    <a:p>
                      <a:r>
                        <a:rPr lang="en-US" dirty="0" smtClean="0">
                          <a:latin typeface="Times New Roman" pitchFamily="18" charset="0"/>
                          <a:cs typeface="Times New Roman" pitchFamily="18" charset="0"/>
                        </a:rPr>
                        <a:t>Accelerators</a:t>
                      </a:r>
                      <a:r>
                        <a:rPr lang="en-US" baseline="0" dirty="0" smtClean="0">
                          <a:latin typeface="Times New Roman" pitchFamily="18" charset="0"/>
                          <a:cs typeface="Times New Roman" pitchFamily="18" charset="0"/>
                        </a:rPr>
                        <a:t> </a:t>
                      </a:r>
                      <a:endParaRPr lang="en-US" dirty="0">
                        <a:latin typeface="Times New Roman" pitchFamily="18" charset="0"/>
                        <a:cs typeface="Times New Roman" pitchFamily="18" charset="0"/>
                      </a:endParaRPr>
                    </a:p>
                  </a:txBody>
                  <a:tcPr/>
                </a:tc>
                <a:tc>
                  <a:txBody>
                    <a:bodyPr/>
                    <a:lstStyle/>
                    <a:p>
                      <a:r>
                        <a:rPr lang="en-US" dirty="0" smtClean="0">
                          <a:latin typeface="Times New Roman" pitchFamily="18" charset="0"/>
                          <a:cs typeface="Times New Roman" pitchFamily="18" charset="0"/>
                        </a:rPr>
                        <a:t>Incubators</a:t>
                      </a:r>
                      <a:endParaRPr lang="en-US" dirty="0">
                        <a:latin typeface="Times New Roman" pitchFamily="18" charset="0"/>
                        <a:cs typeface="Times New Roman" pitchFamily="18" charset="0"/>
                      </a:endParaRPr>
                    </a:p>
                  </a:txBody>
                  <a:tcPr/>
                </a:tc>
              </a:tr>
              <a:tr h="1031955">
                <a:tc>
                  <a:txBody>
                    <a:bodyPr/>
                    <a:lstStyle/>
                    <a:p>
                      <a:pPr marL="0" algn="l" defTabSz="457200" rtl="0" eaLnBrk="1" latinLnBrk="0" hangingPunct="1"/>
                      <a:r>
                        <a:rPr lang="en-US" sz="1600" kern="1200" dirty="0" smtClean="0">
                          <a:solidFill>
                            <a:schemeClr val="dk1"/>
                          </a:solidFill>
                          <a:latin typeface="Times New Roman" pitchFamily="18" charset="0"/>
                          <a:ea typeface="+mn-ea"/>
                          <a:cs typeface="Times New Roman" pitchFamily="18" charset="0"/>
                        </a:rPr>
                        <a:t>1.</a:t>
                      </a:r>
                      <a:endParaRPr lang="en-US" sz="1600" kern="1200" dirty="0">
                        <a:solidFill>
                          <a:schemeClr val="dk1"/>
                        </a:solidFill>
                        <a:latin typeface="Times New Roman" pitchFamily="18" charset="0"/>
                        <a:ea typeface="+mn-ea"/>
                        <a:cs typeface="Times New Roman" pitchFamily="18" charset="0"/>
                      </a:endParaRPr>
                    </a:p>
                  </a:txBody>
                  <a:tcPr/>
                </a:tc>
                <a:tc>
                  <a:txBody>
                    <a:bodyPr/>
                    <a:lstStyle/>
                    <a:p>
                      <a:pPr marL="0" algn="l" defTabSz="457200" rtl="0" eaLnBrk="1" latinLnBrk="0" hangingPunct="1"/>
                      <a:r>
                        <a:rPr lang="en-US" sz="1600" kern="1200" dirty="0" smtClean="0">
                          <a:solidFill>
                            <a:schemeClr val="dk1"/>
                          </a:solidFill>
                          <a:latin typeface="Times New Roman" pitchFamily="18" charset="0"/>
                          <a:ea typeface="+mn-ea"/>
                          <a:cs typeface="Times New Roman" pitchFamily="18" charset="0"/>
                        </a:rPr>
                        <a:t>Accelerators are funded by an existing company. </a:t>
                      </a:r>
                      <a:endParaRPr lang="en-US" sz="1600" kern="1200" dirty="0">
                        <a:solidFill>
                          <a:schemeClr val="dk1"/>
                        </a:solidFill>
                        <a:latin typeface="Times New Roman" pitchFamily="18" charset="0"/>
                        <a:ea typeface="+mn-ea"/>
                        <a:cs typeface="Times New Roman" pitchFamily="18" charset="0"/>
                      </a:endParaRP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600" kern="1200" dirty="0" smtClean="0">
                          <a:solidFill>
                            <a:schemeClr val="dk1"/>
                          </a:solidFill>
                          <a:latin typeface="Times New Roman" pitchFamily="18" charset="0"/>
                          <a:ea typeface="+mn-ea"/>
                          <a:cs typeface="Times New Roman" pitchFamily="18" charset="0"/>
                        </a:rPr>
                        <a:t>Incubators are often independent but can have connections to venture capital firms or universities.</a:t>
                      </a:r>
                      <a:endParaRPr lang="en-US" sz="1600" kern="1200" dirty="0">
                        <a:solidFill>
                          <a:schemeClr val="dk1"/>
                        </a:solidFill>
                        <a:latin typeface="Times New Roman" pitchFamily="18" charset="0"/>
                        <a:ea typeface="+mn-ea"/>
                        <a:cs typeface="Times New Roman" pitchFamily="18" charset="0"/>
                      </a:endParaRPr>
                    </a:p>
                  </a:txBody>
                  <a:tcPr/>
                </a:tc>
              </a:tr>
              <a:tr h="796079">
                <a:tc>
                  <a:txBody>
                    <a:bodyPr/>
                    <a:lstStyle/>
                    <a:p>
                      <a:pPr marL="0" algn="l" defTabSz="457200" rtl="0" eaLnBrk="1" latinLnBrk="0" hangingPunct="1"/>
                      <a:r>
                        <a:rPr lang="en-US" sz="1600" kern="1200" dirty="0" smtClean="0">
                          <a:solidFill>
                            <a:schemeClr val="dk1"/>
                          </a:solidFill>
                          <a:latin typeface="Times New Roman" pitchFamily="18" charset="0"/>
                          <a:ea typeface="+mn-ea"/>
                          <a:cs typeface="Times New Roman" pitchFamily="18" charset="0"/>
                        </a:rPr>
                        <a:t>2.</a:t>
                      </a:r>
                      <a:endParaRPr lang="en-US" sz="1600" kern="1200" dirty="0">
                        <a:solidFill>
                          <a:schemeClr val="dk1"/>
                        </a:solidFill>
                        <a:latin typeface="Times New Roman" pitchFamily="18" charset="0"/>
                        <a:ea typeface="+mn-ea"/>
                        <a:cs typeface="Times New Roman" pitchFamily="18" charset="0"/>
                      </a:endParaRPr>
                    </a:p>
                  </a:txBody>
                  <a:tcPr/>
                </a:tc>
                <a:tc>
                  <a:txBody>
                    <a:bodyPr/>
                    <a:lstStyle/>
                    <a:p>
                      <a:pPr marL="0" algn="l" defTabSz="457200" rtl="0" eaLnBrk="1" latinLnBrk="0" hangingPunct="1"/>
                      <a:r>
                        <a:rPr lang="en-US" sz="1600" kern="1200" dirty="0" smtClean="0">
                          <a:solidFill>
                            <a:schemeClr val="dk1"/>
                          </a:solidFill>
                          <a:latin typeface="Times New Roman" pitchFamily="18" charset="0"/>
                          <a:ea typeface="+mn-ea"/>
                          <a:cs typeface="Times New Roman" pitchFamily="18" charset="0"/>
                        </a:rPr>
                        <a:t>Accelerators are aimed at accelerating companies and scaling them up. </a:t>
                      </a:r>
                      <a:endParaRPr lang="en-US" sz="1600" kern="1200" dirty="0">
                        <a:solidFill>
                          <a:schemeClr val="dk1"/>
                        </a:solidFill>
                        <a:latin typeface="Times New Roman" pitchFamily="18" charset="0"/>
                        <a:ea typeface="+mn-ea"/>
                        <a:cs typeface="Times New Roman" pitchFamily="18" charset="0"/>
                      </a:endParaRPr>
                    </a:p>
                  </a:txBody>
                  <a:tcPr/>
                </a:tc>
                <a:tc>
                  <a:txBody>
                    <a:bodyPr/>
                    <a:lstStyle/>
                    <a:p>
                      <a:pPr marL="0" algn="l" defTabSz="457200" rtl="0" eaLnBrk="1" latinLnBrk="0" hangingPunct="1"/>
                      <a:r>
                        <a:rPr lang="en-US" sz="1600" kern="1200" dirty="0" smtClean="0">
                          <a:solidFill>
                            <a:schemeClr val="dk1"/>
                          </a:solidFill>
                          <a:latin typeface="Times New Roman" pitchFamily="18" charset="0"/>
                          <a:ea typeface="+mn-ea"/>
                          <a:cs typeface="Times New Roman" pitchFamily="18" charset="0"/>
                        </a:rPr>
                        <a:t>Incubators focus primarily on stimulating innovation (they incubate disruptive ideas).</a:t>
                      </a:r>
                      <a:endParaRPr lang="en-US" sz="1600" kern="1200" dirty="0">
                        <a:solidFill>
                          <a:schemeClr val="dk1"/>
                        </a:solidFill>
                        <a:latin typeface="Times New Roman" pitchFamily="18" charset="0"/>
                        <a:ea typeface="+mn-ea"/>
                        <a:cs typeface="Times New Roman" pitchFamily="18" charset="0"/>
                      </a:endParaRPr>
                    </a:p>
                  </a:txBody>
                  <a:tcPr/>
                </a:tc>
              </a:tr>
              <a:tr h="796079">
                <a:tc>
                  <a:txBody>
                    <a:bodyPr/>
                    <a:lstStyle/>
                    <a:p>
                      <a:pPr marL="0" algn="l" defTabSz="457200" rtl="0" eaLnBrk="1" latinLnBrk="0" hangingPunct="1"/>
                      <a:r>
                        <a:rPr lang="en-US" sz="1600" kern="1200" dirty="0" smtClean="0">
                          <a:solidFill>
                            <a:schemeClr val="dk1"/>
                          </a:solidFill>
                          <a:latin typeface="Times New Roman" pitchFamily="18" charset="0"/>
                          <a:ea typeface="+mn-ea"/>
                          <a:cs typeface="Times New Roman" pitchFamily="18" charset="0"/>
                        </a:rPr>
                        <a:t>3.</a:t>
                      </a:r>
                      <a:endParaRPr lang="en-US" sz="1600" kern="1200" dirty="0">
                        <a:solidFill>
                          <a:schemeClr val="dk1"/>
                        </a:solidFill>
                        <a:latin typeface="Times New Roman" pitchFamily="18" charset="0"/>
                        <a:ea typeface="+mn-ea"/>
                        <a:cs typeface="Times New Roman" pitchFamily="18" charset="0"/>
                      </a:endParaRPr>
                    </a:p>
                  </a:txBody>
                  <a:tcPr/>
                </a:tc>
                <a:tc>
                  <a:txBody>
                    <a:bodyPr/>
                    <a:lstStyle/>
                    <a:p>
                      <a:pPr marL="0" algn="l" defTabSz="457200" rtl="0" eaLnBrk="1" latinLnBrk="0" hangingPunct="1"/>
                      <a:r>
                        <a:rPr lang="en-US" sz="1600" kern="1200" dirty="0" smtClean="0">
                          <a:solidFill>
                            <a:schemeClr val="dk1"/>
                          </a:solidFill>
                          <a:latin typeface="Times New Roman" pitchFamily="18" charset="0"/>
                          <a:ea typeface="+mn-ea"/>
                          <a:cs typeface="Times New Roman" pitchFamily="18" charset="0"/>
                        </a:rPr>
                        <a:t>For Accelerators, a clearly delineated time frame of a few months is usually set. </a:t>
                      </a:r>
                      <a:endParaRPr lang="en-US" sz="1600" kern="1200" dirty="0">
                        <a:solidFill>
                          <a:schemeClr val="dk1"/>
                        </a:solidFill>
                        <a:latin typeface="Times New Roman" pitchFamily="18" charset="0"/>
                        <a:ea typeface="+mn-ea"/>
                        <a:cs typeface="Times New Roman" pitchFamily="18" charset="0"/>
                      </a:endParaRP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600" kern="1200" dirty="0" smtClean="0">
                          <a:solidFill>
                            <a:schemeClr val="dk1"/>
                          </a:solidFill>
                          <a:latin typeface="Times New Roman" pitchFamily="18" charset="0"/>
                          <a:ea typeface="+mn-ea"/>
                          <a:cs typeface="Times New Roman" pitchFamily="18" charset="0"/>
                        </a:rPr>
                        <a:t>Incubators are longer term—in many instances even taking years—and are more open-ended.</a:t>
                      </a:r>
                    </a:p>
                  </a:txBody>
                  <a:tcPr/>
                </a:tc>
              </a:tr>
              <a:tr h="796079">
                <a:tc>
                  <a:txBody>
                    <a:bodyPr/>
                    <a:lstStyle/>
                    <a:p>
                      <a:pPr marL="0" algn="l" defTabSz="457200" rtl="0" eaLnBrk="1" latinLnBrk="0" hangingPunct="1"/>
                      <a:r>
                        <a:rPr lang="en-US" sz="1600" kern="1200" dirty="0" smtClean="0">
                          <a:solidFill>
                            <a:schemeClr val="dk1"/>
                          </a:solidFill>
                          <a:latin typeface="Times New Roman" pitchFamily="18" charset="0"/>
                          <a:ea typeface="+mn-ea"/>
                          <a:cs typeface="Times New Roman" pitchFamily="18" charset="0"/>
                        </a:rPr>
                        <a:t>4.</a:t>
                      </a:r>
                      <a:endParaRPr lang="en-US" sz="1600" kern="1200" dirty="0">
                        <a:solidFill>
                          <a:schemeClr val="dk1"/>
                        </a:solidFill>
                        <a:latin typeface="Times New Roman" pitchFamily="18" charset="0"/>
                        <a:ea typeface="+mn-ea"/>
                        <a:cs typeface="Times New Roman" pitchFamily="18" charset="0"/>
                      </a:endParaRPr>
                    </a:p>
                  </a:txBody>
                  <a:tcPr/>
                </a:tc>
                <a:tc>
                  <a:txBody>
                    <a:bodyPr/>
                    <a:lstStyle/>
                    <a:p>
                      <a:pPr marL="0" algn="l" defTabSz="457200" rtl="0" eaLnBrk="1" latinLnBrk="0" hangingPunct="1"/>
                      <a:r>
                        <a:rPr lang="en-US" sz="1600" kern="1200" dirty="0" smtClean="0">
                          <a:solidFill>
                            <a:schemeClr val="dk1"/>
                          </a:solidFill>
                          <a:latin typeface="Times New Roman" pitchFamily="18" charset="0"/>
                          <a:ea typeface="+mn-ea"/>
                          <a:cs typeface="Times New Roman" pitchFamily="18" charset="0"/>
                        </a:rPr>
                        <a:t>At Accelerators, mentoring by the legacy company is a distinctive part of the program. </a:t>
                      </a:r>
                      <a:endParaRPr lang="en-US" sz="1600" kern="1200" dirty="0">
                        <a:solidFill>
                          <a:schemeClr val="dk1"/>
                        </a:solidFill>
                        <a:latin typeface="Times New Roman" pitchFamily="18" charset="0"/>
                        <a:ea typeface="+mn-ea"/>
                        <a:cs typeface="Times New Roman" pitchFamily="18" charset="0"/>
                      </a:endParaRPr>
                    </a:p>
                  </a:txBody>
                  <a:tcPr/>
                </a:tc>
                <a:tc>
                  <a:txBody>
                    <a:bodyPr/>
                    <a:lstStyle/>
                    <a:p>
                      <a:pPr marL="0" algn="l" defTabSz="457200" rtl="0" eaLnBrk="1" latinLnBrk="0" hangingPunct="1"/>
                      <a:r>
                        <a:rPr lang="en-US" sz="1600" kern="1200" dirty="0" smtClean="0">
                          <a:solidFill>
                            <a:schemeClr val="dk1"/>
                          </a:solidFill>
                          <a:latin typeface="Times New Roman" pitchFamily="18" charset="0"/>
                          <a:ea typeface="+mn-ea"/>
                          <a:cs typeface="Times New Roman" pitchFamily="18" charset="0"/>
                        </a:rPr>
                        <a:t>Incubators focus on larger numbers and are less selective.</a:t>
                      </a:r>
                      <a:endParaRPr lang="en-US" sz="1600" kern="1200" dirty="0">
                        <a:solidFill>
                          <a:schemeClr val="dk1"/>
                        </a:solidFill>
                        <a:latin typeface="Times New Roman" pitchFamily="18" charset="0"/>
                        <a:ea typeface="+mn-ea"/>
                        <a:cs typeface="Times New Roman" pitchFamily="18" charset="0"/>
                      </a:endParaRPr>
                    </a:p>
                  </a:txBody>
                  <a:tcPr/>
                </a:tc>
              </a:tr>
              <a:tr h="1031955">
                <a:tc>
                  <a:txBody>
                    <a:bodyPr/>
                    <a:lstStyle/>
                    <a:p>
                      <a:pPr marL="0" algn="l" defTabSz="457200" rtl="0" eaLnBrk="1" latinLnBrk="0" hangingPunct="1"/>
                      <a:r>
                        <a:rPr lang="en-US" sz="1600" kern="1200" dirty="0" smtClean="0">
                          <a:solidFill>
                            <a:schemeClr val="dk1"/>
                          </a:solidFill>
                          <a:latin typeface="Times New Roman" pitchFamily="18" charset="0"/>
                          <a:ea typeface="+mn-ea"/>
                          <a:cs typeface="Times New Roman" pitchFamily="18" charset="0"/>
                        </a:rPr>
                        <a:t>5.</a:t>
                      </a:r>
                      <a:endParaRPr lang="en-US" sz="1600" kern="1200" dirty="0">
                        <a:solidFill>
                          <a:schemeClr val="dk1"/>
                        </a:solidFill>
                        <a:latin typeface="Times New Roman" pitchFamily="18" charset="0"/>
                        <a:ea typeface="+mn-ea"/>
                        <a:cs typeface="Times New Roman" pitchFamily="18" charset="0"/>
                      </a:endParaRPr>
                    </a:p>
                  </a:txBody>
                  <a:tcPr/>
                </a:tc>
                <a:tc>
                  <a:txBody>
                    <a:bodyPr/>
                    <a:lstStyle/>
                    <a:p>
                      <a:pPr marL="0" algn="l" defTabSz="457200" rtl="0" eaLnBrk="1" latinLnBrk="0" hangingPunct="1"/>
                      <a:r>
                        <a:rPr lang="en-US" sz="1600" kern="1200" dirty="0" smtClean="0">
                          <a:solidFill>
                            <a:schemeClr val="dk1"/>
                          </a:solidFill>
                          <a:latin typeface="Times New Roman" pitchFamily="18" charset="0"/>
                          <a:ea typeface="+mn-ea"/>
                          <a:cs typeface="Times New Roman" pitchFamily="18" charset="0"/>
                        </a:rPr>
                        <a:t>Accelerators have a much more structured program than Incubators and try to create a kind of alignment between the startups. </a:t>
                      </a:r>
                      <a:endParaRPr lang="en-US" sz="1600" kern="1200" dirty="0">
                        <a:solidFill>
                          <a:schemeClr val="dk1"/>
                        </a:solidFill>
                        <a:latin typeface="Times New Roman" pitchFamily="18" charset="0"/>
                        <a:ea typeface="+mn-ea"/>
                        <a:cs typeface="Times New Roman" pitchFamily="18" charset="0"/>
                      </a:endParaRPr>
                    </a:p>
                  </a:txBody>
                  <a:tcPr/>
                </a:tc>
                <a:tc>
                  <a:txBody>
                    <a:bodyPr/>
                    <a:lstStyle/>
                    <a:p>
                      <a:pPr marL="0" algn="l" defTabSz="457200" rtl="0" eaLnBrk="1" latinLnBrk="0" hangingPunct="1"/>
                      <a:r>
                        <a:rPr lang="en-US" sz="1600" kern="1200" dirty="0" smtClean="0">
                          <a:solidFill>
                            <a:schemeClr val="dk1"/>
                          </a:solidFill>
                          <a:latin typeface="Times New Roman" pitchFamily="18" charset="0"/>
                          <a:ea typeface="+mn-ea"/>
                          <a:cs typeface="Times New Roman" pitchFamily="18" charset="0"/>
                        </a:rPr>
                        <a:t>Incubators are more focused on creating an environment for co-creation.</a:t>
                      </a:r>
                      <a:endParaRPr lang="en-US" sz="1600" kern="1200" dirty="0">
                        <a:solidFill>
                          <a:schemeClr val="dk1"/>
                        </a:solidFill>
                        <a:latin typeface="Times New Roman" pitchFamily="18" charset="0"/>
                        <a:ea typeface="+mn-ea"/>
                        <a:cs typeface="Times New Roman" pitchFamily="18" charset="0"/>
                      </a:endParaRPr>
                    </a:p>
                  </a:txBody>
                  <a:tcPr/>
                </a:tc>
              </a:tr>
              <a:tr h="796079">
                <a:tc>
                  <a:txBody>
                    <a:bodyPr/>
                    <a:lstStyle/>
                    <a:p>
                      <a:pPr marL="0" algn="l" defTabSz="457200" rtl="0" eaLnBrk="1" latinLnBrk="0" hangingPunct="1"/>
                      <a:r>
                        <a:rPr lang="en-US" sz="1600" kern="1200" dirty="0" smtClean="0">
                          <a:solidFill>
                            <a:schemeClr val="dk1"/>
                          </a:solidFill>
                          <a:latin typeface="Times New Roman" pitchFamily="18" charset="0"/>
                          <a:ea typeface="+mn-ea"/>
                          <a:cs typeface="Times New Roman" pitchFamily="18" charset="0"/>
                        </a:rPr>
                        <a:t>6.</a:t>
                      </a:r>
                      <a:endParaRPr lang="en-US" sz="1600" kern="1200" dirty="0">
                        <a:solidFill>
                          <a:schemeClr val="dk1"/>
                        </a:solidFill>
                        <a:latin typeface="Times New Roman" pitchFamily="18" charset="0"/>
                        <a:ea typeface="+mn-ea"/>
                        <a:cs typeface="Times New Roman" pitchFamily="18" charset="0"/>
                      </a:endParaRPr>
                    </a:p>
                  </a:txBody>
                  <a:tcPr/>
                </a:tc>
                <a:tc>
                  <a:txBody>
                    <a:bodyPr/>
                    <a:lstStyle/>
                    <a:p>
                      <a:pPr marL="0" algn="l" defTabSz="457200" rtl="0" eaLnBrk="1" latinLnBrk="0" hangingPunct="1"/>
                      <a:r>
                        <a:rPr lang="en-US" sz="1600" kern="1200" dirty="0" smtClean="0">
                          <a:solidFill>
                            <a:schemeClr val="dk1"/>
                          </a:solidFill>
                          <a:latin typeface="Times New Roman" pitchFamily="18" charset="0"/>
                          <a:ea typeface="+mn-ea"/>
                          <a:cs typeface="Times New Roman" pitchFamily="18" charset="0"/>
                        </a:rPr>
                        <a:t>A proven startup in need of a cash injection to fuel growth</a:t>
                      </a:r>
                      <a:r>
                        <a:rPr lang="en-US" sz="1600" kern="1200" baseline="0" dirty="0" smtClean="0">
                          <a:solidFill>
                            <a:schemeClr val="dk1"/>
                          </a:solidFill>
                          <a:latin typeface="Times New Roman" pitchFamily="18" charset="0"/>
                          <a:ea typeface="+mn-ea"/>
                          <a:cs typeface="Times New Roman" pitchFamily="18" charset="0"/>
                        </a:rPr>
                        <a:t> needs accelerator.</a:t>
                      </a:r>
                      <a:endParaRPr lang="en-US" sz="1600" kern="1200" dirty="0">
                        <a:solidFill>
                          <a:schemeClr val="dk1"/>
                        </a:solidFill>
                        <a:latin typeface="Times New Roman" pitchFamily="18" charset="0"/>
                        <a:ea typeface="+mn-ea"/>
                        <a:cs typeface="Times New Roman" pitchFamily="18" charset="0"/>
                      </a:endParaRPr>
                    </a:p>
                  </a:txBody>
                  <a:tcPr/>
                </a:tc>
                <a:tc>
                  <a:txBody>
                    <a:bodyPr/>
                    <a:lstStyle/>
                    <a:p>
                      <a:pPr marL="0" algn="l" defTabSz="457200" rtl="0" eaLnBrk="1" latinLnBrk="0" hangingPunct="1"/>
                      <a:r>
                        <a:rPr lang="en-US" sz="1600" kern="1200" dirty="0" smtClean="0">
                          <a:solidFill>
                            <a:schemeClr val="dk1"/>
                          </a:solidFill>
                          <a:latin typeface="Times New Roman" pitchFamily="18" charset="0"/>
                          <a:ea typeface="+mn-ea"/>
                          <a:cs typeface="Times New Roman" pitchFamily="18" charset="0"/>
                        </a:rPr>
                        <a:t>Earlier-stage companies, or solo first-time founders, need guidance of an incubator.</a:t>
                      </a:r>
                      <a:endParaRPr lang="en-US" sz="1600" kern="1200" dirty="0">
                        <a:solidFill>
                          <a:schemeClr val="dk1"/>
                        </a:solidFill>
                        <a:latin typeface="Times New Roman" pitchFamily="18" charset="0"/>
                        <a:ea typeface="+mn-ea"/>
                        <a:cs typeface="Times New Roman" pitchFamily="18" charset="0"/>
                      </a:endParaRPr>
                    </a:p>
                  </a:txBody>
                  <a:tcPr/>
                </a:tc>
              </a:tr>
            </a:tbl>
          </a:graphicData>
        </a:graphic>
      </p:graphicFrame>
    </p:spTree>
    <p:extLst>
      <p:ext uri="{BB962C8B-B14F-4D97-AF65-F5344CB8AC3E}">
        <p14:creationId xmlns:p14="http://schemas.microsoft.com/office/powerpoint/2010/main" val="342293805"/>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152400"/>
            <a:ext cx="7543800" cy="595090"/>
          </a:xfrm>
        </p:spPr>
        <p:txBody>
          <a:bodyPr>
            <a:normAutofit fontScale="90000"/>
          </a:bodyPr>
          <a:lstStyle/>
          <a:p>
            <a:pPr algn="ctr"/>
            <a:r>
              <a:rPr lang="en-US" b="1" dirty="0" smtClean="0">
                <a:latin typeface="Times New Roman" pitchFamily="18" charset="0"/>
                <a:cs typeface="Times New Roman" pitchFamily="18" charset="0"/>
              </a:rPr>
              <a:t>Incubators </a:t>
            </a:r>
            <a:r>
              <a:rPr lang="en-US" b="1" dirty="0" err="1" smtClean="0">
                <a:latin typeface="Times New Roman" pitchFamily="18" charset="0"/>
                <a:cs typeface="Times New Roman" pitchFamily="18" charset="0"/>
              </a:rPr>
              <a:t>vs</a:t>
            </a:r>
            <a:r>
              <a:rPr lang="en-US" b="1" dirty="0" smtClean="0">
                <a:latin typeface="Times New Roman" pitchFamily="18" charset="0"/>
                <a:cs typeface="Times New Roman" pitchFamily="18" charset="0"/>
              </a:rPr>
              <a:t> Accelerators</a:t>
            </a:r>
            <a:endParaRPr lang="en-US" b="1" dirty="0"/>
          </a:p>
        </p:txBody>
      </p:sp>
      <p:pic>
        <p:nvPicPr>
          <p:cNvPr id="6" name="Content Placeholder 5"/>
          <p:cNvPicPr>
            <a:picLocks noGrp="1" noChangeAspect="1"/>
          </p:cNvPicPr>
          <p:nvPr>
            <p:ph idx="1"/>
          </p:nvPr>
        </p:nvPicPr>
        <p:blipFill rotWithShape="1">
          <a:blip r:embed="rId2">
            <a:extLst>
              <a:ext uri="{28A0092B-C50C-407E-A947-70E740481C1C}">
                <a14:useLocalDpi xmlns:a14="http://schemas.microsoft.com/office/drawing/2010/main" val="0"/>
              </a:ext>
            </a:extLst>
          </a:blip>
          <a:srcRect l="3222" t="8778" r="3513" b="11069"/>
          <a:stretch/>
        </p:blipFill>
        <p:spPr>
          <a:xfrm>
            <a:off x="1676400" y="3657600"/>
            <a:ext cx="6067425" cy="2000250"/>
          </a:xfrm>
        </p:spPr>
        <p:style>
          <a:lnRef idx="2">
            <a:schemeClr val="accent4"/>
          </a:lnRef>
          <a:fillRef idx="1">
            <a:schemeClr val="lt1"/>
          </a:fillRef>
          <a:effectRef idx="0">
            <a:schemeClr val="accent4"/>
          </a:effectRef>
          <a:fontRef idx="minor">
            <a:schemeClr val="dk1"/>
          </a:fontRef>
        </p:style>
      </p:pic>
      <p:sp>
        <p:nvSpPr>
          <p:cNvPr id="4" name="Slide Number Placeholder 3"/>
          <p:cNvSpPr>
            <a:spLocks noGrp="1"/>
          </p:cNvSpPr>
          <p:nvPr>
            <p:ph type="sldNum" sz="quarter" idx="12"/>
          </p:nvPr>
        </p:nvSpPr>
        <p:spPr/>
        <p:txBody>
          <a:bodyPr/>
          <a:lstStyle/>
          <a:p>
            <a:fld id="{3592E275-D691-4E5D-BCC6-6858DE38E852}" type="slidenum">
              <a:rPr lang="en-US" smtClean="0"/>
              <a:pPr/>
              <a:t>29</a:t>
            </a:fld>
            <a:endParaRPr lang="en-US"/>
          </a:p>
        </p:txBody>
      </p:sp>
      <p:pic>
        <p:nvPicPr>
          <p:cNvPr id="5" name="Picture 4"/>
          <p:cNvPicPr>
            <a:picLocks noChangeAspect="1"/>
          </p:cNvPicPr>
          <p:nvPr/>
        </p:nvPicPr>
        <p:blipFill rotWithShape="1">
          <a:blip r:embed="rId3">
            <a:extLst>
              <a:ext uri="{28A0092B-C50C-407E-A947-70E740481C1C}">
                <a14:useLocalDpi xmlns:a14="http://schemas.microsoft.com/office/drawing/2010/main" val="0"/>
              </a:ext>
            </a:extLst>
          </a:blip>
          <a:srcRect l="3906" t="14792" r="3906" b="7708"/>
          <a:stretch/>
        </p:blipFill>
        <p:spPr>
          <a:xfrm>
            <a:off x="1524000" y="762000"/>
            <a:ext cx="6076950" cy="2696254"/>
          </a:xfrm>
          <a:prstGeom prst="rect">
            <a:avLst/>
          </a:prstGeom>
        </p:spPr>
      </p:pic>
    </p:spTree>
    <p:extLst>
      <p:ext uri="{BB962C8B-B14F-4D97-AF65-F5344CB8AC3E}">
        <p14:creationId xmlns:p14="http://schemas.microsoft.com/office/powerpoint/2010/main" val="1680042418"/>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152400"/>
            <a:ext cx="7543800" cy="595090"/>
          </a:xfrm>
        </p:spPr>
        <p:txBody>
          <a:bodyPr>
            <a:normAutofit/>
          </a:bodyPr>
          <a:lstStyle/>
          <a:p>
            <a:r>
              <a:rPr lang="en-US" sz="3000" b="1" dirty="0" smtClean="0">
                <a:latin typeface="Times New Roman" pitchFamily="18" charset="0"/>
                <a:cs typeface="Times New Roman" pitchFamily="18" charset="0"/>
              </a:rPr>
              <a:t>Institutions Supporting Startups - Summary</a:t>
            </a:r>
            <a:endParaRPr lang="en-US" sz="3000" b="1" dirty="0"/>
          </a:p>
        </p:txBody>
      </p:sp>
      <p:sp>
        <p:nvSpPr>
          <p:cNvPr id="3" name="Content Placeholder 2"/>
          <p:cNvSpPr>
            <a:spLocks noGrp="1"/>
          </p:cNvSpPr>
          <p:nvPr>
            <p:ph idx="1"/>
          </p:nvPr>
        </p:nvSpPr>
        <p:spPr>
          <a:xfrm>
            <a:off x="990600" y="762000"/>
            <a:ext cx="8001000" cy="5943600"/>
          </a:xfrm>
        </p:spPr>
        <p:style>
          <a:lnRef idx="2">
            <a:schemeClr val="accent4"/>
          </a:lnRef>
          <a:fillRef idx="1">
            <a:schemeClr val="lt1"/>
          </a:fillRef>
          <a:effectRef idx="0">
            <a:schemeClr val="accent4"/>
          </a:effectRef>
          <a:fontRef idx="minor">
            <a:schemeClr val="dk1"/>
          </a:fontRef>
        </p:style>
        <p:txBody>
          <a:bodyPr>
            <a:normAutofit/>
          </a:bodyPr>
          <a:lstStyle/>
          <a:p>
            <a:pPr marL="0" indent="0">
              <a:buNone/>
            </a:pPr>
            <a:endParaRPr lang="en-US" sz="24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3592E275-D691-4E5D-BCC6-6858DE38E852}" type="slidenum">
              <a:rPr lang="en-US" smtClean="0"/>
              <a:pPr/>
              <a:t>30</a:t>
            </a:fld>
            <a:endParaRPr lang="en-US"/>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0600" y="800100"/>
            <a:ext cx="7772402" cy="5045528"/>
          </a:xfrm>
          <a:prstGeom prst="rect">
            <a:avLst/>
          </a:prstGeom>
        </p:spPr>
      </p:pic>
    </p:spTree>
    <p:extLst>
      <p:ext uri="{BB962C8B-B14F-4D97-AF65-F5344CB8AC3E}">
        <p14:creationId xmlns:p14="http://schemas.microsoft.com/office/powerpoint/2010/main" val="3363825463"/>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152400"/>
            <a:ext cx="7543800" cy="595090"/>
          </a:xfrm>
        </p:spPr>
        <p:txBody>
          <a:bodyPr>
            <a:normAutofit fontScale="90000"/>
          </a:bodyPr>
          <a:lstStyle/>
          <a:p>
            <a:pPr algn="ctr"/>
            <a:r>
              <a:rPr lang="en-US" b="1" dirty="0" smtClean="0">
                <a:latin typeface="Times New Roman" pitchFamily="18" charset="0"/>
                <a:cs typeface="Times New Roman" pitchFamily="18" charset="0"/>
              </a:rPr>
              <a:t>Crowd Funding</a:t>
            </a:r>
            <a:br>
              <a:rPr lang="en-US" b="1" dirty="0" smtClean="0">
                <a:latin typeface="Times New Roman" pitchFamily="18" charset="0"/>
                <a:cs typeface="Times New Roman" pitchFamily="18" charset="0"/>
              </a:rPr>
            </a:br>
            <a:endParaRPr lang="en-US" b="1" dirty="0"/>
          </a:p>
        </p:txBody>
      </p:sp>
      <p:sp>
        <p:nvSpPr>
          <p:cNvPr id="3" name="Content Placeholder 2"/>
          <p:cNvSpPr>
            <a:spLocks noGrp="1"/>
          </p:cNvSpPr>
          <p:nvPr>
            <p:ph idx="1"/>
          </p:nvPr>
        </p:nvSpPr>
        <p:spPr>
          <a:xfrm>
            <a:off x="990600" y="762000"/>
            <a:ext cx="8001000" cy="5943600"/>
          </a:xfrm>
        </p:spPr>
        <p:style>
          <a:lnRef idx="2">
            <a:schemeClr val="accent4"/>
          </a:lnRef>
          <a:fillRef idx="1">
            <a:schemeClr val="lt1"/>
          </a:fillRef>
          <a:effectRef idx="0">
            <a:schemeClr val="accent4"/>
          </a:effectRef>
          <a:fontRef idx="minor">
            <a:schemeClr val="dk1"/>
          </a:fontRef>
        </p:style>
        <p:txBody>
          <a:bodyPr>
            <a:normAutofit/>
          </a:bodyPr>
          <a:lstStyle/>
          <a:p>
            <a:r>
              <a:rPr lang="en-MY" sz="2400" dirty="0">
                <a:latin typeface="Times New Roman" pitchFamily="18" charset="0"/>
                <a:cs typeface="Times New Roman" pitchFamily="18" charset="0"/>
              </a:rPr>
              <a:t>Accumulation of small investments in individual projects by large number of individuals (the “crowd”) via or with help of Internet and social </a:t>
            </a:r>
            <a:r>
              <a:rPr lang="en-MY" sz="2400" dirty="0" smtClean="0">
                <a:latin typeface="Times New Roman" pitchFamily="18" charset="0"/>
                <a:cs typeface="Times New Roman" pitchFamily="18" charset="0"/>
              </a:rPr>
              <a:t>networks.</a:t>
            </a:r>
          </a:p>
          <a:p>
            <a:r>
              <a:rPr lang="en-MY" sz="2400" dirty="0">
                <a:latin typeface="Times New Roman" pitchFamily="18" charset="0"/>
                <a:cs typeface="Times New Roman" pitchFamily="18" charset="0"/>
              </a:rPr>
              <a:t>“the collective effort of individuals who network and pool their money, usually via the Internet, to support efforts initiated by other people or organizations</a:t>
            </a:r>
            <a:r>
              <a:rPr lang="en-MY" sz="2400" dirty="0" smtClean="0">
                <a:latin typeface="Times New Roman" pitchFamily="18" charset="0"/>
                <a:cs typeface="Times New Roman" pitchFamily="18" charset="0"/>
              </a:rPr>
              <a:t>.”</a:t>
            </a:r>
          </a:p>
          <a:p>
            <a:r>
              <a:rPr lang="en-US" altLang="en-US" sz="2400" dirty="0">
                <a:latin typeface="Times New Roman" pitchFamily="18" charset="0"/>
                <a:cs typeface="Times New Roman" pitchFamily="18" charset="0"/>
              </a:rPr>
              <a:t>Most </a:t>
            </a:r>
            <a:r>
              <a:rPr lang="en-US" altLang="en-US" sz="2400" dirty="0" smtClean="0">
                <a:latin typeface="Times New Roman" pitchFamily="18" charset="0"/>
                <a:cs typeface="Times New Roman" pitchFamily="18" charset="0"/>
              </a:rPr>
              <a:t>crowd funding </a:t>
            </a:r>
            <a:r>
              <a:rPr lang="en-US" altLang="en-US" sz="2400" dirty="0">
                <a:latin typeface="Times New Roman" pitchFamily="18" charset="0"/>
                <a:cs typeface="Times New Roman" pitchFamily="18" charset="0"/>
              </a:rPr>
              <a:t>platforms specialize or focus on a specific area such as art, business or charities. </a:t>
            </a:r>
            <a:endParaRPr lang="en-MY" sz="2400" dirty="0">
              <a:latin typeface="Times New Roman" pitchFamily="18" charset="0"/>
              <a:cs typeface="Times New Roman" pitchFamily="18" charset="0"/>
            </a:endParaRPr>
          </a:p>
          <a:p>
            <a:endParaRPr lang="en-US" sz="24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3592E275-D691-4E5D-BCC6-6858DE38E852}" type="slidenum">
              <a:rPr lang="en-US" smtClean="0"/>
              <a:pPr/>
              <a:t>31</a:t>
            </a:fld>
            <a:endParaRPr lang="en-US"/>
          </a:p>
        </p:txBody>
      </p:sp>
      <p:sp>
        <p:nvSpPr>
          <p:cNvPr id="5" name="Content Placeholder 2"/>
          <p:cNvSpPr txBox="1">
            <a:spLocks/>
          </p:cNvSpPr>
          <p:nvPr/>
        </p:nvSpPr>
        <p:spPr>
          <a:xfrm>
            <a:off x="1143000" y="4114800"/>
            <a:ext cx="7620000" cy="2362200"/>
          </a:xfrm>
          <a:prstGeom prst="rect">
            <a:avLst/>
          </a:prstGeom>
        </p:spPr>
        <p:txBody>
          <a:bodyPr vert="horz" lIns="91440" tIns="45720" rIns="91440" bIns="45720" rtlCol="0">
            <a:normAutofit fontScale="85000" lnSpcReduction="20000"/>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altLang="en-US" sz="2400" b="1" dirty="0">
                <a:latin typeface="Times New Roman" pitchFamily="18" charset="0"/>
                <a:cs typeface="Times New Roman" pitchFamily="18" charset="0"/>
              </a:rPr>
              <a:t>Examples </a:t>
            </a:r>
          </a:p>
          <a:p>
            <a:r>
              <a:rPr lang="en-US" altLang="en-US" sz="2400" dirty="0" smtClean="0">
                <a:solidFill>
                  <a:schemeClr val="tx1"/>
                </a:solidFill>
                <a:latin typeface="Times New Roman" pitchFamily="18" charset="0"/>
                <a:cs typeface="Times New Roman" pitchFamily="18" charset="0"/>
              </a:rPr>
              <a:t>Crowd funder (specializes in business and tech start-ups)</a:t>
            </a:r>
          </a:p>
          <a:p>
            <a:r>
              <a:rPr lang="en-US" altLang="en-US" sz="2400" dirty="0" smtClean="0">
                <a:solidFill>
                  <a:schemeClr val="tx1"/>
                </a:solidFill>
                <a:latin typeface="Times New Roman" pitchFamily="18" charset="0"/>
                <a:cs typeface="Times New Roman" pitchFamily="18" charset="0"/>
              </a:rPr>
              <a:t>Crowd rise (funds charities &amp; causes)</a:t>
            </a:r>
          </a:p>
          <a:p>
            <a:r>
              <a:rPr lang="en-US" altLang="en-US" sz="2400" dirty="0" smtClean="0">
                <a:solidFill>
                  <a:schemeClr val="tx1"/>
                </a:solidFill>
                <a:latin typeface="Times New Roman" pitchFamily="18" charset="0"/>
                <a:cs typeface="Times New Roman" pitchFamily="18" charset="0"/>
              </a:rPr>
              <a:t>Quirky (funds for inventors)</a:t>
            </a:r>
          </a:p>
          <a:p>
            <a:r>
              <a:rPr lang="en-US" altLang="en-US" sz="2400" dirty="0" smtClean="0">
                <a:solidFill>
                  <a:schemeClr val="tx1"/>
                </a:solidFill>
                <a:latin typeface="Times New Roman" pitchFamily="18" charset="0"/>
                <a:cs typeface="Times New Roman" pitchFamily="18" charset="0"/>
              </a:rPr>
              <a:t>Invested.in (to create your own funding community)</a:t>
            </a:r>
          </a:p>
          <a:p>
            <a:r>
              <a:rPr lang="en-US" altLang="en-US" sz="2400" dirty="0" smtClean="0">
                <a:solidFill>
                  <a:schemeClr val="tx1"/>
                </a:solidFill>
                <a:latin typeface="Times New Roman" pitchFamily="18" charset="0"/>
                <a:cs typeface="Times New Roman" pitchFamily="18" charset="0"/>
              </a:rPr>
              <a:t>Indiegogo (no specialization)</a:t>
            </a:r>
          </a:p>
          <a:p>
            <a:endParaRPr lang="en-US" altLang="en-US" sz="3600" b="1" dirty="0" smtClean="0">
              <a:solidFill>
                <a:schemeClr val="tx1"/>
              </a:solidFill>
            </a:endParaRPr>
          </a:p>
        </p:txBody>
      </p:sp>
    </p:spTree>
    <p:extLst>
      <p:ext uri="{BB962C8B-B14F-4D97-AF65-F5344CB8AC3E}">
        <p14:creationId xmlns:p14="http://schemas.microsoft.com/office/powerpoint/2010/main" val="3625544347"/>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28600"/>
            <a:ext cx="6683765" cy="518890"/>
          </a:xfrm>
        </p:spPr>
        <p:txBody>
          <a:bodyPr>
            <a:normAutofit fontScale="90000"/>
          </a:bodyPr>
          <a:lstStyle/>
          <a:p>
            <a:pPr algn="ctr"/>
            <a:r>
              <a:rPr lang="en-US" b="1" dirty="0" smtClean="0">
                <a:latin typeface="Times New Roman" pitchFamily="18" charset="0"/>
                <a:cs typeface="Times New Roman" pitchFamily="18" charset="0"/>
              </a:rPr>
              <a:t>Types Of Crowd Funding</a:t>
            </a:r>
            <a:br>
              <a:rPr lang="en-US" b="1" dirty="0" smtClean="0">
                <a:latin typeface="Times New Roman" pitchFamily="18" charset="0"/>
                <a:cs typeface="Times New Roman" pitchFamily="18" charset="0"/>
              </a:rPr>
            </a:br>
            <a:r>
              <a:rPr lang="en-US" dirty="0" smtClean="0">
                <a:latin typeface="Times New Roman" pitchFamily="18" charset="0"/>
                <a:cs typeface="Times New Roman" pitchFamily="18" charset="0"/>
              </a:rPr>
              <a:t>Need to be Creative </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a:xfrm>
            <a:off x="1295400" y="838200"/>
            <a:ext cx="7620000" cy="5715000"/>
          </a:xfrm>
        </p:spPr>
        <p:style>
          <a:lnRef idx="2">
            <a:schemeClr val="accent4"/>
          </a:lnRef>
          <a:fillRef idx="1">
            <a:schemeClr val="lt1"/>
          </a:fillRef>
          <a:effectRef idx="0">
            <a:schemeClr val="accent4"/>
          </a:effectRef>
          <a:fontRef idx="minor">
            <a:schemeClr val="dk1"/>
          </a:fontRef>
        </p:style>
        <p:txBody>
          <a:bodyPr>
            <a:noAutofit/>
          </a:bodyPr>
          <a:lstStyle/>
          <a:p>
            <a:endParaRPr lang="en-US" sz="24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76BD02F1-3B5D-4C47-93DA-B84D756D9497}" type="slidenum">
              <a:rPr lang="en-US" smtClean="0"/>
              <a:pPr/>
              <a:t>32</a:t>
            </a:fld>
            <a:endParaRPr lang="en-US"/>
          </a:p>
        </p:txBody>
      </p:sp>
      <p:sp>
        <p:nvSpPr>
          <p:cNvPr id="5" name="Rounded Rectangle 4"/>
          <p:cNvSpPr/>
          <p:nvPr/>
        </p:nvSpPr>
        <p:spPr>
          <a:xfrm>
            <a:off x="3429000" y="1981200"/>
            <a:ext cx="2971800" cy="914400"/>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2400" dirty="0" smtClean="0">
                <a:latin typeface="Times New Roman" pitchFamily="18" charset="0"/>
                <a:cs typeface="Times New Roman" pitchFamily="18" charset="0"/>
              </a:rPr>
              <a:t>Types of Crowd Funding</a:t>
            </a:r>
            <a:endParaRPr lang="en-US" sz="2400" dirty="0"/>
          </a:p>
        </p:txBody>
      </p:sp>
      <p:sp>
        <p:nvSpPr>
          <p:cNvPr id="6" name="Oval 5"/>
          <p:cNvSpPr/>
          <p:nvPr/>
        </p:nvSpPr>
        <p:spPr>
          <a:xfrm>
            <a:off x="1752600" y="3505200"/>
            <a:ext cx="1524000" cy="1600200"/>
          </a:xfrm>
          <a:prstGeom prst="ellips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2000" dirty="0" smtClean="0">
                <a:latin typeface="Times New Roman" pitchFamily="18" charset="0"/>
                <a:cs typeface="Times New Roman" pitchFamily="18" charset="0"/>
              </a:rPr>
              <a:t>Rewards</a:t>
            </a:r>
            <a:endParaRPr lang="en-US" sz="2000" dirty="0">
              <a:latin typeface="Times New Roman" pitchFamily="18" charset="0"/>
              <a:cs typeface="Times New Roman" pitchFamily="18" charset="0"/>
            </a:endParaRPr>
          </a:p>
        </p:txBody>
      </p:sp>
      <p:sp>
        <p:nvSpPr>
          <p:cNvPr id="7" name="Oval 6"/>
          <p:cNvSpPr/>
          <p:nvPr/>
        </p:nvSpPr>
        <p:spPr>
          <a:xfrm>
            <a:off x="3276600" y="4267200"/>
            <a:ext cx="1600200" cy="1600200"/>
          </a:xfrm>
          <a:prstGeom prst="ellips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2000" dirty="0" smtClean="0">
                <a:latin typeface="Times New Roman" pitchFamily="18" charset="0"/>
                <a:cs typeface="Times New Roman" pitchFamily="18" charset="0"/>
              </a:rPr>
              <a:t>Donation</a:t>
            </a:r>
            <a:endParaRPr lang="en-US" sz="2000" dirty="0">
              <a:latin typeface="Times New Roman" pitchFamily="18" charset="0"/>
              <a:cs typeface="Times New Roman" pitchFamily="18" charset="0"/>
            </a:endParaRPr>
          </a:p>
        </p:txBody>
      </p:sp>
      <p:sp>
        <p:nvSpPr>
          <p:cNvPr id="8" name="Oval 7"/>
          <p:cNvSpPr/>
          <p:nvPr/>
        </p:nvSpPr>
        <p:spPr>
          <a:xfrm>
            <a:off x="5105400" y="4267200"/>
            <a:ext cx="1524000" cy="1600200"/>
          </a:xfrm>
          <a:prstGeom prst="ellips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2000" dirty="0" smtClean="0">
                <a:latin typeface="Times New Roman" pitchFamily="18" charset="0"/>
                <a:cs typeface="Times New Roman" pitchFamily="18" charset="0"/>
              </a:rPr>
              <a:t>Equity</a:t>
            </a:r>
            <a:endParaRPr lang="en-US" sz="2000" dirty="0">
              <a:latin typeface="Times New Roman" pitchFamily="18" charset="0"/>
              <a:cs typeface="Times New Roman" pitchFamily="18" charset="0"/>
            </a:endParaRPr>
          </a:p>
        </p:txBody>
      </p:sp>
      <p:sp>
        <p:nvSpPr>
          <p:cNvPr id="9" name="Oval 8"/>
          <p:cNvSpPr/>
          <p:nvPr/>
        </p:nvSpPr>
        <p:spPr>
          <a:xfrm>
            <a:off x="6781800" y="3429000"/>
            <a:ext cx="1524000" cy="1600200"/>
          </a:xfrm>
          <a:prstGeom prst="ellips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2000" dirty="0" smtClean="0">
                <a:latin typeface="Times New Roman" pitchFamily="18" charset="0"/>
                <a:cs typeface="Times New Roman" pitchFamily="18" charset="0"/>
              </a:rPr>
              <a:t>Debt </a:t>
            </a:r>
            <a:endParaRPr lang="en-US" sz="2000" dirty="0">
              <a:latin typeface="Times New Roman" pitchFamily="18" charset="0"/>
              <a:cs typeface="Times New Roman" pitchFamily="18" charset="0"/>
            </a:endParaRPr>
          </a:p>
        </p:txBody>
      </p:sp>
      <p:cxnSp>
        <p:nvCxnSpPr>
          <p:cNvPr id="11" name="Straight Connector 10"/>
          <p:cNvCxnSpPr/>
          <p:nvPr/>
        </p:nvCxnSpPr>
        <p:spPr>
          <a:xfrm rot="10800000" flipV="1">
            <a:off x="3048000" y="2895600"/>
            <a:ext cx="1447800" cy="838200"/>
          </a:xfrm>
          <a:prstGeom prst="line">
            <a:avLst/>
          </a:prstGeom>
        </p:spPr>
        <p:style>
          <a:lnRef idx="1">
            <a:schemeClr val="dk1"/>
          </a:lnRef>
          <a:fillRef idx="0">
            <a:schemeClr val="dk1"/>
          </a:fillRef>
          <a:effectRef idx="0">
            <a:schemeClr val="dk1"/>
          </a:effectRef>
          <a:fontRef idx="minor">
            <a:schemeClr val="tx1"/>
          </a:fontRef>
        </p:style>
      </p:cxnSp>
      <p:cxnSp>
        <p:nvCxnSpPr>
          <p:cNvPr id="13" name="Straight Connector 12"/>
          <p:cNvCxnSpPr>
            <a:endCxn id="9" idx="1"/>
          </p:cNvCxnSpPr>
          <p:nvPr/>
        </p:nvCxnSpPr>
        <p:spPr>
          <a:xfrm>
            <a:off x="5181600" y="2895600"/>
            <a:ext cx="1823385" cy="767744"/>
          </a:xfrm>
          <a:prstGeom prst="line">
            <a:avLst/>
          </a:prstGeom>
        </p:spPr>
        <p:style>
          <a:lnRef idx="1">
            <a:schemeClr val="dk1"/>
          </a:lnRef>
          <a:fillRef idx="0">
            <a:schemeClr val="dk1"/>
          </a:fillRef>
          <a:effectRef idx="0">
            <a:schemeClr val="dk1"/>
          </a:effectRef>
          <a:fontRef idx="minor">
            <a:schemeClr val="tx1"/>
          </a:fontRef>
        </p:style>
      </p:cxnSp>
      <p:cxnSp>
        <p:nvCxnSpPr>
          <p:cNvPr id="15" name="Straight Connector 14"/>
          <p:cNvCxnSpPr/>
          <p:nvPr/>
        </p:nvCxnSpPr>
        <p:spPr>
          <a:xfrm rot="5400000">
            <a:off x="3771900" y="3314700"/>
            <a:ext cx="1371600" cy="533400"/>
          </a:xfrm>
          <a:prstGeom prst="line">
            <a:avLst/>
          </a:prstGeom>
        </p:spPr>
        <p:style>
          <a:lnRef idx="1">
            <a:schemeClr val="dk1"/>
          </a:lnRef>
          <a:fillRef idx="0">
            <a:schemeClr val="dk1"/>
          </a:fillRef>
          <a:effectRef idx="0">
            <a:schemeClr val="dk1"/>
          </a:effectRef>
          <a:fontRef idx="minor">
            <a:schemeClr val="tx1"/>
          </a:fontRef>
        </p:style>
      </p:cxnSp>
      <p:cxnSp>
        <p:nvCxnSpPr>
          <p:cNvPr id="17" name="Straight Connector 16"/>
          <p:cNvCxnSpPr>
            <a:stCxn id="5" idx="2"/>
            <a:endCxn id="8" idx="0"/>
          </p:cNvCxnSpPr>
          <p:nvPr/>
        </p:nvCxnSpPr>
        <p:spPr>
          <a:xfrm rot="16200000" flipH="1">
            <a:off x="4705350" y="3105150"/>
            <a:ext cx="1371600" cy="95250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415004923"/>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19200" y="304800"/>
            <a:ext cx="7696200" cy="6172200"/>
          </a:xfrm>
        </p:spPr>
        <p:style>
          <a:lnRef idx="2">
            <a:schemeClr val="accent4"/>
          </a:lnRef>
          <a:fillRef idx="1">
            <a:schemeClr val="lt1"/>
          </a:fillRef>
          <a:effectRef idx="0">
            <a:schemeClr val="accent4"/>
          </a:effectRef>
          <a:fontRef idx="minor">
            <a:schemeClr val="dk1"/>
          </a:fontRef>
        </p:style>
        <p:txBody>
          <a:bodyPr>
            <a:normAutofit/>
          </a:bodyPr>
          <a:lstStyle/>
          <a:p>
            <a:pPr algn="just">
              <a:buNone/>
            </a:pPr>
            <a:r>
              <a:rPr lang="en-US" sz="2400" dirty="0" smtClean="0">
                <a:solidFill>
                  <a:srgbClr val="C00000"/>
                </a:solidFill>
                <a:latin typeface="Times New Roman" pitchFamily="18" charset="0"/>
                <a:cs typeface="Times New Roman" pitchFamily="18" charset="0"/>
              </a:rPr>
              <a:t>1. </a:t>
            </a:r>
            <a:r>
              <a:rPr lang="en-US" sz="2400" b="1" dirty="0" smtClean="0">
                <a:solidFill>
                  <a:srgbClr val="C00000"/>
                </a:solidFill>
                <a:latin typeface="Times New Roman" pitchFamily="18" charset="0"/>
                <a:cs typeface="Times New Roman" pitchFamily="18" charset="0"/>
              </a:rPr>
              <a:t>Rewards-based, </a:t>
            </a:r>
            <a:r>
              <a:rPr lang="en-US" sz="2400" dirty="0" smtClean="0">
                <a:latin typeface="Times New Roman" pitchFamily="18" charset="0"/>
                <a:cs typeface="Times New Roman" pitchFamily="18" charset="0"/>
              </a:rPr>
              <a:t>This type of crowd funding is likely to attract patrons, who invest because they enjoy your project or initiative and want to support it. The most popular reward-based sites are Kickstarter and Indiegogo.</a:t>
            </a:r>
          </a:p>
          <a:p>
            <a:pPr algn="just"/>
            <a:r>
              <a:rPr lang="en-US" sz="2400" b="1" dirty="0" smtClean="0">
                <a:latin typeface="Times New Roman" pitchFamily="18" charset="0"/>
                <a:cs typeface="Times New Roman" pitchFamily="18" charset="0"/>
              </a:rPr>
              <a:t>Main advantage: </a:t>
            </a:r>
            <a:r>
              <a:rPr lang="en-US" sz="2400" dirty="0" smtClean="0">
                <a:latin typeface="Times New Roman" pitchFamily="18" charset="0"/>
                <a:cs typeface="Times New Roman" pitchFamily="18" charset="0"/>
              </a:rPr>
              <a:t>you won’t launch your venture in debt (like in debt-based crowd funding),or give out shares of your project to patrons (like in equity-based crowd funding)</a:t>
            </a:r>
          </a:p>
          <a:p>
            <a:pPr algn="just">
              <a:buNone/>
            </a:pPr>
            <a:endParaRPr lang="en-US" sz="2400" dirty="0" smtClean="0">
              <a:latin typeface="Times New Roman" pitchFamily="18" charset="0"/>
              <a:cs typeface="Times New Roman" pitchFamily="18" charset="0"/>
            </a:endParaRPr>
          </a:p>
          <a:p>
            <a:pPr algn="just">
              <a:buNone/>
            </a:pPr>
            <a:r>
              <a:rPr lang="en-US" sz="2400" dirty="0" smtClean="0">
                <a:solidFill>
                  <a:srgbClr val="C00000"/>
                </a:solidFill>
                <a:latin typeface="Times New Roman" pitchFamily="18" charset="0"/>
                <a:cs typeface="Times New Roman" pitchFamily="18" charset="0"/>
              </a:rPr>
              <a:t>2. </a:t>
            </a:r>
            <a:r>
              <a:rPr lang="en-US" sz="2400" b="1" dirty="0" smtClean="0">
                <a:solidFill>
                  <a:srgbClr val="C00000"/>
                </a:solidFill>
                <a:latin typeface="Times New Roman" pitchFamily="18" charset="0"/>
                <a:cs typeface="Times New Roman" pitchFamily="18" charset="0"/>
              </a:rPr>
              <a:t>Donation-based,</a:t>
            </a:r>
            <a:r>
              <a:rPr lang="en-US" sz="2400" b="1"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This type of fundraising is typical for a non-profit or a cause. Example : Go found me.</a:t>
            </a:r>
          </a:p>
          <a:p>
            <a:r>
              <a:rPr lang="en-US" sz="2400" b="1" dirty="0" smtClean="0">
                <a:latin typeface="Times New Roman" pitchFamily="18" charset="0"/>
                <a:cs typeface="Times New Roman" pitchFamily="18" charset="0"/>
              </a:rPr>
              <a:t>Main advantage</a:t>
            </a:r>
            <a:r>
              <a:rPr lang="en-US" sz="2400" dirty="0" smtClean="0">
                <a:latin typeface="Times New Roman" pitchFamily="18" charset="0"/>
                <a:cs typeface="Times New Roman" pitchFamily="18" charset="0"/>
              </a:rPr>
              <a:t>: same as with rewards-based model, you don’t need to take a loan to launch your project.</a:t>
            </a:r>
          </a:p>
          <a:p>
            <a:pPr algn="just">
              <a:buNone/>
            </a:pPr>
            <a:endParaRPr lang="en-US" sz="2400" b="1" dirty="0" smtClean="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76BD02F1-3B5D-4C47-93DA-B84D756D9497}" type="slidenum">
              <a:rPr lang="en-US" smtClean="0"/>
              <a:pPr/>
              <a:t>33</a:t>
            </a:fld>
            <a:endParaRPr lang="en-US"/>
          </a:p>
        </p:txBody>
      </p:sp>
    </p:spTree>
    <p:extLst>
      <p:ext uri="{BB962C8B-B14F-4D97-AF65-F5344CB8AC3E}">
        <p14:creationId xmlns:p14="http://schemas.microsoft.com/office/powerpoint/2010/main" val="3187522996"/>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66800" y="152400"/>
            <a:ext cx="7848600" cy="6553200"/>
          </a:xfrm>
        </p:spPr>
        <p:style>
          <a:lnRef idx="2">
            <a:schemeClr val="accent4"/>
          </a:lnRef>
          <a:fillRef idx="1">
            <a:schemeClr val="lt1"/>
          </a:fillRef>
          <a:effectRef idx="0">
            <a:schemeClr val="accent4"/>
          </a:effectRef>
          <a:fontRef idx="minor">
            <a:schemeClr val="dk1"/>
          </a:fontRef>
        </p:style>
        <p:txBody>
          <a:bodyPr>
            <a:normAutofit lnSpcReduction="10000"/>
          </a:bodyPr>
          <a:lstStyle/>
          <a:p>
            <a:pPr algn="just">
              <a:buNone/>
            </a:pPr>
            <a:r>
              <a:rPr lang="en-US" sz="2400" dirty="0" smtClean="0">
                <a:solidFill>
                  <a:srgbClr val="C00000"/>
                </a:solidFill>
                <a:latin typeface="Times New Roman" pitchFamily="18" charset="0"/>
                <a:cs typeface="Times New Roman" pitchFamily="18" charset="0"/>
              </a:rPr>
              <a:t>3. </a:t>
            </a:r>
            <a:r>
              <a:rPr lang="en-US" sz="2400" b="1" dirty="0" smtClean="0">
                <a:solidFill>
                  <a:srgbClr val="C00000"/>
                </a:solidFill>
                <a:latin typeface="Times New Roman" pitchFamily="18" charset="0"/>
                <a:cs typeface="Times New Roman" pitchFamily="18" charset="0"/>
              </a:rPr>
              <a:t>Equity-based,</a:t>
            </a:r>
            <a:r>
              <a:rPr lang="en-US" sz="2400" dirty="0" smtClean="0">
                <a:latin typeface="Times New Roman" pitchFamily="18" charset="0"/>
                <a:cs typeface="Times New Roman" pitchFamily="18" charset="0"/>
              </a:rPr>
              <a:t> This type of crowd funding is aimed towards technological, industrial and professional businesses and services rather than other causes. Examples of equity crowd funding aimed sites are Crowd cube, Fundable, Seedrs, and Fig.</a:t>
            </a:r>
          </a:p>
          <a:p>
            <a:pPr algn="just"/>
            <a:r>
              <a:rPr lang="en-US" sz="2400" b="1" dirty="0" smtClean="0">
                <a:latin typeface="Times New Roman" pitchFamily="18" charset="0"/>
                <a:cs typeface="Times New Roman" pitchFamily="18" charset="0"/>
              </a:rPr>
              <a:t>Main advantage</a:t>
            </a:r>
            <a:r>
              <a:rPr lang="en-US" sz="2400" dirty="0" smtClean="0">
                <a:latin typeface="Times New Roman" pitchFamily="18" charset="0"/>
                <a:cs typeface="Times New Roman" pitchFamily="18" charset="0"/>
              </a:rPr>
              <a:t>: you will be able to collect a larger amount of money, that will allow you to launch your business, and do it without </a:t>
            </a:r>
            <a:r>
              <a:rPr lang="en-US" sz="2400" smtClean="0">
                <a:latin typeface="Times New Roman" pitchFamily="18" charset="0"/>
                <a:cs typeface="Times New Roman" pitchFamily="18" charset="0"/>
              </a:rPr>
              <a:t>taking credit</a:t>
            </a:r>
            <a:r>
              <a:rPr lang="en-US" sz="2400" dirty="0" smtClean="0">
                <a:latin typeface="Times New Roman" pitchFamily="18" charset="0"/>
                <a:cs typeface="Times New Roman" pitchFamily="18" charset="0"/>
              </a:rPr>
              <a:t>.</a:t>
            </a:r>
          </a:p>
          <a:p>
            <a:pPr algn="just">
              <a:buNone/>
            </a:pPr>
            <a:r>
              <a:rPr lang="en-US" sz="2600" dirty="0" smtClean="0">
                <a:solidFill>
                  <a:srgbClr val="C00000"/>
                </a:solidFill>
                <a:latin typeface="Times New Roman" pitchFamily="18" charset="0"/>
                <a:cs typeface="Times New Roman" pitchFamily="18" charset="0"/>
              </a:rPr>
              <a:t>4. </a:t>
            </a:r>
            <a:r>
              <a:rPr lang="en-US" sz="2600" b="1" dirty="0" smtClean="0">
                <a:solidFill>
                  <a:srgbClr val="C00000"/>
                </a:solidFill>
                <a:latin typeface="Times New Roman" pitchFamily="18" charset="0"/>
                <a:cs typeface="Times New Roman" pitchFamily="18" charset="0"/>
              </a:rPr>
              <a:t>Debt-based,</a:t>
            </a:r>
            <a:r>
              <a:rPr lang="en-US" sz="2600" dirty="0" smtClean="0">
                <a:solidFill>
                  <a:srgbClr val="C00000"/>
                </a:solidFill>
                <a:latin typeface="Times New Roman" pitchFamily="18" charset="0"/>
                <a:cs typeface="Times New Roman" pitchFamily="18" charset="0"/>
              </a:rPr>
              <a:t> </a:t>
            </a:r>
            <a:r>
              <a:rPr lang="en-US" sz="2600" dirty="0" smtClean="0">
                <a:latin typeface="Times New Roman" pitchFamily="18" charset="0"/>
                <a:cs typeface="Times New Roman" pitchFamily="18" charset="0"/>
              </a:rPr>
              <a:t>also known as peer-to-peer (P2P). It is like a credit from the bank, but instead of borrowing one larger amount of money, you borrow smaller amounts from multiple people. Examples of debt-based crowd funding platforms are Funding Circle and </a:t>
            </a:r>
            <a:r>
              <a:rPr lang="en-US" sz="2600" dirty="0" err="1" smtClean="0">
                <a:latin typeface="Times New Roman" pitchFamily="18" charset="0"/>
                <a:cs typeface="Times New Roman" pitchFamily="18" charset="0"/>
              </a:rPr>
              <a:t>Zopa</a:t>
            </a:r>
            <a:r>
              <a:rPr lang="en-US" sz="2600" dirty="0" smtClean="0">
                <a:latin typeface="Times New Roman" pitchFamily="18" charset="0"/>
                <a:cs typeface="Times New Roman" pitchFamily="18" charset="0"/>
              </a:rPr>
              <a:t>.</a:t>
            </a:r>
          </a:p>
          <a:p>
            <a:pPr algn="just"/>
            <a:r>
              <a:rPr lang="en-US" sz="2600" b="1" dirty="0" smtClean="0">
                <a:latin typeface="Times New Roman" pitchFamily="18" charset="0"/>
                <a:cs typeface="Times New Roman" pitchFamily="18" charset="0"/>
              </a:rPr>
              <a:t>Main advantage</a:t>
            </a:r>
            <a:r>
              <a:rPr lang="en-US" sz="2600" dirty="0" smtClean="0">
                <a:latin typeface="Times New Roman" pitchFamily="18" charset="0"/>
                <a:cs typeface="Times New Roman" pitchFamily="18" charset="0"/>
              </a:rPr>
              <a:t>: There is no need to apply for a loan and go through the bank paperwork as well as to have a strict, demonstrable credibility that bank requires</a:t>
            </a:r>
          </a:p>
          <a:p>
            <a:pPr algn="just"/>
            <a:endParaRPr lang="en-US" sz="28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76BD02F1-3B5D-4C47-93DA-B84D756D9497}" type="slidenum">
              <a:rPr lang="en-US" smtClean="0"/>
              <a:pPr/>
              <a:t>34</a:t>
            </a:fld>
            <a:endParaRPr lang="en-US"/>
          </a:p>
        </p:txBody>
      </p:sp>
    </p:spTree>
    <p:extLst>
      <p:ext uri="{BB962C8B-B14F-4D97-AF65-F5344CB8AC3E}">
        <p14:creationId xmlns:p14="http://schemas.microsoft.com/office/powerpoint/2010/main" val="1399869912"/>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434" name="Shape 11264"/>
          <p:cNvSpPr>
            <a:spLocks noGrp="1" noChangeArrowheads="1"/>
          </p:cNvSpPr>
          <p:nvPr>
            <p:ph type="title" idx="4294967295"/>
          </p:nvPr>
        </p:nvSpPr>
        <p:spPr>
          <a:xfrm>
            <a:off x="1295400" y="301625"/>
            <a:ext cx="7459663" cy="612775"/>
          </a:xfrm>
          <a:solidFill>
            <a:schemeClr val="bg1"/>
          </a:solidFill>
        </p:spPr>
        <p:txBody>
          <a:bodyPr>
            <a:normAutofit/>
          </a:bodyPr>
          <a:lstStyle/>
          <a:p>
            <a:pPr algn="ctr"/>
            <a:r>
              <a:rPr lang="en-US" sz="3200" b="1" dirty="0" smtClean="0">
                <a:latin typeface="Times New Roman" pitchFamily="18" charset="0"/>
                <a:cs typeface="Times New Roman" pitchFamily="18" charset="0"/>
              </a:rPr>
              <a:t>Commercial </a:t>
            </a:r>
            <a:r>
              <a:rPr lang="en-US" sz="3200" b="1" dirty="0" smtClean="0">
                <a:latin typeface="Times New Roman" pitchFamily="18" charset="0"/>
                <a:cs typeface="Times New Roman" pitchFamily="18" charset="0"/>
              </a:rPr>
              <a:t>Banks </a:t>
            </a:r>
            <a:endParaRPr lang="en-US" sz="3200" b="1" dirty="0" smtClean="0">
              <a:latin typeface="Times New Roman" pitchFamily="18" charset="0"/>
              <a:cs typeface="Times New Roman" pitchFamily="18" charset="0"/>
            </a:endParaRPr>
          </a:p>
        </p:txBody>
      </p:sp>
      <p:sp>
        <p:nvSpPr>
          <p:cNvPr id="10243" name="Shape 11265"/>
          <p:cNvSpPr>
            <a:spLocks noGrp="1" noChangeArrowheads="1"/>
          </p:cNvSpPr>
          <p:nvPr>
            <p:ph type="body" idx="4294967295"/>
          </p:nvPr>
        </p:nvSpPr>
        <p:spPr>
          <a:xfrm>
            <a:off x="1295400" y="990600"/>
            <a:ext cx="7464425" cy="5334000"/>
          </a:xfrm>
        </p:spPr>
        <p:style>
          <a:lnRef idx="2">
            <a:schemeClr val="accent4"/>
          </a:lnRef>
          <a:fillRef idx="1">
            <a:schemeClr val="lt1"/>
          </a:fillRef>
          <a:effectRef idx="0">
            <a:schemeClr val="accent4"/>
          </a:effectRef>
          <a:fontRef idx="minor">
            <a:schemeClr val="dk1"/>
          </a:fontRef>
        </p:style>
        <p:txBody>
          <a:bodyPr>
            <a:normAutofit/>
          </a:bodyPr>
          <a:lstStyle/>
          <a:p>
            <a:r>
              <a:rPr lang="en-US" sz="2400" dirty="0" smtClean="0">
                <a:latin typeface="Times New Roman" pitchFamily="18" charset="0"/>
                <a:cs typeface="Times New Roman" pitchFamily="18" charset="0"/>
              </a:rPr>
              <a:t>Types of Bank Loans (Asset based)</a:t>
            </a:r>
          </a:p>
          <a:p>
            <a:pPr lvl="1"/>
            <a:r>
              <a:rPr lang="en-US" sz="2400" dirty="0" smtClean="0">
                <a:latin typeface="Times New Roman" pitchFamily="18" charset="0"/>
                <a:cs typeface="Times New Roman" pitchFamily="18" charset="0"/>
              </a:rPr>
              <a:t>Accounts receivable loans.</a:t>
            </a:r>
          </a:p>
          <a:p>
            <a:pPr lvl="1"/>
            <a:r>
              <a:rPr lang="en-US" sz="2400" dirty="0" smtClean="0">
                <a:latin typeface="Times New Roman" pitchFamily="18" charset="0"/>
                <a:cs typeface="Times New Roman" pitchFamily="18" charset="0"/>
              </a:rPr>
              <a:t>Inventory loans.</a:t>
            </a:r>
          </a:p>
          <a:p>
            <a:pPr lvl="1"/>
            <a:r>
              <a:rPr lang="en-US" sz="2400" dirty="0" smtClean="0">
                <a:latin typeface="Times New Roman" pitchFamily="18" charset="0"/>
                <a:cs typeface="Times New Roman" pitchFamily="18" charset="0"/>
              </a:rPr>
              <a:t>Equipment loans.</a:t>
            </a:r>
          </a:p>
          <a:p>
            <a:pPr lvl="1"/>
            <a:r>
              <a:rPr lang="en-US" sz="2400" dirty="0" smtClean="0">
                <a:latin typeface="Times New Roman" pitchFamily="18" charset="0"/>
                <a:cs typeface="Times New Roman" pitchFamily="18" charset="0"/>
              </a:rPr>
              <a:t>Real-estate loans.</a:t>
            </a:r>
          </a:p>
          <a:p>
            <a:r>
              <a:rPr lang="en-US" sz="2400" dirty="0" smtClean="0">
                <a:latin typeface="Times New Roman" pitchFamily="18" charset="0"/>
                <a:cs typeface="Times New Roman" pitchFamily="18" charset="0"/>
              </a:rPr>
              <a:t>Cash flow financing (Conventional bank loans)</a:t>
            </a:r>
          </a:p>
          <a:p>
            <a:pPr lvl="1"/>
            <a:r>
              <a:rPr lang="en-US" sz="2400" dirty="0" smtClean="0">
                <a:latin typeface="Times New Roman" pitchFamily="18" charset="0"/>
                <a:cs typeface="Times New Roman" pitchFamily="18" charset="0"/>
              </a:rPr>
              <a:t>Installment loans.</a:t>
            </a:r>
          </a:p>
          <a:p>
            <a:pPr lvl="1"/>
            <a:r>
              <a:rPr lang="en-US" sz="2400" dirty="0" smtClean="0">
                <a:latin typeface="Times New Roman" pitchFamily="18" charset="0"/>
                <a:cs typeface="Times New Roman" pitchFamily="18" charset="0"/>
              </a:rPr>
              <a:t>Straight commercial loans.</a:t>
            </a:r>
          </a:p>
          <a:p>
            <a:pPr lvl="1"/>
            <a:r>
              <a:rPr lang="en-US" sz="2400" dirty="0" smtClean="0">
                <a:latin typeface="Times New Roman" pitchFamily="18" charset="0"/>
                <a:cs typeface="Times New Roman" pitchFamily="18" charset="0"/>
              </a:rPr>
              <a:t>Long-term loans.</a:t>
            </a:r>
          </a:p>
          <a:p>
            <a:pPr lvl="1"/>
            <a:r>
              <a:rPr lang="en-US" sz="2400" dirty="0" smtClean="0">
                <a:latin typeface="Times New Roman" pitchFamily="18" charset="0"/>
                <a:cs typeface="Times New Roman" pitchFamily="18" charset="0"/>
              </a:rPr>
              <a:t>Character loans.</a:t>
            </a:r>
          </a:p>
        </p:txBody>
      </p:sp>
      <p:sp>
        <p:nvSpPr>
          <p:cNvPr id="4" name="Slide Number Placeholder 3"/>
          <p:cNvSpPr>
            <a:spLocks noGrp="1"/>
          </p:cNvSpPr>
          <p:nvPr>
            <p:ph type="sldNum" sz="quarter" idx="12"/>
          </p:nvPr>
        </p:nvSpPr>
        <p:spPr/>
        <p:txBody>
          <a:bodyPr/>
          <a:lstStyle/>
          <a:p>
            <a:fld id="{3592E275-D691-4E5D-BCC6-6858DE38E852}" type="slidenum">
              <a:rPr lang="en-US" smtClean="0"/>
              <a:pPr/>
              <a:t>35</a:t>
            </a:fld>
            <a:endParaRPr lang="en-US"/>
          </a:p>
        </p:txBody>
      </p:sp>
    </p:spTree>
    <p:extLst>
      <p:ext uri="{BB962C8B-B14F-4D97-AF65-F5344CB8AC3E}">
        <p14:creationId xmlns:p14="http://schemas.microsoft.com/office/powerpoint/2010/main" val="142874478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243">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243">
                                            <p:txEl>
                                              <p:pRg st="0" end="0"/>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243">
                                            <p:txEl>
                                              <p:pRg st="1" end="1"/>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243">
                                            <p:txEl>
                                              <p:pRg st="2" end="2"/>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243">
                                            <p:txEl>
                                              <p:pRg st="3" end="3"/>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243">
                                            <p:txEl>
                                              <p:pRg st="4" end="4"/>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0243">
                                            <p:txEl>
                                              <p:pRg st="5" end="5"/>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0243">
                                            <p:txEl>
                                              <p:pRg st="6" end="6"/>
                                            </p:txEl>
                                          </p:spTgt>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0243">
                                            <p:txEl>
                                              <p:pRg st="7" end="7"/>
                                            </p:txEl>
                                          </p:spTgt>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0243">
                                            <p:txEl>
                                              <p:pRg st="8" end="8"/>
                                            </p:txEl>
                                          </p:spTgt>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024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build="p"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Picture 3"/>
          <p:cNvPicPr>
            <a:picLocks noChangeAspect="1" noChangeArrowheads="1"/>
          </p:cNvPicPr>
          <p:nvPr/>
        </p:nvPicPr>
        <p:blipFill>
          <a:blip r:embed="rId2">
            <a:extLst>
              <a:ext uri="{28A0092B-C50C-407E-A947-70E740481C1C}">
                <a14:useLocalDpi xmlns:a14="http://schemas.microsoft.com/office/drawing/2010/main" val="0"/>
              </a:ext>
            </a:extLst>
          </a:blip>
          <a:srcRect l="7399" t="20000" r="10008"/>
          <a:stretch>
            <a:fillRect/>
          </a:stretch>
        </p:blipFill>
        <p:spPr bwMode="auto">
          <a:xfrm>
            <a:off x="1143000" y="228600"/>
            <a:ext cx="7848599" cy="6400800"/>
          </a:xfrm>
          <a:prstGeom prst="rect">
            <a:avLst/>
          </a:prstGeom>
          <a:ln/>
          <a:extLst/>
        </p:spPr>
        <p:style>
          <a:lnRef idx="1">
            <a:schemeClr val="accent4"/>
          </a:lnRef>
          <a:fillRef idx="2">
            <a:schemeClr val="accent4"/>
          </a:fillRef>
          <a:effectRef idx="1">
            <a:schemeClr val="accent4"/>
          </a:effectRef>
          <a:fontRef idx="minor">
            <a:schemeClr val="dk1"/>
          </a:fontRef>
        </p:style>
      </p:pic>
      <p:sp>
        <p:nvSpPr>
          <p:cNvPr id="3" name="Slide Number Placeholder 2"/>
          <p:cNvSpPr>
            <a:spLocks noGrp="1"/>
          </p:cNvSpPr>
          <p:nvPr>
            <p:ph type="sldNum" sz="quarter" idx="12"/>
          </p:nvPr>
        </p:nvSpPr>
        <p:spPr/>
        <p:txBody>
          <a:bodyPr/>
          <a:lstStyle/>
          <a:p>
            <a:fld id="{3592E275-D691-4E5D-BCC6-6858DE38E852}" type="slidenum">
              <a:rPr lang="en-US" smtClean="0"/>
              <a:pPr/>
              <a:t>36</a:t>
            </a:fld>
            <a:endParaRPr lang="en-US"/>
          </a:p>
        </p:txBody>
      </p:sp>
    </p:spTree>
    <p:extLst>
      <p:ext uri="{BB962C8B-B14F-4D97-AF65-F5344CB8AC3E}">
        <p14:creationId xmlns:p14="http://schemas.microsoft.com/office/powerpoint/2010/main" val="1157810390"/>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2" name="Picture 2"/>
          <p:cNvPicPr>
            <a:picLocks noChangeAspect="1" noChangeArrowheads="1"/>
          </p:cNvPicPr>
          <p:nvPr/>
        </p:nvPicPr>
        <p:blipFill>
          <a:blip r:embed="rId2">
            <a:extLst>
              <a:ext uri="{28A0092B-C50C-407E-A947-70E740481C1C}">
                <a14:useLocalDpi xmlns:a14="http://schemas.microsoft.com/office/drawing/2010/main" val="0"/>
              </a:ext>
            </a:extLst>
          </a:blip>
          <a:srcRect l="6531" r="9138"/>
          <a:stretch>
            <a:fillRect/>
          </a:stretch>
        </p:blipFill>
        <p:spPr bwMode="auto">
          <a:xfrm>
            <a:off x="914400" y="152400"/>
            <a:ext cx="8001000" cy="6491289"/>
          </a:xfrm>
          <a:prstGeom prst="rect">
            <a:avLst/>
          </a:prstGeom>
          <a:ln/>
          <a:extLst/>
        </p:spPr>
        <p:style>
          <a:lnRef idx="1">
            <a:schemeClr val="accent4"/>
          </a:lnRef>
          <a:fillRef idx="2">
            <a:schemeClr val="accent4"/>
          </a:fillRef>
          <a:effectRef idx="1">
            <a:schemeClr val="accent4"/>
          </a:effectRef>
          <a:fontRef idx="minor">
            <a:schemeClr val="dk1"/>
          </a:fontRef>
        </p:style>
      </p:pic>
      <p:sp>
        <p:nvSpPr>
          <p:cNvPr id="3" name="Slide Number Placeholder 2"/>
          <p:cNvSpPr>
            <a:spLocks noGrp="1"/>
          </p:cNvSpPr>
          <p:nvPr>
            <p:ph type="sldNum" sz="quarter" idx="12"/>
          </p:nvPr>
        </p:nvSpPr>
        <p:spPr/>
        <p:txBody>
          <a:bodyPr/>
          <a:lstStyle/>
          <a:p>
            <a:fld id="{3592E275-D691-4E5D-BCC6-6858DE38E852}" type="slidenum">
              <a:rPr lang="en-US" smtClean="0"/>
              <a:pPr/>
              <a:t>37</a:t>
            </a:fld>
            <a:endParaRPr lang="en-US"/>
          </a:p>
        </p:txBody>
      </p:sp>
    </p:spTree>
    <p:extLst>
      <p:ext uri="{BB962C8B-B14F-4D97-AF65-F5344CB8AC3E}">
        <p14:creationId xmlns:p14="http://schemas.microsoft.com/office/powerpoint/2010/main" val="3709868373"/>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6" name="Picture 2"/>
          <p:cNvPicPr>
            <a:picLocks noChangeAspect="1" noChangeArrowheads="1"/>
          </p:cNvPicPr>
          <p:nvPr/>
        </p:nvPicPr>
        <p:blipFill>
          <a:blip r:embed="rId2">
            <a:extLst>
              <a:ext uri="{28A0092B-C50C-407E-A947-70E740481C1C}">
                <a14:useLocalDpi xmlns:a14="http://schemas.microsoft.com/office/drawing/2010/main" val="0"/>
              </a:ext>
            </a:extLst>
          </a:blip>
          <a:srcRect l="9885" r="7210"/>
          <a:stretch>
            <a:fillRect/>
          </a:stretch>
        </p:blipFill>
        <p:spPr bwMode="auto">
          <a:xfrm>
            <a:off x="914399" y="152400"/>
            <a:ext cx="8001001" cy="6553200"/>
          </a:xfrm>
          <a:prstGeom prst="rect">
            <a:avLst/>
          </a:prstGeom>
          <a:ln/>
          <a:extLst/>
        </p:spPr>
        <p:style>
          <a:lnRef idx="1">
            <a:schemeClr val="accent4"/>
          </a:lnRef>
          <a:fillRef idx="2">
            <a:schemeClr val="accent4"/>
          </a:fillRef>
          <a:effectRef idx="1">
            <a:schemeClr val="accent4"/>
          </a:effectRef>
          <a:fontRef idx="minor">
            <a:schemeClr val="dk1"/>
          </a:fontRef>
        </p:style>
      </p:pic>
      <p:sp>
        <p:nvSpPr>
          <p:cNvPr id="3" name="Slide Number Placeholder 2"/>
          <p:cNvSpPr>
            <a:spLocks noGrp="1"/>
          </p:cNvSpPr>
          <p:nvPr>
            <p:ph type="sldNum" sz="quarter" idx="12"/>
          </p:nvPr>
        </p:nvSpPr>
        <p:spPr/>
        <p:txBody>
          <a:bodyPr/>
          <a:lstStyle/>
          <a:p>
            <a:fld id="{3592E275-D691-4E5D-BCC6-6858DE38E852}" type="slidenum">
              <a:rPr lang="en-US" smtClean="0"/>
              <a:pPr/>
              <a:t>38</a:t>
            </a:fld>
            <a:endParaRPr lang="en-US"/>
          </a:p>
        </p:txBody>
      </p:sp>
    </p:spTree>
    <p:extLst>
      <p:ext uri="{BB962C8B-B14F-4D97-AF65-F5344CB8AC3E}">
        <p14:creationId xmlns:p14="http://schemas.microsoft.com/office/powerpoint/2010/main" val="1681565797"/>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0" name="Picture 2"/>
          <p:cNvPicPr>
            <a:picLocks noChangeAspect="1" noChangeArrowheads="1"/>
          </p:cNvPicPr>
          <p:nvPr/>
        </p:nvPicPr>
        <p:blipFill>
          <a:blip r:embed="rId2">
            <a:extLst>
              <a:ext uri="{28A0092B-C50C-407E-A947-70E740481C1C}">
                <a14:useLocalDpi xmlns:a14="http://schemas.microsoft.com/office/drawing/2010/main" val="0"/>
              </a:ext>
            </a:extLst>
          </a:blip>
          <a:srcRect l="9885" r="7210" b="41043"/>
          <a:stretch>
            <a:fillRect/>
          </a:stretch>
        </p:blipFill>
        <p:spPr bwMode="auto">
          <a:xfrm>
            <a:off x="990600" y="152400"/>
            <a:ext cx="8001000" cy="6477000"/>
          </a:xfrm>
          <a:prstGeom prst="rect">
            <a:avLst/>
          </a:prstGeom>
          <a:ln/>
          <a:extLst/>
        </p:spPr>
        <p:style>
          <a:lnRef idx="1">
            <a:schemeClr val="accent4"/>
          </a:lnRef>
          <a:fillRef idx="2">
            <a:schemeClr val="accent4"/>
          </a:fillRef>
          <a:effectRef idx="1">
            <a:schemeClr val="accent4"/>
          </a:effectRef>
          <a:fontRef idx="minor">
            <a:schemeClr val="dk1"/>
          </a:fontRef>
        </p:style>
      </p:pic>
      <p:sp>
        <p:nvSpPr>
          <p:cNvPr id="3" name="Slide Number Placeholder 2"/>
          <p:cNvSpPr>
            <a:spLocks noGrp="1"/>
          </p:cNvSpPr>
          <p:nvPr>
            <p:ph type="sldNum" sz="quarter" idx="12"/>
          </p:nvPr>
        </p:nvSpPr>
        <p:spPr/>
        <p:txBody>
          <a:bodyPr/>
          <a:lstStyle/>
          <a:p>
            <a:fld id="{3592E275-D691-4E5D-BCC6-6858DE38E852}" type="slidenum">
              <a:rPr lang="en-US" smtClean="0"/>
              <a:pPr/>
              <a:t>39</a:t>
            </a:fld>
            <a:endParaRPr lang="en-US"/>
          </a:p>
        </p:txBody>
      </p:sp>
    </p:spTree>
    <p:extLst>
      <p:ext uri="{BB962C8B-B14F-4D97-AF65-F5344CB8AC3E}">
        <p14:creationId xmlns:p14="http://schemas.microsoft.com/office/powerpoint/2010/main" val="2407884841"/>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152400"/>
            <a:ext cx="8153400" cy="457200"/>
          </a:xfrm>
        </p:spPr>
        <p:txBody>
          <a:bodyPr>
            <a:normAutofit fontScale="90000"/>
          </a:bodyPr>
          <a:lstStyle/>
          <a:p>
            <a:pPr algn="ctr"/>
            <a:r>
              <a:rPr lang="en-IN" b="1" dirty="0">
                <a:solidFill>
                  <a:schemeClr val="tx1"/>
                </a:solidFill>
                <a:latin typeface="Times New Roman" pitchFamily="18" charset="0"/>
                <a:cs typeface="Times New Roman" pitchFamily="18" charset="0"/>
              </a:rPr>
              <a:t>Create </a:t>
            </a:r>
            <a:r>
              <a:rPr lang="en-IN" b="1" dirty="0" smtClean="0">
                <a:solidFill>
                  <a:schemeClr val="tx1"/>
                </a:solidFill>
                <a:latin typeface="Times New Roman" pitchFamily="18" charset="0"/>
                <a:cs typeface="Times New Roman" pitchFamily="18" charset="0"/>
              </a:rPr>
              <a:t>A Funding Plan</a:t>
            </a:r>
            <a:endParaRPr lang="en-US" b="1" dirty="0">
              <a:solidFill>
                <a:schemeClr val="tx1"/>
              </a:solidFill>
            </a:endParaRPr>
          </a:p>
        </p:txBody>
      </p:sp>
      <p:sp>
        <p:nvSpPr>
          <p:cNvPr id="3" name="Content Placeholder 2"/>
          <p:cNvSpPr>
            <a:spLocks noGrp="1"/>
          </p:cNvSpPr>
          <p:nvPr>
            <p:ph idx="1"/>
          </p:nvPr>
        </p:nvSpPr>
        <p:spPr>
          <a:xfrm>
            <a:off x="1066800" y="762000"/>
            <a:ext cx="7848600" cy="5715000"/>
          </a:xfrm>
        </p:spPr>
        <p:style>
          <a:lnRef idx="2">
            <a:schemeClr val="accent4"/>
          </a:lnRef>
          <a:fillRef idx="1">
            <a:schemeClr val="lt1"/>
          </a:fillRef>
          <a:effectRef idx="0">
            <a:schemeClr val="accent4"/>
          </a:effectRef>
          <a:fontRef idx="minor">
            <a:schemeClr val="dk1"/>
          </a:fontRef>
        </p:style>
        <p:txBody>
          <a:bodyPr>
            <a:noAutofit/>
          </a:bodyPr>
          <a:lstStyle/>
          <a:p>
            <a:pPr algn="just"/>
            <a:r>
              <a:rPr lang="en-US" sz="2300" dirty="0" smtClean="0">
                <a:latin typeface="Times New Roman" pitchFamily="18" charset="0"/>
                <a:cs typeface="Times New Roman" pitchFamily="18" charset="0"/>
              </a:rPr>
              <a:t>A </a:t>
            </a:r>
            <a:r>
              <a:rPr lang="en-US" sz="2300" dirty="0">
                <a:latin typeface="Times New Roman" pitchFamily="18" charset="0"/>
                <a:cs typeface="Times New Roman" pitchFamily="18" charset="0"/>
              </a:rPr>
              <a:t>funding plan is a document that outlines how </a:t>
            </a:r>
            <a:r>
              <a:rPr lang="en-US" sz="2300" dirty="0" smtClean="0">
                <a:latin typeface="Times New Roman" pitchFamily="18" charset="0"/>
                <a:cs typeface="Times New Roman" pitchFamily="18" charset="0"/>
              </a:rPr>
              <a:t>an idea is going to be financed by an entrepreneur. </a:t>
            </a:r>
          </a:p>
          <a:p>
            <a:pPr algn="just"/>
            <a:r>
              <a:rPr lang="en-US" sz="2300" dirty="0" smtClean="0">
                <a:latin typeface="Times New Roman" pitchFamily="18" charset="0"/>
                <a:cs typeface="Times New Roman" pitchFamily="18" charset="0"/>
              </a:rPr>
              <a:t>It </a:t>
            </a:r>
            <a:r>
              <a:rPr lang="en-US" sz="2300" dirty="0">
                <a:latin typeface="Times New Roman" pitchFamily="18" charset="0"/>
                <a:cs typeface="Times New Roman" pitchFamily="18" charset="0"/>
              </a:rPr>
              <a:t>helps </a:t>
            </a:r>
            <a:r>
              <a:rPr lang="en-US" sz="2300" dirty="0" smtClean="0">
                <a:latin typeface="Times New Roman" pitchFamily="18" charset="0"/>
                <a:cs typeface="Times New Roman" pitchFamily="18" charset="0"/>
              </a:rPr>
              <a:t>in mapping out </a:t>
            </a:r>
            <a:r>
              <a:rPr lang="en-US" sz="2300" dirty="0">
                <a:latin typeface="Times New Roman" pitchFamily="18" charset="0"/>
                <a:cs typeface="Times New Roman" pitchFamily="18" charset="0"/>
              </a:rPr>
              <a:t>possible methods of income generation, </a:t>
            </a:r>
            <a:r>
              <a:rPr lang="en-US" sz="2300" dirty="0" smtClean="0">
                <a:latin typeface="Times New Roman" pitchFamily="18" charset="0"/>
                <a:cs typeface="Times New Roman" pitchFamily="18" charset="0"/>
              </a:rPr>
              <a:t>identifying </a:t>
            </a:r>
            <a:r>
              <a:rPr lang="en-US" sz="2300" dirty="0">
                <a:latin typeface="Times New Roman" pitchFamily="18" charset="0"/>
                <a:cs typeface="Times New Roman" pitchFamily="18" charset="0"/>
              </a:rPr>
              <a:t>potential funders, and plan </a:t>
            </a:r>
            <a:r>
              <a:rPr lang="en-US" sz="2300" dirty="0" smtClean="0">
                <a:latin typeface="Times New Roman" pitchFamily="18" charset="0"/>
                <a:cs typeface="Times New Roman" pitchFamily="18" charset="0"/>
              </a:rPr>
              <a:t>of developing </a:t>
            </a:r>
            <a:r>
              <a:rPr lang="en-US" sz="2300" dirty="0">
                <a:latin typeface="Times New Roman" pitchFamily="18" charset="0"/>
                <a:cs typeface="Times New Roman" pitchFamily="18" charset="0"/>
              </a:rPr>
              <a:t>your funding applications. </a:t>
            </a:r>
            <a:endParaRPr lang="en-US" sz="2300" dirty="0" smtClean="0">
              <a:latin typeface="Times New Roman" pitchFamily="18" charset="0"/>
              <a:cs typeface="Times New Roman" pitchFamily="18" charset="0"/>
            </a:endParaRPr>
          </a:p>
          <a:p>
            <a:pPr marL="0" indent="0" algn="just">
              <a:buNone/>
            </a:pPr>
            <a:r>
              <a:rPr lang="en-US" sz="2300" b="1" dirty="0" smtClean="0">
                <a:latin typeface="Times New Roman" pitchFamily="18" charset="0"/>
                <a:cs typeface="Times New Roman" pitchFamily="18" charset="0"/>
              </a:rPr>
              <a:t>Components of a Good Funding </a:t>
            </a:r>
            <a:r>
              <a:rPr lang="en-US" sz="2300" b="1" dirty="0">
                <a:latin typeface="Times New Roman" pitchFamily="18" charset="0"/>
                <a:cs typeface="Times New Roman" pitchFamily="18" charset="0"/>
              </a:rPr>
              <a:t>P</a:t>
            </a:r>
            <a:r>
              <a:rPr lang="en-US" sz="2300" b="1" dirty="0" smtClean="0">
                <a:latin typeface="Times New Roman" pitchFamily="18" charset="0"/>
                <a:cs typeface="Times New Roman" pitchFamily="18" charset="0"/>
              </a:rPr>
              <a:t>lan:</a:t>
            </a:r>
            <a:endParaRPr lang="en-US" sz="2300" b="1" dirty="0">
              <a:latin typeface="Times New Roman" pitchFamily="18" charset="0"/>
              <a:cs typeface="Times New Roman" pitchFamily="18" charset="0"/>
            </a:endParaRPr>
          </a:p>
          <a:p>
            <a:pPr algn="just"/>
            <a:r>
              <a:rPr lang="en-US" sz="2300" dirty="0">
                <a:latin typeface="Times New Roman" pitchFamily="18" charset="0"/>
                <a:cs typeface="Times New Roman" pitchFamily="18" charset="0"/>
              </a:rPr>
              <a:t>Identify </a:t>
            </a:r>
            <a:r>
              <a:rPr lang="en-US" sz="2300" dirty="0" smtClean="0">
                <a:latin typeface="Times New Roman" pitchFamily="18" charset="0"/>
                <a:cs typeface="Times New Roman" pitchFamily="18" charset="0"/>
              </a:rPr>
              <a:t>the </a:t>
            </a:r>
            <a:r>
              <a:rPr lang="en-US" sz="2300" dirty="0">
                <a:latin typeface="Times New Roman" pitchFamily="18" charset="0"/>
                <a:cs typeface="Times New Roman" pitchFamily="18" charset="0"/>
              </a:rPr>
              <a:t>funding needs (how much money </a:t>
            </a:r>
            <a:r>
              <a:rPr lang="en-US" sz="2300" dirty="0" smtClean="0">
                <a:latin typeface="Times New Roman" pitchFamily="18" charset="0"/>
                <a:cs typeface="Times New Roman" pitchFamily="18" charset="0"/>
              </a:rPr>
              <a:t>is needed and the purpose for which it is needed)</a:t>
            </a:r>
            <a:endParaRPr lang="en-US" sz="2300" dirty="0">
              <a:latin typeface="Times New Roman" pitchFamily="18" charset="0"/>
              <a:cs typeface="Times New Roman" pitchFamily="18" charset="0"/>
            </a:endParaRPr>
          </a:p>
          <a:p>
            <a:pPr algn="just"/>
            <a:r>
              <a:rPr lang="en-US" sz="2300" dirty="0">
                <a:latin typeface="Times New Roman" pitchFamily="18" charset="0"/>
                <a:cs typeface="Times New Roman" pitchFamily="18" charset="0"/>
              </a:rPr>
              <a:t>Identify potential methods of income generation – including self-generation of income (through selling products/services </a:t>
            </a:r>
            <a:r>
              <a:rPr lang="en-US" sz="2300" dirty="0" err="1">
                <a:latin typeface="Times New Roman" pitchFamily="18" charset="0"/>
                <a:cs typeface="Times New Roman" pitchFamily="18" charset="0"/>
              </a:rPr>
              <a:t>etc</a:t>
            </a:r>
            <a:r>
              <a:rPr lang="en-US" sz="2300" dirty="0">
                <a:latin typeface="Times New Roman" pitchFamily="18" charset="0"/>
                <a:cs typeface="Times New Roman" pitchFamily="18" charset="0"/>
              </a:rPr>
              <a:t>) and external sources of funding.</a:t>
            </a:r>
          </a:p>
          <a:p>
            <a:pPr algn="just"/>
            <a:r>
              <a:rPr lang="en-US" sz="2300" dirty="0">
                <a:latin typeface="Times New Roman" pitchFamily="18" charset="0"/>
                <a:cs typeface="Times New Roman" pitchFamily="18" charset="0"/>
              </a:rPr>
              <a:t>Identify potential funders and gather information on their application processes.</a:t>
            </a:r>
          </a:p>
          <a:p>
            <a:pPr algn="just"/>
            <a:r>
              <a:rPr lang="en-US" sz="2300" dirty="0">
                <a:latin typeface="Times New Roman" pitchFamily="18" charset="0"/>
                <a:cs typeface="Times New Roman" pitchFamily="18" charset="0"/>
              </a:rPr>
              <a:t>Plan out how and when you will go about applying for funds.</a:t>
            </a:r>
          </a:p>
          <a:p>
            <a:pPr algn="just"/>
            <a:endParaRPr lang="en-US" sz="2300" dirty="0">
              <a:latin typeface="Times New Roman" pitchFamily="18" charset="0"/>
              <a:cs typeface="Times New Roman" pitchFamily="18" charset="0"/>
            </a:endParaRPr>
          </a:p>
          <a:p>
            <a:pPr marL="0" indent="0" algn="just">
              <a:buNone/>
            </a:pPr>
            <a:endParaRPr lang="en-US" sz="23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3592E275-D691-4E5D-BCC6-6858DE38E852}" type="slidenum">
              <a:rPr lang="en-US" smtClean="0"/>
              <a:pPr/>
              <a:t>40</a:t>
            </a:fld>
            <a:endParaRPr lang="en-US"/>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152400"/>
            <a:ext cx="8153400" cy="838200"/>
          </a:xfrm>
        </p:spPr>
        <p:txBody>
          <a:bodyPr>
            <a:normAutofit/>
          </a:bodyPr>
          <a:lstStyle/>
          <a:p>
            <a:pPr algn="ctr"/>
            <a:r>
              <a:rPr lang="en-IN" b="1" dirty="0">
                <a:solidFill>
                  <a:schemeClr val="tx1"/>
                </a:solidFill>
                <a:latin typeface="Times New Roman" pitchFamily="18" charset="0"/>
                <a:cs typeface="Times New Roman" pitchFamily="18" charset="0"/>
              </a:rPr>
              <a:t>Create </a:t>
            </a:r>
            <a:r>
              <a:rPr lang="en-IN" b="1" dirty="0" smtClean="0">
                <a:solidFill>
                  <a:schemeClr val="tx1"/>
                </a:solidFill>
                <a:latin typeface="Times New Roman" pitchFamily="18" charset="0"/>
                <a:cs typeface="Times New Roman" pitchFamily="18" charset="0"/>
              </a:rPr>
              <a:t>A Funding Plan</a:t>
            </a:r>
            <a:endParaRPr lang="en-US" b="1" dirty="0">
              <a:solidFill>
                <a:schemeClr val="tx1"/>
              </a:solidFill>
            </a:endParaRPr>
          </a:p>
        </p:txBody>
      </p:sp>
      <p:sp>
        <p:nvSpPr>
          <p:cNvPr id="3" name="Content Placeholder 2"/>
          <p:cNvSpPr>
            <a:spLocks noGrp="1"/>
          </p:cNvSpPr>
          <p:nvPr>
            <p:ph idx="1"/>
          </p:nvPr>
        </p:nvSpPr>
        <p:spPr>
          <a:xfrm>
            <a:off x="1066800" y="990600"/>
            <a:ext cx="7848600" cy="5715000"/>
          </a:xfrm>
        </p:spPr>
        <p:style>
          <a:lnRef idx="2">
            <a:schemeClr val="accent4"/>
          </a:lnRef>
          <a:fillRef idx="1">
            <a:schemeClr val="lt1"/>
          </a:fillRef>
          <a:effectRef idx="0">
            <a:schemeClr val="accent4"/>
          </a:effectRef>
          <a:fontRef idx="minor">
            <a:schemeClr val="dk1"/>
          </a:fontRef>
        </p:style>
        <p:txBody>
          <a:bodyPr>
            <a:noAutofit/>
          </a:bodyPr>
          <a:lstStyle/>
          <a:p>
            <a:pPr algn="just"/>
            <a:endParaRPr lang="en-US" sz="2300" dirty="0" smtClean="0">
              <a:latin typeface="Times New Roman" pitchFamily="18" charset="0"/>
              <a:cs typeface="Times New Roman" pitchFamily="18" charset="0"/>
            </a:endParaRPr>
          </a:p>
          <a:p>
            <a:pPr algn="just"/>
            <a:endParaRPr lang="en-US" sz="2300" dirty="0">
              <a:latin typeface="Times New Roman" pitchFamily="18" charset="0"/>
              <a:cs typeface="Times New Roman" pitchFamily="18" charset="0"/>
            </a:endParaRPr>
          </a:p>
          <a:p>
            <a:pPr algn="just"/>
            <a:endParaRPr lang="en-US" sz="2300" dirty="0" smtClean="0">
              <a:latin typeface="Times New Roman" pitchFamily="18" charset="0"/>
              <a:cs typeface="Times New Roman" pitchFamily="18" charset="0"/>
            </a:endParaRPr>
          </a:p>
          <a:p>
            <a:pPr algn="just"/>
            <a:r>
              <a:rPr lang="en-US" sz="2300" dirty="0" smtClean="0">
                <a:latin typeface="Times New Roman" pitchFamily="18" charset="0"/>
                <a:cs typeface="Times New Roman" pitchFamily="18" charset="0"/>
              </a:rPr>
              <a:t>Plan </a:t>
            </a:r>
            <a:r>
              <a:rPr lang="en-US" sz="2300" dirty="0">
                <a:latin typeface="Times New Roman" pitchFamily="18" charset="0"/>
                <a:cs typeface="Times New Roman" pitchFamily="18" charset="0"/>
              </a:rPr>
              <a:t>out how and when you will go about applying for funds.</a:t>
            </a:r>
          </a:p>
          <a:p>
            <a:pPr algn="just"/>
            <a:endParaRPr lang="en-US" sz="2300" dirty="0">
              <a:latin typeface="Times New Roman" pitchFamily="18" charset="0"/>
              <a:cs typeface="Times New Roman" pitchFamily="18" charset="0"/>
            </a:endParaRPr>
          </a:p>
          <a:p>
            <a:pPr marL="0" indent="0" algn="just">
              <a:buNone/>
            </a:pPr>
            <a:endParaRPr lang="en-US" sz="23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3592E275-D691-4E5D-BCC6-6858DE38E852}" type="slidenum">
              <a:rPr lang="en-US" smtClean="0"/>
              <a:pPr/>
              <a:t>41</a:t>
            </a:fld>
            <a:endParaRPr lang="en-US"/>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43000" y="1191904"/>
            <a:ext cx="7477628" cy="5391572"/>
          </a:xfrm>
          <a:prstGeom prst="rect">
            <a:avLst/>
          </a:prstGeom>
        </p:spPr>
      </p:pic>
    </p:spTree>
    <p:extLst>
      <p:ext uri="{BB962C8B-B14F-4D97-AF65-F5344CB8AC3E}">
        <p14:creationId xmlns:p14="http://schemas.microsoft.com/office/powerpoint/2010/main" val="596800206"/>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0"/>
            <a:ext cx="8153400" cy="838200"/>
          </a:xfrm>
        </p:spPr>
        <p:txBody>
          <a:bodyPr>
            <a:normAutofit/>
          </a:bodyPr>
          <a:lstStyle/>
          <a:p>
            <a:pPr algn="ctr"/>
            <a:r>
              <a:rPr lang="en-IN" b="1" dirty="0">
                <a:solidFill>
                  <a:schemeClr val="tx1"/>
                </a:solidFill>
                <a:latin typeface="Times New Roman" pitchFamily="18" charset="0"/>
                <a:cs typeface="Times New Roman" pitchFamily="18" charset="0"/>
              </a:rPr>
              <a:t>Pitch </a:t>
            </a:r>
            <a:r>
              <a:rPr lang="en-IN" b="1" dirty="0" smtClean="0">
                <a:solidFill>
                  <a:schemeClr val="tx1"/>
                </a:solidFill>
                <a:latin typeface="Times New Roman" pitchFamily="18" charset="0"/>
                <a:cs typeface="Times New Roman" pitchFamily="18" charset="0"/>
              </a:rPr>
              <a:t>Deck</a:t>
            </a:r>
            <a:endParaRPr lang="en-US" b="1" dirty="0"/>
          </a:p>
        </p:txBody>
      </p:sp>
      <p:sp>
        <p:nvSpPr>
          <p:cNvPr id="3" name="Content Placeholder 2"/>
          <p:cNvSpPr>
            <a:spLocks noGrp="1"/>
          </p:cNvSpPr>
          <p:nvPr>
            <p:ph idx="1"/>
          </p:nvPr>
        </p:nvSpPr>
        <p:spPr>
          <a:xfrm>
            <a:off x="1066800" y="990600"/>
            <a:ext cx="7848600" cy="5715000"/>
          </a:xfrm>
        </p:spPr>
        <p:style>
          <a:lnRef idx="2">
            <a:schemeClr val="accent4"/>
          </a:lnRef>
          <a:fillRef idx="1">
            <a:schemeClr val="lt1"/>
          </a:fillRef>
          <a:effectRef idx="0">
            <a:schemeClr val="accent4"/>
          </a:effectRef>
          <a:fontRef idx="minor">
            <a:schemeClr val="dk1"/>
          </a:fontRef>
        </p:style>
        <p:txBody>
          <a:bodyPr>
            <a:noAutofit/>
          </a:bodyPr>
          <a:lstStyle/>
          <a:p>
            <a:r>
              <a:rPr lang="en-US" sz="2400" dirty="0" smtClean="0">
                <a:latin typeface="Times New Roman" pitchFamily="18" charset="0"/>
                <a:cs typeface="Times New Roman" pitchFamily="18" charset="0"/>
              </a:rPr>
              <a:t>A pitch </a:t>
            </a:r>
            <a:r>
              <a:rPr lang="en-US" sz="2400" dirty="0">
                <a:latin typeface="Times New Roman" pitchFamily="18" charset="0"/>
                <a:cs typeface="Times New Roman" pitchFamily="18" charset="0"/>
              </a:rPr>
              <a:t>deck is a presentation deck that is used to pitch </a:t>
            </a:r>
            <a:r>
              <a:rPr lang="en-US" sz="2400" dirty="0" smtClean="0">
                <a:latin typeface="Times New Roman" pitchFamily="18" charset="0"/>
                <a:cs typeface="Times New Roman" pitchFamily="18" charset="0"/>
              </a:rPr>
              <a:t>an </a:t>
            </a:r>
            <a:r>
              <a:rPr lang="en-US" sz="2400" dirty="0">
                <a:latin typeface="Times New Roman" pitchFamily="18" charset="0"/>
                <a:cs typeface="Times New Roman" pitchFamily="18" charset="0"/>
              </a:rPr>
              <a:t>idea or company to any number of audiences, generally investors. </a:t>
            </a:r>
            <a:endParaRPr lang="en-US" sz="2400" dirty="0" smtClean="0">
              <a:latin typeface="Times New Roman" pitchFamily="18" charset="0"/>
              <a:cs typeface="Times New Roman" pitchFamily="18" charset="0"/>
            </a:endParaRPr>
          </a:p>
          <a:p>
            <a:r>
              <a:rPr lang="en-US" sz="2400" dirty="0">
                <a:latin typeface="Times New Roman" pitchFamily="18" charset="0"/>
                <a:cs typeface="Times New Roman" pitchFamily="18" charset="0"/>
              </a:rPr>
              <a:t>It is a brief presentation that gives potential investors or clients an overview of </a:t>
            </a:r>
            <a:r>
              <a:rPr lang="en-US" sz="2400" dirty="0" smtClean="0">
                <a:latin typeface="Times New Roman" pitchFamily="18" charset="0"/>
                <a:cs typeface="Times New Roman" pitchFamily="18" charset="0"/>
              </a:rPr>
              <a:t>the </a:t>
            </a:r>
            <a:r>
              <a:rPr lang="en-US" sz="2400" dirty="0">
                <a:latin typeface="Times New Roman" pitchFamily="18" charset="0"/>
                <a:cs typeface="Times New Roman" pitchFamily="18" charset="0"/>
              </a:rPr>
              <a:t>business plan, products, services and growth traction.</a:t>
            </a:r>
          </a:p>
          <a:p>
            <a:r>
              <a:rPr lang="en-US" sz="2400" dirty="0" smtClean="0">
                <a:latin typeface="Times New Roman" pitchFamily="18" charset="0"/>
                <a:cs typeface="Times New Roman" pitchFamily="18" charset="0"/>
              </a:rPr>
              <a:t>It is essential to organize a </a:t>
            </a:r>
            <a:r>
              <a:rPr lang="en-US" sz="2400" dirty="0">
                <a:latin typeface="Times New Roman" pitchFamily="18" charset="0"/>
                <a:cs typeface="Times New Roman" pitchFamily="18" charset="0"/>
              </a:rPr>
              <a:t>pitch deck </a:t>
            </a:r>
            <a:r>
              <a:rPr lang="en-US" sz="2400" dirty="0" smtClean="0">
                <a:latin typeface="Times New Roman" pitchFamily="18" charset="0"/>
                <a:cs typeface="Times New Roman" pitchFamily="18" charset="0"/>
              </a:rPr>
              <a:t>based </a:t>
            </a:r>
            <a:r>
              <a:rPr lang="en-US" sz="2400" dirty="0">
                <a:latin typeface="Times New Roman" pitchFamily="18" charset="0"/>
                <a:cs typeface="Times New Roman" pitchFamily="18" charset="0"/>
              </a:rPr>
              <a:t>on the audience and forum to which it is being presented</a:t>
            </a:r>
            <a:r>
              <a:rPr lang="en-US" sz="2400" dirty="0" smtClean="0">
                <a:latin typeface="Times New Roman" pitchFamily="18" charset="0"/>
                <a:cs typeface="Times New Roman" pitchFamily="18" charset="0"/>
              </a:rPr>
              <a:t>.</a:t>
            </a:r>
          </a:p>
          <a:p>
            <a:r>
              <a:rPr lang="en-US" sz="2400" dirty="0">
                <a:latin typeface="Times New Roman" pitchFamily="18" charset="0"/>
                <a:cs typeface="Times New Roman" pitchFamily="18" charset="0"/>
              </a:rPr>
              <a:t>Key components to a pitch deck include high level summary slides, the problem </a:t>
            </a:r>
            <a:r>
              <a:rPr lang="en-US" sz="2400" dirty="0" smtClean="0">
                <a:latin typeface="Times New Roman" pitchFamily="18" charset="0"/>
                <a:cs typeface="Times New Roman" pitchFamily="18" charset="0"/>
              </a:rPr>
              <a:t>being addressed, </a:t>
            </a:r>
            <a:r>
              <a:rPr lang="en-US" sz="2400" dirty="0">
                <a:latin typeface="Times New Roman" pitchFamily="18" charset="0"/>
                <a:cs typeface="Times New Roman" pitchFamily="18" charset="0"/>
              </a:rPr>
              <a:t>the product, the market/strategy, the team, financials/projections and the tone </a:t>
            </a:r>
            <a:r>
              <a:rPr lang="en-US" sz="2400" dirty="0" smtClean="0">
                <a:latin typeface="Times New Roman" pitchFamily="18" charset="0"/>
                <a:cs typeface="Times New Roman" pitchFamily="18" charset="0"/>
              </a:rPr>
              <a:t>used to convey an idea.</a:t>
            </a:r>
          </a:p>
          <a:p>
            <a:r>
              <a:rPr lang="en-US" sz="2400" dirty="0">
                <a:latin typeface="Times New Roman" pitchFamily="18" charset="0"/>
                <a:cs typeface="Times New Roman" pitchFamily="18" charset="0"/>
              </a:rPr>
              <a:t>A good rule of thumb is to include no more than 19 slides in a pitch deck.</a:t>
            </a:r>
          </a:p>
        </p:txBody>
      </p:sp>
      <p:sp>
        <p:nvSpPr>
          <p:cNvPr id="4" name="Slide Number Placeholder 3"/>
          <p:cNvSpPr>
            <a:spLocks noGrp="1"/>
          </p:cNvSpPr>
          <p:nvPr>
            <p:ph type="sldNum" sz="quarter" idx="12"/>
          </p:nvPr>
        </p:nvSpPr>
        <p:spPr/>
        <p:txBody>
          <a:bodyPr/>
          <a:lstStyle/>
          <a:p>
            <a:fld id="{3592E275-D691-4E5D-BCC6-6858DE38E852}" type="slidenum">
              <a:rPr lang="en-US" smtClean="0"/>
              <a:pPr/>
              <a:t>42</a:t>
            </a:fld>
            <a:endParaRPr lang="en-US"/>
          </a:p>
        </p:txBody>
      </p:sp>
    </p:spTree>
    <p:extLst>
      <p:ext uri="{BB962C8B-B14F-4D97-AF65-F5344CB8AC3E}">
        <p14:creationId xmlns:p14="http://schemas.microsoft.com/office/powerpoint/2010/main" val="357454480"/>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0"/>
            <a:ext cx="8153400" cy="838200"/>
          </a:xfrm>
        </p:spPr>
        <p:txBody>
          <a:bodyPr>
            <a:normAutofit/>
          </a:bodyPr>
          <a:lstStyle/>
          <a:p>
            <a:pPr algn="ctr"/>
            <a:r>
              <a:rPr lang="en-IN" b="1" dirty="0">
                <a:solidFill>
                  <a:schemeClr val="tx1"/>
                </a:solidFill>
                <a:latin typeface="Times New Roman" pitchFamily="18" charset="0"/>
                <a:cs typeface="Times New Roman" pitchFamily="18" charset="0"/>
              </a:rPr>
              <a:t>Pitch </a:t>
            </a:r>
            <a:r>
              <a:rPr lang="en-IN" b="1" dirty="0" smtClean="0">
                <a:solidFill>
                  <a:schemeClr val="tx1"/>
                </a:solidFill>
                <a:latin typeface="Times New Roman" pitchFamily="18" charset="0"/>
                <a:cs typeface="Times New Roman" pitchFamily="18" charset="0"/>
              </a:rPr>
              <a:t>Deck</a:t>
            </a:r>
            <a:endParaRPr lang="en-US" b="1" dirty="0">
              <a:solidFill>
                <a:schemeClr val="tx1"/>
              </a:solidFill>
            </a:endParaRPr>
          </a:p>
        </p:txBody>
      </p:sp>
      <p:sp>
        <p:nvSpPr>
          <p:cNvPr id="3" name="Content Placeholder 2"/>
          <p:cNvSpPr>
            <a:spLocks noGrp="1"/>
          </p:cNvSpPr>
          <p:nvPr>
            <p:ph idx="1"/>
          </p:nvPr>
        </p:nvSpPr>
        <p:spPr>
          <a:xfrm>
            <a:off x="1066800" y="990600"/>
            <a:ext cx="7848600" cy="5715000"/>
          </a:xfrm>
        </p:spPr>
        <p:style>
          <a:lnRef idx="2">
            <a:schemeClr val="accent4"/>
          </a:lnRef>
          <a:fillRef idx="1">
            <a:schemeClr val="lt1"/>
          </a:fillRef>
          <a:effectRef idx="0">
            <a:schemeClr val="accent4"/>
          </a:effectRef>
          <a:fontRef idx="minor">
            <a:schemeClr val="dk1"/>
          </a:fontRef>
        </p:style>
        <p:txBody>
          <a:bodyPr>
            <a:noAutofit/>
          </a:bodyPr>
          <a:lstStyle/>
          <a:p>
            <a:endParaRPr lang="en-US" sz="2400" dirty="0" smtClean="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3592E275-D691-4E5D-BCC6-6858DE38E852}" type="slidenum">
              <a:rPr lang="en-US" smtClean="0"/>
              <a:pPr/>
              <a:t>43</a:t>
            </a:fld>
            <a:endParaRPr lang="en-US"/>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4400" y="990600"/>
            <a:ext cx="8370276" cy="5648960"/>
          </a:xfrm>
          <a:prstGeom prst="rect">
            <a:avLst/>
          </a:prstGeom>
        </p:spPr>
      </p:pic>
    </p:spTree>
    <p:extLst>
      <p:ext uri="{BB962C8B-B14F-4D97-AF65-F5344CB8AC3E}">
        <p14:creationId xmlns:p14="http://schemas.microsoft.com/office/powerpoint/2010/main" val="3299494996"/>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0"/>
            <a:ext cx="8153400" cy="838200"/>
          </a:xfrm>
        </p:spPr>
        <p:txBody>
          <a:bodyPr>
            <a:normAutofit/>
          </a:bodyPr>
          <a:lstStyle/>
          <a:p>
            <a:pPr algn="ctr"/>
            <a:r>
              <a:rPr lang="en-IN" b="1" dirty="0">
                <a:solidFill>
                  <a:schemeClr val="tx1"/>
                </a:solidFill>
                <a:latin typeface="Times New Roman" pitchFamily="18" charset="0"/>
                <a:cs typeface="Times New Roman" pitchFamily="18" charset="0"/>
              </a:rPr>
              <a:t>Pitch </a:t>
            </a:r>
            <a:r>
              <a:rPr lang="en-IN" b="1" dirty="0" smtClean="0">
                <a:solidFill>
                  <a:schemeClr val="tx1"/>
                </a:solidFill>
                <a:latin typeface="Times New Roman" pitchFamily="18" charset="0"/>
                <a:cs typeface="Times New Roman" pitchFamily="18" charset="0"/>
              </a:rPr>
              <a:t>Deck</a:t>
            </a:r>
            <a:endParaRPr lang="en-US" b="1" dirty="0">
              <a:solidFill>
                <a:schemeClr val="tx1"/>
              </a:solidFill>
            </a:endParaRPr>
          </a:p>
        </p:txBody>
      </p:sp>
      <p:sp>
        <p:nvSpPr>
          <p:cNvPr id="4" name="Slide Number Placeholder 3"/>
          <p:cNvSpPr>
            <a:spLocks noGrp="1"/>
          </p:cNvSpPr>
          <p:nvPr>
            <p:ph type="sldNum" sz="quarter" idx="12"/>
          </p:nvPr>
        </p:nvSpPr>
        <p:spPr/>
        <p:txBody>
          <a:bodyPr/>
          <a:lstStyle/>
          <a:p>
            <a:fld id="{3592E275-D691-4E5D-BCC6-6858DE38E852}" type="slidenum">
              <a:rPr lang="en-US" smtClean="0"/>
              <a:pPr/>
              <a:t>44</a:t>
            </a:fld>
            <a:endParaRPr lang="en-US"/>
          </a:p>
        </p:txBody>
      </p:sp>
      <p:pic>
        <p:nvPicPr>
          <p:cNvPr id="8" name="Content Placeholder 7"/>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28750" y="736585"/>
            <a:ext cx="6115050" cy="4591080"/>
          </a:xfrm>
        </p:spPr>
      </p:pic>
    </p:spTree>
    <p:extLst>
      <p:ext uri="{BB962C8B-B14F-4D97-AF65-F5344CB8AC3E}">
        <p14:creationId xmlns:p14="http://schemas.microsoft.com/office/powerpoint/2010/main" val="2344431871"/>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0"/>
            <a:ext cx="8153400" cy="838200"/>
          </a:xfrm>
        </p:spPr>
        <p:txBody>
          <a:bodyPr>
            <a:normAutofit/>
          </a:bodyPr>
          <a:lstStyle/>
          <a:p>
            <a:pPr algn="ctr"/>
            <a:r>
              <a:rPr lang="en-IN" b="1" dirty="0" smtClean="0">
                <a:solidFill>
                  <a:schemeClr val="tx1"/>
                </a:solidFill>
                <a:latin typeface="Times New Roman" pitchFamily="18" charset="0"/>
                <a:cs typeface="Times New Roman" pitchFamily="18" charset="0"/>
              </a:rPr>
              <a:t>Building A-Team</a:t>
            </a:r>
            <a:endParaRPr lang="en-US" b="1" dirty="0"/>
          </a:p>
        </p:txBody>
      </p:sp>
      <p:sp>
        <p:nvSpPr>
          <p:cNvPr id="3" name="Content Placeholder 2"/>
          <p:cNvSpPr>
            <a:spLocks noGrp="1"/>
          </p:cNvSpPr>
          <p:nvPr>
            <p:ph idx="1"/>
          </p:nvPr>
        </p:nvSpPr>
        <p:spPr>
          <a:xfrm>
            <a:off x="1066800" y="990600"/>
            <a:ext cx="7848600" cy="5715000"/>
          </a:xfrm>
        </p:spPr>
        <p:style>
          <a:lnRef idx="2">
            <a:schemeClr val="accent4"/>
          </a:lnRef>
          <a:fillRef idx="1">
            <a:schemeClr val="lt1"/>
          </a:fillRef>
          <a:effectRef idx="0">
            <a:schemeClr val="accent4"/>
          </a:effectRef>
          <a:fontRef idx="minor">
            <a:schemeClr val="dk1"/>
          </a:fontRef>
        </p:style>
        <p:txBody>
          <a:bodyPr>
            <a:noAutofit/>
          </a:bodyPr>
          <a:lstStyle/>
          <a:p>
            <a:r>
              <a:rPr lang="en-US" sz="2200" dirty="0" smtClean="0">
                <a:latin typeface="Times New Roman" pitchFamily="18" charset="0"/>
                <a:cs typeface="Times New Roman" pitchFamily="18" charset="0"/>
              </a:rPr>
              <a:t>"</a:t>
            </a:r>
            <a:r>
              <a:rPr lang="en-US" sz="2200" dirty="0">
                <a:latin typeface="Times New Roman" pitchFamily="18" charset="0"/>
                <a:cs typeface="Times New Roman" pitchFamily="18" charset="0"/>
              </a:rPr>
              <a:t>Teamwork makes the dream work, but a vision becomes a nightmare when the leader has a big dream and a bad team" </a:t>
            </a:r>
            <a:r>
              <a:rPr lang="en-US" sz="2200" dirty="0" smtClean="0">
                <a:latin typeface="Times New Roman" pitchFamily="18" charset="0"/>
                <a:cs typeface="Times New Roman" pitchFamily="18" charset="0"/>
              </a:rPr>
              <a:t>         										– </a:t>
            </a:r>
            <a:r>
              <a:rPr lang="en-US" sz="2200" b="1" dirty="0" smtClean="0">
                <a:latin typeface="Times New Roman" pitchFamily="18" charset="0"/>
                <a:cs typeface="Times New Roman" pitchFamily="18" charset="0"/>
              </a:rPr>
              <a:t>John </a:t>
            </a:r>
            <a:r>
              <a:rPr lang="en-US" sz="2200" b="1" dirty="0">
                <a:latin typeface="Times New Roman" pitchFamily="18" charset="0"/>
                <a:cs typeface="Times New Roman" pitchFamily="18" charset="0"/>
              </a:rPr>
              <a:t>Maxwell, </a:t>
            </a:r>
            <a:r>
              <a:rPr lang="en-US" sz="2200" b="1" dirty="0" smtClean="0">
                <a:latin typeface="Times New Roman" pitchFamily="18" charset="0"/>
                <a:cs typeface="Times New Roman" pitchFamily="18" charset="0"/>
              </a:rPr>
              <a:t>Author</a:t>
            </a:r>
          </a:p>
          <a:p>
            <a:pPr>
              <a:spcBef>
                <a:spcPts val="0"/>
              </a:spcBef>
            </a:pPr>
            <a:r>
              <a:rPr lang="en-US" sz="2200" dirty="0">
                <a:latin typeface="Times New Roman" pitchFamily="18" charset="0"/>
                <a:cs typeface="Times New Roman" pitchFamily="18" charset="0"/>
              </a:rPr>
              <a:t>"There’s nothing wrong with staying small. You can do big things with a small team" </a:t>
            </a:r>
            <a:r>
              <a:rPr lang="en-US" sz="2200" dirty="0" smtClean="0">
                <a:latin typeface="Times New Roman" pitchFamily="18" charset="0"/>
                <a:cs typeface="Times New Roman" pitchFamily="18" charset="0"/>
              </a:rPr>
              <a:t>-</a:t>
            </a:r>
            <a:r>
              <a:rPr lang="en-US" sz="2200" b="1" dirty="0" smtClean="0">
                <a:latin typeface="Times New Roman" pitchFamily="18" charset="0"/>
                <a:cs typeface="Times New Roman" pitchFamily="18" charset="0"/>
              </a:rPr>
              <a:t>Jason </a:t>
            </a:r>
            <a:r>
              <a:rPr lang="en-US" sz="2200" b="1" dirty="0">
                <a:latin typeface="Times New Roman" pitchFamily="18" charset="0"/>
                <a:cs typeface="Times New Roman" pitchFamily="18" charset="0"/>
              </a:rPr>
              <a:t>Fried, </a:t>
            </a:r>
            <a:r>
              <a:rPr lang="en-US" sz="2200" b="1" dirty="0" smtClean="0">
                <a:latin typeface="Times New Roman" pitchFamily="18" charset="0"/>
                <a:cs typeface="Times New Roman" pitchFamily="18" charset="0"/>
              </a:rPr>
              <a:t>Entrepreneur</a:t>
            </a:r>
          </a:p>
          <a:p>
            <a:pPr>
              <a:spcBef>
                <a:spcPts val="0"/>
              </a:spcBef>
            </a:pPr>
            <a:r>
              <a:rPr lang="en-US" sz="2200" dirty="0">
                <a:latin typeface="Times New Roman" pitchFamily="18" charset="0"/>
                <a:cs typeface="Times New Roman" pitchFamily="18" charset="0"/>
              </a:rPr>
              <a:t>"Great things in business are never done by one person </a:t>
            </a:r>
            <a:r>
              <a:rPr lang="en-US" sz="2200" dirty="0" smtClean="0">
                <a:latin typeface="Times New Roman" pitchFamily="18" charset="0"/>
                <a:cs typeface="Times New Roman" pitchFamily="18" charset="0"/>
              </a:rPr>
              <a:t>"       </a:t>
            </a:r>
          </a:p>
          <a:p>
            <a:pPr marL="0" indent="0">
              <a:spcBef>
                <a:spcPts val="0"/>
              </a:spcBef>
              <a:buNone/>
            </a:pPr>
            <a:r>
              <a:rPr lang="en-US" sz="2200" dirty="0" smtClean="0">
                <a:latin typeface="Times New Roman" pitchFamily="18" charset="0"/>
                <a:cs typeface="Times New Roman" pitchFamily="18" charset="0"/>
              </a:rPr>
              <a:t>                                           </a:t>
            </a:r>
            <a:r>
              <a:rPr lang="en-US" sz="2200" b="1" dirty="0" smtClean="0">
                <a:latin typeface="Times New Roman" pitchFamily="18" charset="0"/>
                <a:cs typeface="Times New Roman" pitchFamily="18" charset="0"/>
              </a:rPr>
              <a:t>-Steve </a:t>
            </a:r>
            <a:r>
              <a:rPr lang="en-US" sz="2200" b="1" dirty="0">
                <a:latin typeface="Times New Roman" pitchFamily="18" charset="0"/>
                <a:cs typeface="Times New Roman" pitchFamily="18" charset="0"/>
              </a:rPr>
              <a:t>Jobs, </a:t>
            </a:r>
            <a:r>
              <a:rPr lang="en-US" sz="2200" b="1" dirty="0" smtClean="0">
                <a:latin typeface="Times New Roman" pitchFamily="18" charset="0"/>
                <a:cs typeface="Times New Roman" pitchFamily="18" charset="0"/>
              </a:rPr>
              <a:t>Co-Founder </a:t>
            </a:r>
            <a:r>
              <a:rPr lang="en-US" sz="2200" b="1" dirty="0">
                <a:latin typeface="Times New Roman" pitchFamily="18" charset="0"/>
                <a:cs typeface="Times New Roman" pitchFamily="18" charset="0"/>
              </a:rPr>
              <a:t>of </a:t>
            </a:r>
            <a:r>
              <a:rPr lang="en-US" sz="2200" b="1" dirty="0" smtClean="0">
                <a:latin typeface="Times New Roman" pitchFamily="18" charset="0"/>
                <a:cs typeface="Times New Roman" pitchFamily="18" charset="0"/>
              </a:rPr>
              <a:t>Apple</a:t>
            </a:r>
          </a:p>
          <a:p>
            <a:pPr marL="0" indent="0">
              <a:spcBef>
                <a:spcPts val="0"/>
              </a:spcBef>
              <a:buNone/>
            </a:pPr>
            <a:r>
              <a:rPr lang="en-US" sz="2200" dirty="0" smtClean="0">
                <a:latin typeface="Times New Roman" pitchFamily="18" charset="0"/>
                <a:cs typeface="Times New Roman" pitchFamily="18" charset="0"/>
              </a:rPr>
              <a:t>“If </a:t>
            </a:r>
            <a:r>
              <a:rPr lang="en-US" sz="2200" dirty="0">
                <a:latin typeface="Times New Roman" pitchFamily="18" charset="0"/>
                <a:cs typeface="Times New Roman" pitchFamily="18" charset="0"/>
              </a:rPr>
              <a:t>you want to go fast, go alone; if you want to go far, go together</a:t>
            </a:r>
            <a:r>
              <a:rPr lang="en-US" sz="2200" dirty="0" smtClean="0">
                <a:latin typeface="Times New Roman" pitchFamily="18" charset="0"/>
                <a:cs typeface="Times New Roman" pitchFamily="18" charset="0"/>
              </a:rPr>
              <a:t>.” </a:t>
            </a:r>
          </a:p>
          <a:p>
            <a:pPr marL="0" indent="0">
              <a:spcBef>
                <a:spcPts val="0"/>
              </a:spcBef>
              <a:buNone/>
            </a:pPr>
            <a:r>
              <a:rPr lang="en-US" sz="2200" dirty="0" smtClean="0">
                <a:latin typeface="Times New Roman" pitchFamily="18" charset="0"/>
                <a:cs typeface="Times New Roman" pitchFamily="18" charset="0"/>
              </a:rPr>
              <a:t>Thus</a:t>
            </a:r>
            <a:r>
              <a:rPr lang="en-US" sz="2200" dirty="0">
                <a:latin typeface="Times New Roman" pitchFamily="18" charset="0"/>
                <a:cs typeface="Times New Roman" pitchFamily="18" charset="0"/>
              </a:rPr>
              <a:t>, to take your startup to stellar heights, you need to start by building a winning team that will take you far.</a:t>
            </a:r>
            <a:br>
              <a:rPr lang="en-US" sz="2200" dirty="0">
                <a:latin typeface="Times New Roman" pitchFamily="18" charset="0"/>
                <a:cs typeface="Times New Roman" pitchFamily="18" charset="0"/>
              </a:rPr>
            </a:br>
            <a:r>
              <a:rPr lang="en-US" sz="2400" dirty="0"/>
              <a:t/>
            </a:r>
            <a:br>
              <a:rPr lang="en-US" sz="2400" dirty="0"/>
            </a:br>
            <a:r>
              <a:rPr lang="en-US" sz="2200" b="1" dirty="0">
                <a:latin typeface="Times New Roman" pitchFamily="18" charset="0"/>
                <a:cs typeface="Times New Roman" pitchFamily="18" charset="0"/>
              </a:rPr>
              <a:t/>
            </a:r>
            <a:br>
              <a:rPr lang="en-US" sz="2200" b="1" dirty="0">
                <a:latin typeface="Times New Roman" pitchFamily="18" charset="0"/>
                <a:cs typeface="Times New Roman" pitchFamily="18" charset="0"/>
              </a:rPr>
            </a:br>
            <a:r>
              <a:rPr lang="en-US" sz="2200" b="1" dirty="0"/>
              <a:t/>
            </a:r>
            <a:br>
              <a:rPr lang="en-US" sz="2200" b="1" dirty="0"/>
            </a:br>
            <a:r>
              <a:rPr lang="en-US" sz="2400" b="1" dirty="0">
                <a:latin typeface="Times New Roman" pitchFamily="18" charset="0"/>
                <a:cs typeface="Times New Roman" pitchFamily="18" charset="0"/>
              </a:rPr>
              <a:t/>
            </a:r>
            <a:br>
              <a:rPr lang="en-US" sz="2400" b="1" dirty="0">
                <a:latin typeface="Times New Roman" pitchFamily="18" charset="0"/>
                <a:cs typeface="Times New Roman" pitchFamily="18" charset="0"/>
              </a:rPr>
            </a:br>
            <a:r>
              <a:rPr lang="en-US" dirty="0"/>
              <a:t/>
            </a:r>
            <a:br>
              <a:rPr lang="en-US" dirty="0"/>
            </a:br>
            <a:endParaRPr lang="en-US" sz="18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3592E275-D691-4E5D-BCC6-6858DE38E852}" type="slidenum">
              <a:rPr lang="en-US" smtClean="0"/>
              <a:pPr/>
              <a:t>45</a:t>
            </a:fld>
            <a:endParaRPr lang="en-US"/>
          </a:p>
        </p:txBody>
      </p:sp>
      <p:pic>
        <p:nvPicPr>
          <p:cNvPr id="5" name="Picture 4"/>
          <p:cNvPicPr>
            <a:picLocks noChangeAspect="1"/>
          </p:cNvPicPr>
          <p:nvPr/>
        </p:nvPicPr>
        <p:blipFill rotWithShape="1">
          <a:blip r:embed="rId2">
            <a:extLst>
              <a:ext uri="{28A0092B-C50C-407E-A947-70E740481C1C}">
                <a14:useLocalDpi xmlns:a14="http://schemas.microsoft.com/office/drawing/2010/main" val="0"/>
              </a:ext>
            </a:extLst>
          </a:blip>
          <a:srcRect l="3750" t="4651" r="2625"/>
          <a:stretch/>
        </p:blipFill>
        <p:spPr>
          <a:xfrm>
            <a:off x="1371600" y="4524375"/>
            <a:ext cx="7134225" cy="1952625"/>
          </a:xfrm>
          <a:prstGeom prst="rect">
            <a:avLst/>
          </a:prstGeom>
        </p:spPr>
      </p:pic>
    </p:spTree>
    <p:extLst>
      <p:ext uri="{BB962C8B-B14F-4D97-AF65-F5344CB8AC3E}">
        <p14:creationId xmlns:p14="http://schemas.microsoft.com/office/powerpoint/2010/main" val="4134553938"/>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0"/>
            <a:ext cx="8153400" cy="838200"/>
          </a:xfrm>
        </p:spPr>
        <p:txBody>
          <a:bodyPr>
            <a:normAutofit/>
          </a:bodyPr>
          <a:lstStyle/>
          <a:p>
            <a:pPr algn="ctr"/>
            <a:r>
              <a:rPr lang="en-IN" b="1" dirty="0" smtClean="0">
                <a:solidFill>
                  <a:schemeClr val="tx1"/>
                </a:solidFill>
                <a:latin typeface="Times New Roman" pitchFamily="18" charset="0"/>
                <a:cs typeface="Times New Roman" pitchFamily="18" charset="0"/>
              </a:rPr>
              <a:t>Importance of Building A Startup Team</a:t>
            </a:r>
            <a:endParaRPr lang="en-US" b="1" dirty="0"/>
          </a:p>
        </p:txBody>
      </p:sp>
      <p:sp>
        <p:nvSpPr>
          <p:cNvPr id="3" name="Content Placeholder 2"/>
          <p:cNvSpPr>
            <a:spLocks noGrp="1"/>
          </p:cNvSpPr>
          <p:nvPr>
            <p:ph idx="1"/>
          </p:nvPr>
        </p:nvSpPr>
        <p:spPr>
          <a:xfrm>
            <a:off x="1066800" y="990600"/>
            <a:ext cx="7848600" cy="5715000"/>
          </a:xfrm>
        </p:spPr>
        <p:style>
          <a:lnRef idx="2">
            <a:schemeClr val="accent4"/>
          </a:lnRef>
          <a:fillRef idx="1">
            <a:schemeClr val="lt1"/>
          </a:fillRef>
          <a:effectRef idx="0">
            <a:schemeClr val="accent4"/>
          </a:effectRef>
          <a:fontRef idx="minor">
            <a:schemeClr val="dk1"/>
          </a:fontRef>
        </p:style>
        <p:txBody>
          <a:bodyPr>
            <a:noAutofit/>
          </a:bodyPr>
          <a:lstStyle/>
          <a:p>
            <a:pPr marL="0" indent="0">
              <a:buNone/>
            </a:pPr>
            <a:r>
              <a:rPr lang="en-US" sz="2200" dirty="0" smtClean="0">
                <a:latin typeface="Times New Roman" pitchFamily="18" charset="0"/>
                <a:cs typeface="Times New Roman" pitchFamily="18" charset="0"/>
              </a:rPr>
              <a:t> “No </a:t>
            </a:r>
            <a:r>
              <a:rPr lang="en-US" sz="2200" dirty="0">
                <a:latin typeface="Times New Roman" pitchFamily="18" charset="0"/>
                <a:cs typeface="Times New Roman" pitchFamily="18" charset="0"/>
              </a:rPr>
              <a:t>matter how brilliant your mind or strategy, if you’re playing a solo game, you’ll always lose out to a </a:t>
            </a:r>
            <a:r>
              <a:rPr lang="en-US" sz="2200" dirty="0" smtClean="0">
                <a:latin typeface="Times New Roman" pitchFamily="18" charset="0"/>
                <a:cs typeface="Times New Roman" pitchFamily="18" charset="0"/>
              </a:rPr>
              <a:t>team.” </a:t>
            </a:r>
          </a:p>
          <a:p>
            <a:pPr marL="0" indent="0">
              <a:spcBef>
                <a:spcPts val="0"/>
              </a:spcBef>
              <a:buNone/>
            </a:pPr>
            <a:r>
              <a:rPr lang="en-US" sz="2200" dirty="0" smtClean="0">
                <a:latin typeface="Times New Roman" pitchFamily="18" charset="0"/>
                <a:cs typeface="Times New Roman" pitchFamily="18" charset="0"/>
              </a:rPr>
              <a:t>                                                          -</a:t>
            </a:r>
            <a:r>
              <a:rPr lang="en-US" sz="2200" b="1" dirty="0">
                <a:latin typeface="Times New Roman" pitchFamily="18" charset="0"/>
                <a:cs typeface="Times New Roman" pitchFamily="18" charset="0"/>
              </a:rPr>
              <a:t>Reid Hoffman, </a:t>
            </a:r>
            <a:r>
              <a:rPr lang="en-US" sz="2200" b="1" dirty="0" smtClean="0">
                <a:latin typeface="Times New Roman" pitchFamily="18" charset="0"/>
                <a:cs typeface="Times New Roman" pitchFamily="18" charset="0"/>
              </a:rPr>
              <a:t>Entrepreneur</a:t>
            </a:r>
          </a:p>
          <a:p>
            <a:pPr>
              <a:spcBef>
                <a:spcPts val="0"/>
              </a:spcBef>
            </a:pPr>
            <a:endParaRPr lang="en-US" sz="2200" dirty="0" smtClean="0">
              <a:latin typeface="Times New Roman" pitchFamily="18" charset="0"/>
              <a:cs typeface="Times New Roman" pitchFamily="18" charset="0"/>
            </a:endParaRPr>
          </a:p>
          <a:p>
            <a:pPr>
              <a:spcBef>
                <a:spcPts val="0"/>
              </a:spcBef>
            </a:pPr>
            <a:r>
              <a:rPr lang="en-US" sz="2200" dirty="0" smtClean="0">
                <a:latin typeface="Times New Roman" pitchFamily="18" charset="0"/>
                <a:cs typeface="Times New Roman" pitchFamily="18" charset="0"/>
              </a:rPr>
              <a:t>Study </a:t>
            </a:r>
            <a:r>
              <a:rPr lang="en-US" sz="2200" dirty="0">
                <a:latin typeface="Times New Roman" pitchFamily="18" charset="0"/>
                <a:cs typeface="Times New Roman" pitchFamily="18" charset="0"/>
              </a:rPr>
              <a:t>says that about 60 percent of startups fail to take off due to poorly constituted teams! </a:t>
            </a:r>
          </a:p>
          <a:p>
            <a:pPr>
              <a:spcBef>
                <a:spcPts val="0"/>
              </a:spcBef>
            </a:pPr>
            <a:r>
              <a:rPr lang="en-US" sz="2200" dirty="0">
                <a:latin typeface="Times New Roman" pitchFamily="18" charset="0"/>
                <a:cs typeface="Times New Roman" pitchFamily="18" charset="0"/>
              </a:rPr>
              <a:t>This statistic establishes the fact that behind every successful startup is a team of passionate individuals who work tirelessly towards a common goal.</a:t>
            </a:r>
          </a:p>
          <a:p>
            <a:pPr>
              <a:spcBef>
                <a:spcPts val="0"/>
              </a:spcBef>
            </a:pPr>
            <a:r>
              <a:rPr lang="en-US" sz="2200" dirty="0">
                <a:latin typeface="Times New Roman" pitchFamily="18" charset="0"/>
                <a:cs typeface="Times New Roman" pitchFamily="18" charset="0"/>
              </a:rPr>
              <a:t>Regardless of how awesome </a:t>
            </a:r>
            <a:r>
              <a:rPr lang="en-US" sz="2200" dirty="0" smtClean="0">
                <a:latin typeface="Times New Roman" pitchFamily="18" charset="0"/>
                <a:cs typeface="Times New Roman" pitchFamily="18" charset="0"/>
              </a:rPr>
              <a:t>the </a:t>
            </a:r>
            <a:r>
              <a:rPr lang="en-US" sz="2200" dirty="0">
                <a:latin typeface="Times New Roman" pitchFamily="18" charset="0"/>
                <a:cs typeface="Times New Roman" pitchFamily="18" charset="0"/>
              </a:rPr>
              <a:t>idea may be, building a team for </a:t>
            </a:r>
            <a:r>
              <a:rPr lang="en-US" sz="2200" dirty="0" smtClean="0">
                <a:latin typeface="Times New Roman" pitchFamily="18" charset="0"/>
                <a:cs typeface="Times New Roman" pitchFamily="18" charset="0"/>
              </a:rPr>
              <a:t>the </a:t>
            </a:r>
            <a:r>
              <a:rPr lang="en-US" sz="2200" dirty="0">
                <a:latin typeface="Times New Roman" pitchFamily="18" charset="0"/>
                <a:cs typeface="Times New Roman" pitchFamily="18" charset="0"/>
              </a:rPr>
              <a:t>startup lays down the stepping stone to success.</a:t>
            </a:r>
            <a:br>
              <a:rPr lang="en-US" sz="2200" dirty="0">
                <a:latin typeface="Times New Roman" pitchFamily="18" charset="0"/>
                <a:cs typeface="Times New Roman" pitchFamily="18" charset="0"/>
              </a:rPr>
            </a:br>
            <a:endParaRPr lang="en-US" sz="1800" b="1"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3592E275-D691-4E5D-BCC6-6858DE38E852}" type="slidenum">
              <a:rPr lang="en-US" smtClean="0"/>
              <a:pPr/>
              <a:t>46</a:t>
            </a:fld>
            <a:endParaRPr lang="en-US"/>
          </a:p>
        </p:txBody>
      </p:sp>
    </p:spTree>
    <p:extLst>
      <p:ext uri="{BB962C8B-B14F-4D97-AF65-F5344CB8AC3E}">
        <p14:creationId xmlns:p14="http://schemas.microsoft.com/office/powerpoint/2010/main" val="2717773009"/>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0"/>
            <a:ext cx="8153400" cy="838200"/>
          </a:xfrm>
        </p:spPr>
        <p:txBody>
          <a:bodyPr>
            <a:normAutofit/>
          </a:bodyPr>
          <a:lstStyle/>
          <a:p>
            <a:pPr algn="ctr"/>
            <a:r>
              <a:rPr lang="en-IN" b="1" dirty="0" smtClean="0">
                <a:solidFill>
                  <a:schemeClr val="tx1"/>
                </a:solidFill>
                <a:latin typeface="Times New Roman" pitchFamily="18" charset="0"/>
                <a:cs typeface="Times New Roman" pitchFamily="18" charset="0"/>
              </a:rPr>
              <a:t>Importance of Building A Startup Team</a:t>
            </a:r>
            <a:endParaRPr lang="en-US" b="1" dirty="0"/>
          </a:p>
        </p:txBody>
      </p:sp>
      <p:sp>
        <p:nvSpPr>
          <p:cNvPr id="3" name="Content Placeholder 2"/>
          <p:cNvSpPr>
            <a:spLocks noGrp="1"/>
          </p:cNvSpPr>
          <p:nvPr>
            <p:ph idx="1"/>
          </p:nvPr>
        </p:nvSpPr>
        <p:spPr>
          <a:xfrm>
            <a:off x="1066800" y="990600"/>
            <a:ext cx="7848600" cy="5715000"/>
          </a:xfrm>
        </p:spPr>
        <p:style>
          <a:lnRef idx="2">
            <a:schemeClr val="accent4"/>
          </a:lnRef>
          <a:fillRef idx="1">
            <a:schemeClr val="lt1"/>
          </a:fillRef>
          <a:effectRef idx="0">
            <a:schemeClr val="accent4"/>
          </a:effectRef>
          <a:fontRef idx="minor">
            <a:schemeClr val="dk1"/>
          </a:fontRef>
        </p:style>
        <p:txBody>
          <a:bodyPr>
            <a:noAutofit/>
          </a:bodyPr>
          <a:lstStyle/>
          <a:p>
            <a:pPr marL="0" indent="0">
              <a:spcBef>
                <a:spcPts val="0"/>
              </a:spcBef>
              <a:buNone/>
            </a:pPr>
            <a:r>
              <a:rPr lang="en-US" sz="2000" b="1" dirty="0" smtClean="0">
                <a:latin typeface="Times New Roman" pitchFamily="18" charset="0"/>
                <a:cs typeface="Times New Roman" pitchFamily="18" charset="0"/>
              </a:rPr>
              <a:t>Top Twenty Reasons Startups Fail</a:t>
            </a:r>
            <a:endParaRPr lang="en-US" sz="2000" dirty="0">
              <a:latin typeface="Times New Roman" pitchFamily="18" charset="0"/>
              <a:cs typeface="Times New Roman" pitchFamily="18" charset="0"/>
            </a:endParaRPr>
          </a:p>
          <a:p>
            <a:pPr marL="0" indent="0">
              <a:spcBef>
                <a:spcPts val="0"/>
              </a:spcBef>
              <a:buNone/>
            </a:pPr>
            <a:endParaRPr lang="en-US" sz="2200" b="1" dirty="0" smtClean="0">
              <a:latin typeface="Times New Roman" pitchFamily="18" charset="0"/>
              <a:cs typeface="Times New Roman" pitchFamily="18" charset="0"/>
            </a:endParaRPr>
          </a:p>
          <a:p>
            <a:pPr>
              <a:spcBef>
                <a:spcPts val="0"/>
              </a:spcBef>
            </a:pPr>
            <a:endParaRPr lang="en-US" sz="2200" dirty="0" smtClean="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3592E275-D691-4E5D-BCC6-6858DE38E852}" type="slidenum">
              <a:rPr lang="en-US" smtClean="0"/>
              <a:pPr/>
              <a:t>47</a:t>
            </a:fld>
            <a:endParaRPr lang="en-US"/>
          </a:p>
        </p:txBody>
      </p:sp>
      <p:pic>
        <p:nvPicPr>
          <p:cNvPr id="5" name="Picture 4"/>
          <p:cNvPicPr>
            <a:picLocks noChangeAspect="1"/>
          </p:cNvPicPr>
          <p:nvPr/>
        </p:nvPicPr>
        <p:blipFill rotWithShape="1">
          <a:blip r:embed="rId2">
            <a:extLst>
              <a:ext uri="{28A0092B-C50C-407E-A947-70E740481C1C}">
                <a14:useLocalDpi xmlns:a14="http://schemas.microsoft.com/office/drawing/2010/main" val="0"/>
              </a:ext>
            </a:extLst>
          </a:blip>
          <a:srcRect l="2539" t="8750" r="7032" b="5043"/>
          <a:stretch/>
        </p:blipFill>
        <p:spPr>
          <a:xfrm>
            <a:off x="1219200" y="1447800"/>
            <a:ext cx="7610478" cy="4733925"/>
          </a:xfrm>
          <a:prstGeom prst="rect">
            <a:avLst/>
          </a:prstGeom>
        </p:spPr>
      </p:pic>
    </p:spTree>
    <p:extLst>
      <p:ext uri="{BB962C8B-B14F-4D97-AF65-F5344CB8AC3E}">
        <p14:creationId xmlns:p14="http://schemas.microsoft.com/office/powerpoint/2010/main" val="2187173498"/>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0"/>
            <a:ext cx="8153400" cy="838200"/>
          </a:xfrm>
        </p:spPr>
        <p:txBody>
          <a:bodyPr>
            <a:normAutofit/>
          </a:bodyPr>
          <a:lstStyle/>
          <a:p>
            <a:pPr algn="ctr"/>
            <a:r>
              <a:rPr lang="en-IN" dirty="0" smtClean="0">
                <a:solidFill>
                  <a:schemeClr val="tx1"/>
                </a:solidFill>
                <a:latin typeface="Times New Roman" pitchFamily="18" charset="0"/>
                <a:cs typeface="Times New Roman" pitchFamily="18" charset="0"/>
              </a:rPr>
              <a:t>How to Build A-Team for a Startup?</a:t>
            </a:r>
            <a:endParaRPr lang="en-US" dirty="0"/>
          </a:p>
        </p:txBody>
      </p:sp>
      <p:sp>
        <p:nvSpPr>
          <p:cNvPr id="3" name="Content Placeholder 2"/>
          <p:cNvSpPr>
            <a:spLocks noGrp="1"/>
          </p:cNvSpPr>
          <p:nvPr>
            <p:ph idx="1"/>
          </p:nvPr>
        </p:nvSpPr>
        <p:spPr>
          <a:xfrm>
            <a:off x="1066800" y="990600"/>
            <a:ext cx="7848600" cy="5715000"/>
          </a:xfrm>
        </p:spPr>
        <p:style>
          <a:lnRef idx="2">
            <a:schemeClr val="accent4"/>
          </a:lnRef>
          <a:fillRef idx="1">
            <a:schemeClr val="lt1"/>
          </a:fillRef>
          <a:effectRef idx="0">
            <a:schemeClr val="accent4"/>
          </a:effectRef>
          <a:fontRef idx="minor">
            <a:schemeClr val="dk1"/>
          </a:fontRef>
        </p:style>
        <p:txBody>
          <a:bodyPr>
            <a:noAutofit/>
          </a:bodyPr>
          <a:lstStyle/>
          <a:p>
            <a:r>
              <a:rPr lang="en-US" sz="2200" b="1" dirty="0" smtClean="0">
                <a:latin typeface="Times New Roman" pitchFamily="18" charset="0"/>
                <a:cs typeface="Times New Roman" pitchFamily="18" charset="0"/>
              </a:rPr>
              <a:t>Identify </a:t>
            </a:r>
            <a:r>
              <a:rPr lang="en-US" sz="2200" b="1" dirty="0">
                <a:latin typeface="Times New Roman" pitchFamily="18" charset="0"/>
                <a:cs typeface="Times New Roman" pitchFamily="18" charset="0"/>
              </a:rPr>
              <a:t>the doers from the </a:t>
            </a:r>
            <a:r>
              <a:rPr lang="en-US" sz="2200" b="1" dirty="0" err="1" smtClean="0">
                <a:latin typeface="Times New Roman" pitchFamily="18" charset="0"/>
                <a:cs typeface="Times New Roman" pitchFamily="18" charset="0"/>
              </a:rPr>
              <a:t>sayers</a:t>
            </a:r>
            <a:r>
              <a:rPr lang="en-US" sz="2200" b="1" dirty="0">
                <a:latin typeface="Times New Roman" pitchFamily="18" charset="0"/>
                <a:cs typeface="Times New Roman" pitchFamily="18" charset="0"/>
              </a:rPr>
              <a:t>: </a:t>
            </a:r>
            <a:r>
              <a:rPr lang="en-US" sz="2200" dirty="0" smtClean="0">
                <a:latin typeface="Times New Roman" pitchFamily="18" charset="0"/>
                <a:cs typeface="Times New Roman" pitchFamily="18" charset="0"/>
              </a:rPr>
              <a:t>It </a:t>
            </a:r>
            <a:r>
              <a:rPr lang="en-US" sz="2200" dirty="0">
                <a:latin typeface="Times New Roman" pitchFamily="18" charset="0"/>
                <a:cs typeface="Times New Roman" pitchFamily="18" charset="0"/>
              </a:rPr>
              <a:t>is important to have team members who are agile, resourceful, and quick rather than those who merely spout off facts. </a:t>
            </a:r>
            <a:endParaRPr lang="en-US" sz="2200" dirty="0" smtClean="0">
              <a:latin typeface="Times New Roman" pitchFamily="18" charset="0"/>
              <a:cs typeface="Times New Roman" pitchFamily="18" charset="0"/>
            </a:endParaRPr>
          </a:p>
          <a:p>
            <a:r>
              <a:rPr lang="en-US" sz="2200" b="1" dirty="0">
                <a:latin typeface="Times New Roman" pitchFamily="18" charset="0"/>
                <a:cs typeface="Times New Roman" pitchFamily="18" charset="0"/>
              </a:rPr>
              <a:t>Standard metrics don’t apply: </a:t>
            </a:r>
            <a:r>
              <a:rPr lang="en-US" sz="2200" dirty="0">
                <a:latin typeface="Times New Roman" pitchFamily="18" charset="0"/>
                <a:cs typeface="Times New Roman" pitchFamily="18" charset="0"/>
              </a:rPr>
              <a:t>Candidates who are passionate and self-driven to get things done could be much more valuable than someone who may appear competent but is ineffective</a:t>
            </a:r>
            <a:r>
              <a:rPr lang="en-US" sz="2200" dirty="0" smtClean="0">
                <a:latin typeface="Times New Roman" pitchFamily="18" charset="0"/>
                <a:cs typeface="Times New Roman" pitchFamily="18" charset="0"/>
              </a:rPr>
              <a:t>.</a:t>
            </a:r>
          </a:p>
          <a:p>
            <a:r>
              <a:rPr lang="en-US" sz="2200" b="1" dirty="0">
                <a:latin typeface="Times New Roman" pitchFamily="18" charset="0"/>
                <a:cs typeface="Times New Roman" pitchFamily="18" charset="0"/>
              </a:rPr>
              <a:t>Adapt, change, and improvise: </a:t>
            </a:r>
            <a:r>
              <a:rPr lang="en-US" sz="2200" dirty="0">
                <a:latin typeface="Times New Roman" pitchFamily="18" charset="0"/>
                <a:cs typeface="Times New Roman" pitchFamily="18" charset="0"/>
              </a:rPr>
              <a:t>Team building for managers involves changing, adapting, and improvising the team based on the gaps and future requirements. </a:t>
            </a:r>
            <a:endParaRPr lang="en-US" sz="2200" dirty="0" smtClean="0">
              <a:latin typeface="Times New Roman" pitchFamily="18" charset="0"/>
              <a:cs typeface="Times New Roman" pitchFamily="18" charset="0"/>
            </a:endParaRPr>
          </a:p>
          <a:p>
            <a:r>
              <a:rPr lang="en-US" sz="2200" b="1" dirty="0">
                <a:latin typeface="Times New Roman" pitchFamily="18" charset="0"/>
                <a:cs typeface="Times New Roman" pitchFamily="18" charset="0"/>
              </a:rPr>
              <a:t>Focus on customer service: </a:t>
            </a:r>
            <a:r>
              <a:rPr lang="en-US" sz="2200" dirty="0">
                <a:latin typeface="Times New Roman" pitchFamily="18" charset="0"/>
                <a:cs typeface="Times New Roman" pitchFamily="18" charset="0"/>
              </a:rPr>
              <a:t>A team that makes the customer feel like a priority and puts them first, then such a team is </a:t>
            </a:r>
            <a:r>
              <a:rPr lang="en-US" sz="2200" dirty="0" smtClean="0">
                <a:latin typeface="Times New Roman" pitchFamily="18" charset="0"/>
                <a:cs typeface="Times New Roman" pitchFamily="18" charset="0"/>
              </a:rPr>
              <a:t>preferable.</a:t>
            </a:r>
            <a:r>
              <a:rPr lang="en-US" sz="2200" b="1" dirty="0">
                <a:latin typeface="Times New Roman" pitchFamily="18" charset="0"/>
                <a:cs typeface="Times New Roman" pitchFamily="18" charset="0"/>
              </a:rPr>
              <a:t> </a:t>
            </a:r>
            <a:endParaRPr lang="en-US" sz="2200" b="1" dirty="0" smtClean="0">
              <a:latin typeface="Times New Roman" pitchFamily="18" charset="0"/>
              <a:cs typeface="Times New Roman" pitchFamily="18" charset="0"/>
            </a:endParaRPr>
          </a:p>
          <a:p>
            <a:r>
              <a:rPr lang="en-US" sz="2200" dirty="0">
                <a:latin typeface="Times New Roman" pitchFamily="18" charset="0"/>
                <a:cs typeface="Times New Roman" pitchFamily="18" charset="0"/>
              </a:rPr>
              <a:t> </a:t>
            </a:r>
            <a:r>
              <a:rPr lang="en-US" sz="2200" b="1" dirty="0">
                <a:latin typeface="Times New Roman" pitchFamily="18" charset="0"/>
                <a:cs typeface="Times New Roman" pitchFamily="18" charset="0"/>
              </a:rPr>
              <a:t>Avoid homogeneity: </a:t>
            </a:r>
            <a:r>
              <a:rPr lang="en-US" sz="2200" dirty="0">
                <a:latin typeface="Times New Roman" pitchFamily="18" charset="0"/>
                <a:cs typeface="Times New Roman" pitchFamily="18" charset="0"/>
              </a:rPr>
              <a:t>Having a heterogeneous work atmosphere will provide room for creativity and individualistic ideas.</a:t>
            </a:r>
          </a:p>
          <a:p>
            <a:pPr marL="0" indent="0">
              <a:buNone/>
            </a:pPr>
            <a:r>
              <a:rPr lang="en-US" sz="2200" dirty="0">
                <a:latin typeface="Times New Roman" pitchFamily="18" charset="0"/>
                <a:cs typeface="Times New Roman" pitchFamily="18" charset="0"/>
              </a:rPr>
              <a:t/>
            </a:r>
            <a:br>
              <a:rPr lang="en-US" sz="2200" dirty="0">
                <a:latin typeface="Times New Roman" pitchFamily="18" charset="0"/>
                <a:cs typeface="Times New Roman" pitchFamily="18" charset="0"/>
              </a:rPr>
            </a:br>
            <a:r>
              <a:rPr lang="en-US" sz="2200" dirty="0"/>
              <a:t/>
            </a:r>
            <a:br>
              <a:rPr lang="en-US" sz="2200" dirty="0"/>
            </a:br>
            <a:endParaRPr lang="en-US" sz="22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3592E275-D691-4E5D-BCC6-6858DE38E852}" type="slidenum">
              <a:rPr lang="en-US" smtClean="0"/>
              <a:pPr/>
              <a:t>48</a:t>
            </a:fld>
            <a:endParaRPr lang="en-US"/>
          </a:p>
        </p:txBody>
      </p:sp>
    </p:spTree>
    <p:extLst>
      <p:ext uri="{BB962C8B-B14F-4D97-AF65-F5344CB8AC3E}">
        <p14:creationId xmlns:p14="http://schemas.microsoft.com/office/powerpoint/2010/main" val="3527569486"/>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0"/>
            <a:ext cx="8153400" cy="838200"/>
          </a:xfrm>
        </p:spPr>
        <p:txBody>
          <a:bodyPr>
            <a:normAutofit/>
          </a:bodyPr>
          <a:lstStyle/>
          <a:p>
            <a:pPr algn="ctr"/>
            <a:r>
              <a:rPr lang="en-IN" b="1" dirty="0" smtClean="0">
                <a:solidFill>
                  <a:schemeClr val="tx1"/>
                </a:solidFill>
                <a:latin typeface="Times New Roman" pitchFamily="18" charset="0"/>
                <a:cs typeface="Times New Roman" pitchFamily="18" charset="0"/>
              </a:rPr>
              <a:t>How to Build A-Team for a Startup?</a:t>
            </a:r>
            <a:endParaRPr lang="en-US" b="1" dirty="0"/>
          </a:p>
        </p:txBody>
      </p:sp>
      <p:sp>
        <p:nvSpPr>
          <p:cNvPr id="3" name="Content Placeholder 2"/>
          <p:cNvSpPr>
            <a:spLocks noGrp="1"/>
          </p:cNvSpPr>
          <p:nvPr>
            <p:ph idx="1"/>
          </p:nvPr>
        </p:nvSpPr>
        <p:spPr>
          <a:xfrm>
            <a:off x="1066800" y="990600"/>
            <a:ext cx="7848600" cy="5715000"/>
          </a:xfrm>
        </p:spPr>
        <p:style>
          <a:lnRef idx="2">
            <a:schemeClr val="accent4"/>
          </a:lnRef>
          <a:fillRef idx="1">
            <a:schemeClr val="lt1"/>
          </a:fillRef>
          <a:effectRef idx="0">
            <a:schemeClr val="accent4"/>
          </a:effectRef>
          <a:fontRef idx="minor">
            <a:schemeClr val="dk1"/>
          </a:fontRef>
        </p:style>
        <p:txBody>
          <a:bodyPr>
            <a:noAutofit/>
          </a:bodyPr>
          <a:lstStyle/>
          <a:p>
            <a:r>
              <a:rPr lang="en-US" sz="2200" b="1" dirty="0" smtClean="0">
                <a:latin typeface="Times New Roman" pitchFamily="18" charset="0"/>
                <a:cs typeface="Times New Roman" pitchFamily="18" charset="0"/>
              </a:rPr>
              <a:t>Exercise strong leadership:</a:t>
            </a:r>
            <a:r>
              <a:rPr lang="en-US" sz="2200" dirty="0" smtClean="0">
                <a:latin typeface="Times New Roman" pitchFamily="18" charset="0"/>
                <a:cs typeface="Times New Roman" pitchFamily="18" charset="0"/>
              </a:rPr>
              <a:t> Entrepreneur is responsible for ensuring collaboration so that the task or project outcome is as expected.</a:t>
            </a:r>
          </a:p>
          <a:p>
            <a:r>
              <a:rPr lang="en-US" sz="2200" b="1" dirty="0" smtClean="0">
                <a:latin typeface="Times New Roman" pitchFamily="18" charset="0"/>
                <a:cs typeface="Times New Roman" pitchFamily="18" charset="0"/>
              </a:rPr>
              <a:t>Hire </a:t>
            </a:r>
            <a:r>
              <a:rPr lang="en-US" sz="2200" b="1" dirty="0">
                <a:latin typeface="Times New Roman" pitchFamily="18" charset="0"/>
                <a:cs typeface="Times New Roman" pitchFamily="18" charset="0"/>
              </a:rPr>
              <a:t>slow, fire fast: </a:t>
            </a:r>
            <a:r>
              <a:rPr lang="en-US" sz="2200" dirty="0">
                <a:latin typeface="Times New Roman" pitchFamily="18" charset="0"/>
                <a:cs typeface="Times New Roman" pitchFamily="18" charset="0"/>
              </a:rPr>
              <a:t>A classic team building case study for the “Hire Slow” philosophy is </a:t>
            </a:r>
            <a:r>
              <a:rPr lang="en-US" sz="2200" dirty="0" err="1">
                <a:latin typeface="Times New Roman" pitchFamily="18" charset="0"/>
                <a:cs typeface="Times New Roman" pitchFamily="18" charset="0"/>
              </a:rPr>
              <a:t>Airbnb</a:t>
            </a:r>
            <a:r>
              <a:rPr lang="en-US" sz="2200" dirty="0">
                <a:latin typeface="Times New Roman" pitchFamily="18" charset="0"/>
                <a:cs typeface="Times New Roman" pitchFamily="18" charset="0"/>
              </a:rPr>
              <a:t>, which took about five months to hire their first employee. The “Fire Fast” policy ensures that only fitting candidates are present in </a:t>
            </a:r>
            <a:r>
              <a:rPr lang="en-US" sz="2200" dirty="0" smtClean="0">
                <a:latin typeface="Times New Roman" pitchFamily="18" charset="0"/>
                <a:cs typeface="Times New Roman" pitchFamily="18" charset="0"/>
              </a:rPr>
              <a:t>the team.</a:t>
            </a:r>
          </a:p>
          <a:p>
            <a:r>
              <a:rPr lang="en-US" sz="2200" b="1" dirty="0">
                <a:latin typeface="Times New Roman" pitchFamily="18" charset="0"/>
                <a:cs typeface="Times New Roman" pitchFamily="18" charset="0"/>
              </a:rPr>
              <a:t>Experience vs. raw talent: </a:t>
            </a:r>
            <a:r>
              <a:rPr lang="en-US" sz="2200" dirty="0">
                <a:latin typeface="Times New Roman" pitchFamily="18" charset="0"/>
                <a:cs typeface="Times New Roman" pitchFamily="18" charset="0"/>
              </a:rPr>
              <a:t>While both experience and raw talent are important, what every recruiter should look for is passion. The zeal for getting things done can never be compensated by experience or untapped potential</a:t>
            </a:r>
            <a:r>
              <a:rPr lang="en-US" sz="2200" dirty="0" smtClean="0">
                <a:latin typeface="Times New Roman" pitchFamily="18" charset="0"/>
                <a:cs typeface="Times New Roman" pitchFamily="18" charset="0"/>
              </a:rPr>
              <a:t>.</a:t>
            </a:r>
          </a:p>
          <a:p>
            <a:r>
              <a:rPr lang="en-US" sz="2200" b="1" dirty="0">
                <a:latin typeface="Times New Roman" pitchFamily="18" charset="0"/>
                <a:cs typeface="Times New Roman" pitchFamily="18" charset="0"/>
              </a:rPr>
              <a:t>Build a scalable team: </a:t>
            </a:r>
            <a:r>
              <a:rPr lang="en-US" sz="2200" dirty="0">
                <a:latin typeface="Times New Roman" pitchFamily="18" charset="0"/>
                <a:cs typeface="Times New Roman" pitchFamily="18" charset="0"/>
              </a:rPr>
              <a:t>Focus on building a team of leaders who can head their respective </a:t>
            </a:r>
            <a:r>
              <a:rPr lang="en-US" sz="2200" dirty="0" err="1">
                <a:latin typeface="Times New Roman" pitchFamily="18" charset="0"/>
                <a:cs typeface="Times New Roman" pitchFamily="18" charset="0"/>
              </a:rPr>
              <a:t>organisational</a:t>
            </a:r>
            <a:r>
              <a:rPr lang="en-US" sz="2200" dirty="0">
                <a:latin typeface="Times New Roman" pitchFamily="18" charset="0"/>
                <a:cs typeface="Times New Roman" pitchFamily="18" charset="0"/>
              </a:rPr>
              <a:t> units in the future.</a:t>
            </a:r>
            <a:br>
              <a:rPr lang="en-US" sz="2200" dirty="0">
                <a:latin typeface="Times New Roman" pitchFamily="18" charset="0"/>
                <a:cs typeface="Times New Roman" pitchFamily="18" charset="0"/>
              </a:rPr>
            </a:br>
            <a:r>
              <a:rPr lang="en-US" sz="2200" b="1" dirty="0">
                <a:latin typeface="Times New Roman" pitchFamily="18" charset="0"/>
                <a:cs typeface="Times New Roman" pitchFamily="18" charset="0"/>
              </a:rPr>
              <a:t/>
            </a:r>
            <a:br>
              <a:rPr lang="en-US" sz="2200" b="1" dirty="0">
                <a:latin typeface="Times New Roman" pitchFamily="18" charset="0"/>
                <a:cs typeface="Times New Roman" pitchFamily="18" charset="0"/>
              </a:rPr>
            </a:br>
            <a:r>
              <a:rPr lang="en-US" sz="2400" dirty="0"/>
              <a:t/>
            </a:r>
            <a:br>
              <a:rPr lang="en-US" sz="2400" dirty="0"/>
            </a:br>
            <a:r>
              <a:rPr lang="en-US" sz="2200" dirty="0">
                <a:latin typeface="Times New Roman" pitchFamily="18" charset="0"/>
                <a:cs typeface="Times New Roman" pitchFamily="18" charset="0"/>
              </a:rPr>
              <a:t/>
            </a:r>
            <a:br>
              <a:rPr lang="en-US" sz="2200" dirty="0">
                <a:latin typeface="Times New Roman" pitchFamily="18" charset="0"/>
                <a:cs typeface="Times New Roman" pitchFamily="18" charset="0"/>
              </a:rPr>
            </a:br>
            <a:r>
              <a:rPr lang="en-US" sz="2400" dirty="0">
                <a:latin typeface="Times New Roman" pitchFamily="18" charset="0"/>
                <a:cs typeface="Times New Roman" pitchFamily="18" charset="0"/>
              </a:rPr>
              <a:t/>
            </a:r>
            <a:br>
              <a:rPr lang="en-US" sz="2400" dirty="0">
                <a:latin typeface="Times New Roman" pitchFamily="18" charset="0"/>
                <a:cs typeface="Times New Roman" pitchFamily="18" charset="0"/>
              </a:rPr>
            </a:br>
            <a:r>
              <a:rPr lang="en-US" sz="2400" b="1" dirty="0">
                <a:latin typeface="Times New Roman" pitchFamily="18" charset="0"/>
                <a:cs typeface="Times New Roman" pitchFamily="18" charset="0"/>
              </a:rPr>
              <a:t/>
            </a:r>
            <a:br>
              <a:rPr lang="en-US" sz="2400" b="1" dirty="0">
                <a:latin typeface="Times New Roman" pitchFamily="18" charset="0"/>
                <a:cs typeface="Times New Roman" pitchFamily="18" charset="0"/>
              </a:rPr>
            </a:br>
            <a:r>
              <a:rPr lang="en-US" sz="2400" b="1" dirty="0">
                <a:latin typeface="Times New Roman" pitchFamily="18" charset="0"/>
                <a:cs typeface="Times New Roman" pitchFamily="18" charset="0"/>
              </a:rPr>
              <a:t/>
            </a:r>
            <a:br>
              <a:rPr lang="en-US" sz="2400" b="1" dirty="0">
                <a:latin typeface="Times New Roman" pitchFamily="18" charset="0"/>
                <a:cs typeface="Times New Roman" pitchFamily="18" charset="0"/>
              </a:rPr>
            </a:br>
            <a:r>
              <a:rPr lang="en-US" sz="2400" b="1" dirty="0">
                <a:latin typeface="Times New Roman" pitchFamily="18" charset="0"/>
                <a:cs typeface="Times New Roman" pitchFamily="18" charset="0"/>
              </a:rPr>
              <a:t/>
            </a:r>
            <a:br>
              <a:rPr lang="en-US" sz="2400" b="1" dirty="0">
                <a:latin typeface="Times New Roman" pitchFamily="18" charset="0"/>
                <a:cs typeface="Times New Roman" pitchFamily="18" charset="0"/>
              </a:rPr>
            </a:br>
            <a:endParaRPr lang="en-US" sz="2400" b="1"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3592E275-D691-4E5D-BCC6-6858DE38E852}" type="slidenum">
              <a:rPr lang="en-US" smtClean="0"/>
              <a:pPr/>
              <a:t>49</a:t>
            </a:fld>
            <a:endParaRPr lang="en-US"/>
          </a:p>
        </p:txBody>
      </p:sp>
    </p:spTree>
    <p:extLst>
      <p:ext uri="{BB962C8B-B14F-4D97-AF65-F5344CB8AC3E}">
        <p14:creationId xmlns:p14="http://schemas.microsoft.com/office/powerpoint/2010/main" val="1079064394"/>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0" y="609600"/>
            <a:ext cx="7620000" cy="518890"/>
          </a:xfrm>
        </p:spPr>
        <p:txBody>
          <a:bodyPr>
            <a:noAutofit/>
          </a:bodyPr>
          <a:lstStyle/>
          <a:p>
            <a:pPr algn="ctr"/>
            <a:r>
              <a:rPr lang="en-IN" sz="3200" b="1" dirty="0">
                <a:latin typeface="Times New Roman" pitchFamily="18" charset="0"/>
                <a:cs typeface="Times New Roman" pitchFamily="18" charset="0"/>
              </a:rPr>
              <a:t>Hiring the A-Team members </a:t>
            </a:r>
            <a:br>
              <a:rPr lang="en-IN" sz="3200" b="1" dirty="0">
                <a:latin typeface="Times New Roman" pitchFamily="18" charset="0"/>
                <a:cs typeface="Times New Roman" pitchFamily="18" charset="0"/>
              </a:rPr>
            </a:br>
            <a:endParaRPr lang="en-US" sz="3200" b="1" dirty="0">
              <a:latin typeface="Times New Roman" pitchFamily="18" charset="0"/>
              <a:cs typeface="Times New Roman" pitchFamily="18" charset="0"/>
            </a:endParaRPr>
          </a:p>
        </p:txBody>
      </p:sp>
      <p:sp>
        <p:nvSpPr>
          <p:cNvPr id="3" name="Content Placeholder 2"/>
          <p:cNvSpPr>
            <a:spLocks noGrp="1"/>
          </p:cNvSpPr>
          <p:nvPr>
            <p:ph idx="1"/>
          </p:nvPr>
        </p:nvSpPr>
        <p:spPr>
          <a:xfrm>
            <a:off x="1143000" y="1295400"/>
            <a:ext cx="7620000" cy="5029200"/>
          </a:xfrm>
        </p:spPr>
        <p:style>
          <a:lnRef idx="2">
            <a:schemeClr val="accent4"/>
          </a:lnRef>
          <a:fillRef idx="1">
            <a:schemeClr val="lt1"/>
          </a:fillRef>
          <a:effectRef idx="0">
            <a:schemeClr val="accent4"/>
          </a:effectRef>
          <a:fontRef idx="minor">
            <a:schemeClr val="dk1"/>
          </a:fontRef>
        </p:style>
        <p:txBody>
          <a:bodyPr>
            <a:normAutofit fontScale="77500" lnSpcReduction="20000"/>
          </a:bodyPr>
          <a:lstStyle/>
          <a:p>
            <a:r>
              <a:rPr lang="en-US" sz="2200" dirty="0">
                <a:latin typeface="Times New Roman" pitchFamily="18" charset="0"/>
                <a:cs typeface="Times New Roman" pitchFamily="18" charset="0"/>
              </a:rPr>
              <a:t>The people </a:t>
            </a:r>
            <a:r>
              <a:rPr lang="en-US" sz="2200" dirty="0" smtClean="0">
                <a:latin typeface="Times New Roman" pitchFamily="18" charset="0"/>
                <a:cs typeface="Times New Roman" pitchFamily="18" charset="0"/>
              </a:rPr>
              <a:t>hired for  a startup depends upon the specific business needs.</a:t>
            </a:r>
          </a:p>
          <a:p>
            <a:r>
              <a:rPr lang="en-US" sz="2200" dirty="0" smtClean="0">
                <a:latin typeface="Times New Roman" pitchFamily="18" charset="0"/>
                <a:cs typeface="Times New Roman" pitchFamily="18" charset="0"/>
              </a:rPr>
              <a:t>Employees hired should have the following key </a:t>
            </a:r>
            <a:r>
              <a:rPr lang="en-US" sz="2200" dirty="0">
                <a:latin typeface="Times New Roman" pitchFamily="18" charset="0"/>
                <a:cs typeface="Times New Roman" pitchFamily="18" charset="0"/>
              </a:rPr>
              <a:t>qualities: </a:t>
            </a:r>
            <a:endParaRPr lang="en-US" sz="2200" dirty="0" smtClean="0">
              <a:latin typeface="Times New Roman" pitchFamily="18" charset="0"/>
              <a:cs typeface="Times New Roman" pitchFamily="18" charset="0"/>
            </a:endParaRPr>
          </a:p>
          <a:p>
            <a:pPr lvl="4">
              <a:buFont typeface="Wingdings" pitchFamily="2" charset="2"/>
              <a:buChar char="Ø"/>
            </a:pPr>
            <a:r>
              <a:rPr lang="en-US" sz="2600" dirty="0" smtClean="0">
                <a:latin typeface="Times New Roman" pitchFamily="18" charset="0"/>
                <a:cs typeface="Times New Roman" pitchFamily="18" charset="0"/>
              </a:rPr>
              <a:t>flexibility</a:t>
            </a:r>
            <a:r>
              <a:rPr lang="en-US" sz="2600" dirty="0">
                <a:latin typeface="Times New Roman" pitchFamily="18" charset="0"/>
                <a:cs typeface="Times New Roman" pitchFamily="18" charset="0"/>
              </a:rPr>
              <a:t>, </a:t>
            </a:r>
            <a:endParaRPr lang="en-US" sz="2600" dirty="0" smtClean="0">
              <a:latin typeface="Times New Roman" pitchFamily="18" charset="0"/>
              <a:cs typeface="Times New Roman" pitchFamily="18" charset="0"/>
            </a:endParaRPr>
          </a:p>
          <a:p>
            <a:pPr lvl="4">
              <a:buFont typeface="Wingdings" pitchFamily="2" charset="2"/>
              <a:buChar char="Ø"/>
            </a:pPr>
            <a:r>
              <a:rPr lang="en-US" sz="2600" dirty="0" smtClean="0">
                <a:latin typeface="Times New Roman" pitchFamily="18" charset="0"/>
                <a:cs typeface="Times New Roman" pitchFamily="18" charset="0"/>
              </a:rPr>
              <a:t>passion </a:t>
            </a:r>
            <a:r>
              <a:rPr lang="en-US" sz="2600" dirty="0">
                <a:latin typeface="Times New Roman" pitchFamily="18" charset="0"/>
                <a:cs typeface="Times New Roman" pitchFamily="18" charset="0"/>
              </a:rPr>
              <a:t>and </a:t>
            </a:r>
            <a:endParaRPr lang="en-US" sz="2600" dirty="0" smtClean="0">
              <a:latin typeface="Times New Roman" pitchFamily="18" charset="0"/>
              <a:cs typeface="Times New Roman" pitchFamily="18" charset="0"/>
            </a:endParaRPr>
          </a:p>
          <a:p>
            <a:pPr lvl="4">
              <a:buFont typeface="Wingdings" pitchFamily="2" charset="2"/>
              <a:buChar char="Ø"/>
            </a:pPr>
            <a:r>
              <a:rPr lang="en-US" sz="2600" dirty="0" smtClean="0">
                <a:latin typeface="Times New Roman" pitchFamily="18" charset="0"/>
                <a:cs typeface="Times New Roman" pitchFamily="18" charset="0"/>
              </a:rPr>
              <a:t>trustworthiness</a:t>
            </a:r>
            <a:r>
              <a:rPr lang="en-US" sz="2600" dirty="0">
                <a:latin typeface="Times New Roman" pitchFamily="18" charset="0"/>
                <a:cs typeface="Times New Roman" pitchFamily="18" charset="0"/>
              </a:rPr>
              <a:t>. </a:t>
            </a:r>
            <a:endParaRPr lang="en-US" sz="2600" dirty="0" smtClean="0">
              <a:latin typeface="Times New Roman" pitchFamily="18" charset="0"/>
              <a:cs typeface="Times New Roman" pitchFamily="18" charset="0"/>
            </a:endParaRPr>
          </a:p>
          <a:p>
            <a:r>
              <a:rPr lang="en-US" sz="2200" dirty="0" smtClean="0">
                <a:latin typeface="Times New Roman" pitchFamily="18" charset="0"/>
                <a:cs typeface="Times New Roman" pitchFamily="18" charset="0"/>
              </a:rPr>
              <a:t>It </a:t>
            </a:r>
            <a:r>
              <a:rPr lang="en-US" sz="2200" dirty="0">
                <a:latin typeface="Times New Roman" pitchFamily="18" charset="0"/>
                <a:cs typeface="Times New Roman" pitchFamily="18" charset="0"/>
              </a:rPr>
              <a:t>is important to hire people who are flexible enough to take on diverse responsibilities until </a:t>
            </a:r>
            <a:r>
              <a:rPr lang="en-US" sz="2200" dirty="0" smtClean="0">
                <a:latin typeface="Times New Roman" pitchFamily="18" charset="0"/>
                <a:cs typeface="Times New Roman" pitchFamily="18" charset="0"/>
              </a:rPr>
              <a:t>further expansion. </a:t>
            </a:r>
          </a:p>
          <a:p>
            <a:r>
              <a:rPr lang="en-US" sz="2200" dirty="0" smtClean="0">
                <a:latin typeface="Times New Roman" pitchFamily="18" charset="0"/>
                <a:cs typeface="Times New Roman" pitchFamily="18" charset="0"/>
              </a:rPr>
              <a:t>When </a:t>
            </a:r>
            <a:r>
              <a:rPr lang="en-US" sz="2200" dirty="0">
                <a:latin typeface="Times New Roman" pitchFamily="18" charset="0"/>
                <a:cs typeface="Times New Roman" pitchFamily="18" charset="0"/>
              </a:rPr>
              <a:t>interviewing new-hire candidates, pose questions that probe a person's drive and how well suited they might be with your company's culture. </a:t>
            </a:r>
            <a:endParaRPr lang="en-US" sz="2200" dirty="0" smtClean="0">
              <a:latin typeface="Times New Roman" pitchFamily="18" charset="0"/>
              <a:cs typeface="Times New Roman" pitchFamily="18" charset="0"/>
            </a:endParaRPr>
          </a:p>
          <a:p>
            <a:r>
              <a:rPr lang="en-US" sz="2200" dirty="0" smtClean="0">
                <a:latin typeface="Times New Roman" pitchFamily="18" charset="0"/>
                <a:cs typeface="Times New Roman" pitchFamily="18" charset="0"/>
              </a:rPr>
              <a:t>In </a:t>
            </a:r>
            <a:r>
              <a:rPr lang="en-US" sz="2200" dirty="0">
                <a:latin typeface="Times New Roman" pitchFamily="18" charset="0"/>
                <a:cs typeface="Times New Roman" pitchFamily="18" charset="0"/>
              </a:rPr>
              <a:t>addition, use hands-on simulations to get a sense for how the candidate will act in common work situations. </a:t>
            </a:r>
          </a:p>
          <a:p>
            <a:r>
              <a:rPr lang="en-US" sz="2200" dirty="0" smtClean="0">
                <a:latin typeface="Times New Roman" pitchFamily="18" charset="0"/>
                <a:cs typeface="Times New Roman" pitchFamily="18" charset="0"/>
              </a:rPr>
              <a:t>It's </a:t>
            </a:r>
            <a:r>
              <a:rPr lang="en-US" sz="2200" dirty="0">
                <a:latin typeface="Times New Roman" pitchFamily="18" charset="0"/>
                <a:cs typeface="Times New Roman" pitchFamily="18" charset="0"/>
              </a:rPr>
              <a:t>smart to hire from the top, then expand your team when your resources allow.</a:t>
            </a:r>
          </a:p>
          <a:p>
            <a:r>
              <a:rPr lang="en-US" sz="2200" dirty="0">
                <a:latin typeface="Times New Roman" pitchFamily="18" charset="0"/>
                <a:cs typeface="Times New Roman" pitchFamily="18" charset="0"/>
              </a:rPr>
              <a:t>A major focus when hiring for startup roles is strengthening your business's internal and external relationships.</a:t>
            </a:r>
          </a:p>
          <a:p>
            <a:r>
              <a:rPr lang="en-US" sz="2200" dirty="0">
                <a:latin typeface="Times New Roman" pitchFamily="18" charset="0"/>
                <a:cs typeface="Times New Roman" pitchFamily="18" charset="0"/>
              </a:rPr>
              <a:t>It's important to keep your company culture in mind when filling startup positions.</a:t>
            </a:r>
          </a:p>
          <a:p>
            <a:pPr marL="0" indent="0">
              <a:buNone/>
            </a:pPr>
            <a:endParaRPr lang="en-US" sz="2200" b="1"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3592E275-D691-4E5D-BCC6-6858DE38E852}" type="slidenum">
              <a:rPr lang="en-US" smtClean="0"/>
              <a:pPr/>
              <a:t>50</a:t>
            </a:fld>
            <a:endParaRPr lang="en-US"/>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0" y="609600"/>
            <a:ext cx="7620000" cy="518890"/>
          </a:xfrm>
        </p:spPr>
        <p:txBody>
          <a:bodyPr>
            <a:noAutofit/>
          </a:bodyPr>
          <a:lstStyle/>
          <a:p>
            <a:pPr algn="ctr"/>
            <a:r>
              <a:rPr lang="en-IN" sz="3200" b="1" dirty="0">
                <a:latin typeface="Times New Roman" pitchFamily="18" charset="0"/>
                <a:cs typeface="Times New Roman" pitchFamily="18" charset="0"/>
              </a:rPr>
              <a:t>Pitching </a:t>
            </a:r>
            <a:r>
              <a:rPr lang="en-IN" sz="3200" b="1" dirty="0" smtClean="0">
                <a:latin typeface="Times New Roman" pitchFamily="18" charset="0"/>
                <a:cs typeface="Times New Roman" pitchFamily="18" charset="0"/>
              </a:rPr>
              <a:t>To Attract </a:t>
            </a:r>
            <a:r>
              <a:rPr lang="en-IN" sz="3200" b="1" dirty="0">
                <a:latin typeface="Times New Roman" pitchFamily="18" charset="0"/>
                <a:cs typeface="Times New Roman" pitchFamily="18" charset="0"/>
              </a:rPr>
              <a:t>T</a:t>
            </a:r>
            <a:r>
              <a:rPr lang="en-IN" sz="3200" b="1" dirty="0" smtClean="0">
                <a:latin typeface="Times New Roman" pitchFamily="18" charset="0"/>
                <a:cs typeface="Times New Roman" pitchFamily="18" charset="0"/>
              </a:rPr>
              <a:t>he Talent </a:t>
            </a:r>
            <a:r>
              <a:rPr lang="en-IN" sz="3200" b="1" dirty="0">
                <a:latin typeface="Times New Roman" pitchFamily="18" charset="0"/>
                <a:cs typeface="Times New Roman" pitchFamily="18" charset="0"/>
              </a:rPr>
              <a:t/>
            </a:r>
            <a:br>
              <a:rPr lang="en-IN" sz="3200" b="1" dirty="0">
                <a:latin typeface="Times New Roman" pitchFamily="18" charset="0"/>
                <a:cs typeface="Times New Roman" pitchFamily="18" charset="0"/>
              </a:rPr>
            </a:br>
            <a:r>
              <a:rPr lang="en-IN" sz="3200" b="1" dirty="0">
                <a:latin typeface="Times New Roman" pitchFamily="18" charset="0"/>
                <a:cs typeface="Times New Roman" pitchFamily="18" charset="0"/>
              </a:rPr>
              <a:t/>
            </a:r>
            <a:br>
              <a:rPr lang="en-IN" sz="3200" b="1" dirty="0">
                <a:latin typeface="Times New Roman" pitchFamily="18" charset="0"/>
                <a:cs typeface="Times New Roman" pitchFamily="18" charset="0"/>
              </a:rPr>
            </a:br>
            <a:endParaRPr lang="en-US" sz="3200" b="1" dirty="0">
              <a:latin typeface="Times New Roman" pitchFamily="18" charset="0"/>
              <a:cs typeface="Times New Roman" pitchFamily="18" charset="0"/>
            </a:endParaRPr>
          </a:p>
        </p:txBody>
      </p:sp>
      <p:sp>
        <p:nvSpPr>
          <p:cNvPr id="3" name="Content Placeholder 2"/>
          <p:cNvSpPr>
            <a:spLocks noGrp="1"/>
          </p:cNvSpPr>
          <p:nvPr>
            <p:ph idx="1"/>
          </p:nvPr>
        </p:nvSpPr>
        <p:spPr>
          <a:xfrm>
            <a:off x="1143000" y="1219200"/>
            <a:ext cx="7620000" cy="5029200"/>
          </a:xfrm>
        </p:spPr>
        <p:style>
          <a:lnRef idx="2">
            <a:schemeClr val="accent4"/>
          </a:lnRef>
          <a:fillRef idx="1">
            <a:schemeClr val="lt1"/>
          </a:fillRef>
          <a:effectRef idx="0">
            <a:schemeClr val="accent4"/>
          </a:effectRef>
          <a:fontRef idx="minor">
            <a:schemeClr val="dk1"/>
          </a:fontRef>
        </p:style>
        <p:txBody>
          <a:bodyPr>
            <a:normAutofit lnSpcReduction="10000"/>
          </a:bodyPr>
          <a:lstStyle/>
          <a:p>
            <a:r>
              <a:rPr lang="en-US" sz="2200" dirty="0" smtClean="0">
                <a:latin typeface="Times New Roman" pitchFamily="18" charset="0"/>
                <a:cs typeface="Times New Roman" pitchFamily="18" charset="0"/>
              </a:rPr>
              <a:t>Essential points in pitching to attract talent for a startup company:</a:t>
            </a:r>
            <a:endParaRPr lang="en-US" sz="2200" dirty="0" smtClean="0">
              <a:latin typeface="Times New Roman" pitchFamily="18" charset="0"/>
              <a:cs typeface="Times New Roman" pitchFamily="18" charset="0"/>
            </a:endParaRPr>
          </a:p>
          <a:p>
            <a:r>
              <a:rPr lang="en-US" sz="2200" b="1" dirty="0" smtClean="0">
                <a:latin typeface="Times New Roman" pitchFamily="18" charset="0"/>
                <a:cs typeface="Times New Roman" pitchFamily="18" charset="0"/>
              </a:rPr>
              <a:t>Build An Attractive Company: </a:t>
            </a:r>
            <a:r>
              <a:rPr lang="en-US" sz="2200" dirty="0">
                <a:latin typeface="Times New Roman" pitchFamily="18" charset="0"/>
                <a:cs typeface="Times New Roman" pitchFamily="18" charset="0"/>
              </a:rPr>
              <a:t>The first step is attracting </a:t>
            </a:r>
            <a:r>
              <a:rPr lang="en-US" sz="2200" dirty="0" smtClean="0">
                <a:latin typeface="Times New Roman" pitchFamily="18" charset="0"/>
                <a:cs typeface="Times New Roman" pitchFamily="18" charset="0"/>
              </a:rPr>
              <a:t>talent is </a:t>
            </a:r>
            <a:r>
              <a:rPr lang="en-US" sz="2200" dirty="0">
                <a:latin typeface="Times New Roman" pitchFamily="18" charset="0"/>
                <a:cs typeface="Times New Roman" pitchFamily="18" charset="0"/>
              </a:rPr>
              <a:t>creating a company that appeals to top-quality applicants, getting </a:t>
            </a:r>
            <a:r>
              <a:rPr lang="en-US" sz="2200" dirty="0" smtClean="0">
                <a:latin typeface="Times New Roman" pitchFamily="18" charset="0"/>
                <a:cs typeface="Times New Roman" pitchFamily="18" charset="0"/>
              </a:rPr>
              <a:t>job </a:t>
            </a:r>
            <a:r>
              <a:rPr lang="en-US" sz="2200" dirty="0">
                <a:latin typeface="Times New Roman" pitchFamily="18" charset="0"/>
                <a:cs typeface="Times New Roman" pitchFamily="18" charset="0"/>
              </a:rPr>
              <a:t>advert in front of the right people, and getting them excited about </a:t>
            </a:r>
            <a:r>
              <a:rPr lang="en-US" sz="2200" dirty="0" smtClean="0">
                <a:latin typeface="Times New Roman" pitchFamily="18" charset="0"/>
                <a:cs typeface="Times New Roman" pitchFamily="18" charset="0"/>
              </a:rPr>
              <a:t>working in the startup.</a:t>
            </a:r>
            <a:r>
              <a:rPr lang="en-US" sz="2200" dirty="0">
                <a:latin typeface="Times New Roman" pitchFamily="18" charset="0"/>
                <a:cs typeface="Times New Roman" pitchFamily="18" charset="0"/>
              </a:rPr>
              <a:t> </a:t>
            </a:r>
            <a:endParaRPr lang="en-US" sz="2200" dirty="0" smtClean="0">
              <a:latin typeface="Times New Roman" pitchFamily="18" charset="0"/>
              <a:cs typeface="Times New Roman" pitchFamily="18" charset="0"/>
            </a:endParaRPr>
          </a:p>
          <a:p>
            <a:pPr lvl="2">
              <a:buFont typeface="Wingdings" pitchFamily="2" charset="2"/>
              <a:buChar char="Ø"/>
            </a:pPr>
            <a:r>
              <a:rPr lang="en-US" sz="1800" dirty="0" smtClean="0">
                <a:latin typeface="Times New Roman" pitchFamily="18" charset="0"/>
                <a:cs typeface="Times New Roman" pitchFamily="18" charset="0"/>
              </a:rPr>
              <a:t>Defining </a:t>
            </a:r>
            <a:r>
              <a:rPr lang="en-US" sz="1800" dirty="0">
                <a:latin typeface="Times New Roman" pitchFamily="18" charset="0"/>
                <a:cs typeface="Times New Roman" pitchFamily="18" charset="0"/>
              </a:rPr>
              <a:t>and sharing your company values is a great starting point from which </a:t>
            </a:r>
            <a:r>
              <a:rPr lang="en-US" sz="1800" dirty="0">
                <a:latin typeface="Times New Roman" pitchFamily="18" charset="0"/>
                <a:cs typeface="Times New Roman" pitchFamily="18" charset="0"/>
              </a:rPr>
              <a:t>to </a:t>
            </a:r>
            <a:r>
              <a:rPr lang="en-US" sz="1800" dirty="0">
                <a:latin typeface="Times New Roman" pitchFamily="18" charset="0"/>
                <a:cs typeface="Times New Roman" pitchFamily="18" charset="0"/>
              </a:rPr>
              <a:t>evaluate prospective employees based on culture </a:t>
            </a:r>
            <a:r>
              <a:rPr lang="en-US" sz="1800" dirty="0" smtClean="0">
                <a:latin typeface="Times New Roman" pitchFamily="18" charset="0"/>
                <a:cs typeface="Times New Roman" pitchFamily="18" charset="0"/>
              </a:rPr>
              <a:t>fit.</a:t>
            </a:r>
          </a:p>
          <a:p>
            <a:pPr lvl="2">
              <a:buFont typeface="Wingdings" pitchFamily="2" charset="2"/>
              <a:buChar char="Ø"/>
            </a:pPr>
            <a:r>
              <a:rPr lang="en-US" sz="1800" dirty="0">
                <a:latin typeface="Times New Roman" pitchFamily="18" charset="0"/>
                <a:cs typeface="Times New Roman" pitchFamily="18" charset="0"/>
              </a:rPr>
              <a:t>Competitive pay is essential for attracting talented employees, and it’s even more important for employee retention.</a:t>
            </a:r>
          </a:p>
          <a:p>
            <a:r>
              <a:rPr lang="en-US" sz="2200" b="1" dirty="0" smtClean="0">
                <a:latin typeface="Times New Roman" pitchFamily="18" charset="0"/>
                <a:cs typeface="Times New Roman" pitchFamily="18" charset="0"/>
              </a:rPr>
              <a:t>Reaching Candidates: </a:t>
            </a:r>
            <a:r>
              <a:rPr lang="en-US" sz="2200" dirty="0">
                <a:latin typeface="Times New Roman" pitchFamily="18" charset="0"/>
                <a:cs typeface="Times New Roman" pitchFamily="18" charset="0"/>
              </a:rPr>
              <a:t>Attending conferences, talks or tech </a:t>
            </a:r>
            <a:r>
              <a:rPr lang="en-US" sz="2200" dirty="0" smtClean="0">
                <a:latin typeface="Times New Roman" pitchFamily="18" charset="0"/>
                <a:cs typeface="Times New Roman" pitchFamily="18" charset="0"/>
              </a:rPr>
              <a:t>meet-ups </a:t>
            </a:r>
            <a:r>
              <a:rPr lang="en-US" sz="2200" dirty="0">
                <a:latin typeface="Times New Roman" pitchFamily="18" charset="0"/>
                <a:cs typeface="Times New Roman" pitchFamily="18" charset="0"/>
              </a:rPr>
              <a:t>are great ways to </a:t>
            </a:r>
            <a:r>
              <a:rPr lang="en-US" sz="2200" dirty="0" smtClean="0">
                <a:latin typeface="Times New Roman" pitchFamily="18" charset="0"/>
                <a:cs typeface="Times New Roman" pitchFamily="18" charset="0"/>
              </a:rPr>
              <a:t>network with potential employees.</a:t>
            </a:r>
            <a:r>
              <a:rPr lang="en-US" sz="2200" dirty="0">
                <a:latin typeface="Times New Roman" pitchFamily="18" charset="0"/>
                <a:cs typeface="Times New Roman" pitchFamily="18" charset="0"/>
              </a:rPr>
              <a:t> </a:t>
            </a:r>
            <a:endParaRPr lang="en-US" sz="2200" dirty="0" smtClean="0">
              <a:latin typeface="Times New Roman" pitchFamily="18" charset="0"/>
              <a:cs typeface="Times New Roman" pitchFamily="18" charset="0"/>
            </a:endParaRPr>
          </a:p>
          <a:p>
            <a:pPr lvl="2">
              <a:buFont typeface="Wingdings" pitchFamily="2" charset="2"/>
              <a:buChar char="Ø"/>
            </a:pPr>
            <a:r>
              <a:rPr lang="en-US" sz="1800" dirty="0">
                <a:latin typeface="Times New Roman" pitchFamily="18" charset="0"/>
                <a:cs typeface="Times New Roman" pitchFamily="18" charset="0"/>
              </a:rPr>
              <a:t>Share next-hire requirements with your team, and encourage them to reach out to any of their contacts who they think would be a good fit for the role.</a:t>
            </a:r>
          </a:p>
          <a:p>
            <a:endParaRPr lang="en-US" sz="22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3592E275-D691-4E5D-BCC6-6858DE38E852}" type="slidenum">
              <a:rPr lang="en-US" smtClean="0"/>
              <a:pPr/>
              <a:t>51</a:t>
            </a:fld>
            <a:endParaRPr lang="en-US"/>
          </a:p>
        </p:txBody>
      </p:sp>
    </p:spTree>
    <p:extLst>
      <p:ext uri="{BB962C8B-B14F-4D97-AF65-F5344CB8AC3E}">
        <p14:creationId xmlns:p14="http://schemas.microsoft.com/office/powerpoint/2010/main" val="1494130944"/>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0" y="609600"/>
            <a:ext cx="7620000" cy="518890"/>
          </a:xfrm>
        </p:spPr>
        <p:txBody>
          <a:bodyPr>
            <a:noAutofit/>
          </a:bodyPr>
          <a:lstStyle/>
          <a:p>
            <a:pPr algn="ctr"/>
            <a:r>
              <a:rPr lang="en-IN" sz="3200" b="1" dirty="0">
                <a:latin typeface="Times New Roman" pitchFamily="18" charset="0"/>
                <a:cs typeface="Times New Roman" pitchFamily="18" charset="0"/>
              </a:rPr>
              <a:t>Pitching </a:t>
            </a:r>
            <a:r>
              <a:rPr lang="en-IN" sz="3200" b="1" dirty="0" smtClean="0">
                <a:latin typeface="Times New Roman" pitchFamily="18" charset="0"/>
                <a:cs typeface="Times New Roman" pitchFamily="18" charset="0"/>
              </a:rPr>
              <a:t>To Attract </a:t>
            </a:r>
            <a:r>
              <a:rPr lang="en-IN" sz="3200" b="1" dirty="0">
                <a:latin typeface="Times New Roman" pitchFamily="18" charset="0"/>
                <a:cs typeface="Times New Roman" pitchFamily="18" charset="0"/>
              </a:rPr>
              <a:t>T</a:t>
            </a:r>
            <a:r>
              <a:rPr lang="en-IN" sz="3200" b="1" dirty="0" smtClean="0">
                <a:latin typeface="Times New Roman" pitchFamily="18" charset="0"/>
                <a:cs typeface="Times New Roman" pitchFamily="18" charset="0"/>
              </a:rPr>
              <a:t>he Talent </a:t>
            </a:r>
            <a:r>
              <a:rPr lang="en-IN" sz="3200" b="1" dirty="0">
                <a:latin typeface="Times New Roman" pitchFamily="18" charset="0"/>
                <a:cs typeface="Times New Roman" pitchFamily="18" charset="0"/>
              </a:rPr>
              <a:t/>
            </a:r>
            <a:br>
              <a:rPr lang="en-IN" sz="3200" b="1" dirty="0">
                <a:latin typeface="Times New Roman" pitchFamily="18" charset="0"/>
                <a:cs typeface="Times New Roman" pitchFamily="18" charset="0"/>
              </a:rPr>
            </a:br>
            <a:r>
              <a:rPr lang="en-IN" sz="3200" b="1" dirty="0">
                <a:latin typeface="Times New Roman" pitchFamily="18" charset="0"/>
                <a:cs typeface="Times New Roman" pitchFamily="18" charset="0"/>
              </a:rPr>
              <a:t/>
            </a:r>
            <a:br>
              <a:rPr lang="en-IN" sz="3200" b="1" dirty="0">
                <a:latin typeface="Times New Roman" pitchFamily="18" charset="0"/>
                <a:cs typeface="Times New Roman" pitchFamily="18" charset="0"/>
              </a:rPr>
            </a:br>
            <a:endParaRPr lang="en-US" sz="3200" b="1" dirty="0">
              <a:latin typeface="Times New Roman" pitchFamily="18" charset="0"/>
              <a:cs typeface="Times New Roman" pitchFamily="18" charset="0"/>
            </a:endParaRPr>
          </a:p>
        </p:txBody>
      </p:sp>
      <p:sp>
        <p:nvSpPr>
          <p:cNvPr id="3" name="Content Placeholder 2"/>
          <p:cNvSpPr>
            <a:spLocks noGrp="1"/>
          </p:cNvSpPr>
          <p:nvPr>
            <p:ph idx="1"/>
          </p:nvPr>
        </p:nvSpPr>
        <p:spPr>
          <a:xfrm>
            <a:off x="1143000" y="1219200"/>
            <a:ext cx="7620000" cy="5029200"/>
          </a:xfrm>
        </p:spPr>
        <p:style>
          <a:lnRef idx="2">
            <a:schemeClr val="accent4"/>
          </a:lnRef>
          <a:fillRef idx="1">
            <a:schemeClr val="lt1"/>
          </a:fillRef>
          <a:effectRef idx="0">
            <a:schemeClr val="accent4"/>
          </a:effectRef>
          <a:fontRef idx="minor">
            <a:schemeClr val="dk1"/>
          </a:fontRef>
        </p:style>
        <p:txBody>
          <a:bodyPr>
            <a:normAutofit fontScale="92500" lnSpcReduction="10000"/>
          </a:bodyPr>
          <a:lstStyle/>
          <a:p>
            <a:r>
              <a:rPr lang="en-US" sz="2000" b="1" dirty="0">
                <a:latin typeface="Times New Roman" pitchFamily="18" charset="0"/>
                <a:cs typeface="Times New Roman" pitchFamily="18" charset="0"/>
              </a:rPr>
              <a:t>Look at tech recruiters as product </a:t>
            </a:r>
            <a:r>
              <a:rPr lang="en-US" sz="2000" b="1" dirty="0">
                <a:latin typeface="Times New Roman" pitchFamily="18" charset="0"/>
                <a:cs typeface="Times New Roman" pitchFamily="18" charset="0"/>
              </a:rPr>
              <a:t>partners: </a:t>
            </a:r>
            <a:r>
              <a:rPr lang="en-US" sz="2000" dirty="0">
                <a:latin typeface="Times New Roman" pitchFamily="18" charset="0"/>
                <a:cs typeface="Times New Roman" pitchFamily="18" charset="0"/>
              </a:rPr>
              <a:t>Ensure that recruiters attend product meetings that involve roles for which they are hiring</a:t>
            </a:r>
            <a:r>
              <a:rPr lang="en-US" sz="2000" dirty="0" smtClean="0">
                <a:latin typeface="Times New Roman" pitchFamily="18" charset="0"/>
                <a:cs typeface="Times New Roman" pitchFamily="18" charset="0"/>
              </a:rPr>
              <a:t>. </a:t>
            </a:r>
          </a:p>
          <a:p>
            <a:pPr lvl="1">
              <a:buFont typeface="Wingdings" pitchFamily="2" charset="2"/>
              <a:buChar char="Ø"/>
            </a:pPr>
            <a:r>
              <a:rPr lang="en-US" sz="1800" dirty="0" smtClean="0">
                <a:latin typeface="Times New Roman" pitchFamily="18" charset="0"/>
                <a:cs typeface="Times New Roman" pitchFamily="18" charset="0"/>
              </a:rPr>
              <a:t>Armed </a:t>
            </a:r>
            <a:r>
              <a:rPr lang="en-US" sz="1800" dirty="0">
                <a:latin typeface="Times New Roman" pitchFamily="18" charset="0"/>
                <a:cs typeface="Times New Roman" pitchFamily="18" charset="0"/>
              </a:rPr>
              <a:t>with an understanding of the product roadmap and technical challenges, a great technical recruiter will provide objective insights around a candidate’s strengths, weaknesses and any potential red or green flags. </a:t>
            </a:r>
          </a:p>
          <a:p>
            <a:r>
              <a:rPr lang="en-US" sz="2000" b="1" dirty="0">
                <a:latin typeface="Times New Roman" pitchFamily="18" charset="0"/>
                <a:cs typeface="Times New Roman" pitchFamily="18" charset="0"/>
              </a:rPr>
              <a:t>Integrate product and hiring </a:t>
            </a:r>
            <a:r>
              <a:rPr lang="en-US" sz="2000" b="1" dirty="0">
                <a:latin typeface="Times New Roman" pitchFamily="18" charset="0"/>
                <a:cs typeface="Times New Roman" pitchFamily="18" charset="0"/>
              </a:rPr>
              <a:t>roadmaps</a:t>
            </a:r>
            <a:r>
              <a:rPr lang="en-US" sz="2000" b="1" dirty="0" smtClean="0">
                <a:latin typeface="Times New Roman" pitchFamily="18" charset="0"/>
                <a:cs typeface="Times New Roman" pitchFamily="18" charset="0"/>
              </a:rPr>
              <a:t>: </a:t>
            </a:r>
            <a:r>
              <a:rPr lang="en-US" sz="2000" dirty="0">
                <a:latin typeface="Times New Roman" pitchFamily="18" charset="0"/>
                <a:cs typeface="Times New Roman" pitchFamily="18" charset="0"/>
              </a:rPr>
              <a:t>Creating a hiring roadmap that ties directly to the product roadmap enables recruiters to reverse-engineer hiring needs and establish a clear set of company-wide priorities. </a:t>
            </a:r>
            <a:endParaRPr lang="en-US" sz="2000" dirty="0" smtClean="0">
              <a:latin typeface="Times New Roman" pitchFamily="18" charset="0"/>
              <a:cs typeface="Times New Roman" pitchFamily="18" charset="0"/>
            </a:endParaRPr>
          </a:p>
          <a:p>
            <a:r>
              <a:rPr lang="en-US" sz="2000" b="1" dirty="0">
                <a:latin typeface="Times New Roman" pitchFamily="18" charset="0"/>
                <a:cs typeface="Times New Roman" pitchFamily="18" charset="0"/>
              </a:rPr>
              <a:t>Communicate inside and </a:t>
            </a:r>
            <a:r>
              <a:rPr lang="en-US" sz="2000" b="1" dirty="0" smtClean="0">
                <a:latin typeface="Times New Roman" pitchFamily="18" charset="0"/>
                <a:cs typeface="Times New Roman" pitchFamily="18" charset="0"/>
              </a:rPr>
              <a:t>out: </a:t>
            </a:r>
            <a:r>
              <a:rPr lang="en-US" sz="2000" dirty="0" smtClean="0">
                <a:latin typeface="Times New Roman" pitchFamily="18" charset="0"/>
                <a:cs typeface="Times New Roman" pitchFamily="18" charset="0"/>
              </a:rPr>
              <a:t>Hire </a:t>
            </a:r>
            <a:r>
              <a:rPr lang="en-US" sz="2000" dirty="0">
                <a:latin typeface="Times New Roman" pitchFamily="18" charset="0"/>
                <a:cs typeface="Times New Roman" pitchFamily="18" charset="0"/>
              </a:rPr>
              <a:t>a technical recruiter with excellent communication skills when it comes to speaking, listening and exhibiting passion for </a:t>
            </a:r>
            <a:r>
              <a:rPr lang="en-US" sz="2000" dirty="0" smtClean="0">
                <a:latin typeface="Times New Roman" pitchFamily="18" charset="0"/>
                <a:cs typeface="Times New Roman" pitchFamily="18" charset="0"/>
              </a:rPr>
              <a:t>the product </a:t>
            </a:r>
            <a:r>
              <a:rPr lang="en-US" sz="2000" dirty="0">
                <a:latin typeface="Times New Roman" pitchFamily="18" charset="0"/>
                <a:cs typeface="Times New Roman" pitchFamily="18" charset="0"/>
              </a:rPr>
              <a:t>space. </a:t>
            </a:r>
            <a:r>
              <a:rPr lang="en-US" sz="2000" dirty="0"/>
              <a:t> </a:t>
            </a:r>
            <a:endParaRPr lang="en-US" sz="2000" dirty="0" smtClean="0"/>
          </a:p>
          <a:p>
            <a:pPr lvl="1">
              <a:buFont typeface="Wingdings" pitchFamily="2" charset="2"/>
              <a:buChar char="Ø"/>
            </a:pPr>
            <a:r>
              <a:rPr lang="en-US" sz="1900" dirty="0" smtClean="0">
                <a:latin typeface="Times New Roman" pitchFamily="18" charset="0"/>
                <a:cs typeface="Times New Roman" pitchFamily="18" charset="0"/>
              </a:rPr>
              <a:t>Recruiter </a:t>
            </a:r>
            <a:r>
              <a:rPr lang="en-US" sz="1900" dirty="0">
                <a:latin typeface="Times New Roman" pitchFamily="18" charset="0"/>
                <a:cs typeface="Times New Roman" pitchFamily="18" charset="0"/>
              </a:rPr>
              <a:t>should listen </a:t>
            </a:r>
            <a:r>
              <a:rPr lang="en-US" sz="1900" dirty="0">
                <a:latin typeface="Times New Roman" pitchFamily="18" charset="0"/>
                <a:cs typeface="Times New Roman" pitchFamily="18" charset="0"/>
              </a:rPr>
              <a:t>to the problem, understand the constraints and communicate solutions. </a:t>
            </a:r>
            <a:r>
              <a:rPr lang="en-US" sz="1900" dirty="0">
                <a:latin typeface="Times New Roman" pitchFamily="18" charset="0"/>
                <a:cs typeface="Times New Roman" pitchFamily="18" charset="0"/>
              </a:rPr>
              <a:t>These include hiring a contractor, promoting from within, focusing on the primary platform first and employing an agency.</a:t>
            </a:r>
          </a:p>
          <a:p>
            <a:endParaRPr lang="en-US" sz="2000" dirty="0">
              <a:latin typeface="Times New Roman" pitchFamily="18" charset="0"/>
              <a:cs typeface="Times New Roman" pitchFamily="18" charset="0"/>
            </a:endParaRPr>
          </a:p>
          <a:p>
            <a:endParaRPr lang="en-US" sz="22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3592E275-D691-4E5D-BCC6-6858DE38E852}" type="slidenum">
              <a:rPr lang="en-US" smtClean="0"/>
              <a:pPr/>
              <a:t>52</a:t>
            </a:fld>
            <a:endParaRPr lang="en-US"/>
          </a:p>
        </p:txBody>
      </p:sp>
    </p:spTree>
    <p:extLst>
      <p:ext uri="{BB962C8B-B14F-4D97-AF65-F5344CB8AC3E}">
        <p14:creationId xmlns:p14="http://schemas.microsoft.com/office/powerpoint/2010/main" val="1554102771"/>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52400"/>
            <a:ext cx="8305800" cy="609600"/>
          </a:xfrm>
        </p:spPr>
        <p:txBody>
          <a:bodyPr>
            <a:noAutofit/>
          </a:bodyPr>
          <a:lstStyle/>
          <a:p>
            <a:pPr algn="ctr"/>
            <a:r>
              <a:rPr lang="en-IN" sz="3200" b="1" dirty="0">
                <a:latin typeface="Times New Roman" pitchFamily="18" charset="0"/>
                <a:cs typeface="Times New Roman" pitchFamily="18" charset="0"/>
              </a:rPr>
              <a:t>Defining </a:t>
            </a:r>
            <a:r>
              <a:rPr lang="en-IN" sz="3200" b="1" dirty="0" smtClean="0">
                <a:latin typeface="Times New Roman" pitchFamily="18" charset="0"/>
                <a:cs typeface="Times New Roman" pitchFamily="18" charset="0"/>
              </a:rPr>
              <a:t>Roles in a Startup</a:t>
            </a:r>
            <a:endParaRPr lang="en-US" sz="3200" dirty="0"/>
          </a:p>
        </p:txBody>
      </p:sp>
      <p:sp>
        <p:nvSpPr>
          <p:cNvPr id="3" name="Content Placeholder 2"/>
          <p:cNvSpPr>
            <a:spLocks noGrp="1"/>
          </p:cNvSpPr>
          <p:nvPr>
            <p:ph idx="1"/>
          </p:nvPr>
        </p:nvSpPr>
        <p:spPr>
          <a:xfrm>
            <a:off x="1371600" y="838200"/>
            <a:ext cx="7620000" cy="5562600"/>
          </a:xfrm>
        </p:spPr>
        <p:style>
          <a:lnRef idx="2">
            <a:schemeClr val="accent4"/>
          </a:lnRef>
          <a:fillRef idx="1">
            <a:schemeClr val="lt1"/>
          </a:fillRef>
          <a:effectRef idx="0">
            <a:schemeClr val="accent4"/>
          </a:effectRef>
          <a:fontRef idx="minor">
            <a:schemeClr val="dk1"/>
          </a:fontRef>
        </p:style>
        <p:txBody>
          <a:bodyPr>
            <a:noAutofit/>
          </a:bodyPr>
          <a:lstStyle/>
          <a:p>
            <a:pPr marL="0" indent="0" algn="ctr">
              <a:buNone/>
            </a:pPr>
            <a:r>
              <a:rPr lang="en-US" sz="2000" b="1" dirty="0" smtClean="0">
                <a:latin typeface="Times New Roman" pitchFamily="18" charset="0"/>
                <a:cs typeface="Times New Roman" pitchFamily="18" charset="0"/>
              </a:rPr>
              <a:t>Eight Startup </a:t>
            </a:r>
            <a:r>
              <a:rPr lang="en-US" sz="2000" b="1" dirty="0">
                <a:latin typeface="Times New Roman" pitchFamily="18" charset="0"/>
                <a:cs typeface="Times New Roman" pitchFamily="18" charset="0"/>
              </a:rPr>
              <a:t>R</a:t>
            </a:r>
            <a:r>
              <a:rPr lang="en-US" sz="2000" b="1" dirty="0" smtClean="0">
                <a:latin typeface="Times New Roman" pitchFamily="18" charset="0"/>
                <a:cs typeface="Times New Roman" pitchFamily="18" charset="0"/>
              </a:rPr>
              <a:t>oles </a:t>
            </a:r>
            <a:r>
              <a:rPr lang="en-US" sz="2000" b="1" dirty="0">
                <a:latin typeface="Times New Roman" pitchFamily="18" charset="0"/>
                <a:cs typeface="Times New Roman" pitchFamily="18" charset="0"/>
              </a:rPr>
              <a:t>to H</a:t>
            </a:r>
            <a:r>
              <a:rPr lang="en-US" sz="2000" b="1" dirty="0" smtClean="0">
                <a:latin typeface="Times New Roman" pitchFamily="18" charset="0"/>
                <a:cs typeface="Times New Roman" pitchFamily="18" charset="0"/>
              </a:rPr>
              <a:t>ire</a:t>
            </a:r>
          </a:p>
          <a:p>
            <a:pPr marL="0" indent="0">
              <a:buNone/>
            </a:pPr>
            <a:r>
              <a:rPr lang="en-US" sz="2000" b="1" dirty="0" smtClean="0">
                <a:latin typeface="Times New Roman" pitchFamily="18" charset="0"/>
                <a:cs typeface="Times New Roman" pitchFamily="18" charset="0"/>
              </a:rPr>
              <a:t>1. Chief </a:t>
            </a:r>
            <a:r>
              <a:rPr lang="en-US" sz="2000" b="1" dirty="0">
                <a:latin typeface="Times New Roman" pitchFamily="18" charset="0"/>
                <a:cs typeface="Times New Roman" pitchFamily="18" charset="0"/>
              </a:rPr>
              <a:t>executive officer (CEO) and chief operations officer (COO</a:t>
            </a:r>
            <a:r>
              <a:rPr lang="en-US" sz="2000" b="1" dirty="0" smtClean="0">
                <a:latin typeface="Times New Roman" pitchFamily="18" charset="0"/>
                <a:cs typeface="Times New Roman" pitchFamily="18" charset="0"/>
              </a:rPr>
              <a:t>): </a:t>
            </a:r>
            <a:r>
              <a:rPr lang="en-US" sz="2000" dirty="0" smtClean="0">
                <a:latin typeface="Times New Roman" pitchFamily="18" charset="0"/>
                <a:cs typeface="Times New Roman" pitchFamily="18" charset="0"/>
              </a:rPr>
              <a:t> The</a:t>
            </a:r>
            <a:r>
              <a:rPr lang="en-US" sz="2000" dirty="0">
                <a:latin typeface="Times New Roman" pitchFamily="18" charset="0"/>
                <a:cs typeface="Times New Roman" pitchFamily="18" charset="0"/>
              </a:rPr>
              <a:t> CEO is typically the big-picture person who controls the company's direction, vision and culture, whereas the COO is primarily focused on the day-to-day operations to keep your business running</a:t>
            </a:r>
            <a:r>
              <a:rPr lang="en-US" sz="2000" dirty="0" smtClean="0">
                <a:latin typeface="Times New Roman" pitchFamily="18" charset="0"/>
                <a:cs typeface="Times New Roman" pitchFamily="18" charset="0"/>
              </a:rPr>
              <a:t>.</a:t>
            </a:r>
          </a:p>
          <a:p>
            <a:pPr marL="0" indent="0">
              <a:buNone/>
            </a:pPr>
            <a:r>
              <a:rPr lang="en-US" sz="2000" b="1" dirty="0">
                <a:latin typeface="Times New Roman" pitchFamily="18" charset="0"/>
                <a:cs typeface="Times New Roman" pitchFamily="18" charset="0"/>
              </a:rPr>
              <a:t>2. Product </a:t>
            </a:r>
            <a:r>
              <a:rPr lang="en-US" sz="2000" b="1" dirty="0" smtClean="0">
                <a:latin typeface="Times New Roman" pitchFamily="18" charset="0"/>
                <a:cs typeface="Times New Roman" pitchFamily="18" charset="0"/>
              </a:rPr>
              <a:t>manager: </a:t>
            </a:r>
            <a:r>
              <a:rPr lang="en-US" sz="2000" dirty="0">
                <a:latin typeface="Times New Roman" pitchFamily="18" charset="0"/>
                <a:cs typeface="Times New Roman" pitchFamily="18" charset="0"/>
              </a:rPr>
              <a:t>This team member manages the product strategy, vision and development. They typically work closely with the engineering and marketing teams to create and market the product</a:t>
            </a:r>
            <a:r>
              <a:rPr lang="en-US" sz="2000" dirty="0" smtClean="0">
                <a:latin typeface="Times New Roman" pitchFamily="18" charset="0"/>
                <a:cs typeface="Times New Roman" pitchFamily="18" charset="0"/>
              </a:rPr>
              <a:t>.</a:t>
            </a:r>
          </a:p>
          <a:p>
            <a:pPr marL="0" indent="0">
              <a:buNone/>
            </a:pPr>
            <a:r>
              <a:rPr lang="en-US" sz="2000" b="1" dirty="0">
                <a:latin typeface="Times New Roman" pitchFamily="18" charset="0"/>
                <a:cs typeface="Times New Roman" pitchFamily="18" charset="0"/>
              </a:rPr>
              <a:t>3. Chief technology officer (CTO) and VP of engineering </a:t>
            </a:r>
            <a:r>
              <a:rPr lang="en-US" sz="2000" b="1" dirty="0" smtClean="0">
                <a:latin typeface="Times New Roman" pitchFamily="18" charset="0"/>
                <a:cs typeface="Times New Roman" pitchFamily="18" charset="0"/>
              </a:rPr>
              <a:t>hybrid: </a:t>
            </a:r>
            <a:r>
              <a:rPr lang="en-US" sz="2000" dirty="0" smtClean="0">
                <a:latin typeface="Times New Roman" pitchFamily="18" charset="0"/>
                <a:cs typeface="Times New Roman" pitchFamily="18" charset="0"/>
              </a:rPr>
              <a:t>A </a:t>
            </a:r>
            <a:r>
              <a:rPr lang="en-US" sz="2000" dirty="0">
                <a:latin typeface="Times New Roman" pitchFamily="18" charset="0"/>
                <a:cs typeface="Times New Roman" pitchFamily="18" charset="0"/>
              </a:rPr>
              <a:t>team member who specializes in technology and development is crucial </a:t>
            </a:r>
            <a:r>
              <a:rPr lang="en-US" sz="2000" dirty="0" smtClean="0">
                <a:latin typeface="Times New Roman" pitchFamily="18" charset="0"/>
                <a:cs typeface="Times New Roman" pitchFamily="18" charset="0"/>
              </a:rPr>
              <a:t>for tech startups business's success.</a:t>
            </a:r>
            <a:r>
              <a:rPr lang="en-US" sz="2000" dirty="0">
                <a:latin typeface="Times New Roman" pitchFamily="18" charset="0"/>
                <a:cs typeface="Times New Roman" pitchFamily="18" charset="0"/>
              </a:rPr>
              <a:t> </a:t>
            </a:r>
          </a:p>
          <a:p>
            <a:pPr marL="0" indent="0">
              <a:buNone/>
            </a:pPr>
            <a:r>
              <a:rPr lang="en-US" sz="2000" b="1" dirty="0">
                <a:latin typeface="Times New Roman" pitchFamily="18" charset="0"/>
                <a:cs typeface="Times New Roman" pitchFamily="18" charset="0"/>
              </a:rPr>
              <a:t>4. Chief marketing officer (CMO): </a:t>
            </a:r>
            <a:r>
              <a:rPr lang="en-US" sz="2000" dirty="0">
                <a:latin typeface="Times New Roman" pitchFamily="18" charset="0"/>
                <a:cs typeface="Times New Roman" pitchFamily="18" charset="0"/>
              </a:rPr>
              <a:t>This team member will focus on </a:t>
            </a:r>
            <a:r>
              <a:rPr lang="en-US" sz="2000" dirty="0" smtClean="0">
                <a:latin typeface="Times New Roman" pitchFamily="18" charset="0"/>
                <a:cs typeface="Times New Roman" pitchFamily="18" charset="0"/>
              </a:rPr>
              <a:t>the startup’s </a:t>
            </a:r>
            <a:r>
              <a:rPr lang="en-US" sz="2000" dirty="0">
                <a:latin typeface="Times New Roman" pitchFamily="18" charset="0"/>
                <a:cs typeface="Times New Roman" pitchFamily="18" charset="0"/>
              </a:rPr>
              <a:t>customers and how they view </a:t>
            </a:r>
            <a:r>
              <a:rPr lang="en-US" sz="2000" dirty="0" smtClean="0">
                <a:latin typeface="Times New Roman" pitchFamily="18" charset="0"/>
                <a:cs typeface="Times New Roman" pitchFamily="18" charset="0"/>
              </a:rPr>
              <a:t>the </a:t>
            </a:r>
            <a:r>
              <a:rPr lang="en-US" sz="2000" dirty="0">
                <a:latin typeface="Times New Roman" pitchFamily="18" charset="0"/>
                <a:cs typeface="Times New Roman" pitchFamily="18" charset="0"/>
              </a:rPr>
              <a:t>product or service. </a:t>
            </a:r>
            <a:endParaRPr lang="en-US" sz="2000" dirty="0" smtClean="0">
              <a:latin typeface="Times New Roman" pitchFamily="18" charset="0"/>
              <a:cs typeface="Times New Roman" pitchFamily="18" charset="0"/>
            </a:endParaRPr>
          </a:p>
          <a:p>
            <a:pPr marL="0" indent="0">
              <a:buNone/>
            </a:pPr>
            <a:r>
              <a:rPr lang="en-US" sz="2000" b="1" dirty="0">
                <a:latin typeface="Times New Roman" pitchFamily="18" charset="0"/>
                <a:cs typeface="Times New Roman" pitchFamily="18" charset="0"/>
              </a:rPr>
              <a:t>5. Sales manager: </a:t>
            </a:r>
            <a:r>
              <a:rPr lang="en-US" sz="2000" dirty="0">
                <a:latin typeface="Times New Roman" pitchFamily="18" charset="0"/>
                <a:cs typeface="Times New Roman" pitchFamily="18" charset="0"/>
              </a:rPr>
              <a:t>This team member will focus on generating new leads and bringing in money for the startup. </a:t>
            </a:r>
          </a:p>
          <a:p>
            <a:pPr marL="0" indent="0">
              <a:buNone/>
            </a:pPr>
            <a:r>
              <a:rPr lang="en-US" sz="2000" b="1" dirty="0">
                <a:latin typeface="Times New Roman" pitchFamily="18" charset="0"/>
                <a:cs typeface="Times New Roman" pitchFamily="18" charset="0"/>
              </a:rPr>
              <a:t>6. Chief financial officer (</a:t>
            </a:r>
            <a:r>
              <a:rPr lang="en-US" sz="2000" b="1" dirty="0" smtClean="0">
                <a:latin typeface="Times New Roman" pitchFamily="18" charset="0"/>
                <a:cs typeface="Times New Roman" pitchFamily="18" charset="0"/>
              </a:rPr>
              <a:t>CFO): </a:t>
            </a:r>
            <a:r>
              <a:rPr lang="en-US" sz="2000" dirty="0">
                <a:latin typeface="Times New Roman" pitchFamily="18" charset="0"/>
                <a:cs typeface="Times New Roman" pitchFamily="18" charset="0"/>
              </a:rPr>
              <a:t>Experts recommend that startups outsource their accounting and finance roles, but hiring a </a:t>
            </a:r>
            <a:r>
              <a:rPr lang="en-US" sz="2000" dirty="0" smtClean="0">
                <a:latin typeface="Times New Roman" pitchFamily="18" charset="0"/>
                <a:cs typeface="Times New Roman" pitchFamily="18" charset="0"/>
              </a:rPr>
              <a:t>CFO can </a:t>
            </a:r>
            <a:r>
              <a:rPr lang="en-US" sz="2000" dirty="0">
                <a:latin typeface="Times New Roman" pitchFamily="18" charset="0"/>
                <a:cs typeface="Times New Roman" pitchFamily="18" charset="0"/>
              </a:rPr>
              <a:t>be extremely helpful for the startup. It's essential that </a:t>
            </a:r>
            <a:r>
              <a:rPr lang="en-US" sz="2000" dirty="0" smtClean="0">
                <a:latin typeface="Times New Roman" pitchFamily="18" charset="0"/>
                <a:cs typeface="Times New Roman" pitchFamily="18" charset="0"/>
              </a:rPr>
              <a:t>to have someone </a:t>
            </a:r>
            <a:r>
              <a:rPr lang="en-US" sz="2000" dirty="0">
                <a:latin typeface="Times New Roman" pitchFamily="18" charset="0"/>
                <a:cs typeface="Times New Roman" pitchFamily="18" charset="0"/>
              </a:rPr>
              <a:t>on the team who is responsible for the money and has an eye for detail to manage all aspects of the company's finances.</a:t>
            </a:r>
          </a:p>
          <a:p>
            <a:pPr marL="0" indent="0">
              <a:buNone/>
            </a:pPr>
            <a:endParaRPr lang="en-US" sz="1700" dirty="0">
              <a:latin typeface="Times New Roman" pitchFamily="18" charset="0"/>
              <a:cs typeface="Times New Roman" pitchFamily="18" charset="0"/>
            </a:endParaRPr>
          </a:p>
          <a:p>
            <a:pPr marL="0" indent="0">
              <a:buNone/>
            </a:pPr>
            <a:endParaRPr lang="en-US" sz="1700" dirty="0">
              <a:latin typeface="Times New Roman" pitchFamily="18" charset="0"/>
              <a:cs typeface="Times New Roman" pitchFamily="18" charset="0"/>
            </a:endParaRPr>
          </a:p>
          <a:p>
            <a:pPr marL="0" indent="0">
              <a:buNone/>
            </a:pPr>
            <a:endParaRPr lang="en-US" sz="1700" dirty="0">
              <a:latin typeface="Times New Roman" pitchFamily="18" charset="0"/>
              <a:cs typeface="Times New Roman" pitchFamily="18" charset="0"/>
            </a:endParaRPr>
          </a:p>
          <a:p>
            <a:pPr marL="0" indent="0">
              <a:buNone/>
            </a:pPr>
            <a:endParaRPr lang="en-US" sz="1700" dirty="0">
              <a:latin typeface="Times New Roman" pitchFamily="18" charset="0"/>
              <a:cs typeface="Times New Roman" pitchFamily="18" charset="0"/>
            </a:endParaRPr>
          </a:p>
          <a:p>
            <a:pPr marL="0" indent="0">
              <a:buNone/>
            </a:pPr>
            <a:endParaRPr lang="en-US" sz="1700" dirty="0">
              <a:latin typeface="Times New Roman" pitchFamily="18" charset="0"/>
              <a:cs typeface="Times New Roman" pitchFamily="18" charset="0"/>
            </a:endParaRPr>
          </a:p>
          <a:p>
            <a:pPr marL="0" indent="0">
              <a:buNone/>
            </a:pPr>
            <a:endParaRPr lang="en-US" sz="17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3592E275-D691-4E5D-BCC6-6858DE38E852}" type="slidenum">
              <a:rPr lang="en-US" smtClean="0"/>
              <a:pPr/>
              <a:t>53</a:t>
            </a:fld>
            <a:endParaRPr lang="en-US"/>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9050"/>
            <a:ext cx="8305800" cy="609600"/>
          </a:xfrm>
        </p:spPr>
        <p:txBody>
          <a:bodyPr>
            <a:noAutofit/>
          </a:bodyPr>
          <a:lstStyle/>
          <a:p>
            <a:pPr algn="ctr"/>
            <a:r>
              <a:rPr lang="en-IN" sz="3200" b="1" dirty="0">
                <a:latin typeface="Times New Roman" pitchFamily="18" charset="0"/>
                <a:cs typeface="Times New Roman" pitchFamily="18" charset="0"/>
              </a:rPr>
              <a:t>Defining </a:t>
            </a:r>
            <a:r>
              <a:rPr lang="en-IN" sz="3200" b="1" dirty="0" smtClean="0">
                <a:latin typeface="Times New Roman" pitchFamily="18" charset="0"/>
                <a:cs typeface="Times New Roman" pitchFamily="18" charset="0"/>
              </a:rPr>
              <a:t>Roles in a Startup</a:t>
            </a:r>
            <a:endParaRPr lang="en-US" sz="3200" dirty="0"/>
          </a:p>
        </p:txBody>
      </p:sp>
      <p:sp>
        <p:nvSpPr>
          <p:cNvPr id="3" name="Content Placeholder 2"/>
          <p:cNvSpPr>
            <a:spLocks noGrp="1"/>
          </p:cNvSpPr>
          <p:nvPr>
            <p:ph idx="1"/>
          </p:nvPr>
        </p:nvSpPr>
        <p:spPr>
          <a:xfrm>
            <a:off x="1371600" y="838200"/>
            <a:ext cx="7620000" cy="5562600"/>
          </a:xfrm>
        </p:spPr>
        <p:style>
          <a:lnRef idx="2">
            <a:schemeClr val="accent4"/>
          </a:lnRef>
          <a:fillRef idx="1">
            <a:schemeClr val="lt1"/>
          </a:fillRef>
          <a:effectRef idx="0">
            <a:schemeClr val="accent4"/>
          </a:effectRef>
          <a:fontRef idx="minor">
            <a:schemeClr val="dk1"/>
          </a:fontRef>
        </p:style>
        <p:txBody>
          <a:bodyPr>
            <a:noAutofit/>
          </a:bodyPr>
          <a:lstStyle/>
          <a:p>
            <a:pPr marL="0" indent="0" algn="ctr">
              <a:buNone/>
            </a:pPr>
            <a:r>
              <a:rPr lang="en-US" sz="2000" b="1" dirty="0" smtClean="0">
                <a:latin typeface="Times New Roman" pitchFamily="18" charset="0"/>
                <a:cs typeface="Times New Roman" pitchFamily="18" charset="0"/>
              </a:rPr>
              <a:t>Eight Startup </a:t>
            </a:r>
            <a:r>
              <a:rPr lang="en-US" sz="2000" b="1" dirty="0">
                <a:latin typeface="Times New Roman" pitchFamily="18" charset="0"/>
                <a:cs typeface="Times New Roman" pitchFamily="18" charset="0"/>
              </a:rPr>
              <a:t>R</a:t>
            </a:r>
            <a:r>
              <a:rPr lang="en-US" sz="2000" b="1" dirty="0" smtClean="0">
                <a:latin typeface="Times New Roman" pitchFamily="18" charset="0"/>
                <a:cs typeface="Times New Roman" pitchFamily="18" charset="0"/>
              </a:rPr>
              <a:t>oles </a:t>
            </a:r>
            <a:r>
              <a:rPr lang="en-US" sz="2000" b="1" dirty="0">
                <a:latin typeface="Times New Roman" pitchFamily="18" charset="0"/>
                <a:cs typeface="Times New Roman" pitchFamily="18" charset="0"/>
              </a:rPr>
              <a:t>to H</a:t>
            </a:r>
            <a:r>
              <a:rPr lang="en-US" sz="2000" b="1" dirty="0" smtClean="0">
                <a:latin typeface="Times New Roman" pitchFamily="18" charset="0"/>
                <a:cs typeface="Times New Roman" pitchFamily="18" charset="0"/>
              </a:rPr>
              <a:t>ire</a:t>
            </a:r>
          </a:p>
          <a:p>
            <a:pPr marL="0" indent="0">
              <a:buNone/>
            </a:pPr>
            <a:r>
              <a:rPr lang="en-US" sz="2000" b="1" dirty="0" smtClean="0">
                <a:latin typeface="Times New Roman" pitchFamily="18" charset="0"/>
                <a:cs typeface="Times New Roman" pitchFamily="18" charset="0"/>
              </a:rPr>
              <a:t>6</a:t>
            </a:r>
            <a:r>
              <a:rPr lang="en-US" sz="2000" b="1" dirty="0">
                <a:latin typeface="Times New Roman" pitchFamily="18" charset="0"/>
                <a:cs typeface="Times New Roman" pitchFamily="18" charset="0"/>
              </a:rPr>
              <a:t>. Chief </a:t>
            </a:r>
            <a:r>
              <a:rPr lang="en-US" sz="2000" b="1" dirty="0" smtClean="0">
                <a:latin typeface="Times New Roman" pitchFamily="18" charset="0"/>
                <a:cs typeface="Times New Roman" pitchFamily="18" charset="0"/>
              </a:rPr>
              <a:t> Financial </a:t>
            </a:r>
            <a:r>
              <a:rPr lang="en-US" sz="2000" b="1" dirty="0">
                <a:latin typeface="Times New Roman" pitchFamily="18" charset="0"/>
                <a:cs typeface="Times New Roman" pitchFamily="18" charset="0"/>
              </a:rPr>
              <a:t>O</a:t>
            </a:r>
            <a:r>
              <a:rPr lang="en-US" sz="2000" b="1" dirty="0" smtClean="0">
                <a:latin typeface="Times New Roman" pitchFamily="18" charset="0"/>
                <a:cs typeface="Times New Roman" pitchFamily="18" charset="0"/>
              </a:rPr>
              <a:t>fficer </a:t>
            </a:r>
            <a:r>
              <a:rPr lang="en-US" sz="2000" b="1" dirty="0">
                <a:latin typeface="Times New Roman" pitchFamily="18" charset="0"/>
                <a:cs typeface="Times New Roman" pitchFamily="18" charset="0"/>
              </a:rPr>
              <a:t>(</a:t>
            </a:r>
            <a:r>
              <a:rPr lang="en-US" sz="2000" b="1" dirty="0" smtClean="0">
                <a:latin typeface="Times New Roman" pitchFamily="18" charset="0"/>
                <a:cs typeface="Times New Roman" pitchFamily="18" charset="0"/>
              </a:rPr>
              <a:t>CFO): </a:t>
            </a:r>
            <a:r>
              <a:rPr lang="en-US" sz="2000" dirty="0">
                <a:latin typeface="Times New Roman" pitchFamily="18" charset="0"/>
                <a:cs typeface="Times New Roman" pitchFamily="18" charset="0"/>
              </a:rPr>
              <a:t>Experts recommend that startups outsource their accounting and finance roles, but hiring a </a:t>
            </a:r>
            <a:r>
              <a:rPr lang="en-US" sz="2000" dirty="0" smtClean="0">
                <a:latin typeface="Times New Roman" pitchFamily="18" charset="0"/>
                <a:cs typeface="Times New Roman" pitchFamily="18" charset="0"/>
              </a:rPr>
              <a:t>CFO can </a:t>
            </a:r>
            <a:r>
              <a:rPr lang="en-US" sz="2000" dirty="0">
                <a:latin typeface="Times New Roman" pitchFamily="18" charset="0"/>
                <a:cs typeface="Times New Roman" pitchFamily="18" charset="0"/>
              </a:rPr>
              <a:t>be extremely helpful for the startup. It's essential that </a:t>
            </a:r>
            <a:r>
              <a:rPr lang="en-US" sz="2000" dirty="0" smtClean="0">
                <a:latin typeface="Times New Roman" pitchFamily="18" charset="0"/>
                <a:cs typeface="Times New Roman" pitchFamily="18" charset="0"/>
              </a:rPr>
              <a:t>to have someone </a:t>
            </a:r>
            <a:r>
              <a:rPr lang="en-US" sz="2000" dirty="0">
                <a:latin typeface="Times New Roman" pitchFamily="18" charset="0"/>
                <a:cs typeface="Times New Roman" pitchFamily="18" charset="0"/>
              </a:rPr>
              <a:t>on the team who is responsible for the money and has an eye for detail to manage all aspects of the company's finances</a:t>
            </a:r>
            <a:r>
              <a:rPr lang="en-US" sz="2000" dirty="0" smtClean="0">
                <a:latin typeface="Times New Roman" pitchFamily="18" charset="0"/>
                <a:cs typeface="Times New Roman" pitchFamily="18" charset="0"/>
              </a:rPr>
              <a:t>.</a:t>
            </a:r>
          </a:p>
          <a:p>
            <a:pPr marL="0" indent="0">
              <a:buNone/>
            </a:pPr>
            <a:r>
              <a:rPr lang="en-US" sz="2000" b="1" dirty="0">
                <a:latin typeface="Times New Roman" pitchFamily="18" charset="0"/>
                <a:cs typeface="Times New Roman" pitchFamily="18" charset="0"/>
              </a:rPr>
              <a:t>7. Business development </a:t>
            </a:r>
            <a:r>
              <a:rPr lang="en-US" sz="2000" b="1" dirty="0" smtClean="0">
                <a:latin typeface="Times New Roman" pitchFamily="18" charset="0"/>
                <a:cs typeface="Times New Roman" pitchFamily="18" charset="0"/>
              </a:rPr>
              <a:t>manager: </a:t>
            </a:r>
            <a:r>
              <a:rPr lang="en-US" sz="2000" dirty="0" smtClean="0">
                <a:latin typeface="Times New Roman" pitchFamily="18" charset="0"/>
                <a:cs typeface="Times New Roman" pitchFamily="18" charset="0"/>
              </a:rPr>
              <a:t>While </a:t>
            </a:r>
            <a:r>
              <a:rPr lang="en-US" sz="2000" dirty="0">
                <a:latin typeface="Times New Roman" pitchFamily="18" charset="0"/>
                <a:cs typeface="Times New Roman" pitchFamily="18" charset="0"/>
              </a:rPr>
              <a:t>similar to the sales manager, a business development manager finds ways to grow </a:t>
            </a:r>
            <a:r>
              <a:rPr lang="en-US" sz="2000" dirty="0" smtClean="0">
                <a:latin typeface="Times New Roman" pitchFamily="18" charset="0"/>
                <a:cs typeface="Times New Roman" pitchFamily="18" charset="0"/>
              </a:rPr>
              <a:t>the </a:t>
            </a:r>
            <a:r>
              <a:rPr lang="en-US" sz="2000" dirty="0">
                <a:latin typeface="Times New Roman" pitchFamily="18" charset="0"/>
                <a:cs typeface="Times New Roman" pitchFamily="18" charset="0"/>
              </a:rPr>
              <a:t>business from both a marketing and sales standpoint. For example, this professional </a:t>
            </a:r>
            <a:r>
              <a:rPr lang="en-US" sz="2000" dirty="0" smtClean="0">
                <a:latin typeface="Times New Roman" pitchFamily="18" charset="0"/>
                <a:cs typeface="Times New Roman" pitchFamily="18" charset="0"/>
              </a:rPr>
              <a:t>focuses on </a:t>
            </a:r>
            <a:r>
              <a:rPr lang="en-US" sz="2000" dirty="0">
                <a:latin typeface="Times New Roman" pitchFamily="18" charset="0"/>
                <a:cs typeface="Times New Roman" pitchFamily="18" charset="0"/>
              </a:rPr>
              <a:t>developing relationships or partnerships with other businesses to increase revenue and potential for growth</a:t>
            </a:r>
            <a:r>
              <a:rPr lang="en-US" sz="2000" dirty="0" smtClean="0">
                <a:latin typeface="Times New Roman" pitchFamily="18" charset="0"/>
                <a:cs typeface="Times New Roman" pitchFamily="18" charset="0"/>
              </a:rPr>
              <a:t>.</a:t>
            </a:r>
          </a:p>
          <a:p>
            <a:pPr marL="0" indent="0">
              <a:buNone/>
            </a:pPr>
            <a:r>
              <a:rPr lang="en-US" sz="2000" b="1" dirty="0">
                <a:latin typeface="Times New Roman" pitchFamily="18" charset="0"/>
                <a:cs typeface="Times New Roman" pitchFamily="18" charset="0"/>
              </a:rPr>
              <a:t>8. Customer </a:t>
            </a:r>
            <a:r>
              <a:rPr lang="en-US" sz="2000" b="1" dirty="0" smtClean="0">
                <a:latin typeface="Times New Roman" pitchFamily="18" charset="0"/>
                <a:cs typeface="Times New Roman" pitchFamily="18" charset="0"/>
              </a:rPr>
              <a:t>Service Representative</a:t>
            </a:r>
            <a:r>
              <a:rPr lang="en-US" sz="2000" b="1" dirty="0">
                <a:latin typeface="Times New Roman" pitchFamily="18" charset="0"/>
                <a:cs typeface="Times New Roman" pitchFamily="18" charset="0"/>
              </a:rPr>
              <a:t>: </a:t>
            </a:r>
            <a:r>
              <a:rPr lang="en-US" sz="2000" dirty="0">
                <a:latin typeface="Times New Roman" pitchFamily="18" charset="0"/>
                <a:cs typeface="Times New Roman" pitchFamily="18" charset="0"/>
              </a:rPr>
              <a:t>Customer service is a critical task every business should master. Building positive relationships with your customers and clients is the cornerstone of your brand.</a:t>
            </a:r>
          </a:p>
          <a:p>
            <a:pPr marL="0" indent="0">
              <a:buNone/>
            </a:pPr>
            <a:endParaRPr lang="en-US" sz="2000" dirty="0">
              <a:latin typeface="Times New Roman" pitchFamily="18" charset="0"/>
              <a:cs typeface="Times New Roman" pitchFamily="18" charset="0"/>
            </a:endParaRPr>
          </a:p>
          <a:p>
            <a:pPr marL="0" indent="0">
              <a:buNone/>
            </a:pPr>
            <a:endParaRPr lang="en-US" sz="2000" dirty="0" smtClean="0">
              <a:latin typeface="Times New Roman" pitchFamily="18" charset="0"/>
              <a:cs typeface="Times New Roman" pitchFamily="18" charset="0"/>
            </a:endParaRPr>
          </a:p>
          <a:p>
            <a:pPr marL="0" indent="0">
              <a:buNone/>
            </a:pPr>
            <a:endParaRPr lang="en-US" sz="2000" dirty="0">
              <a:latin typeface="Times New Roman" pitchFamily="18" charset="0"/>
              <a:cs typeface="Times New Roman" pitchFamily="18" charset="0"/>
            </a:endParaRPr>
          </a:p>
          <a:p>
            <a:pPr marL="0" indent="0">
              <a:buNone/>
            </a:pPr>
            <a:endParaRPr lang="en-US" sz="1700" dirty="0">
              <a:latin typeface="Times New Roman" pitchFamily="18" charset="0"/>
              <a:cs typeface="Times New Roman" pitchFamily="18" charset="0"/>
            </a:endParaRPr>
          </a:p>
          <a:p>
            <a:pPr marL="0" indent="0">
              <a:buNone/>
            </a:pPr>
            <a:endParaRPr lang="en-US" sz="1700" dirty="0">
              <a:latin typeface="Times New Roman" pitchFamily="18" charset="0"/>
              <a:cs typeface="Times New Roman" pitchFamily="18" charset="0"/>
            </a:endParaRPr>
          </a:p>
          <a:p>
            <a:pPr marL="0" indent="0">
              <a:buNone/>
            </a:pPr>
            <a:endParaRPr lang="en-US" sz="1700" dirty="0">
              <a:latin typeface="Times New Roman" pitchFamily="18" charset="0"/>
              <a:cs typeface="Times New Roman" pitchFamily="18" charset="0"/>
            </a:endParaRPr>
          </a:p>
          <a:p>
            <a:pPr marL="0" indent="0">
              <a:buNone/>
            </a:pPr>
            <a:endParaRPr lang="en-US" sz="1700" dirty="0">
              <a:latin typeface="Times New Roman" pitchFamily="18" charset="0"/>
              <a:cs typeface="Times New Roman" pitchFamily="18" charset="0"/>
            </a:endParaRPr>
          </a:p>
          <a:p>
            <a:pPr marL="0" indent="0">
              <a:buNone/>
            </a:pPr>
            <a:endParaRPr lang="en-US" sz="1700" dirty="0">
              <a:latin typeface="Times New Roman" pitchFamily="18" charset="0"/>
              <a:cs typeface="Times New Roman" pitchFamily="18" charset="0"/>
            </a:endParaRPr>
          </a:p>
          <a:p>
            <a:pPr marL="0" indent="0">
              <a:buNone/>
            </a:pPr>
            <a:endParaRPr lang="en-US" sz="17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3592E275-D691-4E5D-BCC6-6858DE38E852}" type="slidenum">
              <a:rPr lang="en-US" smtClean="0"/>
              <a:pPr/>
              <a:t>54</a:t>
            </a:fld>
            <a:endParaRPr lang="en-US"/>
          </a:p>
        </p:txBody>
      </p:sp>
    </p:spTree>
    <p:extLst>
      <p:ext uri="{BB962C8B-B14F-4D97-AF65-F5344CB8AC3E}">
        <p14:creationId xmlns:p14="http://schemas.microsoft.com/office/powerpoint/2010/main" val="2787238160"/>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00200" y="914400"/>
            <a:ext cx="6934200" cy="5257800"/>
          </a:xfrm>
        </p:spPr>
        <p:style>
          <a:lnRef idx="1">
            <a:schemeClr val="accent4"/>
          </a:lnRef>
          <a:fillRef idx="2">
            <a:schemeClr val="accent4"/>
          </a:fillRef>
          <a:effectRef idx="1">
            <a:schemeClr val="accent4"/>
          </a:effectRef>
          <a:fontRef idx="minor">
            <a:schemeClr val="dk1"/>
          </a:fontRef>
        </p:style>
      </p:pic>
      <p:sp>
        <p:nvSpPr>
          <p:cNvPr id="4" name="Slide Number Placeholder 3"/>
          <p:cNvSpPr>
            <a:spLocks noGrp="1"/>
          </p:cNvSpPr>
          <p:nvPr>
            <p:ph type="sldNum" sz="quarter" idx="12"/>
          </p:nvPr>
        </p:nvSpPr>
        <p:spPr/>
        <p:txBody>
          <a:bodyPr/>
          <a:lstStyle/>
          <a:p>
            <a:fld id="{3592E275-D691-4E5D-BCC6-6858DE38E852}" type="slidenum">
              <a:rPr lang="en-US" smtClean="0"/>
              <a:pPr/>
              <a:t>55</a:t>
            </a:fld>
            <a:endParaRPr lang="en-US"/>
          </a:p>
        </p:txBody>
      </p:sp>
    </p:spTree>
    <p:extLst>
      <p:ext uri="{BB962C8B-B14F-4D97-AF65-F5344CB8AC3E}">
        <p14:creationId xmlns:p14="http://schemas.microsoft.com/office/powerpoint/2010/main" val="3854875045"/>
      </p:ext>
    </p:extLst>
  </p:cSld>
  <p:clrMapOvr>
    <a:masterClrMapping/>
  </p:clrMapOvr>
  <p:timing>
    <p:tnLst>
      <p:par>
        <p:cTn id="1" dur="indefinite" restart="never" nodeType="tmRoot"/>
      </p:par>
    </p:tnLst>
  </p:timing>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xmlns="" name="Wisp" id="{7CB32D59-10C0-40DD-B7BD-2E94284A981C}" vid="{24B1A44C-C006-48B2-A4D7-E5549B3D8C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TF00001235</Template>
  <TotalTime>1036</TotalTime>
  <Words>3023</Words>
  <Application>Microsoft Office PowerPoint</Application>
  <PresentationFormat>On-screen Show (4:3)</PresentationFormat>
  <Paragraphs>429</Paragraphs>
  <Slides>55</Slides>
  <Notes>1</Notes>
  <HiddenSlides>0</HiddenSlides>
  <MMClips>0</MMClips>
  <ScaleCrop>false</ScaleCrop>
  <HeadingPairs>
    <vt:vector size="4" baseType="variant">
      <vt:variant>
        <vt:lpstr>Theme</vt:lpstr>
      </vt:variant>
      <vt:variant>
        <vt:i4>1</vt:i4>
      </vt:variant>
      <vt:variant>
        <vt:lpstr>Slide Titles</vt:lpstr>
      </vt:variant>
      <vt:variant>
        <vt:i4>55</vt:i4>
      </vt:variant>
    </vt:vector>
  </HeadingPairs>
  <TitlesOfParts>
    <vt:vector size="56" baseType="lpstr">
      <vt:lpstr>Wisp</vt:lpstr>
      <vt:lpstr>Unit- III: Funding the Growth &amp; Building the A-Team</vt:lpstr>
      <vt:lpstr>Overview of Funding</vt:lpstr>
      <vt:lpstr>Funding Stages</vt:lpstr>
      <vt:lpstr>Funding options for an Entrepreneur,  </vt:lpstr>
      <vt:lpstr>Equity Capital Vs Debt Capital</vt:lpstr>
      <vt:lpstr>PowerPoint Presentation</vt:lpstr>
      <vt:lpstr>Bootstrapping</vt:lpstr>
      <vt:lpstr>Bootstrapping</vt:lpstr>
      <vt:lpstr>Bootstrapping – Three Funding Stages</vt:lpstr>
      <vt:lpstr>Source Of Bootstrap Financing</vt:lpstr>
      <vt:lpstr>PowerPoint Presentation</vt:lpstr>
      <vt:lpstr>PowerPoint Presentation</vt:lpstr>
      <vt:lpstr>PowerPoint Presentation</vt:lpstr>
      <vt:lpstr>PowerPoint Presentation</vt:lpstr>
      <vt:lpstr>Angel Investors</vt:lpstr>
      <vt:lpstr>Angel Investment - Charactristics</vt:lpstr>
      <vt:lpstr>Angel Investors - FiveTypes</vt:lpstr>
      <vt:lpstr>Investment Profile  Angel Investors</vt:lpstr>
      <vt:lpstr>Venture Capitalists </vt:lpstr>
      <vt:lpstr>Services generally provide by VCs</vt:lpstr>
      <vt:lpstr>The most active Venture Capital Funds in India</vt:lpstr>
      <vt:lpstr>The most active Venture Capital funds in India</vt:lpstr>
      <vt:lpstr>Venture Capitalists and Angel Investors</vt:lpstr>
      <vt:lpstr>Incubators</vt:lpstr>
      <vt:lpstr>Advantages of Incubators</vt:lpstr>
      <vt:lpstr>Accelerators</vt:lpstr>
      <vt:lpstr>Accelerator Programme – Application Process</vt:lpstr>
      <vt:lpstr>Incubators VS Accelerators - Differences</vt:lpstr>
      <vt:lpstr>Incubators vs Accelerators</vt:lpstr>
      <vt:lpstr>Institutions Supporting Startups - Summary</vt:lpstr>
      <vt:lpstr>Crowd Funding </vt:lpstr>
      <vt:lpstr>Types Of Crowd Funding Need to be Creative </vt:lpstr>
      <vt:lpstr>PowerPoint Presentation</vt:lpstr>
      <vt:lpstr>PowerPoint Presentation</vt:lpstr>
      <vt:lpstr>Commercial Banks </vt:lpstr>
      <vt:lpstr>PowerPoint Presentation</vt:lpstr>
      <vt:lpstr>PowerPoint Presentation</vt:lpstr>
      <vt:lpstr>PowerPoint Presentation</vt:lpstr>
      <vt:lpstr>PowerPoint Presentation</vt:lpstr>
      <vt:lpstr>Create A Funding Plan</vt:lpstr>
      <vt:lpstr>Create A Funding Plan</vt:lpstr>
      <vt:lpstr>Pitch Deck</vt:lpstr>
      <vt:lpstr>Pitch Deck</vt:lpstr>
      <vt:lpstr>Pitch Deck</vt:lpstr>
      <vt:lpstr>Building A-Team</vt:lpstr>
      <vt:lpstr>Importance of Building A Startup Team</vt:lpstr>
      <vt:lpstr>Importance of Building A Startup Team</vt:lpstr>
      <vt:lpstr>How to Build A-Team for a Startup?</vt:lpstr>
      <vt:lpstr>How to Build A-Team for a Startup?</vt:lpstr>
      <vt:lpstr>Hiring the A-Team members  </vt:lpstr>
      <vt:lpstr>Pitching To Attract The Talent   </vt:lpstr>
      <vt:lpstr>Pitching To Attract The Talent   </vt:lpstr>
      <vt:lpstr>Defining Roles in a Startup</vt:lpstr>
      <vt:lpstr>Defining Roles in a Startup</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Admin</dc:creator>
  <cp:lastModifiedBy>mkjoshi</cp:lastModifiedBy>
  <cp:revision>196</cp:revision>
  <dcterms:created xsi:type="dcterms:W3CDTF">2019-09-23T07:45:02Z</dcterms:created>
  <dcterms:modified xsi:type="dcterms:W3CDTF">2021-04-19T17:13:38Z</dcterms:modified>
</cp:coreProperties>
</file>