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2" r:id="rId3"/>
    <p:sldId id="259" r:id="rId4"/>
    <p:sldId id="260" r:id="rId5"/>
    <p:sldId id="261" r:id="rId6"/>
    <p:sldId id="271" r:id="rId7"/>
    <p:sldId id="272" r:id="rId8"/>
    <p:sldId id="273" r:id="rId9"/>
    <p:sldId id="316" r:id="rId10"/>
    <p:sldId id="317" r:id="rId11"/>
    <p:sldId id="266" r:id="rId12"/>
    <p:sldId id="263" r:id="rId13"/>
    <p:sldId id="264" r:id="rId14"/>
    <p:sldId id="265" r:id="rId15"/>
    <p:sldId id="267" r:id="rId16"/>
    <p:sldId id="268" r:id="rId17"/>
    <p:sldId id="269" r:id="rId18"/>
    <p:sldId id="275" r:id="rId19"/>
    <p:sldId id="276" r:id="rId20"/>
    <p:sldId id="281" r:id="rId21"/>
    <p:sldId id="277" r:id="rId22"/>
    <p:sldId id="278" r:id="rId23"/>
    <p:sldId id="279" r:id="rId24"/>
    <p:sldId id="280" r:id="rId25"/>
    <p:sldId id="282" r:id="rId26"/>
    <p:sldId id="283" r:id="rId27"/>
    <p:sldId id="284" r:id="rId28"/>
    <p:sldId id="285" r:id="rId29"/>
    <p:sldId id="286" r:id="rId30"/>
    <p:sldId id="287" r:id="rId31"/>
    <p:sldId id="288" r:id="rId32"/>
    <p:sldId id="289" r:id="rId33"/>
    <p:sldId id="291" r:id="rId34"/>
    <p:sldId id="318" r:id="rId35"/>
    <p:sldId id="290" r:id="rId36"/>
    <p:sldId id="292" r:id="rId37"/>
    <p:sldId id="319"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3" r:id="rId56"/>
    <p:sldId id="314"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imes New Roman" pitchFamily="18" charset="0"/>
                <a:cs typeface="Times New Roman" pitchFamily="18" charset="0"/>
              </a:rPr>
              <a:t>UNIT-I</a:t>
            </a:r>
            <a:endParaRPr lang="en-IN"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latin typeface="Times New Roman" pitchFamily="18" charset="0"/>
                <a:cs typeface="Times New Roman" pitchFamily="18" charset="0"/>
              </a:rPr>
              <a:t>UNIT - I</a:t>
            </a:r>
            <a:r>
              <a:rPr lang="en-IN" dirty="0" smtClean="0">
                <a:latin typeface="Times New Roman" pitchFamily="18" charset="0"/>
                <a:cs typeface="Times New Roman" pitchFamily="18" charset="0"/>
              </a:rPr>
              <a:t> </a:t>
            </a:r>
            <a:r>
              <a:rPr lang="en-IN" dirty="0" smtClean="0"/>
              <a:t/>
            </a:r>
            <a:br>
              <a:rPr lang="en-IN" dirty="0" smtClean="0"/>
            </a:br>
            <a:endParaRPr lang="en-IN" dirty="0"/>
          </a:p>
        </p:txBody>
      </p:sp>
      <p:sp>
        <p:nvSpPr>
          <p:cNvPr id="3" name="Content Placeholder 2"/>
          <p:cNvSpPr>
            <a:spLocks noGrp="1"/>
          </p:cNvSpPr>
          <p:nvPr>
            <p:ph idx="1"/>
          </p:nvPr>
        </p:nvSpPr>
        <p:spPr>
          <a:xfrm>
            <a:off x="457200" y="1219200"/>
            <a:ext cx="8229600" cy="4906963"/>
          </a:xfrm>
        </p:spPr>
        <p:txBody>
          <a:bodyPr>
            <a:normAutofit fontScale="85000" lnSpcReduction="20000"/>
          </a:bodyPr>
          <a:lstStyle/>
          <a:p>
            <a:pPr>
              <a:buNone/>
            </a:pPr>
            <a:r>
              <a:rPr lang="en-IN" dirty="0" smtClean="0">
                <a:latin typeface="Times New Roman" pitchFamily="18" charset="0"/>
                <a:cs typeface="Times New Roman" pitchFamily="18" charset="0"/>
              </a:rPr>
              <a:t>Introduction: </a:t>
            </a:r>
          </a:p>
          <a:p>
            <a:pPr>
              <a:buNone/>
            </a:pPr>
            <a:r>
              <a:rPr lang="en-IN" dirty="0" smtClean="0">
                <a:latin typeface="Times New Roman" pitchFamily="18" charset="0"/>
                <a:cs typeface="Times New Roman" pitchFamily="18" charset="0"/>
              </a:rPr>
              <a:t>Agile Methods</a:t>
            </a:r>
          </a:p>
          <a:p>
            <a:pPr>
              <a:buNone/>
            </a:pPr>
            <a:r>
              <a:rPr lang="en-IN" dirty="0" smtClean="0">
                <a:latin typeface="Times New Roman" pitchFamily="18" charset="0"/>
                <a:cs typeface="Times New Roman" pitchFamily="18" charset="0"/>
              </a:rPr>
              <a:t>Agile Manifesto, and Agile Modelling</a:t>
            </a:r>
          </a:p>
          <a:p>
            <a:pPr>
              <a:buNone/>
            </a:pPr>
            <a:r>
              <a:rPr lang="en-IN" dirty="0" smtClean="0">
                <a:latin typeface="Times New Roman" pitchFamily="18" charset="0"/>
                <a:cs typeface="Times New Roman" pitchFamily="18" charset="0"/>
              </a:rPr>
              <a:t>What Is Agile ?</a:t>
            </a:r>
          </a:p>
          <a:p>
            <a:pPr>
              <a:buNone/>
            </a:pPr>
            <a:r>
              <a:rPr lang="en-IN" dirty="0" smtClean="0">
                <a:latin typeface="Times New Roman" pitchFamily="18" charset="0"/>
                <a:cs typeface="Times New Roman" pitchFamily="18" charset="0"/>
              </a:rPr>
              <a:t> XP: Extreme Programming</a:t>
            </a:r>
          </a:p>
          <a:p>
            <a:pPr>
              <a:buNone/>
            </a:pPr>
            <a:r>
              <a:rPr lang="en-IN" dirty="0" smtClean="0">
                <a:latin typeface="Times New Roman" pitchFamily="18" charset="0"/>
                <a:cs typeface="Times New Roman" pitchFamily="18" charset="0"/>
              </a:rPr>
              <a:t>DSDM, SCRUM</a:t>
            </a:r>
          </a:p>
          <a:p>
            <a:pPr>
              <a:buNone/>
            </a:pPr>
            <a:r>
              <a:rPr lang="en-IN" dirty="0" smtClean="0">
                <a:latin typeface="Times New Roman" pitchFamily="18" charset="0"/>
                <a:cs typeface="Times New Roman" pitchFamily="18" charset="0"/>
              </a:rPr>
              <a:t>Feature-Driven Development</a:t>
            </a:r>
          </a:p>
          <a:p>
            <a:pPr>
              <a:buNone/>
            </a:pPr>
            <a:r>
              <a:rPr lang="en-IN" dirty="0" smtClean="0">
                <a:latin typeface="Times New Roman" pitchFamily="18" charset="0"/>
                <a:cs typeface="Times New Roman" pitchFamily="18" charset="0"/>
              </a:rPr>
              <a:t> Modelling Misconceptions</a:t>
            </a:r>
          </a:p>
          <a:p>
            <a:pPr>
              <a:buNone/>
            </a:pPr>
            <a:r>
              <a:rPr lang="en-IN" dirty="0" smtClean="0">
                <a:latin typeface="Times New Roman" pitchFamily="18" charset="0"/>
                <a:cs typeface="Times New Roman" pitchFamily="18" charset="0"/>
              </a:rPr>
              <a:t> Agile Modelling</a:t>
            </a:r>
          </a:p>
          <a:p>
            <a:pPr>
              <a:buNone/>
            </a:pPr>
            <a:r>
              <a:rPr lang="en-IN" dirty="0" smtClean="0">
                <a:latin typeface="Times New Roman" pitchFamily="18" charset="0"/>
                <a:cs typeface="Times New Roman" pitchFamily="18" charset="0"/>
              </a:rPr>
              <a:t>Tools of Misconceptions</a:t>
            </a:r>
          </a:p>
          <a:p>
            <a:pPr>
              <a:buNone/>
            </a:pPr>
            <a:r>
              <a:rPr lang="en-IN" dirty="0" smtClean="0">
                <a:latin typeface="Times New Roman" pitchFamily="18" charset="0"/>
                <a:cs typeface="Times New Roman" pitchFamily="18" charset="0"/>
              </a:rPr>
              <a:t> Updating Agile Models. </a:t>
            </a:r>
          </a:p>
          <a:p>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itchFamily="18" charset="0"/>
                <a:cs typeface="Times New Roman" pitchFamily="18" charset="0"/>
              </a:rPr>
              <a:t>UNIT-I</a:t>
            </a:r>
            <a:endParaRPr lang="en-IN"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dirty="0" smtClean="0">
                <a:latin typeface="Times New Roman" pitchFamily="18" charset="0"/>
                <a:cs typeface="Times New Roman" pitchFamily="18" charset="0"/>
              </a:rPr>
              <a:t>Introduction: </a:t>
            </a:r>
          </a:p>
          <a:p>
            <a:pPr>
              <a:buNone/>
            </a:pPr>
            <a:r>
              <a:rPr lang="en-IN" dirty="0" smtClean="0">
                <a:latin typeface="Times New Roman" pitchFamily="18" charset="0"/>
                <a:cs typeface="Times New Roman" pitchFamily="18" charset="0"/>
              </a:rPr>
              <a:t>    In this UNIT, you will be introduced to the concept, motivations, goals and Principles behind the Agile Movement. You will also learn what are the common features of all agile methods are,</a:t>
            </a:r>
            <a:r>
              <a:rPr lang="en-IN" dirty="0" smtClean="0"/>
              <a:t> </a:t>
            </a:r>
            <a:r>
              <a:rPr lang="en-IN" dirty="0" smtClean="0">
                <a:latin typeface="Times New Roman" pitchFamily="18" charset="0"/>
                <a:cs typeface="Times New Roman" pitchFamily="18" charset="0"/>
              </a:rPr>
              <a:t>a brief review on the number of the core agile methods currently available.</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FF0000"/>
                </a:solidFill>
                <a:latin typeface="Times New Roman" pitchFamily="18" charset="0"/>
                <a:cs typeface="Times New Roman" pitchFamily="18" charset="0"/>
              </a:rPr>
              <a:t>What Is Agile?</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buNone/>
            </a:pPr>
            <a:r>
              <a:rPr lang="en-IN" b="1" dirty="0" smtClean="0"/>
              <a:t>Agile </a:t>
            </a:r>
            <a:r>
              <a:rPr lang="en-IN" b="1" i="1" dirty="0" smtClean="0"/>
              <a:t>adj. nimble, quick-moving</a:t>
            </a:r>
          </a:p>
          <a:p>
            <a:r>
              <a:rPr lang="en-IN" sz="2000" dirty="0" smtClean="0">
                <a:latin typeface="Times New Roman" pitchFamily="18" charset="0"/>
                <a:cs typeface="Times New Roman" pitchFamily="18" charset="0"/>
              </a:rPr>
              <a:t>That is, they aim to be nimble and quick moving in response to changes in requirements, to the people that comprise the development teams and to issues that arise during the software development process.</a:t>
            </a:r>
          </a:p>
          <a:p>
            <a:r>
              <a:rPr lang="en-IN" sz="2000" dirty="0" smtClean="0">
                <a:latin typeface="Times New Roman" pitchFamily="18" charset="0"/>
                <a:cs typeface="Times New Roman" pitchFamily="18" charset="0"/>
              </a:rPr>
              <a:t>So agile methods are methods that try to focus on the primary goal of software development, i.e., the creation of working (defect-free) software</a:t>
            </a:r>
          </a:p>
          <a:p>
            <a:r>
              <a:rPr lang="en-IN" sz="2000" dirty="0" smtClean="0">
                <a:latin typeface="Times New Roman" pitchFamily="18" charset="0"/>
                <a:cs typeface="Times New Roman" pitchFamily="18" charset="0"/>
              </a:rPr>
              <a:t>Agile also implies being both effective and sufficient for the current situation. By this I mean:</a:t>
            </a:r>
          </a:p>
          <a:p>
            <a:r>
              <a:rPr lang="en-IN" sz="2000" dirty="0" smtClean="0">
                <a:latin typeface="Times New Roman" pitchFamily="18" charset="0"/>
                <a:cs typeface="Times New Roman" pitchFamily="18" charset="0"/>
              </a:rPr>
              <a:t> </a:t>
            </a:r>
            <a:r>
              <a:rPr lang="en-IN" sz="2000" i="1" dirty="0" smtClean="0">
                <a:latin typeface="Times New Roman" pitchFamily="18" charset="0"/>
                <a:cs typeface="Times New Roman" pitchFamily="18" charset="0"/>
              </a:rPr>
              <a:t>effective in terms of producing working, defect-free (as far as possible) software,</a:t>
            </a:r>
          </a:p>
          <a:p>
            <a:r>
              <a:rPr lang="en-IN" sz="2000" dirty="0" smtClean="0">
                <a:latin typeface="Times New Roman" pitchFamily="18" charset="0"/>
                <a:cs typeface="Times New Roman" pitchFamily="18" charset="0"/>
              </a:rPr>
              <a:t> </a:t>
            </a:r>
            <a:r>
              <a:rPr lang="en-IN" sz="2000" i="1" dirty="0" smtClean="0">
                <a:latin typeface="Times New Roman" pitchFamily="18" charset="0"/>
                <a:cs typeface="Times New Roman" pitchFamily="18" charset="0"/>
              </a:rPr>
              <a:t>sufficient in terms of meeting its requirements both in the short-term and</a:t>
            </a:r>
          </a:p>
          <a:p>
            <a:pPr>
              <a:buNone/>
            </a:pPr>
            <a:r>
              <a:rPr lang="en-IN" sz="2000" dirty="0" smtClean="0">
                <a:latin typeface="Times New Roman" pitchFamily="18" charset="0"/>
                <a:cs typeface="Times New Roman" pitchFamily="18" charset="0"/>
              </a:rPr>
              <a:t>in the long-term (for example, the documentation required to support a</a:t>
            </a:r>
          </a:p>
          <a:p>
            <a:pPr>
              <a:buNone/>
            </a:pPr>
            <a:r>
              <a:rPr lang="en-IN" sz="2000" dirty="0" smtClean="0">
                <a:latin typeface="Times New Roman" pitchFamily="18" charset="0"/>
                <a:cs typeface="Times New Roman" pitchFamily="18" charset="0"/>
              </a:rPr>
              <a:t>long-lived project will be greater than for a short-lived one).</a:t>
            </a:r>
            <a:endParaRPr lang="en-IN"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latin typeface="Times New Roman" pitchFamily="18" charset="0"/>
                <a:cs typeface="Times New Roman" pitchFamily="18" charset="0"/>
              </a:rPr>
              <a:t>what is an </a:t>
            </a:r>
            <a:r>
              <a:rPr lang="en-IN" i="1" dirty="0" smtClean="0">
                <a:solidFill>
                  <a:srgbClr val="FF0000"/>
                </a:solidFill>
                <a:latin typeface="Times New Roman" pitchFamily="18" charset="0"/>
                <a:cs typeface="Times New Roman" pitchFamily="18" charset="0"/>
              </a:rPr>
              <a:t>Agile Methodology?</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IN" i="1" dirty="0" smtClean="0">
                <a:latin typeface="Times New Roman" pitchFamily="18" charset="0"/>
                <a:cs typeface="Times New Roman" pitchFamily="18" charset="0"/>
              </a:rPr>
              <a:t>It is a method that tries to be responsive </a:t>
            </a:r>
            <a:r>
              <a:rPr lang="en-IN" dirty="0" smtClean="0">
                <a:latin typeface="Times New Roman" pitchFamily="18" charset="0"/>
                <a:cs typeface="Times New Roman" pitchFamily="18" charset="0"/>
              </a:rPr>
              <a:t>to the needs of the software development process, that is based on practise and experience, and that focuses on being effective and sufficient!</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04801" y="152400"/>
            <a:ext cx="85344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37912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38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228600"/>
            <a:ext cx="8610599" cy="6400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70700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741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2401" y="76200"/>
            <a:ext cx="86868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69957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solidFill>
                  <a:srgbClr val="FF0000"/>
                </a:solidFill>
                <a:latin typeface="Times New Roman" pitchFamily="18" charset="0"/>
                <a:cs typeface="Times New Roman" pitchFamily="18" charset="0"/>
              </a:rPr>
              <a:t>Agile Manifesto</a:t>
            </a:r>
            <a:endParaRPr lang="en-IN" sz="40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r>
              <a:rPr lang="en-IN" sz="2800" i="1" dirty="0" smtClean="0">
                <a:latin typeface="Times New Roman" pitchFamily="18" charset="0"/>
                <a:cs typeface="Times New Roman" pitchFamily="18" charset="0"/>
              </a:rPr>
              <a:t>  Agile Software Development Alliance</a:t>
            </a:r>
            <a:r>
              <a:rPr lang="en-IN" sz="2800" dirty="0" smtClean="0">
                <a:latin typeface="Times New Roman" pitchFamily="18" charset="0"/>
                <a:cs typeface="Times New Roman" pitchFamily="18" charset="0"/>
              </a:rPr>
              <a:t> produced a manifesto that they hoped embraced the philosophies that they commonly supported, and that they believed to help to produce better software. From this manifesto, they defined a set of principles for Agile Software Development. </a:t>
            </a:r>
          </a:p>
          <a:p>
            <a:pPr>
              <a:buNone/>
            </a:pPr>
            <a:r>
              <a:rPr lang="en-IN" sz="2800" dirty="0" smtClean="0">
                <a:latin typeface="Times New Roman" pitchFamily="18" charset="0"/>
                <a:cs typeface="Times New Roman" pitchFamily="18" charset="0"/>
              </a:rPr>
              <a:t>The manifesto proposed the following values (very briefly) summarised below:</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843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6200" y="76200"/>
            <a:ext cx="86868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3933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en-IN" dirty="0" smtClean="0">
                <a:solidFill>
                  <a:srgbClr val="FF0000"/>
                </a:solidFill>
                <a:latin typeface="Times New Roman" pitchFamily="18" charset="0"/>
                <a:cs typeface="Times New Roman" pitchFamily="18" charset="0"/>
              </a:rPr>
              <a:t>1. </a:t>
            </a:r>
            <a:r>
              <a:rPr lang="en-IN" i="1" dirty="0" smtClean="0">
                <a:solidFill>
                  <a:srgbClr val="FF0000"/>
                </a:solidFill>
                <a:latin typeface="Times New Roman" pitchFamily="18" charset="0"/>
                <a:cs typeface="Times New Roman" pitchFamily="18" charset="0"/>
              </a:rPr>
              <a:t>Individuals and interactions over processes and tools.</a:t>
            </a:r>
            <a:br>
              <a:rPr lang="en-IN" i="1" dirty="0" smtClean="0">
                <a:solidFill>
                  <a:srgbClr val="FF0000"/>
                </a:solidFill>
                <a:latin typeface="Times New Roman" pitchFamily="18" charset="0"/>
                <a:cs typeface="Times New Roman" pitchFamily="18" charset="0"/>
              </a:rPr>
            </a:br>
            <a:endParaRPr lang="en-IN" dirty="0"/>
          </a:p>
        </p:txBody>
      </p:sp>
      <p:sp>
        <p:nvSpPr>
          <p:cNvPr id="3" name="Content Placeholder 2"/>
          <p:cNvSpPr>
            <a:spLocks noGrp="1"/>
          </p:cNvSpPr>
          <p:nvPr>
            <p:ph idx="1"/>
          </p:nvPr>
        </p:nvSpPr>
        <p:spPr/>
        <p:txBody>
          <a:bodyPr>
            <a:normAutofit/>
          </a:bodyPr>
          <a:lstStyle/>
          <a:p>
            <a:pPr>
              <a:buNone/>
            </a:pPr>
            <a:r>
              <a:rPr lang="en-IN" dirty="0" smtClean="0">
                <a:latin typeface="Times New Roman" pitchFamily="18" charset="0"/>
                <a:cs typeface="Times New Roman" pitchFamily="18" charset="0"/>
              </a:rPr>
              <a:t>This refers to the fact that it is the people involved and how they communicate that typically has the largest bearing on the success (or failure) of a software project. Yes, software development processes, methodologies, tools, etc., can help but they are still not the overriding influence. Thus, you should encourage the best people and group interactions.</a:t>
            </a:r>
          </a:p>
          <a:p>
            <a:endParaRPr lang="en-I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IN" i="1" dirty="0" smtClean="0">
                <a:solidFill>
                  <a:srgbClr val="FF0000"/>
                </a:solidFill>
                <a:latin typeface="Times New Roman" pitchFamily="18" charset="0"/>
                <a:cs typeface="Times New Roman" pitchFamily="18" charset="0"/>
              </a:rPr>
              <a:t>2)Working software over comprehensive documentation.</a:t>
            </a:r>
          </a:p>
          <a:p>
            <a:pPr>
              <a:buNone/>
            </a:pPr>
            <a:r>
              <a:rPr lang="en-IN" dirty="0" smtClean="0">
                <a:latin typeface="Times New Roman" pitchFamily="18" charset="0"/>
                <a:cs typeface="Times New Roman" pitchFamily="18" charset="0"/>
              </a:rPr>
              <a:t>    At the end of the day it is the software produced by a development project that will be used by a user and not the documentation. Therefore, documentation should not be a major goal in and of itself. Instead, it should be a supporting medium for the actual product – the software.</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en-IN" i="1" dirty="0" smtClean="0">
                <a:solidFill>
                  <a:srgbClr val="FF0000"/>
                </a:solidFill>
                <a:latin typeface="Times New Roman" pitchFamily="18" charset="0"/>
                <a:cs typeface="Times New Roman" pitchFamily="18" charset="0"/>
              </a:rPr>
              <a:t>3.Customer collaboration over contract negotiation.</a:t>
            </a:r>
            <a:r>
              <a:rPr lang="en-IN" i="1" dirty="0" smtClean="0"/>
              <a:t/>
            </a:r>
            <a:br>
              <a:rPr lang="en-IN" i="1" dirty="0" smtClean="0"/>
            </a:br>
            <a:endParaRPr lang="en-IN" dirty="0"/>
          </a:p>
        </p:txBody>
      </p:sp>
      <p:sp>
        <p:nvSpPr>
          <p:cNvPr id="3" name="Content Placeholder 2"/>
          <p:cNvSpPr>
            <a:spLocks noGrp="1"/>
          </p:cNvSpPr>
          <p:nvPr>
            <p:ph idx="1"/>
          </p:nvPr>
        </p:nvSpPr>
        <p:spPr/>
        <p:txBody>
          <a:bodyPr>
            <a:normAutofit/>
          </a:bodyPr>
          <a:lstStyle/>
          <a:p>
            <a:pPr>
              <a:buNone/>
            </a:pPr>
            <a:r>
              <a:rPr lang="en-IN" sz="2800" dirty="0" smtClean="0">
                <a:latin typeface="Times New Roman" pitchFamily="18" charset="0"/>
                <a:cs typeface="Times New Roman" pitchFamily="18" charset="0"/>
              </a:rPr>
              <a:t>Remember these are values – thus, time should be spent on working with customers and in getting them involved in the software development rather than on detailed contract negotiations</a:t>
            </a:r>
          </a:p>
          <a:p>
            <a:pPr>
              <a:buNone/>
            </a:pPr>
            <a:r>
              <a:rPr lang="en-IN" sz="2800" dirty="0" smtClean="0">
                <a:latin typeface="Times New Roman" pitchFamily="18" charset="0"/>
                <a:cs typeface="Times New Roman" pitchFamily="18" charset="0"/>
              </a:rPr>
              <a:t>For example, we have worked with a number of clients where the legal (and/or financial) departments have imposed a contract and associated negotiations because they want something to hit us with, if things go wrong.</a:t>
            </a:r>
            <a:endParaRPr lang="en-IN"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FF0000"/>
                </a:solidFill>
                <a:latin typeface="Times New Roman" pitchFamily="18" charset="0"/>
                <a:cs typeface="Times New Roman" pitchFamily="18" charset="0"/>
              </a:rPr>
              <a:t>4. </a:t>
            </a:r>
            <a:r>
              <a:rPr lang="en-IN" i="1" dirty="0" smtClean="0">
                <a:solidFill>
                  <a:srgbClr val="FF0000"/>
                </a:solidFill>
                <a:latin typeface="Times New Roman" pitchFamily="18" charset="0"/>
                <a:cs typeface="Times New Roman" pitchFamily="18" charset="0"/>
              </a:rPr>
              <a:t>Responding to change over following a plan</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458200" cy="4525963"/>
          </a:xfrm>
        </p:spPr>
        <p:txBody>
          <a:bodyPr>
            <a:normAutofit/>
          </a:bodyPr>
          <a:lstStyle/>
          <a:p>
            <a:pPr>
              <a:buNone/>
            </a:pPr>
            <a:endParaRPr lang="en-IN" sz="2800" i="1"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    Finally, agile software development embraces change rather than saying “it’s not in the requirements or the plan, so we can’t do it.” That is development progresses in response to user feedback, rather than as a reaction to a fixed plan.</a:t>
            </a:r>
            <a:endParaRPr lang="en-IN"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srcRect/>
          <a:stretch>
            <a:fillRect/>
          </a:stretch>
        </p:blipFill>
        <p:spPr>
          <a:xfrm>
            <a:off x="0" y="609600"/>
            <a:ext cx="8839200" cy="6019800"/>
          </a:xfr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152400"/>
            <a:ext cx="9144000"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FF0000"/>
                </a:solidFill>
                <a:latin typeface="Times New Roman" pitchFamily="18" charset="0"/>
                <a:cs typeface="Times New Roman" pitchFamily="18" charset="0"/>
              </a:rPr>
              <a:t>What Are Agile Methods?</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410200"/>
          </a:xfrm>
        </p:spPr>
        <p:txBody>
          <a:bodyPr>
            <a:normAutofit/>
          </a:bodyPr>
          <a:lstStyle/>
          <a:p>
            <a:pPr>
              <a:buNone/>
            </a:pPr>
            <a:r>
              <a:rPr lang="en-US" sz="1800" dirty="0" smtClean="0">
                <a:latin typeface="Times New Roman" pitchFamily="18" charset="0"/>
                <a:cs typeface="Times New Roman" pitchFamily="18" charset="0"/>
              </a:rPr>
              <a:t>For example, consider the following diagram.</a:t>
            </a:r>
            <a:endParaRPr lang="en-IN" sz="18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This diagram tries to illustrate the difference in emphasis of agile methods compared to more traditional methods. That is, in an agile method it is the time available and the resources available that are generally considered to be fixed, while the functionality is considered more flexible. Thus, the aim is usually to set a fixed delivery date at which point something will be delivered and to prioritize the functionality that must be implemented so that what can be implemented will be implemented, but to acknowledge that not everything may be delivered. </a:t>
            </a:r>
            <a:endParaRPr lang="en-IN" sz="18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1828800" y="3705225"/>
            <a:ext cx="5248275" cy="3152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2800" b="1" dirty="0">
                <a:latin typeface="Times New Roman" pitchFamily="18" charset="0"/>
                <a:cs typeface="Times New Roman" pitchFamily="18" charset="0"/>
              </a:rPr>
              <a:t>Agile Modelling</a:t>
            </a:r>
            <a:r>
              <a:rPr lang="en-IN" b="1" dirty="0"/>
              <a:t/>
            </a:r>
            <a:br>
              <a:rPr lang="en-IN" b="1" dirty="0"/>
            </a:br>
            <a:endParaRPr lang="en-IN" dirty="0"/>
          </a:p>
        </p:txBody>
      </p:sp>
      <p:sp>
        <p:nvSpPr>
          <p:cNvPr id="3" name="Content Placeholder 2"/>
          <p:cNvSpPr>
            <a:spLocks noGrp="1"/>
          </p:cNvSpPr>
          <p:nvPr>
            <p:ph idx="1"/>
          </p:nvPr>
        </p:nvSpPr>
        <p:spPr>
          <a:xfrm>
            <a:off x="381000" y="1143000"/>
            <a:ext cx="8229600" cy="4525963"/>
          </a:xfrm>
        </p:spPr>
        <p:txBody>
          <a:bodyPr>
            <a:normAutofit fontScale="92500" lnSpcReduction="10000"/>
          </a:bodyPr>
          <a:lstStyle/>
          <a:p>
            <a:pPr>
              <a:buNone/>
            </a:pPr>
            <a:r>
              <a:rPr lang="en-US" sz="2000" dirty="0" smtClean="0">
                <a:latin typeface="Times New Roman" pitchFamily="18" charset="0"/>
                <a:cs typeface="Times New Roman" pitchFamily="18" charset="0"/>
              </a:rPr>
              <a:t>Agile Modelling applies the philosophy of the agile movement to the software modelling process. It tries to find an appropriate balance between too little </a:t>
            </a:r>
            <a:r>
              <a:rPr lang="en-US" sz="2000" dirty="0" err="1" smtClean="0">
                <a:latin typeface="Times New Roman" pitchFamily="18" charset="0"/>
                <a:cs typeface="Times New Roman" pitchFamily="18" charset="0"/>
              </a:rPr>
              <a:t>modelling</a:t>
            </a:r>
            <a:r>
              <a:rPr lang="en-US" sz="2000" dirty="0" smtClean="0">
                <a:latin typeface="Times New Roman" pitchFamily="18" charset="0"/>
                <a:cs typeface="Times New Roman" pitchFamily="18" charset="0"/>
              </a:rPr>
              <a:t>, and too much modelling, at the design stage. That is, the point at which you have</a:t>
            </a:r>
            <a:r>
              <a:rPr lang="en-IN"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modeled enough to explore and document your system effectively, but not so much that it becomes a burden .</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It is certainly not a methodology in its own right and rather more of an approach or philosophy towards the modelling stage of a project.</a:t>
            </a:r>
          </a:p>
          <a:p>
            <a:pPr>
              <a:buNone/>
            </a:pPr>
            <a:endParaRPr lang="en-US" sz="2000" dirty="0" smtClean="0">
              <a:latin typeface="Times New Roman" pitchFamily="18" charset="0"/>
              <a:cs typeface="Times New Roman" pitchFamily="18" charset="0"/>
            </a:endParaRPr>
          </a:p>
          <a:p>
            <a:pPr>
              <a:buNone/>
            </a:pPr>
            <a:r>
              <a:rPr lang="en-US" sz="2000" dirty="0" smtClean="0">
                <a:solidFill>
                  <a:srgbClr val="FF0000"/>
                </a:solidFill>
                <a:latin typeface="Times New Roman" pitchFamily="18" charset="0"/>
                <a:cs typeface="Times New Roman" pitchFamily="18" charset="0"/>
              </a:rPr>
              <a:t>it has three main goals:</a:t>
            </a:r>
            <a:endParaRPr lang="en-IN" sz="2000" dirty="0" smtClean="0">
              <a:solidFill>
                <a:srgbClr val="FF0000"/>
              </a:solidFill>
              <a:latin typeface="Times New Roman" pitchFamily="18" charset="0"/>
              <a:cs typeface="Times New Roman" pitchFamily="18" charset="0"/>
            </a:endParaRPr>
          </a:p>
          <a:p>
            <a:pPr>
              <a:buNone/>
            </a:pP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The definition and promotion of a set of </a:t>
            </a:r>
            <a:r>
              <a:rPr lang="en-US" sz="2000" dirty="0" smtClean="0">
                <a:solidFill>
                  <a:srgbClr val="FF0000"/>
                </a:solidFill>
                <a:latin typeface="Times New Roman" pitchFamily="18" charset="0"/>
                <a:cs typeface="Times New Roman" pitchFamily="18" charset="0"/>
              </a:rPr>
              <a:t>values</a:t>
            </a:r>
            <a:r>
              <a:rPr lang="en-US" sz="2000" dirty="0" smtClean="0">
                <a:latin typeface="Times New Roman" pitchFamily="18" charset="0"/>
                <a:cs typeface="Times New Roman" pitchFamily="18" charset="0"/>
              </a:rPr>
              <a:t>, </a:t>
            </a:r>
            <a:r>
              <a:rPr lang="en-US" sz="2000" dirty="0" smtClean="0">
                <a:solidFill>
                  <a:srgbClr val="FF0000"/>
                </a:solidFill>
                <a:latin typeface="Times New Roman" pitchFamily="18" charset="0"/>
                <a:cs typeface="Times New Roman" pitchFamily="18" charset="0"/>
              </a:rPr>
              <a:t>principles</a:t>
            </a:r>
            <a:r>
              <a:rPr lang="en-US" sz="2000" dirty="0" smtClean="0">
                <a:latin typeface="Times New Roman" pitchFamily="18" charset="0"/>
                <a:cs typeface="Times New Roman" pitchFamily="18" charset="0"/>
              </a:rPr>
              <a:t> and </a:t>
            </a:r>
            <a:r>
              <a:rPr lang="en-US" sz="2000" dirty="0" smtClean="0">
                <a:solidFill>
                  <a:srgbClr val="FF0000"/>
                </a:solidFill>
                <a:latin typeface="Times New Roman" pitchFamily="18" charset="0"/>
                <a:cs typeface="Times New Roman" pitchFamily="18" charset="0"/>
              </a:rPr>
              <a:t>practices</a:t>
            </a:r>
            <a:r>
              <a:rPr lang="en-US" sz="2000" dirty="0" smtClean="0">
                <a:latin typeface="Times New Roman" pitchFamily="18" charset="0"/>
                <a:cs typeface="Times New Roman" pitchFamily="18" charset="0"/>
              </a:rPr>
              <a:t> that help to produce the appropriate models.</a:t>
            </a: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Guidance on how to apply modelling to an agile software development.</a:t>
            </a: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Guidance on how to apply agile modelling to other software processes (such as RUP).</a:t>
            </a:r>
            <a:endParaRPr lang="en-IN" sz="2000" dirty="0" smtClean="0">
              <a:latin typeface="Times New Roman" pitchFamily="18" charset="0"/>
              <a:cs typeface="Times New Roman" pitchFamily="18" charset="0"/>
            </a:endParaRPr>
          </a:p>
          <a:p>
            <a:pPr>
              <a:buNone/>
            </a:pPr>
            <a:endParaRPr lang="en-IN"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47500" lnSpcReduction="20000"/>
          </a:bodyPr>
          <a:lstStyle/>
          <a:p>
            <a:pPr>
              <a:buNone/>
            </a:pPr>
            <a:r>
              <a:rPr lang="en-US" sz="8000" dirty="0" smtClean="0">
                <a:solidFill>
                  <a:srgbClr val="FF0000"/>
                </a:solidFill>
                <a:latin typeface="Times New Roman" pitchFamily="18" charset="0"/>
                <a:cs typeface="Times New Roman" pitchFamily="18" charset="0"/>
              </a:rPr>
              <a:t>This is defined in terms of a set of criteria that an agile model should meet, these are</a:t>
            </a:r>
            <a:r>
              <a:rPr lang="en-US" sz="6400" dirty="0" smtClean="0">
                <a:solidFill>
                  <a:srgbClr val="FF0000"/>
                </a:solidFill>
                <a:latin typeface="Times New Roman" pitchFamily="18" charset="0"/>
                <a:cs typeface="Times New Roman" pitchFamily="18" charset="0"/>
              </a:rPr>
              <a:t>:</a:t>
            </a:r>
            <a:endParaRPr lang="en-IN" sz="6400" dirty="0" smtClean="0">
              <a:solidFill>
                <a:srgbClr val="FF0000"/>
              </a:solidFill>
              <a:latin typeface="Times New Roman" pitchFamily="18" charset="0"/>
              <a:cs typeface="Times New Roman" pitchFamily="18" charset="0"/>
            </a:endParaRPr>
          </a:p>
          <a:p>
            <a:pPr>
              <a:buNone/>
            </a:pPr>
            <a:endParaRPr lang="en-IN" sz="7200" dirty="0" smtClean="0">
              <a:latin typeface="Times New Roman" pitchFamily="18" charset="0"/>
              <a:cs typeface="Times New Roman" pitchFamily="18" charset="0"/>
            </a:endParaRPr>
          </a:p>
          <a:p>
            <a:pPr>
              <a:buNone/>
            </a:pPr>
            <a:r>
              <a:rPr lang="en-US" sz="7200" dirty="0" smtClean="0">
                <a:latin typeface="Times New Roman" pitchFamily="18" charset="0"/>
                <a:cs typeface="Times New Roman" pitchFamily="18" charset="0"/>
              </a:rPr>
              <a:t>1</a:t>
            </a:r>
            <a:r>
              <a:rPr lang="en-US" sz="7200" dirty="0" smtClean="0">
                <a:solidFill>
                  <a:srgbClr val="FF0000"/>
                </a:solidFill>
                <a:latin typeface="Times New Roman" pitchFamily="18" charset="0"/>
                <a:cs typeface="Times New Roman" pitchFamily="18" charset="0"/>
              </a:rPr>
              <a:t>. </a:t>
            </a:r>
            <a:r>
              <a:rPr lang="en-US" sz="7200" i="1" dirty="0" smtClean="0">
                <a:latin typeface="Times New Roman" pitchFamily="18" charset="0"/>
                <a:cs typeface="Times New Roman" pitchFamily="18" charset="0"/>
              </a:rPr>
              <a:t>Agile models provide positive value</a:t>
            </a:r>
            <a:r>
              <a:rPr lang="en-US" sz="7200" dirty="0" smtClean="0">
                <a:latin typeface="Times New Roman" pitchFamily="18" charset="0"/>
                <a:cs typeface="Times New Roman" pitchFamily="18" charset="0"/>
              </a:rPr>
              <a:t>. </a:t>
            </a:r>
            <a:endParaRPr lang="en-IN" sz="7200" dirty="0" smtClean="0">
              <a:latin typeface="Times New Roman" pitchFamily="18" charset="0"/>
              <a:cs typeface="Times New Roman" pitchFamily="18" charset="0"/>
            </a:endParaRPr>
          </a:p>
          <a:p>
            <a:pPr>
              <a:buNone/>
            </a:pPr>
            <a:r>
              <a:rPr lang="en-US" sz="7200" i="1" dirty="0" smtClean="0">
                <a:latin typeface="Times New Roman" pitchFamily="18" charset="0"/>
                <a:cs typeface="Times New Roman" pitchFamily="18" charset="0"/>
              </a:rPr>
              <a:t>2.Agile models fulfill their purpose (and no more).</a:t>
            </a:r>
            <a:r>
              <a:rPr lang="en-US" sz="7200" dirty="0" smtClean="0">
                <a:latin typeface="Times New Roman" pitchFamily="18" charset="0"/>
                <a:cs typeface="Times New Roman" pitchFamily="18" charset="0"/>
              </a:rPr>
              <a:t>.</a:t>
            </a:r>
            <a:r>
              <a:rPr lang="en-IN" sz="7200" dirty="0" smtClean="0">
                <a:latin typeface="Times New Roman" pitchFamily="18" charset="0"/>
                <a:cs typeface="Times New Roman" pitchFamily="18" charset="0"/>
              </a:rPr>
              <a:t> </a:t>
            </a:r>
          </a:p>
          <a:p>
            <a:pPr>
              <a:buNone/>
            </a:pPr>
            <a:r>
              <a:rPr lang="en-US" sz="7200" i="1" dirty="0" smtClean="0">
                <a:latin typeface="Times New Roman" pitchFamily="18" charset="0"/>
                <a:cs typeface="Times New Roman" pitchFamily="18" charset="0"/>
              </a:rPr>
              <a:t>3.Agile models are sufficiently accurate. </a:t>
            </a:r>
            <a:endParaRPr lang="en-IN" sz="7200" dirty="0" smtClean="0">
              <a:latin typeface="Times New Roman" pitchFamily="18" charset="0"/>
              <a:cs typeface="Times New Roman" pitchFamily="18" charset="0"/>
            </a:endParaRPr>
          </a:p>
          <a:p>
            <a:pPr>
              <a:buNone/>
            </a:pPr>
            <a:r>
              <a:rPr lang="en-US" sz="7200" i="1" dirty="0" smtClean="0">
                <a:latin typeface="Times New Roman" pitchFamily="18" charset="0"/>
                <a:cs typeface="Times New Roman" pitchFamily="18" charset="0"/>
              </a:rPr>
              <a:t>4.Agile models are sufficiently consistent. </a:t>
            </a:r>
            <a:endParaRPr lang="en-IN" sz="7200" dirty="0" smtClean="0">
              <a:latin typeface="Times New Roman" pitchFamily="18" charset="0"/>
              <a:cs typeface="Times New Roman" pitchFamily="18" charset="0"/>
            </a:endParaRPr>
          </a:p>
          <a:p>
            <a:pPr>
              <a:buNone/>
            </a:pPr>
            <a:r>
              <a:rPr lang="en-US" sz="7200" i="1" dirty="0" smtClean="0">
                <a:latin typeface="Times New Roman" pitchFamily="18" charset="0"/>
                <a:cs typeface="Times New Roman" pitchFamily="18" charset="0"/>
              </a:rPr>
              <a:t>5.Agile models are sufficiently detailed. </a:t>
            </a:r>
            <a:endParaRPr lang="en-IN" sz="7200" dirty="0" smtClean="0">
              <a:latin typeface="Times New Roman" pitchFamily="18" charset="0"/>
              <a:cs typeface="Times New Roman" pitchFamily="18" charset="0"/>
            </a:endParaRPr>
          </a:p>
          <a:p>
            <a:pPr>
              <a:buNone/>
            </a:pPr>
            <a:r>
              <a:rPr lang="en-US" sz="6400" dirty="0" smtClean="0"/>
              <a:t> </a:t>
            </a:r>
            <a:endParaRPr lang="en-IN" sz="6400" dirty="0" smtClean="0"/>
          </a:p>
          <a:p>
            <a:endParaRPr lang="en-IN"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2800" b="1" dirty="0">
                <a:solidFill>
                  <a:srgbClr val="FF0000"/>
                </a:solidFill>
                <a:latin typeface="Times New Roman" pitchFamily="18" charset="0"/>
                <a:cs typeface="Times New Roman" pitchFamily="18" charset="0"/>
              </a:rPr>
              <a:t>XP: </a:t>
            </a:r>
            <a:r>
              <a:rPr lang="en-US" sz="2800" b="1" dirty="0" err="1" smtClean="0">
                <a:solidFill>
                  <a:srgbClr val="FF0000"/>
                </a:solidFill>
                <a:latin typeface="Times New Roman" pitchFamily="18" charset="0"/>
                <a:cs typeface="Times New Roman" pitchFamily="18" charset="0"/>
              </a:rPr>
              <a:t>eXtreme</a:t>
            </a:r>
            <a:r>
              <a:rPr lang="en-US" sz="2800" b="1" dirty="0" smtClean="0">
                <a:solidFill>
                  <a:srgbClr val="FF0000"/>
                </a:solidFill>
                <a:latin typeface="Times New Roman" pitchFamily="18" charset="0"/>
                <a:cs typeface="Times New Roman" pitchFamily="18" charset="0"/>
              </a:rPr>
              <a:t> </a:t>
            </a:r>
            <a:r>
              <a:rPr lang="en-US" sz="2800" b="1" dirty="0">
                <a:solidFill>
                  <a:srgbClr val="FF0000"/>
                </a:solidFill>
                <a:latin typeface="Times New Roman" pitchFamily="18" charset="0"/>
                <a:cs typeface="Times New Roman" pitchFamily="18" charset="0"/>
              </a:rPr>
              <a:t>Programming</a:t>
            </a:r>
            <a:r>
              <a:rPr lang="en-IN" sz="2800" b="1" dirty="0">
                <a:solidFill>
                  <a:srgbClr val="FF0000"/>
                </a:solidFill>
                <a:latin typeface="Times New Roman" pitchFamily="18" charset="0"/>
                <a:cs typeface="Times New Roman" pitchFamily="18" charset="0"/>
              </a:rPr>
              <a:t/>
            </a:r>
            <a:br>
              <a:rPr lang="en-IN" sz="2800" b="1" dirty="0">
                <a:solidFill>
                  <a:srgbClr val="FF0000"/>
                </a:solidFill>
                <a:latin typeface="Times New Roman" pitchFamily="18" charset="0"/>
                <a:cs typeface="Times New Roman" pitchFamily="18" charset="0"/>
              </a:rPr>
            </a:br>
            <a:endParaRPr lang="en-IN"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867400"/>
          </a:xfrm>
        </p:spPr>
        <p:txBody>
          <a:bodyPr>
            <a:normAutofit fontScale="70000" lnSpcReduction="20000"/>
          </a:bodyPr>
          <a:lstStyle/>
          <a:p>
            <a:r>
              <a:rPr lang="en-US" dirty="0" smtClean="0">
                <a:latin typeface="Times New Roman" pitchFamily="18" charset="0"/>
                <a:cs typeface="Times New Roman" pitchFamily="18" charset="0"/>
              </a:rPr>
              <a:t>Extreme Programming, or as it is more commonly known XP, was originally designed as a way of supporting small development teams working within uncertain and changing requirements</a:t>
            </a:r>
          </a:p>
          <a:p>
            <a:r>
              <a:rPr lang="en-US" dirty="0" smtClean="0">
                <a:latin typeface="Times New Roman" pitchFamily="18" charset="0"/>
                <a:cs typeface="Times New Roman" pitchFamily="18" charset="0"/>
              </a:rPr>
              <a:t> XP was designed as an approach based on software engineering principles, but focused on the timely delivery of software that meets users’ requirements (rather than on the sometimes over bearing processes that surround the development of software). </a:t>
            </a:r>
          </a:p>
          <a:p>
            <a:r>
              <a:rPr lang="en-US" dirty="0" smtClean="0">
                <a:latin typeface="Times New Roman" pitchFamily="18" charset="0"/>
                <a:cs typeface="Times New Roman" pitchFamily="18" charset="0"/>
              </a:rPr>
              <a:t>XP is the empowerment of the actual developers – they should be able to react immediately to changing customer requirements, even late in the development life cycle.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XP also places great emphasis on the software development team and teamwork. The team, in turn, incorporates management, technical personnel and end users all cooperating towards the common good.</a:t>
            </a:r>
          </a:p>
          <a:p>
            <a:r>
              <a:rPr lang="en-US" dirty="0" smtClean="0">
                <a:latin typeface="Times New Roman" pitchFamily="18" charset="0"/>
                <a:cs typeface="Times New Roman" pitchFamily="18" charset="0"/>
              </a:rPr>
              <a:t>It takes as one of its aims that teams communicate and constantly pay attention to all the details necessary to make sure that the software being developed matches the user requirements, to help to produce quality software.</a:t>
            </a:r>
            <a:endParaRPr lang="en-IN" dirty="0" smtClean="0">
              <a:latin typeface="Times New Roman" pitchFamily="18" charset="0"/>
              <a:cs typeface="Times New Roman" pitchFamily="18" charset="0"/>
            </a:endParaRPr>
          </a:p>
          <a:p>
            <a:endParaRPr lang="en-US" dirty="0" smtClean="0"/>
          </a:p>
          <a:p>
            <a:endParaRPr lang="en-IN"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latin typeface="Times New Roman" pitchFamily="18" charset="0"/>
                <a:cs typeface="Times New Roman" pitchFamily="18" charset="0"/>
              </a:rPr>
              <a:t>Underlying XP are four basic principles, these are:</a:t>
            </a:r>
            <a:r>
              <a:rPr lang="en-IN" dirty="0" smtClean="0">
                <a:latin typeface="Times New Roman" pitchFamily="18" charset="0"/>
                <a:cs typeface="Times New Roman" pitchFamily="18" charset="0"/>
              </a:rPr>
              <a:t/>
            </a:r>
            <a:br>
              <a:rPr lang="en-IN" dirty="0" smtClean="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457200" y="1371600"/>
            <a:ext cx="8229600" cy="4754563"/>
          </a:xfrm>
        </p:spPr>
        <p:txBody>
          <a:bodyPr>
            <a:normAutofit fontScale="92500" lnSpcReduction="20000"/>
          </a:bodyPr>
          <a:lstStyle/>
          <a:p>
            <a:pPr>
              <a:buNone/>
            </a:pP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lang="en-US" i="1" dirty="0" smtClean="0">
                <a:solidFill>
                  <a:srgbClr val="FF0000"/>
                </a:solidFill>
                <a:latin typeface="Times New Roman" pitchFamily="18" charset="0"/>
                <a:cs typeface="Times New Roman" pitchFamily="18" charset="0"/>
              </a:rPr>
              <a:t>Communication</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it is good to talk (particularly, between users and develop- </a:t>
            </a:r>
            <a:r>
              <a:rPr lang="en-US" dirty="0" err="1" smtClean="0">
                <a:latin typeface="Times New Roman" pitchFamily="18" charset="0"/>
                <a:cs typeface="Times New Roman" pitchFamily="18" charset="0"/>
              </a:rPr>
              <a:t>ers</a:t>
            </a:r>
            <a:r>
              <a:rPr lang="en-US" dirty="0" smtClean="0">
                <a:latin typeface="Times New Roman" pitchFamily="18" charset="0"/>
                <a:cs typeface="Times New Roman" pitchFamily="18" charset="0"/>
              </a:rPr>
              <a:t>).</a:t>
            </a:r>
            <a:r>
              <a:rPr lang="en-IN" dirty="0" smtClean="0">
                <a:latin typeface="Times New Roman" pitchFamily="18" charset="0"/>
                <a:cs typeface="Times New Roman" pitchFamily="18" charset="0"/>
              </a:rPr>
              <a:t> </a:t>
            </a:r>
          </a:p>
          <a:p>
            <a:pPr>
              <a:buNone/>
            </a:pPr>
            <a:endParaRPr lang="en-IN" dirty="0" smtClean="0">
              <a:latin typeface="Times New Roman" pitchFamily="18" charset="0"/>
              <a:cs typeface="Times New Roman" pitchFamily="18" charset="0"/>
            </a:endParaRPr>
          </a:p>
          <a:p>
            <a:r>
              <a:rPr lang="en-US" i="1" dirty="0" smtClean="0">
                <a:solidFill>
                  <a:srgbClr val="FF0000"/>
                </a:solidFill>
                <a:latin typeface="Times New Roman" pitchFamily="18" charset="0"/>
                <a:cs typeface="Times New Roman" pitchFamily="18" charset="0"/>
              </a:rPr>
              <a:t>Simplicity</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keep it simple and grow the system as and when required.</a:t>
            </a:r>
            <a:r>
              <a:rPr lang="en-IN" dirty="0" smtClean="0">
                <a:latin typeface="Times New Roman" pitchFamily="18" charset="0"/>
                <a:cs typeface="Times New Roman" pitchFamily="18" charset="0"/>
              </a:rPr>
              <a:t> </a:t>
            </a:r>
          </a:p>
          <a:p>
            <a:pPr>
              <a:buNone/>
            </a:pPr>
            <a:endParaRPr lang="en-IN" dirty="0" smtClean="0">
              <a:latin typeface="Times New Roman" pitchFamily="18" charset="0"/>
              <a:cs typeface="Times New Roman" pitchFamily="18" charset="0"/>
            </a:endParaRPr>
          </a:p>
          <a:p>
            <a:r>
              <a:rPr lang="en-US" i="1" dirty="0" smtClean="0">
                <a:solidFill>
                  <a:srgbClr val="FF0000"/>
                </a:solidFill>
                <a:latin typeface="Times New Roman" pitchFamily="18" charset="0"/>
                <a:cs typeface="Times New Roman" pitchFamily="18" charset="0"/>
              </a:rPr>
              <a:t>Feedback</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let users provide feedback early and often.</a:t>
            </a:r>
            <a:r>
              <a:rPr lang="en-IN" dirty="0" smtClean="0">
                <a:latin typeface="Times New Roman" pitchFamily="18" charset="0"/>
                <a:cs typeface="Times New Roman" pitchFamily="18" charset="0"/>
              </a:rPr>
              <a:t> </a:t>
            </a:r>
          </a:p>
          <a:p>
            <a:r>
              <a:rPr lang="en-US" i="1" dirty="0" smtClean="0">
                <a:solidFill>
                  <a:srgbClr val="FF0000"/>
                </a:solidFill>
                <a:latin typeface="Times New Roman" pitchFamily="18" charset="0"/>
                <a:cs typeface="Times New Roman" pitchFamily="18" charset="0"/>
              </a:rPr>
              <a:t>Courage</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to go with such an approach.</a:t>
            </a:r>
            <a:endParaRPr lang="en-IN" dirty="0" smtClean="0">
              <a:latin typeface="Times New Roman" pitchFamily="18" charset="0"/>
              <a:cs typeface="Times New Roman" pitchFamily="18" charset="0"/>
            </a:endParaRPr>
          </a:p>
          <a:p>
            <a:endParaRPr lang="en-I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001000" cy="639762"/>
          </a:xfrm>
        </p:spPr>
        <p:txBody>
          <a:bodyPr>
            <a:normAutofit fontScale="90000"/>
          </a:bodyPr>
          <a:lstStyle/>
          <a:p>
            <a:r>
              <a:rPr lang="en-US" sz="2200" dirty="0" smtClean="0">
                <a:latin typeface="Times New Roman" pitchFamily="18" charset="0"/>
                <a:cs typeface="Times New Roman" pitchFamily="18" charset="0"/>
              </a:rPr>
              <a:t>These four basic principles have led to the following key ideas presented within XP:</a:t>
            </a:r>
            <a:r>
              <a:rPr lang="en-IN" dirty="0" smtClean="0"/>
              <a:t/>
            </a:r>
            <a:br>
              <a:rPr lang="en-IN" dirty="0" smtClean="0"/>
            </a:br>
            <a:endParaRPr lang="en-IN" dirty="0"/>
          </a:p>
        </p:txBody>
      </p:sp>
      <p:sp>
        <p:nvSpPr>
          <p:cNvPr id="3" name="Content Placeholder 2"/>
          <p:cNvSpPr>
            <a:spLocks noGrp="1"/>
          </p:cNvSpPr>
          <p:nvPr>
            <p:ph idx="1"/>
          </p:nvPr>
        </p:nvSpPr>
        <p:spPr>
          <a:xfrm>
            <a:off x="381000" y="685800"/>
            <a:ext cx="8229600" cy="5867400"/>
          </a:xfrm>
        </p:spPr>
        <p:txBody>
          <a:bodyPr>
            <a:normAutofit fontScale="25000" lnSpcReduction="20000"/>
          </a:bodyPr>
          <a:lstStyle/>
          <a:p>
            <a:r>
              <a:rPr lang="en-US" sz="6400" i="1" dirty="0" smtClean="0">
                <a:solidFill>
                  <a:srgbClr val="FF0000"/>
                </a:solidFill>
                <a:latin typeface="Times New Roman" pitchFamily="18" charset="0"/>
                <a:cs typeface="Times New Roman" pitchFamily="18" charset="0"/>
              </a:rPr>
              <a:t>Code in pairs. </a:t>
            </a:r>
            <a:r>
              <a:rPr lang="en-US" sz="6400" dirty="0" smtClean="0">
                <a:latin typeface="Times New Roman" pitchFamily="18" charset="0"/>
                <a:cs typeface="Times New Roman" pitchFamily="18" charset="0"/>
              </a:rPr>
              <a:t>This is probably the thing that people first hear with relation to XP. The idea is that all software is developed in pairs (i.e., with two programmers at one screen). The concept is that if code reviews are good, because they force at least one other person to consider your code, then constantly working in pairs results in constant reviewing of code and feedback between the two developers. </a:t>
            </a:r>
            <a:r>
              <a:rPr lang="en-US" sz="6400" i="1" dirty="0" smtClean="0">
                <a:latin typeface="Times New Roman" pitchFamily="18" charset="0"/>
                <a:cs typeface="Times New Roman" pitchFamily="18" charset="0"/>
              </a:rPr>
              <a:t>Stay in contact with the customer. </a:t>
            </a:r>
            <a:r>
              <a:rPr lang="en-US" sz="6400" dirty="0" smtClean="0">
                <a:latin typeface="Times New Roman" pitchFamily="18" charset="0"/>
                <a:cs typeface="Times New Roman" pitchFamily="18" charset="0"/>
              </a:rPr>
              <a:t>For example, place a customer representative in the team, so that you have access to them all of the time. Meet regularly with</a:t>
            </a:r>
            <a:r>
              <a:rPr lang="en-IN" sz="6400" dirty="0" smtClean="0">
                <a:latin typeface="Times New Roman" pitchFamily="18" charset="0"/>
                <a:cs typeface="Times New Roman" pitchFamily="18" charset="0"/>
              </a:rPr>
              <a:t> </a:t>
            </a:r>
            <a:r>
              <a:rPr lang="en-US" sz="6400" dirty="0" smtClean="0">
                <a:latin typeface="Times New Roman" pitchFamily="18" charset="0"/>
                <a:cs typeface="Times New Roman" pitchFamily="18" charset="0"/>
              </a:rPr>
              <a:t>the customer to give information and receive feedback.</a:t>
            </a:r>
            <a:endParaRPr lang="en-IN" sz="6400" dirty="0" smtClean="0">
              <a:latin typeface="Times New Roman" pitchFamily="18" charset="0"/>
              <a:cs typeface="Times New Roman" pitchFamily="18" charset="0"/>
            </a:endParaRPr>
          </a:p>
          <a:p>
            <a:r>
              <a:rPr lang="en-US" sz="6400" i="1" dirty="0" smtClean="0">
                <a:solidFill>
                  <a:srgbClr val="FF0000"/>
                </a:solidFill>
                <a:latin typeface="Times New Roman" pitchFamily="18" charset="0"/>
                <a:cs typeface="Times New Roman" pitchFamily="18" charset="0"/>
              </a:rPr>
              <a:t>Create tests before coding then test heavily. </a:t>
            </a:r>
            <a:r>
              <a:rPr lang="en-US" sz="6400" dirty="0" smtClean="0">
                <a:latin typeface="Times New Roman" pitchFamily="18" charset="0"/>
                <a:cs typeface="Times New Roman" pitchFamily="18" charset="0"/>
              </a:rPr>
              <a:t>Developers should write the unit tests before the code to be tested. Part of the argument is that if you can’t write the test</a:t>
            </a:r>
            <a:r>
              <a:rPr lang="en-IN" sz="6400" dirty="0" smtClean="0">
                <a:latin typeface="Times New Roman" pitchFamily="18" charset="0"/>
                <a:cs typeface="Times New Roman" pitchFamily="18" charset="0"/>
              </a:rPr>
              <a:t> </a:t>
            </a:r>
            <a:r>
              <a:rPr lang="en-US" sz="6400" dirty="0" smtClean="0">
                <a:latin typeface="Times New Roman" pitchFamily="18" charset="0"/>
                <a:cs typeface="Times New Roman" pitchFamily="18" charset="0"/>
              </a:rPr>
              <a:t>(i.e., don’t know what the inputs and outputs should be), then you shouldn’t be writing the code. You should then automate testing so that you can regularly re-run the tests to make sure that nothing that has been done breaks earlier results.</a:t>
            </a:r>
            <a:endParaRPr lang="en-IN" sz="6400" dirty="0" smtClean="0">
              <a:latin typeface="Times New Roman" pitchFamily="18" charset="0"/>
              <a:cs typeface="Times New Roman" pitchFamily="18" charset="0"/>
            </a:endParaRPr>
          </a:p>
          <a:p>
            <a:r>
              <a:rPr lang="en-US" sz="6400" i="1" dirty="0" smtClean="0">
                <a:solidFill>
                  <a:srgbClr val="FF0000"/>
                </a:solidFill>
                <a:latin typeface="Times New Roman" pitchFamily="18" charset="0"/>
                <a:cs typeface="Times New Roman" pitchFamily="18" charset="0"/>
              </a:rPr>
              <a:t>Short iterations. </a:t>
            </a:r>
            <a:r>
              <a:rPr lang="en-US" sz="6400" dirty="0" smtClean="0">
                <a:latin typeface="Times New Roman" pitchFamily="18" charset="0"/>
                <a:cs typeface="Times New Roman" pitchFamily="18" charset="0"/>
              </a:rPr>
              <a:t>Each iteration should be relatively short allowing for rapid and frequent feedback. Thus, a minimal system may be produced and possibly even put into production quickly and the system will grow in whatever directions prove most valuable.</a:t>
            </a:r>
            <a:endParaRPr lang="en-IN" sz="6400" dirty="0" smtClean="0">
              <a:latin typeface="Times New Roman" pitchFamily="18" charset="0"/>
              <a:cs typeface="Times New Roman" pitchFamily="18" charset="0"/>
            </a:endParaRPr>
          </a:p>
          <a:p>
            <a:r>
              <a:rPr lang="en-US" sz="6400" i="1" dirty="0" smtClean="0">
                <a:solidFill>
                  <a:srgbClr val="FF0000"/>
                </a:solidFill>
                <a:latin typeface="Times New Roman" pitchFamily="18" charset="0"/>
                <a:cs typeface="Times New Roman" pitchFamily="18" charset="0"/>
              </a:rPr>
              <a:t>Keep it simple. </a:t>
            </a:r>
            <a:r>
              <a:rPr lang="en-US" sz="6400" dirty="0" smtClean="0">
                <a:latin typeface="Times New Roman" pitchFamily="18" charset="0"/>
                <a:cs typeface="Times New Roman" pitchFamily="18" charset="0"/>
              </a:rPr>
              <a:t>Start projects with a simple design that can evolve later as required by future iterations. This removes unnecessary complexity from early iterations. It also removes the need to code in additional functionalities believed to be required by future iterations, but which may actually never be needed.</a:t>
            </a:r>
            <a:endParaRPr lang="en-IN" sz="6400" dirty="0" smtClean="0">
              <a:latin typeface="Times New Roman" pitchFamily="18" charset="0"/>
              <a:cs typeface="Times New Roman" pitchFamily="18" charset="0"/>
            </a:endParaRPr>
          </a:p>
          <a:p>
            <a:r>
              <a:rPr lang="en-US" sz="6400" i="1" dirty="0" smtClean="0">
                <a:solidFill>
                  <a:srgbClr val="FF0000"/>
                </a:solidFill>
                <a:latin typeface="Times New Roman" pitchFamily="18" charset="0"/>
                <a:cs typeface="Times New Roman" pitchFamily="18" charset="0"/>
              </a:rPr>
              <a:t>Don’t anticipate: </a:t>
            </a:r>
            <a:r>
              <a:rPr lang="en-US" sz="6400" i="1" dirty="0" smtClean="0">
                <a:latin typeface="Times New Roman" pitchFamily="18" charset="0"/>
                <a:cs typeface="Times New Roman" pitchFamily="18" charset="0"/>
              </a:rPr>
              <a:t>code for current needs. </a:t>
            </a:r>
            <a:r>
              <a:rPr lang="en-US" sz="6400" dirty="0" smtClean="0">
                <a:latin typeface="Times New Roman" pitchFamily="18" charset="0"/>
                <a:cs typeface="Times New Roman" pitchFamily="18" charset="0"/>
              </a:rPr>
              <a:t>That is, don’t over-engineer solutions based on what they may one day need to do, rather focus on what they need to do now and leave tomorrow’s functionality to tomorrow.</a:t>
            </a:r>
            <a:endParaRPr lang="en-IN" sz="6400" dirty="0" smtClean="0">
              <a:latin typeface="Times New Roman" pitchFamily="18" charset="0"/>
              <a:cs typeface="Times New Roman" pitchFamily="18" charset="0"/>
            </a:endParaRPr>
          </a:p>
          <a:p>
            <a:r>
              <a:rPr lang="en-US" sz="6400" i="1" dirty="0" smtClean="0">
                <a:solidFill>
                  <a:srgbClr val="FF0000"/>
                </a:solidFill>
                <a:latin typeface="Times New Roman" pitchFamily="18" charset="0"/>
                <a:cs typeface="Times New Roman" pitchFamily="18" charset="0"/>
              </a:rPr>
              <a:t>Collective ownership. </a:t>
            </a:r>
            <a:r>
              <a:rPr lang="en-US" sz="6400" dirty="0" smtClean="0">
                <a:latin typeface="Times New Roman" pitchFamily="18" charset="0"/>
                <a:cs typeface="Times New Roman" pitchFamily="18" charset="0"/>
              </a:rPr>
              <a:t>Everyone within the team owns the software and has responsibility for it. When something goes wrong, no one should ever consider it not to be his or her problem because Bill wrote that piece of code. In turn, XP does not support a culture of blame and recrimination – everyone is responsible for all the code. As a result of this, everyone is responsible for fixing a problem when they find it rather than ignoring it.</a:t>
            </a:r>
            <a:endParaRPr lang="en-IN" sz="6400" dirty="0" smtClean="0">
              <a:latin typeface="Times New Roman" pitchFamily="18" charset="0"/>
              <a:cs typeface="Times New Roman" pitchFamily="18" charset="0"/>
            </a:endParaRPr>
          </a:p>
          <a:p>
            <a:endParaRPr lang="en-I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2800" b="1" dirty="0">
                <a:latin typeface="Times New Roman" pitchFamily="18" charset="0"/>
                <a:cs typeface="Times New Roman" pitchFamily="18" charset="0"/>
              </a:rPr>
              <a:t>The XP Project Lifecycle</a:t>
            </a:r>
            <a:r>
              <a:rPr lang="en-IN" b="1" dirty="0"/>
              <a:t/>
            </a:r>
            <a:br>
              <a:rPr lang="en-IN" b="1" dirty="0"/>
            </a:br>
            <a:endParaRPr lang="en-IN" dirty="0"/>
          </a:p>
        </p:txBody>
      </p:sp>
      <p:pic>
        <p:nvPicPr>
          <p:cNvPr id="1026" name="Picture 2" descr="C:\Users\Admin.Admin-PC\Desktop\lifecyclexpprojectbeck.gif"/>
          <p:cNvPicPr>
            <a:picLocks noGrp="1" noChangeAspect="1" noChangeArrowheads="1"/>
          </p:cNvPicPr>
          <p:nvPr>
            <p:ph idx="1"/>
          </p:nvPr>
        </p:nvPicPr>
        <p:blipFill>
          <a:blip r:embed="rId2" cstate="print"/>
          <a:srcRect/>
          <a:stretch>
            <a:fillRect/>
          </a:stretch>
        </p:blipFill>
        <p:spPr bwMode="auto">
          <a:xfrm>
            <a:off x="381000" y="1524000"/>
            <a:ext cx="8458200" cy="4419599"/>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rtl="0">
              <a:spcBef>
                <a:spcPct val="0"/>
              </a:spcBef>
            </a:pPr>
            <a:r>
              <a:rPr lang="en-US" sz="3200" b="1" dirty="0" smtClean="0">
                <a:solidFill>
                  <a:srgbClr val="FF0000"/>
                </a:solidFill>
                <a:latin typeface="Times New Roman" pitchFamily="18" charset="0"/>
                <a:cs typeface="Times New Roman" pitchFamily="18" charset="0"/>
              </a:rPr>
              <a:t>Architectural Spike</a:t>
            </a:r>
            <a:r>
              <a:rPr lang="en-IN" sz="3200" b="1" dirty="0" smtClean="0">
                <a:latin typeface="Times New Roman" pitchFamily="18" charset="0"/>
                <a:cs typeface="Times New Roman" pitchFamily="18" charset="0"/>
              </a:rPr>
              <a:t/>
            </a:r>
            <a:br>
              <a:rPr lang="en-IN" sz="3200" b="1" dirty="0" smtClean="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1143000"/>
            <a:ext cx="8458200" cy="4525963"/>
          </a:xfrm>
        </p:spPr>
        <p:txBody>
          <a:bodyPr>
            <a:normAutofit/>
          </a:bodyPr>
          <a:lstStyle/>
          <a:p>
            <a:pPr>
              <a:buNone/>
            </a:pPr>
            <a:r>
              <a:rPr lang="en-US" sz="2100" dirty="0" smtClean="0">
                <a:latin typeface="Times New Roman" pitchFamily="18" charset="0"/>
                <a:cs typeface="Times New Roman" pitchFamily="18" charset="0"/>
              </a:rPr>
              <a:t>      A Spike in XP terms is an attempt to reduce the risk associated with an unknown area of the system, technology or application domain. A Spike may involve some investigation, research and possibly some software to evaluate or elucidate the problem. The result of most explorations is usually not good enough to keep and so should be thrown away. Early on the overall architecture of the system to be developed is an important issue that needs to be resolved. Thus, at this stage research and analysis of the architecture to use should be carried out and fed into the release planning meeting. Other spikes are used during the project-planning phase to determine unresolved issues.</a:t>
            </a:r>
            <a:endParaRPr lang="en-IN" sz="2100" dirty="0" smtClean="0">
              <a:latin typeface="Times New Roman" pitchFamily="18" charset="0"/>
              <a:cs typeface="Times New Roman" pitchFamily="18" charset="0"/>
            </a:endParaRPr>
          </a:p>
          <a:p>
            <a:endParaRPr lang="en-I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200" b="1" dirty="0" smtClean="0">
                <a:solidFill>
                  <a:srgbClr val="FF0000"/>
                </a:solidFill>
                <a:latin typeface="Times New Roman" pitchFamily="18" charset="0"/>
                <a:cs typeface="Times New Roman" pitchFamily="18" charset="0"/>
              </a:rPr>
              <a:t>Release Planning</a:t>
            </a:r>
            <a:r>
              <a:rPr lang="en-IN" b="1" dirty="0" smtClean="0"/>
              <a:t/>
            </a:r>
            <a:br>
              <a:rPr lang="en-IN" b="1" dirty="0" smtClean="0"/>
            </a:br>
            <a:endParaRPr lang="en-IN" dirty="0"/>
          </a:p>
        </p:txBody>
      </p:sp>
      <p:sp>
        <p:nvSpPr>
          <p:cNvPr id="3" name="Content Placeholder 2"/>
          <p:cNvSpPr>
            <a:spLocks noGrp="1"/>
          </p:cNvSpPr>
          <p:nvPr>
            <p:ph idx="1"/>
          </p:nvPr>
        </p:nvSpPr>
        <p:spPr>
          <a:xfrm>
            <a:off x="304800" y="1066800"/>
            <a:ext cx="8305800" cy="2819400"/>
          </a:xfrm>
        </p:spPr>
        <p:txBody>
          <a:bodyPr>
            <a:normAutofit fontScale="92500"/>
          </a:bodyPr>
          <a:lstStyle/>
          <a:p>
            <a:r>
              <a:rPr lang="en-US" sz="2400" dirty="0" smtClean="0">
                <a:latin typeface="Times New Roman" pitchFamily="18" charset="0"/>
                <a:cs typeface="Times New Roman" pitchFamily="18" charset="0"/>
              </a:rPr>
              <a:t>A release-planning meeting is used to create the release plan, which lays out the overall project. That is, the release plan indicates which user stories will be implemented and in which release this will happen. It also indicates how many iterations are planned and when each iteration will be delivered. This is done by negotiation between the interested parties using estimates derived from the user stories. The estimates are produced by the technical members of the team potentially with input from the users. </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600" b="1" dirty="0" smtClean="0">
                <a:solidFill>
                  <a:srgbClr val="FF0000"/>
                </a:solidFill>
                <a:latin typeface="Times New Roman" pitchFamily="18" charset="0"/>
                <a:cs typeface="Times New Roman" pitchFamily="18" charset="0"/>
              </a:rPr>
              <a:t>Iterations</a:t>
            </a:r>
            <a:r>
              <a:rPr lang="en-IN" b="1" dirty="0" smtClean="0"/>
              <a:t/>
            </a:r>
            <a:br>
              <a:rPr lang="en-IN" b="1" dirty="0" smtClean="0"/>
            </a:br>
            <a:endParaRPr lang="en-IN" dirty="0"/>
          </a:p>
        </p:txBody>
      </p:sp>
      <p:sp>
        <p:nvSpPr>
          <p:cNvPr id="3" name="Content Placeholder 2"/>
          <p:cNvSpPr>
            <a:spLocks noGrp="1"/>
          </p:cNvSpPr>
          <p:nvPr>
            <p:ph idx="1"/>
          </p:nvPr>
        </p:nvSpPr>
        <p:spPr>
          <a:xfrm>
            <a:off x="228600" y="1143000"/>
            <a:ext cx="8610600" cy="5181600"/>
          </a:xfrm>
        </p:spPr>
        <p:txBody>
          <a:bodyPr>
            <a:normAutofit/>
          </a:bodyPr>
          <a:lstStyle/>
          <a:p>
            <a:r>
              <a:rPr lang="en-US" sz="2400" dirty="0" smtClean="0">
                <a:latin typeface="Times New Roman" pitchFamily="18" charset="0"/>
                <a:cs typeface="Times New Roman" pitchFamily="18" charset="0"/>
              </a:rPr>
              <a:t>Each iteration within the project adds to the agility of the development team. That is, at the start of each iteration changes can be made to what will be done and when it will be done.</a:t>
            </a:r>
          </a:p>
          <a:p>
            <a:r>
              <a:rPr lang="en-US" sz="2400" dirty="0" smtClean="0">
                <a:latin typeface="Times New Roman" pitchFamily="18" charset="0"/>
                <a:cs typeface="Times New Roman" pitchFamily="18" charset="0"/>
              </a:rPr>
              <a:t> The shorter the iteration, the quicker the development team can respond to changes (indeed within XP it is recommended that iterations last</a:t>
            </a:r>
            <a:r>
              <a:rPr lang="en-IN"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only a matter of weeks).</a:t>
            </a:r>
          </a:p>
          <a:p>
            <a:r>
              <a:rPr lang="en-US" sz="2400" dirty="0" smtClean="0">
                <a:latin typeface="Times New Roman" pitchFamily="18" charset="0"/>
                <a:cs typeface="Times New Roman" pitchFamily="18" charset="0"/>
              </a:rPr>
              <a:t> At the beginning of each iteration, an Iteration Planning meeting is held to determine exactly what will happen within that iteration (such as what programming tasks there will be and when they will be done). </a:t>
            </a:r>
          </a:p>
          <a:p>
            <a:r>
              <a:rPr lang="en-US" sz="2400" dirty="0" smtClean="0">
                <a:latin typeface="Times New Roman" pitchFamily="18" charset="0"/>
                <a:cs typeface="Times New Roman" pitchFamily="18" charset="0"/>
              </a:rPr>
              <a:t>It looks like the iteration will not manage to achieve all that was planned for it, then further iteration planning meetings should be called during the iteration to respond to these concerns</a:t>
            </a:r>
            <a:endParaRPr lang="en-IN" sz="24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rtl="0">
              <a:spcBef>
                <a:spcPct val="0"/>
              </a:spcBef>
            </a:pPr>
            <a:r>
              <a:rPr lang="en-US" sz="3200" b="1" dirty="0" smtClean="0">
                <a:solidFill>
                  <a:srgbClr val="FF0000"/>
                </a:solidFill>
                <a:latin typeface="Times New Roman" pitchFamily="18" charset="0"/>
                <a:cs typeface="Times New Roman" pitchFamily="18" charset="0"/>
              </a:rPr>
              <a:t>Acceptance Testing</a:t>
            </a:r>
            <a:r>
              <a:rPr lang="en-IN" sz="3200" b="1" dirty="0" smtClean="0">
                <a:latin typeface="Times New Roman" pitchFamily="18" charset="0"/>
                <a:cs typeface="Times New Roman" pitchFamily="18" charset="0"/>
              </a:rPr>
              <a:t/>
            </a:r>
            <a:br>
              <a:rPr lang="en-IN" sz="3200" b="1" dirty="0" smtClean="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4525963"/>
          </a:xfrm>
        </p:spPr>
        <p:txBody>
          <a:bodyPr>
            <a:normAutofit/>
          </a:bodyPr>
          <a:lstStyle/>
          <a:p>
            <a:pPr>
              <a:buNone/>
            </a:pPr>
            <a:r>
              <a:rPr lang="en-US" sz="2400" dirty="0" smtClean="0">
                <a:latin typeface="Times New Roman" pitchFamily="18" charset="0"/>
                <a:cs typeface="Times New Roman" pitchFamily="18" charset="0"/>
              </a:rPr>
              <a:t>     The acceptance tests are created from the user stories, written at the start of the project. Each iteration implements one or more user stories; these stories will be translated into a series of acceptance tests during the iteration. To do this, the customer must specify scenarios to test whether a user story has been correctly implemented. A story is not limited to one acceptance test and may be related to many acceptance tests (depending on the complexity of the scenario). </a:t>
            </a:r>
            <a:endParaRPr lang="en-IN" sz="24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4000" b="1" dirty="0" smtClean="0">
                <a:solidFill>
                  <a:srgbClr val="FF0000"/>
                </a:solidFill>
                <a:latin typeface="Times New Roman" pitchFamily="18" charset="0"/>
                <a:cs typeface="Times New Roman" pitchFamily="18" charset="0"/>
              </a:rPr>
              <a:t>Release</a:t>
            </a:r>
            <a:r>
              <a:rPr lang="en-IN" b="1" dirty="0" smtClean="0"/>
              <a:t/>
            </a:r>
            <a:br>
              <a:rPr lang="en-IN" b="1" dirty="0" smtClean="0"/>
            </a:br>
            <a:endParaRPr lang="en-IN" dirty="0"/>
          </a:p>
        </p:txBody>
      </p:sp>
      <p:sp>
        <p:nvSpPr>
          <p:cNvPr id="3" name="Content Placeholder 2"/>
          <p:cNvSpPr>
            <a:spLocks noGrp="1"/>
          </p:cNvSpPr>
          <p:nvPr>
            <p:ph idx="1"/>
          </p:nvPr>
        </p:nvSpPr>
        <p:spPr>
          <a:xfrm>
            <a:off x="457200" y="1600200"/>
            <a:ext cx="8534400" cy="4525963"/>
          </a:xfrm>
        </p:spPr>
        <p:txBody>
          <a:bodyPr>
            <a:normAutofit/>
          </a:bodyPr>
          <a:lstStyle/>
          <a:p>
            <a:pPr>
              <a:buNone/>
            </a:pPr>
            <a:r>
              <a:rPr lang="en-US" sz="2400" dirty="0" smtClean="0">
                <a:latin typeface="Times New Roman" pitchFamily="18" charset="0"/>
                <a:cs typeface="Times New Roman" pitchFamily="18" charset="0"/>
              </a:rPr>
              <a:t>    XP promotes the concept of “small releases” and “release often.” The release- planning meeting should identify meaning “chucks” of system functionality that makes business sense in relation to the users and to the state of the system at various intervals. These meaningful releases should be made available to users when available. This will allow early and frequent feedback from the users rather than relying on the big bang approach and then worrying about the consequences.</a:t>
            </a:r>
            <a:endParaRPr lang="en-IN" sz="2400" dirty="0" smtClean="0">
              <a:latin typeface="Times New Roman" pitchFamily="18" charset="0"/>
              <a:cs typeface="Times New Roman" pitchFamily="18" charset="0"/>
            </a:endParaRPr>
          </a:p>
          <a:p>
            <a:pPr>
              <a:buNone/>
            </a:pP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600" b="1" dirty="0" smtClean="0">
                <a:solidFill>
                  <a:srgbClr val="FF0000"/>
                </a:solidFill>
                <a:latin typeface="Times New Roman" pitchFamily="18" charset="0"/>
                <a:cs typeface="Times New Roman" pitchFamily="18" charset="0"/>
              </a:rPr>
              <a:t>DSDM</a:t>
            </a:r>
            <a:r>
              <a:rPr lang="en-IN" b="1" dirty="0" smtClean="0"/>
              <a:t/>
            </a:r>
            <a:br>
              <a:rPr lang="en-IN" b="1" dirty="0" smtClean="0"/>
            </a:br>
            <a:endParaRPr lang="en-IN" dirty="0"/>
          </a:p>
        </p:txBody>
      </p:sp>
      <p:sp>
        <p:nvSpPr>
          <p:cNvPr id="3" name="Content Placeholder 2"/>
          <p:cNvSpPr>
            <a:spLocks noGrp="1"/>
          </p:cNvSpPr>
          <p:nvPr>
            <p:ph idx="1"/>
          </p:nvPr>
        </p:nvSpPr>
        <p:spPr>
          <a:xfrm>
            <a:off x="457200" y="1066800"/>
            <a:ext cx="8229600" cy="5334000"/>
          </a:xfrm>
        </p:spPr>
        <p:txBody>
          <a:bodyPr>
            <a:normAutofit fontScale="70000" lnSpcReduction="20000"/>
          </a:bodyPr>
          <a:lstStyle/>
          <a:p>
            <a:r>
              <a:rPr lang="en-US" dirty="0" smtClean="0">
                <a:latin typeface="Times New Roman" pitchFamily="18" charset="0"/>
                <a:cs typeface="Times New Roman" pitchFamily="18" charset="0"/>
              </a:rPr>
              <a:t>DSDM or The </a:t>
            </a:r>
            <a:r>
              <a:rPr lang="en-US" dirty="0" smtClean="0">
                <a:solidFill>
                  <a:srgbClr val="00B0F0"/>
                </a:solidFill>
                <a:latin typeface="Times New Roman" pitchFamily="18" charset="0"/>
                <a:cs typeface="Times New Roman" pitchFamily="18" charset="0"/>
              </a:rPr>
              <a:t>Dynamic Systems Development Method </a:t>
            </a:r>
            <a:r>
              <a:rPr lang="en-US" dirty="0" smtClean="0">
                <a:latin typeface="Times New Roman" pitchFamily="18" charset="0"/>
                <a:cs typeface="Times New Roman" pitchFamily="18" charset="0"/>
              </a:rPr>
              <a:t>provides a framework of controls and best practice for Rapid Application Development (RAD). It is particularly suitable for application development projects that need to develop complex business solutions within tight timeframes.</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 worldwide consortium of systems developers initially designed (and indeed are still evolving) DSDM (now in Version 4.1). Their goal was to produce what at the time they referred to as a RAD methodology which has evolved into an Agile Method model that is time, quality and cost sensitive, producing deliverables quickly and accurately – rapid and right. Since its inception in 1995, more than 20,000 practitioners have been trained and thousands of developers have used DSDM successfully.</a:t>
            </a:r>
          </a:p>
          <a:p>
            <a:r>
              <a:rPr lang="en-US" dirty="0" smtClean="0">
                <a:latin typeface="Times New Roman" pitchFamily="18" charset="0"/>
                <a:cs typeface="Times New Roman" pitchFamily="18" charset="0"/>
              </a:rPr>
              <a:t>A central tenant of DSDM is that “high-quality demands fitness for purpose as well technical robustness” rather than the need to match every requirement as described in the requirements document to the </a:t>
            </a:r>
            <a:r>
              <a:rPr lang="en-US" i="1"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th degree (not least because many requirements documents are at best flawed).</a:t>
            </a:r>
            <a:endParaRPr lang="en-IN"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229600" cy="5638800"/>
          </a:xfrm>
        </p:spPr>
        <p:txBody>
          <a:bodyPr>
            <a:normAutofit fontScale="77500" lnSpcReduction="20000"/>
          </a:bodyPr>
          <a:lstStyle/>
          <a:p>
            <a:pPr>
              <a:buNone/>
            </a:pPr>
            <a:r>
              <a:rPr lang="en-US" sz="4000" dirty="0" smtClean="0">
                <a:solidFill>
                  <a:srgbClr val="FF0000"/>
                </a:solidFill>
                <a:latin typeface="Times New Roman" pitchFamily="18" charset="0"/>
                <a:cs typeface="Times New Roman" pitchFamily="18" charset="0"/>
              </a:rPr>
              <a:t>DSDM is based on nine overriding principles, these are:</a:t>
            </a:r>
            <a:endParaRPr lang="en-IN" sz="4000" dirty="0" smtClean="0">
              <a:solidFill>
                <a:srgbClr val="FF0000"/>
              </a:solidFill>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Active user involvement is imperative.</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The team must be empowered to make decisions.</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The focus is on frequent delivery of products.</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Fitness for business purpose is the essential criterion for acceptance of deliverables.</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Iterative and incremental development is necessary to converge on an accurate business solution.</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All changes during development are reversible.</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Requirements are base lined at a high level.</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Testing is integrated throughout the life cycle.</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Collaboration and cooperation between all stakeholders is essential.</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2743200"/>
          </a:xfrm>
        </p:spPr>
        <p:txBody>
          <a:bodyPr>
            <a:noAutofit/>
          </a:bodyPr>
          <a:lstStyle/>
          <a:p>
            <a:r>
              <a:rPr lang="en-US" sz="2400" dirty="0" smtClean="0">
                <a:solidFill>
                  <a:srgbClr val="FF0000"/>
                </a:solidFill>
                <a:latin typeface="Times New Roman" pitchFamily="18" charset="0"/>
                <a:cs typeface="Times New Roman" pitchFamily="18" charset="0"/>
              </a:rPr>
              <a:t>The actual DSDM lifecycle is broken down into seven different phases, these are:</a:t>
            </a:r>
            <a:br>
              <a:rPr lang="en-US" sz="2400" dirty="0" smtClean="0">
                <a:solidFill>
                  <a:srgbClr val="FF0000"/>
                </a:solidFill>
                <a:latin typeface="Times New Roman" pitchFamily="18" charset="0"/>
                <a:cs typeface="Times New Roman" pitchFamily="18" charset="0"/>
              </a:rPr>
            </a:br>
            <a:r>
              <a:rPr lang="en-US" sz="1800" dirty="0" smtClean="0">
                <a:latin typeface="Times New Roman" pitchFamily="18" charset="0"/>
                <a:cs typeface="Times New Roman" pitchFamily="18" charset="0"/>
              </a:rPr>
              <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Pre-Project Phase, Feasibility Study, Business Case Study, the Functional Model Iteration (FMI), the Design and Build Iteration (DBI), the Implementation Phase </a:t>
            </a:r>
            <a:r>
              <a:rPr lang="en-US" sz="1800" dirty="0" err="1" smtClean="0">
                <a:latin typeface="Times New Roman" pitchFamily="18" charset="0"/>
                <a:cs typeface="Times New Roman" pitchFamily="18" charset="0"/>
              </a:rPr>
              <a:t>andthe</a:t>
            </a:r>
            <a:r>
              <a:rPr lang="en-US" sz="1800" dirty="0" smtClean="0">
                <a:latin typeface="Times New Roman" pitchFamily="18" charset="0"/>
                <a:cs typeface="Times New Roman" pitchFamily="18" charset="0"/>
              </a:rPr>
              <a:t> Post-Project Phase. </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These are illustrated in Figure </a:t>
            </a:r>
            <a:r>
              <a:rPr lang="en-IN" sz="1800"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The first three phases (namely, the Pre-Project, Feasibility and Business Studies phases) are done sequentially in order. These phases set the ground rules for the rest of development process allowing users and teams to understand the world</a:t>
            </a:r>
            <a:r>
              <a:rPr lang="en-IN" sz="1800" dirty="0" smtClean="0">
                <a:latin typeface="Times New Roman" pitchFamily="18" charset="0"/>
                <a:cs typeface="Times New Roman" pitchFamily="18" charset="0"/>
              </a:rPr>
              <a:t/>
            </a:r>
            <a:br>
              <a:rPr lang="en-IN" sz="1800" dirty="0" smtClean="0">
                <a:latin typeface="Times New Roman" pitchFamily="18" charset="0"/>
                <a:cs typeface="Times New Roman" pitchFamily="18" charset="0"/>
              </a:rPr>
            </a:br>
            <a:endParaRPr lang="en-IN" sz="18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2971800"/>
            <a:ext cx="8229600" cy="4221163"/>
          </a:xfrm>
        </p:spPr>
        <p:txBody>
          <a:bodyPr>
            <a:normAutofit/>
          </a:bodyPr>
          <a:lstStyle/>
          <a:p>
            <a:pPr>
              <a:buNone/>
            </a:pPr>
            <a:endParaRPr lang="en-IN" dirty="0" smtClean="0"/>
          </a:p>
          <a:p>
            <a:pPr>
              <a:buNone/>
            </a:pPr>
            <a:endParaRPr lang="en-IN" dirty="0"/>
          </a:p>
        </p:txBody>
      </p:sp>
      <p:pic>
        <p:nvPicPr>
          <p:cNvPr id="3074" name="Picture 2"/>
          <p:cNvPicPr>
            <a:picLocks noChangeAspect="1" noChangeArrowheads="1"/>
          </p:cNvPicPr>
          <p:nvPr/>
        </p:nvPicPr>
        <p:blipFill>
          <a:blip r:embed="rId2" cstate="print"/>
          <a:srcRect/>
          <a:stretch>
            <a:fillRect/>
          </a:stretch>
        </p:blipFill>
        <p:spPr bwMode="auto">
          <a:xfrm>
            <a:off x="685800" y="2952750"/>
            <a:ext cx="7010400" cy="390525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172200"/>
          </a:xfrm>
        </p:spPr>
        <p:txBody>
          <a:bodyPr>
            <a:normAutofit/>
          </a:bodyPr>
          <a:lstStyle/>
          <a:p>
            <a:pPr>
              <a:buNone/>
            </a:pPr>
            <a:r>
              <a:rPr lang="en-US" sz="2600" dirty="0" smtClean="0">
                <a:solidFill>
                  <a:srgbClr val="FF0000"/>
                </a:solidFill>
                <a:latin typeface="Times New Roman" pitchFamily="18" charset="0"/>
                <a:cs typeface="Times New Roman" pitchFamily="18" charset="0"/>
              </a:rPr>
              <a:t>The actual DSDM lifecycle is broken down into seven different phases,  these are:</a:t>
            </a:r>
          </a:p>
          <a:p>
            <a:pPr>
              <a:buNone/>
            </a:pPr>
            <a:r>
              <a:rPr lang="en-US" sz="2000" dirty="0" smtClean="0">
                <a:latin typeface="Times New Roman" pitchFamily="18" charset="0"/>
                <a:cs typeface="Times New Roman" pitchFamily="18" charset="0"/>
              </a:rPr>
              <a:t> 1. Pre-Project Phase,</a:t>
            </a:r>
          </a:p>
          <a:p>
            <a:pPr>
              <a:buNone/>
            </a:pPr>
            <a:r>
              <a:rPr lang="en-US" sz="2000" dirty="0" smtClean="0">
                <a:latin typeface="Times New Roman" pitchFamily="18" charset="0"/>
                <a:cs typeface="Times New Roman" pitchFamily="18" charset="0"/>
              </a:rPr>
              <a:t> 2.Feasibility Study, </a:t>
            </a:r>
          </a:p>
          <a:p>
            <a:pPr>
              <a:buNone/>
            </a:pPr>
            <a:r>
              <a:rPr lang="en-US" sz="2000" dirty="0" smtClean="0">
                <a:latin typeface="Times New Roman" pitchFamily="18" charset="0"/>
                <a:cs typeface="Times New Roman" pitchFamily="18" charset="0"/>
              </a:rPr>
              <a:t> 3.Business Case Study, </a:t>
            </a:r>
          </a:p>
          <a:p>
            <a:pPr>
              <a:buNone/>
            </a:pPr>
            <a:r>
              <a:rPr lang="en-US" sz="2000" dirty="0" smtClean="0">
                <a:latin typeface="Times New Roman" pitchFamily="18" charset="0"/>
                <a:cs typeface="Times New Roman" pitchFamily="18" charset="0"/>
              </a:rPr>
              <a:t> 4.the Functional Model Iteration (FMI),</a:t>
            </a:r>
          </a:p>
          <a:p>
            <a:pPr>
              <a:buNone/>
            </a:pPr>
            <a:r>
              <a:rPr lang="en-US" sz="2000" dirty="0" smtClean="0">
                <a:latin typeface="Times New Roman" pitchFamily="18" charset="0"/>
                <a:cs typeface="Times New Roman" pitchFamily="18" charset="0"/>
              </a:rPr>
              <a:t> 5.the Design and Build Iteration (DBI),</a:t>
            </a:r>
          </a:p>
          <a:p>
            <a:pPr>
              <a:buNone/>
            </a:pPr>
            <a:r>
              <a:rPr lang="en-US" sz="2000" dirty="0" smtClean="0">
                <a:latin typeface="Times New Roman" pitchFamily="18" charset="0"/>
                <a:cs typeface="Times New Roman" pitchFamily="18" charset="0"/>
              </a:rPr>
              <a:t> 6.the Implementation Phase and </a:t>
            </a:r>
          </a:p>
          <a:p>
            <a:pPr>
              <a:buNone/>
            </a:pPr>
            <a:r>
              <a:rPr lang="en-US" sz="2000" dirty="0" smtClean="0">
                <a:latin typeface="Times New Roman" pitchFamily="18" charset="0"/>
                <a:cs typeface="Times New Roman" pitchFamily="18" charset="0"/>
              </a:rPr>
              <a:t> 7.the Post-Project Phase. </a:t>
            </a:r>
          </a:p>
          <a:p>
            <a:pPr>
              <a:buNone/>
            </a:pPr>
            <a:endParaRPr lang="en-IN" sz="2000" dirty="0" smtClean="0">
              <a:latin typeface="Times New Roman" pitchFamily="18" charset="0"/>
              <a:cs typeface="Times New Roman" pitchFamily="18" charset="0"/>
            </a:endParaRPr>
          </a:p>
          <a:p>
            <a:pPr>
              <a:buNone/>
            </a:pPr>
            <a:r>
              <a:rPr lang="en-US" sz="2300" dirty="0" smtClean="0">
                <a:solidFill>
                  <a:srgbClr val="FF0000"/>
                </a:solidFill>
                <a:latin typeface="Times New Roman" pitchFamily="18" charset="0"/>
                <a:cs typeface="Times New Roman" pitchFamily="18" charset="0"/>
              </a:rPr>
              <a:t>1.The first three phases (namely, the Pre-Project, Feasibility and Business Studies phases) </a:t>
            </a:r>
            <a:r>
              <a:rPr lang="en-US" sz="2000" dirty="0" smtClean="0">
                <a:latin typeface="Times New Roman" pitchFamily="18" charset="0"/>
                <a:cs typeface="Times New Roman" pitchFamily="18" charset="0"/>
              </a:rPr>
              <a:t>are done sequentially in order. These phases set the ground rules for the rest of development process allowing users and teams to understand the world within which the application must execute as well as what will be expected of the end product.</a:t>
            </a:r>
            <a:endParaRPr lang="en-IN"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534400" cy="6324600"/>
          </a:xfrm>
        </p:spPr>
        <p:txBody>
          <a:bodyPr>
            <a:normAutofit fontScale="62500" lnSpcReduction="20000"/>
          </a:bodyPr>
          <a:lstStyle/>
          <a:p>
            <a:pPr>
              <a:buNone/>
            </a:pPr>
            <a:r>
              <a:rPr lang="en-US" sz="4000" dirty="0" smtClean="0">
                <a:solidFill>
                  <a:srgbClr val="FF0000"/>
                </a:solidFill>
                <a:latin typeface="Times New Roman" pitchFamily="18" charset="0"/>
                <a:cs typeface="Times New Roman" pitchFamily="18" charset="0"/>
              </a:rPr>
              <a:t>2.The Feasibility Study phase is expected only to last a few weeks. </a:t>
            </a:r>
          </a:p>
          <a:p>
            <a:pPr>
              <a:buNone/>
            </a:pPr>
            <a:r>
              <a:rPr lang="en-US" sz="4000"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The output of this phase is a “feasibility report” that assesses whether or not to use DSDM for the particular project. It should also consider issues surrounding the people and organizations involved, and define the general scope of the project and its objectives. This phase should also produce an outline plan for the development of the end product.</a:t>
            </a:r>
          </a:p>
          <a:p>
            <a:pPr>
              <a:buNone/>
            </a:pPr>
            <a:endParaRPr lang="en-IN" dirty="0" smtClean="0">
              <a:latin typeface="Times New Roman" pitchFamily="18" charset="0"/>
              <a:cs typeface="Times New Roman" pitchFamily="18" charset="0"/>
            </a:endParaRPr>
          </a:p>
          <a:p>
            <a:pPr>
              <a:buNone/>
            </a:pPr>
            <a:r>
              <a:rPr lang="en-US" sz="4000" dirty="0" smtClean="0">
                <a:solidFill>
                  <a:srgbClr val="FF0000"/>
                </a:solidFill>
                <a:latin typeface="Times New Roman" pitchFamily="18" charset="0"/>
                <a:cs typeface="Times New Roman" pitchFamily="18" charset="0"/>
              </a:rPr>
              <a:t>3.The Business Study phase of the project should have three outputs; </a:t>
            </a:r>
          </a:p>
          <a:p>
            <a:pPr>
              <a:buNone/>
            </a:pPr>
            <a:r>
              <a:rPr lang="en-US" dirty="0" smtClean="0">
                <a:latin typeface="Times New Roman" pitchFamily="18" charset="0"/>
                <a:cs typeface="Times New Roman" pitchFamily="18" charset="0"/>
              </a:rPr>
              <a:t>     Business Area Definition (BAD), </a:t>
            </a:r>
          </a:p>
          <a:p>
            <a:pPr>
              <a:buNone/>
            </a:pPr>
            <a:r>
              <a:rPr lang="en-US" dirty="0" smtClean="0">
                <a:latin typeface="Times New Roman" pitchFamily="18" charset="0"/>
                <a:cs typeface="Times New Roman" pitchFamily="18" charset="0"/>
              </a:rPr>
              <a:t>     System Architecture Definition (SAD) and</a:t>
            </a:r>
          </a:p>
          <a:p>
            <a:pPr>
              <a:buNone/>
            </a:pPr>
            <a:r>
              <a:rPr lang="en-US" dirty="0" smtClean="0">
                <a:latin typeface="Times New Roman" pitchFamily="18" charset="0"/>
                <a:cs typeface="Times New Roman" pitchFamily="18" charset="0"/>
              </a:rPr>
              <a:t>     Outline Prototyping plan:</a:t>
            </a:r>
            <a:endParaRPr lang="en-IN" dirty="0" smtClean="0">
              <a:latin typeface="Times New Roman" pitchFamily="18" charset="0"/>
              <a:cs typeface="Times New Roman" pitchFamily="18" charset="0"/>
            </a:endParaRPr>
          </a:p>
          <a:p>
            <a:pPr>
              <a:buNone/>
            </a:pPr>
            <a:endParaRPr lang="en-IN" dirty="0" smtClean="0">
              <a:solidFill>
                <a:srgbClr val="FF0000"/>
              </a:solidFill>
              <a:latin typeface="Times New Roman" pitchFamily="18" charset="0"/>
              <a:cs typeface="Times New Roman" pitchFamily="18" charset="0"/>
            </a:endParaRPr>
          </a:p>
          <a:p>
            <a:pPr>
              <a:buNone/>
            </a:pPr>
            <a:r>
              <a:rPr lang="en-US" dirty="0" smtClean="0">
                <a:solidFill>
                  <a:srgbClr val="FF0000"/>
                </a:solidFill>
                <a:latin typeface="Times New Roman" pitchFamily="18" charset="0"/>
                <a:cs typeface="Times New Roman" pitchFamily="18" charset="0"/>
              </a:rPr>
              <a:t> </a:t>
            </a:r>
            <a:r>
              <a:rPr lang="en-US" i="1" dirty="0" smtClean="0">
                <a:solidFill>
                  <a:srgbClr val="FF0000"/>
                </a:solidFill>
                <a:latin typeface="Times New Roman" pitchFamily="18" charset="0"/>
                <a:cs typeface="Times New Roman" pitchFamily="18" charset="0"/>
              </a:rPr>
              <a:t>Business Area Definition</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Identifies the high-level requirements and provides a process description of the end product.</a:t>
            </a:r>
            <a:r>
              <a:rPr lang="en-IN"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t>
            </a:r>
            <a:endParaRPr lang="en-IN" dirty="0" smtClean="0">
              <a:latin typeface="Times New Roman" pitchFamily="18" charset="0"/>
              <a:cs typeface="Times New Roman" pitchFamily="18" charset="0"/>
            </a:endParaRPr>
          </a:p>
          <a:p>
            <a:pPr>
              <a:buNone/>
            </a:pPr>
            <a:r>
              <a:rPr lang="en-US" i="1" dirty="0" smtClean="0">
                <a:solidFill>
                  <a:srgbClr val="FF0000"/>
                </a:solidFill>
                <a:latin typeface="Times New Roman" pitchFamily="18" charset="0"/>
                <a:cs typeface="Times New Roman" pitchFamily="18" charset="0"/>
              </a:rPr>
              <a:t>System Architecture Definition</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Sketches out the architecture of end system. Note that it is likely that this will evolve over the life of the project.</a:t>
            </a:r>
            <a:r>
              <a:rPr lang="en-IN" dirty="0" smtClean="0">
                <a:latin typeface="Times New Roman" pitchFamily="18" charset="0"/>
                <a:cs typeface="Times New Roman" pitchFamily="18" charset="0"/>
              </a:rPr>
              <a:t> </a:t>
            </a:r>
          </a:p>
          <a:p>
            <a:pPr>
              <a:buNone/>
            </a:pPr>
            <a:r>
              <a:rPr lang="en-US" i="1" dirty="0" smtClean="0">
                <a:solidFill>
                  <a:srgbClr val="FF0000"/>
                </a:solidFill>
                <a:latin typeface="Times New Roman" pitchFamily="18" charset="0"/>
                <a:cs typeface="Times New Roman" pitchFamily="18" charset="0"/>
              </a:rPr>
              <a:t>Outline Prototyping Plan</a:t>
            </a:r>
            <a:r>
              <a:rPr lang="en-US" dirty="0" smtClean="0">
                <a:latin typeface="Times New Roman" pitchFamily="18" charset="0"/>
                <a:cs typeface="Times New Roman" pitchFamily="18" charset="0"/>
              </a:rPr>
              <a:t>. This states the prototyping strategy to be adopted for the development of the end product.</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endParaRPr lang="en-IN" dirty="0" smtClean="0">
              <a:latin typeface="Times New Roman" pitchFamily="18" charset="0"/>
              <a:cs typeface="Times New Roman" pitchFamily="18" charset="0"/>
            </a:endParaRPr>
          </a:p>
          <a:p>
            <a:endParaRPr lang="en-IN" sz="2400" dirty="0" smtClean="0">
              <a:latin typeface="Times New Roman" pitchFamily="18" charset="0"/>
              <a:cs typeface="Times New Roman" pitchFamily="18" charset="0"/>
            </a:endParaRPr>
          </a:p>
          <a:p>
            <a:endParaRPr lang="en-IN" sz="2400" dirty="0" smtClean="0"/>
          </a:p>
          <a:p>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00800"/>
          </a:xfrm>
        </p:spPr>
        <p:txBody>
          <a:bodyPr>
            <a:noAutofit/>
          </a:bodyPr>
          <a:lstStyle/>
          <a:p>
            <a:pPr>
              <a:buNone/>
            </a:pPr>
            <a:r>
              <a:rPr lang="en-US" sz="2800" dirty="0" smtClean="0">
                <a:latin typeface="Times New Roman" pitchFamily="18" charset="0"/>
                <a:cs typeface="Times New Roman" pitchFamily="18" charset="0"/>
              </a:rPr>
              <a:t>The 3 core phases of the DSDM are the</a:t>
            </a:r>
          </a:p>
          <a:p>
            <a:pPr>
              <a:buNone/>
            </a:pPr>
            <a:r>
              <a:rPr lang="en-US" sz="2400" dirty="0" smtClean="0">
                <a:latin typeface="Times New Roman" pitchFamily="18" charset="0"/>
                <a:cs typeface="Times New Roman" pitchFamily="18" charset="0"/>
              </a:rPr>
              <a:t> </a:t>
            </a:r>
            <a:r>
              <a:rPr lang="en-US" sz="2400" dirty="0" smtClean="0">
                <a:solidFill>
                  <a:srgbClr val="FF0000"/>
                </a:solidFill>
                <a:latin typeface="Times New Roman" pitchFamily="18" charset="0"/>
                <a:cs typeface="Times New Roman" pitchFamily="18" charset="0"/>
              </a:rPr>
              <a:t>1.FMI, </a:t>
            </a:r>
          </a:p>
          <a:p>
            <a:pPr>
              <a:buNone/>
            </a:pPr>
            <a:r>
              <a:rPr lang="en-US" sz="2400" dirty="0" smtClean="0">
                <a:solidFill>
                  <a:srgbClr val="FF0000"/>
                </a:solidFill>
                <a:latin typeface="Times New Roman" pitchFamily="18" charset="0"/>
                <a:cs typeface="Times New Roman" pitchFamily="18" charset="0"/>
              </a:rPr>
              <a:t>2. DBI and</a:t>
            </a:r>
          </a:p>
          <a:p>
            <a:pPr>
              <a:buNone/>
            </a:pPr>
            <a:r>
              <a:rPr lang="en-US" sz="2400" dirty="0" smtClean="0">
                <a:solidFill>
                  <a:srgbClr val="FF0000"/>
                </a:solidFill>
                <a:latin typeface="Times New Roman" pitchFamily="18" charset="0"/>
                <a:cs typeface="Times New Roman" pitchFamily="18" charset="0"/>
              </a:rPr>
              <a:t>3. Implementation Phase.</a:t>
            </a:r>
          </a:p>
          <a:p>
            <a:pPr>
              <a:buNone/>
            </a:pPr>
            <a:endParaRPr lang="en-US" sz="2000" dirty="0" smtClean="0">
              <a:solidFill>
                <a:srgbClr val="FF0000"/>
              </a:solidFill>
              <a:latin typeface="Times New Roman" pitchFamily="18" charset="0"/>
              <a:cs typeface="Times New Roman" pitchFamily="18" charset="0"/>
            </a:endParaRPr>
          </a:p>
          <a:p>
            <a:pPr>
              <a:buNone/>
            </a:pPr>
            <a:r>
              <a:rPr lang="en-US" sz="2400" dirty="0" smtClean="0">
                <a:solidFill>
                  <a:srgbClr val="FF0000"/>
                </a:solidFill>
                <a:latin typeface="Times New Roman" pitchFamily="18" charset="0"/>
                <a:cs typeface="Times New Roman" pitchFamily="18" charset="0"/>
              </a:rPr>
              <a:t>1.The </a:t>
            </a:r>
            <a:r>
              <a:rPr lang="en-US" sz="2400" i="1" dirty="0" smtClean="0">
                <a:solidFill>
                  <a:srgbClr val="FF0000"/>
                </a:solidFill>
                <a:latin typeface="Times New Roman" pitchFamily="18" charset="0"/>
                <a:cs typeface="Times New Roman" pitchFamily="18" charset="0"/>
              </a:rPr>
              <a:t>FMI Phase </a:t>
            </a:r>
            <a:r>
              <a:rPr lang="en-US" sz="2400" dirty="0" smtClean="0">
                <a:solidFill>
                  <a:srgbClr val="FF0000"/>
                </a:solidFill>
                <a:latin typeface="Times New Roman" pitchFamily="18" charset="0"/>
                <a:cs typeface="Times New Roman" pitchFamily="18" charset="0"/>
              </a:rPr>
              <a:t>involves:</a:t>
            </a:r>
            <a:endParaRPr lang="en-IN" sz="2400" dirty="0" smtClean="0">
              <a:solidFill>
                <a:srgbClr val="FF0000"/>
              </a:solidFill>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Analysis of the features to be designed and implemented. The production of the Functional Model. This is the primary output of this</a:t>
            </a:r>
            <a:r>
              <a:rPr lang="en-IN"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phase. It may include prototype code as well as analysis models. Coding and prototyping. Prototypes may be used to help improve the analysis or understanding of the system. These prototypes may continue to evolve (particularly in the next phase) until the quality level achieved is high enough that they can be used in the delivered system.</a:t>
            </a:r>
            <a:r>
              <a:rPr lang="en-IN"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p>
          <a:p>
            <a:pPr>
              <a:buNone/>
            </a:pP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a:t>
            </a:r>
            <a:r>
              <a:rPr lang="en-IN" sz="2000" dirty="0" smtClean="0">
                <a:latin typeface="Times New Roman" pitchFamily="18" charset="0"/>
                <a:cs typeface="Times New Roman" pitchFamily="18" charset="0"/>
              </a:rPr>
              <a:t> </a:t>
            </a:r>
            <a:endParaRPr lang="en-IN" sz="2000"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610600" cy="6248400"/>
          </a:xfrm>
        </p:spPr>
        <p:txBody>
          <a:bodyPr>
            <a:normAutofit lnSpcReduction="10000"/>
          </a:bodyPr>
          <a:lstStyle/>
          <a:p>
            <a:pPr>
              <a:buNone/>
            </a:pPr>
            <a:r>
              <a:rPr lang="en-US" sz="2400" dirty="0" smtClean="0">
                <a:solidFill>
                  <a:srgbClr val="FF0000"/>
                </a:solidFill>
                <a:latin typeface="Times New Roman" pitchFamily="18" charset="0"/>
                <a:cs typeface="Times New Roman" pitchFamily="18" charset="0"/>
              </a:rPr>
              <a:t>2.The </a:t>
            </a:r>
            <a:r>
              <a:rPr lang="en-US" sz="2400" i="1" dirty="0" smtClean="0">
                <a:solidFill>
                  <a:srgbClr val="FF0000"/>
                </a:solidFill>
                <a:latin typeface="Times New Roman" pitchFamily="18" charset="0"/>
                <a:cs typeface="Times New Roman" pitchFamily="18" charset="0"/>
              </a:rPr>
              <a:t>DBI Phase </a:t>
            </a:r>
            <a:r>
              <a:rPr lang="en-US" sz="2400" dirty="0" smtClean="0">
                <a:solidFill>
                  <a:srgbClr val="FF0000"/>
                </a:solidFill>
                <a:latin typeface="Times New Roman" pitchFamily="18" charset="0"/>
                <a:cs typeface="Times New Roman" pitchFamily="18" charset="0"/>
              </a:rPr>
              <a:t>involves:</a:t>
            </a:r>
            <a:endParaRPr lang="en-IN" sz="2400" dirty="0" smtClean="0">
              <a:solidFill>
                <a:srgbClr val="FF0000"/>
              </a:solidFill>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Designing and Building the features to be implemented during this phase. This involves reviewing the designs produced so far, the functional prototypes, as well as the creation of code to implement the required functionality. The primary output of this state is the tested system. This system must meet all the requirements selected as essential in the particular iteration being implemented</a:t>
            </a:r>
            <a:endParaRPr lang="en-US" sz="2400" dirty="0" smtClean="0">
              <a:solidFill>
                <a:srgbClr val="FF0000"/>
              </a:solidFill>
              <a:latin typeface="Times New Roman" pitchFamily="18" charset="0"/>
              <a:cs typeface="Times New Roman" pitchFamily="18" charset="0"/>
            </a:endParaRPr>
          </a:p>
          <a:p>
            <a:pPr>
              <a:buNone/>
            </a:pPr>
            <a:r>
              <a:rPr lang="en-US" sz="2400" dirty="0" smtClean="0">
                <a:solidFill>
                  <a:srgbClr val="FF0000"/>
                </a:solidFill>
                <a:latin typeface="Times New Roman" pitchFamily="18" charset="0"/>
                <a:cs typeface="Times New Roman" pitchFamily="18" charset="0"/>
              </a:rPr>
              <a:t>3.The </a:t>
            </a:r>
            <a:r>
              <a:rPr lang="en-US" sz="2400" i="1" dirty="0" smtClean="0">
                <a:solidFill>
                  <a:srgbClr val="FF0000"/>
                </a:solidFill>
                <a:latin typeface="Times New Roman" pitchFamily="18" charset="0"/>
                <a:cs typeface="Times New Roman" pitchFamily="18" charset="0"/>
              </a:rPr>
              <a:t>Implementation Phase </a:t>
            </a:r>
            <a:r>
              <a:rPr lang="en-US" sz="2400" dirty="0" smtClean="0">
                <a:solidFill>
                  <a:srgbClr val="FF0000"/>
                </a:solidFill>
                <a:latin typeface="Times New Roman" pitchFamily="18" charset="0"/>
                <a:cs typeface="Times New Roman" pitchFamily="18" charset="0"/>
              </a:rPr>
              <a:t>involves:</a:t>
            </a:r>
            <a:endParaRPr lang="en-IN" sz="2400" dirty="0" smtClean="0">
              <a:solidFill>
                <a:srgbClr val="FF0000"/>
              </a:solidFill>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The transfer of the completed system from the development environment to the production environment. </a:t>
            </a:r>
          </a:p>
          <a:p>
            <a:pPr>
              <a:buNone/>
            </a:pPr>
            <a:r>
              <a:rPr lang="en-US" sz="2400" dirty="0" smtClean="0">
                <a:latin typeface="Times New Roman" pitchFamily="18" charset="0"/>
                <a:cs typeface="Times New Roman" pitchFamily="18" charset="0"/>
              </a:rPr>
              <a:t>     The provision of other deliverables such as User training, the creation of the User Manual and the Project Review Report. If issues arise, then the project can be reiterated back to the appropriate phase.</a:t>
            </a:r>
          </a:p>
          <a:p>
            <a:pPr>
              <a:buNone/>
            </a:pPr>
            <a:endParaRPr lang="en-US" sz="1400" dirty="0" smtClean="0">
              <a:latin typeface="Times New Roman" pitchFamily="18" charset="0"/>
              <a:cs typeface="Times New Roman" pitchFamily="18" charset="0"/>
            </a:endParaRPr>
          </a:p>
          <a:p>
            <a:pPr>
              <a:buNone/>
            </a:pPr>
            <a:r>
              <a:rPr lang="en-US" sz="1800" dirty="0" smtClean="0">
                <a:solidFill>
                  <a:srgbClr val="FF0000"/>
                </a:solidFill>
                <a:latin typeface="Times New Roman" pitchFamily="18" charset="0"/>
                <a:cs typeface="Times New Roman" pitchFamily="18" charset="0"/>
              </a:rPr>
              <a:t> </a:t>
            </a:r>
            <a:endParaRPr lang="en-IN" dirty="0" smtClean="0"/>
          </a:p>
          <a:p>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705600"/>
          </a:xfrm>
        </p:spPr>
        <p:txBody>
          <a:bodyPr>
            <a:normAutofit fontScale="47500" lnSpcReduction="20000"/>
          </a:bodyPr>
          <a:lstStyle/>
          <a:p>
            <a:pPr>
              <a:buNone/>
            </a:pPr>
            <a:r>
              <a:rPr lang="en-US" sz="4400" dirty="0" smtClean="0">
                <a:solidFill>
                  <a:srgbClr val="FF0000"/>
                </a:solidFill>
                <a:latin typeface="Times New Roman" pitchFamily="18" charset="0"/>
                <a:cs typeface="Times New Roman" pitchFamily="18" charset="0"/>
              </a:rPr>
              <a:t>DSDM refines the concept of </a:t>
            </a:r>
            <a:r>
              <a:rPr lang="en-US" sz="4400" dirty="0" err="1" smtClean="0">
                <a:solidFill>
                  <a:srgbClr val="FF0000"/>
                </a:solidFill>
                <a:latin typeface="Times New Roman" pitchFamily="18" charset="0"/>
                <a:cs typeface="Times New Roman" pitchFamily="18" charset="0"/>
              </a:rPr>
              <a:t>timeboxing</a:t>
            </a:r>
            <a:r>
              <a:rPr lang="en-US" sz="4400" dirty="0" smtClean="0">
                <a:solidFill>
                  <a:srgbClr val="FF0000"/>
                </a:solidFill>
                <a:latin typeface="Times New Roman" pitchFamily="18" charset="0"/>
                <a:cs typeface="Times New Roman" pitchFamily="18" charset="0"/>
              </a:rPr>
              <a:t> by nesting shorter </a:t>
            </a:r>
            <a:r>
              <a:rPr lang="en-US" sz="4400" dirty="0" err="1" smtClean="0">
                <a:solidFill>
                  <a:srgbClr val="FF0000"/>
                </a:solidFill>
                <a:latin typeface="Times New Roman" pitchFamily="18" charset="0"/>
                <a:cs typeface="Times New Roman" pitchFamily="18" charset="0"/>
              </a:rPr>
              <a:t>timeboxes</a:t>
            </a:r>
            <a:r>
              <a:rPr lang="en-US" sz="4400" dirty="0" smtClean="0">
                <a:solidFill>
                  <a:srgbClr val="FF0000"/>
                </a:solidFill>
                <a:latin typeface="Times New Roman" pitchFamily="18" charset="0"/>
                <a:cs typeface="Times New Roman" pitchFamily="18" charset="0"/>
              </a:rPr>
              <a:t> of 2–6 weeks within the overall time frame.</a:t>
            </a:r>
          </a:p>
          <a:p>
            <a:pPr>
              <a:buNone/>
            </a:pPr>
            <a:endParaRPr lang="en-IN" sz="3600" dirty="0" smtClean="0">
              <a:solidFill>
                <a:srgbClr val="FF0000"/>
              </a:solidFill>
              <a:latin typeface="Times New Roman" pitchFamily="18" charset="0"/>
              <a:cs typeface="Times New Roman" pitchFamily="18" charset="0"/>
            </a:endParaRPr>
          </a:p>
          <a:p>
            <a:pPr>
              <a:buNone/>
            </a:pPr>
            <a:r>
              <a:rPr lang="en-US" sz="4200" dirty="0" smtClean="0">
                <a:latin typeface="Times New Roman" pitchFamily="18" charset="0"/>
                <a:cs typeface="Times New Roman" pitchFamily="18" charset="0"/>
              </a:rPr>
              <a:t>Each time box will typically pass through three phases.</a:t>
            </a:r>
            <a:endParaRPr lang="en-IN" sz="4200" dirty="0" smtClean="0">
              <a:latin typeface="Times New Roman" pitchFamily="18" charset="0"/>
              <a:cs typeface="Times New Roman" pitchFamily="18" charset="0"/>
            </a:endParaRPr>
          </a:p>
          <a:p>
            <a:r>
              <a:rPr lang="en-US" sz="4200" b="1" dirty="0" smtClean="0">
                <a:solidFill>
                  <a:srgbClr val="FF0000"/>
                </a:solidFill>
                <a:latin typeface="Times New Roman" pitchFamily="18" charset="0"/>
                <a:cs typeface="Times New Roman" pitchFamily="18" charset="0"/>
              </a:rPr>
              <a:t>Investigation </a:t>
            </a:r>
            <a:r>
              <a:rPr lang="en-US" sz="4200" dirty="0" smtClean="0">
                <a:latin typeface="Times New Roman" pitchFamily="18" charset="0"/>
                <a:cs typeface="Times New Roman" pitchFamily="18" charset="0"/>
              </a:rPr>
              <a:t>– a quick pass to see whether the team is taking the right direction.</a:t>
            </a:r>
            <a:r>
              <a:rPr lang="en-IN" sz="4200" dirty="0" smtClean="0">
                <a:latin typeface="Times New Roman" pitchFamily="18" charset="0"/>
                <a:cs typeface="Times New Roman" pitchFamily="18" charset="0"/>
              </a:rPr>
              <a:t> </a:t>
            </a:r>
          </a:p>
          <a:p>
            <a:r>
              <a:rPr lang="en-US" sz="4200" b="1" dirty="0" smtClean="0">
                <a:solidFill>
                  <a:srgbClr val="FF0000"/>
                </a:solidFill>
                <a:latin typeface="Times New Roman" pitchFamily="18" charset="0"/>
                <a:cs typeface="Times New Roman" pitchFamily="18" charset="0"/>
              </a:rPr>
              <a:t>Refinement </a:t>
            </a:r>
            <a:r>
              <a:rPr lang="en-US" sz="4200" dirty="0" smtClean="0">
                <a:latin typeface="Times New Roman" pitchFamily="18" charset="0"/>
                <a:cs typeface="Times New Roman" pitchFamily="18" charset="0"/>
              </a:rPr>
              <a:t>– to build on the comments resulting from the review at the end of investigation.</a:t>
            </a:r>
            <a:r>
              <a:rPr lang="en-IN" sz="4200" dirty="0" smtClean="0">
                <a:latin typeface="Times New Roman" pitchFamily="18" charset="0"/>
                <a:cs typeface="Times New Roman" pitchFamily="18" charset="0"/>
              </a:rPr>
              <a:t> </a:t>
            </a:r>
          </a:p>
          <a:p>
            <a:r>
              <a:rPr lang="en-US" sz="4200" b="1" dirty="0" smtClean="0">
                <a:solidFill>
                  <a:srgbClr val="FF0000"/>
                </a:solidFill>
                <a:latin typeface="Times New Roman" pitchFamily="18" charset="0"/>
                <a:cs typeface="Times New Roman" pitchFamily="18" charset="0"/>
              </a:rPr>
              <a:t>Consolidation</a:t>
            </a:r>
            <a:r>
              <a:rPr lang="en-US" sz="4200" dirty="0" smtClean="0">
                <a:latin typeface="Times New Roman" pitchFamily="18" charset="0"/>
                <a:cs typeface="Times New Roman" pitchFamily="18" charset="0"/>
              </a:rPr>
              <a:t> – the final part of the </a:t>
            </a:r>
            <a:r>
              <a:rPr lang="en-US" sz="4200" dirty="0" err="1" smtClean="0">
                <a:latin typeface="Times New Roman" pitchFamily="18" charset="0"/>
                <a:cs typeface="Times New Roman" pitchFamily="18" charset="0"/>
              </a:rPr>
              <a:t>timebox</a:t>
            </a:r>
            <a:r>
              <a:rPr lang="en-US" sz="4200" dirty="0" smtClean="0">
                <a:latin typeface="Times New Roman" pitchFamily="18" charset="0"/>
                <a:cs typeface="Times New Roman" pitchFamily="18" charset="0"/>
              </a:rPr>
              <a:t> to tie up any loose ends.</a:t>
            </a:r>
          </a:p>
          <a:p>
            <a:pPr>
              <a:buNone/>
            </a:pPr>
            <a:r>
              <a:rPr lang="en-US" sz="4200" dirty="0" smtClean="0">
                <a:latin typeface="Times New Roman" pitchFamily="18" charset="0"/>
                <a:cs typeface="Times New Roman" pitchFamily="18" charset="0"/>
              </a:rPr>
              <a:t>    </a:t>
            </a:r>
          </a:p>
          <a:p>
            <a:pPr>
              <a:buNone/>
            </a:pPr>
            <a:r>
              <a:rPr lang="en-US" sz="4200" dirty="0" smtClean="0">
                <a:latin typeface="Times New Roman" pitchFamily="18" charset="0"/>
                <a:cs typeface="Times New Roman" pitchFamily="18" charset="0"/>
              </a:rPr>
              <a:t>The </a:t>
            </a:r>
            <a:r>
              <a:rPr lang="en-US" sz="4200" dirty="0" err="1" smtClean="0">
                <a:solidFill>
                  <a:srgbClr val="FF0000"/>
                </a:solidFill>
                <a:latin typeface="Times New Roman" pitchFamily="18" charset="0"/>
                <a:cs typeface="Times New Roman" pitchFamily="18" charset="0"/>
              </a:rPr>
              <a:t>MoSCoW</a:t>
            </a:r>
            <a:r>
              <a:rPr lang="en-US" sz="4200" dirty="0" smtClean="0">
                <a:latin typeface="Times New Roman" pitchFamily="18" charset="0"/>
                <a:cs typeface="Times New Roman" pitchFamily="18" charset="0"/>
              </a:rPr>
              <a:t> rules provide the basis on which decisions are made over the entire project, and during any </a:t>
            </a:r>
            <a:r>
              <a:rPr lang="en-US" sz="4200" dirty="0" err="1" smtClean="0">
                <a:latin typeface="Times New Roman" pitchFamily="18" charset="0"/>
                <a:cs typeface="Times New Roman" pitchFamily="18" charset="0"/>
              </a:rPr>
              <a:t>timebox</a:t>
            </a:r>
            <a:r>
              <a:rPr lang="en-US" sz="4200" dirty="0" smtClean="0">
                <a:latin typeface="Times New Roman" pitchFamily="18" charset="0"/>
                <a:cs typeface="Times New Roman" pitchFamily="18" charset="0"/>
              </a:rPr>
              <a:t>. As </a:t>
            </a:r>
            <a:r>
              <a:rPr lang="en-US" sz="4200" dirty="0" err="1" smtClean="0">
                <a:latin typeface="Times New Roman" pitchFamily="18" charset="0"/>
                <a:cs typeface="Times New Roman" pitchFamily="18" charset="0"/>
              </a:rPr>
              <a:t>timeboxes</a:t>
            </a:r>
            <a:r>
              <a:rPr lang="en-US" sz="4200" dirty="0" smtClean="0">
                <a:latin typeface="Times New Roman" pitchFamily="18" charset="0"/>
                <a:cs typeface="Times New Roman" pitchFamily="18" charset="0"/>
              </a:rPr>
              <a:t> are fixed, the deliverables from the </a:t>
            </a:r>
            <a:r>
              <a:rPr lang="en-US" sz="4200" dirty="0" err="1" smtClean="0">
                <a:latin typeface="Times New Roman" pitchFamily="18" charset="0"/>
                <a:cs typeface="Times New Roman" pitchFamily="18" charset="0"/>
              </a:rPr>
              <a:t>timebox</a:t>
            </a:r>
            <a:r>
              <a:rPr lang="en-US" sz="4200" dirty="0" smtClean="0">
                <a:latin typeface="Times New Roman" pitchFamily="18" charset="0"/>
                <a:cs typeface="Times New Roman" pitchFamily="18" charset="0"/>
              </a:rPr>
              <a:t> may vary according to the amount of time left. Essential work must be done – less critical work can be omitted. So, the </a:t>
            </a:r>
            <a:r>
              <a:rPr lang="en-US" sz="4200" dirty="0" err="1" smtClean="0">
                <a:latin typeface="Times New Roman" pitchFamily="18" charset="0"/>
                <a:cs typeface="Times New Roman" pitchFamily="18" charset="0"/>
              </a:rPr>
              <a:t>MoSCoW</a:t>
            </a:r>
            <a:r>
              <a:rPr lang="en-US" sz="4200" dirty="0" smtClean="0">
                <a:latin typeface="Times New Roman" pitchFamily="18" charset="0"/>
                <a:cs typeface="Times New Roman" pitchFamily="18" charset="0"/>
              </a:rPr>
              <a:t> rules are applied. </a:t>
            </a:r>
          </a:p>
          <a:p>
            <a:pPr>
              <a:buNone/>
            </a:pPr>
            <a:endParaRPr lang="en-US" sz="4200" dirty="0" smtClean="0">
              <a:latin typeface="Times New Roman" pitchFamily="18" charset="0"/>
              <a:cs typeface="Times New Roman" pitchFamily="18" charset="0"/>
            </a:endParaRPr>
          </a:p>
          <a:p>
            <a:pPr>
              <a:buNone/>
            </a:pPr>
            <a:endParaRPr lang="en-US" sz="4200" dirty="0" smtClean="0">
              <a:latin typeface="Times New Roman" pitchFamily="18" charset="0"/>
              <a:cs typeface="Times New Roman" pitchFamily="18" charset="0"/>
            </a:endParaRPr>
          </a:p>
          <a:p>
            <a:pPr>
              <a:buNone/>
            </a:pPr>
            <a:r>
              <a:rPr lang="en-US" sz="4200" b="1" dirty="0" err="1" smtClean="0">
                <a:solidFill>
                  <a:srgbClr val="FF0000"/>
                </a:solidFill>
                <a:latin typeface="Times New Roman" pitchFamily="18" charset="0"/>
                <a:cs typeface="Times New Roman" pitchFamily="18" charset="0"/>
              </a:rPr>
              <a:t>MoSCoW</a:t>
            </a:r>
            <a:r>
              <a:rPr lang="en-US" sz="4200" b="1" dirty="0" smtClean="0">
                <a:solidFill>
                  <a:srgbClr val="FF0000"/>
                </a:solidFill>
                <a:latin typeface="Times New Roman" pitchFamily="18" charset="0"/>
                <a:cs typeface="Times New Roman" pitchFamily="18" charset="0"/>
              </a:rPr>
              <a:t> stands for:</a:t>
            </a:r>
            <a:endParaRPr lang="en-IN" sz="4200" b="1" dirty="0" smtClean="0">
              <a:solidFill>
                <a:srgbClr val="FF0000"/>
              </a:solidFill>
              <a:latin typeface="Times New Roman" pitchFamily="18" charset="0"/>
              <a:cs typeface="Times New Roman" pitchFamily="18" charset="0"/>
            </a:endParaRPr>
          </a:p>
          <a:p>
            <a:r>
              <a:rPr lang="en-US" sz="4200" b="1" dirty="0" smtClean="0">
                <a:solidFill>
                  <a:srgbClr val="FF0000"/>
                </a:solidFill>
                <a:latin typeface="Times New Roman" pitchFamily="18" charset="0"/>
                <a:cs typeface="Times New Roman" pitchFamily="18" charset="0"/>
              </a:rPr>
              <a:t>M</a:t>
            </a:r>
            <a:r>
              <a:rPr lang="en-US" sz="4200" dirty="0" smtClean="0">
                <a:solidFill>
                  <a:srgbClr val="FF0000"/>
                </a:solidFill>
                <a:latin typeface="Times New Roman" pitchFamily="18" charset="0"/>
                <a:cs typeface="Times New Roman" pitchFamily="18" charset="0"/>
              </a:rPr>
              <a:t>ust</a:t>
            </a:r>
            <a:r>
              <a:rPr lang="en-US" sz="4200" dirty="0" smtClean="0">
                <a:latin typeface="Times New Roman" pitchFamily="18" charset="0"/>
                <a:cs typeface="Times New Roman" pitchFamily="18" charset="0"/>
              </a:rPr>
              <a:t> haves: fundamental to the projects success “</a:t>
            </a:r>
            <a:r>
              <a:rPr lang="en-US" sz="4200" b="1" dirty="0" smtClean="0">
                <a:latin typeface="Times New Roman" pitchFamily="18" charset="0"/>
                <a:cs typeface="Times New Roman" pitchFamily="18" charset="0"/>
              </a:rPr>
              <a:t>o</a:t>
            </a:r>
            <a:r>
              <a:rPr lang="en-US" sz="4200" dirty="0" smtClean="0">
                <a:latin typeface="Times New Roman" pitchFamily="18" charset="0"/>
                <a:cs typeface="Times New Roman" pitchFamily="18" charset="0"/>
              </a:rPr>
              <a:t>n time”</a:t>
            </a:r>
            <a:endParaRPr lang="en-IN" sz="4200" dirty="0" smtClean="0">
              <a:latin typeface="Times New Roman" pitchFamily="18" charset="0"/>
              <a:cs typeface="Times New Roman" pitchFamily="18" charset="0"/>
            </a:endParaRPr>
          </a:p>
          <a:p>
            <a:r>
              <a:rPr lang="en-US" sz="4200" b="1" dirty="0" smtClean="0">
                <a:solidFill>
                  <a:srgbClr val="FF0000"/>
                </a:solidFill>
                <a:latin typeface="Times New Roman" pitchFamily="18" charset="0"/>
                <a:cs typeface="Times New Roman" pitchFamily="18" charset="0"/>
              </a:rPr>
              <a:t>S</a:t>
            </a:r>
            <a:r>
              <a:rPr lang="en-US" sz="4200" dirty="0" smtClean="0">
                <a:solidFill>
                  <a:srgbClr val="FF0000"/>
                </a:solidFill>
                <a:latin typeface="Times New Roman" pitchFamily="18" charset="0"/>
                <a:cs typeface="Times New Roman" pitchFamily="18" charset="0"/>
              </a:rPr>
              <a:t>hould</a:t>
            </a:r>
            <a:r>
              <a:rPr lang="en-US" sz="4200" dirty="0" smtClean="0">
                <a:latin typeface="Times New Roman" pitchFamily="18" charset="0"/>
                <a:cs typeface="Times New Roman" pitchFamily="18" charset="0"/>
              </a:rPr>
              <a:t> haves: important but the projects success does not rely on these </a:t>
            </a:r>
            <a:r>
              <a:rPr lang="en-US" sz="4200" b="1" dirty="0" smtClean="0">
                <a:latin typeface="Times New Roman" pitchFamily="18" charset="0"/>
                <a:cs typeface="Times New Roman" pitchFamily="18" charset="0"/>
              </a:rPr>
              <a:t>C</a:t>
            </a:r>
            <a:r>
              <a:rPr lang="en-US" sz="4200" dirty="0" smtClean="0">
                <a:latin typeface="Times New Roman" pitchFamily="18" charset="0"/>
                <a:cs typeface="Times New Roman" pitchFamily="18" charset="0"/>
              </a:rPr>
              <a:t>ould haves: can easily be left out without impacting on the project “</a:t>
            </a:r>
            <a:r>
              <a:rPr lang="en-US" sz="4200" b="1" dirty="0" smtClean="0">
                <a:latin typeface="Times New Roman" pitchFamily="18" charset="0"/>
                <a:cs typeface="Times New Roman" pitchFamily="18" charset="0"/>
              </a:rPr>
              <a:t>o</a:t>
            </a:r>
            <a:r>
              <a:rPr lang="en-US" sz="4200" dirty="0" smtClean="0">
                <a:latin typeface="Times New Roman" pitchFamily="18" charset="0"/>
                <a:cs typeface="Times New Roman" pitchFamily="18" charset="0"/>
              </a:rPr>
              <a:t>n budget”</a:t>
            </a:r>
            <a:endParaRPr lang="en-IN" sz="4200" dirty="0" smtClean="0">
              <a:latin typeface="Times New Roman" pitchFamily="18" charset="0"/>
              <a:cs typeface="Times New Roman" pitchFamily="18" charset="0"/>
            </a:endParaRPr>
          </a:p>
          <a:p>
            <a:r>
              <a:rPr lang="en-US" sz="4200" b="1" dirty="0" smtClean="0">
                <a:solidFill>
                  <a:srgbClr val="FF0000"/>
                </a:solidFill>
                <a:latin typeface="Times New Roman" pitchFamily="18" charset="0"/>
                <a:cs typeface="Times New Roman" pitchFamily="18" charset="0"/>
              </a:rPr>
              <a:t>W</a:t>
            </a:r>
            <a:r>
              <a:rPr lang="en-US" sz="4200" dirty="0" smtClean="0">
                <a:solidFill>
                  <a:srgbClr val="FF0000"/>
                </a:solidFill>
                <a:latin typeface="Times New Roman" pitchFamily="18" charset="0"/>
                <a:cs typeface="Times New Roman" pitchFamily="18" charset="0"/>
              </a:rPr>
              <a:t>on’t</a:t>
            </a:r>
            <a:r>
              <a:rPr lang="en-US" sz="4200" dirty="0" smtClean="0">
                <a:latin typeface="Times New Roman" pitchFamily="18" charset="0"/>
                <a:cs typeface="Times New Roman" pitchFamily="18" charset="0"/>
              </a:rPr>
              <a:t> have this time round: can be left out this time and done at a later date.</a:t>
            </a:r>
            <a:endParaRPr lang="en-IN" sz="4200"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lvl="1" algn="ctr" rtl="0">
              <a:spcBef>
                <a:spcPct val="0"/>
              </a:spcBef>
            </a:pPr>
            <a:r>
              <a:rPr lang="en-US" sz="3100" b="1" dirty="0">
                <a:solidFill>
                  <a:srgbClr val="FF0000"/>
                </a:solidFill>
                <a:latin typeface="Times New Roman" pitchFamily="18" charset="0"/>
                <a:cs typeface="Times New Roman" pitchFamily="18" charset="0"/>
              </a:rPr>
              <a:t>SCRUM</a:t>
            </a:r>
            <a:r>
              <a:rPr lang="en-IN" b="1" dirty="0"/>
              <a:t/>
            </a:r>
            <a:br>
              <a:rPr lang="en-IN" b="1" dirty="0"/>
            </a:br>
            <a:endParaRPr lang="en-IN" dirty="0"/>
          </a:p>
        </p:txBody>
      </p:sp>
      <p:sp>
        <p:nvSpPr>
          <p:cNvPr id="3" name="Content Placeholder 2"/>
          <p:cNvSpPr>
            <a:spLocks noGrp="1"/>
          </p:cNvSpPr>
          <p:nvPr>
            <p:ph idx="1"/>
          </p:nvPr>
        </p:nvSpPr>
        <p:spPr>
          <a:xfrm>
            <a:off x="457200" y="685800"/>
            <a:ext cx="8458200" cy="5440363"/>
          </a:xfrm>
        </p:spPr>
        <p:txBody>
          <a:bodyPr>
            <a:normAutofit/>
          </a:bodyPr>
          <a:lstStyle/>
          <a:p>
            <a:r>
              <a:rPr lang="en-US" sz="1600" dirty="0" smtClean="0">
                <a:latin typeface="Times New Roman" pitchFamily="18" charset="0"/>
                <a:cs typeface="Times New Roman" pitchFamily="18" charset="0"/>
              </a:rPr>
              <a:t>SCRUM is a set of rules, procedures, and practices that are all inter- related and that work together to improve the development environment, reduce organizational overheads and ensure that iterative deliverables match the end users requirements.</a:t>
            </a:r>
            <a:endParaRPr lang="en-IN" sz="16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cstate="print"/>
          <a:srcRect/>
          <a:stretch>
            <a:fillRect/>
          </a:stretch>
        </p:blipFill>
        <p:spPr bwMode="auto">
          <a:xfrm>
            <a:off x="152400" y="1600200"/>
            <a:ext cx="8839200" cy="49530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763000" cy="6705600"/>
          </a:xfrm>
        </p:spPr>
        <p:txBody>
          <a:bodyPr>
            <a:noAutofit/>
          </a:bodyPr>
          <a:lstStyle/>
          <a:p>
            <a:pPr>
              <a:buNone/>
            </a:pPr>
            <a:r>
              <a:rPr lang="en-US" sz="2400" dirty="0" smtClean="0">
                <a:latin typeface="Times New Roman" pitchFamily="18" charset="0"/>
                <a:cs typeface="Times New Roman" pitchFamily="18" charset="0"/>
              </a:rPr>
              <a:t>   One of the interesting aspects of SCRUM is that actually it aims to help with the production of a “product” of which software is just one example. The benefits put forward by the proponents of SCRUM are:</a:t>
            </a:r>
            <a:endParaRPr lang="en-IN"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The management and control of development work in an agile manner.</a:t>
            </a:r>
            <a:endParaRPr lang="en-IN"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It explicitly acknowledges that requirements may be changing rapidly within its iterative and incremental approach to product development.</a:t>
            </a:r>
            <a:endParaRPr lang="en-IN"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It is possible to still use existing engineering practices within SCRUM (which may help facilitate the introduction of agile methods into an organization).</a:t>
            </a:r>
            <a:endParaRPr lang="en-IN"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It is an inherently team-based approach and helps to improve communications and co-operation.</a:t>
            </a:r>
            <a:endParaRPr lang="en-IN"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It scales from small projects up to very large projects.</a:t>
            </a:r>
            <a:endParaRPr lang="en-IN"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It helps to identify and then remove any obstacle to the smooth development of the end product</a:t>
            </a:r>
            <a:endParaRPr lang="en-IN" sz="2400"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r>
              <a:rPr lang="en-US" sz="2400" dirty="0" smtClean="0">
                <a:latin typeface="Times New Roman" pitchFamily="18" charset="0"/>
                <a:cs typeface="Times New Roman" pitchFamily="18" charset="0"/>
              </a:rPr>
              <a:t>SCRUM is based on current process control theories and specifically aims to produce the best end result, given the current resources and time available.</a:t>
            </a:r>
          </a:p>
          <a:p>
            <a:pPr>
              <a:buNone/>
            </a:pPr>
            <a:r>
              <a:rPr lang="en-US" sz="2400" dirty="0" smtClean="0">
                <a:latin typeface="Times New Roman" pitchFamily="18" charset="0"/>
                <a:cs typeface="Times New Roman" pitchFamily="18" charset="0"/>
              </a:rPr>
              <a:t>     as well as having an iterative cycle of only 30 days between iterative deliveries, it also employees daily reviews. These reviews should be short (of, for example, 15-min duration), and should force team members to address the basics of the process, namely they should consider:</a:t>
            </a:r>
            <a:endParaRPr lang="en-IN"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What has been done by team members since the last meeting.</a:t>
            </a:r>
            <a:endParaRPr lang="en-IN"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Is there anything causing a problem? Are there any obstacles to completing their tasks?</a:t>
            </a:r>
            <a:endParaRPr lang="en-IN"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What will each team member do before the next meeting?</a:t>
            </a:r>
            <a:endParaRPr lang="en-IN" sz="2400" dirty="0" smtClean="0">
              <a:latin typeface="Times New Roman" pitchFamily="18" charset="0"/>
              <a:cs typeface="Times New Roman" pitchFamily="18" charset="0"/>
            </a:endParaRPr>
          </a:p>
          <a:p>
            <a:endParaRPr lang="en-I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2800" b="1" dirty="0">
                <a:solidFill>
                  <a:srgbClr val="FF0000"/>
                </a:solidFill>
                <a:latin typeface="Times New Roman" pitchFamily="18" charset="0"/>
                <a:cs typeface="Times New Roman" pitchFamily="18" charset="0"/>
              </a:rPr>
              <a:t>Feature-Driven Development</a:t>
            </a:r>
            <a:r>
              <a:rPr lang="en-IN" b="1" dirty="0"/>
              <a:t/>
            </a:r>
            <a:br>
              <a:rPr lang="en-IN" b="1" dirty="0"/>
            </a:br>
            <a:endParaRPr lang="en-IN" dirty="0"/>
          </a:p>
        </p:txBody>
      </p:sp>
      <p:sp>
        <p:nvSpPr>
          <p:cNvPr id="3" name="Content Placeholder 2"/>
          <p:cNvSpPr>
            <a:spLocks noGrp="1"/>
          </p:cNvSpPr>
          <p:nvPr>
            <p:ph idx="1"/>
          </p:nvPr>
        </p:nvSpPr>
        <p:spPr>
          <a:xfrm>
            <a:off x="457200" y="990600"/>
            <a:ext cx="8229600" cy="5135563"/>
          </a:xfrm>
        </p:spPr>
        <p:txBody>
          <a:bodyPr>
            <a:normAutofit fontScale="62500" lnSpcReduction="20000"/>
          </a:bodyPr>
          <a:lstStyle/>
          <a:p>
            <a:r>
              <a:rPr lang="en-US" dirty="0" smtClean="0">
                <a:latin typeface="Times New Roman" pitchFamily="18" charset="0"/>
                <a:cs typeface="Times New Roman" pitchFamily="18" charset="0"/>
              </a:rPr>
              <a:t>A </a:t>
            </a:r>
            <a:r>
              <a:rPr lang="en-US" i="1" dirty="0" smtClean="0">
                <a:latin typeface="Times New Roman" pitchFamily="18" charset="0"/>
                <a:cs typeface="Times New Roman" pitchFamily="18" charset="0"/>
              </a:rPr>
              <a:t>feature </a:t>
            </a:r>
            <a:r>
              <a:rPr lang="en-US" dirty="0" smtClean="0">
                <a:latin typeface="Times New Roman" pitchFamily="18" charset="0"/>
                <a:cs typeface="Times New Roman" pitchFamily="18" charset="0"/>
              </a:rPr>
              <a:t>is a schedulable requirement associated with the activity used to realize it. These requirements may be user related requirements (i.e., be able to open a bank account), application behavior requirements (make a backup every 10 min) or internal requirements (provide the ability to turn on debugging for system support). Each feature has a priority and a cost associated with it (for example, an estimate of the amount of person effort required to design, implement and test that feature). Thus, a feature mixes units of requirements with units of management. In addition, features should have the following attributes:</a:t>
            </a:r>
          </a:p>
          <a:p>
            <a:pPr>
              <a:buNone/>
            </a:pP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Features should be small and “useful in the eyes of system stakeholders.”</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Features can be grouped into business-related groupings (called variously</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feature sets or work packages).</a:t>
            </a:r>
            <a:r>
              <a:rPr lang="en-IN"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Features focus developers on producing elements within the system that are of tangible benefits to system stakeholders.</a:t>
            </a:r>
            <a:r>
              <a:rPr lang="en-IN"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Features are prioritized. Features are schedulable.</a:t>
            </a:r>
            <a:r>
              <a:rPr lang="en-IN"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Features   have   an   associated   (estimated)   cost. </a:t>
            </a:r>
            <a:r>
              <a:rPr lang="en-US" dirty="0" err="1" smtClean="0">
                <a:latin typeface="Times New Roman" pitchFamily="18" charset="0"/>
                <a:cs typeface="Times New Roman" pitchFamily="18" charset="0"/>
              </a:rPr>
              <a:t>Canbe</a:t>
            </a:r>
            <a:r>
              <a:rPr lang="en-US" dirty="0" smtClean="0">
                <a:latin typeface="Times New Roman" pitchFamily="18" charset="0"/>
                <a:cs typeface="Times New Roman" pitchFamily="18" charset="0"/>
              </a:rPr>
              <a:t> grouped together into short iterations (possibly as short as two weeks).</a:t>
            </a:r>
            <a:r>
              <a:rPr lang="en-IN" dirty="0" smtClean="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70000" lnSpcReduction="20000"/>
          </a:bodyPr>
          <a:lstStyle/>
          <a:p>
            <a:pPr>
              <a:buNone/>
            </a:pPr>
            <a:r>
              <a:rPr lang="en-US" dirty="0" smtClean="0">
                <a:solidFill>
                  <a:srgbClr val="FF0000"/>
                </a:solidFill>
                <a:latin typeface="Times New Roman" pitchFamily="18" charset="0"/>
                <a:cs typeface="Times New Roman" pitchFamily="18" charset="0"/>
              </a:rPr>
              <a:t>why to consider feature-centric design. The reason for considering yet another method is that iterative lifecycles (such as those promoted by agile methods) tend to be more complex than linear one. They tend to:</a:t>
            </a:r>
            <a:endParaRPr lang="en-IN" dirty="0" smtClean="0">
              <a:solidFill>
                <a:srgbClr val="FF0000"/>
              </a:solidFill>
              <a:latin typeface="Times New Roman" pitchFamily="18" charset="0"/>
              <a:cs typeface="Times New Roman" pitchFamily="18" charset="0"/>
            </a:endParaRPr>
          </a:p>
          <a:p>
            <a:r>
              <a:rPr lang="en-US" dirty="0" smtClean="0">
                <a:latin typeface="Times New Roman" pitchFamily="18" charset="0"/>
                <a:cs typeface="Times New Roman" pitchFamily="18" charset="0"/>
              </a:rPr>
              <a:t>require more planning and re-planning,</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more assessment of where the project has got to go,</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more judgment of what should happen now,</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more monitoring of progress,</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be able to respond more quickly to the current situation (which potentially</a:t>
            </a:r>
            <a:r>
              <a:rPr lang="en-IN"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leads to more planning, etc.).</a:t>
            </a:r>
            <a:endParaRPr lang="en-IN"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r>
              <a:rPr lang="en-US" dirty="0" smtClean="0">
                <a:solidFill>
                  <a:srgbClr val="FF0000"/>
                </a:solidFill>
                <a:latin typeface="Times New Roman" pitchFamily="18" charset="0"/>
                <a:cs typeface="Times New Roman" pitchFamily="18" charset="0"/>
              </a:rPr>
              <a:t>This involves asking some of the following questions as iterations progress:</a:t>
            </a:r>
            <a:endParaRPr lang="en-IN" dirty="0" smtClean="0">
              <a:solidFill>
                <a:srgbClr val="FF0000"/>
              </a:solidFill>
              <a:latin typeface="Times New Roman" pitchFamily="18" charset="0"/>
              <a:cs typeface="Times New Roman" pitchFamily="18" charset="0"/>
            </a:endParaRPr>
          </a:p>
          <a:p>
            <a:r>
              <a:rPr lang="en-US" dirty="0" smtClean="0">
                <a:latin typeface="Times New Roman" pitchFamily="18" charset="0"/>
                <a:cs typeface="Times New Roman" pitchFamily="18" charset="0"/>
              </a:rPr>
              <a:t>How are we progressing relative to the overall goal of the system?</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What are the priorities now and how have they changed?</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What issues and risks does the project now face?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How can the issues and risks be addressed or mitigated?</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US" sz="2000" dirty="0" smtClean="0">
                <a:solidFill>
                  <a:srgbClr val="FF0000"/>
                </a:solidFill>
                <a:latin typeface="Times New Roman" pitchFamily="18" charset="0"/>
                <a:cs typeface="Times New Roman" pitchFamily="18" charset="0"/>
              </a:rPr>
              <a:t>Feature-centric management of agile projects offers this element of control. In FDD, </a:t>
            </a:r>
            <a:r>
              <a:rPr lang="en-US" sz="2000" dirty="0" err="1" smtClean="0">
                <a:solidFill>
                  <a:srgbClr val="FF0000"/>
                </a:solidFill>
                <a:latin typeface="Times New Roman" pitchFamily="18" charset="0"/>
                <a:cs typeface="Times New Roman" pitchFamily="18" charset="0"/>
              </a:rPr>
              <a:t>Coad</a:t>
            </a:r>
            <a:r>
              <a:rPr lang="en-US" sz="2000" dirty="0" smtClean="0">
                <a:solidFill>
                  <a:srgbClr val="FF0000"/>
                </a:solidFill>
                <a:latin typeface="Times New Roman" pitchFamily="18" charset="0"/>
                <a:cs typeface="Times New Roman" pitchFamily="18" charset="0"/>
              </a:rPr>
              <a:t> (1999) and Palmer and </a:t>
            </a:r>
            <a:r>
              <a:rPr lang="en-US" sz="2000" dirty="0" err="1" smtClean="0">
                <a:solidFill>
                  <a:srgbClr val="FF0000"/>
                </a:solidFill>
                <a:latin typeface="Times New Roman" pitchFamily="18" charset="0"/>
                <a:cs typeface="Times New Roman" pitchFamily="18" charset="0"/>
              </a:rPr>
              <a:t>Felsing</a:t>
            </a:r>
            <a:r>
              <a:rPr lang="en-US" sz="2000" dirty="0" smtClean="0">
                <a:solidFill>
                  <a:srgbClr val="FF0000"/>
                </a:solidFill>
                <a:latin typeface="Times New Roman" pitchFamily="18" charset="0"/>
                <a:cs typeface="Times New Roman" pitchFamily="18" charset="0"/>
              </a:rPr>
              <a:t> (2002) present a five-step process that outlines how a feature-centric approach works, these five processes are:</a:t>
            </a:r>
            <a:endParaRPr lang="en-IN" sz="2000" dirty="0" smtClean="0">
              <a:solidFill>
                <a:srgbClr val="FF0000"/>
              </a:solidFill>
              <a:latin typeface="Times New Roman" pitchFamily="18" charset="0"/>
              <a:cs typeface="Times New Roman" pitchFamily="18" charset="0"/>
            </a:endParaRPr>
          </a:p>
          <a:p>
            <a:r>
              <a:rPr lang="en-US" sz="2000" dirty="0" smtClean="0">
                <a:latin typeface="Times New Roman" pitchFamily="18" charset="0"/>
                <a:cs typeface="Times New Roman" pitchFamily="18" charset="0"/>
              </a:rPr>
              <a:t>Process 1: Develop an overall model of the domain and create an initial feature list.</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Process 2: Build a detailed, prioritized feature list. Process 3: Plan by feature.</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Process 4: Design by feature. Process 5: Build by feature.</a:t>
            </a:r>
          </a:p>
          <a:p>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We can elaborate on that by considering an iterative feature based lifecycle. This is presented in Figure 2.4.In the diagram next slide, the flow illustrates the following steps:</a:t>
            </a:r>
            <a:endParaRPr lang="en-IN" sz="2000" dirty="0" smtClean="0">
              <a:latin typeface="Times New Roman" pitchFamily="18" charset="0"/>
              <a:cs typeface="Times New Roman" pitchFamily="18" charset="0"/>
            </a:endParaRPr>
          </a:p>
          <a:p>
            <a:pPr>
              <a:buNone/>
            </a:pPr>
            <a:endParaRPr lang="en-IN" sz="2000" dirty="0" smtClean="0">
              <a:latin typeface="Times New Roman" pitchFamily="18" charset="0"/>
              <a:cs typeface="Times New Roman" pitchFamily="18" charset="0"/>
            </a:endParaRPr>
          </a:p>
          <a:p>
            <a:pPr>
              <a:buNone/>
            </a:pPr>
            <a:endParaRPr lang="en-I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55000" lnSpcReduction="20000"/>
          </a:bodyPr>
          <a:lstStyle/>
          <a:p>
            <a:pPr lvl="0"/>
            <a:r>
              <a:rPr lang="en-US" dirty="0" smtClean="0">
                <a:solidFill>
                  <a:srgbClr val="FF0000"/>
                </a:solidFill>
                <a:latin typeface="Times New Roman" pitchFamily="18" charset="0"/>
                <a:cs typeface="Times New Roman" pitchFamily="18" charset="0"/>
              </a:rPr>
              <a:t>First identify a prioritized feature list</a:t>
            </a:r>
            <a:r>
              <a:rPr lang="en-US" dirty="0" smtClean="0">
                <a:latin typeface="Times New Roman" pitchFamily="18" charset="0"/>
                <a:cs typeface="Times New Roman" pitchFamily="18" charset="0"/>
              </a:rPr>
              <a:t>. This can be done by considering the systems’ requirements. These can be produced in whatever manner is appropriate. For example, through use cases, a formal requirements specification or user stories. What is required is that they are elaborated sufficiently to allow prioritization and an initial cost estimate to be associated with them.</a:t>
            </a:r>
            <a:endParaRPr lang="en-IN" dirty="0" smtClean="0">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This initial feature list is then used to create a plan of the iterations to be undertaken</a:t>
            </a:r>
            <a:r>
              <a:rPr lang="en-US" dirty="0" smtClean="0">
                <a:latin typeface="Times New Roman" pitchFamily="18" charset="0"/>
                <a:cs typeface="Times New Roman" pitchFamily="18" charset="0"/>
              </a:rPr>
              <a:t>. Each iteration should have one or more features associated with it and should not be too long. Each iteration should have a time box associated with it that specifies when it starts and when it finishes.</a:t>
            </a:r>
            <a:endParaRPr lang="en-IN" dirty="0" smtClean="0">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Before each iteration starts, the iteration should be planned in detail</a:t>
            </a:r>
            <a:r>
              <a:rPr lang="en-US" dirty="0" smtClean="0">
                <a:latin typeface="Times New Roman" pitchFamily="18" charset="0"/>
                <a:cs typeface="Times New Roman" pitchFamily="18" charset="0"/>
              </a:rPr>
              <a:t>. This involves determining which features are still relevant for that iteration, any revised priorities and an ordering to the features.</a:t>
            </a:r>
            <a:endParaRPr lang="en-IN" dirty="0" smtClean="0">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Once a iteration starts, each iteration is addressed in turn based on their priorities</a:t>
            </a:r>
            <a:r>
              <a:rPr lang="en-US" dirty="0" smtClean="0">
                <a:latin typeface="Times New Roman" pitchFamily="18" charset="0"/>
                <a:cs typeface="Times New Roman" pitchFamily="18" charset="0"/>
              </a:rPr>
              <a:t>. At any one time, one or more features will be worked on depending on the size of the feature and the resources available (note that no assumption is made here about how many people will be needed to implement a feature, there could be one developer per feature, two per feature or variable depending upon the step within the feature that is currently being addressed).</a:t>
            </a:r>
            <a:endParaRPr lang="en-IN" dirty="0" smtClean="0">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The iteration stops when the time box finishes</a:t>
            </a:r>
            <a:r>
              <a:rPr lang="en-US" dirty="0" smtClean="0">
                <a:latin typeface="Times New Roman" pitchFamily="18" charset="0"/>
                <a:cs typeface="Times New Roman" pitchFamily="18" charset="0"/>
              </a:rPr>
              <a:t>. At the end of the iteration, the current version of the software is tested to ensure it does what it should.</a:t>
            </a:r>
            <a:endParaRPr lang="en-IN" dirty="0" smtClean="0">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If this is the final iteration, then the final version of the system is delivered (if it is not the final iteration</a:t>
            </a:r>
            <a:r>
              <a:rPr lang="en-US" dirty="0" smtClean="0">
                <a:latin typeface="Times New Roman" pitchFamily="18" charset="0"/>
                <a:cs typeface="Times New Roman" pitchFamily="18" charset="0"/>
              </a:rPr>
              <a:t>, then the current system may still be delivered to end users for early and frequent feedback). This is possible as each feature should be useful in the eyes of the various project stakeholders in their own right.</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228600" y="152400"/>
            <a:ext cx="8534400" cy="647700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latin typeface="Times New Roman" pitchFamily="18" charset="0"/>
                <a:cs typeface="Times New Roman" pitchFamily="18" charset="0"/>
              </a:rPr>
              <a:t>Agile Modelling</a:t>
            </a:r>
            <a:r>
              <a:rPr lang="en-IN" b="1" dirty="0" smtClean="0"/>
              <a:t/>
            </a:r>
            <a:br>
              <a:rPr lang="en-IN" b="1" dirty="0" smtClean="0"/>
            </a:br>
            <a:endParaRPr lang="en-IN" dirty="0"/>
          </a:p>
        </p:txBody>
      </p:sp>
      <p:sp>
        <p:nvSpPr>
          <p:cNvPr id="3" name="Content Placeholder 2"/>
          <p:cNvSpPr>
            <a:spLocks noGrp="1"/>
          </p:cNvSpPr>
          <p:nvPr>
            <p:ph idx="1"/>
          </p:nvPr>
        </p:nvSpPr>
        <p:spPr>
          <a:xfrm>
            <a:off x="457200" y="990600"/>
            <a:ext cx="8229600" cy="5135563"/>
          </a:xfrm>
        </p:spPr>
        <p:txBody>
          <a:bodyPr/>
          <a:lstStyle/>
          <a:p>
            <a:pPr lvl="1"/>
            <a:r>
              <a:rPr lang="en-US" sz="2400" b="1" dirty="0" smtClean="0">
                <a:latin typeface="Times New Roman" pitchFamily="18" charset="0"/>
                <a:cs typeface="Times New Roman" pitchFamily="18" charset="0"/>
              </a:rPr>
              <a:t>Modelling Misconceptions</a:t>
            </a:r>
            <a:endParaRPr lang="en-IN" sz="2400" b="1"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Before discussing Agile Modelling, it is worth reconsidering some modelling myths and misconceptions that need to be clarified. These have a bearing on Agile Modelling as a modelling misconception can lead to a denial of the benefits that can be accrued from Agile Modeling.</a:t>
            </a:r>
            <a:endParaRPr lang="en-IN" sz="2400" dirty="0" smtClean="0">
              <a:latin typeface="Times New Roman" pitchFamily="18" charset="0"/>
              <a:cs typeface="Times New Roman" pitchFamily="18" charset="0"/>
            </a:endParaRPr>
          </a:p>
          <a:p>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705600"/>
          </a:xfrm>
        </p:spPr>
        <p:txBody>
          <a:bodyPr>
            <a:normAutofit/>
          </a:bodyPr>
          <a:lstStyle/>
          <a:p>
            <a:pPr lvl="0">
              <a:buNone/>
            </a:pPr>
            <a:r>
              <a:rPr lang="en-US" sz="2400" i="1" dirty="0" smtClean="0">
                <a:solidFill>
                  <a:srgbClr val="FF0000"/>
                </a:solidFill>
                <a:latin typeface="Times New Roman" pitchFamily="18" charset="0"/>
                <a:cs typeface="Times New Roman" pitchFamily="18" charset="0"/>
              </a:rPr>
              <a:t>1.Models equal documentation.</a:t>
            </a:r>
            <a:endParaRPr lang="en-IN" sz="2400" dirty="0" smtClean="0">
              <a:solidFill>
                <a:srgbClr val="FF0000"/>
              </a:solidFill>
              <a:latin typeface="Times New Roman" pitchFamily="18" charset="0"/>
              <a:cs typeface="Times New Roman" pitchFamily="18" charset="0"/>
            </a:endParaRPr>
          </a:p>
          <a:p>
            <a:pPr>
              <a:buNone/>
            </a:pPr>
            <a:r>
              <a:rPr lang="en-US" sz="1500" dirty="0" smtClean="0">
                <a:latin typeface="Times New Roman" pitchFamily="18" charset="0"/>
                <a:cs typeface="Times New Roman" pitchFamily="18" charset="0"/>
              </a:rPr>
              <a:t>       Nothing could be further from the truth! A model is </a:t>
            </a:r>
            <a:r>
              <a:rPr lang="en-US" sz="1500" i="1" dirty="0" smtClean="0">
                <a:latin typeface="Times New Roman" pitchFamily="18" charset="0"/>
                <a:cs typeface="Times New Roman" pitchFamily="18" charset="0"/>
              </a:rPr>
              <a:t>part </a:t>
            </a:r>
            <a:r>
              <a:rPr lang="en-US" sz="1500" dirty="0" smtClean="0">
                <a:latin typeface="Times New Roman" pitchFamily="18" charset="0"/>
                <a:cs typeface="Times New Roman" pitchFamily="18" charset="0"/>
              </a:rPr>
              <a:t>of the documentation, but it is by no means sufficient as documentation. That is, a (UML) model, as good as it may be, cannot adequately represent all the information needed to describe how the requirements (functional and nonfunctional), behavioral and structural of a software system are to be implemented. </a:t>
            </a:r>
          </a:p>
          <a:p>
            <a:pPr>
              <a:buNone/>
            </a:pPr>
            <a:r>
              <a:rPr lang="en-US" sz="1500" dirty="0" smtClean="0">
                <a:latin typeface="Times New Roman" pitchFamily="18" charset="0"/>
                <a:cs typeface="Times New Roman" pitchFamily="18" charset="0"/>
              </a:rPr>
              <a:t>        For example, Figure 3.1 illustrates part of a Rose model developed for a real-world system built on one of the projects I have worked on. This Rose model has links to word documents (such as Overview), screen designs (such as </a:t>
            </a:r>
            <a:r>
              <a:rPr lang="en-US" sz="1500" i="1" dirty="0" smtClean="0">
                <a:latin typeface="Times New Roman" pitchFamily="18" charset="0"/>
                <a:cs typeface="Times New Roman" pitchFamily="18" charset="0"/>
              </a:rPr>
              <a:t>APS-Frame- View</a:t>
            </a:r>
            <a:r>
              <a:rPr lang="en-US" sz="1500" dirty="0" smtClean="0">
                <a:latin typeface="Times New Roman" pitchFamily="18" charset="0"/>
                <a:cs typeface="Times New Roman" pitchFamily="18" charset="0"/>
              </a:rPr>
              <a:t>), design notes (</a:t>
            </a:r>
            <a:r>
              <a:rPr lang="en-US" sz="1500" i="1" dirty="0" smtClean="0">
                <a:latin typeface="Times New Roman" pitchFamily="18" charset="0"/>
                <a:cs typeface="Times New Roman" pitchFamily="18" charset="0"/>
              </a:rPr>
              <a:t>APS-MVC-Design</a:t>
            </a:r>
            <a:r>
              <a:rPr lang="en-US" sz="1500" dirty="0" smtClean="0">
                <a:latin typeface="Times New Roman" pitchFamily="18" charset="0"/>
                <a:cs typeface="Times New Roman" pitchFamily="18" charset="0"/>
              </a:rPr>
              <a:t>), classes (</a:t>
            </a:r>
            <a:r>
              <a:rPr lang="en-US" sz="1500" i="1" dirty="0" err="1" smtClean="0">
                <a:latin typeface="Times New Roman" pitchFamily="18" charset="0"/>
                <a:cs typeface="Times New Roman" pitchFamily="18" charset="0"/>
              </a:rPr>
              <a:t>APSFrameController</a:t>
            </a:r>
            <a:r>
              <a:rPr lang="en-US" sz="1500" dirty="0" smtClean="0">
                <a:latin typeface="Times New Roman" pitchFamily="18" charset="0"/>
                <a:cs typeface="Times New Roman" pitchFamily="18" charset="0"/>
              </a:rPr>
              <a:t>, </a:t>
            </a:r>
            <a:r>
              <a:rPr lang="en-US" sz="1500" i="1" dirty="0" smtClean="0">
                <a:latin typeface="Times New Roman" pitchFamily="18" charset="0"/>
                <a:cs typeface="Times New Roman" pitchFamily="18" charset="0"/>
              </a:rPr>
              <a:t>APS- </a:t>
            </a:r>
            <a:r>
              <a:rPr lang="en-US" sz="1500" i="1" dirty="0" err="1" smtClean="0">
                <a:latin typeface="Times New Roman" pitchFamily="18" charset="0"/>
                <a:cs typeface="Times New Roman" pitchFamily="18" charset="0"/>
              </a:rPr>
              <a:t>FrameModel</a:t>
            </a:r>
            <a:r>
              <a:rPr lang="en-US" sz="1500" dirty="0" smtClean="0">
                <a:latin typeface="Times New Roman" pitchFamily="18" charset="0"/>
                <a:cs typeface="Times New Roman" pitchFamily="18" charset="0"/>
              </a:rPr>
              <a:t>, </a:t>
            </a:r>
            <a:r>
              <a:rPr lang="en-US" sz="1500" i="1" dirty="0" err="1" smtClean="0">
                <a:latin typeface="Times New Roman" pitchFamily="18" charset="0"/>
                <a:cs typeface="Times New Roman" pitchFamily="18" charset="0"/>
              </a:rPr>
              <a:t>APSFrameView</a:t>
            </a:r>
            <a:r>
              <a:rPr lang="en-US" sz="1500" dirty="0" smtClean="0">
                <a:latin typeface="Times New Roman" pitchFamily="18" charset="0"/>
                <a:cs typeface="Times New Roman" pitchFamily="18" charset="0"/>
              </a:rPr>
              <a:t>), Sequence diagrams (View SQM Questions) as well as class diagrams, collaboration diagrams, </a:t>
            </a:r>
            <a:endParaRPr lang="en-IN" sz="1500" dirty="0" smtClean="0">
              <a:latin typeface="Times New Roman" pitchFamily="18" charset="0"/>
              <a:cs typeface="Times New Roman" pitchFamily="18" charset="0"/>
            </a:endParaRPr>
          </a:p>
          <a:p>
            <a:endParaRPr lang="en-IN" dirty="0"/>
          </a:p>
        </p:txBody>
      </p:sp>
      <p:pic>
        <p:nvPicPr>
          <p:cNvPr id="3074" name="Picture 2"/>
          <p:cNvPicPr>
            <a:picLocks noChangeAspect="1" noChangeArrowheads="1"/>
          </p:cNvPicPr>
          <p:nvPr/>
        </p:nvPicPr>
        <p:blipFill>
          <a:blip r:embed="rId2" cstate="print"/>
          <a:srcRect/>
          <a:stretch>
            <a:fillRect/>
          </a:stretch>
        </p:blipFill>
        <p:spPr bwMode="auto">
          <a:xfrm>
            <a:off x="304800" y="2819400"/>
            <a:ext cx="8839200" cy="3916894"/>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lnSpcReduction="10000"/>
          </a:bodyPr>
          <a:lstStyle/>
          <a:p>
            <a:pPr lvl="0">
              <a:buNone/>
            </a:pPr>
            <a:r>
              <a:rPr lang="en-US" sz="2400" i="1" dirty="0" smtClean="0">
                <a:solidFill>
                  <a:srgbClr val="FF0000"/>
                </a:solidFill>
                <a:latin typeface="Times New Roman" pitchFamily="18" charset="0"/>
                <a:cs typeface="Times New Roman" pitchFamily="18" charset="0"/>
              </a:rPr>
              <a:t>2.Modelling implies a heavyweight software process.</a:t>
            </a:r>
            <a:endParaRPr lang="en-IN" sz="2400" dirty="0" smtClean="0">
              <a:solidFill>
                <a:srgbClr val="FF0000"/>
              </a:solidFill>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Again this is not true. The fact that you are using some form of modelling to describe your system does not mean that you must be using a formal software development process. It may well be that placing the modelling task within the context of a development methodology may well help, but modelling does not equate to a software process.</a:t>
            </a:r>
          </a:p>
          <a:p>
            <a:pPr>
              <a:buNone/>
            </a:pPr>
            <a:endParaRPr lang="en-IN" sz="2400" dirty="0" smtClean="0">
              <a:solidFill>
                <a:srgbClr val="FF0000"/>
              </a:solidFill>
              <a:latin typeface="Times New Roman" pitchFamily="18" charset="0"/>
              <a:cs typeface="Times New Roman" pitchFamily="18" charset="0"/>
            </a:endParaRPr>
          </a:p>
          <a:p>
            <a:pPr lvl="0">
              <a:buNone/>
            </a:pPr>
            <a:r>
              <a:rPr lang="en-US" sz="2400" i="1" dirty="0" smtClean="0">
                <a:solidFill>
                  <a:srgbClr val="FF0000"/>
                </a:solidFill>
                <a:latin typeface="Times New Roman" pitchFamily="18" charset="0"/>
                <a:cs typeface="Times New Roman" pitchFamily="18" charset="0"/>
              </a:rPr>
              <a:t>3.You must “freeze” the requirements.</a:t>
            </a:r>
            <a:endParaRPr lang="en-IN" sz="2400" dirty="0" smtClean="0">
              <a:solidFill>
                <a:srgbClr val="FF0000"/>
              </a:solidFill>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The point here is that many people believe that you must be able to freeze the requirements before you start to model. In theory this would be great. If you had all the requirements presented to you before you start modelling, then all the questions about what the system should do would be answered at the start. It would also make deciding on what should be in the model easier. However, that is theoretical, in reality requirements change (even in the smallest projects). This can be for a variety of reasons. For example:</a:t>
            </a:r>
            <a:endParaRPr lang="en-IN"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Those who wrote the requirements missed out some details (that may only</a:t>
            </a:r>
            <a:r>
              <a:rPr lang="en-IN"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come to light when the development is progressing);</a:t>
            </a:r>
            <a:r>
              <a:rPr lang="en-IN" sz="1600" dirty="0" smtClean="0">
                <a:latin typeface="Times New Roman" pitchFamily="18" charset="0"/>
                <a:cs typeface="Times New Roman" pitchFamily="18" charset="0"/>
              </a:rPr>
              <a:t> </a:t>
            </a:r>
          </a:p>
          <a:p>
            <a:r>
              <a:rPr lang="en-US" sz="1600" dirty="0" smtClean="0">
                <a:latin typeface="Times New Roman" pitchFamily="18" charset="0"/>
                <a:cs typeface="Times New Roman" pitchFamily="18" charset="0"/>
              </a:rPr>
              <a:t>The users find their needs change during the lifetime of the project; or The project is a Greenfield software system in which the requirements are difficult to ascertain upfront (or any combination of these).</a:t>
            </a:r>
            <a:r>
              <a:rPr lang="en-IN" sz="1600" dirty="0" smtClean="0">
                <a:latin typeface="Times New Roman" pitchFamily="18" charset="0"/>
                <a:cs typeface="Times New Roman" pitchFamily="18" charset="0"/>
              </a:rPr>
              <a:t> </a:t>
            </a:r>
          </a:p>
          <a:p>
            <a:pPr lvl="0">
              <a:buNone/>
            </a:pPr>
            <a:r>
              <a:rPr lang="en-US" sz="2400" dirty="0" smtClean="0">
                <a:solidFill>
                  <a:srgbClr val="FF0000"/>
                </a:solidFill>
                <a:latin typeface="Times New Roman" pitchFamily="18" charset="0"/>
                <a:cs typeface="Times New Roman" pitchFamily="18" charset="0"/>
              </a:rPr>
              <a:t>4.</a:t>
            </a:r>
            <a:r>
              <a:rPr lang="en-US" sz="2400" i="1" dirty="0" smtClean="0">
                <a:solidFill>
                  <a:srgbClr val="FF0000"/>
                </a:solidFill>
                <a:latin typeface="Times New Roman" pitchFamily="18" charset="0"/>
                <a:cs typeface="Times New Roman" pitchFamily="18" charset="0"/>
              </a:rPr>
              <a:t> Your design is carved in stone.</a:t>
            </a:r>
            <a:endParaRPr lang="en-IN" sz="2400" dirty="0" smtClean="0">
              <a:solidFill>
                <a:srgbClr val="FF0000"/>
              </a:solidFill>
              <a:latin typeface="Times New Roman" pitchFamily="18" charset="0"/>
              <a:cs typeface="Times New Roman" pitchFamily="18" charset="0"/>
            </a:endParaRPr>
          </a:p>
          <a:p>
            <a:r>
              <a:rPr lang="en-US" sz="1600" dirty="0" smtClean="0">
                <a:latin typeface="Times New Roman" pitchFamily="18" charset="0"/>
                <a:cs typeface="Times New Roman" pitchFamily="18" charset="0"/>
              </a:rPr>
              <a:t>This is a leftover from the more traditional waterfall-based approaches to software development. In an ideal world, you would like to remove as many unknowns and variable elements from software development as possible. Therefore, to have the design “fixed” and never changing would be great. Again this does not work in reality</a:t>
            </a:r>
          </a:p>
          <a:p>
            <a:pPr>
              <a:buNone/>
            </a:pPr>
            <a:endParaRPr lang="en-IN" sz="1600" dirty="0">
              <a:latin typeface="Times New Roman" pitchFamily="18" charset="0"/>
              <a:cs typeface="Times New Roman"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324600"/>
          </a:xfrm>
        </p:spPr>
        <p:txBody>
          <a:bodyPr>
            <a:noAutofit/>
          </a:bodyPr>
          <a:lstStyle/>
          <a:p>
            <a:pPr lvl="0">
              <a:buNone/>
            </a:pPr>
            <a:r>
              <a:rPr lang="en-US" sz="1800" i="1" dirty="0" smtClean="0">
                <a:solidFill>
                  <a:srgbClr val="FF0000"/>
                </a:solidFill>
                <a:latin typeface="Times New Roman" pitchFamily="18" charset="0"/>
                <a:cs typeface="Times New Roman" pitchFamily="18" charset="0"/>
              </a:rPr>
              <a:t>5.You must use a CASE tool.</a:t>
            </a:r>
            <a:endParaRPr lang="en-IN" sz="1800" dirty="0" smtClean="0">
              <a:solidFill>
                <a:srgbClr val="FF0000"/>
              </a:solidFill>
              <a:latin typeface="Times New Roman" pitchFamily="18" charset="0"/>
              <a:cs typeface="Times New Roman" pitchFamily="18" charset="0"/>
            </a:endParaRPr>
          </a:p>
          <a:p>
            <a:r>
              <a:rPr lang="en-US" sz="1400" dirty="0" smtClean="0">
                <a:latin typeface="Times New Roman" pitchFamily="18" charset="0"/>
                <a:cs typeface="Times New Roman" pitchFamily="18" charset="0"/>
              </a:rPr>
              <a:t>By this I mean that if you are going to do some modelling you must use some form of Computer Aided Software Engineering tool such as </a:t>
            </a:r>
            <a:r>
              <a:rPr lang="en-US" sz="1400" dirty="0" err="1" smtClean="0">
                <a:latin typeface="Times New Roman" pitchFamily="18" charset="0"/>
                <a:cs typeface="Times New Roman" pitchFamily="18" charset="0"/>
              </a:rPr>
              <a:t>TogetherSoft’s</a:t>
            </a:r>
            <a:r>
              <a:rPr lang="en-US" sz="1400" dirty="0" smtClean="0">
                <a:latin typeface="Times New Roman" pitchFamily="18" charset="0"/>
                <a:cs typeface="Times New Roman" pitchFamily="18" charset="0"/>
              </a:rPr>
              <a:t> Together Control Centre or </a:t>
            </a:r>
            <a:r>
              <a:rPr lang="en-US" sz="1400" dirty="0" err="1" smtClean="0">
                <a:latin typeface="Times New Roman" pitchFamily="18" charset="0"/>
                <a:cs typeface="Times New Roman" pitchFamily="18" charset="0"/>
              </a:rPr>
              <a:t>Rational’s</a:t>
            </a:r>
            <a:r>
              <a:rPr lang="en-US" sz="1400" dirty="0" smtClean="0">
                <a:latin typeface="Times New Roman" pitchFamily="18" charset="0"/>
                <a:cs typeface="Times New Roman" pitchFamily="18" charset="0"/>
              </a:rPr>
              <a:t> Rose. Of course, these tools may well make things easier, but they are not mandatory. Indeed in the first edition of Hunt (2003), I used the UML modelling features of the Microsoft tool Visio to generate all the models presented. As a comparison, Figure 3.2 is a diagram in Visio while Figure 3.3 is from Rose and Figure 3.4 from Together. As an extreme, I once worked for a software company, writing Smalltalk software for the financial industry, where they wanted me to use Paint to draw class </a:t>
            </a:r>
            <a:r>
              <a:rPr lang="en-US" sz="1400" dirty="0" err="1" smtClean="0">
                <a:latin typeface="Times New Roman" pitchFamily="18" charset="0"/>
                <a:cs typeface="Times New Roman" pitchFamily="18" charset="0"/>
              </a:rPr>
              <a:t>di</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agrams</a:t>
            </a:r>
            <a:r>
              <a:rPr lang="en-US" sz="1400" dirty="0" smtClean="0">
                <a:latin typeface="Times New Roman" pitchFamily="18" charset="0"/>
                <a:cs typeface="Times New Roman" pitchFamily="18" charset="0"/>
              </a:rPr>
              <a:t>. Note all of these (as well as hand-drawn diagrams) represent models.</a:t>
            </a:r>
            <a:endParaRPr lang="en-IN" sz="1400" dirty="0" smtClean="0">
              <a:latin typeface="Times New Roman" pitchFamily="18" charset="0"/>
              <a:cs typeface="Times New Roman" pitchFamily="18" charset="0"/>
            </a:endParaRPr>
          </a:p>
          <a:p>
            <a:pPr lvl="0">
              <a:buNone/>
            </a:pPr>
            <a:r>
              <a:rPr lang="en-US" sz="1800" i="1" dirty="0" smtClean="0">
                <a:solidFill>
                  <a:srgbClr val="FF0000"/>
                </a:solidFill>
                <a:latin typeface="Times New Roman" pitchFamily="18" charset="0"/>
                <a:cs typeface="Times New Roman" pitchFamily="18" charset="0"/>
              </a:rPr>
              <a:t>6.All developers know how to </a:t>
            </a:r>
            <a:r>
              <a:rPr lang="en-US" sz="1800" dirty="0" smtClean="0">
                <a:solidFill>
                  <a:srgbClr val="FF0000"/>
                </a:solidFill>
                <a:latin typeface="Times New Roman" pitchFamily="18" charset="0"/>
                <a:cs typeface="Times New Roman" pitchFamily="18" charset="0"/>
              </a:rPr>
              <a:t>model</a:t>
            </a:r>
            <a:r>
              <a:rPr lang="en-US" sz="1800" i="1" dirty="0" smtClean="0">
                <a:solidFill>
                  <a:srgbClr val="FF0000"/>
                </a:solidFill>
                <a:latin typeface="Times New Roman" pitchFamily="18" charset="0"/>
                <a:cs typeface="Times New Roman" pitchFamily="18" charset="0"/>
              </a:rPr>
              <a:t>.</a:t>
            </a:r>
            <a:endParaRPr lang="en-IN" sz="1800" dirty="0" smtClean="0">
              <a:solidFill>
                <a:srgbClr val="FF0000"/>
              </a:solidFill>
              <a:latin typeface="Times New Roman" pitchFamily="18" charset="0"/>
              <a:cs typeface="Times New Roman" pitchFamily="18" charset="0"/>
            </a:endParaRPr>
          </a:p>
          <a:p>
            <a:r>
              <a:rPr lang="en-US" sz="1400" dirty="0" smtClean="0">
                <a:latin typeface="Times New Roman" pitchFamily="18" charset="0"/>
                <a:cs typeface="Times New Roman" pitchFamily="18" charset="0"/>
              </a:rPr>
              <a:t>Generating appropriate, correct, well-formed, understandable models is not trivial. It takes time to get familiar with whatever tools, notation and</a:t>
            </a:r>
          </a:p>
          <a:p>
            <a:pPr>
              <a:buNone/>
            </a:pPr>
            <a:endParaRPr lang="en-IN" sz="1400" dirty="0" smtClean="0">
              <a:latin typeface="Times New Roman" pitchFamily="18" charset="0"/>
              <a:cs typeface="Times New Roman" pitchFamily="18" charset="0"/>
            </a:endParaRPr>
          </a:p>
          <a:p>
            <a:pPr lvl="0">
              <a:buNone/>
            </a:pPr>
            <a:r>
              <a:rPr lang="en-US" sz="1800" i="1" dirty="0" smtClean="0">
                <a:solidFill>
                  <a:srgbClr val="FF0000"/>
                </a:solidFill>
                <a:latin typeface="Times New Roman" pitchFamily="18" charset="0"/>
                <a:cs typeface="Times New Roman" pitchFamily="18" charset="0"/>
              </a:rPr>
              <a:t>7.You can think of everything from the start.</a:t>
            </a:r>
            <a:endParaRPr lang="en-IN" sz="1800" dirty="0" smtClean="0">
              <a:solidFill>
                <a:srgbClr val="FF0000"/>
              </a:solidFill>
              <a:latin typeface="Times New Roman" pitchFamily="18" charset="0"/>
              <a:cs typeface="Times New Roman" pitchFamily="18" charset="0"/>
            </a:endParaRPr>
          </a:p>
          <a:p>
            <a:r>
              <a:rPr lang="en-US" sz="1400" dirty="0" smtClean="0">
                <a:latin typeface="Times New Roman" pitchFamily="18" charset="0"/>
                <a:cs typeface="Times New Roman" pitchFamily="18" charset="0"/>
              </a:rPr>
              <a:t>One problem with UML style models is that they are static – that is, you cannot execute them. So, it is hard to determine whether they cover “enough” or whether you have missed out some critical areas. Therefore, believing that you can think of everything and cover all eventualities at the start of modelling is wrong for all but the simplest systems.</a:t>
            </a:r>
            <a:endParaRPr lang="en-IN" sz="1400" dirty="0" smtClean="0">
              <a:latin typeface="Times New Roman" pitchFamily="18" charset="0"/>
              <a:cs typeface="Times New Roman" pitchFamily="18" charset="0"/>
            </a:endParaRPr>
          </a:p>
          <a:p>
            <a:pPr lvl="0">
              <a:buNone/>
            </a:pPr>
            <a:r>
              <a:rPr lang="en-US" sz="1800" i="1" dirty="0" smtClean="0">
                <a:solidFill>
                  <a:srgbClr val="FF0000"/>
                </a:solidFill>
                <a:latin typeface="Times New Roman" pitchFamily="18" charset="0"/>
                <a:cs typeface="Times New Roman" pitchFamily="18" charset="0"/>
              </a:rPr>
              <a:t>8.Modelling is a waste of time.</a:t>
            </a:r>
            <a:endParaRPr lang="en-IN" sz="1800" dirty="0" smtClean="0">
              <a:solidFill>
                <a:srgbClr val="FF0000"/>
              </a:solidFill>
              <a:latin typeface="Times New Roman" pitchFamily="18" charset="0"/>
              <a:cs typeface="Times New Roman" pitchFamily="18" charset="0"/>
            </a:endParaRPr>
          </a:p>
          <a:p>
            <a:r>
              <a:rPr lang="en-US" sz="1400" dirty="0" smtClean="0">
                <a:latin typeface="Times New Roman" pitchFamily="18" charset="0"/>
                <a:cs typeface="Times New Roman" pitchFamily="18" charset="0"/>
              </a:rPr>
              <a:t>I have both heard, and had to deal with, this myth. This myth represents the extreme opposite of that promoted by the waterfall boys – that is, designing models has no benefit, just get on with the coding – that’s what you are delivering after all. </a:t>
            </a:r>
          </a:p>
          <a:p>
            <a:pPr lvl="0">
              <a:buNone/>
            </a:pPr>
            <a:r>
              <a:rPr lang="en-US" sz="1800" i="1" dirty="0" smtClean="0">
                <a:solidFill>
                  <a:srgbClr val="FF0000"/>
                </a:solidFill>
                <a:latin typeface="Times New Roman" pitchFamily="18" charset="0"/>
                <a:cs typeface="Times New Roman" pitchFamily="18" charset="0"/>
              </a:rPr>
              <a:t>9.The world revolves around the data model.</a:t>
            </a:r>
            <a:endParaRPr lang="en-IN" sz="1800" dirty="0" smtClean="0">
              <a:solidFill>
                <a:srgbClr val="FF0000"/>
              </a:solidFill>
              <a:latin typeface="Times New Roman" pitchFamily="18" charset="0"/>
              <a:cs typeface="Times New Roman" pitchFamily="18" charset="0"/>
            </a:endParaRPr>
          </a:p>
          <a:p>
            <a:r>
              <a:rPr lang="en-US" sz="1400" dirty="0" smtClean="0">
                <a:latin typeface="Times New Roman" pitchFamily="18" charset="0"/>
                <a:cs typeface="Times New Roman" pitchFamily="18" charset="0"/>
              </a:rPr>
              <a:t>That is, the data model describing, for example, the information in the database, is the centre of the universe and the object-oriented model is based on this.</a:t>
            </a:r>
            <a:endParaRPr lang="en-IN" sz="1400" dirty="0" smtClean="0">
              <a:latin typeface="Times New Roman" pitchFamily="18" charset="0"/>
              <a:cs typeface="Times New Roman" pitchFamily="18" charset="0"/>
            </a:endParaRPr>
          </a:p>
          <a:p>
            <a:pPr>
              <a:buNone/>
            </a:pPr>
            <a:r>
              <a:rPr lang="en-IN" sz="1400" dirty="0" smtClean="0">
                <a:latin typeface="Times New Roman" pitchFamily="18" charset="0"/>
                <a:cs typeface="Times New Roman" pitchFamily="18" charset="0"/>
              </a:rPr>
              <a:t/>
            </a:r>
            <a:br>
              <a:rPr lang="en-IN" sz="1400" dirty="0" smtClean="0">
                <a:latin typeface="Times New Roman" pitchFamily="18" charset="0"/>
                <a:cs typeface="Times New Roman" pitchFamily="18" charset="0"/>
              </a:rPr>
            </a:br>
            <a:endParaRPr lang="en-IN" sz="1400" dirty="0">
              <a:latin typeface="Times New Roman" pitchFamily="18" charset="0"/>
              <a:cs typeface="Times New Roman"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pPr lvl="1"/>
            <a:r>
              <a:rPr lang="en-US" b="1" dirty="0" smtClean="0">
                <a:solidFill>
                  <a:srgbClr val="FF0000"/>
                </a:solidFill>
                <a:latin typeface="Times New Roman" pitchFamily="18" charset="0"/>
                <a:cs typeface="Times New Roman" pitchFamily="18" charset="0"/>
              </a:rPr>
              <a:t>Agile Modelling</a:t>
            </a:r>
            <a:endParaRPr lang="en-IN" b="1" dirty="0" smtClean="0">
              <a:solidFill>
                <a:srgbClr val="FF0000"/>
              </a:solidFill>
              <a:latin typeface="Times New Roman" pitchFamily="18" charset="0"/>
              <a:cs typeface="Times New Roman" pitchFamily="18" charset="0"/>
            </a:endParaRPr>
          </a:p>
          <a:p>
            <a:r>
              <a:rPr lang="en-US" sz="2000" dirty="0" smtClean="0">
                <a:latin typeface="Times New Roman" pitchFamily="18" charset="0"/>
                <a:cs typeface="Times New Roman" pitchFamily="18" charset="0"/>
              </a:rPr>
              <a:t>So what is Agile Modelling? First, it is not a complete methodology in the sense that you can do Agile Modelling and that is sufficient. Rather it is an approach to the modelling aspects of a software development method. That is, it is an add-on to an approach such as the Unified Process (or indeed XP). The Unified Process is actually a framework.</a:t>
            </a:r>
          </a:p>
          <a:p>
            <a:pPr>
              <a:buNone/>
            </a:pPr>
            <a:endParaRPr lang="en-IN" sz="1800" dirty="0">
              <a:latin typeface="Times New Roman" pitchFamily="18" charset="0"/>
              <a:cs typeface="Times New Roman" pitchFamily="18" charset="0"/>
            </a:endParaRPr>
          </a:p>
        </p:txBody>
      </p:sp>
      <p:pic>
        <p:nvPicPr>
          <p:cNvPr id="4099" name="Picture 3"/>
          <p:cNvPicPr>
            <a:picLocks noChangeAspect="1" noChangeArrowheads="1"/>
          </p:cNvPicPr>
          <p:nvPr/>
        </p:nvPicPr>
        <p:blipFill>
          <a:blip r:embed="rId2" cstate="print"/>
          <a:srcRect/>
          <a:stretch>
            <a:fillRect/>
          </a:stretch>
        </p:blipFill>
        <p:spPr bwMode="auto">
          <a:xfrm>
            <a:off x="838200" y="2895600"/>
            <a:ext cx="7286625" cy="3038475"/>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a:bodyPr>
          <a:lstStyle/>
          <a:p>
            <a:r>
              <a:rPr lang="en-US" sz="2400" dirty="0" smtClean="0">
                <a:latin typeface="Times New Roman" pitchFamily="18" charset="0"/>
                <a:cs typeface="Times New Roman" pitchFamily="18" charset="0"/>
              </a:rPr>
              <a:t>The use of Agile Modelling is just another technique that can be used to </a:t>
            </a:r>
            <a:r>
              <a:rPr lang="en-US" sz="2400" dirty="0" err="1" smtClean="0">
                <a:latin typeface="Times New Roman" pitchFamily="18" charset="0"/>
                <a:cs typeface="Times New Roman" pitchFamily="18" charset="0"/>
              </a:rPr>
              <a:t>aug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ment</a:t>
            </a:r>
            <a:r>
              <a:rPr lang="en-US" sz="2400" dirty="0" smtClean="0">
                <a:latin typeface="Times New Roman" pitchFamily="18" charset="0"/>
                <a:cs typeface="Times New Roman" pitchFamily="18" charset="0"/>
              </a:rPr>
              <a:t> the Unified Process. Thus, adding agile modelling to the Unified Process is completely in keeping with the original aims of the Unified Process. This is illustrated in Figure 3.6 </a:t>
            </a:r>
            <a:endParaRPr lang="en-IN" sz="2400" dirty="0">
              <a:latin typeface="Times New Roman" pitchFamily="18" charset="0"/>
              <a:cs typeface="Times New Roman" pitchFamily="18" charset="0"/>
            </a:endParaRPr>
          </a:p>
        </p:txBody>
      </p:sp>
      <p:pic>
        <p:nvPicPr>
          <p:cNvPr id="5123" name="Picture 3"/>
          <p:cNvPicPr>
            <a:picLocks noChangeAspect="1" noChangeArrowheads="1"/>
          </p:cNvPicPr>
          <p:nvPr/>
        </p:nvPicPr>
        <p:blipFill>
          <a:blip r:embed="rId2" cstate="print"/>
          <a:srcRect/>
          <a:stretch>
            <a:fillRect/>
          </a:stretch>
        </p:blipFill>
        <p:spPr bwMode="auto">
          <a:xfrm>
            <a:off x="762000" y="2743200"/>
            <a:ext cx="6629400" cy="274320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248400"/>
          </a:xfrm>
        </p:spPr>
        <p:txBody>
          <a:bodyPr>
            <a:normAutofit/>
          </a:bodyPr>
          <a:lstStyle/>
          <a:p>
            <a:pPr>
              <a:buNone/>
            </a:pPr>
            <a:r>
              <a:rPr lang="en-US" sz="4000" dirty="0" smtClean="0">
                <a:solidFill>
                  <a:srgbClr val="FF0000"/>
                </a:solidFill>
                <a:latin typeface="Times New Roman" pitchFamily="18" charset="0"/>
                <a:cs typeface="Times New Roman" pitchFamily="18" charset="0"/>
              </a:rPr>
              <a:t>Agile Models. Agile models should:</a:t>
            </a:r>
            <a:endParaRPr lang="en-IN" sz="4000" dirty="0" smtClean="0">
              <a:solidFill>
                <a:srgbClr val="FF0000"/>
              </a:solidFill>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r>
              <a:rPr lang="en-US" sz="2400" i="1" dirty="0" smtClean="0">
                <a:solidFill>
                  <a:srgbClr val="FF0000"/>
                </a:solidFill>
                <a:latin typeface="Times New Roman" pitchFamily="18" charset="0"/>
                <a:cs typeface="Times New Roman" pitchFamily="18" charset="0"/>
              </a:rPr>
              <a:t>Provide positive value </a:t>
            </a:r>
            <a:r>
              <a:rPr lang="en-US" sz="2400" dirty="0" smtClean="0">
                <a:latin typeface="Times New Roman" pitchFamily="18" charset="0"/>
                <a:cs typeface="Times New Roman" pitchFamily="18" charset="0"/>
              </a:rPr>
              <a:t>in that they should have some utility, i.e. someone should need them.</a:t>
            </a:r>
            <a:r>
              <a:rPr lang="en-IN" sz="2400" dirty="0" smtClean="0">
                <a:latin typeface="Times New Roman" pitchFamily="18" charset="0"/>
                <a:cs typeface="Times New Roman" pitchFamily="18" charset="0"/>
              </a:rPr>
              <a:t> </a:t>
            </a:r>
          </a:p>
          <a:p>
            <a:r>
              <a:rPr lang="en-US" sz="2400" i="1" dirty="0" smtClean="0">
                <a:solidFill>
                  <a:srgbClr val="FF0000"/>
                </a:solidFill>
                <a:latin typeface="Times New Roman" pitchFamily="18" charset="0"/>
                <a:cs typeface="Times New Roman" pitchFamily="18" charset="0"/>
              </a:rPr>
              <a:t>Fulfill their purpose </a:t>
            </a:r>
            <a:r>
              <a:rPr lang="en-US" sz="2400" dirty="0" smtClean="0">
                <a:latin typeface="Times New Roman" pitchFamily="18" charset="0"/>
                <a:cs typeface="Times New Roman" pitchFamily="18" charset="0"/>
              </a:rPr>
              <a:t>(and no more) so if a model is to be used to clarify how some classes fit together, then that is all that it should clarify.</a:t>
            </a:r>
            <a:r>
              <a:rPr lang="en-IN" sz="2400" dirty="0" smtClean="0">
                <a:latin typeface="Times New Roman" pitchFamily="18" charset="0"/>
                <a:cs typeface="Times New Roman" pitchFamily="18" charset="0"/>
              </a:rPr>
              <a:t> </a:t>
            </a:r>
          </a:p>
          <a:p>
            <a:r>
              <a:rPr lang="en-US" sz="2400" i="1" dirty="0" smtClean="0">
                <a:solidFill>
                  <a:srgbClr val="FF0000"/>
                </a:solidFill>
                <a:latin typeface="Times New Roman" pitchFamily="18" charset="0"/>
                <a:cs typeface="Times New Roman" pitchFamily="18" charset="0"/>
              </a:rPr>
              <a:t>Be understandable </a:t>
            </a:r>
            <a:r>
              <a:rPr lang="en-US" sz="2400" dirty="0" smtClean="0">
                <a:latin typeface="Times New Roman" pitchFamily="18" charset="0"/>
                <a:cs typeface="Times New Roman" pitchFamily="18" charset="0"/>
              </a:rPr>
              <a:t>(to their intended audience but not necessarily to every- one).</a:t>
            </a:r>
            <a:r>
              <a:rPr lang="en-IN" sz="2400" dirty="0" smtClean="0">
                <a:latin typeface="Times New Roman" pitchFamily="18" charset="0"/>
                <a:cs typeface="Times New Roman" pitchFamily="18" charset="0"/>
              </a:rPr>
              <a:t> </a:t>
            </a:r>
          </a:p>
          <a:p>
            <a:r>
              <a:rPr lang="en-US" sz="2400" i="1" dirty="0" smtClean="0">
                <a:solidFill>
                  <a:srgbClr val="FF0000"/>
                </a:solidFill>
                <a:latin typeface="Times New Roman" pitchFamily="18" charset="0"/>
                <a:cs typeface="Times New Roman" pitchFamily="18" charset="0"/>
              </a:rPr>
              <a:t>Are  sufficiently  accurate  </a:t>
            </a:r>
            <a:r>
              <a:rPr lang="en-US" sz="2400" dirty="0" smtClean="0">
                <a:latin typeface="Times New Roman" pitchFamily="18" charset="0"/>
                <a:cs typeface="Times New Roman" pitchFamily="18" charset="0"/>
              </a:rPr>
              <a:t>for  their  intended  audience! </a:t>
            </a:r>
            <a:r>
              <a:rPr lang="en-US" sz="2400" i="1" dirty="0" smtClean="0">
                <a:latin typeface="Times New Roman" pitchFamily="18" charset="0"/>
                <a:cs typeface="Times New Roman" pitchFamily="18" charset="0"/>
              </a:rPr>
              <a:t>Are sufficiently consistent </a:t>
            </a:r>
            <a:r>
              <a:rPr lang="en-US" sz="2400" dirty="0" smtClean="0">
                <a:latin typeface="Times New Roman" pitchFamily="18" charset="0"/>
                <a:cs typeface="Times New Roman" pitchFamily="18" charset="0"/>
              </a:rPr>
              <a:t>as long as those using the models understand them. </a:t>
            </a:r>
            <a:r>
              <a:rPr lang="en-US" sz="2400" i="1" dirty="0" smtClean="0">
                <a:latin typeface="Times New Roman" pitchFamily="18" charset="0"/>
                <a:cs typeface="Times New Roman" pitchFamily="18" charset="0"/>
              </a:rPr>
              <a:t>Are sufficiently detailed</a:t>
            </a:r>
            <a:r>
              <a:rPr lang="en-US" sz="2400" dirty="0" smtClean="0">
                <a:latin typeface="Times New Roman" pitchFamily="18" charset="0"/>
                <a:cs typeface="Times New Roman" pitchFamily="18" charset="0"/>
              </a:rPr>
              <a:t>. For example, when explaining the structure of a group of classes, the exact set of methods, variables and constructors may not be relevant.</a:t>
            </a:r>
            <a:r>
              <a:rPr lang="en-IN"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Are as simple as possible.</a:t>
            </a:r>
            <a:endParaRPr lang="en-IN" sz="2400" dirty="0" smtClean="0">
              <a:latin typeface="Times New Roman" pitchFamily="18" charset="0"/>
              <a:cs typeface="Times New Roman" pitchFamily="18" charset="0"/>
            </a:endParaRPr>
          </a:p>
          <a:p>
            <a:endParaRPr lang="en-I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r>
              <a:rPr lang="en-US" sz="3200" b="1" dirty="0">
                <a:solidFill>
                  <a:srgbClr val="FF0000"/>
                </a:solidFill>
                <a:latin typeface="Times New Roman" pitchFamily="18" charset="0"/>
                <a:cs typeface="Times New Roman" pitchFamily="18" charset="0"/>
              </a:rPr>
              <a:t>Tool Misconceptions</a:t>
            </a:r>
            <a:r>
              <a:rPr lang="en-IN" sz="3200" b="1" dirty="0">
                <a:latin typeface="Times New Roman" pitchFamily="18" charset="0"/>
                <a:cs typeface="Times New Roman" pitchFamily="18" charset="0"/>
              </a:rPr>
              <a:t/>
            </a:r>
            <a:br>
              <a:rPr lang="en-IN" sz="3200" b="1" dirty="0">
                <a:latin typeface="Times New Roman" pitchFamily="18" charset="0"/>
                <a:cs typeface="Times New Roman" pitchFamily="18" charset="0"/>
              </a:rPr>
            </a:br>
            <a:r>
              <a:rPr lang="en-US" dirty="0">
                <a:latin typeface="Times New Roman" pitchFamily="18" charset="0"/>
                <a:cs typeface="Times New Roman" pitchFamily="18" charset="0"/>
              </a:rPr>
              <a:t>At this point, it is worthwhile considering some misconceptions and myths relating to the use of tools, </a:t>
            </a:r>
            <a:r>
              <a:rPr lang="en-US" dirty="0" smtClean="0">
                <a:latin typeface="Times New Roman" pitchFamily="18" charset="0"/>
                <a:cs typeface="Times New Roman" pitchFamily="18" charset="0"/>
              </a:rPr>
              <a:t>modeling </a:t>
            </a:r>
            <a:r>
              <a:rPr lang="en-US" dirty="0">
                <a:latin typeface="Times New Roman" pitchFamily="18" charset="0"/>
                <a:cs typeface="Times New Roman" pitchFamily="18" charset="0"/>
              </a:rPr>
              <a:t>and UML.</a:t>
            </a:r>
            <a:r>
              <a:rPr lang="en-IN" dirty="0"/>
              <a:t/>
            </a:r>
            <a:br>
              <a:rPr lang="en-IN" dirty="0"/>
            </a:br>
            <a:endParaRPr lang="en-IN" dirty="0"/>
          </a:p>
        </p:txBody>
      </p:sp>
      <p:sp>
        <p:nvSpPr>
          <p:cNvPr id="3" name="Content Placeholder 2"/>
          <p:cNvSpPr>
            <a:spLocks noGrp="1"/>
          </p:cNvSpPr>
          <p:nvPr>
            <p:ph idx="1"/>
          </p:nvPr>
        </p:nvSpPr>
        <p:spPr>
          <a:xfrm>
            <a:off x="457200" y="1371600"/>
            <a:ext cx="8229600" cy="5029200"/>
          </a:xfrm>
        </p:spPr>
        <p:txBody>
          <a:bodyPr>
            <a:normAutofit fontScale="62500" lnSpcReduction="20000"/>
          </a:bodyPr>
          <a:lstStyle/>
          <a:p>
            <a:pPr lvl="0"/>
            <a:r>
              <a:rPr lang="en-US" sz="3800" i="1" dirty="0" smtClean="0">
                <a:solidFill>
                  <a:srgbClr val="FF0000"/>
                </a:solidFill>
                <a:latin typeface="Times New Roman" pitchFamily="18" charset="0"/>
                <a:cs typeface="Times New Roman" pitchFamily="18" charset="0"/>
              </a:rPr>
              <a:t>UML requires CASE tools.</a:t>
            </a:r>
            <a:endParaRPr lang="en-IN" sz="3800" dirty="0" smtClean="0">
              <a:solidFill>
                <a:srgbClr val="FF0000"/>
              </a:solidFill>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This is certainly not true – I can draw a UML diagram freehand on paper, use a simple drawing package such as Paint or indeed with a tool such as Together. It may well be true that to strictly adhere to the UML notation it is easier to use something that knows about UML (and Visio might be such a tool). It may also be true that if you want to generate code from the UML diagrams, using a CASE tool such as Rose or Together makes life easier. But it is not a pre-requisite.</a:t>
            </a:r>
            <a:endParaRPr lang="en-IN" dirty="0" smtClean="0">
              <a:latin typeface="Times New Roman" pitchFamily="18" charset="0"/>
              <a:cs typeface="Times New Roman" pitchFamily="18" charset="0"/>
            </a:endParaRPr>
          </a:p>
          <a:p>
            <a:pPr lvl="0"/>
            <a:r>
              <a:rPr lang="en-US" sz="3800" i="1" dirty="0" smtClean="0">
                <a:solidFill>
                  <a:srgbClr val="FF0000"/>
                </a:solidFill>
                <a:latin typeface="Times New Roman" pitchFamily="18" charset="0"/>
                <a:cs typeface="Times New Roman" pitchFamily="18" charset="0"/>
              </a:rPr>
              <a:t>Modeling requires the use of CASE tools.</a:t>
            </a:r>
            <a:endParaRPr lang="en-IN" sz="3800" dirty="0" smtClean="0">
              <a:solidFill>
                <a:srgbClr val="FF0000"/>
              </a:solidFill>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An extension of the last point is that if you are going to create models as part of your design you need a CASE tool that can manage, manipulate, cross reference, etc., your models. While these features may well be useful, they are not necessary. I can (and indeed have) used simpler tools such as Visio to perform all the modeling necessary for the design of a system. Obviously, the larger the system and the larger the amount of modelling performed, the better a CASE tool may be.</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458200" cy="6705600"/>
          </a:xfrm>
        </p:spPr>
        <p:txBody>
          <a:bodyPr>
            <a:noAutofit/>
          </a:bodyPr>
          <a:lstStyle/>
          <a:p>
            <a:pPr lvl="0"/>
            <a:r>
              <a:rPr lang="en-US" sz="2400" i="1" dirty="0" smtClean="0">
                <a:solidFill>
                  <a:srgbClr val="FF0000"/>
                </a:solidFill>
                <a:latin typeface="Times New Roman" pitchFamily="18" charset="0"/>
                <a:cs typeface="Times New Roman" pitchFamily="18" charset="0"/>
              </a:rPr>
              <a:t>Agile modelers don’t use CASE tools.</a:t>
            </a:r>
            <a:endParaRPr lang="en-IN" sz="2400" dirty="0" smtClean="0">
              <a:solidFill>
                <a:srgbClr val="FF0000"/>
              </a:solidFill>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This is a common misconception by those starting with Agile Modeling. This is partly due to the emphasis of Agile Modeling on using the simplest appropriate tool and if that tool is a white board or a piece of paper, use it. The key word here is </a:t>
            </a:r>
            <a:r>
              <a:rPr lang="en-US" sz="1600" i="1" dirty="0" smtClean="0">
                <a:latin typeface="Times New Roman" pitchFamily="18" charset="0"/>
                <a:cs typeface="Times New Roman" pitchFamily="18" charset="0"/>
              </a:rPr>
              <a:t>appropriate</a:t>
            </a:r>
            <a:r>
              <a:rPr lang="en-US" sz="1600" dirty="0" smtClean="0">
                <a:latin typeface="Times New Roman" pitchFamily="18" charset="0"/>
                <a:cs typeface="Times New Roman" pitchFamily="18" charset="0"/>
              </a:rPr>
              <a:t>. If I need to work something through with one of my colleagues, we might well use a white board or a piece of paper and not worry too much about the accuracy of the UML notation being used. If however, I am trying to describe a complex structure that will need to be referenced by a variety of developers, possibly in multiple locations, then a CASE tool might well be the most appropriate.</a:t>
            </a:r>
            <a:endParaRPr lang="en-IN" sz="1600" dirty="0" smtClean="0">
              <a:latin typeface="Times New Roman" pitchFamily="18" charset="0"/>
              <a:cs typeface="Times New Roman" pitchFamily="18" charset="0"/>
            </a:endParaRPr>
          </a:p>
          <a:p>
            <a:pPr lvl="0"/>
            <a:r>
              <a:rPr lang="en-US" sz="2400" i="1" dirty="0" smtClean="0">
                <a:solidFill>
                  <a:srgbClr val="FF0000"/>
                </a:solidFill>
                <a:latin typeface="Times New Roman" pitchFamily="18" charset="0"/>
                <a:cs typeface="Times New Roman" pitchFamily="18" charset="0"/>
              </a:rPr>
              <a:t>UML        is        all        you        need! </a:t>
            </a:r>
          </a:p>
          <a:p>
            <a:pPr lvl="0">
              <a:buNone/>
            </a:pPr>
            <a:r>
              <a:rPr lang="en-US" sz="1600" i="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Some take the view that UML is all you need in terms of notation – if you can’t do it in UML (</a:t>
            </a:r>
            <a:r>
              <a:rPr lang="en-US" sz="1600" i="1" dirty="0" smtClean="0">
                <a:latin typeface="Times New Roman" pitchFamily="18" charset="0"/>
                <a:cs typeface="Times New Roman" pitchFamily="18" charset="0"/>
              </a:rPr>
              <a:t>aka </a:t>
            </a:r>
            <a:r>
              <a:rPr lang="en-US" sz="1600" dirty="0" smtClean="0">
                <a:latin typeface="Times New Roman" pitchFamily="18" charset="0"/>
                <a:cs typeface="Times New Roman" pitchFamily="18" charset="0"/>
              </a:rPr>
              <a:t>the design tool you are using), then it is either not relevant to an object-oriented system or not important enough to document. This is not true. There are many aspects of a software project that you may wish to document, but do not fit within the remit of a UML diagram, for example, GUI storyboarding, data modeling, etc.</a:t>
            </a:r>
            <a:endParaRPr lang="en-IN" sz="1600" dirty="0" smtClean="0">
              <a:solidFill>
                <a:srgbClr val="FF0000"/>
              </a:solidFill>
              <a:latin typeface="Times New Roman" pitchFamily="18" charset="0"/>
              <a:cs typeface="Times New Roman" pitchFamily="18" charset="0"/>
            </a:endParaRPr>
          </a:p>
          <a:p>
            <a:pPr lvl="0"/>
            <a:r>
              <a:rPr lang="en-US" sz="2400" i="1" dirty="0" smtClean="0">
                <a:solidFill>
                  <a:srgbClr val="FF0000"/>
                </a:solidFill>
                <a:latin typeface="Times New Roman" pitchFamily="18" charset="0"/>
                <a:cs typeface="Times New Roman" pitchFamily="18" charset="0"/>
              </a:rPr>
              <a:t>The CASE tool is master.</a:t>
            </a:r>
            <a:endParaRPr lang="en-IN" sz="2400" dirty="0" smtClean="0">
              <a:solidFill>
                <a:srgbClr val="FF0000"/>
              </a:solidFill>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This is more a perception than a misconception. It is a perception because users often feel that they are battling with the CASE tool and that they have to work in the way prescribed by the CASE tool. Certainly, I know that some of the colleagues I have worked with over the years have an almost irrational hatred against one well known CASE tool because of the way it forces them to work. Some of this can be overcome with training and some by choosing a suitable tool. The important thing is that the CASE tool should </a:t>
            </a:r>
            <a:r>
              <a:rPr lang="en-US" sz="1600" i="1" dirty="0" smtClean="0">
                <a:latin typeface="Times New Roman" pitchFamily="18" charset="0"/>
                <a:cs typeface="Times New Roman" pitchFamily="18" charset="0"/>
              </a:rPr>
              <a:t>not </a:t>
            </a:r>
            <a:r>
              <a:rPr lang="en-US" sz="1600" dirty="0" smtClean="0">
                <a:latin typeface="Times New Roman" pitchFamily="18" charset="0"/>
                <a:cs typeface="Times New Roman" pitchFamily="18" charset="0"/>
              </a:rPr>
              <a:t>be the master but the servant. It should help you with your work and not hinder it. Thus, finding an appropriate tool (or tools) is important. For example, in one case Together proved to be particularly well suited to the organizations way of working and to the developers experience and background.</a:t>
            </a:r>
            <a:endParaRPr lang="en-IN" sz="1600" dirty="0" smtClean="0">
              <a:latin typeface="Times New Roman" pitchFamily="18" charset="0"/>
              <a:cs typeface="Times New Roman" pitchFamily="18" charset="0"/>
            </a:endParaRPr>
          </a:p>
          <a:p>
            <a:endParaRPr lang="en-IN"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itchFamily="18" charset="0"/>
                <a:cs typeface="Times New Roman" pitchFamily="18" charset="0"/>
              </a:rPr>
              <a:t>Questions on UNIT-1</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410200"/>
          </a:xfrm>
          <a:ln>
            <a:solidFill>
              <a:srgbClr val="FF0000"/>
            </a:solidFill>
          </a:ln>
        </p:spPr>
        <p:txBody>
          <a:bodyPr>
            <a:normAutofit fontScale="47500" lnSpcReduction="20000"/>
          </a:bodyPr>
          <a:lstStyle/>
          <a:p>
            <a:pPr>
              <a:buNone/>
            </a:pPr>
            <a:endParaRPr lang="en-IN" dirty="0" smtClean="0"/>
          </a:p>
          <a:p>
            <a:pPr lvl="0"/>
            <a:r>
              <a:rPr lang="en-IN" sz="3500" dirty="0" smtClean="0">
                <a:solidFill>
                  <a:srgbClr val="FF0000"/>
                </a:solidFill>
                <a:latin typeface="Times New Roman" pitchFamily="18" charset="0"/>
                <a:cs typeface="Times New Roman" pitchFamily="18" charset="0"/>
              </a:rPr>
              <a:t>What are Agile methods and how do they differ from traditional software development methodologies?</a:t>
            </a:r>
          </a:p>
          <a:p>
            <a:pPr lvl="0"/>
            <a:r>
              <a:rPr lang="en-IN" sz="3500" dirty="0" smtClean="0">
                <a:latin typeface="Times New Roman" pitchFamily="18" charset="0"/>
                <a:cs typeface="Times New Roman" pitchFamily="18" charset="0"/>
              </a:rPr>
              <a:t>Name at least three Agile methodologies and highlight their key differences.</a:t>
            </a:r>
          </a:p>
          <a:p>
            <a:pPr lvl="0"/>
            <a:r>
              <a:rPr lang="en-IN" sz="3500" dirty="0" smtClean="0">
                <a:solidFill>
                  <a:srgbClr val="FF0000"/>
                </a:solidFill>
                <a:latin typeface="Times New Roman" pitchFamily="18" charset="0"/>
                <a:cs typeface="Times New Roman" pitchFamily="18" charset="0"/>
              </a:rPr>
              <a:t>How do Agile methods support iterative and incremental development?</a:t>
            </a:r>
          </a:p>
          <a:p>
            <a:pPr lvl="0"/>
            <a:r>
              <a:rPr lang="en-IN" sz="3500" dirty="0" smtClean="0">
                <a:latin typeface="Times New Roman" pitchFamily="18" charset="0"/>
                <a:cs typeface="Times New Roman" pitchFamily="18" charset="0"/>
              </a:rPr>
              <a:t>What are the benefits and challenges of using Agile methods in large-scale projects?</a:t>
            </a:r>
          </a:p>
          <a:p>
            <a:pPr lvl="0"/>
            <a:r>
              <a:rPr lang="en-IN" sz="3500" dirty="0" smtClean="0">
                <a:solidFill>
                  <a:srgbClr val="FF0000"/>
                </a:solidFill>
                <a:latin typeface="Times New Roman" pitchFamily="18" charset="0"/>
                <a:cs typeface="Times New Roman" pitchFamily="18" charset="0"/>
              </a:rPr>
              <a:t>List and explain the four core values of the Agile Manifesto.</a:t>
            </a:r>
          </a:p>
          <a:p>
            <a:pPr lvl="0"/>
            <a:r>
              <a:rPr lang="en-IN" sz="3500" dirty="0" smtClean="0">
                <a:solidFill>
                  <a:srgbClr val="FF0000"/>
                </a:solidFill>
                <a:latin typeface="Times New Roman" pitchFamily="18" charset="0"/>
                <a:cs typeface="Times New Roman" pitchFamily="18" charset="0"/>
              </a:rPr>
              <a:t>What are the 12 principles of Agile software development?</a:t>
            </a:r>
          </a:p>
          <a:p>
            <a:pPr lvl="0"/>
            <a:r>
              <a:rPr lang="en-IN" sz="3500" dirty="0" smtClean="0">
                <a:latin typeface="Times New Roman" pitchFamily="18" charset="0"/>
                <a:cs typeface="Times New Roman" pitchFamily="18" charset="0"/>
              </a:rPr>
              <a:t>How does the Agile Manifesto promote customer collaboration over contract negotiation?</a:t>
            </a:r>
          </a:p>
          <a:p>
            <a:pPr lvl="0"/>
            <a:r>
              <a:rPr lang="en-IN" sz="3500" dirty="0" smtClean="0">
                <a:solidFill>
                  <a:srgbClr val="FF0000"/>
                </a:solidFill>
                <a:latin typeface="Times New Roman" pitchFamily="18" charset="0"/>
                <a:cs typeface="Times New Roman" pitchFamily="18" charset="0"/>
              </a:rPr>
              <a:t>Why is Agile Modelling important in software development?</a:t>
            </a:r>
          </a:p>
          <a:p>
            <a:pPr lvl="0"/>
            <a:r>
              <a:rPr lang="en-IN" sz="3500" dirty="0" smtClean="0">
                <a:latin typeface="Times New Roman" pitchFamily="18" charset="0"/>
                <a:cs typeface="Times New Roman" pitchFamily="18" charset="0"/>
              </a:rPr>
              <a:t>How does Agile Modelling support just-in-time modelling?</a:t>
            </a:r>
          </a:p>
          <a:p>
            <a:pPr lvl="0"/>
            <a:r>
              <a:rPr lang="en-IN" sz="3500" dirty="0" smtClean="0">
                <a:latin typeface="Times New Roman" pitchFamily="18" charset="0"/>
                <a:cs typeface="Times New Roman" pitchFamily="18" charset="0"/>
              </a:rPr>
              <a:t>Define Agile in the context of software development.</a:t>
            </a:r>
          </a:p>
          <a:p>
            <a:pPr lvl="0"/>
            <a:r>
              <a:rPr lang="en-IN" sz="3500" dirty="0" smtClean="0">
                <a:latin typeface="Times New Roman" pitchFamily="18" charset="0"/>
                <a:cs typeface="Times New Roman" pitchFamily="18" charset="0"/>
              </a:rPr>
              <a:t>How does Agile respond to changing requirements?</a:t>
            </a:r>
          </a:p>
          <a:p>
            <a:pPr lvl="0"/>
            <a:r>
              <a:rPr lang="en-IN" sz="3500" dirty="0" smtClean="0">
                <a:latin typeface="Times New Roman" pitchFamily="18" charset="0"/>
                <a:cs typeface="Times New Roman" pitchFamily="18" charset="0"/>
              </a:rPr>
              <a:t>How does Agile promote team collaboration and self-organization?</a:t>
            </a:r>
          </a:p>
          <a:p>
            <a:pPr lvl="0"/>
            <a:r>
              <a:rPr lang="en-IN" sz="3500" dirty="0" smtClean="0">
                <a:solidFill>
                  <a:srgbClr val="FF0000"/>
                </a:solidFill>
                <a:latin typeface="Times New Roman" pitchFamily="18" charset="0"/>
                <a:cs typeface="Times New Roman" pitchFamily="18" charset="0"/>
              </a:rPr>
              <a:t>Compare Agile with the Waterfall model.</a:t>
            </a:r>
          </a:p>
          <a:p>
            <a:pPr lvl="0"/>
            <a:r>
              <a:rPr lang="en-IN" sz="3500" dirty="0" smtClean="0">
                <a:solidFill>
                  <a:srgbClr val="FF0000"/>
                </a:solidFill>
                <a:latin typeface="Times New Roman" pitchFamily="18" charset="0"/>
                <a:cs typeface="Times New Roman" pitchFamily="18" charset="0"/>
              </a:rPr>
              <a:t>What is Extreme Programming (XP)?</a:t>
            </a:r>
          </a:p>
          <a:p>
            <a:pPr lvl="0"/>
            <a:r>
              <a:rPr lang="en-IN" sz="3500" dirty="0" smtClean="0">
                <a:solidFill>
                  <a:srgbClr val="FF0000"/>
                </a:solidFill>
                <a:latin typeface="Times New Roman" pitchFamily="18" charset="0"/>
                <a:cs typeface="Times New Roman" pitchFamily="18" charset="0"/>
              </a:rPr>
              <a:t>What are the core practices of XP?</a:t>
            </a:r>
          </a:p>
          <a:p>
            <a:pPr lvl="0"/>
            <a:r>
              <a:rPr lang="en-IN" sz="3500" dirty="0" smtClean="0">
                <a:latin typeface="Times New Roman" pitchFamily="18" charset="0"/>
                <a:cs typeface="Times New Roman" pitchFamily="18" charset="0"/>
              </a:rPr>
              <a:t>How does XP handle changing requirements?</a:t>
            </a:r>
          </a:p>
          <a:p>
            <a:pPr lvl="0"/>
            <a:r>
              <a:rPr lang="en-IN" sz="3500" dirty="0" smtClean="0">
                <a:solidFill>
                  <a:srgbClr val="FF0000"/>
                </a:solidFill>
                <a:latin typeface="Times New Roman" pitchFamily="18" charset="0"/>
                <a:cs typeface="Times New Roman" pitchFamily="18" charset="0"/>
              </a:rPr>
              <a:t>What is the role of Test-Driven Development (TDD) in XP?</a:t>
            </a:r>
          </a:p>
          <a:p>
            <a:pPr lvl="0"/>
            <a:r>
              <a:rPr lang="en-IN" sz="3500" dirty="0" smtClean="0">
                <a:solidFill>
                  <a:srgbClr val="FF0000"/>
                </a:solidFill>
                <a:latin typeface="Times New Roman" pitchFamily="18" charset="0"/>
                <a:cs typeface="Times New Roman" pitchFamily="18" charset="0"/>
              </a:rPr>
              <a:t>What is DSDM and what are its core principles?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800"/>
          </a:xfrm>
        </p:spPr>
        <p:txBody>
          <a:bodyPr>
            <a:normAutofit fontScale="55000" lnSpcReduction="20000"/>
          </a:bodyPr>
          <a:lstStyle/>
          <a:p>
            <a:pPr lvl="0"/>
            <a:r>
              <a:rPr lang="en-IN" dirty="0" smtClean="0">
                <a:latin typeface="Times New Roman" pitchFamily="18" charset="0"/>
                <a:cs typeface="Times New Roman" pitchFamily="18" charset="0"/>
              </a:rPr>
              <a:t>How does DSDM differ from XP and Scrum?</a:t>
            </a:r>
          </a:p>
          <a:p>
            <a:pPr lvl="0"/>
            <a:r>
              <a:rPr lang="en-IN" dirty="0" smtClean="0">
                <a:solidFill>
                  <a:srgbClr val="FF0000"/>
                </a:solidFill>
                <a:latin typeface="Times New Roman" pitchFamily="18" charset="0"/>
                <a:cs typeface="Times New Roman" pitchFamily="18" charset="0"/>
              </a:rPr>
              <a:t>What are the phases in the DSDM lifecycle?</a:t>
            </a:r>
          </a:p>
          <a:p>
            <a:pPr lvl="0"/>
            <a:r>
              <a:rPr lang="en-IN" dirty="0" smtClean="0">
                <a:latin typeface="Times New Roman" pitchFamily="18" charset="0"/>
                <a:cs typeface="Times New Roman" pitchFamily="18" charset="0"/>
              </a:rPr>
              <a:t>What is the importance of user involvement in DSDM?</a:t>
            </a:r>
          </a:p>
          <a:p>
            <a:pPr lvl="0"/>
            <a:r>
              <a:rPr lang="en-IN" dirty="0" smtClean="0">
                <a:solidFill>
                  <a:srgbClr val="FF0000"/>
                </a:solidFill>
                <a:latin typeface="Times New Roman" pitchFamily="18" charset="0"/>
                <a:cs typeface="Times New Roman" pitchFamily="18" charset="0"/>
              </a:rPr>
              <a:t>What is Scrum and what are its key components?</a:t>
            </a:r>
          </a:p>
          <a:p>
            <a:pPr lvl="0"/>
            <a:r>
              <a:rPr lang="en-IN" dirty="0" smtClean="0">
                <a:latin typeface="Times New Roman" pitchFamily="18" charset="0"/>
                <a:cs typeface="Times New Roman" pitchFamily="18" charset="0"/>
              </a:rPr>
              <a:t>Describe the roles in a Scrum team.</a:t>
            </a:r>
          </a:p>
          <a:p>
            <a:pPr lvl="0"/>
            <a:r>
              <a:rPr lang="en-IN" dirty="0" smtClean="0">
                <a:latin typeface="Times New Roman" pitchFamily="18" charset="0"/>
                <a:cs typeface="Times New Roman" pitchFamily="18" charset="0"/>
              </a:rPr>
              <a:t>What are the </a:t>
            </a:r>
            <a:r>
              <a:rPr lang="en-IN" dirty="0" err="1" smtClean="0">
                <a:latin typeface="Times New Roman" pitchFamily="18" charset="0"/>
                <a:cs typeface="Times New Roman" pitchFamily="18" charset="0"/>
              </a:rPr>
              <a:t>artifacts</a:t>
            </a:r>
            <a:r>
              <a:rPr lang="en-IN" dirty="0" smtClean="0">
                <a:latin typeface="Times New Roman" pitchFamily="18" charset="0"/>
                <a:cs typeface="Times New Roman" pitchFamily="18" charset="0"/>
              </a:rPr>
              <a:t> and ceremonies in Scrum?</a:t>
            </a:r>
          </a:p>
          <a:p>
            <a:pPr lvl="0"/>
            <a:r>
              <a:rPr lang="en-IN" dirty="0" smtClean="0">
                <a:latin typeface="Times New Roman" pitchFamily="18" charset="0"/>
                <a:cs typeface="Times New Roman" pitchFamily="18" charset="0"/>
              </a:rPr>
              <a:t>How does Scrum ensure continuous improvement?</a:t>
            </a:r>
          </a:p>
          <a:p>
            <a:pPr lvl="0"/>
            <a:r>
              <a:rPr lang="en-IN" dirty="0" smtClean="0">
                <a:solidFill>
                  <a:srgbClr val="FF0000"/>
                </a:solidFill>
                <a:latin typeface="Times New Roman" pitchFamily="18" charset="0"/>
                <a:cs typeface="Times New Roman" pitchFamily="18" charset="0"/>
              </a:rPr>
              <a:t>What is Feature-Driven Development (FDD)?</a:t>
            </a:r>
          </a:p>
          <a:p>
            <a:pPr lvl="0"/>
            <a:r>
              <a:rPr lang="en-IN" dirty="0" smtClean="0">
                <a:latin typeface="Times New Roman" pitchFamily="18" charset="0"/>
                <a:cs typeface="Times New Roman" pitchFamily="18" charset="0"/>
              </a:rPr>
              <a:t>What are the key activities involved in FDD?</a:t>
            </a:r>
          </a:p>
          <a:p>
            <a:pPr lvl="0"/>
            <a:r>
              <a:rPr lang="en-IN" dirty="0" smtClean="0">
                <a:latin typeface="Times New Roman" pitchFamily="18" charset="0"/>
                <a:cs typeface="Times New Roman" pitchFamily="18" charset="0"/>
              </a:rPr>
              <a:t>How does FDD manage large and complex systems?</a:t>
            </a:r>
          </a:p>
          <a:p>
            <a:pPr lvl="0"/>
            <a:r>
              <a:rPr lang="en-IN" dirty="0" smtClean="0">
                <a:solidFill>
                  <a:srgbClr val="FF0000"/>
                </a:solidFill>
                <a:latin typeface="Times New Roman" pitchFamily="18" charset="0"/>
                <a:cs typeface="Times New Roman" pitchFamily="18" charset="0"/>
              </a:rPr>
              <a:t>Compare FDD with other Agile methodologies like Scrum or XP.</a:t>
            </a:r>
          </a:p>
          <a:p>
            <a:pPr lvl="0"/>
            <a:r>
              <a:rPr lang="en-IN" dirty="0" smtClean="0">
                <a:solidFill>
                  <a:srgbClr val="FF0000"/>
                </a:solidFill>
                <a:latin typeface="Times New Roman" pitchFamily="18" charset="0"/>
                <a:cs typeface="Times New Roman" pitchFamily="18" charset="0"/>
              </a:rPr>
              <a:t>What are common misconceptions about modelling in Agile?</a:t>
            </a:r>
          </a:p>
          <a:p>
            <a:pPr lvl="0"/>
            <a:r>
              <a:rPr lang="en-IN" dirty="0" smtClean="0">
                <a:latin typeface="Times New Roman" pitchFamily="18" charset="0"/>
                <a:cs typeface="Times New Roman" pitchFamily="18" charset="0"/>
              </a:rPr>
              <a:t>Why do some developers believe modelling is unnecessary in Agile?</a:t>
            </a:r>
          </a:p>
          <a:p>
            <a:pPr lvl="0"/>
            <a:r>
              <a:rPr lang="en-IN" dirty="0" smtClean="0">
                <a:latin typeface="Times New Roman" pitchFamily="18" charset="0"/>
                <a:cs typeface="Times New Roman" pitchFamily="18" charset="0"/>
              </a:rPr>
              <a:t>How can poor understanding of modelling affect Agile projects?</a:t>
            </a:r>
          </a:p>
          <a:p>
            <a:pPr lvl="0"/>
            <a:r>
              <a:rPr lang="en-IN" dirty="0" smtClean="0">
                <a:latin typeface="Times New Roman" pitchFamily="18" charset="0"/>
                <a:cs typeface="Times New Roman" pitchFamily="18" charset="0"/>
              </a:rPr>
              <a:t>What are the best practices of Agile Modelling?</a:t>
            </a:r>
          </a:p>
          <a:p>
            <a:pPr lvl="0"/>
            <a:r>
              <a:rPr lang="en-IN" dirty="0" smtClean="0">
                <a:latin typeface="Times New Roman" pitchFamily="18" charset="0"/>
                <a:cs typeface="Times New Roman" pitchFamily="18" charset="0"/>
              </a:rPr>
              <a:t>How does Agile Modelling support "model with a purpose"?</a:t>
            </a:r>
          </a:p>
          <a:p>
            <a:pPr lvl="0"/>
            <a:r>
              <a:rPr lang="en-IN" dirty="0" smtClean="0">
                <a:latin typeface="Times New Roman" pitchFamily="18" charset="0"/>
                <a:cs typeface="Times New Roman" pitchFamily="18" charset="0"/>
              </a:rPr>
              <a:t>What are the types of models used in Agile?</a:t>
            </a:r>
          </a:p>
          <a:p>
            <a:pPr lvl="0"/>
            <a:r>
              <a:rPr lang="en-IN" dirty="0" smtClean="0">
                <a:latin typeface="Times New Roman" pitchFamily="18" charset="0"/>
                <a:cs typeface="Times New Roman" pitchFamily="18" charset="0"/>
              </a:rPr>
              <a:t>How does Agile Modelling integrate with Agile development practices like Scrum or XP?</a:t>
            </a:r>
          </a:p>
          <a:p>
            <a:pPr lvl="0"/>
            <a:r>
              <a:rPr lang="en-IN" dirty="0" smtClean="0">
                <a:solidFill>
                  <a:srgbClr val="FF0000"/>
                </a:solidFill>
                <a:latin typeface="Times New Roman" pitchFamily="18" charset="0"/>
                <a:cs typeface="Times New Roman" pitchFamily="18" charset="0"/>
              </a:rPr>
              <a:t>What are some tools that contribute to modelling misconceptions?</a:t>
            </a:r>
          </a:p>
          <a:p>
            <a:endParaRPr lang="en-IN" dirty="0" smtClean="0"/>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TotalTime>
  <Words>6547</Words>
  <Application>Microsoft Office PowerPoint</Application>
  <PresentationFormat>On-screen Show (4:3)</PresentationFormat>
  <Paragraphs>299</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Times New Roman</vt:lpstr>
      <vt:lpstr>Office Theme</vt:lpstr>
      <vt:lpstr>UNIT-I</vt:lpstr>
      <vt:lpstr>UNIT - I  </vt:lpstr>
      <vt:lpstr>UNIT-I</vt:lpstr>
      <vt:lpstr>What Is Agile?</vt:lpstr>
      <vt:lpstr>what is an Agile Methodology?</vt:lpstr>
      <vt:lpstr>PowerPoint Presentation</vt:lpstr>
      <vt:lpstr>PowerPoint Presentation</vt:lpstr>
      <vt:lpstr>PowerPoint Presentation</vt:lpstr>
      <vt:lpstr>Agile Manifesto</vt:lpstr>
      <vt:lpstr>PowerPoint Presentation</vt:lpstr>
      <vt:lpstr>1. Individuals and interactions over processes and tools. </vt:lpstr>
      <vt:lpstr>PowerPoint Presentation</vt:lpstr>
      <vt:lpstr>3.Customer collaboration over contract negotiation. </vt:lpstr>
      <vt:lpstr>4. Responding to change over following a plan</vt:lpstr>
      <vt:lpstr>PowerPoint Presentation</vt:lpstr>
      <vt:lpstr>PowerPoint Presentation</vt:lpstr>
      <vt:lpstr>PowerPoint Presentation</vt:lpstr>
      <vt:lpstr>What Are Agile Methods?</vt:lpstr>
      <vt:lpstr>Agile Modelling </vt:lpstr>
      <vt:lpstr>PowerPoint Presentation</vt:lpstr>
      <vt:lpstr>XP: eXtreme Programming </vt:lpstr>
      <vt:lpstr>Underlying XP are four basic principles, these are: </vt:lpstr>
      <vt:lpstr>These four basic principles have led to the following key ideas presented within XP: </vt:lpstr>
      <vt:lpstr>The XP Project Lifecycle </vt:lpstr>
      <vt:lpstr>Architectural Spike </vt:lpstr>
      <vt:lpstr>Release Planning </vt:lpstr>
      <vt:lpstr>Iterations </vt:lpstr>
      <vt:lpstr>Acceptance Testing </vt:lpstr>
      <vt:lpstr>Release </vt:lpstr>
      <vt:lpstr>DSDM </vt:lpstr>
      <vt:lpstr>PowerPoint Presentation</vt:lpstr>
      <vt:lpstr>The actual DSDM lifecycle is broken down into seven different phases, these are:  Pre-Project Phase, Feasibility Study, Business Case Study, the Functional Model Iteration (FMI), the Design and Build Iteration (DBI), the Implementation Phase andthe Post-Project Phase.  These are illustrated in Figure ,The first three phases (namely, the Pre-Project, Feasibility and Business Studies phases) are done sequentially in order. These phases set the ground rules for the rest of development process allowing users and teams to understand the world </vt:lpstr>
      <vt:lpstr>PowerPoint Presentation</vt:lpstr>
      <vt:lpstr>PowerPoint Presentation</vt:lpstr>
      <vt:lpstr>PowerPoint Presentation</vt:lpstr>
      <vt:lpstr>PowerPoint Presentation</vt:lpstr>
      <vt:lpstr>PowerPoint Presentation</vt:lpstr>
      <vt:lpstr>SCRUM </vt:lpstr>
      <vt:lpstr>PowerPoint Presentation</vt:lpstr>
      <vt:lpstr>PowerPoint Presentation</vt:lpstr>
      <vt:lpstr>Feature-Driven Development </vt:lpstr>
      <vt:lpstr>PowerPoint Presentation</vt:lpstr>
      <vt:lpstr>PowerPoint Presentation</vt:lpstr>
      <vt:lpstr>PowerPoint Presentation</vt:lpstr>
      <vt:lpstr>PowerPoint Presentation</vt:lpstr>
      <vt:lpstr>Agile Modelling </vt:lpstr>
      <vt:lpstr>PowerPoint Presentation</vt:lpstr>
      <vt:lpstr>PowerPoint Presentation</vt:lpstr>
      <vt:lpstr>PowerPoint Presentation</vt:lpstr>
      <vt:lpstr>PowerPoint Presentation</vt:lpstr>
      <vt:lpstr>PowerPoint Presentation</vt:lpstr>
      <vt:lpstr>PowerPoint Presentation</vt:lpstr>
      <vt:lpstr>Tool Misconceptions At this point, it is worthwhile considering some misconceptions and myths relating to the use of tools, modeling and UML. </vt:lpstr>
      <vt:lpstr>PowerPoint Presentation</vt:lpstr>
      <vt:lpstr>Questions on UNIT-1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Ruchitha</cp:lastModifiedBy>
  <cp:revision>47</cp:revision>
  <dcterms:created xsi:type="dcterms:W3CDTF">2006-08-16T00:00:00Z</dcterms:created>
  <dcterms:modified xsi:type="dcterms:W3CDTF">2026-07-30T17:39:33Z</dcterms:modified>
</cp:coreProperties>
</file>