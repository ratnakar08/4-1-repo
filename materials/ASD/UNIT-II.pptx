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4" r:id="rId3"/>
    <p:sldId id="257" r:id="rId4"/>
    <p:sldId id="258" r:id="rId5"/>
    <p:sldId id="259" r:id="rId6"/>
    <p:sldId id="260" r:id="rId7"/>
    <p:sldId id="261" r:id="rId8"/>
    <p:sldId id="262" r:id="rId9"/>
    <p:sldId id="265" r:id="rId10"/>
    <p:sldId id="266" r:id="rId11"/>
    <p:sldId id="284" r:id="rId12"/>
    <p:sldId id="267" r:id="rId13"/>
    <p:sldId id="285"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7" r:id="rId31"/>
    <p:sldId id="286" r:id="rId32"/>
    <p:sldId id="288" r:id="rId33"/>
    <p:sldId id="289" r:id="rId34"/>
    <p:sldId id="290" r:id="rId35"/>
    <p:sldId id="291" r:id="rId36"/>
    <p:sldId id="292" r:id="rId37"/>
    <p:sldId id="293" r:id="rId38"/>
    <p:sldId id="294" r:id="rId39"/>
    <p:sldId id="295" r:id="rId40"/>
    <p:sldId id="296" r:id="rId41"/>
    <p:sldId id="297" r:id="rId42"/>
    <p:sldId id="300" r:id="rId43"/>
    <p:sldId id="301" r:id="rId44"/>
    <p:sldId id="298" r:id="rId45"/>
    <p:sldId id="299" r:id="rId46"/>
    <p:sldId id="302" r:id="rId47"/>
    <p:sldId id="303" r:id="rId48"/>
    <p:sldId id="304" r:id="rId49"/>
    <p:sldId id="311" r:id="rId50"/>
    <p:sldId id="307" r:id="rId51"/>
    <p:sldId id="305" r:id="rId52"/>
    <p:sldId id="306" r:id="rId53"/>
    <p:sldId id="308" r:id="rId54"/>
    <p:sldId id="309" r:id="rId55"/>
    <p:sldId id="310" r:id="rId56"/>
    <p:sldId id="312" r:id="rId57"/>
    <p:sldId id="313"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latin typeface="Times New Roman" pitchFamily="18" charset="0"/>
                <a:cs typeface="Times New Roman" pitchFamily="18" charset="0"/>
              </a:rPr>
              <a:t>UNIT-II</a:t>
            </a:r>
            <a:endParaRPr lang="en-IN" b="1"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latin typeface="Times New Roman" pitchFamily="18" charset="0"/>
                <a:cs typeface="Times New Roman" pitchFamily="18" charset="0"/>
              </a:rPr>
              <a:t>UNIT - II</a:t>
            </a:r>
            <a:r>
              <a:rPr lang="en-IN" dirty="0" smtClean="0">
                <a:latin typeface="Times New Roman" pitchFamily="18" charset="0"/>
                <a:cs typeface="Times New Roman" pitchFamily="18" charset="0"/>
              </a:rPr>
              <a:t> </a:t>
            </a:r>
            <a:r>
              <a:rPr lang="en-IN" dirty="0" smtClean="0"/>
              <a:t/>
            </a:r>
            <a:br>
              <a:rPr lang="en-IN" dirty="0" smtClean="0"/>
            </a:br>
            <a:endParaRPr lang="en-IN" dirty="0"/>
          </a:p>
        </p:txBody>
      </p:sp>
      <p:sp>
        <p:nvSpPr>
          <p:cNvPr id="3" name="Content Placeholder 2"/>
          <p:cNvSpPr>
            <a:spLocks noGrp="1"/>
          </p:cNvSpPr>
          <p:nvPr>
            <p:ph idx="1"/>
          </p:nvPr>
        </p:nvSpPr>
        <p:spPr/>
        <p:txBody>
          <a:bodyPr>
            <a:normAutofit fontScale="92500" lnSpcReduction="20000"/>
          </a:bodyPr>
          <a:lstStyle/>
          <a:p>
            <a:pPr>
              <a:buNone/>
            </a:pPr>
            <a:r>
              <a:rPr lang="en-IN" dirty="0" smtClean="0">
                <a:latin typeface="Times New Roman" pitchFamily="18" charset="0"/>
                <a:cs typeface="Times New Roman" pitchFamily="18" charset="0"/>
              </a:rPr>
              <a:t>Extreme Programming: </a:t>
            </a:r>
          </a:p>
          <a:p>
            <a:pPr>
              <a:buNone/>
            </a:pPr>
            <a:r>
              <a:rPr lang="en-IN" dirty="0" smtClean="0">
                <a:latin typeface="Times New Roman" pitchFamily="18" charset="0"/>
                <a:cs typeface="Times New Roman" pitchFamily="18" charset="0"/>
              </a:rPr>
              <a:t>Introduction, </a:t>
            </a:r>
          </a:p>
          <a:p>
            <a:pPr>
              <a:buNone/>
            </a:pPr>
            <a:r>
              <a:rPr lang="en-IN" dirty="0" smtClean="0">
                <a:latin typeface="Times New Roman" pitchFamily="18" charset="0"/>
                <a:cs typeface="Times New Roman" pitchFamily="18" charset="0"/>
              </a:rPr>
              <a:t>Core XP Values</a:t>
            </a:r>
          </a:p>
          <a:p>
            <a:pPr>
              <a:buNone/>
            </a:pPr>
            <a:r>
              <a:rPr lang="en-IN" dirty="0" smtClean="0">
                <a:latin typeface="Times New Roman" pitchFamily="18" charset="0"/>
                <a:cs typeface="Times New Roman" pitchFamily="18" charset="0"/>
              </a:rPr>
              <a:t>The Twelve XP Practices </a:t>
            </a:r>
          </a:p>
          <a:p>
            <a:pPr>
              <a:buNone/>
            </a:pPr>
            <a:r>
              <a:rPr lang="en-IN" dirty="0" smtClean="0">
                <a:latin typeface="Times New Roman" pitchFamily="18" charset="0"/>
                <a:cs typeface="Times New Roman" pitchFamily="18" charset="0"/>
              </a:rPr>
              <a:t>About Extreme Programming</a:t>
            </a:r>
          </a:p>
          <a:p>
            <a:pPr>
              <a:buNone/>
            </a:pPr>
            <a:r>
              <a:rPr lang="en-IN" dirty="0" smtClean="0">
                <a:latin typeface="Times New Roman" pitchFamily="18" charset="0"/>
                <a:cs typeface="Times New Roman" pitchFamily="18" charset="0"/>
              </a:rPr>
              <a:t> Planning XP Projects</a:t>
            </a:r>
          </a:p>
          <a:p>
            <a:pPr>
              <a:buNone/>
            </a:pPr>
            <a:r>
              <a:rPr lang="en-IN" dirty="0" smtClean="0">
                <a:latin typeface="Times New Roman" pitchFamily="18" charset="0"/>
                <a:cs typeface="Times New Roman" pitchFamily="18" charset="0"/>
              </a:rPr>
              <a:t>Test First Coding</a:t>
            </a:r>
          </a:p>
          <a:p>
            <a:pPr>
              <a:buNone/>
            </a:pPr>
            <a:r>
              <a:rPr lang="en-IN" dirty="0" smtClean="0">
                <a:latin typeface="Times New Roman" pitchFamily="18" charset="0"/>
                <a:cs typeface="Times New Roman" pitchFamily="18" charset="0"/>
              </a:rPr>
              <a:t> Making Pair Programming Work.</a:t>
            </a:r>
          </a:p>
          <a:p>
            <a:pPr>
              <a:buNone/>
            </a:pPr>
            <a:r>
              <a:rPr lang="en-IN" b="1" dirty="0" smtClean="0">
                <a:latin typeface="Times New Roman" pitchFamily="18" charset="0"/>
                <a:cs typeface="Times New Roman" pitchFamily="18" charset="0"/>
              </a:rPr>
              <a:t> </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latin typeface="Times New Roman" pitchFamily="18" charset="0"/>
                <a:cs typeface="Times New Roman" pitchFamily="18" charset="0"/>
              </a:rPr>
              <a:t>Extreme Programming (XP)</a:t>
            </a:r>
            <a:r>
              <a:rPr lang="en-IN" b="1" dirty="0" smtClean="0"/>
              <a:t/>
            </a:r>
            <a:br>
              <a:rPr lang="en-IN" b="1" dirty="0" smtClean="0"/>
            </a:br>
            <a:endParaRPr lang="en-IN" dirty="0"/>
          </a:p>
        </p:txBody>
      </p:sp>
      <p:sp>
        <p:nvSpPr>
          <p:cNvPr id="3" name="Content Placeholder 2"/>
          <p:cNvSpPr>
            <a:spLocks noGrp="1"/>
          </p:cNvSpPr>
          <p:nvPr>
            <p:ph idx="1"/>
          </p:nvPr>
        </p:nvSpPr>
        <p:spPr>
          <a:xfrm>
            <a:off x="457200" y="914400"/>
            <a:ext cx="8229600" cy="5410200"/>
          </a:xfrm>
        </p:spPr>
        <p:txBody>
          <a:bodyPr>
            <a:normAutofit fontScale="85000" lnSpcReduction="10000"/>
          </a:bodyPr>
          <a:lstStyle/>
          <a:p>
            <a:r>
              <a:rPr lang="en-US" dirty="0" smtClean="0">
                <a:latin typeface="Times New Roman" pitchFamily="18" charset="0"/>
                <a:cs typeface="Times New Roman" pitchFamily="18" charset="0"/>
              </a:rPr>
              <a:t>Extreme Programming (more commonly known as XP). XP is part of the agile movement that focuses on the writing of the software that will implement the required system. This may involve writing Java code, Smalltalk, C++, C#, database tables, XML files, etc.</a:t>
            </a:r>
          </a:p>
          <a:p>
            <a:r>
              <a:rPr lang="en-US" dirty="0" smtClean="0">
                <a:latin typeface="Times New Roman" pitchFamily="18" charset="0"/>
                <a:cs typeface="Times New Roman" pitchFamily="18" charset="0"/>
              </a:rPr>
              <a:t>XP has been widely misunderstood and is often associated with hacking, a lack of planning, avoiding the creation of documentation and of programmers wildly attacking code while working in pairs. One ex-colleague joined a company a few years ago that claimed to have adopted XP. One of their “rules” associated with XP was that the developers were not allowed to write any comments in their code (they used Java so they had rules that Java doc was illegal). </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4000" b="1" dirty="0">
                <a:solidFill>
                  <a:srgbClr val="FF0000"/>
                </a:solidFill>
                <a:latin typeface="Times New Roman" pitchFamily="18" charset="0"/>
                <a:cs typeface="Times New Roman" pitchFamily="18" charset="0"/>
              </a:rPr>
              <a:t>Core XP Values</a:t>
            </a:r>
            <a:r>
              <a:rPr lang="en-IN" b="1" dirty="0"/>
              <a:t/>
            </a:r>
            <a:br>
              <a:rPr lang="en-IN" b="1" dirty="0"/>
            </a:br>
            <a:endParaRPr lang="en-IN" dirty="0"/>
          </a:p>
        </p:txBody>
      </p:sp>
      <p:sp>
        <p:nvSpPr>
          <p:cNvPr id="3" name="Content Placeholder 2"/>
          <p:cNvSpPr>
            <a:spLocks noGrp="1"/>
          </p:cNvSpPr>
          <p:nvPr>
            <p:ph idx="1"/>
          </p:nvPr>
        </p:nvSpPr>
        <p:spPr/>
        <p:txBody>
          <a:bodyPr/>
          <a:lstStyle/>
          <a:p>
            <a:pPr>
              <a:buNone/>
            </a:pPr>
            <a:r>
              <a:rPr lang="en-US" dirty="0" smtClean="0">
                <a:latin typeface="Times New Roman" pitchFamily="18" charset="0"/>
                <a:cs typeface="Times New Roman" pitchFamily="18" charset="0"/>
              </a:rPr>
              <a:t>These values are presented as:</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Communication</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Simplicity</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Feedback</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Coverage</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smtClean="0">
                <a:solidFill>
                  <a:srgbClr val="FF0000"/>
                </a:solidFill>
                <a:latin typeface="Times New Roman" pitchFamily="18" charset="0"/>
                <a:cs typeface="Times New Roman" pitchFamily="18" charset="0"/>
              </a:rPr>
              <a:t>Communication</a:t>
            </a:r>
            <a:r>
              <a:rPr lang="en-IN" dirty="0" smtClean="0"/>
              <a:t/>
            </a:r>
            <a:br>
              <a:rPr lang="en-IN" dirty="0" smtClean="0"/>
            </a:br>
            <a:endParaRPr lang="en-IN" dirty="0"/>
          </a:p>
        </p:txBody>
      </p:sp>
      <p:sp>
        <p:nvSpPr>
          <p:cNvPr id="3" name="Content Placeholder 2"/>
          <p:cNvSpPr>
            <a:spLocks noGrp="1"/>
          </p:cNvSpPr>
          <p:nvPr>
            <p:ph idx="1"/>
          </p:nvPr>
        </p:nvSpPr>
        <p:spPr>
          <a:xfrm>
            <a:off x="457200" y="1066800"/>
            <a:ext cx="8229600" cy="5059363"/>
          </a:xfrm>
        </p:spPr>
        <p:txBody>
          <a:bodyPr>
            <a:normAutofit fontScale="92500" lnSpcReduction="10000"/>
          </a:bodyPr>
          <a:lstStyle/>
          <a:p>
            <a:r>
              <a:rPr lang="en-US" dirty="0" smtClean="0">
                <a:latin typeface="Times New Roman" pitchFamily="18" charset="0"/>
                <a:cs typeface="Times New Roman" pitchFamily="18" charset="0"/>
              </a:rPr>
              <a:t>Communication within a software team – the very idea! Whilst this value is to many so obvious as to not require any explanation at all, it is not necessarily adopted within a software project</a:t>
            </a:r>
          </a:p>
          <a:p>
            <a:r>
              <a:rPr lang="en-US" dirty="0" smtClean="0">
                <a:latin typeface="Times New Roman" pitchFamily="18" charset="0"/>
                <a:cs typeface="Times New Roman" pitchFamily="18" charset="0"/>
              </a:rPr>
              <a:t>Whatever the reason for poor communications, many problems or defects within software systems can be traced back to poor communications during the development of the system. This may be poor communication between programmers, between end users and the development team</a:t>
            </a:r>
            <a:endParaRPr lang="en-IN"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4000" b="1" dirty="0" smtClean="0">
                <a:solidFill>
                  <a:srgbClr val="FF0000"/>
                </a:solidFill>
                <a:latin typeface="Times New Roman" pitchFamily="18" charset="0"/>
                <a:cs typeface="Times New Roman" pitchFamily="18" charset="0"/>
              </a:rPr>
              <a:t>Simplicity</a:t>
            </a:r>
            <a:r>
              <a:rPr lang="en-IN" b="1" dirty="0" smtClean="0"/>
              <a:t/>
            </a:r>
            <a:br>
              <a:rPr lang="en-IN" b="1" dirty="0" smtClean="0"/>
            </a:br>
            <a:endParaRPr lang="en-IN" dirty="0"/>
          </a:p>
        </p:txBody>
      </p:sp>
      <p:sp>
        <p:nvSpPr>
          <p:cNvPr id="3" name="Content Placeholder 2"/>
          <p:cNvSpPr>
            <a:spLocks noGrp="1"/>
          </p:cNvSpPr>
          <p:nvPr>
            <p:ph idx="1"/>
          </p:nvPr>
        </p:nvSpPr>
        <p:spPr>
          <a:xfrm>
            <a:off x="457200" y="1371600"/>
            <a:ext cx="8229600" cy="4754563"/>
          </a:xfrm>
        </p:spPr>
        <p:txBody>
          <a:bodyPr>
            <a:normAutofit fontScale="92500" lnSpcReduction="20000"/>
          </a:bodyPr>
          <a:lstStyle/>
          <a:p>
            <a:r>
              <a:rPr lang="en-US" dirty="0" smtClean="0">
                <a:latin typeface="Times New Roman" pitchFamily="18" charset="0"/>
                <a:cs typeface="Times New Roman" pitchFamily="18" charset="0"/>
              </a:rPr>
              <a:t>A rule I have adopted and forced those working with me to adopt for many years now is to </a:t>
            </a:r>
            <a:r>
              <a:rPr lang="en-US" i="1" dirty="0" smtClean="0">
                <a:latin typeface="Times New Roman" pitchFamily="18" charset="0"/>
                <a:cs typeface="Times New Roman" pitchFamily="18" charset="0"/>
              </a:rPr>
              <a:t>keep things simple</a:t>
            </a:r>
            <a:r>
              <a:rPr lang="en-US" dirty="0" smtClean="0">
                <a:latin typeface="Times New Roman" pitchFamily="18" charset="0"/>
                <a:cs typeface="Times New Roman" pitchFamily="18" charset="0"/>
              </a:rPr>
              <a:t>. If a simple solution is adopted, then it is easier for all to understand.</a:t>
            </a:r>
          </a:p>
          <a:p>
            <a:r>
              <a:rPr lang="en-US" dirty="0" smtClean="0">
                <a:latin typeface="Times New Roman" pitchFamily="18" charset="0"/>
                <a:cs typeface="Times New Roman" pitchFamily="18" charset="0"/>
              </a:rPr>
              <a:t> The simplicity value underlying XP says that you should aim for the simplest solution that does the job (echoes of Agile </a:t>
            </a:r>
            <a:r>
              <a:rPr lang="en-US" dirty="0" err="1" smtClean="0">
                <a:latin typeface="Times New Roman" pitchFamily="18" charset="0"/>
                <a:cs typeface="Times New Roman" pitchFamily="18" charset="0"/>
              </a:rPr>
              <a:t>Modelling</a:t>
            </a:r>
            <a:r>
              <a:rPr lang="en-US" dirty="0" smtClean="0">
                <a:latin typeface="Times New Roman" pitchFamily="18" charset="0"/>
                <a:cs typeface="Times New Roman" pitchFamily="18" charset="0"/>
              </a:rPr>
              <a:t> here). Why is this, the theory (and general experience is) that the simpler the implementation, the easier it is to implement, test, understand, maintain, etc. Thus, the easier it is to find and correct bugs in the software. </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4000" b="1" dirty="0" smtClean="0">
                <a:solidFill>
                  <a:srgbClr val="FF0000"/>
                </a:solidFill>
                <a:latin typeface="Times New Roman" pitchFamily="18" charset="0"/>
                <a:cs typeface="Times New Roman" pitchFamily="18" charset="0"/>
              </a:rPr>
              <a:t>Feedback</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fontScale="85000" lnSpcReduction="10000"/>
          </a:bodyPr>
          <a:lstStyle/>
          <a:p>
            <a:r>
              <a:rPr lang="en-US" dirty="0" smtClean="0">
                <a:latin typeface="Times New Roman" pitchFamily="18" charset="0"/>
                <a:cs typeface="Times New Roman" pitchFamily="18" charset="0"/>
              </a:rPr>
              <a:t>It is good to get feedback. Projects should get feedback early, and often, from the customer, from the team, from real end users, from other project stakeholders, etc. It helps to identify problems early on, deal with unknowns and clarify issues. That is, it generally helps avoid nasty shocks later on.</a:t>
            </a:r>
          </a:p>
          <a:p>
            <a:r>
              <a:rPr lang="en-US" dirty="0" smtClean="0">
                <a:latin typeface="Times New Roman" pitchFamily="18" charset="0"/>
                <a:cs typeface="Times New Roman" pitchFamily="18" charset="0"/>
              </a:rPr>
              <a:t>Feedback can be at many different levels, for example, by running unit tests every time any new code is integrated into the system, any problem introduced by the new code can be identified immediately.</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4000" b="1" dirty="0" smtClean="0">
                <a:solidFill>
                  <a:srgbClr val="FF0000"/>
                </a:solidFill>
                <a:latin typeface="Times New Roman" pitchFamily="18" charset="0"/>
                <a:cs typeface="Times New Roman" pitchFamily="18" charset="0"/>
              </a:rPr>
              <a:t>Courage</a:t>
            </a:r>
            <a:r>
              <a:rPr lang="en-IN" b="1" dirty="0" smtClean="0"/>
              <a:t/>
            </a:r>
            <a:br>
              <a:rPr lang="en-IN" b="1" dirty="0" smtClean="0"/>
            </a:br>
            <a:endParaRPr lang="en-IN" dirty="0"/>
          </a:p>
        </p:txBody>
      </p:sp>
      <p:sp>
        <p:nvSpPr>
          <p:cNvPr id="3" name="Content Placeholder 2"/>
          <p:cNvSpPr>
            <a:spLocks noGrp="1"/>
          </p:cNvSpPr>
          <p:nvPr>
            <p:ph idx="1"/>
          </p:nvPr>
        </p:nvSpPr>
        <p:spPr>
          <a:xfrm>
            <a:off x="457200" y="1600200"/>
            <a:ext cx="8458200" cy="4525963"/>
          </a:xfrm>
        </p:spPr>
        <p:txBody>
          <a:bodyPr>
            <a:normAutofit/>
          </a:bodyPr>
          <a:lstStyle/>
          <a:p>
            <a:pPr>
              <a:buNone/>
            </a:pPr>
            <a:r>
              <a:rPr lang="en-US" sz="2000" dirty="0" smtClean="0">
                <a:latin typeface="Times New Roman" pitchFamily="18" charset="0"/>
                <a:cs typeface="Times New Roman" pitchFamily="18" charset="0"/>
              </a:rPr>
              <a:t>      You will need courage to adopt XP. Why? Because you need courage to </a:t>
            </a:r>
            <a:r>
              <a:rPr lang="en-US" sz="2000" dirty="0" err="1" smtClean="0">
                <a:latin typeface="Times New Roman" pitchFamily="18" charset="0"/>
                <a:cs typeface="Times New Roman" pitchFamily="18" charset="0"/>
              </a:rPr>
              <a:t>refactor</a:t>
            </a:r>
            <a:r>
              <a:rPr lang="en-US" sz="2000" dirty="0" smtClean="0">
                <a:latin typeface="Times New Roman" pitchFamily="18" charset="0"/>
                <a:cs typeface="Times New Roman" pitchFamily="18" charset="0"/>
              </a:rPr>
              <a:t> code (that is change existing code so that it is better than it was before but such that it does not provide any new functionality), you need courage to throw away code, you need courage to code for now and leave tomorrow to tomorrow and you need courage to move management to adopt XP’s way of working</a:t>
            </a:r>
            <a:endParaRPr lang="en-IN" sz="20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0600" y="274638"/>
            <a:ext cx="3886200" cy="5897562"/>
          </a:xfrm>
        </p:spPr>
        <p:txBody>
          <a:bodyPr>
            <a:normAutofit/>
          </a:bodyPr>
          <a:lstStyle/>
          <a:p>
            <a:r>
              <a:rPr lang="en-US" sz="1800" dirty="0" smtClean="0">
                <a:latin typeface="Times New Roman" pitchFamily="18" charset="0"/>
                <a:cs typeface="Times New Roman" pitchFamily="18" charset="0"/>
              </a:rPr>
              <a:t>User stories are developed any time by customers, but particularly during the planning game–a process which occurs at the start of an XP project. A user story is a description in the customers’ own words, describing what the system needs to do. Conceptually, they are written by the customers, although in </a:t>
            </a:r>
            <a:r>
              <a:rPr lang="en-US" sz="1800" dirty="0" err="1" smtClean="0">
                <a:latin typeface="Times New Roman" pitchFamily="18" charset="0"/>
                <a:cs typeface="Times New Roman" pitchFamily="18" charset="0"/>
              </a:rPr>
              <a:t>practise</a:t>
            </a:r>
            <a:r>
              <a:rPr lang="en-US" sz="1800" dirty="0" smtClean="0">
                <a:latin typeface="Times New Roman" pitchFamily="18" charset="0"/>
                <a:cs typeface="Times New Roman" pitchFamily="18" charset="0"/>
              </a:rPr>
              <a:t> a developer may write down what a customer tells them</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Each user story has a name, a short paragraph describing the purpose of the story, an estimate of how long it will take to implement (which may be “we don’t know”), and a relative importance (such as “must have,” “should have” and “</a:t>
            </a:r>
            <a:r>
              <a:rPr lang="en-US" sz="1800" dirty="0" err="1" smtClean="0">
                <a:latin typeface="Times New Roman" pitchFamily="18" charset="0"/>
                <a:cs typeface="Times New Roman" pitchFamily="18" charset="0"/>
              </a:rPr>
              <a:t>niceto</a:t>
            </a:r>
            <a:r>
              <a:rPr lang="en-US" sz="1800" dirty="0" smtClean="0">
                <a:latin typeface="Times New Roman" pitchFamily="18" charset="0"/>
                <a:cs typeface="Times New Roman" pitchFamily="18" charset="0"/>
              </a:rPr>
              <a:t> have”).</a:t>
            </a:r>
            <a:br>
              <a:rPr lang="en-US" sz="1800" dirty="0" smtClean="0">
                <a:latin typeface="Times New Roman" pitchFamily="18" charset="0"/>
                <a:cs typeface="Times New Roman" pitchFamily="18" charset="0"/>
              </a:rPr>
            </a:br>
            <a:r>
              <a:rPr lang="en-US" sz="1800" dirty="0" smtClean="0">
                <a:latin typeface="Times New Roman" pitchFamily="18" charset="0"/>
                <a:cs typeface="Times New Roman" pitchFamily="18" charset="0"/>
              </a:rPr>
              <a:t>Note that it is customers, however, who can validate (and reject) stories and not developers.</a:t>
            </a:r>
            <a:r>
              <a:rPr lang="en-IN" sz="1200" dirty="0" smtClean="0">
                <a:latin typeface="Times New Roman" pitchFamily="18" charset="0"/>
                <a:cs typeface="Times New Roman" pitchFamily="18" charset="0"/>
              </a:rPr>
              <a:t/>
            </a:r>
            <a:br>
              <a:rPr lang="en-IN" sz="1200" dirty="0" smtClean="0">
                <a:latin typeface="Times New Roman" pitchFamily="18" charset="0"/>
                <a:cs typeface="Times New Roman" pitchFamily="18" charset="0"/>
              </a:rPr>
            </a:br>
            <a:endParaRPr lang="en-IN" sz="1200"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0" y="381000"/>
            <a:ext cx="4953000" cy="5668963"/>
          </a:xfrm>
          <a:prstGeom prst="rect">
            <a:avLst/>
          </a:prstGeom>
          <a:noFill/>
          <a:ln w="9525">
            <a:noFill/>
            <a:miter lim="800000"/>
            <a:headEnd/>
            <a:tailEnd/>
          </a:ln>
        </p:spPr>
      </p:pic>
      <p:sp>
        <p:nvSpPr>
          <p:cNvPr id="5" name="Title 1"/>
          <p:cNvSpPr txBox="1">
            <a:spLocks/>
          </p:cNvSpPr>
          <p:nvPr/>
        </p:nvSpPr>
        <p:spPr>
          <a:xfrm>
            <a:off x="0" y="6019800"/>
            <a:ext cx="8229600" cy="381000"/>
          </a:xfrm>
          <a:prstGeom prst="rect">
            <a:avLst/>
          </a:prstGeom>
        </p:spPr>
        <p:txBody>
          <a:bodyPr vert="horz" lIns="91440" tIns="45720" rIns="91440" bIns="45720" rtlCol="0" anchor="ctr">
            <a:normAutofit fontScale="40000" lnSpcReduction="20000"/>
          </a:bodyPr>
          <a:lstStyle/>
          <a:p>
            <a:pPr marL="0" marR="0" lvl="1" indent="0" algn="ctr" defTabSz="914400" rtl="0" eaLnBrk="1" fontAlgn="auto" latinLnBrk="0" hangingPunct="1">
              <a:lnSpc>
                <a:spcPct val="100000"/>
              </a:lnSpc>
              <a:spcBef>
                <a:spcPct val="0"/>
              </a:spcBef>
              <a:spcAft>
                <a:spcPts val="0"/>
              </a:spcAft>
              <a:buClrTx/>
              <a:buSzTx/>
              <a:buFontTx/>
              <a:buNone/>
              <a:tabLst/>
              <a:defRPr/>
            </a:pPr>
            <a:r>
              <a:rPr kumimoji="0" lang="en-US" sz="4000" b="1" i="0" u="none" strike="noStrike" kern="0" cap="none" spc="0" normalizeH="0" baseline="0" noProof="0" smtClean="0">
                <a:ln>
                  <a:noFill/>
                </a:ln>
                <a:solidFill>
                  <a:sysClr val="windowText" lastClr="000000"/>
                </a:solidFill>
                <a:effectLst/>
                <a:uLnTx/>
                <a:uFillTx/>
                <a:latin typeface="Times New Roman" pitchFamily="18" charset="0"/>
                <a:cs typeface="Times New Roman" pitchFamily="18" charset="0"/>
              </a:rPr>
              <a:t>User Stories</a:t>
            </a:r>
            <a:r>
              <a:rPr kumimoji="0" lang="en-IN" sz="1800" b="1" i="0" u="none" strike="noStrike" kern="0" cap="none" spc="0" normalizeH="0" baseline="0" noProof="0" smtClean="0">
                <a:ln>
                  <a:noFill/>
                </a:ln>
                <a:solidFill>
                  <a:sysClr val="windowText" lastClr="000000"/>
                </a:solidFill>
                <a:effectLst/>
                <a:uLnTx/>
                <a:uFillTx/>
              </a:rPr>
              <a:t/>
            </a:r>
            <a:br>
              <a:rPr kumimoji="0" lang="en-IN" sz="1800" b="1" i="0" u="none" strike="noStrike" kern="0" cap="none" spc="0" normalizeH="0" baseline="0" noProof="0" smtClean="0">
                <a:ln>
                  <a:noFill/>
                </a:ln>
                <a:solidFill>
                  <a:sysClr val="windowText" lastClr="000000"/>
                </a:solidFill>
                <a:effectLst/>
                <a:uLnTx/>
                <a:uFillTx/>
              </a:rPr>
            </a:br>
            <a:endParaRPr kumimoji="0" lang="en-IN" sz="1800" b="0" i="0" u="none" strike="noStrike" kern="0" cap="none" spc="0" normalizeH="0" baseline="0" noProof="0" dirty="0" smtClean="0">
              <a:ln>
                <a:noFill/>
              </a:ln>
              <a:solidFill>
                <a:sysClr val="windowText" lastClr="000000"/>
              </a:solidFill>
              <a:effectLst/>
              <a:uLnTx/>
              <a:uFillTx/>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4000" b="1" dirty="0" smtClean="0">
                <a:solidFill>
                  <a:srgbClr val="FF0000"/>
                </a:solidFill>
                <a:latin typeface="Times New Roman" pitchFamily="18" charset="0"/>
                <a:cs typeface="Times New Roman" pitchFamily="18" charset="0"/>
              </a:rPr>
              <a:t>The Twelve XP Practices</a:t>
            </a:r>
            <a:r>
              <a:rPr lang="en-IN" b="1" dirty="0" smtClean="0"/>
              <a:t/>
            </a:r>
            <a:br>
              <a:rPr lang="en-IN" b="1" dirty="0" smtClean="0"/>
            </a:br>
            <a:endParaRPr lang="en-IN" dirty="0"/>
          </a:p>
        </p:txBody>
      </p:sp>
      <p:sp>
        <p:nvSpPr>
          <p:cNvPr id="3" name="Content Placeholder 2"/>
          <p:cNvSpPr>
            <a:spLocks noGrp="1"/>
          </p:cNvSpPr>
          <p:nvPr>
            <p:ph idx="1"/>
          </p:nvPr>
        </p:nvSpPr>
        <p:spPr>
          <a:xfrm>
            <a:off x="457200" y="1295400"/>
            <a:ext cx="8229600" cy="4525963"/>
          </a:xfrm>
        </p:spPr>
        <p:txBody>
          <a:bodyPr>
            <a:normAutofit/>
          </a:bodyPr>
          <a:lstStyle/>
          <a:p>
            <a:r>
              <a:rPr lang="en-US" sz="2000" dirty="0" smtClean="0">
                <a:latin typeface="Times New Roman" pitchFamily="18" charset="0"/>
                <a:cs typeface="Times New Roman" pitchFamily="18" charset="0"/>
              </a:rPr>
              <a:t>Given the four values presented above, twelve practices have been developed that try to translate these into a way of working that achieves the aims of XP. If you like, they are the twelve “best practices” that will allow you to fully adopt Extreme Programming on a development project.</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Looking at these best practices, you may wonder at their apparent simplicity, but you should note a number of factors about them</a:t>
            </a:r>
          </a:p>
          <a:p>
            <a:r>
              <a:rPr lang="en-US" sz="2000" dirty="0" smtClean="0">
                <a:latin typeface="Times New Roman" pitchFamily="18" charset="0"/>
                <a:cs typeface="Times New Roman" pitchFamily="18" charset="0"/>
              </a:rPr>
              <a:t> There are twelve core practices which effectively define XP. If you have not adopted all twelve, then you are not truly doing XP (although you may be very near to XP within some agile continuum).</a:t>
            </a:r>
            <a:endParaRPr lang="en-IN" sz="2000" dirty="0" smtClean="0">
              <a:latin typeface="Times New Roman" pitchFamily="18" charset="0"/>
              <a:cs typeface="Times New Roman" pitchFamily="18" charset="0"/>
            </a:endParaRPr>
          </a:p>
          <a:p>
            <a:endParaRPr lang="en-IN" sz="16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FF0000"/>
                </a:solidFill>
                <a:latin typeface="Times New Roman" pitchFamily="18" charset="0"/>
                <a:cs typeface="Times New Roman" pitchFamily="18" charset="0"/>
              </a:rPr>
              <a:t>The 12 practices are:</a:t>
            </a:r>
            <a:r>
              <a:rPr lang="en-IN" dirty="0" smtClean="0">
                <a:solidFill>
                  <a:srgbClr val="FF0000"/>
                </a:solidFill>
                <a:latin typeface="Times New Roman" pitchFamily="18" charset="0"/>
                <a:cs typeface="Times New Roman" pitchFamily="18" charset="0"/>
              </a:rPr>
              <a:t/>
            </a:r>
            <a:br>
              <a:rPr lang="en-IN" dirty="0" smtClean="0">
                <a:solidFill>
                  <a:srgbClr val="FF0000"/>
                </a:solidFill>
                <a:latin typeface="Times New Roman" pitchFamily="18" charset="0"/>
                <a:cs typeface="Times New Roman" pitchFamily="18" charset="0"/>
              </a:rPr>
            </a:br>
            <a:endParaRPr lang="en-IN" dirty="0"/>
          </a:p>
        </p:txBody>
      </p:sp>
      <p:sp>
        <p:nvSpPr>
          <p:cNvPr id="3" name="Content Placeholder 2"/>
          <p:cNvSpPr>
            <a:spLocks noGrp="1"/>
          </p:cNvSpPr>
          <p:nvPr>
            <p:ph idx="1"/>
          </p:nvPr>
        </p:nvSpPr>
        <p:spPr>
          <a:xfrm>
            <a:off x="457200" y="1600200"/>
            <a:ext cx="8458200" cy="4876800"/>
          </a:xfrm>
        </p:spPr>
        <p:txBody>
          <a:bodyPr>
            <a:normAutofit fontScale="40000" lnSpcReduction="20000"/>
          </a:bodyPr>
          <a:lstStyle/>
          <a:p>
            <a:pPr lvl="1"/>
            <a:r>
              <a:rPr lang="en-US" sz="6000" i="1" dirty="0" smtClean="0">
                <a:solidFill>
                  <a:srgbClr val="FF0000"/>
                </a:solidFill>
                <a:latin typeface="Times New Roman" pitchFamily="18" charset="0"/>
                <a:cs typeface="Times New Roman" pitchFamily="18" charset="0"/>
              </a:rPr>
              <a:t>The planning game. </a:t>
            </a:r>
            <a:r>
              <a:rPr lang="en-US" sz="6000" dirty="0" smtClean="0">
                <a:latin typeface="Times New Roman" pitchFamily="18" charset="0"/>
                <a:cs typeface="Times New Roman" pitchFamily="18" charset="0"/>
              </a:rPr>
              <a:t>This focuses on planning the next release.</a:t>
            </a:r>
            <a:endParaRPr lang="en-IN" sz="6000" dirty="0" smtClean="0">
              <a:latin typeface="Times New Roman" pitchFamily="18" charset="0"/>
              <a:cs typeface="Times New Roman" pitchFamily="18" charset="0"/>
            </a:endParaRPr>
          </a:p>
          <a:p>
            <a:pPr lvl="1"/>
            <a:r>
              <a:rPr lang="en-US" sz="6000" i="1" dirty="0" smtClean="0">
                <a:solidFill>
                  <a:srgbClr val="FF0000"/>
                </a:solidFill>
                <a:latin typeface="Times New Roman" pitchFamily="18" charset="0"/>
                <a:cs typeface="Times New Roman" pitchFamily="18" charset="0"/>
              </a:rPr>
              <a:t>Small releases. </a:t>
            </a:r>
            <a:r>
              <a:rPr lang="en-US" sz="6000" dirty="0" smtClean="0">
                <a:latin typeface="Times New Roman" pitchFamily="18" charset="0"/>
                <a:cs typeface="Times New Roman" pitchFamily="18" charset="0"/>
              </a:rPr>
              <a:t>A software system is developed iteratively with small releases adding system features and allowing rapid feedback.</a:t>
            </a:r>
            <a:endParaRPr lang="en-IN" sz="6000" dirty="0" smtClean="0">
              <a:latin typeface="Times New Roman" pitchFamily="18" charset="0"/>
              <a:cs typeface="Times New Roman" pitchFamily="18" charset="0"/>
            </a:endParaRPr>
          </a:p>
          <a:p>
            <a:pPr lvl="1"/>
            <a:r>
              <a:rPr lang="en-US" sz="6000" i="1" dirty="0" smtClean="0">
                <a:solidFill>
                  <a:srgbClr val="FF0000"/>
                </a:solidFill>
                <a:latin typeface="Times New Roman" pitchFamily="18" charset="0"/>
                <a:cs typeface="Times New Roman" pitchFamily="18" charset="0"/>
              </a:rPr>
              <a:t>Simple design. </a:t>
            </a:r>
            <a:r>
              <a:rPr lang="en-US" sz="6000" dirty="0" smtClean="0">
                <a:latin typeface="Times New Roman" pitchFamily="18" charset="0"/>
                <a:cs typeface="Times New Roman" pitchFamily="18" charset="0"/>
              </a:rPr>
              <a:t>Keep things as simple as possible but not simpler.</a:t>
            </a:r>
            <a:endParaRPr lang="en-IN" sz="6000" dirty="0" smtClean="0">
              <a:latin typeface="Times New Roman" pitchFamily="18" charset="0"/>
              <a:cs typeface="Times New Roman" pitchFamily="18" charset="0"/>
            </a:endParaRPr>
          </a:p>
          <a:p>
            <a:pPr lvl="1"/>
            <a:r>
              <a:rPr lang="en-US" sz="6000" i="1" dirty="0" smtClean="0">
                <a:solidFill>
                  <a:srgbClr val="FF0000"/>
                </a:solidFill>
                <a:latin typeface="Times New Roman" pitchFamily="18" charset="0"/>
                <a:cs typeface="Times New Roman" pitchFamily="18" charset="0"/>
              </a:rPr>
              <a:t>Testing. </a:t>
            </a:r>
            <a:r>
              <a:rPr lang="en-US" sz="6000" dirty="0" smtClean="0">
                <a:latin typeface="Times New Roman" pitchFamily="18" charset="0"/>
                <a:cs typeface="Times New Roman" pitchFamily="18" charset="0"/>
              </a:rPr>
              <a:t>Unit tests and acceptance tests must be continually developed and the code must pass unit tests for development to continue.</a:t>
            </a:r>
            <a:endParaRPr lang="en-IN" sz="6000" dirty="0" smtClean="0">
              <a:latin typeface="Times New Roman" pitchFamily="18" charset="0"/>
              <a:cs typeface="Times New Roman" pitchFamily="18" charset="0"/>
            </a:endParaRPr>
          </a:p>
          <a:p>
            <a:pPr lvl="1"/>
            <a:r>
              <a:rPr lang="en-US" sz="6000" i="1" dirty="0" smtClean="0">
                <a:solidFill>
                  <a:srgbClr val="FF0000"/>
                </a:solidFill>
                <a:latin typeface="Times New Roman" pitchFamily="18" charset="0"/>
                <a:cs typeface="Times New Roman" pitchFamily="18" charset="0"/>
              </a:rPr>
              <a:t>Refactoring. </a:t>
            </a:r>
            <a:r>
              <a:rPr lang="en-US" sz="6000" dirty="0" smtClean="0">
                <a:latin typeface="Times New Roman" pitchFamily="18" charset="0"/>
                <a:cs typeface="Times New Roman" pitchFamily="18" charset="0"/>
              </a:rPr>
              <a:t>This involves improving the system (e.g., to aid simplicity) with- out changing the functionality.</a:t>
            </a:r>
            <a:endParaRPr lang="en-IN" sz="6000" dirty="0" smtClean="0">
              <a:latin typeface="Times New Roman" pitchFamily="18" charset="0"/>
              <a:cs typeface="Times New Roman" pitchFamily="18" charset="0"/>
            </a:endParaRPr>
          </a:p>
          <a:p>
            <a:pPr lvl="1"/>
            <a:r>
              <a:rPr lang="en-US" sz="6000" i="1" dirty="0" smtClean="0">
                <a:solidFill>
                  <a:srgbClr val="FF0000"/>
                </a:solidFill>
                <a:latin typeface="Times New Roman" pitchFamily="18" charset="0"/>
                <a:cs typeface="Times New Roman" pitchFamily="18" charset="0"/>
              </a:rPr>
              <a:t>Pair programming. </a:t>
            </a:r>
            <a:r>
              <a:rPr lang="en-US" sz="6000" dirty="0" smtClean="0">
                <a:latin typeface="Times New Roman" pitchFamily="18" charset="0"/>
                <a:cs typeface="Times New Roman" pitchFamily="18" charset="0"/>
              </a:rPr>
              <a:t>All code is developed by developers working in pairs (at a single machine).</a:t>
            </a:r>
            <a:endParaRPr lang="en-IN" sz="6000" dirty="0" smtClean="0">
              <a:latin typeface="Times New Roman" pitchFamily="18" charset="0"/>
              <a:cs typeface="Times New Roman" pitchFamily="18" charset="0"/>
            </a:endParaRPr>
          </a:p>
          <a:p>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534400" cy="6172200"/>
          </a:xfrm>
        </p:spPr>
        <p:txBody>
          <a:bodyPr>
            <a:normAutofit fontScale="47500" lnSpcReduction="20000"/>
          </a:bodyPr>
          <a:lstStyle/>
          <a:p>
            <a:pPr lvl="1"/>
            <a:r>
              <a:rPr lang="en-US" sz="5500" i="1" dirty="0" smtClean="0">
                <a:solidFill>
                  <a:srgbClr val="FF0000"/>
                </a:solidFill>
                <a:latin typeface="Times New Roman" pitchFamily="18" charset="0"/>
                <a:cs typeface="Times New Roman" pitchFamily="18" charset="0"/>
              </a:rPr>
              <a:t>Collective ownership. </a:t>
            </a:r>
            <a:r>
              <a:rPr lang="en-US" sz="5500" dirty="0" smtClean="0">
                <a:latin typeface="Times New Roman" pitchFamily="18" charset="0"/>
                <a:cs typeface="Times New Roman" pitchFamily="18" charset="0"/>
              </a:rPr>
              <a:t>Everyone owns all the code so anyone has the right to change any of the code at any time in order to improve it.</a:t>
            </a:r>
            <a:endParaRPr lang="en-IN" sz="5500" dirty="0" smtClean="0">
              <a:latin typeface="Times New Roman" pitchFamily="18" charset="0"/>
              <a:cs typeface="Times New Roman" pitchFamily="18" charset="0"/>
            </a:endParaRPr>
          </a:p>
          <a:p>
            <a:pPr lvl="1"/>
            <a:r>
              <a:rPr lang="en-US" sz="5500" i="1" dirty="0" smtClean="0">
                <a:solidFill>
                  <a:srgbClr val="FF0000"/>
                </a:solidFill>
                <a:latin typeface="Times New Roman" pitchFamily="18" charset="0"/>
                <a:cs typeface="Times New Roman" pitchFamily="18" charset="0"/>
              </a:rPr>
              <a:t>Continuous integration. </a:t>
            </a:r>
            <a:r>
              <a:rPr lang="en-US" sz="5500" dirty="0" smtClean="0">
                <a:latin typeface="Times New Roman" pitchFamily="18" charset="0"/>
                <a:cs typeface="Times New Roman" pitchFamily="18" charset="0"/>
              </a:rPr>
              <a:t>New code is integrated and the system rebuilt every time a task is completed (which may be many times a day).</a:t>
            </a:r>
            <a:endParaRPr lang="en-IN" sz="5500" dirty="0" smtClean="0">
              <a:latin typeface="Times New Roman" pitchFamily="18" charset="0"/>
              <a:cs typeface="Times New Roman" pitchFamily="18" charset="0"/>
            </a:endParaRPr>
          </a:p>
          <a:p>
            <a:pPr lvl="1"/>
            <a:r>
              <a:rPr lang="en-US" sz="5500" i="1" dirty="0" smtClean="0">
                <a:solidFill>
                  <a:srgbClr val="FF0000"/>
                </a:solidFill>
                <a:latin typeface="Times New Roman" pitchFamily="18" charset="0"/>
                <a:cs typeface="Times New Roman" pitchFamily="18" charset="0"/>
              </a:rPr>
              <a:t>On-site customer. </a:t>
            </a:r>
            <a:r>
              <a:rPr lang="en-US" sz="5500" dirty="0" smtClean="0">
                <a:latin typeface="Times New Roman" pitchFamily="18" charset="0"/>
                <a:cs typeface="Times New Roman" pitchFamily="18" charset="0"/>
              </a:rPr>
              <a:t>Have a real customer as part of the team, so that they are always available to answer questions.</a:t>
            </a:r>
            <a:endParaRPr lang="en-IN" sz="5500" dirty="0" smtClean="0">
              <a:latin typeface="Times New Roman" pitchFamily="18" charset="0"/>
              <a:cs typeface="Times New Roman" pitchFamily="18" charset="0"/>
            </a:endParaRPr>
          </a:p>
          <a:p>
            <a:pPr lvl="1"/>
            <a:r>
              <a:rPr lang="en-US" sz="5500" i="1" dirty="0" smtClean="0">
                <a:solidFill>
                  <a:srgbClr val="FF0000"/>
                </a:solidFill>
                <a:latin typeface="Times New Roman" pitchFamily="18" charset="0"/>
                <a:cs typeface="Times New Roman" pitchFamily="18" charset="0"/>
              </a:rPr>
              <a:t>Coding standards. </a:t>
            </a:r>
            <a:r>
              <a:rPr lang="en-US" sz="5500" dirty="0" smtClean="0">
                <a:latin typeface="Times New Roman" pitchFamily="18" charset="0"/>
                <a:cs typeface="Times New Roman" pitchFamily="18" charset="0"/>
              </a:rPr>
              <a:t>Have them and use them.</a:t>
            </a:r>
            <a:endParaRPr lang="en-IN" sz="5500" dirty="0" smtClean="0">
              <a:latin typeface="Times New Roman" pitchFamily="18" charset="0"/>
              <a:cs typeface="Times New Roman" pitchFamily="18" charset="0"/>
            </a:endParaRPr>
          </a:p>
          <a:p>
            <a:pPr lvl="1"/>
            <a:r>
              <a:rPr lang="en-US" sz="5500" i="1" dirty="0" smtClean="0">
                <a:solidFill>
                  <a:srgbClr val="FF0000"/>
                </a:solidFill>
                <a:latin typeface="Times New Roman" pitchFamily="18" charset="0"/>
                <a:cs typeface="Times New Roman" pitchFamily="18" charset="0"/>
              </a:rPr>
              <a:t>40-hour week. </a:t>
            </a:r>
            <a:r>
              <a:rPr lang="en-US" sz="5500" dirty="0" smtClean="0">
                <a:latin typeface="Times New Roman" pitchFamily="18" charset="0"/>
                <a:cs typeface="Times New Roman" pitchFamily="18" charset="0"/>
              </a:rPr>
              <a:t>Work no more than 40 hours a week so that the developers are always fresh and ready for the challenges facing them.</a:t>
            </a:r>
            <a:endParaRPr lang="en-IN" sz="5500" dirty="0" smtClean="0">
              <a:latin typeface="Times New Roman" pitchFamily="18" charset="0"/>
              <a:cs typeface="Times New Roman" pitchFamily="18" charset="0"/>
            </a:endParaRPr>
          </a:p>
          <a:p>
            <a:pPr lvl="1"/>
            <a:r>
              <a:rPr lang="en-US" sz="5500" i="1" dirty="0" smtClean="0">
                <a:solidFill>
                  <a:srgbClr val="FF0000"/>
                </a:solidFill>
                <a:latin typeface="Times New Roman" pitchFamily="18" charset="0"/>
                <a:cs typeface="Times New Roman" pitchFamily="18" charset="0"/>
              </a:rPr>
              <a:t>System metaphor. </a:t>
            </a:r>
            <a:r>
              <a:rPr lang="en-US" sz="5500" dirty="0" smtClean="0">
                <a:latin typeface="Times New Roman" pitchFamily="18" charset="0"/>
                <a:cs typeface="Times New Roman" pitchFamily="18" charset="0"/>
              </a:rPr>
              <a:t>Use the system metaphor to guide the whole development. It is a metaphor for how the system operates (it is similar to the architecture of the system but typically simpler).</a:t>
            </a:r>
            <a:endParaRPr lang="en-IN" sz="5500" dirty="0" smtClean="0">
              <a:latin typeface="Times New Roman" pitchFamily="18" charset="0"/>
              <a:cs typeface="Times New Roman" pitchFamily="18" charset="0"/>
            </a:endParaRPr>
          </a:p>
          <a:p>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latin typeface="Times New Roman" pitchFamily="18" charset="0"/>
                <a:cs typeface="Times New Roman" pitchFamily="18" charset="0"/>
              </a:rPr>
              <a:t>What is So Extreme About Extreme Programming?</a:t>
            </a:r>
            <a:r>
              <a:rPr lang="en-IN" b="1" dirty="0" smtClean="0"/>
              <a:t/>
            </a:r>
            <a:br>
              <a:rPr lang="en-IN" b="1" dirty="0" smtClean="0"/>
            </a:br>
            <a:endParaRPr lang="en-IN" dirty="0"/>
          </a:p>
        </p:txBody>
      </p:sp>
      <p:sp>
        <p:nvSpPr>
          <p:cNvPr id="3" name="Content Placeholder 2"/>
          <p:cNvSpPr>
            <a:spLocks noGrp="1"/>
          </p:cNvSpPr>
          <p:nvPr>
            <p:ph idx="1"/>
          </p:nvPr>
        </p:nvSpPr>
        <p:spPr>
          <a:xfrm>
            <a:off x="228600" y="1295400"/>
            <a:ext cx="8686800" cy="5562600"/>
          </a:xfrm>
        </p:spPr>
        <p:txBody>
          <a:bodyPr>
            <a:normAutofit fontScale="62500" lnSpcReduction="20000"/>
          </a:bodyPr>
          <a:lstStyle/>
          <a:p>
            <a:pPr>
              <a:buNone/>
            </a:pPr>
            <a:r>
              <a:rPr lang="en-US" dirty="0" smtClean="0">
                <a:latin typeface="Times New Roman" pitchFamily="18" charset="0"/>
                <a:cs typeface="Times New Roman" pitchFamily="18" charset="0"/>
              </a:rPr>
              <a:t>     When you look at the twelve practices that define Extreme Programming or XP, you will probably notice or at least comment on, the fact that there is very little new here. Many of the practices are, or have been incorporated into, described by, or presented as, parts of various existing software engineering methodologies. So what is so different, so extreme, about Extreme Programming? The answer lies in a number of places:</a:t>
            </a:r>
            <a:endParaRPr lang="en-IN" dirty="0" smtClean="0">
              <a:latin typeface="Times New Roman" pitchFamily="18" charset="0"/>
              <a:cs typeface="Times New Roman" pitchFamily="18" charset="0"/>
            </a:endParaRPr>
          </a:p>
          <a:p>
            <a:pPr>
              <a:buNone/>
            </a:pP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Extreme Programming is very lightweight – it really only focuses on the programming of a software system.</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Extreme Programming takes the best practices to their ultimate conclusions. Kent Beck says that he pictured each of the practices as a knob on a control board and turned each knob up to maximum and looked at what happened. What happened was XP!</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If we consider the second point in more detail, the concept goes as follows:</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If code reviews are good, then review code all the time (pair programming).</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If testing is good, everybody will test all the time (unit testing), even customers (acceptance testing).</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686800" cy="6019800"/>
          </a:xfrm>
        </p:spPr>
        <p:txBody>
          <a:bodyPr>
            <a:normAutofit fontScale="40000" lnSpcReduction="20000"/>
          </a:bodyPr>
          <a:lstStyle/>
          <a:p>
            <a:pPr lvl="0"/>
            <a:r>
              <a:rPr lang="en-US" sz="7200" dirty="0" smtClean="0">
                <a:latin typeface="Times New Roman" pitchFamily="18" charset="0"/>
                <a:cs typeface="Times New Roman" pitchFamily="18" charset="0"/>
              </a:rPr>
              <a:t>If designing is good, then make it part of what everyone does every day (refactoring).</a:t>
            </a:r>
            <a:endParaRPr lang="en-IN" sz="7200" dirty="0" smtClean="0">
              <a:latin typeface="Times New Roman" pitchFamily="18" charset="0"/>
              <a:cs typeface="Times New Roman" pitchFamily="18" charset="0"/>
            </a:endParaRPr>
          </a:p>
          <a:p>
            <a:pPr lvl="0"/>
            <a:r>
              <a:rPr lang="en-US" sz="7200" dirty="0" smtClean="0">
                <a:latin typeface="Times New Roman" pitchFamily="18" charset="0"/>
                <a:cs typeface="Times New Roman" pitchFamily="18" charset="0"/>
              </a:rPr>
              <a:t>If simplicity is good, then always strive for the simplest effective solution (i.e., the simplest solution that works).</a:t>
            </a:r>
            <a:endParaRPr lang="en-IN" sz="7200" dirty="0" smtClean="0">
              <a:latin typeface="Times New Roman" pitchFamily="18" charset="0"/>
              <a:cs typeface="Times New Roman" pitchFamily="18" charset="0"/>
            </a:endParaRPr>
          </a:p>
          <a:p>
            <a:pPr lvl="0"/>
            <a:r>
              <a:rPr lang="en-US" sz="7200" dirty="0" smtClean="0">
                <a:latin typeface="Times New Roman" pitchFamily="18" charset="0"/>
                <a:cs typeface="Times New Roman" pitchFamily="18" charset="0"/>
              </a:rPr>
              <a:t>If architecture is important, then ensure that everyone is involved in creating and refining the architecture all the time (system metaphor).</a:t>
            </a:r>
            <a:endParaRPr lang="en-IN" sz="7200" dirty="0" smtClean="0">
              <a:latin typeface="Times New Roman" pitchFamily="18" charset="0"/>
              <a:cs typeface="Times New Roman" pitchFamily="18" charset="0"/>
            </a:endParaRPr>
          </a:p>
          <a:p>
            <a:pPr lvl="0"/>
            <a:r>
              <a:rPr lang="en-US" sz="7200" dirty="0" smtClean="0">
                <a:latin typeface="Times New Roman" pitchFamily="18" charset="0"/>
                <a:cs typeface="Times New Roman" pitchFamily="18" charset="0"/>
              </a:rPr>
              <a:t>If integration testing is good, then integration and testing should be an on going (daily or even hourly) thing (continuous integration).</a:t>
            </a:r>
            <a:endParaRPr lang="en-IN" sz="7200" dirty="0" smtClean="0">
              <a:latin typeface="Times New Roman" pitchFamily="18" charset="0"/>
              <a:cs typeface="Times New Roman" pitchFamily="18" charset="0"/>
            </a:endParaRPr>
          </a:p>
          <a:p>
            <a:pPr lvl="0"/>
            <a:r>
              <a:rPr lang="en-US" sz="7200" dirty="0" smtClean="0">
                <a:latin typeface="Times New Roman" pitchFamily="18" charset="0"/>
                <a:cs typeface="Times New Roman" pitchFamily="18" charset="0"/>
              </a:rPr>
              <a:t>If short iterations are good, then make them as short as possible, i.e., hours, or days not weeks and months (the Planning Game).</a:t>
            </a:r>
            <a:endParaRPr lang="en-IN" sz="7200" dirty="0" smtClean="0">
              <a:latin typeface="Times New Roman" pitchFamily="18" charset="0"/>
              <a:cs typeface="Times New Roman" pitchFamily="18" charset="0"/>
            </a:endParaRPr>
          </a:p>
          <a:p>
            <a:pPr>
              <a:buNone/>
            </a:pPr>
            <a:endParaRPr lang="en-IN" sz="7200" dirty="0" smtClean="0"/>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solidFill>
                  <a:srgbClr val="FF0000"/>
                </a:solidFill>
                <a:latin typeface="Times New Roman" pitchFamily="18" charset="0"/>
                <a:cs typeface="Times New Roman" pitchFamily="18" charset="0"/>
              </a:rPr>
              <a:t>Planning an XP Project</a:t>
            </a:r>
            <a:r>
              <a:rPr lang="en-IN" dirty="0" smtClean="0"/>
              <a:t/>
            </a:r>
            <a:br>
              <a:rPr lang="en-IN" dirty="0" smtClean="0"/>
            </a:br>
            <a:endParaRPr lang="en-IN" dirty="0"/>
          </a:p>
        </p:txBody>
      </p:sp>
      <p:sp>
        <p:nvSpPr>
          <p:cNvPr id="3" name="Content Placeholder 2"/>
          <p:cNvSpPr>
            <a:spLocks noGrp="1"/>
          </p:cNvSpPr>
          <p:nvPr>
            <p:ph idx="1"/>
          </p:nvPr>
        </p:nvSpPr>
        <p:spPr>
          <a:xfrm>
            <a:off x="381000" y="914400"/>
            <a:ext cx="8229600" cy="5181600"/>
          </a:xfrm>
        </p:spPr>
        <p:txBody>
          <a:bodyPr>
            <a:normAutofit fontScale="92500" lnSpcReduction="20000"/>
          </a:bodyPr>
          <a:lstStyle/>
          <a:p>
            <a:r>
              <a:rPr lang="en-US" sz="1800" dirty="0" smtClean="0">
                <a:latin typeface="Times New Roman" pitchFamily="18" charset="0"/>
                <a:cs typeface="Times New Roman" pitchFamily="18" charset="0"/>
              </a:rPr>
              <a:t>XP projects involve a great deal of planning. This may have come as a shock to some as they may have thought of XP as legalized hacking and thus considered planning to have no part in XP. But planning is core to XP.</a:t>
            </a:r>
          </a:p>
          <a:p>
            <a:pPr lvl="0"/>
            <a:r>
              <a:rPr lang="en-US" sz="1900" dirty="0" smtClean="0">
                <a:latin typeface="Times New Roman" pitchFamily="18" charset="0"/>
                <a:cs typeface="Times New Roman" pitchFamily="18" charset="0"/>
              </a:rPr>
              <a:t>Developers begin to examine the plan and start making comments about how anyone could expect them to produce component X is 3 days, or question where the database migration task is.</a:t>
            </a:r>
            <a:endParaRPr lang="en-IN" sz="1900" dirty="0" smtClean="0">
              <a:latin typeface="Times New Roman" pitchFamily="18" charset="0"/>
              <a:cs typeface="Times New Roman" pitchFamily="18" charset="0"/>
            </a:endParaRPr>
          </a:p>
          <a:p>
            <a:pPr lvl="0"/>
            <a:r>
              <a:rPr lang="en-US" sz="1900" dirty="0" smtClean="0">
                <a:latin typeface="Times New Roman" pitchFamily="18" charset="0"/>
                <a:cs typeface="Times New Roman" pitchFamily="18" charset="0"/>
              </a:rPr>
              <a:t>As development progresses, developers tell their project leaders of their progress and estimated completion times, projects leaders tell their manager. At each stage, people unconsciously (or otherwise) err on the side of optimism in their estimates. Resulting in a better-estimated position than is the actuality.</a:t>
            </a:r>
            <a:endParaRPr lang="en-IN" sz="1900" dirty="0" smtClean="0">
              <a:latin typeface="Times New Roman" pitchFamily="18" charset="0"/>
              <a:cs typeface="Times New Roman" pitchFamily="18" charset="0"/>
            </a:endParaRPr>
          </a:p>
          <a:p>
            <a:pPr lvl="0"/>
            <a:r>
              <a:rPr lang="en-US" sz="1900" dirty="0" smtClean="0">
                <a:latin typeface="Times New Roman" pitchFamily="18" charset="0"/>
                <a:cs typeface="Times New Roman" pitchFamily="18" charset="0"/>
              </a:rPr>
              <a:t>The manager may or may not enter into the plan, the current state of the project, as he sees it.</a:t>
            </a:r>
            <a:endParaRPr lang="en-IN" sz="1900" dirty="0" smtClean="0">
              <a:latin typeface="Times New Roman" pitchFamily="18" charset="0"/>
              <a:cs typeface="Times New Roman" pitchFamily="18" charset="0"/>
            </a:endParaRPr>
          </a:p>
          <a:p>
            <a:pPr lvl="0"/>
            <a:r>
              <a:rPr lang="en-US" sz="1900" dirty="0" smtClean="0">
                <a:latin typeface="Times New Roman" pitchFamily="18" charset="0"/>
                <a:cs typeface="Times New Roman" pitchFamily="18" charset="0"/>
              </a:rPr>
              <a:t>At some point, some critical milestone is missed, at this point, the plan is re-assessed and it is realized that the plan and reality are out of alignment. The manager then tries to find a way of squaring the circle of the project. At this point, they may start forcing people to work excessive overtime or may negotiate a later delivery or modify the list of features to be implemented. All of which usually involve extensive discussions with the client.</a:t>
            </a:r>
            <a:endParaRPr lang="en-IN" sz="1900" dirty="0" smtClean="0">
              <a:latin typeface="Times New Roman" pitchFamily="18" charset="0"/>
              <a:cs typeface="Times New Roman" pitchFamily="18" charset="0"/>
            </a:endParaRPr>
          </a:p>
          <a:p>
            <a:pPr lvl="0"/>
            <a:r>
              <a:rPr lang="en-US" sz="1900" dirty="0" smtClean="0">
                <a:latin typeface="Times New Roman" pitchFamily="18" charset="0"/>
                <a:cs typeface="Times New Roman" pitchFamily="18" charset="0"/>
              </a:rPr>
              <a:t>The resulting plan may lead the whole project back to step 1 again and a new cycle of catastrophe planning.</a:t>
            </a:r>
            <a:endParaRPr lang="en-IN" sz="1900" dirty="0" smtClean="0">
              <a:latin typeface="Times New Roman" pitchFamily="18" charset="0"/>
              <a:cs typeface="Times New Roman" pitchFamily="18" charset="0"/>
            </a:endParaRPr>
          </a:p>
          <a:p>
            <a:pPr>
              <a:buNone/>
            </a:pPr>
            <a:r>
              <a:rPr lang="en-US" sz="1900" dirty="0" smtClean="0">
                <a:latin typeface="Times New Roman" pitchFamily="18" charset="0"/>
                <a:cs typeface="Times New Roman" pitchFamily="18" charset="0"/>
              </a:rPr>
              <a:t> </a:t>
            </a:r>
            <a:endParaRPr lang="en-IN" sz="1900" dirty="0" smtClean="0">
              <a:latin typeface="Times New Roman" pitchFamily="18" charset="0"/>
              <a:cs typeface="Times New Roman" pitchFamily="18" charset="0"/>
            </a:endParaRPr>
          </a:p>
          <a:p>
            <a:endParaRPr lang="en-IN" sz="1900" dirty="0">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i="1" dirty="0" smtClean="0">
                <a:solidFill>
                  <a:srgbClr val="FF0000"/>
                </a:solidFill>
                <a:latin typeface="Times New Roman" pitchFamily="18" charset="0"/>
                <a:cs typeface="Times New Roman" pitchFamily="18" charset="0"/>
              </a:rPr>
              <a:t>Agile Influences on Planning an XP Project</a:t>
            </a:r>
            <a:r>
              <a:rPr lang="en-IN" dirty="0" smtClean="0"/>
              <a:t/>
            </a:r>
            <a:br>
              <a:rPr lang="en-IN" dirty="0" smtClean="0"/>
            </a:br>
            <a:endParaRPr lang="en-IN" dirty="0"/>
          </a:p>
        </p:txBody>
      </p:sp>
      <p:sp>
        <p:nvSpPr>
          <p:cNvPr id="3" name="Content Placeholder 2"/>
          <p:cNvSpPr>
            <a:spLocks noGrp="1"/>
          </p:cNvSpPr>
          <p:nvPr>
            <p:ph idx="1"/>
          </p:nvPr>
        </p:nvSpPr>
        <p:spPr>
          <a:xfrm>
            <a:off x="381000" y="990600"/>
            <a:ext cx="8229600" cy="4525963"/>
          </a:xfrm>
        </p:spPr>
        <p:txBody>
          <a:bodyPr>
            <a:normAutofit/>
          </a:bodyPr>
          <a:lstStyle/>
          <a:p>
            <a:r>
              <a:rPr lang="en-US" sz="2200" dirty="0" smtClean="0">
                <a:latin typeface="Times New Roman" pitchFamily="18" charset="0"/>
                <a:cs typeface="Times New Roman" pitchFamily="18" charset="0"/>
              </a:rPr>
              <a:t>You are working on an XP project, so naturally you want to plan in an agile manner. That is, you wish to apply agile principles to planning your work. But what does this mean? There are a number of implications for how you will carry out any planning for an agile project that come from trying to be agile. </a:t>
            </a:r>
          </a:p>
          <a:p>
            <a:pPr>
              <a:buNone/>
            </a:pPr>
            <a:r>
              <a:rPr lang="en-US" sz="2200" dirty="0" smtClean="0">
                <a:latin typeface="Times New Roman" pitchFamily="18" charset="0"/>
                <a:cs typeface="Times New Roman" pitchFamily="18" charset="0"/>
              </a:rPr>
              <a:t>These are:</a:t>
            </a:r>
            <a:endParaRPr lang="en-IN" sz="2200" dirty="0" smtClean="0">
              <a:latin typeface="Times New Roman" pitchFamily="18" charset="0"/>
              <a:cs typeface="Times New Roman" pitchFamily="18" charset="0"/>
            </a:endParaRPr>
          </a:p>
          <a:p>
            <a:r>
              <a:rPr lang="en-US" sz="2200" dirty="0" smtClean="0">
                <a:solidFill>
                  <a:srgbClr val="FF0000"/>
                </a:solidFill>
                <a:latin typeface="Times New Roman" pitchFamily="18" charset="0"/>
                <a:cs typeface="Times New Roman" pitchFamily="18" charset="0"/>
              </a:rPr>
              <a:t>Plan for now</a:t>
            </a:r>
            <a:endParaRPr lang="en-IN" sz="2200" dirty="0" smtClean="0">
              <a:solidFill>
                <a:srgbClr val="FF0000"/>
              </a:solidFill>
              <a:latin typeface="Times New Roman" pitchFamily="18" charset="0"/>
              <a:cs typeface="Times New Roman" pitchFamily="18" charset="0"/>
            </a:endParaRPr>
          </a:p>
          <a:p>
            <a:r>
              <a:rPr lang="en-US" sz="2200" dirty="0" smtClean="0">
                <a:solidFill>
                  <a:srgbClr val="FF0000"/>
                </a:solidFill>
                <a:latin typeface="Times New Roman" pitchFamily="18" charset="0"/>
                <a:cs typeface="Times New Roman" pitchFamily="18" charset="0"/>
              </a:rPr>
              <a:t>Responsibility</a:t>
            </a:r>
            <a:endParaRPr lang="en-IN" sz="2200" dirty="0" smtClean="0">
              <a:solidFill>
                <a:srgbClr val="FF0000"/>
              </a:solidFill>
              <a:latin typeface="Times New Roman" pitchFamily="18" charset="0"/>
              <a:cs typeface="Times New Roman" pitchFamily="18" charset="0"/>
            </a:endParaRPr>
          </a:p>
          <a:p>
            <a:r>
              <a:rPr lang="en-US" sz="2200" dirty="0" smtClean="0">
                <a:solidFill>
                  <a:srgbClr val="FF0000"/>
                </a:solidFill>
                <a:latin typeface="Times New Roman" pitchFamily="18" charset="0"/>
                <a:cs typeface="Times New Roman" pitchFamily="18" charset="0"/>
              </a:rPr>
              <a:t>Dependencies</a:t>
            </a:r>
            <a:endParaRPr lang="en-IN" sz="2200" dirty="0" smtClean="0">
              <a:solidFill>
                <a:srgbClr val="FF0000"/>
              </a:solidFill>
              <a:latin typeface="Times New Roman" pitchFamily="18" charset="0"/>
              <a:cs typeface="Times New Roman" pitchFamily="18" charset="0"/>
            </a:endParaRPr>
          </a:p>
          <a:p>
            <a:r>
              <a:rPr lang="en-US" sz="2200" dirty="0" smtClean="0">
                <a:solidFill>
                  <a:srgbClr val="FF0000"/>
                </a:solidFill>
                <a:latin typeface="Times New Roman" pitchFamily="18" charset="0"/>
                <a:cs typeface="Times New Roman" pitchFamily="18" charset="0"/>
              </a:rPr>
              <a:t>Simplicity</a:t>
            </a:r>
            <a:endParaRPr lang="en-IN" sz="2200" dirty="0" smtClean="0">
              <a:solidFill>
                <a:srgbClr val="FF0000"/>
              </a:solidFill>
              <a:latin typeface="Times New Roman" pitchFamily="18" charset="0"/>
              <a:cs typeface="Times New Roman" pitchFamily="18" charset="0"/>
            </a:endParaRPr>
          </a:p>
          <a:p>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229600" cy="5943600"/>
          </a:xfrm>
        </p:spPr>
        <p:txBody>
          <a:bodyPr>
            <a:normAutofit/>
          </a:bodyPr>
          <a:lstStyle/>
          <a:p>
            <a:r>
              <a:rPr lang="en-US" sz="2400" i="1" dirty="0" smtClean="0">
                <a:solidFill>
                  <a:srgbClr val="FF0000"/>
                </a:solidFill>
                <a:latin typeface="Times New Roman" pitchFamily="18" charset="0"/>
                <a:cs typeface="Times New Roman" pitchFamily="18" charset="0"/>
              </a:rPr>
              <a:t>Plan for now. </a:t>
            </a:r>
            <a:r>
              <a:rPr lang="en-US" sz="1800" dirty="0" smtClean="0">
                <a:latin typeface="Times New Roman" pitchFamily="18" charset="0"/>
                <a:cs typeface="Times New Roman" pitchFamily="18" charset="0"/>
              </a:rPr>
              <a:t>This is akin to only implementing what you need for today and leaving the rest for tomorrow. Thus, you should only do the planning that you need for the next release/next iteration in detail and no more. You can still do long-term planning, but not in such great detail.</a:t>
            </a:r>
          </a:p>
          <a:p>
            <a:r>
              <a:rPr lang="en-US" sz="2400" i="1" dirty="0" smtClean="0">
                <a:solidFill>
                  <a:srgbClr val="FF0000"/>
                </a:solidFill>
                <a:latin typeface="Times New Roman" pitchFamily="18" charset="0"/>
                <a:cs typeface="Times New Roman" pitchFamily="18" charset="0"/>
              </a:rPr>
              <a:t>Responsibility</a:t>
            </a:r>
            <a:r>
              <a:rPr lang="en-US" sz="1800" i="1"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The typical project is planned top down. That is, the top-level management try and plan the project (hopefully with input from the actual de- </a:t>
            </a:r>
            <a:r>
              <a:rPr lang="en-US" sz="1800" dirty="0" err="1" smtClean="0">
                <a:latin typeface="Times New Roman" pitchFamily="18" charset="0"/>
                <a:cs typeface="Times New Roman" pitchFamily="18" charset="0"/>
              </a:rPr>
              <a:t>velopers</a:t>
            </a:r>
            <a:r>
              <a:rPr lang="en-US" sz="1800" dirty="0" smtClean="0">
                <a:latin typeface="Times New Roman" pitchFamily="18" charset="0"/>
                <a:cs typeface="Times New Roman" pitchFamily="18" charset="0"/>
              </a:rPr>
              <a:t>). The end result is a plan for which the developers feel no responsibility and towards which they feel no trust.</a:t>
            </a:r>
          </a:p>
          <a:p>
            <a:r>
              <a:rPr lang="en-US" sz="2400" i="1" dirty="0" smtClean="0">
                <a:solidFill>
                  <a:srgbClr val="FF0000"/>
                </a:solidFill>
                <a:latin typeface="Times New Roman" pitchFamily="18" charset="0"/>
                <a:cs typeface="Times New Roman" pitchFamily="18" charset="0"/>
              </a:rPr>
              <a:t>Dependencies. </a:t>
            </a:r>
            <a:r>
              <a:rPr lang="en-US" sz="1800" dirty="0" smtClean="0">
                <a:latin typeface="Times New Roman" pitchFamily="18" charset="0"/>
                <a:cs typeface="Times New Roman" pitchFamily="18" charset="0"/>
              </a:rPr>
              <a:t>When planning an XP project, you should ignore the dependencies between parts. That is, you should not worry about whether task x is required before task y. Instead, you should focus on the highest business priorities first and allow other issues to come out in the wash.</a:t>
            </a:r>
            <a:endParaRPr lang="en-IN" sz="1800" dirty="0" smtClean="0">
              <a:latin typeface="Times New Roman" pitchFamily="18" charset="0"/>
              <a:cs typeface="Times New Roman" pitchFamily="18" charset="0"/>
            </a:endParaRPr>
          </a:p>
          <a:p>
            <a:r>
              <a:rPr lang="en-US" sz="2400" i="1" dirty="0" smtClean="0">
                <a:solidFill>
                  <a:srgbClr val="FF0000"/>
                </a:solidFill>
                <a:latin typeface="Times New Roman" pitchFamily="18" charset="0"/>
                <a:cs typeface="Times New Roman" pitchFamily="18" charset="0"/>
              </a:rPr>
              <a:t>Simplicity (in planning). </a:t>
            </a:r>
            <a:r>
              <a:rPr lang="en-US" sz="1800" dirty="0" smtClean="0">
                <a:latin typeface="Times New Roman" pitchFamily="18" charset="0"/>
                <a:cs typeface="Times New Roman" pitchFamily="18" charset="0"/>
              </a:rPr>
              <a:t>You should keep in mind the type of planning that is being done at that point in time in order to keep things as simple as possible (but not too simple). For example, if you are planning to help determine the priorities and ordering of user stories, then much less detail is required. </a:t>
            </a:r>
            <a:endParaRPr lang="en-IN" sz="1800"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i="1" dirty="0" smtClean="0">
                <a:solidFill>
                  <a:srgbClr val="FF0000"/>
                </a:solidFill>
                <a:latin typeface="Times New Roman" pitchFamily="18" charset="0"/>
                <a:cs typeface="Times New Roman" pitchFamily="18" charset="0"/>
              </a:rPr>
              <a:t>The Planning Game in Detail</a:t>
            </a:r>
            <a:r>
              <a:rPr lang="en-IN" dirty="0" smtClean="0"/>
              <a:t/>
            </a:r>
            <a:br>
              <a:rPr lang="en-IN" dirty="0" smtClean="0"/>
            </a:br>
            <a:endParaRPr lang="en-IN" dirty="0"/>
          </a:p>
        </p:txBody>
      </p:sp>
      <p:sp>
        <p:nvSpPr>
          <p:cNvPr id="3" name="Content Placeholder 2"/>
          <p:cNvSpPr>
            <a:spLocks noGrp="1"/>
          </p:cNvSpPr>
          <p:nvPr>
            <p:ph idx="1"/>
          </p:nvPr>
        </p:nvSpPr>
        <p:spPr>
          <a:xfrm>
            <a:off x="457200" y="914400"/>
            <a:ext cx="8229600" cy="5486400"/>
          </a:xfrm>
        </p:spPr>
        <p:txBody>
          <a:bodyPr>
            <a:noAutofit/>
          </a:bodyPr>
          <a:lstStyle/>
          <a:p>
            <a:r>
              <a:rPr lang="en-US" sz="1600" dirty="0" smtClean="0">
                <a:latin typeface="Times New Roman" pitchFamily="18" charset="0"/>
                <a:cs typeface="Times New Roman" pitchFamily="18" charset="0"/>
              </a:rPr>
              <a:t>The planning game relies on user (customer) stories to drive the iterations of the project. These user stories are used to determine which features will go into which iterations. From this, appropriate releases can be identified.</a:t>
            </a:r>
          </a:p>
          <a:p>
            <a:pPr>
              <a:buNone/>
            </a:pPr>
            <a:r>
              <a:rPr lang="en-US" sz="1600" dirty="0" smtClean="0">
                <a:solidFill>
                  <a:srgbClr val="FF0000"/>
                </a:solidFill>
                <a:latin typeface="Times New Roman" pitchFamily="18" charset="0"/>
                <a:cs typeface="Times New Roman" pitchFamily="18" charset="0"/>
              </a:rPr>
              <a:t>Although the primary output of the Business Game is the plan, it:</a:t>
            </a:r>
            <a:endParaRPr lang="en-IN" sz="1600" dirty="0" smtClean="0">
              <a:solidFill>
                <a:srgbClr val="FF0000"/>
              </a:solidFill>
              <a:latin typeface="Times New Roman" pitchFamily="18" charset="0"/>
              <a:cs typeface="Times New Roman" pitchFamily="18" charset="0"/>
            </a:endParaRPr>
          </a:p>
          <a:p>
            <a:r>
              <a:rPr lang="en-US" sz="1600" dirty="0" smtClean="0">
                <a:latin typeface="Times New Roman" pitchFamily="18" charset="0"/>
                <a:cs typeface="Times New Roman" pitchFamily="18" charset="0"/>
              </a:rPr>
              <a:t>allows customers to make business decisions,</a:t>
            </a:r>
            <a:endParaRPr lang="en-IN"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 allows developers to make technical decisions.</a:t>
            </a:r>
            <a:endParaRPr lang="en-IN" sz="1600" dirty="0" smtClean="0">
              <a:latin typeface="Times New Roman" pitchFamily="18" charset="0"/>
              <a:cs typeface="Times New Roman" pitchFamily="18" charset="0"/>
            </a:endParaRPr>
          </a:p>
          <a:p>
            <a:pPr>
              <a:buNone/>
            </a:pPr>
            <a:r>
              <a:rPr lang="en-US" sz="1600" dirty="0" smtClean="0">
                <a:solidFill>
                  <a:srgbClr val="FF0000"/>
                </a:solidFill>
                <a:latin typeface="Times New Roman" pitchFamily="18" charset="0"/>
                <a:cs typeface="Times New Roman" pitchFamily="18" charset="0"/>
              </a:rPr>
              <a:t>And to combine the results into the iteration oriented plan. Within this framework the customer determines:</a:t>
            </a:r>
            <a:endParaRPr lang="en-IN" sz="1600" dirty="0" smtClean="0">
              <a:solidFill>
                <a:srgbClr val="FF0000"/>
              </a:solidFill>
              <a:latin typeface="Times New Roman" pitchFamily="18" charset="0"/>
              <a:cs typeface="Times New Roman" pitchFamily="18" charset="0"/>
            </a:endParaRPr>
          </a:p>
          <a:p>
            <a:r>
              <a:rPr lang="en-US" sz="1600" dirty="0" smtClean="0">
                <a:latin typeface="Times New Roman" pitchFamily="18" charset="0"/>
                <a:cs typeface="Times New Roman" pitchFamily="18" charset="0"/>
              </a:rPr>
              <a:t>Scope – what is in and out of the system.</a:t>
            </a:r>
            <a:endParaRPr lang="en-IN"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Priority – what is more important, less important, must haves and nice to</a:t>
            </a:r>
            <a:r>
              <a:rPr lang="en-IN"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haves, etc.</a:t>
            </a:r>
            <a:r>
              <a:rPr lang="en-IN" sz="1600" dirty="0" smtClean="0">
                <a:latin typeface="Times New Roman" pitchFamily="18" charset="0"/>
                <a:cs typeface="Times New Roman" pitchFamily="18" charset="0"/>
              </a:rPr>
              <a:t> </a:t>
            </a:r>
          </a:p>
          <a:p>
            <a:pPr>
              <a:buNone/>
            </a:pPr>
            <a:r>
              <a:rPr lang="en-IN"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Composition of releases – what will be in each release. Release dates</a:t>
            </a:r>
            <a:r>
              <a:rPr lang="en-IN" sz="1600" dirty="0" smtClean="0">
                <a:latin typeface="Times New Roman" pitchFamily="18" charset="0"/>
                <a:cs typeface="Times New Roman" pitchFamily="18" charset="0"/>
              </a:rPr>
              <a:t> .</a:t>
            </a:r>
          </a:p>
          <a:p>
            <a:pPr>
              <a:buNone/>
            </a:pPr>
            <a:r>
              <a:rPr lang="en-US" sz="1600" dirty="0" smtClean="0">
                <a:solidFill>
                  <a:srgbClr val="FF0000"/>
                </a:solidFill>
                <a:latin typeface="Times New Roman" pitchFamily="18" charset="0"/>
                <a:cs typeface="Times New Roman" pitchFamily="18" charset="0"/>
              </a:rPr>
              <a:t>The development team decides</a:t>
            </a:r>
            <a:endParaRPr lang="en-IN" sz="1600" dirty="0" smtClean="0">
              <a:solidFill>
                <a:srgbClr val="FF0000"/>
              </a:solidFill>
              <a:latin typeface="Times New Roman" pitchFamily="18" charset="0"/>
              <a:cs typeface="Times New Roman" pitchFamily="18" charset="0"/>
            </a:endParaRPr>
          </a:p>
          <a:p>
            <a:r>
              <a:rPr lang="en-US" sz="1600" dirty="0" smtClean="0">
                <a:latin typeface="Times New Roman" pitchFamily="18" charset="0"/>
                <a:cs typeface="Times New Roman" pitchFamily="18" charset="0"/>
              </a:rPr>
              <a:t>Estimates of how long various features will take.</a:t>
            </a:r>
            <a:endParaRPr lang="en-IN"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Consequences of for example, using a particular technology, for example,</a:t>
            </a:r>
            <a:endParaRPr lang="en-IN" sz="1600" dirty="0" smtClean="0">
              <a:latin typeface="Times New Roman" pitchFamily="18" charset="0"/>
              <a:cs typeface="Times New Roman" pitchFamily="18" charset="0"/>
            </a:endParaRPr>
          </a:p>
          <a:p>
            <a:r>
              <a:rPr lang="en-US" sz="1600" dirty="0" smtClean="0">
                <a:latin typeface="Times New Roman" pitchFamily="18" charset="0"/>
                <a:cs typeface="Times New Roman" pitchFamily="18" charset="0"/>
              </a:rPr>
              <a:t>Linux versus Microsoft Windows XP, Java versus C#, J2EE (Java 2 Enterprise Edition) versus </a:t>
            </a:r>
            <a:r>
              <a:rPr lang="en-US" sz="1600" dirty="0" err="1" smtClean="0">
                <a:latin typeface="Times New Roman" pitchFamily="18" charset="0"/>
                <a:cs typeface="Times New Roman" pitchFamily="18" charset="0"/>
              </a:rPr>
              <a:t>.Net</a:t>
            </a:r>
            <a:r>
              <a:rPr lang="en-US" sz="1600" dirty="0" smtClean="0">
                <a:latin typeface="Times New Roman" pitchFamily="18" charset="0"/>
                <a:cs typeface="Times New Roman" pitchFamily="18" charset="0"/>
              </a:rPr>
              <a:t>.</a:t>
            </a:r>
            <a:r>
              <a:rPr lang="en-IN" sz="1600" dirty="0" smtClean="0">
                <a:latin typeface="Times New Roman" pitchFamily="18" charset="0"/>
                <a:cs typeface="Times New Roman" pitchFamily="18" charset="0"/>
              </a:rPr>
              <a:t> </a:t>
            </a:r>
          </a:p>
          <a:p>
            <a:r>
              <a:rPr lang="en-US" sz="1600" dirty="0" smtClean="0">
                <a:latin typeface="Times New Roman" pitchFamily="18" charset="0"/>
                <a:cs typeface="Times New Roman" pitchFamily="18" charset="0"/>
              </a:rPr>
              <a:t>Team and Project Organization (e.g. the organization of the tasks) Risks associated with different features (e.g. will </a:t>
            </a:r>
            <a:r>
              <a:rPr lang="en-US" sz="1600" dirty="0" err="1" smtClean="0">
                <a:latin typeface="Times New Roman" pitchFamily="18" charset="0"/>
                <a:cs typeface="Times New Roman" pitchFamily="18" charset="0"/>
              </a:rPr>
              <a:t>MySQL</a:t>
            </a:r>
            <a:r>
              <a:rPr lang="en-US" sz="1600" dirty="0" smtClean="0">
                <a:latin typeface="Times New Roman" pitchFamily="18" charset="0"/>
                <a:cs typeface="Times New Roman" pitchFamily="18" charset="0"/>
              </a:rPr>
              <a:t> provide the required level of performance or should an Oracle database be used).</a:t>
            </a:r>
            <a:r>
              <a:rPr lang="en-IN" sz="1600" dirty="0" smtClean="0">
                <a:latin typeface="Times New Roman" pitchFamily="18" charset="0"/>
                <a:cs typeface="Times New Roman" pitchFamily="18" charset="0"/>
              </a:rPr>
              <a:t> </a:t>
            </a:r>
            <a:r>
              <a:rPr lang="en-US" sz="1600" dirty="0" smtClean="0">
                <a:latin typeface="Times New Roman" pitchFamily="18" charset="0"/>
                <a:cs typeface="Times New Roman" pitchFamily="18" charset="0"/>
              </a:rPr>
              <a:t>Detailed scheduling – which features are to be done when and in what order. </a:t>
            </a:r>
            <a:endParaRPr lang="en-IN" sz="1600"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85800"/>
            <a:ext cx="8534400" cy="5943600"/>
          </a:xfrm>
        </p:spPr>
        <p:txBody>
          <a:bodyPr>
            <a:normAutofit fontScale="70000" lnSpcReduction="20000"/>
          </a:bodyPr>
          <a:lstStyle/>
          <a:p>
            <a:r>
              <a:rPr lang="en-US" sz="2100" dirty="0" smtClean="0">
                <a:latin typeface="Times New Roman" pitchFamily="18" charset="0"/>
                <a:cs typeface="Times New Roman" pitchFamily="18" charset="0"/>
              </a:rPr>
              <a:t>The game has three phases through which play proceeds. These phases are the exploration phase, the commitment phase and the steering phase.</a:t>
            </a:r>
          </a:p>
          <a:p>
            <a:r>
              <a:rPr lang="en-US" sz="3100" b="1" dirty="0" smtClean="0">
                <a:solidFill>
                  <a:srgbClr val="FF0000"/>
                </a:solidFill>
                <a:latin typeface="Times New Roman" pitchFamily="18" charset="0"/>
                <a:cs typeface="Times New Roman" pitchFamily="18" charset="0"/>
              </a:rPr>
              <a:t>Elaboration phase</a:t>
            </a:r>
            <a:endParaRPr lang="en-IN" sz="3100" b="1" dirty="0" smtClean="0">
              <a:solidFill>
                <a:srgbClr val="FF0000"/>
              </a:solidFill>
              <a:latin typeface="Times New Roman" pitchFamily="18" charset="0"/>
              <a:cs typeface="Times New Roman" pitchFamily="18" charset="0"/>
            </a:endParaRPr>
          </a:p>
          <a:p>
            <a:pPr>
              <a:buNone/>
            </a:pPr>
            <a:r>
              <a:rPr lang="en-US" sz="2100" dirty="0" smtClean="0">
                <a:latin typeface="Times New Roman" pitchFamily="18" charset="0"/>
                <a:cs typeface="Times New Roman" pitchFamily="18" charset="0"/>
              </a:rPr>
              <a:t>       This phases help to identify what the system needs to do. It is compressed of the following steps:</a:t>
            </a:r>
            <a:endParaRPr lang="en-IN" sz="2100" dirty="0" smtClean="0">
              <a:latin typeface="Times New Roman" pitchFamily="18" charset="0"/>
              <a:cs typeface="Times New Roman" pitchFamily="18" charset="0"/>
            </a:endParaRPr>
          </a:p>
          <a:p>
            <a:r>
              <a:rPr lang="en-US" sz="2300" i="1" dirty="0" smtClean="0">
                <a:solidFill>
                  <a:srgbClr val="FF0000"/>
                </a:solidFill>
                <a:latin typeface="Times New Roman" pitchFamily="18" charset="0"/>
                <a:cs typeface="Times New Roman" pitchFamily="18" charset="0"/>
              </a:rPr>
              <a:t>Write a story </a:t>
            </a:r>
            <a:r>
              <a:rPr lang="en-US" sz="2100" dirty="0" smtClean="0">
                <a:latin typeface="Times New Roman" pitchFamily="18" charset="0"/>
                <a:cs typeface="Times New Roman" pitchFamily="18" charset="0"/>
              </a:rPr>
              <a:t>– the business writes a user story describing some behavior required of the system.</a:t>
            </a:r>
            <a:endParaRPr lang="en-IN" sz="2100" dirty="0" smtClean="0">
              <a:latin typeface="Times New Roman" pitchFamily="18" charset="0"/>
              <a:cs typeface="Times New Roman" pitchFamily="18" charset="0"/>
            </a:endParaRPr>
          </a:p>
          <a:p>
            <a:r>
              <a:rPr lang="en-US" sz="2300" i="1" dirty="0" smtClean="0">
                <a:solidFill>
                  <a:srgbClr val="FF0000"/>
                </a:solidFill>
                <a:latin typeface="Times New Roman" pitchFamily="18" charset="0"/>
                <a:cs typeface="Times New Roman" pitchFamily="18" charset="0"/>
              </a:rPr>
              <a:t>Estimate a story </a:t>
            </a:r>
            <a:r>
              <a:rPr lang="en-US" sz="2100" dirty="0" smtClean="0">
                <a:latin typeface="Times New Roman" pitchFamily="18" charset="0"/>
                <a:cs typeface="Times New Roman" pitchFamily="18" charset="0"/>
              </a:rPr>
              <a:t>– development estimates how long the story will take to implement. If they cannot estimate the story or the story seems too big then they can ask for clarification or break the story up into smaller chunks.</a:t>
            </a:r>
            <a:endParaRPr lang="en-IN" sz="2100" dirty="0" smtClean="0">
              <a:latin typeface="Times New Roman" pitchFamily="18" charset="0"/>
              <a:cs typeface="Times New Roman" pitchFamily="18" charset="0"/>
            </a:endParaRPr>
          </a:p>
          <a:p>
            <a:r>
              <a:rPr lang="en-US" sz="2300" i="1" dirty="0" smtClean="0">
                <a:solidFill>
                  <a:srgbClr val="FF0000"/>
                </a:solidFill>
                <a:latin typeface="Times New Roman" pitchFamily="18" charset="0"/>
                <a:cs typeface="Times New Roman" pitchFamily="18" charset="0"/>
              </a:rPr>
              <a:t>Break a story up </a:t>
            </a:r>
            <a:r>
              <a:rPr lang="en-US" sz="2100" dirty="0" smtClean="0">
                <a:latin typeface="Times New Roman" pitchFamily="18" charset="0"/>
                <a:cs typeface="Times New Roman" pitchFamily="18" charset="0"/>
              </a:rPr>
              <a:t>– the business must break a story down into small chunks if required.</a:t>
            </a:r>
          </a:p>
          <a:p>
            <a:pPr>
              <a:buNone/>
            </a:pPr>
            <a:endParaRPr lang="en-IN" sz="2100" dirty="0" smtClean="0">
              <a:latin typeface="Times New Roman" pitchFamily="18" charset="0"/>
              <a:cs typeface="Times New Roman" pitchFamily="18" charset="0"/>
            </a:endParaRPr>
          </a:p>
          <a:p>
            <a:r>
              <a:rPr lang="en-US" sz="2900" dirty="0" smtClean="0">
                <a:solidFill>
                  <a:srgbClr val="FF0000"/>
                </a:solidFill>
                <a:latin typeface="Times New Roman" pitchFamily="18" charset="0"/>
                <a:cs typeface="Times New Roman" pitchFamily="18" charset="0"/>
              </a:rPr>
              <a:t>Commitment Phase</a:t>
            </a:r>
            <a:endParaRPr lang="en-IN" sz="2900" dirty="0" smtClean="0">
              <a:solidFill>
                <a:srgbClr val="FF0000"/>
              </a:solidFill>
              <a:latin typeface="Times New Roman" pitchFamily="18" charset="0"/>
              <a:cs typeface="Times New Roman" pitchFamily="18" charset="0"/>
            </a:endParaRPr>
          </a:p>
          <a:p>
            <a:r>
              <a:rPr lang="en-US" sz="2100" dirty="0" smtClean="0">
                <a:latin typeface="Times New Roman" pitchFamily="18" charset="0"/>
                <a:cs typeface="Times New Roman" pitchFamily="18" charset="0"/>
              </a:rPr>
              <a:t>This phase allows business to determine the scope of the release and when that release will occur (based on information provided by development and business). The steps within the commitment phase are:</a:t>
            </a:r>
            <a:endParaRPr lang="en-IN" sz="2100" dirty="0" smtClean="0">
              <a:latin typeface="Times New Roman" pitchFamily="18" charset="0"/>
              <a:cs typeface="Times New Roman" pitchFamily="18" charset="0"/>
            </a:endParaRPr>
          </a:p>
          <a:p>
            <a:r>
              <a:rPr lang="en-US" sz="2100" i="1" dirty="0" smtClean="0">
                <a:latin typeface="Times New Roman" pitchFamily="18" charset="0"/>
                <a:cs typeface="Times New Roman" pitchFamily="18" charset="0"/>
              </a:rPr>
              <a:t>Sort by value </a:t>
            </a:r>
            <a:r>
              <a:rPr lang="en-US" sz="2100" dirty="0" smtClean="0">
                <a:latin typeface="Times New Roman" pitchFamily="18" charset="0"/>
                <a:cs typeface="Times New Roman" pitchFamily="18" charset="0"/>
              </a:rPr>
              <a:t>– business must sort the stories (written on index cards) into three plies (1) must have, (2) should have and (3) nice to have. This is effectively applying a relative priority to each story.</a:t>
            </a:r>
            <a:endParaRPr lang="en-IN" sz="2100" dirty="0" smtClean="0">
              <a:latin typeface="Times New Roman" pitchFamily="18" charset="0"/>
              <a:cs typeface="Times New Roman" pitchFamily="18" charset="0"/>
            </a:endParaRPr>
          </a:p>
          <a:p>
            <a:r>
              <a:rPr lang="en-US" sz="2100" i="1" dirty="0" smtClean="0">
                <a:latin typeface="Times New Roman" pitchFamily="18" charset="0"/>
                <a:cs typeface="Times New Roman" pitchFamily="18" charset="0"/>
              </a:rPr>
              <a:t>Sort by risk </a:t>
            </a:r>
            <a:r>
              <a:rPr lang="en-US" sz="2100" dirty="0" smtClean="0">
                <a:latin typeface="Times New Roman" pitchFamily="18" charset="0"/>
                <a:cs typeface="Times New Roman" pitchFamily="18" charset="0"/>
              </a:rPr>
              <a:t>– Development now sorts the stories into three further piles (1) stories that can be estimated precisely, (2) stories that can be estimated roughly and</a:t>
            </a:r>
            <a:endParaRPr lang="en-IN" sz="2100" dirty="0" smtClean="0">
              <a:latin typeface="Times New Roman" pitchFamily="18" charset="0"/>
              <a:cs typeface="Times New Roman" pitchFamily="18" charset="0"/>
            </a:endParaRPr>
          </a:p>
          <a:p>
            <a:r>
              <a:rPr lang="en-US" sz="2100" dirty="0" smtClean="0">
                <a:latin typeface="Times New Roman" pitchFamily="18" charset="0"/>
                <a:cs typeface="Times New Roman" pitchFamily="18" charset="0"/>
              </a:rPr>
              <a:t>(3) stories that can’t be estimated.</a:t>
            </a:r>
            <a:endParaRPr lang="en-IN" sz="2100" dirty="0" smtClean="0">
              <a:latin typeface="Times New Roman" pitchFamily="18" charset="0"/>
              <a:cs typeface="Times New Roman" pitchFamily="18" charset="0"/>
            </a:endParaRPr>
          </a:p>
          <a:p>
            <a:r>
              <a:rPr lang="en-US" sz="2100" i="1" dirty="0" smtClean="0">
                <a:latin typeface="Times New Roman" pitchFamily="18" charset="0"/>
                <a:cs typeface="Times New Roman" pitchFamily="18" charset="0"/>
              </a:rPr>
              <a:t>Set velocity </a:t>
            </a:r>
            <a:r>
              <a:rPr lang="en-US" sz="2100" dirty="0" smtClean="0">
                <a:latin typeface="Times New Roman" pitchFamily="18" charset="0"/>
                <a:cs typeface="Times New Roman" pitchFamily="18" charset="0"/>
              </a:rPr>
              <a:t>– development indicates how quickly they will be able to achieve the estimates (which have been made in an idealized type of time).</a:t>
            </a:r>
            <a:endParaRPr lang="en-IN" sz="2100" dirty="0" smtClean="0">
              <a:latin typeface="Times New Roman" pitchFamily="18" charset="0"/>
              <a:cs typeface="Times New Roman" pitchFamily="18" charset="0"/>
            </a:endParaRPr>
          </a:p>
          <a:p>
            <a:r>
              <a:rPr lang="en-US" sz="2100" i="1" dirty="0" smtClean="0">
                <a:latin typeface="Times New Roman" pitchFamily="18" charset="0"/>
                <a:cs typeface="Times New Roman" pitchFamily="18" charset="0"/>
              </a:rPr>
              <a:t>Choose scope </a:t>
            </a:r>
            <a:r>
              <a:rPr lang="en-US" sz="2100" dirty="0" smtClean="0">
                <a:latin typeface="Times New Roman" pitchFamily="18" charset="0"/>
                <a:cs typeface="Times New Roman" pitchFamily="18" charset="0"/>
              </a:rPr>
              <a:t>– Business selects which user stories will be in the next release.</a:t>
            </a:r>
          </a:p>
          <a:p>
            <a:r>
              <a:rPr lang="en-US" sz="2100" b="1" dirty="0" smtClean="0">
                <a:latin typeface="Times New Roman" pitchFamily="18" charset="0"/>
                <a:cs typeface="Times New Roman" pitchFamily="18" charset="0"/>
              </a:rPr>
              <a:t>Steering Phase</a:t>
            </a:r>
            <a:endParaRPr lang="en-IN" sz="2100" b="1" dirty="0" smtClean="0">
              <a:latin typeface="Times New Roman" pitchFamily="18" charset="0"/>
              <a:cs typeface="Times New Roman" pitchFamily="18" charset="0"/>
            </a:endParaRPr>
          </a:p>
          <a:p>
            <a:r>
              <a:rPr lang="en-US" sz="2100" dirty="0" smtClean="0">
                <a:latin typeface="Times New Roman" pitchFamily="18" charset="0"/>
                <a:cs typeface="Times New Roman" pitchFamily="18" charset="0"/>
              </a:rPr>
              <a:t>The purpose of the steering phase is to allow the plan to be updated as things change over time. This phase is a little different from the last two in that the last two are likely to have happened at the same time</a:t>
            </a:r>
            <a:endParaRPr lang="en-IN" sz="2100" dirty="0" smtClean="0">
              <a:latin typeface="Times New Roman" pitchFamily="18" charset="0"/>
              <a:cs typeface="Times New Roman" pitchFamily="18" charset="0"/>
            </a:endParaRPr>
          </a:p>
          <a:p>
            <a:pPr>
              <a:buNone/>
            </a:pPr>
            <a:endParaRPr lang="en-IN" sz="16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US" sz="2600" i="1" dirty="0" smtClean="0">
                <a:solidFill>
                  <a:srgbClr val="FF0000"/>
                </a:solidFill>
                <a:latin typeface="Times New Roman" pitchFamily="18" charset="0"/>
                <a:cs typeface="Times New Roman" pitchFamily="18" charset="0"/>
              </a:rPr>
              <a:t>Iteration </a:t>
            </a:r>
            <a:r>
              <a:rPr lang="en-US" sz="2600" dirty="0" smtClean="0">
                <a:latin typeface="Times New Roman" pitchFamily="18" charset="0"/>
                <a:cs typeface="Times New Roman" pitchFamily="18" charset="0"/>
              </a:rPr>
              <a:t>– from each iteration the business picks the stories that will form that iteration.</a:t>
            </a:r>
            <a:endParaRPr lang="en-IN" sz="2600" dirty="0" smtClean="0">
              <a:latin typeface="Times New Roman" pitchFamily="18" charset="0"/>
              <a:cs typeface="Times New Roman" pitchFamily="18" charset="0"/>
            </a:endParaRPr>
          </a:p>
          <a:p>
            <a:r>
              <a:rPr lang="en-US" sz="2600" i="1" dirty="0" smtClean="0">
                <a:solidFill>
                  <a:srgbClr val="FF0000"/>
                </a:solidFill>
                <a:latin typeface="Times New Roman" pitchFamily="18" charset="0"/>
                <a:cs typeface="Times New Roman" pitchFamily="18" charset="0"/>
              </a:rPr>
              <a:t>Recovery </a:t>
            </a:r>
            <a:r>
              <a:rPr lang="en-US" sz="2600" dirty="0" smtClean="0">
                <a:latin typeface="Times New Roman" pitchFamily="18" charset="0"/>
                <a:cs typeface="Times New Roman" pitchFamily="18" charset="0"/>
              </a:rPr>
              <a:t>– if it is </a:t>
            </a:r>
            <a:r>
              <a:rPr lang="en-US" sz="2600" dirty="0" err="1" smtClean="0">
                <a:latin typeface="Times New Roman" pitchFamily="18" charset="0"/>
                <a:cs typeface="Times New Roman" pitchFamily="18" charset="0"/>
              </a:rPr>
              <a:t>realised</a:t>
            </a:r>
            <a:r>
              <a:rPr lang="en-US" sz="2600" dirty="0" smtClean="0">
                <a:latin typeface="Times New Roman" pitchFamily="18" charset="0"/>
                <a:cs typeface="Times New Roman" pitchFamily="18" charset="0"/>
              </a:rPr>
              <a:t> that not all the stories can be implemented for a particular iteration, then Development must ask Business to help determine which stories should remain in the iteration and which might be moved to later iterations.</a:t>
            </a:r>
            <a:endParaRPr lang="en-IN" sz="2600" dirty="0" smtClean="0">
              <a:latin typeface="Times New Roman" pitchFamily="18" charset="0"/>
              <a:cs typeface="Times New Roman" pitchFamily="18" charset="0"/>
            </a:endParaRPr>
          </a:p>
          <a:p>
            <a:r>
              <a:rPr lang="en-US" sz="2600" i="1" dirty="0" smtClean="0">
                <a:solidFill>
                  <a:srgbClr val="FF0000"/>
                </a:solidFill>
                <a:latin typeface="Times New Roman" pitchFamily="18" charset="0"/>
                <a:cs typeface="Times New Roman" pitchFamily="18" charset="0"/>
              </a:rPr>
              <a:t>New Story </a:t>
            </a:r>
            <a:r>
              <a:rPr lang="en-US" sz="2600" dirty="0" smtClean="0">
                <a:latin typeface="Times New Roman" pitchFamily="18" charset="0"/>
                <a:cs typeface="Times New Roman" pitchFamily="18" charset="0"/>
              </a:rPr>
              <a:t>– if Business </a:t>
            </a:r>
          </a:p>
          <a:p>
            <a:pPr>
              <a:buNone/>
            </a:pPr>
            <a:r>
              <a:rPr lang="en-US" sz="2600" dirty="0" smtClean="0">
                <a:latin typeface="Times New Roman" pitchFamily="18" charset="0"/>
                <a:cs typeface="Times New Roman" pitchFamily="18" charset="0"/>
              </a:rPr>
              <a:t>    By </a:t>
            </a:r>
            <a:r>
              <a:rPr lang="en-US" sz="2600" dirty="0" smtClean="0">
                <a:latin typeface="Times New Roman" pitchFamily="18" charset="0"/>
                <a:cs typeface="Times New Roman" pitchFamily="18" charset="0"/>
              </a:rPr>
              <a:t>following through the planning game, a set of requirements for each iteration can be produced. Depending on the stage of the project, the current iteration may be planned in detail, with a future iteration only penned out in terms of anticipated user stories. This is okay as at the start of each iteration, the planning game will occur again. In fact, there are actually two types of planning games, they are:</a:t>
            </a:r>
            <a:endParaRPr lang="en-IN"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The initial planning game</a:t>
            </a:r>
            <a:endParaRPr lang="en-IN"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The release/iteration planning game.</a:t>
            </a:r>
            <a:endParaRPr lang="en-IN" sz="2600" dirty="0" smtClean="0">
              <a:latin typeface="Times New Roman" pitchFamily="18" charset="0"/>
              <a:cs typeface="Times New Roman" pitchFamily="18" charset="0"/>
            </a:endParaRPr>
          </a:p>
          <a:p>
            <a:endParaRPr lang="en-US" dirty="0" smtClean="0"/>
          </a:p>
          <a:p>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lstStyle/>
          <a:p>
            <a:pPr lvl="1" algn="ctr" rtl="0">
              <a:spcBef>
                <a:spcPct val="0"/>
              </a:spcBef>
            </a:pPr>
            <a:r>
              <a:rPr lang="en-US" sz="2800" b="1" dirty="0" smtClean="0">
                <a:solidFill>
                  <a:srgbClr val="FF0000"/>
                </a:solidFill>
                <a:latin typeface="Times New Roman" pitchFamily="18" charset="0"/>
                <a:cs typeface="Times New Roman" pitchFamily="18" charset="0"/>
              </a:rPr>
              <a:t>Planning XP Projects</a:t>
            </a:r>
            <a:r>
              <a:rPr lang="en-IN" b="1" dirty="0" smtClean="0"/>
              <a:t/>
            </a:r>
            <a:br>
              <a:rPr lang="en-IN" b="1" dirty="0" smtClean="0"/>
            </a:br>
            <a:endParaRPr lang="en-IN" dirty="0"/>
          </a:p>
        </p:txBody>
      </p:sp>
      <p:sp>
        <p:nvSpPr>
          <p:cNvPr id="3" name="Content Placeholder 2"/>
          <p:cNvSpPr>
            <a:spLocks noGrp="1"/>
          </p:cNvSpPr>
          <p:nvPr>
            <p:ph idx="1"/>
          </p:nvPr>
        </p:nvSpPr>
        <p:spPr>
          <a:xfrm>
            <a:off x="381000" y="914400"/>
            <a:ext cx="8229600" cy="5791200"/>
          </a:xfrm>
        </p:spPr>
        <p:txBody>
          <a:bodyPr>
            <a:normAutofit/>
          </a:bodyPr>
          <a:lstStyle/>
          <a:p>
            <a:pPr>
              <a:buNone/>
            </a:pPr>
            <a:r>
              <a:rPr lang="en-US" sz="1700" dirty="0" smtClean="0">
                <a:latin typeface="Times New Roman" pitchFamily="18" charset="0"/>
                <a:cs typeface="Times New Roman" pitchFamily="18" charset="0"/>
              </a:rPr>
              <a:t> The XP project lifecycle is presented in Figure 6.1. This diagram illustrates the various planning stages and implementation stages within a typical XP project.</a:t>
            </a:r>
            <a:endParaRPr lang="en-IN" sz="1700" dirty="0" smtClean="0">
              <a:latin typeface="Times New Roman" pitchFamily="18" charset="0"/>
              <a:cs typeface="Times New Roman" pitchFamily="18" charset="0"/>
            </a:endParaRPr>
          </a:p>
          <a:p>
            <a:pPr>
              <a:buNone/>
            </a:pPr>
            <a:endParaRPr lang="en-IN" dirty="0" smtClean="0"/>
          </a:p>
          <a:p>
            <a:pPr>
              <a:buNone/>
            </a:pPr>
            <a:endParaRPr lang="en-IN" dirty="0" smtClean="0"/>
          </a:p>
          <a:p>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0" y="1828800"/>
            <a:ext cx="8991600" cy="50292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229600" cy="6172200"/>
          </a:xfrm>
        </p:spPr>
        <p:txBody>
          <a:bodyPr>
            <a:normAutofit/>
          </a:bodyPr>
          <a:lstStyle/>
          <a:p>
            <a:r>
              <a:rPr lang="en-US" sz="2000" dirty="0" smtClean="0">
                <a:latin typeface="Times New Roman" pitchFamily="18" charset="0"/>
                <a:cs typeface="Times New Roman" pitchFamily="18" charset="0"/>
              </a:rPr>
              <a:t>For example, it starts with an initial project planning process during which the overall plan of the project is roughly sketched out. This is followed by one (and typically more than one) release planning process where the contents of a release is planned and the tasks performed in the iteration to implement the release are also planned. </a:t>
            </a:r>
          </a:p>
          <a:p>
            <a:pPr>
              <a:buNone/>
            </a:pPr>
            <a:endParaRPr lang="en-US" sz="2000" b="1" dirty="0" smtClean="0">
              <a:latin typeface="Times New Roman" pitchFamily="18" charset="0"/>
              <a:cs typeface="Times New Roman" pitchFamily="18" charset="0"/>
            </a:endParaRPr>
          </a:p>
          <a:p>
            <a:pPr>
              <a:buNone/>
            </a:pPr>
            <a:r>
              <a:rPr lang="en-US" sz="2000" b="1" dirty="0" smtClean="0">
                <a:solidFill>
                  <a:srgbClr val="FF0000"/>
                </a:solidFill>
                <a:latin typeface="Times New Roman" pitchFamily="18" charset="0"/>
                <a:cs typeface="Times New Roman" pitchFamily="18" charset="0"/>
              </a:rPr>
              <a:t>1.Playing the Planning Game</a:t>
            </a:r>
            <a:endParaRPr lang="en-IN" sz="2000" b="1" dirty="0" smtClean="0">
              <a:solidFill>
                <a:srgbClr val="FF0000"/>
              </a:solidFill>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 planning game has only two conceptual players; these are the “Business” and “Development.” The business is formed from those stakeholders who can specify the operation of the system. Development is formed from members of the development team relevant to the features being discussed.</a:t>
            </a:r>
          </a:p>
          <a:p>
            <a:pPr>
              <a:buNone/>
            </a:pPr>
            <a:endParaRPr lang="en-US" sz="2000" b="1" dirty="0" smtClean="0">
              <a:solidFill>
                <a:srgbClr val="FF0000"/>
              </a:solidFill>
              <a:latin typeface="Times New Roman" pitchFamily="18" charset="0"/>
              <a:cs typeface="Times New Roman" pitchFamily="18" charset="0"/>
            </a:endParaRPr>
          </a:p>
          <a:p>
            <a:pPr>
              <a:buNone/>
            </a:pPr>
            <a:r>
              <a:rPr lang="en-US" sz="1900" b="1" dirty="0" smtClean="0">
                <a:solidFill>
                  <a:srgbClr val="FF0000"/>
                </a:solidFill>
                <a:latin typeface="Times New Roman" pitchFamily="18" charset="0"/>
                <a:cs typeface="Times New Roman" pitchFamily="18" charset="0"/>
              </a:rPr>
              <a:t>2.The Goal of the Game</a:t>
            </a:r>
            <a:endParaRPr lang="en-IN" sz="1900" b="1" dirty="0" smtClean="0">
              <a:solidFill>
                <a:srgbClr val="FF0000"/>
              </a:solidFill>
              <a:latin typeface="Times New Roman" pitchFamily="18" charset="0"/>
              <a:cs typeface="Times New Roman" pitchFamily="18" charset="0"/>
            </a:endParaRPr>
          </a:p>
          <a:p>
            <a:r>
              <a:rPr lang="en-US" sz="1900" dirty="0" smtClean="0">
                <a:latin typeface="Times New Roman" pitchFamily="18" charset="0"/>
                <a:cs typeface="Times New Roman" pitchFamily="18" charset="0"/>
              </a:rPr>
              <a:t>The goal of the planning game is to maximize the value of the software produced by the team.</a:t>
            </a:r>
            <a:endParaRPr lang="en-IN" sz="1900" dirty="0" smtClean="0">
              <a:latin typeface="Times New Roman" pitchFamily="18" charset="0"/>
              <a:cs typeface="Times New Roman" pitchFamily="18" charset="0"/>
            </a:endParaRPr>
          </a:p>
          <a:p>
            <a:endParaRPr lang="en-IN" sz="20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534400" cy="6096000"/>
          </a:xfrm>
        </p:spPr>
        <p:txBody>
          <a:bodyPr>
            <a:normAutofit/>
          </a:bodyPr>
          <a:lstStyle/>
          <a:p>
            <a:pPr lvl="2">
              <a:buNone/>
            </a:pPr>
            <a:r>
              <a:rPr lang="en-US" b="1" dirty="0" smtClean="0">
                <a:solidFill>
                  <a:srgbClr val="FF0000"/>
                </a:solidFill>
                <a:latin typeface="Times New Roman" pitchFamily="18" charset="0"/>
                <a:cs typeface="Times New Roman" pitchFamily="18" charset="0"/>
              </a:rPr>
              <a:t>3.The Strategy</a:t>
            </a:r>
            <a:endParaRPr lang="en-IN" b="1" dirty="0" smtClean="0">
              <a:solidFill>
                <a:srgbClr val="FF0000"/>
              </a:solidFill>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The main strategy of the game is to invest as little as possible to put the most valuable functionality into production as quickly as possible, but without com- promising the required product quality.</a:t>
            </a:r>
            <a:endParaRPr lang="en-IN"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1. The strategy is to “invest as little as possible.” That is, to get the job done as quickly as possible without incurring unnecessary overheads. For example, the idea of not implementing features today which may or may not be required tomorrow.</a:t>
            </a:r>
            <a:endParaRPr lang="en-IN"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2.The aim is to “put the most valuable functionality into production.” Few projects have unlimited resources and unlimited time. </a:t>
            </a:r>
          </a:p>
          <a:p>
            <a:pPr>
              <a:buNone/>
            </a:pPr>
            <a:r>
              <a:rPr lang="en-US" sz="2400" dirty="0" smtClean="0">
                <a:latin typeface="Times New Roman" pitchFamily="18" charset="0"/>
                <a:cs typeface="Times New Roman" pitchFamily="18" charset="0"/>
              </a:rPr>
              <a:t>3. We want to do all this “without compromising the required product quality.” Obviously, we want the software we produce to do its job without causing the users any difficulties.</a:t>
            </a:r>
          </a:p>
          <a:p>
            <a:pPr>
              <a:buNone/>
            </a:pPr>
            <a:endParaRPr lang="en-IN" sz="2000" dirty="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l" rtl="0">
              <a:spcBef>
                <a:spcPct val="0"/>
              </a:spcBef>
            </a:pPr>
            <a:r>
              <a:rPr lang="en-US" sz="2400" b="1" dirty="0" smtClean="0">
                <a:solidFill>
                  <a:srgbClr val="FF0000"/>
                </a:solidFill>
                <a:latin typeface="Times New Roman" pitchFamily="18" charset="0"/>
                <a:cs typeface="Times New Roman" pitchFamily="18" charset="0"/>
              </a:rPr>
              <a:t>4.The Game Pieces</a:t>
            </a:r>
            <a:r>
              <a:rPr lang="en-IN" b="1" dirty="0" smtClean="0"/>
              <a:t/>
            </a:r>
            <a:br>
              <a:rPr lang="en-IN" b="1" dirty="0" smtClean="0"/>
            </a:br>
            <a:endParaRPr lang="en-IN" dirty="0"/>
          </a:p>
        </p:txBody>
      </p:sp>
      <p:sp>
        <p:nvSpPr>
          <p:cNvPr id="3" name="Content Placeholder 2"/>
          <p:cNvSpPr>
            <a:spLocks noGrp="1"/>
          </p:cNvSpPr>
          <p:nvPr>
            <p:ph idx="1"/>
          </p:nvPr>
        </p:nvSpPr>
        <p:spPr>
          <a:xfrm>
            <a:off x="609600" y="990600"/>
            <a:ext cx="8229600" cy="5440363"/>
          </a:xfrm>
        </p:spPr>
        <p:txBody>
          <a:bodyPr>
            <a:normAutofit fontScale="77500" lnSpcReduction="20000"/>
          </a:bodyPr>
          <a:lstStyle/>
          <a:p>
            <a:pPr>
              <a:buNone/>
            </a:pPr>
            <a:endParaRPr lang="en-US" dirty="0" smtClean="0">
              <a:latin typeface="Times New Roman" pitchFamily="18" charset="0"/>
              <a:cs typeface="Times New Roman" pitchFamily="18" charset="0"/>
            </a:endParaRP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The pieces used by the two players are the “user stories” described in the last chapter. These are written down on index cards and moved around during the game. Of course you do not necessarily need to use index cards, user stories can be written down on white boards, scrapes of paper, entered into a software system for recording and reference.</a:t>
            </a:r>
          </a:p>
          <a:p>
            <a:pPr>
              <a:buNone/>
            </a:pPr>
            <a:endParaRPr lang="en-US" b="1" dirty="0" smtClean="0">
              <a:latin typeface="Times New Roman" pitchFamily="18" charset="0"/>
              <a:cs typeface="Times New Roman" pitchFamily="18" charset="0"/>
            </a:endParaRPr>
          </a:p>
          <a:p>
            <a:pPr>
              <a:buNone/>
            </a:pPr>
            <a:r>
              <a:rPr lang="en-US" b="1" dirty="0" smtClean="0">
                <a:latin typeface="Times New Roman" pitchFamily="18" charset="0"/>
                <a:cs typeface="Times New Roman" pitchFamily="18" charset="0"/>
              </a:rPr>
              <a:t>The Players</a:t>
            </a:r>
            <a:endParaRPr lang="en-IN" b="1"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As mentioned earlier, there are only two players in the game “Business” and “Development.” I like to think them as teams, because they are rarely a single person (apart possibly from very early on in the life of the project). </a:t>
            </a:r>
            <a:endParaRPr lang="en-IN"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l" rtl="0">
              <a:spcBef>
                <a:spcPct val="0"/>
              </a:spcBef>
            </a:pPr>
            <a:r>
              <a:rPr lang="en-US" sz="2400" b="1" dirty="0" smtClean="0">
                <a:solidFill>
                  <a:srgbClr val="FF0000"/>
                </a:solidFill>
                <a:latin typeface="Times New Roman" pitchFamily="18" charset="0"/>
                <a:cs typeface="Times New Roman" pitchFamily="18" charset="0"/>
              </a:rPr>
              <a:t>5.The Moves/Playing the Game</a:t>
            </a:r>
            <a:r>
              <a:rPr lang="en-IN" b="1" dirty="0" smtClean="0"/>
              <a:t/>
            </a:r>
            <a:br>
              <a:rPr lang="en-IN" b="1" dirty="0" smtClean="0"/>
            </a:br>
            <a:endParaRPr lang="en-IN" dirty="0"/>
          </a:p>
        </p:txBody>
      </p:sp>
      <p:sp>
        <p:nvSpPr>
          <p:cNvPr id="3" name="Content Placeholder 2"/>
          <p:cNvSpPr>
            <a:spLocks noGrp="1"/>
          </p:cNvSpPr>
          <p:nvPr>
            <p:ph idx="1"/>
          </p:nvPr>
        </p:nvSpPr>
        <p:spPr>
          <a:xfrm>
            <a:off x="457200" y="1066800"/>
            <a:ext cx="8229600" cy="5059363"/>
          </a:xfrm>
        </p:spPr>
        <p:txBody>
          <a:bodyPr>
            <a:normAutofit fontScale="92500" lnSpcReduction="20000"/>
          </a:bodyPr>
          <a:lstStyle/>
          <a:p>
            <a:pPr>
              <a:buNone/>
            </a:pPr>
            <a:r>
              <a:rPr lang="en-US" sz="2600" dirty="0" smtClean="0">
                <a:latin typeface="Times New Roman" pitchFamily="18" charset="0"/>
                <a:cs typeface="Times New Roman" pitchFamily="18" charset="0"/>
              </a:rPr>
              <a:t>There are three stages to play the game.</a:t>
            </a:r>
            <a:endParaRPr lang="en-IN" sz="2600" dirty="0" smtClean="0">
              <a:latin typeface="Times New Roman" pitchFamily="18" charset="0"/>
              <a:cs typeface="Times New Roman" pitchFamily="18" charset="0"/>
            </a:endParaRPr>
          </a:p>
          <a:p>
            <a:pPr lvl="0"/>
            <a:r>
              <a:rPr lang="en-US" sz="2600" i="1" dirty="0" smtClean="0">
                <a:solidFill>
                  <a:srgbClr val="FF0000"/>
                </a:solidFill>
                <a:latin typeface="Times New Roman" pitchFamily="18" charset="0"/>
                <a:cs typeface="Times New Roman" pitchFamily="18" charset="0"/>
              </a:rPr>
              <a:t>Exploration </a:t>
            </a:r>
            <a:r>
              <a:rPr lang="en-US" sz="2600" dirty="0" smtClean="0">
                <a:latin typeface="Times New Roman" pitchFamily="18" charset="0"/>
                <a:cs typeface="Times New Roman" pitchFamily="18" charset="0"/>
              </a:rPr>
              <a:t>– Determine new user stories of the system.</a:t>
            </a:r>
            <a:endParaRPr lang="en-IN" sz="2600" dirty="0" smtClean="0">
              <a:latin typeface="Times New Roman" pitchFamily="18" charset="0"/>
              <a:cs typeface="Times New Roman" pitchFamily="18" charset="0"/>
            </a:endParaRPr>
          </a:p>
          <a:p>
            <a:pPr lvl="0"/>
            <a:r>
              <a:rPr lang="en-US" sz="2600" i="1" dirty="0" smtClean="0">
                <a:solidFill>
                  <a:srgbClr val="FF0000"/>
                </a:solidFill>
                <a:latin typeface="Times New Roman" pitchFamily="18" charset="0"/>
                <a:cs typeface="Times New Roman" pitchFamily="18" charset="0"/>
              </a:rPr>
              <a:t>Commitment </a:t>
            </a:r>
            <a:r>
              <a:rPr lang="en-US" sz="2600" dirty="0" smtClean="0">
                <a:latin typeface="Times New Roman" pitchFamily="18" charset="0"/>
                <a:cs typeface="Times New Roman" pitchFamily="18" charset="0"/>
              </a:rPr>
              <a:t>– Decide which features will be addressed in a particular release.</a:t>
            </a:r>
            <a:endParaRPr lang="en-IN" sz="2600" dirty="0" smtClean="0">
              <a:latin typeface="Times New Roman" pitchFamily="18" charset="0"/>
              <a:cs typeface="Times New Roman" pitchFamily="18" charset="0"/>
            </a:endParaRPr>
          </a:p>
          <a:p>
            <a:pPr lvl="0"/>
            <a:r>
              <a:rPr lang="en-US" sz="2600" i="1" dirty="0" smtClean="0">
                <a:solidFill>
                  <a:srgbClr val="FF0000"/>
                </a:solidFill>
                <a:latin typeface="Times New Roman" pitchFamily="18" charset="0"/>
                <a:cs typeface="Times New Roman" pitchFamily="18" charset="0"/>
              </a:rPr>
              <a:t>Steering </a:t>
            </a:r>
            <a:r>
              <a:rPr lang="en-US" sz="2600" dirty="0" smtClean="0">
                <a:latin typeface="Times New Roman" pitchFamily="18" charset="0"/>
                <a:cs typeface="Times New Roman" pitchFamily="18" charset="0"/>
              </a:rPr>
              <a:t>– Update the plan as development progresses.</a:t>
            </a:r>
          </a:p>
          <a:p>
            <a:pPr lvl="0">
              <a:buNone/>
            </a:pPr>
            <a:endParaRPr lang="en-IN" sz="2600" dirty="0" smtClean="0">
              <a:solidFill>
                <a:srgbClr val="FF0000"/>
              </a:solidFill>
              <a:latin typeface="Times New Roman" pitchFamily="18" charset="0"/>
              <a:cs typeface="Times New Roman" pitchFamily="18" charset="0"/>
            </a:endParaRPr>
          </a:p>
          <a:p>
            <a:r>
              <a:rPr lang="en-US" sz="2600" i="1" dirty="0" smtClean="0">
                <a:solidFill>
                  <a:srgbClr val="FF0000"/>
                </a:solidFill>
                <a:latin typeface="Times New Roman" pitchFamily="18" charset="0"/>
                <a:cs typeface="Times New Roman" pitchFamily="18" charset="0"/>
              </a:rPr>
              <a:t>Exploration Phase</a:t>
            </a:r>
            <a:endParaRPr lang="en-IN" sz="2600" dirty="0" smtClean="0">
              <a:solidFill>
                <a:srgbClr val="FF0000"/>
              </a:solidFill>
              <a:latin typeface="Times New Roman" pitchFamily="18" charset="0"/>
              <a:cs typeface="Times New Roman" pitchFamily="18" charset="0"/>
            </a:endParaRPr>
          </a:p>
          <a:p>
            <a:r>
              <a:rPr lang="en-US" sz="2600" dirty="0" smtClean="0">
                <a:latin typeface="Times New Roman" pitchFamily="18" charset="0"/>
                <a:cs typeface="Times New Roman" pitchFamily="18" charset="0"/>
              </a:rPr>
              <a:t>Within the exploration phase, the game tries to help the team identify what the system should do. To achieve this, this phase has three steps (or moves). These are:</a:t>
            </a:r>
            <a:endParaRPr lang="en-IN" sz="2600" dirty="0" smtClean="0">
              <a:latin typeface="Times New Roman" pitchFamily="18" charset="0"/>
              <a:cs typeface="Times New Roman" pitchFamily="18" charset="0"/>
            </a:endParaRPr>
          </a:p>
          <a:p>
            <a:pPr>
              <a:buNone/>
            </a:pPr>
            <a:endParaRPr lang="en-IN"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Write a story.</a:t>
            </a:r>
            <a:endParaRPr lang="en-IN"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Estimate a story.</a:t>
            </a:r>
            <a:endParaRPr lang="en-IN" sz="2600" dirty="0" smtClean="0">
              <a:latin typeface="Times New Roman" pitchFamily="18" charset="0"/>
              <a:cs typeface="Times New Roman" pitchFamily="18" charset="0"/>
            </a:endParaRPr>
          </a:p>
          <a:p>
            <a:pPr lvl="0"/>
            <a:r>
              <a:rPr lang="en-US" sz="2600" dirty="0" smtClean="0">
                <a:latin typeface="Times New Roman" pitchFamily="18" charset="0"/>
                <a:cs typeface="Times New Roman" pitchFamily="18" charset="0"/>
              </a:rPr>
              <a:t>Split a story.</a:t>
            </a:r>
            <a:endParaRPr lang="en-IN" sz="2600" dirty="0" smtClean="0">
              <a:latin typeface="Times New Roman" pitchFamily="18" charset="0"/>
              <a:cs typeface="Times New Roman" pitchFamily="18" charset="0"/>
            </a:endParaRPr>
          </a:p>
          <a:p>
            <a:endParaRPr lang="en-IN" dirty="0" smtClean="0"/>
          </a:p>
          <a:p>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228600"/>
            <a:ext cx="8229600" cy="5516563"/>
          </a:xfrm>
        </p:spPr>
        <p:txBody>
          <a:bodyPr>
            <a:normAutofit/>
          </a:bodyPr>
          <a:lstStyle/>
          <a:p>
            <a:pPr>
              <a:buNone/>
            </a:pPr>
            <a:r>
              <a:rPr lang="en-US" sz="2400" i="1" dirty="0" smtClean="0">
                <a:solidFill>
                  <a:srgbClr val="FF0000"/>
                </a:solidFill>
                <a:latin typeface="Times New Roman" pitchFamily="18" charset="0"/>
                <a:cs typeface="Times New Roman" pitchFamily="18" charset="0"/>
              </a:rPr>
              <a:t>Commitment Phase</a:t>
            </a:r>
            <a:endParaRPr lang="en-IN" sz="2400" dirty="0" smtClean="0">
              <a:solidFill>
                <a:srgbClr val="FF0000"/>
              </a:solidFill>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During this phase of the game, Business must identify what will be in the current iteration and when the next release will be. For their part, Development must commit to the agreed duration and the content of the release. If this situation cannot be met then either the timescale of the release must be changed, the content of the release altered or the number of developers increased.</a:t>
            </a:r>
            <a:endParaRPr lang="en-IN" sz="2000" dirty="0" smtClean="0">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The steps presented to reach agreement within the game are:</a:t>
            </a:r>
            <a:endParaRPr lang="en-IN" sz="2000" dirty="0" smtClean="0">
              <a:latin typeface="Times New Roman" pitchFamily="18" charset="0"/>
              <a:cs typeface="Times New Roman" pitchFamily="18" charset="0"/>
            </a:endParaRPr>
          </a:p>
          <a:p>
            <a:pPr>
              <a:buNone/>
            </a:pP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Sort by value.</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Sort by risk.</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Choose scope.</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Set project velocity</a:t>
            </a:r>
            <a:endParaRPr lang="en-IN" sz="2000"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700" i="1" dirty="0" smtClean="0">
                <a:solidFill>
                  <a:srgbClr val="FF0000"/>
                </a:solidFill>
                <a:latin typeface="Times New Roman" pitchFamily="18" charset="0"/>
                <a:cs typeface="Times New Roman" pitchFamily="18" charset="0"/>
              </a:rPr>
              <a:t>Steering Phase</a:t>
            </a:r>
            <a:r>
              <a:rPr lang="en-IN" dirty="0" smtClean="0"/>
              <a:t/>
            </a:r>
            <a:br>
              <a:rPr lang="en-IN" dirty="0" smtClean="0"/>
            </a:br>
            <a:endParaRPr lang="en-IN" dirty="0"/>
          </a:p>
        </p:txBody>
      </p:sp>
      <p:sp>
        <p:nvSpPr>
          <p:cNvPr id="3" name="Content Placeholder 2"/>
          <p:cNvSpPr>
            <a:spLocks noGrp="1"/>
          </p:cNvSpPr>
          <p:nvPr>
            <p:ph idx="1"/>
          </p:nvPr>
        </p:nvSpPr>
        <p:spPr>
          <a:xfrm>
            <a:off x="457200" y="1066800"/>
            <a:ext cx="8229600" cy="5059363"/>
          </a:xfrm>
        </p:spPr>
        <p:txBody>
          <a:bodyPr>
            <a:normAutofit fontScale="70000" lnSpcReduction="20000"/>
          </a:bodyPr>
          <a:lstStyle/>
          <a:p>
            <a:pPr>
              <a:buNone/>
            </a:pPr>
            <a:r>
              <a:rPr lang="en-US" dirty="0" smtClean="0"/>
              <a:t>In </a:t>
            </a:r>
            <a:r>
              <a:rPr lang="en-US" sz="3400" dirty="0" smtClean="0">
                <a:latin typeface="Times New Roman" pitchFamily="18" charset="0"/>
                <a:cs typeface="Times New Roman" pitchFamily="18" charset="0"/>
              </a:rPr>
              <a:t>the real world, plans often change. This may be for a wide variety of reasons including (but by no means limited to):</a:t>
            </a:r>
            <a:endParaRPr lang="en-IN" sz="3400" dirty="0" smtClean="0">
              <a:latin typeface="Times New Roman" pitchFamily="18" charset="0"/>
              <a:cs typeface="Times New Roman" pitchFamily="18" charset="0"/>
            </a:endParaRPr>
          </a:p>
          <a:p>
            <a:r>
              <a:rPr lang="en-US" sz="3400" dirty="0" smtClean="0">
                <a:latin typeface="Times New Roman" pitchFamily="18" charset="0"/>
                <a:cs typeface="Times New Roman" pitchFamily="18" charset="0"/>
              </a:rPr>
              <a:t>changing requirements,</a:t>
            </a:r>
            <a:endParaRPr lang="en-IN" sz="3400" dirty="0" smtClean="0">
              <a:latin typeface="Times New Roman" pitchFamily="18" charset="0"/>
              <a:cs typeface="Times New Roman" pitchFamily="18" charset="0"/>
            </a:endParaRPr>
          </a:p>
          <a:p>
            <a:r>
              <a:rPr lang="en-US" sz="3400" dirty="0" smtClean="0">
                <a:latin typeface="Times New Roman" pitchFamily="18" charset="0"/>
                <a:cs typeface="Times New Roman" pitchFamily="18" charset="0"/>
              </a:rPr>
              <a:t>new requirements,</a:t>
            </a:r>
            <a:endParaRPr lang="en-IN" sz="3400" dirty="0" smtClean="0">
              <a:latin typeface="Times New Roman" pitchFamily="18" charset="0"/>
              <a:cs typeface="Times New Roman" pitchFamily="18" charset="0"/>
            </a:endParaRPr>
          </a:p>
          <a:p>
            <a:r>
              <a:rPr lang="en-US" sz="3400" dirty="0" smtClean="0">
                <a:latin typeface="Times New Roman" pitchFamily="18" charset="0"/>
                <a:cs typeface="Times New Roman" pitchFamily="18" charset="0"/>
              </a:rPr>
              <a:t>changing priorities,</a:t>
            </a:r>
            <a:endParaRPr lang="en-IN" sz="3400" dirty="0" smtClean="0">
              <a:latin typeface="Times New Roman" pitchFamily="18" charset="0"/>
              <a:cs typeface="Times New Roman" pitchFamily="18" charset="0"/>
            </a:endParaRPr>
          </a:p>
          <a:p>
            <a:pPr>
              <a:buNone/>
            </a:pPr>
            <a:r>
              <a:rPr lang="en-US" sz="3400" dirty="0" smtClean="0">
                <a:latin typeface="Times New Roman" pitchFamily="18" charset="0"/>
                <a:cs typeface="Times New Roman" pitchFamily="18" charset="0"/>
              </a:rPr>
              <a:t>     incorrect estimates,</a:t>
            </a:r>
            <a:endParaRPr lang="en-IN" sz="3400" dirty="0" smtClean="0">
              <a:latin typeface="Times New Roman" pitchFamily="18" charset="0"/>
              <a:cs typeface="Times New Roman" pitchFamily="18" charset="0"/>
            </a:endParaRPr>
          </a:p>
          <a:p>
            <a:pPr>
              <a:buNone/>
            </a:pPr>
            <a:r>
              <a:rPr lang="en-US" sz="3400" dirty="0" smtClean="0">
                <a:latin typeface="Times New Roman" pitchFamily="18" charset="0"/>
                <a:cs typeface="Times New Roman" pitchFamily="18" charset="0"/>
              </a:rPr>
              <a:t>     changing resources (developers leave and new developers join a project with</a:t>
            </a:r>
            <a:r>
              <a:rPr lang="en-IN" sz="3400" dirty="0" smtClean="0">
                <a:latin typeface="Times New Roman" pitchFamily="18" charset="0"/>
                <a:cs typeface="Times New Roman" pitchFamily="18" charset="0"/>
              </a:rPr>
              <a:t> </a:t>
            </a:r>
            <a:r>
              <a:rPr lang="en-US" sz="3400" dirty="0" smtClean="0">
                <a:latin typeface="Times New Roman" pitchFamily="18" charset="0"/>
                <a:cs typeface="Times New Roman" pitchFamily="18" charset="0"/>
              </a:rPr>
              <a:t>different skill sets</a:t>
            </a:r>
            <a:endParaRPr lang="en-IN" sz="3400" dirty="0" smtClean="0">
              <a:latin typeface="Times New Roman" pitchFamily="18" charset="0"/>
              <a:cs typeface="Times New Roman" pitchFamily="18" charset="0"/>
            </a:endParaRPr>
          </a:p>
          <a:p>
            <a:endParaRPr lang="en-US" sz="3400" dirty="0" smtClean="0">
              <a:latin typeface="Times New Roman" pitchFamily="18" charset="0"/>
              <a:cs typeface="Times New Roman" pitchFamily="18" charset="0"/>
            </a:endParaRPr>
          </a:p>
          <a:p>
            <a:pPr>
              <a:buNone/>
            </a:pPr>
            <a:r>
              <a:rPr lang="en-US" sz="3400" dirty="0" smtClean="0">
                <a:latin typeface="Times New Roman" pitchFamily="18" charset="0"/>
                <a:cs typeface="Times New Roman" pitchFamily="18" charset="0"/>
              </a:rPr>
              <a:t>The steps in the steering phase are:</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Iteration planning.</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Project recovery.</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Identifying a new story.</a:t>
            </a:r>
            <a:endParaRPr lang="en-IN" sz="3400" dirty="0" smtClean="0">
              <a:latin typeface="Times New Roman" pitchFamily="18" charset="0"/>
              <a:cs typeface="Times New Roman" pitchFamily="18" charset="0"/>
            </a:endParaRPr>
          </a:p>
          <a:p>
            <a:pPr lvl="0"/>
            <a:r>
              <a:rPr lang="en-US" sz="3400" dirty="0" smtClean="0">
                <a:latin typeface="Times New Roman" pitchFamily="18" charset="0"/>
                <a:cs typeface="Times New Roman" pitchFamily="18" charset="0"/>
              </a:rPr>
              <a:t>Project re-estimation.</a:t>
            </a:r>
            <a:endParaRPr lang="en-IN" sz="3400" dirty="0" smtClean="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2800" b="1" dirty="0" smtClean="0">
                <a:solidFill>
                  <a:srgbClr val="FF0000"/>
                </a:solidFill>
                <a:latin typeface="Times New Roman" pitchFamily="18" charset="0"/>
                <a:cs typeface="Times New Roman" pitchFamily="18" charset="0"/>
              </a:rPr>
              <a:t>Planning Your XP Project</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So how do you use the planning game to plan you XP project? What do you do when and how? In this section, I will look at how the various types of planning game fit together to help you plan your XP project.</a:t>
            </a:r>
            <a:endParaRPr lang="en-IN"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There are actually two forms of the planning game:</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The initial planning game, and</a:t>
            </a:r>
            <a:endParaRPr lang="en-IN" sz="2400" dirty="0" smtClean="0">
              <a:latin typeface="Times New Roman" pitchFamily="18" charset="0"/>
              <a:cs typeface="Times New Roman" pitchFamily="18" charset="0"/>
            </a:endParaRPr>
          </a:p>
          <a:p>
            <a:pPr lvl="0"/>
            <a:r>
              <a:rPr lang="en-US" sz="2400" dirty="0" smtClean="0">
                <a:latin typeface="Times New Roman" pitchFamily="18" charset="0"/>
                <a:cs typeface="Times New Roman" pitchFamily="18" charset="0"/>
              </a:rPr>
              <a:t>The release planning game.</a:t>
            </a:r>
            <a:endParaRPr lang="en-IN" sz="2400" dirty="0" smtClean="0">
              <a:latin typeface="Times New Roman" pitchFamily="18" charset="0"/>
              <a:cs typeface="Times New Roman" pitchFamily="18" charset="0"/>
            </a:endParaRPr>
          </a:p>
          <a:p>
            <a:pPr>
              <a:buNone/>
            </a:pPr>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943600"/>
          </a:xfrm>
        </p:spPr>
        <p:txBody>
          <a:bodyPr>
            <a:normAutofit fontScale="47500" lnSpcReduction="20000"/>
          </a:bodyPr>
          <a:lstStyle/>
          <a:p>
            <a:r>
              <a:rPr lang="en-US" sz="4400" dirty="0" smtClean="0">
                <a:latin typeface="Times New Roman" pitchFamily="18" charset="0"/>
                <a:cs typeface="Times New Roman" pitchFamily="18" charset="0"/>
              </a:rPr>
              <a:t>Thus, a typical XP project might be planned in the following manner:</a:t>
            </a:r>
          </a:p>
          <a:p>
            <a:pPr>
              <a:buNone/>
            </a:pP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An initial planning game (aims to get overall view of project);</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Initial elaboration process (focusing on high level user stories);</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Release 1 planning game;</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Release 1 elaboration process (if required);</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Plan iteration 1;</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 Release 1 iteration/implementation ...; </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Release 2 planning game;</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Release 2 elaboration process (if required);</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Plan iteration 2;</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 Release 2 iteration/implementation ...; </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
            </a:r>
            <a:br>
              <a:rPr lang="en-US" sz="3600" dirty="0" smtClean="0">
                <a:latin typeface="Times New Roman" pitchFamily="18" charset="0"/>
                <a:cs typeface="Times New Roman" pitchFamily="18" charset="0"/>
              </a:rPr>
            </a:br>
            <a:r>
              <a:rPr lang="en-US" sz="3600" dirty="0" smtClean="0">
                <a:latin typeface="Times New Roman" pitchFamily="18" charset="0"/>
                <a:cs typeface="Times New Roman" pitchFamily="18" charset="0"/>
              </a:rPr>
              <a:t>. . .</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Release </a:t>
            </a:r>
            <a:r>
              <a:rPr lang="en-US" sz="3600" i="1" dirty="0" smtClean="0">
                <a:latin typeface="Times New Roman" pitchFamily="18" charset="0"/>
                <a:cs typeface="Times New Roman" pitchFamily="18" charset="0"/>
              </a:rPr>
              <a:t>n </a:t>
            </a:r>
            <a:r>
              <a:rPr lang="en-US" sz="3600" dirty="0" smtClean="0">
                <a:latin typeface="Times New Roman" pitchFamily="18" charset="0"/>
                <a:cs typeface="Times New Roman" pitchFamily="18" charset="0"/>
              </a:rPr>
              <a:t>Planning game;</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Release </a:t>
            </a:r>
            <a:r>
              <a:rPr lang="en-US" sz="3600" i="1" dirty="0" smtClean="0">
                <a:latin typeface="Times New Roman" pitchFamily="18" charset="0"/>
                <a:cs typeface="Times New Roman" pitchFamily="18" charset="0"/>
              </a:rPr>
              <a:t>n </a:t>
            </a:r>
            <a:r>
              <a:rPr lang="en-US" sz="3600" dirty="0" smtClean="0">
                <a:latin typeface="Times New Roman" pitchFamily="18" charset="0"/>
                <a:cs typeface="Times New Roman" pitchFamily="18" charset="0"/>
              </a:rPr>
              <a:t>Elaboration process (if required);</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Plan iteration </a:t>
            </a:r>
            <a:r>
              <a:rPr lang="en-US" sz="3600" i="1" dirty="0" smtClean="0">
                <a:latin typeface="Times New Roman" pitchFamily="18" charset="0"/>
                <a:cs typeface="Times New Roman" pitchFamily="18" charset="0"/>
              </a:rPr>
              <a:t>n</a:t>
            </a:r>
            <a:r>
              <a:rPr lang="en-US" sz="3600" dirty="0" smtClean="0">
                <a:latin typeface="Times New Roman" pitchFamily="18" charset="0"/>
                <a:cs typeface="Times New Roman" pitchFamily="18" charset="0"/>
              </a:rPr>
              <a:t>;</a:t>
            </a:r>
            <a:endParaRPr lang="en-IN" sz="3600" dirty="0" smtClean="0">
              <a:latin typeface="Times New Roman" pitchFamily="18" charset="0"/>
              <a:cs typeface="Times New Roman" pitchFamily="18" charset="0"/>
            </a:endParaRPr>
          </a:p>
          <a:p>
            <a:pPr lvl="1"/>
            <a:r>
              <a:rPr lang="en-US" sz="3600" dirty="0" smtClean="0">
                <a:latin typeface="Times New Roman" pitchFamily="18" charset="0"/>
                <a:cs typeface="Times New Roman" pitchFamily="18" charset="0"/>
              </a:rPr>
              <a:t>... Release </a:t>
            </a:r>
            <a:r>
              <a:rPr lang="en-US" sz="3600" i="1" dirty="0" smtClean="0">
                <a:latin typeface="Times New Roman" pitchFamily="18" charset="0"/>
                <a:cs typeface="Times New Roman" pitchFamily="18" charset="0"/>
              </a:rPr>
              <a:t>n </a:t>
            </a:r>
            <a:r>
              <a:rPr lang="en-US" sz="3600" dirty="0" smtClean="0">
                <a:latin typeface="Times New Roman" pitchFamily="18" charset="0"/>
                <a:cs typeface="Times New Roman" pitchFamily="18" charset="0"/>
              </a:rPr>
              <a:t>iteration/implementation.</a:t>
            </a:r>
            <a:endParaRPr lang="en-IN" sz="3600" dirty="0" smtClean="0">
              <a:latin typeface="Times New Roman" pitchFamily="18" charset="0"/>
              <a:cs typeface="Times New Roman" pitchFamily="18" charset="0"/>
            </a:endParaRPr>
          </a:p>
          <a:p>
            <a:r>
              <a:rPr lang="en-US" sz="3600" dirty="0" smtClean="0">
                <a:latin typeface="Times New Roman" pitchFamily="18" charset="0"/>
                <a:cs typeface="Times New Roman" pitchFamily="18" charset="0"/>
              </a:rPr>
              <a:t> </a:t>
            </a:r>
            <a:endParaRPr lang="en-IN" sz="3600" dirty="0" smtClean="0">
              <a:latin typeface="Times New Roman" pitchFamily="18" charset="0"/>
              <a:cs typeface="Times New Roman" pitchFamily="18" charset="0"/>
            </a:endParaRPr>
          </a:p>
          <a:p>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00800"/>
          </a:xfrm>
        </p:spPr>
        <p:txBody>
          <a:bodyPr>
            <a:normAutofit fontScale="62500" lnSpcReduction="20000"/>
          </a:bodyPr>
          <a:lstStyle/>
          <a:p>
            <a:r>
              <a:rPr lang="en-US" sz="4400" i="1" u="sng" dirty="0" smtClean="0">
                <a:solidFill>
                  <a:srgbClr val="FF0000"/>
                </a:solidFill>
                <a:latin typeface="Times New Roman" pitchFamily="18" charset="0"/>
                <a:cs typeface="Times New Roman" pitchFamily="18" charset="0"/>
              </a:rPr>
              <a:t>The Initial Planning Game</a:t>
            </a:r>
            <a:endParaRPr lang="en-IN" sz="4400" u="sng" dirty="0" smtClean="0">
              <a:solidFill>
                <a:srgbClr val="FF0000"/>
              </a:solidFill>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The initial planning game focuses on what the system as a whole should do. It considers all user stories that are in scope (and indeed what that scope is). It happens at the start of the project and may reconvene at various points throughout the lifetime of the project to review the scope of the system, the set of user stories, their relative priorities, etc.</a:t>
            </a:r>
            <a:endParaRPr lang="en-IN" dirty="0" smtClean="0">
              <a:latin typeface="Times New Roman" pitchFamily="18" charset="0"/>
              <a:cs typeface="Times New Roman" pitchFamily="18" charset="0"/>
            </a:endParaRPr>
          </a:p>
          <a:p>
            <a:pPr>
              <a:buNone/>
            </a:pPr>
            <a:r>
              <a:rPr lang="en-US" dirty="0" smtClean="0"/>
              <a:t> </a:t>
            </a:r>
            <a:endParaRPr lang="en-IN" dirty="0" smtClean="0"/>
          </a:p>
          <a:p>
            <a:r>
              <a:rPr lang="en-US" sz="4400" i="1" u="sng" dirty="0" smtClean="0">
                <a:solidFill>
                  <a:srgbClr val="FF0000"/>
                </a:solidFill>
                <a:latin typeface="Times New Roman" pitchFamily="18" charset="0"/>
                <a:cs typeface="Times New Roman" pitchFamily="18" charset="0"/>
              </a:rPr>
              <a:t>The Release Planning Game</a:t>
            </a:r>
            <a:endParaRPr lang="en-IN" sz="4400" u="sng" dirty="0" smtClean="0">
              <a:solidFill>
                <a:srgbClr val="FF0000"/>
              </a:solidFill>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The release planning game focuses on the contents of a release or iteration. It has the same steps as the initial planning game but the level of detail that needs to be considered is much greater. During the initial planning game, the overall plan for the project should have been roughly planned out. At the start of a release, the details of what will be done in that release need to be determined. This means that:</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User stories need to be fleshed out and may need to be broken down into finer grained stories (in order that they can be implemented).</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Detailed estimates of the stories need to be obtained.</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The user stories to be implemented as part of the release need to be confirmed, revised or modified as required.</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The project velocity may need to be revised. For example, as the development team become more experienced in XP and the application in which you may find development speeds up.</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668963"/>
          </a:xfrm>
        </p:spPr>
        <p:txBody>
          <a:bodyPr>
            <a:normAutofit fontScale="85000" lnSpcReduction="10000"/>
          </a:bodyPr>
          <a:lstStyle/>
          <a:p>
            <a:r>
              <a:rPr lang="en-US" i="1" u="sng" dirty="0" smtClean="0">
                <a:solidFill>
                  <a:srgbClr val="FF0000"/>
                </a:solidFill>
                <a:latin typeface="Times New Roman" pitchFamily="18" charset="0"/>
                <a:cs typeface="Times New Roman" pitchFamily="18" charset="0"/>
              </a:rPr>
              <a:t>The Elaboration Process</a:t>
            </a:r>
            <a:endParaRPr lang="en-IN" u="sng" dirty="0" smtClean="0">
              <a:solidFill>
                <a:srgbClr val="FF0000"/>
              </a:solidFill>
              <a:latin typeface="Times New Roman" pitchFamily="18" charset="0"/>
              <a:cs typeface="Times New Roman" pitchFamily="18" charset="0"/>
            </a:endParaRPr>
          </a:p>
          <a:p>
            <a:r>
              <a:rPr lang="en-US" dirty="0" smtClean="0">
                <a:latin typeface="Times New Roman" pitchFamily="18" charset="0"/>
                <a:cs typeface="Times New Roman" pitchFamily="18" charset="0"/>
              </a:rPr>
              <a:t>The elaboration process follows the initial planning game, and typically on a smaller scale, a release planning game. During this phase, research is carried out to clarify user stories in order to estimate, clarify requirements, or technical issues. The aim of this is to:</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Lower the risk of bad estimates,</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Experiment/prototype different solutions,</a:t>
            </a:r>
          </a:p>
          <a:p>
            <a:r>
              <a:rPr lang="en-US" dirty="0" smtClean="0">
                <a:latin typeface="Times New Roman" pitchFamily="18" charset="0"/>
                <a:cs typeface="Times New Roman" pitchFamily="18" charset="0"/>
              </a:rPr>
              <a:t>Improve the development teams to understand the domain/technology,</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Ensure procedures and processes required are in place.</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endParaRPr lang="en-IN" dirty="0" smtClean="0">
              <a:latin typeface="Times New Roman" pitchFamily="18" charset="0"/>
              <a:cs typeface="Times New Roman" pitchFamily="18" charset="0"/>
            </a:endParaRPr>
          </a:p>
          <a:p>
            <a:endParaRPr lang="en-IN" dirty="0" smtClean="0"/>
          </a:p>
          <a:p>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10000"/>
          </a:bodyPr>
          <a:lstStyle/>
          <a:p>
            <a:r>
              <a:rPr lang="en-US" sz="2600" i="1" u="sng" dirty="0" smtClean="0">
                <a:solidFill>
                  <a:srgbClr val="FF0000"/>
                </a:solidFill>
                <a:latin typeface="Times New Roman" pitchFamily="18" charset="0"/>
                <a:cs typeface="Times New Roman" pitchFamily="18" charset="0"/>
              </a:rPr>
              <a:t>Iteration Planning</a:t>
            </a:r>
            <a:endParaRPr lang="en-IN" sz="2600" u="sng" dirty="0" smtClean="0">
              <a:solidFill>
                <a:srgbClr val="FF0000"/>
              </a:solidFill>
              <a:latin typeface="Times New Roman" pitchFamily="18" charset="0"/>
              <a:cs typeface="Times New Roman" pitchFamily="18" charset="0"/>
            </a:endParaRPr>
          </a:p>
          <a:p>
            <a:pPr>
              <a:buNone/>
            </a:pPr>
            <a:r>
              <a:rPr lang="en-US" sz="2000" dirty="0" smtClean="0">
                <a:latin typeface="Times New Roman" pitchFamily="18" charset="0"/>
                <a:cs typeface="Times New Roman" pitchFamily="18" charset="0"/>
              </a:rPr>
              <a:t>     There </a:t>
            </a:r>
            <a:r>
              <a:rPr lang="en-US" sz="2000" dirty="0" smtClean="0">
                <a:latin typeface="Times New Roman" pitchFamily="18" charset="0"/>
                <a:cs typeface="Times New Roman" pitchFamily="18" charset="0"/>
              </a:rPr>
              <a:t>are two issues to consider when planning an iteration. These are (1) deter- mining the size of an iteration; (2) determining what should be done within an iteration to implement the user stories.</a:t>
            </a:r>
            <a:endParaRPr lang="en-IN" sz="2000" dirty="0" smtClean="0">
              <a:latin typeface="Times New Roman" pitchFamily="18" charset="0"/>
              <a:cs typeface="Times New Roman" pitchFamily="18" charset="0"/>
            </a:endParaRPr>
          </a:p>
          <a:p>
            <a:pPr>
              <a:buNone/>
            </a:pPr>
            <a:r>
              <a:rPr lang="en-US" sz="2400" i="1" dirty="0" smtClean="0">
                <a:solidFill>
                  <a:srgbClr val="FF0000"/>
                </a:solidFill>
                <a:latin typeface="Times New Roman" pitchFamily="18" charset="0"/>
                <a:cs typeface="Times New Roman" pitchFamily="18" charset="0"/>
              </a:rPr>
              <a:t>Size of an iteration</a:t>
            </a:r>
            <a:r>
              <a:rPr lang="en-US" sz="2400"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Ho do you determine how big an iteration should be? How long is a piece of string? The answer is that an iteration needs to be big enough to allow either a new release to be created that adds value to the business or large enough that you are able to make significant progress.</a:t>
            </a:r>
          </a:p>
          <a:p>
            <a:pPr>
              <a:buNone/>
            </a:pPr>
            <a:r>
              <a:rPr lang="en-US" sz="2600" i="1" dirty="0" smtClean="0">
                <a:solidFill>
                  <a:srgbClr val="FF0000"/>
                </a:solidFill>
                <a:latin typeface="Times New Roman" pitchFamily="18" charset="0"/>
                <a:cs typeface="Times New Roman" pitchFamily="18" charset="0"/>
              </a:rPr>
              <a:t>Planning the iteration</a:t>
            </a:r>
            <a:r>
              <a:rPr lang="en-US" sz="2600" dirty="0" smtClean="0">
                <a:solidFill>
                  <a:srgbClr val="FF0000"/>
                </a:solidFill>
                <a:latin typeface="Times New Roman" pitchFamily="18" charset="0"/>
                <a:cs typeface="Times New Roman" pitchFamily="18" charset="0"/>
              </a:rPr>
              <a:t>. </a:t>
            </a:r>
            <a:r>
              <a:rPr lang="en-US" sz="2000" dirty="0" smtClean="0">
                <a:latin typeface="Times New Roman" pitchFamily="18" charset="0"/>
                <a:cs typeface="Times New Roman" pitchFamily="18" charset="0"/>
              </a:rPr>
              <a:t>If the release planning game identifies what new features should be added to the evolving system in the current iteration, then the iteration plan defines how those features will be achieved.</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Iteration planning usually incorporates the following phases:</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Evaluation of the last iterations lessons learned, changes to be made, etc.</a:t>
            </a:r>
            <a:endParaRPr lang="en-IN" sz="2000" dirty="0" smtClean="0">
              <a:latin typeface="Times New Roman" pitchFamily="18" charset="0"/>
              <a:cs typeface="Times New Roman" pitchFamily="18" charset="0"/>
            </a:endParaRPr>
          </a:p>
          <a:p>
            <a:pPr lvl="0"/>
            <a:r>
              <a:rPr lang="en-US" sz="2000" dirty="0" smtClean="0">
                <a:latin typeface="Times New Roman" pitchFamily="18" charset="0"/>
                <a:cs typeface="Times New Roman" pitchFamily="18" charset="0"/>
              </a:rPr>
              <a:t>Review of user stories to incorporate into the iteration.</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Task exploration during which tasks are written for user stories. </a:t>
            </a:r>
          </a:p>
          <a:p>
            <a:pPr lvl="0"/>
            <a:r>
              <a:rPr lang="en-US" sz="2000" dirty="0" smtClean="0">
                <a:latin typeface="Times New Roman" pitchFamily="18" charset="0"/>
                <a:cs typeface="Times New Roman" pitchFamily="18" charset="0"/>
              </a:rPr>
              <a:t>Task commitment during which tasks are estimated, load factors determined and balancing takes place.</a:t>
            </a:r>
            <a:endParaRPr lang="en-IN"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Finally, the iteration plan is verified</a:t>
            </a:r>
            <a:endParaRPr lang="en-IN" sz="2000"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600" b="1" dirty="0" smtClean="0">
                <a:solidFill>
                  <a:srgbClr val="FF0000"/>
                </a:solidFill>
                <a:latin typeface="Times New Roman" pitchFamily="18" charset="0"/>
                <a:cs typeface="Times New Roman" pitchFamily="18" charset="0"/>
              </a:rPr>
              <a:t>Test First Coding</a:t>
            </a:r>
            <a:r>
              <a:rPr lang="en-IN" b="1" dirty="0" smtClean="0"/>
              <a:t/>
            </a:r>
            <a:br>
              <a:rPr lang="en-IN" b="1" dirty="0" smtClean="0"/>
            </a:br>
            <a:endParaRPr lang="en-IN" dirty="0"/>
          </a:p>
        </p:txBody>
      </p:sp>
      <p:sp>
        <p:nvSpPr>
          <p:cNvPr id="3" name="Content Placeholder 2"/>
          <p:cNvSpPr>
            <a:spLocks noGrp="1"/>
          </p:cNvSpPr>
          <p:nvPr>
            <p:ph idx="1"/>
          </p:nvPr>
        </p:nvSpPr>
        <p:spPr>
          <a:xfrm>
            <a:off x="457200" y="1219200"/>
            <a:ext cx="8229600" cy="4906963"/>
          </a:xfrm>
        </p:spPr>
        <p:txBody>
          <a:bodyPr>
            <a:normAutofit fontScale="85000" lnSpcReduction="20000"/>
          </a:bodyPr>
          <a:lstStyle/>
          <a:p>
            <a:pPr lvl="2">
              <a:buNone/>
            </a:pPr>
            <a:r>
              <a:rPr lang="en-US" sz="3300" b="1" dirty="0" smtClean="0">
                <a:solidFill>
                  <a:srgbClr val="FF0000"/>
                </a:solidFill>
                <a:latin typeface="Times New Roman" pitchFamily="18" charset="0"/>
                <a:cs typeface="Times New Roman" pitchFamily="18" charset="0"/>
              </a:rPr>
              <a:t>How to Write Tests First?</a:t>
            </a:r>
            <a:endParaRPr lang="en-IN" sz="3300" b="1" dirty="0" smtClean="0">
              <a:solidFill>
                <a:srgbClr val="FF0000"/>
              </a:solidFill>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So how do you move to an approach in which you write the test first? There is no hard and fast answer, as this question is a bit like “so how do you decide what to program first.” But the following points try to give a </a:t>
            </a:r>
            <a:r>
              <a:rPr lang="en-US" dirty="0" err="1" smtClean="0">
                <a:latin typeface="Times New Roman" pitchFamily="18" charset="0"/>
                <a:cs typeface="Times New Roman" pitchFamily="18" charset="0"/>
              </a:rPr>
              <a:t>flavour</a:t>
            </a:r>
            <a:r>
              <a:rPr lang="en-US" dirty="0" smtClean="0">
                <a:latin typeface="Times New Roman" pitchFamily="18" charset="0"/>
                <a:cs typeface="Times New Roman" pitchFamily="18" charset="0"/>
              </a:rPr>
              <a:t> of how I (and many others) try to go about test first coding.</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1.Think about what the code should do and try to ignore, for the moment, how it will do it. This can be very difficult for programmers to get to grips with, not least because in general their focus has always been on “how.” It can feel like a leap of faith, or a bit like wandering around in the dark (with your eyes closed!).</a:t>
            </a:r>
            <a:endParaRPr lang="en-IN" dirty="0">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7500" lnSpcReduction="20000"/>
          </a:bodyPr>
          <a:lstStyle/>
          <a:p>
            <a:pPr>
              <a:buNone/>
            </a:pPr>
            <a:r>
              <a:rPr lang="en-US" dirty="0" smtClean="0">
                <a:latin typeface="Times New Roman" pitchFamily="18" charset="0"/>
                <a:cs typeface="Times New Roman" pitchFamily="18" charset="0"/>
              </a:rPr>
              <a:t>2.Now write a test that will use the classes and methods you haven’t yet implemented! This will also seem strange at first. How can you write a test using code that doesn’t yet exist! It is possible. </a:t>
            </a:r>
          </a:p>
          <a:p>
            <a:pPr lvl="0">
              <a:buNone/>
            </a:pPr>
            <a:r>
              <a:rPr lang="en-US" dirty="0" smtClean="0">
                <a:latin typeface="Times New Roman" pitchFamily="18" charset="0"/>
                <a:cs typeface="Times New Roman" pitchFamily="18" charset="0"/>
              </a:rPr>
              <a:t>3.If you haven’t already done so, then write the stub code for the classes being tested. As mentioned above, tools such as Eclipse may do this for you, however, if you are using tools such as </a:t>
            </a:r>
            <a:r>
              <a:rPr lang="en-US" dirty="0" err="1" smtClean="0">
                <a:latin typeface="Times New Roman" pitchFamily="18" charset="0"/>
                <a:cs typeface="Times New Roman" pitchFamily="18" charset="0"/>
              </a:rPr>
              <a:t>Emacs</a:t>
            </a:r>
            <a:r>
              <a:rPr lang="en-US" dirty="0" smtClean="0">
                <a:latin typeface="Times New Roman" pitchFamily="18" charset="0"/>
                <a:cs typeface="Times New Roman" pitchFamily="18" charset="0"/>
              </a:rPr>
              <a:t> you will have to do it yourself.</a:t>
            </a:r>
            <a:endParaRPr lang="en-IN" dirty="0" smtClean="0">
              <a:latin typeface="Times New Roman" pitchFamily="18" charset="0"/>
              <a:cs typeface="Times New Roman" pitchFamily="18" charset="0"/>
            </a:endParaRPr>
          </a:p>
          <a:p>
            <a:pPr lvl="0">
              <a:buNone/>
            </a:pPr>
            <a:r>
              <a:rPr lang="en-US" dirty="0" smtClean="0">
                <a:latin typeface="Times New Roman" pitchFamily="18" charset="0"/>
                <a:cs typeface="Times New Roman" pitchFamily="18" charset="0"/>
              </a:rPr>
              <a:t>4.Now put the code you have created for the test into whatever project code repository you are using. This includes your test code. If you are using a framework such as </a:t>
            </a:r>
            <a:r>
              <a:rPr lang="en-US" dirty="0" err="1" smtClean="0">
                <a:latin typeface="Times New Roman" pitchFamily="18" charset="0"/>
                <a:cs typeface="Times New Roman" pitchFamily="18" charset="0"/>
              </a:rPr>
              <a:t>JUnit</a:t>
            </a:r>
            <a:r>
              <a:rPr lang="en-US" dirty="0" smtClean="0">
                <a:latin typeface="Times New Roman" pitchFamily="18" charset="0"/>
                <a:cs typeface="Times New Roman" pitchFamily="18" charset="0"/>
              </a:rPr>
              <a:t> then add your test to that as well.</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5.Now run your newly created test against the stub code. It should fail but that’s okay – you haven’t implemented the methods you are testing yet! This is actually an important step (although at this point you may think it redundant). </a:t>
            </a:r>
            <a:endParaRPr lang="en-IN"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458200" cy="6172200"/>
          </a:xfrm>
        </p:spPr>
        <p:txBody>
          <a:bodyPr>
            <a:normAutofit fontScale="55000" lnSpcReduction="20000"/>
          </a:bodyPr>
          <a:lstStyle/>
          <a:p>
            <a:pPr lvl="0">
              <a:buNone/>
            </a:pPr>
            <a:r>
              <a:rPr lang="en-US" sz="3800" dirty="0" smtClean="0">
                <a:latin typeface="Times New Roman" pitchFamily="18" charset="0"/>
                <a:cs typeface="Times New Roman" pitchFamily="18" charset="0"/>
              </a:rPr>
              <a:t>6.Now you are in a position to actually write the implementation of the methods being tested. This may lead to creating additional supporting methods but that’s okay. However, your focus should be on writing only enough code required to pass the test. This firstly focuses your efforts on exactly what is needed; ignoring additional bells and whistles that you think might be useful in the future. It also helps you to produce the simplest code that meets all the requirements. After all, if it passes all the tests then it meets its requirements no matter how simple the code is.</a:t>
            </a:r>
            <a:endParaRPr lang="en-IN" sz="3800" dirty="0" smtClean="0">
              <a:latin typeface="Times New Roman" pitchFamily="18" charset="0"/>
              <a:cs typeface="Times New Roman" pitchFamily="18" charset="0"/>
            </a:endParaRPr>
          </a:p>
          <a:p>
            <a:pPr lvl="0">
              <a:buNone/>
            </a:pPr>
            <a:r>
              <a:rPr lang="en-US" sz="3800" dirty="0" smtClean="0">
                <a:latin typeface="Times New Roman" pitchFamily="18" charset="0"/>
                <a:cs typeface="Times New Roman" pitchFamily="18" charset="0"/>
              </a:rPr>
              <a:t>7.Rerun your tests against the newly implemented methods. If all the tests pass, then continue. If not returned to step 6 and revise your code as necessary.</a:t>
            </a:r>
            <a:endParaRPr lang="en-IN" sz="3800" dirty="0" smtClean="0">
              <a:latin typeface="Times New Roman" pitchFamily="18" charset="0"/>
              <a:cs typeface="Times New Roman" pitchFamily="18" charset="0"/>
            </a:endParaRPr>
          </a:p>
          <a:p>
            <a:pPr lvl="0">
              <a:buNone/>
            </a:pPr>
            <a:r>
              <a:rPr lang="en-US" sz="3800" dirty="0" smtClean="0">
                <a:latin typeface="Times New Roman" pitchFamily="18" charset="0"/>
                <a:cs typeface="Times New Roman" pitchFamily="18" charset="0"/>
              </a:rPr>
              <a:t>8.Now re-run the tests for the entire system. If all tests pass, then add the changes in your current test suite and implementation to your code repository (your tests may have needed revision as you implemented the classes and methods). Now you can continue. If one or more of the tests fail then you must return to step 6 and revise your code as necessary (as it must have been your changes that caused any tests to fail).</a:t>
            </a:r>
            <a:endParaRPr lang="en-IN" sz="3800" dirty="0" smtClean="0">
              <a:latin typeface="Times New Roman" pitchFamily="18" charset="0"/>
              <a:cs typeface="Times New Roman" pitchFamily="18" charset="0"/>
            </a:endParaRPr>
          </a:p>
          <a:p>
            <a:pPr lvl="0">
              <a:buNone/>
            </a:pPr>
            <a:r>
              <a:rPr lang="en-US" sz="3800" dirty="0" smtClean="0">
                <a:latin typeface="Times New Roman" pitchFamily="18" charset="0"/>
                <a:cs typeface="Times New Roman" pitchFamily="18" charset="0"/>
              </a:rPr>
              <a:t>9.Refactor your code for clarity and to remove any duplication. Return to step 7 if you are sure that no refactoring is required, then you have finished the current test. Return to step 1 for the next test.</a:t>
            </a:r>
            <a:endParaRPr lang="en-IN" sz="3800" dirty="0" smtClean="0">
              <a:latin typeface="Times New Roman" pitchFamily="18" charset="0"/>
              <a:cs typeface="Times New Roman" pitchFamily="18" charset="0"/>
            </a:endParaRPr>
          </a:p>
          <a:p>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srcRect/>
          <a:stretch>
            <a:fillRect/>
          </a:stretch>
        </p:blipFill>
        <p:spPr bwMode="auto">
          <a:xfrm>
            <a:off x="0" y="0"/>
            <a:ext cx="9144000" cy="5562600"/>
          </a:xfrm>
          <a:prstGeom prst="rect">
            <a:avLst/>
          </a:prstGeom>
          <a:noFill/>
          <a:ln w="9525">
            <a:noFill/>
            <a:miter lim="800000"/>
            <a:headEnd/>
            <a:tailEnd/>
          </a:ln>
        </p:spPr>
      </p:pic>
      <p:sp>
        <p:nvSpPr>
          <p:cNvPr id="5" name="Rectangle 4"/>
          <p:cNvSpPr/>
          <p:nvPr/>
        </p:nvSpPr>
        <p:spPr>
          <a:xfrm>
            <a:off x="228600" y="5715000"/>
            <a:ext cx="8686800" cy="923330"/>
          </a:xfrm>
          <a:prstGeom prst="rect">
            <a:avLst/>
          </a:prstGeom>
        </p:spPr>
        <p:txBody>
          <a:bodyPr wrap="square">
            <a:spAutoFit/>
          </a:bodyPr>
          <a:lstStyle/>
          <a:p>
            <a:r>
              <a:rPr lang="en-US" dirty="0" smtClean="0"/>
              <a:t> For example, in Figure 6.2, I have started to create a simple test class called </a:t>
            </a:r>
            <a:r>
              <a:rPr lang="en-US" i="1" dirty="0" err="1" smtClean="0"/>
              <a:t>TestForLabels</a:t>
            </a:r>
            <a:r>
              <a:rPr lang="en-US" i="1" dirty="0" smtClean="0"/>
              <a:t> </a:t>
            </a:r>
            <a:r>
              <a:rPr lang="en-US" dirty="0" smtClean="0"/>
              <a:t>using Eclipse. At this point, there is no </a:t>
            </a:r>
            <a:r>
              <a:rPr lang="en-US" dirty="0" err="1" smtClean="0"/>
              <a:t>behaviour</a:t>
            </a:r>
            <a:r>
              <a:rPr lang="en-US" dirty="0" smtClean="0"/>
              <a:t> defined for the main method in the test case </a:t>
            </a:r>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srcRect/>
          <a:stretch>
            <a:fillRect/>
          </a:stretch>
        </p:blipFill>
        <p:spPr bwMode="auto">
          <a:xfrm>
            <a:off x="0" y="0"/>
            <a:ext cx="8839200" cy="5334000"/>
          </a:xfrm>
          <a:prstGeom prst="rect">
            <a:avLst/>
          </a:prstGeom>
          <a:noFill/>
          <a:ln w="9525">
            <a:noFill/>
            <a:miter lim="800000"/>
            <a:headEnd/>
            <a:tailEnd/>
          </a:ln>
        </p:spPr>
      </p:pic>
      <p:sp>
        <p:nvSpPr>
          <p:cNvPr id="5" name="Rectangle 4"/>
          <p:cNvSpPr/>
          <p:nvPr/>
        </p:nvSpPr>
        <p:spPr>
          <a:xfrm>
            <a:off x="228600" y="5380672"/>
            <a:ext cx="8915400" cy="1477328"/>
          </a:xfrm>
          <a:prstGeom prst="rect">
            <a:avLst/>
          </a:prstGeom>
        </p:spPr>
        <p:txBody>
          <a:bodyPr wrap="square">
            <a:spAutoFit/>
          </a:bodyPr>
          <a:lstStyle/>
          <a:p>
            <a:r>
              <a:rPr lang="en-US" dirty="0" smtClean="0"/>
              <a:t>In Figure 6.3, I have added a statement that creates an instance of a class that I have yet to define. Eclipse notices this and prompts me with a set of options. Two of these options allow me to either create an interface or a class. In this case </a:t>
            </a:r>
            <a:r>
              <a:rPr lang="en-US" i="1" dirty="0" smtClean="0"/>
              <a:t>Labels </a:t>
            </a:r>
            <a:r>
              <a:rPr lang="en-US" dirty="0" smtClean="0"/>
              <a:t>is a class that I want to instantiate (and interfaces cannot be instantiated). Thus, I will select the option allowing me to create the Labels class (at the click of a mouse button!).</a:t>
            </a:r>
            <a:endParaRPr lang="en-I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cstate="print"/>
          <a:srcRect/>
          <a:stretch>
            <a:fillRect/>
          </a:stretch>
        </p:blipFill>
        <p:spPr bwMode="auto">
          <a:xfrm>
            <a:off x="0" y="0"/>
            <a:ext cx="9144000" cy="5057775"/>
          </a:xfrm>
          <a:prstGeom prst="rect">
            <a:avLst/>
          </a:prstGeom>
          <a:noFill/>
          <a:ln w="9525">
            <a:noFill/>
            <a:miter lim="800000"/>
            <a:headEnd/>
            <a:tailEnd/>
          </a:ln>
        </p:spPr>
      </p:pic>
      <p:sp>
        <p:nvSpPr>
          <p:cNvPr id="5" name="Rectangle 4"/>
          <p:cNvSpPr/>
          <p:nvPr/>
        </p:nvSpPr>
        <p:spPr>
          <a:xfrm>
            <a:off x="228600" y="5105400"/>
            <a:ext cx="8686800" cy="1200329"/>
          </a:xfrm>
          <a:prstGeom prst="rect">
            <a:avLst/>
          </a:prstGeom>
        </p:spPr>
        <p:txBody>
          <a:bodyPr wrap="square">
            <a:spAutoFit/>
          </a:bodyPr>
          <a:lstStyle/>
          <a:p>
            <a:r>
              <a:rPr lang="en-US" dirty="0" smtClean="0"/>
              <a:t>Figure 6.4 illustrates the class creation dialogue presented by Eclipse to allow me to create a new class Labels. It allows me to select the parent class, interfaces to implement and whether I want any abstract methods to be implemented and constructors provided. Using this feature, I can quickly create many of the stubs I would need for a new class.</a:t>
            </a:r>
            <a:endParaRPr lang="en-IN"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cstate="print"/>
          <a:srcRect/>
          <a:stretch>
            <a:fillRect/>
          </a:stretch>
        </p:blipFill>
        <p:spPr bwMode="auto">
          <a:xfrm>
            <a:off x="0" y="152400"/>
            <a:ext cx="8915400" cy="5562600"/>
          </a:xfrm>
          <a:prstGeom prst="rect">
            <a:avLst/>
          </a:prstGeom>
          <a:noFill/>
          <a:ln w="9525">
            <a:noFill/>
            <a:miter lim="800000"/>
            <a:headEnd/>
            <a:tailEnd/>
          </a:ln>
        </p:spPr>
      </p:pic>
      <p:sp>
        <p:nvSpPr>
          <p:cNvPr id="5" name="Rectangle 4"/>
          <p:cNvSpPr/>
          <p:nvPr/>
        </p:nvSpPr>
        <p:spPr>
          <a:xfrm>
            <a:off x="0" y="6019800"/>
            <a:ext cx="8915400" cy="646331"/>
          </a:xfrm>
          <a:prstGeom prst="rect">
            <a:avLst/>
          </a:prstGeom>
        </p:spPr>
        <p:txBody>
          <a:bodyPr wrap="square">
            <a:spAutoFit/>
          </a:bodyPr>
          <a:lstStyle/>
          <a:p>
            <a:r>
              <a:rPr lang="en-US" dirty="0" smtClean="0"/>
              <a:t>Figure 6.5 illustrates what the (very simple) resulting class looks like in Eclipse. At the moment, this class will compile but has no methods (as I am keeping things simple).</a:t>
            </a:r>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cstate="print"/>
          <a:srcRect/>
          <a:stretch>
            <a:fillRect/>
          </a:stretch>
        </p:blipFill>
        <p:spPr bwMode="auto">
          <a:xfrm>
            <a:off x="228600" y="0"/>
            <a:ext cx="8915400" cy="5029200"/>
          </a:xfrm>
          <a:prstGeom prst="rect">
            <a:avLst/>
          </a:prstGeom>
          <a:noFill/>
          <a:ln w="9525">
            <a:noFill/>
            <a:miter lim="800000"/>
            <a:headEnd/>
            <a:tailEnd/>
          </a:ln>
        </p:spPr>
      </p:pic>
      <p:sp>
        <p:nvSpPr>
          <p:cNvPr id="5123" name="Rectangle 3"/>
          <p:cNvSpPr>
            <a:spLocks noChangeArrowheads="1"/>
          </p:cNvSpPr>
          <p:nvPr/>
        </p:nvSpPr>
        <p:spPr bwMode="auto">
          <a:xfrm>
            <a:off x="0" y="5129481"/>
            <a:ext cx="8686800" cy="13234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152400" algn="just"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131213"/>
                </a:solidFill>
                <a:effectLst/>
                <a:latin typeface="Arial" pitchFamily="34" charset="0"/>
                <a:ea typeface="Calibri" pitchFamily="34" charset="0"/>
                <a:cs typeface="Calibri" pitchFamily="34" charset="0"/>
              </a:rPr>
              <a:t>I can now return to my test case and add some more to it. In Figure 6.6, I have added the following statement:</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1524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err="1" smtClean="0">
                <a:ln>
                  <a:noFill/>
                </a:ln>
                <a:solidFill>
                  <a:srgbClr val="131213"/>
                </a:solidFill>
                <a:effectLst/>
                <a:latin typeface="Courier New" pitchFamily="49" charset="0"/>
                <a:ea typeface="Calibri" pitchFamily="34" charset="0"/>
                <a:cs typeface="Courier New" pitchFamily="49" charset="0"/>
              </a:rPr>
              <a:t>labels.setText</a:t>
            </a:r>
            <a:r>
              <a:rPr kumimoji="0" lang="en-US" sz="1600" b="0" i="0" u="none" strike="noStrike" cap="none" normalizeH="0" baseline="0" dirty="0" smtClean="0">
                <a:ln>
                  <a:noFill/>
                </a:ln>
                <a:solidFill>
                  <a:srgbClr val="131213"/>
                </a:solidFill>
                <a:effectLst/>
                <a:latin typeface="Courier New" pitchFamily="49" charset="0"/>
                <a:ea typeface="Calibri" pitchFamily="34" charset="0"/>
                <a:cs typeface="Courier New" pitchFamily="49" charset="0"/>
              </a:rPr>
              <a:t>(“John Hunt”);</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a:p>
            <a:pPr marL="0" marR="0" lvl="0" indent="15240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131213"/>
                </a:solidFill>
                <a:effectLst/>
                <a:latin typeface="Arial" pitchFamily="34" charset="0"/>
                <a:ea typeface="Calibri" pitchFamily="34" charset="0"/>
                <a:cs typeface="Calibri" pitchFamily="34" charset="0"/>
              </a:rPr>
              <a:t>This calls the method </a:t>
            </a:r>
            <a:r>
              <a:rPr kumimoji="0" lang="en-US" sz="1600" b="0" i="1" u="none" strike="noStrike" cap="none" normalizeH="0" baseline="0" dirty="0" err="1" smtClean="0">
                <a:ln>
                  <a:noFill/>
                </a:ln>
                <a:solidFill>
                  <a:srgbClr val="131213"/>
                </a:solidFill>
                <a:effectLst/>
                <a:latin typeface="Arial" pitchFamily="34" charset="0"/>
                <a:ea typeface="Calibri" pitchFamily="34" charset="0"/>
                <a:cs typeface="Calibri" pitchFamily="34" charset="0"/>
              </a:rPr>
              <a:t>setText</a:t>
            </a:r>
            <a:r>
              <a:rPr kumimoji="0" lang="en-US" sz="1600" b="0" i="1" u="none" strike="noStrike" cap="none" normalizeH="0" baseline="0" dirty="0" smtClean="0">
                <a:ln>
                  <a:noFill/>
                </a:ln>
                <a:solidFill>
                  <a:srgbClr val="131213"/>
                </a:solidFill>
                <a:effectLst/>
                <a:latin typeface="Arial" pitchFamily="34" charset="0"/>
                <a:ea typeface="Calibri" pitchFamily="34" charset="0"/>
                <a:cs typeface="Calibri" pitchFamily="34" charset="0"/>
              </a:rPr>
              <a:t> </a:t>
            </a:r>
            <a:r>
              <a:rPr kumimoji="0" lang="en-US" sz="1600" b="0" i="0" u="none" strike="noStrike" cap="none" normalizeH="0" baseline="0" dirty="0" smtClean="0">
                <a:ln>
                  <a:noFill/>
                </a:ln>
                <a:solidFill>
                  <a:srgbClr val="131213"/>
                </a:solidFill>
                <a:effectLst/>
                <a:latin typeface="Arial" pitchFamily="34" charset="0"/>
                <a:ea typeface="Calibri" pitchFamily="34" charset="0"/>
                <a:cs typeface="Calibri" pitchFamily="34" charset="0"/>
              </a:rPr>
              <a:t>on the newly created object referenced by the local variable </a:t>
            </a:r>
            <a:r>
              <a:rPr kumimoji="0" lang="en-US" sz="1600" b="0" i="1" u="none" strike="noStrike" cap="none" normalizeH="0" baseline="0" dirty="0" smtClean="0">
                <a:ln>
                  <a:noFill/>
                </a:ln>
                <a:solidFill>
                  <a:srgbClr val="131213"/>
                </a:solidFill>
                <a:effectLst/>
                <a:latin typeface="Arial" pitchFamily="34" charset="0"/>
                <a:ea typeface="Calibri" pitchFamily="34" charset="0"/>
                <a:cs typeface="Calibri" pitchFamily="34" charset="0"/>
              </a:rPr>
              <a:t>labels</a:t>
            </a:r>
            <a:r>
              <a:rPr kumimoji="0" lang="en-US" sz="1600" b="0" i="0" u="none" strike="noStrike" cap="none" normalizeH="0" baseline="0" dirty="0" smtClean="0">
                <a:ln>
                  <a:noFill/>
                </a:ln>
                <a:solidFill>
                  <a:srgbClr val="131213"/>
                </a:solidFill>
                <a:effectLst/>
                <a:latin typeface="Arial" pitchFamily="34" charset="0"/>
                <a:ea typeface="Calibri" pitchFamily="34" charset="0"/>
                <a:cs typeface="Calibri" pitchFamily="34" charset="0"/>
              </a:rPr>
              <a:t>. But </a:t>
            </a:r>
            <a:r>
              <a:rPr kumimoji="0" lang="en-US" sz="1600" b="0" i="1" u="none" strike="noStrike" cap="none" normalizeH="0" baseline="0" dirty="0" err="1" smtClean="0">
                <a:ln>
                  <a:noFill/>
                </a:ln>
                <a:solidFill>
                  <a:srgbClr val="131213"/>
                </a:solidFill>
                <a:effectLst/>
                <a:latin typeface="Arial" pitchFamily="34" charset="0"/>
                <a:ea typeface="Calibri" pitchFamily="34" charset="0"/>
                <a:cs typeface="Calibri" pitchFamily="34" charset="0"/>
              </a:rPr>
              <a:t>setText</a:t>
            </a:r>
            <a:r>
              <a:rPr kumimoji="0" lang="en-US" sz="1600" b="0" i="1" u="none" strike="noStrike" cap="none" normalizeH="0" baseline="0" dirty="0" smtClean="0">
                <a:ln>
                  <a:noFill/>
                </a:ln>
                <a:solidFill>
                  <a:srgbClr val="131213"/>
                </a:solidFill>
                <a:effectLst/>
                <a:latin typeface="Arial" pitchFamily="34" charset="0"/>
                <a:ea typeface="Calibri" pitchFamily="34" charset="0"/>
                <a:cs typeface="Calibri" pitchFamily="34" charset="0"/>
              </a:rPr>
              <a:t> </a:t>
            </a:r>
            <a:r>
              <a:rPr kumimoji="0" lang="en-US" sz="1600" b="0" i="0" u="none" strike="noStrike" cap="none" normalizeH="0" baseline="0" dirty="0" smtClean="0">
                <a:ln>
                  <a:noFill/>
                </a:ln>
                <a:solidFill>
                  <a:srgbClr val="131213"/>
                </a:solidFill>
                <a:effectLst/>
                <a:latin typeface="Arial" pitchFamily="34" charset="0"/>
                <a:ea typeface="Calibri" pitchFamily="34" charset="0"/>
                <a:cs typeface="Calibri" pitchFamily="34" charset="0"/>
              </a:rPr>
              <a:t>does not yet exist. I have just referenced it within the test harness.</a:t>
            </a:r>
            <a:endParaRPr kumimoji="0" lang="en-US" sz="16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3" name="Picture 1"/>
          <p:cNvPicPr>
            <a:picLocks noGrp="1" noChangeAspect="1" noChangeArrowheads="1"/>
          </p:cNvPicPr>
          <p:nvPr>
            <p:ph idx="1"/>
          </p:nvPr>
        </p:nvPicPr>
        <p:blipFill>
          <a:blip r:embed="rId2" cstate="print"/>
          <a:srcRect/>
          <a:stretch>
            <a:fillRect/>
          </a:stretch>
        </p:blipFill>
        <p:spPr bwMode="auto">
          <a:xfrm>
            <a:off x="0" y="0"/>
            <a:ext cx="9144000" cy="5562600"/>
          </a:xfrm>
          <a:prstGeom prst="rect">
            <a:avLst/>
          </a:prstGeom>
          <a:noFill/>
          <a:ln w="9525">
            <a:noFill/>
            <a:miter lim="800000"/>
            <a:headEnd/>
            <a:tailEnd/>
          </a:ln>
        </p:spPr>
      </p:pic>
      <p:sp>
        <p:nvSpPr>
          <p:cNvPr id="5" name="Rectangle 4"/>
          <p:cNvSpPr/>
          <p:nvPr/>
        </p:nvSpPr>
        <p:spPr>
          <a:xfrm>
            <a:off x="0" y="5715000"/>
            <a:ext cx="8915400" cy="923330"/>
          </a:xfrm>
          <a:prstGeom prst="rect">
            <a:avLst/>
          </a:prstGeom>
        </p:spPr>
        <p:txBody>
          <a:bodyPr wrap="square">
            <a:spAutoFit/>
          </a:bodyPr>
          <a:lstStyle/>
          <a:p>
            <a:r>
              <a:rPr lang="en-US" dirty="0" smtClean="0"/>
              <a:t>Again Eclipse notices this and prompts me to allow it to create this method for me. This is illustrated in Figure 6.7. It even gives me a preview of what it would generate in a box to the side of the editor.</a:t>
            </a:r>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Grp="1" noChangeAspect="1" noChangeArrowheads="1"/>
          </p:cNvPicPr>
          <p:nvPr>
            <p:ph idx="1"/>
          </p:nvPr>
        </p:nvPicPr>
        <p:blipFill>
          <a:blip r:embed="rId2" cstate="print"/>
          <a:srcRect/>
          <a:stretch>
            <a:fillRect/>
          </a:stretch>
        </p:blipFill>
        <p:spPr bwMode="auto">
          <a:xfrm>
            <a:off x="0" y="152400"/>
            <a:ext cx="9144000" cy="5029200"/>
          </a:xfrm>
          <a:prstGeom prst="rect">
            <a:avLst/>
          </a:prstGeom>
          <a:noFill/>
          <a:ln w="9525">
            <a:noFill/>
            <a:miter lim="800000"/>
            <a:headEnd/>
            <a:tailEnd/>
          </a:ln>
        </p:spPr>
      </p:pic>
      <p:sp>
        <p:nvSpPr>
          <p:cNvPr id="5" name="Rectangle 4"/>
          <p:cNvSpPr/>
          <p:nvPr/>
        </p:nvSpPr>
        <p:spPr>
          <a:xfrm>
            <a:off x="304800" y="5380672"/>
            <a:ext cx="8534400" cy="1477328"/>
          </a:xfrm>
          <a:prstGeom prst="rect">
            <a:avLst/>
          </a:prstGeom>
        </p:spPr>
        <p:txBody>
          <a:bodyPr wrap="square">
            <a:spAutoFit/>
          </a:bodyPr>
          <a:lstStyle/>
          <a:p>
            <a:r>
              <a:rPr lang="en-US" dirty="0" smtClean="0"/>
              <a:t>The result of Eclipse auto-creating the </a:t>
            </a:r>
            <a:r>
              <a:rPr lang="en-US" i="1" dirty="0" err="1" smtClean="0"/>
              <a:t>setText</a:t>
            </a:r>
            <a:r>
              <a:rPr lang="en-US" i="1" dirty="0" smtClean="0"/>
              <a:t> </a:t>
            </a:r>
            <a:r>
              <a:rPr lang="en-US" dirty="0" smtClean="0"/>
              <a:t>method is presented in Figure 6.8. This method takes a string as a parameter and does nothing with it. But that’s okay; it is enough to allow the test harness to compile. We can take this further by entering another method into the test case example requiring the text to be returned for the label, using a </a:t>
            </a:r>
            <a:r>
              <a:rPr lang="en-US" i="1" dirty="0" err="1" smtClean="0"/>
              <a:t>getText</a:t>
            </a:r>
            <a:r>
              <a:rPr lang="en-US" i="1" dirty="0" smtClean="0"/>
              <a:t> </a:t>
            </a:r>
            <a:r>
              <a:rPr lang="en-US" dirty="0" smtClean="0"/>
              <a:t>method</a:t>
            </a:r>
            <a:endParaRPr lang="en-I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p:cNvPicPr>
            <a:picLocks noGrp="1" noChangeAspect="1" noChangeArrowheads="1"/>
          </p:cNvPicPr>
          <p:nvPr>
            <p:ph idx="1"/>
          </p:nvPr>
        </p:nvPicPr>
        <p:blipFill>
          <a:blip r:embed="rId2" cstate="print"/>
          <a:srcRect/>
          <a:stretch>
            <a:fillRect/>
          </a:stretch>
        </p:blipFill>
        <p:spPr bwMode="auto">
          <a:xfrm>
            <a:off x="0" y="152400"/>
            <a:ext cx="9144000" cy="5105400"/>
          </a:xfrm>
          <a:prstGeom prst="rect">
            <a:avLst/>
          </a:prstGeom>
          <a:noFill/>
          <a:ln w="9525">
            <a:noFill/>
            <a:miter lim="800000"/>
            <a:headEnd/>
            <a:tailEnd/>
          </a:ln>
        </p:spPr>
      </p:pic>
      <p:sp>
        <p:nvSpPr>
          <p:cNvPr id="5" name="Rectangle 4"/>
          <p:cNvSpPr/>
          <p:nvPr/>
        </p:nvSpPr>
        <p:spPr>
          <a:xfrm>
            <a:off x="0" y="5410200"/>
            <a:ext cx="8839200" cy="1200329"/>
          </a:xfrm>
          <a:prstGeom prst="rect">
            <a:avLst/>
          </a:prstGeom>
        </p:spPr>
        <p:txBody>
          <a:bodyPr wrap="square">
            <a:spAutoFit/>
          </a:bodyPr>
          <a:lstStyle/>
          <a:p>
            <a:r>
              <a:rPr lang="en-US" dirty="0" smtClean="0"/>
              <a:t>. The result of Eclipse auto-creating this method is presented in Figure 6.9. Note that this method re- turns a value, thus a default value is defined in the return statement. This will not be correct in all situations (and indeed should not be correct in all situations). This is fine, as it is enough to allow us to compile the test class.</a:t>
            </a:r>
            <a:endParaRPr lang="en-IN"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ctr" rtl="0">
              <a:spcBef>
                <a:spcPct val="0"/>
              </a:spcBef>
            </a:pPr>
            <a:r>
              <a:rPr lang="en-US" sz="3200" b="1" dirty="0" smtClean="0">
                <a:solidFill>
                  <a:srgbClr val="FF0000"/>
                </a:solidFill>
                <a:latin typeface="Times New Roman" pitchFamily="18" charset="0"/>
                <a:cs typeface="Times New Roman" pitchFamily="18" charset="0"/>
              </a:rPr>
              <a:t>What to Test?</a:t>
            </a:r>
            <a:r>
              <a:rPr lang="en-IN" b="1" dirty="0" smtClean="0"/>
              <a:t/>
            </a:r>
            <a:br>
              <a:rPr lang="en-IN" b="1" dirty="0" smtClean="0"/>
            </a:br>
            <a:endParaRPr lang="en-IN" dirty="0"/>
          </a:p>
        </p:txBody>
      </p:sp>
      <p:sp>
        <p:nvSpPr>
          <p:cNvPr id="3" name="Content Placeholder 2"/>
          <p:cNvSpPr>
            <a:spLocks noGrp="1"/>
          </p:cNvSpPr>
          <p:nvPr>
            <p:ph idx="1"/>
          </p:nvPr>
        </p:nvSpPr>
        <p:spPr/>
        <p:txBody>
          <a:bodyPr>
            <a:normAutofit fontScale="92500"/>
          </a:bodyPr>
          <a:lstStyle/>
          <a:p>
            <a:pPr>
              <a:buNone/>
            </a:pPr>
            <a:r>
              <a:rPr lang="en-US" dirty="0" smtClean="0">
                <a:latin typeface="Times New Roman" pitchFamily="18" charset="0"/>
                <a:cs typeface="Times New Roman" pitchFamily="18" charset="0"/>
              </a:rPr>
              <a:t>Okay so testing is good and writing tests first is better. Great, but what should I test? Should every single method in every class in my application have a test written for it? Probably not! Should I only write tests for major subsystems – again probably not! So, what should I test?</a:t>
            </a:r>
            <a:endParaRPr lang="en-IN"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As with many things in software, there are no hard and fast rules for what you should test, but here are some XP-oriented guidelines:</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6096000"/>
          </a:xfrm>
        </p:spPr>
        <p:txBody>
          <a:bodyPr>
            <a:normAutofit fontScale="62500" lnSpcReduction="20000"/>
          </a:bodyPr>
          <a:lstStyle/>
          <a:p>
            <a:pPr lvl="0"/>
            <a:r>
              <a:rPr lang="en-US" dirty="0" smtClean="0">
                <a:latin typeface="Times New Roman" pitchFamily="18" charset="0"/>
                <a:cs typeface="Times New Roman" pitchFamily="18" charset="0"/>
              </a:rPr>
              <a:t>Write tests for any tasks being implemented.</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Write tests for any classes or combinations of classes that are non-trivial and could easily be broken. For example, if one particular class implements a complex algorithm to find sneak circuits within electronic relays, then write tests for that class even though it may only be one element of a larger module.</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Avoid writing tests for methods that just call another method, e.g. delegate methods, if the called method already has a test written for it.</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Assume that more tests are better then less and that no one will complain about having too many tests, but that people will complain if an important test is missing.</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Write tests that </a:t>
            </a:r>
            <a:r>
              <a:rPr lang="en-US" dirty="0" err="1" smtClean="0">
                <a:latin typeface="Times New Roman" pitchFamily="18" charset="0"/>
                <a:cs typeface="Times New Roman" pitchFamily="18" charset="0"/>
              </a:rPr>
              <a:t>instil</a:t>
            </a:r>
            <a:r>
              <a:rPr lang="en-US" dirty="0" smtClean="0">
                <a:latin typeface="Times New Roman" pitchFamily="18" charset="0"/>
                <a:cs typeface="Times New Roman" pitchFamily="18" charset="0"/>
              </a:rPr>
              <a:t> confidence in the system. For example, if one area of the system is invoked by many others (such as a data access management subsystem), then having a set of tests for that area adds to the confidence of those using it.</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Add tests that will help cover areas of the system being modified. If you are refactoring some code, and feel that one or more tests are missing then add them.</a:t>
            </a:r>
            <a:endParaRPr lang="en-IN" dirty="0" smtClean="0">
              <a:latin typeface="Times New Roman" pitchFamily="18" charset="0"/>
              <a:cs typeface="Times New Roman" pitchFamily="18" charset="0"/>
            </a:endParaRPr>
          </a:p>
          <a:p>
            <a:pPr lvl="0"/>
            <a:r>
              <a:rPr lang="en-US" dirty="0" smtClean="0">
                <a:latin typeface="Times New Roman" pitchFamily="18" charset="0"/>
                <a:cs typeface="Times New Roman" pitchFamily="18" charset="0"/>
              </a:rPr>
              <a:t>If you happen to notice that a suite of tests for a particular module, subsystem or class appears to be missing in one or more tests, then add them.</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ctr" rtl="0">
              <a:spcBef>
                <a:spcPct val="0"/>
              </a:spcBef>
            </a:pPr>
            <a:r>
              <a:rPr lang="en-US" sz="3200" b="1" dirty="0" smtClean="0">
                <a:solidFill>
                  <a:srgbClr val="FF0000"/>
                </a:solidFill>
                <a:latin typeface="Times New Roman" pitchFamily="18" charset="0"/>
                <a:cs typeface="Times New Roman" pitchFamily="18" charset="0"/>
              </a:rPr>
              <a:t>Making Pair Programming Work</a:t>
            </a:r>
            <a:r>
              <a:rPr lang="en-IN" b="1" dirty="0" smtClean="0"/>
              <a:t/>
            </a:r>
            <a:br>
              <a:rPr lang="en-IN" b="1" dirty="0" smtClean="0"/>
            </a:br>
            <a:endParaRPr lang="en-IN" dirty="0"/>
          </a:p>
        </p:txBody>
      </p:sp>
      <p:sp>
        <p:nvSpPr>
          <p:cNvPr id="3" name="Content Placeholder 2"/>
          <p:cNvSpPr>
            <a:spLocks noGrp="1"/>
          </p:cNvSpPr>
          <p:nvPr>
            <p:ph idx="1"/>
          </p:nvPr>
        </p:nvSpPr>
        <p:spPr/>
        <p:txBody>
          <a:bodyPr/>
          <a:lstStyle/>
          <a:p>
            <a:pPr>
              <a:buNone/>
            </a:pPr>
            <a:r>
              <a:rPr lang="en-US" dirty="0" smtClean="0">
                <a:latin typeface="Times New Roman" pitchFamily="18" charset="0"/>
                <a:cs typeface="Times New Roman" pitchFamily="18" charset="0"/>
              </a:rPr>
              <a:t>The idea behind pair programming is of course very simple, essentially it comes done to “two heads are better than one” most of the time. In addition, in pair programming all code is always reviewed by at least one other person who is </a:t>
            </a:r>
            <a:r>
              <a:rPr lang="en-US" dirty="0" err="1" smtClean="0">
                <a:latin typeface="Times New Roman" pitchFamily="18" charset="0"/>
                <a:cs typeface="Times New Roman" pitchFamily="18" charset="0"/>
              </a:rPr>
              <a:t>focussed</a:t>
            </a:r>
            <a:r>
              <a:rPr lang="en-US" dirty="0" smtClean="0">
                <a:latin typeface="Times New Roman" pitchFamily="18" charset="0"/>
                <a:cs typeface="Times New Roman" pitchFamily="18" charset="0"/>
              </a:rPr>
              <a:t> on what the code needs to do.</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Grp="1" noChangeAspect="1" noChangeArrowheads="1"/>
          </p:cNvPicPr>
          <p:nvPr>
            <p:ph idx="1"/>
          </p:nvPr>
        </p:nvPicPr>
        <p:blipFill>
          <a:blip r:embed="rId2" cstate="print"/>
          <a:srcRect/>
          <a:stretch>
            <a:fillRect/>
          </a:stretch>
        </p:blipFill>
        <p:spPr bwMode="auto">
          <a:xfrm>
            <a:off x="457200" y="304800"/>
            <a:ext cx="8305799" cy="624840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534400" cy="6019800"/>
          </a:xfrm>
        </p:spPr>
        <p:txBody>
          <a:bodyPr>
            <a:noAutofit/>
          </a:bodyPr>
          <a:lstStyle/>
          <a:p>
            <a:pPr>
              <a:buNone/>
            </a:pPr>
            <a:r>
              <a:rPr lang="en-US" sz="2000" dirty="0" smtClean="0">
                <a:latin typeface="Times New Roman" pitchFamily="18" charset="0"/>
                <a:cs typeface="Times New Roman" pitchFamily="18" charset="0"/>
              </a:rPr>
              <a:t>   The </a:t>
            </a:r>
            <a:r>
              <a:rPr lang="en-US" sz="2000" dirty="0" smtClean="0">
                <a:latin typeface="Times New Roman" pitchFamily="18" charset="0"/>
                <a:cs typeface="Times New Roman" pitchFamily="18" charset="0"/>
              </a:rPr>
              <a:t>typical pair programming workflow is illustrated in Figure 6.10. It </a:t>
            </a:r>
            <a:r>
              <a:rPr lang="en-US" sz="2000" dirty="0" smtClean="0">
                <a:latin typeface="Times New Roman" pitchFamily="18" charset="0"/>
                <a:cs typeface="Times New Roman" pitchFamily="18" charset="0"/>
              </a:rPr>
              <a:t>illustrates </a:t>
            </a:r>
            <a:r>
              <a:rPr lang="en-US" sz="2000" dirty="0" smtClean="0">
                <a:latin typeface="Times New Roman" pitchFamily="18" charset="0"/>
                <a:cs typeface="Times New Roman" pitchFamily="18" charset="0"/>
              </a:rPr>
              <a:t>a number of important features of pair programming. Firstly, pairs are </a:t>
            </a:r>
            <a:r>
              <a:rPr lang="en-US" sz="2000" dirty="0" smtClean="0">
                <a:latin typeface="Times New Roman" pitchFamily="18" charset="0"/>
                <a:cs typeface="Times New Roman" pitchFamily="18" charset="0"/>
              </a:rPr>
              <a:t>not</a:t>
            </a:r>
            <a:r>
              <a:rPr lang="en-IN"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permanent </a:t>
            </a:r>
            <a:r>
              <a:rPr lang="en-US" sz="2000" dirty="0" smtClean="0">
                <a:latin typeface="Times New Roman" pitchFamily="18" charset="0"/>
                <a:cs typeface="Times New Roman" pitchFamily="18" charset="0"/>
              </a:rPr>
              <a:t>(and indeed should be changed regularly). A pair forms to carry out a particular task.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At </a:t>
            </a:r>
            <a:r>
              <a:rPr lang="en-US" sz="2000" dirty="0" smtClean="0">
                <a:latin typeface="Times New Roman" pitchFamily="18" charset="0"/>
                <a:cs typeface="Times New Roman" pitchFamily="18" charset="0"/>
              </a:rPr>
              <a:t>the start of the task, they have a brief meeting to discuss what it is they are about to do and how they might approach it, what the options are, etc. This helps to ensure that no one is along just for the ride.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They </a:t>
            </a:r>
            <a:r>
              <a:rPr lang="en-US" sz="2000" dirty="0" smtClean="0">
                <a:latin typeface="Times New Roman" pitchFamily="18" charset="0"/>
                <a:cs typeface="Times New Roman" pitchFamily="18" charset="0"/>
              </a:rPr>
              <a:t>then work on the code in a test first manner, proposing a test, implementing the business classes that will meet the requirements of that test and then running the test. </a:t>
            </a:r>
            <a:endParaRPr lang="en-US" sz="2000" dirty="0" smtClean="0">
              <a:latin typeface="Times New Roman" pitchFamily="18" charset="0"/>
              <a:cs typeface="Times New Roman" pitchFamily="18" charset="0"/>
            </a:endParaRPr>
          </a:p>
          <a:p>
            <a:r>
              <a:rPr lang="en-US" sz="2000" dirty="0" smtClean="0">
                <a:latin typeface="Times New Roman" pitchFamily="18" charset="0"/>
                <a:cs typeface="Times New Roman" pitchFamily="18" charset="0"/>
              </a:rPr>
              <a:t>If </a:t>
            </a:r>
            <a:r>
              <a:rPr lang="en-US" sz="2000" dirty="0" smtClean="0">
                <a:latin typeface="Times New Roman" pitchFamily="18" charset="0"/>
                <a:cs typeface="Times New Roman" pitchFamily="18" charset="0"/>
              </a:rPr>
              <a:t>the test is passed, then they move onto the next test</a:t>
            </a:r>
            <a:r>
              <a:rPr lang="en-US" sz="2000" dirty="0" smtClean="0">
                <a:latin typeface="Times New Roman" pitchFamily="18" charset="0"/>
                <a:cs typeface="Times New Roman" pitchFamily="18" charset="0"/>
              </a:rPr>
              <a:t>.</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If the test fails, then they review the code and determine what is wrong</a:t>
            </a:r>
            <a:r>
              <a:rPr lang="en-US" sz="2000" dirty="0" smtClean="0">
                <a:latin typeface="Times New Roman" pitchFamily="18" charset="0"/>
                <a:cs typeface="Times New Roman" pitchFamily="18" charset="0"/>
              </a:rPr>
              <a:t>.</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Once the tests are completed, they integrate the code with the current build. If this causes any tests for the whole system to fail, they must revise the code and determine why the test failed, etc</a:t>
            </a:r>
            <a:r>
              <a:rPr lang="en-US" sz="2000" dirty="0" smtClean="0">
                <a:latin typeface="Times New Roman" pitchFamily="18" charset="0"/>
                <a:cs typeface="Times New Roman" pitchFamily="18" charset="0"/>
              </a:rPr>
              <a:t>.</a:t>
            </a:r>
          </a:p>
          <a:p>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They can only finish integrating once all the tests have </a:t>
            </a:r>
            <a:r>
              <a:rPr lang="en-US" sz="2000" dirty="0" smtClean="0">
                <a:latin typeface="Times New Roman" pitchFamily="18" charset="0"/>
                <a:cs typeface="Times New Roman" pitchFamily="18" charset="0"/>
              </a:rPr>
              <a:t>passed</a:t>
            </a:r>
          </a:p>
          <a:p>
            <a:r>
              <a:rPr lang="en-US" sz="2000" dirty="0" smtClean="0">
                <a:latin typeface="Times New Roman" pitchFamily="18" charset="0"/>
                <a:cs typeface="Times New Roman" pitchFamily="18" charset="0"/>
              </a:rPr>
              <a:t>T</a:t>
            </a:r>
            <a:r>
              <a:rPr lang="en-US" sz="2000" dirty="0" smtClean="0">
                <a:latin typeface="Times New Roman" pitchFamily="18" charset="0"/>
                <a:cs typeface="Times New Roman" pitchFamily="18" charset="0"/>
              </a:rPr>
              <a:t>he </a:t>
            </a:r>
            <a:r>
              <a:rPr lang="en-US" sz="2000" dirty="0" smtClean="0">
                <a:latin typeface="Times New Roman" pitchFamily="18" charset="0"/>
                <a:cs typeface="Times New Roman" pitchFamily="18" charset="0"/>
              </a:rPr>
              <a:t>task is then completed and the pair breaks up.</a:t>
            </a:r>
            <a:endParaRPr lang="en-IN" sz="2000" dirty="0" smtClean="0">
              <a:latin typeface="Times New Roman" pitchFamily="18" charset="0"/>
              <a:cs typeface="Times New Roman" pitchFamily="18" charset="0"/>
            </a:endParaRPr>
          </a:p>
          <a:p>
            <a:endParaRPr lang="en-IN"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686800" cy="1143000"/>
          </a:xfrm>
        </p:spPr>
        <p:txBody>
          <a:bodyPr>
            <a:noAutofit/>
          </a:bodyPr>
          <a:lstStyle/>
          <a:p>
            <a:r>
              <a:rPr lang="en-US" sz="3600" dirty="0" smtClean="0">
                <a:solidFill>
                  <a:srgbClr val="FF0000"/>
                </a:solidFill>
                <a:latin typeface="Times New Roman" pitchFamily="18" charset="0"/>
                <a:cs typeface="Times New Roman" pitchFamily="18" charset="0"/>
              </a:rPr>
              <a:t>Whilst there are no hard and fast rules to how to do this, there are things that can help:</a:t>
            </a:r>
            <a:endParaRPr lang="en-IN" sz="3600" dirty="0">
              <a:solidFill>
                <a:srgbClr val="FF0000"/>
              </a:solidFill>
            </a:endParaRPr>
          </a:p>
        </p:txBody>
      </p:sp>
      <p:sp>
        <p:nvSpPr>
          <p:cNvPr id="3" name="Content Placeholder 2"/>
          <p:cNvSpPr>
            <a:spLocks noGrp="1"/>
          </p:cNvSpPr>
          <p:nvPr>
            <p:ph idx="1"/>
          </p:nvPr>
        </p:nvSpPr>
        <p:spPr>
          <a:xfrm>
            <a:off x="533400" y="1905000"/>
            <a:ext cx="8229600" cy="4525963"/>
          </a:xfrm>
        </p:spPr>
        <p:txBody>
          <a:bodyPr/>
          <a:lstStyle/>
          <a:p>
            <a:pPr>
              <a:buNone/>
            </a:pPr>
            <a:r>
              <a:rPr lang="en-US" dirty="0" smtClean="0">
                <a:latin typeface="Times New Roman" pitchFamily="18" charset="0"/>
                <a:cs typeface="Times New Roman" pitchFamily="18" charset="0"/>
              </a:rPr>
              <a:t>Pair programming takes </a:t>
            </a:r>
            <a:r>
              <a:rPr lang="en-US" dirty="0" smtClean="0">
                <a:latin typeface="Times New Roman" pitchFamily="18" charset="0"/>
                <a:cs typeface="Times New Roman" pitchFamily="18" charset="0"/>
              </a:rPr>
              <a:t>practice. </a:t>
            </a:r>
            <a:r>
              <a:rPr lang="en-US" dirty="0" smtClean="0">
                <a:latin typeface="Times New Roman" pitchFamily="18" charset="0"/>
                <a:cs typeface="Times New Roman" pitchFamily="18" charset="0"/>
              </a:rPr>
              <a:t>Ideally, in any pair, one of the pair should be an experienced pair programmer. In many situations, this is not possible, so the </a:t>
            </a:r>
            <a:r>
              <a:rPr lang="en-US" dirty="0" smtClean="0">
                <a:latin typeface="Times New Roman" pitchFamily="18" charset="0"/>
                <a:cs typeface="Times New Roman" pitchFamily="18" charset="0"/>
              </a:rPr>
              <a:t>Below </a:t>
            </a:r>
            <a:r>
              <a:rPr lang="en-US" dirty="0" smtClean="0">
                <a:latin typeface="Times New Roman" pitchFamily="18" charset="0"/>
                <a:cs typeface="Times New Roman" pitchFamily="18" charset="0"/>
              </a:rPr>
              <a:t>points should be borne in mind by all members of an XP team. The key thing is to stick with it.</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lvl="0">
              <a:buNone/>
            </a:pPr>
            <a:r>
              <a:rPr lang="en-US" i="1" dirty="0" smtClean="0">
                <a:solidFill>
                  <a:srgbClr val="FF0000"/>
                </a:solidFill>
                <a:latin typeface="Times New Roman" pitchFamily="18" charset="0"/>
                <a:cs typeface="Times New Roman" pitchFamily="18" charset="0"/>
              </a:rPr>
              <a:t>1.Engage </a:t>
            </a:r>
            <a:r>
              <a:rPr lang="en-US" i="1" dirty="0" smtClean="0">
                <a:solidFill>
                  <a:srgbClr val="FF0000"/>
                </a:solidFill>
                <a:latin typeface="Times New Roman" pitchFamily="18" charset="0"/>
                <a:cs typeface="Times New Roman" pitchFamily="18" charset="0"/>
              </a:rPr>
              <a:t>in a dialogue</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The “driver” should try and explain what they are doing. The “navigator” should ask questions in order to understand what is being done. This is not as simple as it sounds. For example, the next time you are in your car and driving, try telling an imaginary passenger what you are doing, what you are considering and what concerns you have about the road ahead (it helps if the passenger is imaginary so that none of your friends think you are mad!).</a:t>
            </a:r>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229600" cy="6400800"/>
          </a:xfrm>
        </p:spPr>
        <p:txBody>
          <a:bodyPr>
            <a:normAutofit fontScale="85000" lnSpcReduction="20000"/>
          </a:bodyPr>
          <a:lstStyle/>
          <a:p>
            <a:pPr lvl="0">
              <a:buNone/>
            </a:pPr>
            <a:r>
              <a:rPr lang="en-US" i="1" dirty="0" smtClean="0">
                <a:solidFill>
                  <a:srgbClr val="FF0000"/>
                </a:solidFill>
                <a:latin typeface="Times New Roman" pitchFamily="18" charset="0"/>
                <a:cs typeface="Times New Roman" pitchFamily="18" charset="0"/>
              </a:rPr>
              <a:t>2. Listen </a:t>
            </a:r>
            <a:r>
              <a:rPr lang="en-US" i="1" dirty="0" smtClean="0">
                <a:solidFill>
                  <a:srgbClr val="FF0000"/>
                </a:solidFill>
                <a:latin typeface="Times New Roman" pitchFamily="18" charset="0"/>
                <a:cs typeface="Times New Roman" pitchFamily="18" charset="0"/>
              </a:rPr>
              <a:t>to each other</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If one member of the pair is doing all the talking then it is probably isn’t working. The one who isn’t saying much might not be clear on what is being done. Try swapping roles, or have a break, or take time out to review where you are</a:t>
            </a:r>
            <a:r>
              <a:rPr lang="en-US" dirty="0" smtClean="0">
                <a:latin typeface="Times New Roman" pitchFamily="18" charset="0"/>
                <a:cs typeface="Times New Roman" pitchFamily="18" charset="0"/>
              </a:rPr>
              <a:t>.</a:t>
            </a:r>
            <a:endParaRPr lang="en-IN" dirty="0" smtClean="0">
              <a:latin typeface="Times New Roman" pitchFamily="18" charset="0"/>
              <a:cs typeface="Times New Roman" pitchFamily="18" charset="0"/>
            </a:endParaRPr>
          </a:p>
          <a:p>
            <a:pPr lvl="0">
              <a:buNone/>
            </a:pPr>
            <a:r>
              <a:rPr lang="en-US" i="1" dirty="0" smtClean="0">
                <a:solidFill>
                  <a:srgbClr val="FF0000"/>
                </a:solidFill>
                <a:latin typeface="Times New Roman" pitchFamily="18" charset="0"/>
                <a:cs typeface="Times New Roman" pitchFamily="18" charset="0"/>
              </a:rPr>
              <a:t> 3.Take </a:t>
            </a:r>
            <a:r>
              <a:rPr lang="en-US" i="1" dirty="0" smtClean="0">
                <a:solidFill>
                  <a:srgbClr val="FF0000"/>
                </a:solidFill>
                <a:latin typeface="Times New Roman" pitchFamily="18" charset="0"/>
                <a:cs typeface="Times New Roman" pitchFamily="18" charset="0"/>
              </a:rPr>
              <a:t>frequent breaks</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Pair programming is intensive. It is intensive in terms of the little grey cells and also in terms of inter-personal communications and dynamics. Have regular breaks, talk about other things, see how others are getting on, catch up on the news, etc. Don’t take a break and discuss the code</a:t>
            </a:r>
            <a:r>
              <a:rPr lang="en-US" dirty="0" smtClean="0">
                <a:latin typeface="Times New Roman" pitchFamily="18" charset="0"/>
                <a:cs typeface="Times New Roman" pitchFamily="18" charset="0"/>
              </a:rPr>
              <a:t>!</a:t>
            </a:r>
          </a:p>
          <a:p>
            <a:pPr>
              <a:buNone/>
            </a:pPr>
            <a:r>
              <a:rPr lang="en-US" i="1" dirty="0" smtClean="0">
                <a:solidFill>
                  <a:srgbClr val="FF0000"/>
                </a:solidFill>
                <a:latin typeface="Times New Roman" pitchFamily="18" charset="0"/>
                <a:cs typeface="Times New Roman" pitchFamily="18" charset="0"/>
              </a:rPr>
              <a:t>4.Make </a:t>
            </a:r>
            <a:r>
              <a:rPr lang="en-US" i="1" dirty="0" smtClean="0">
                <a:solidFill>
                  <a:srgbClr val="FF0000"/>
                </a:solidFill>
                <a:latin typeface="Times New Roman" pitchFamily="18" charset="0"/>
                <a:cs typeface="Times New Roman" pitchFamily="18" charset="0"/>
              </a:rPr>
              <a:t>pair programming practical</a:t>
            </a:r>
            <a:r>
              <a:rPr lang="en-US" dirty="0" smtClean="0">
                <a:latin typeface="Times New Roman" pitchFamily="18" charset="0"/>
                <a:cs typeface="Times New Roman" pitchFamily="18" charset="0"/>
              </a:rPr>
              <a:t>. Providing enough space to allow a pair to work together comfortably isn’t essential but it can help. This may only go as far as having desks that are big enough for two developers to sit next to each other, or it may involve special double size workstation environments.</a:t>
            </a:r>
            <a:endParaRPr lang="en-IN" dirty="0" smtClean="0">
              <a:latin typeface="Times New Roman" pitchFamily="18" charset="0"/>
              <a:cs typeface="Times New Roman" pitchFamily="18" charset="0"/>
            </a:endParaRPr>
          </a:p>
          <a:p>
            <a:pPr lvl="0"/>
            <a:endParaRPr lang="en-IN" dirty="0" smtClean="0">
              <a:latin typeface="Times New Roman" pitchFamily="18" charset="0"/>
              <a:cs typeface="Times New Roman" pitchFamily="18" charset="0"/>
            </a:endParaRPr>
          </a:p>
          <a:p>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81000"/>
            <a:ext cx="8458200" cy="6096000"/>
          </a:xfrm>
        </p:spPr>
        <p:txBody>
          <a:bodyPr>
            <a:normAutofit fontScale="70000" lnSpcReduction="20000"/>
          </a:bodyPr>
          <a:lstStyle/>
          <a:p>
            <a:pPr lvl="0">
              <a:buNone/>
            </a:pPr>
            <a:r>
              <a:rPr lang="en-US" sz="3400" i="1" dirty="0" smtClean="0">
                <a:solidFill>
                  <a:srgbClr val="FF0000"/>
                </a:solidFill>
              </a:rPr>
              <a:t>  </a:t>
            </a:r>
            <a:r>
              <a:rPr lang="en-US" sz="3400" i="1" dirty="0" smtClean="0">
                <a:solidFill>
                  <a:srgbClr val="FF0000"/>
                </a:solidFill>
                <a:latin typeface="Times New Roman" pitchFamily="18" charset="0"/>
                <a:cs typeface="Times New Roman" pitchFamily="18" charset="0"/>
              </a:rPr>
              <a:t>5.Don’t </a:t>
            </a:r>
            <a:r>
              <a:rPr lang="en-US" sz="3400" i="1" dirty="0" smtClean="0">
                <a:solidFill>
                  <a:srgbClr val="FF0000"/>
                </a:solidFill>
                <a:latin typeface="Times New Roman" pitchFamily="18" charset="0"/>
                <a:cs typeface="Times New Roman" pitchFamily="18" charset="0"/>
              </a:rPr>
              <a:t>be a back seat driver</a:t>
            </a:r>
            <a:r>
              <a:rPr lang="en-US" sz="3400" dirty="0" smtClean="0">
                <a:latin typeface="Times New Roman" pitchFamily="18" charset="0"/>
                <a:cs typeface="Times New Roman" pitchFamily="18" charset="0"/>
              </a:rPr>
              <a:t>. Nothing can be quiet as annoying as a back seat driver (particularly if its your mother in law!). One of the common problems, particular if the “navigator” is more experienced relative to the current task than the “driver” is the back seat driver syndrome. If you are the navigator and you find yourself telling the driver what to do all the time try and stop yourself. It is not only really annoying but it is not pair programming. You are not performing the role of the navigator. You are acting as the virtual driver and using someone else’s fingers to type the code in! You can either swap roles, or better stop and discuss your proposed solution with the driver and then let them run with it. They will learn a lot more</a:t>
            </a:r>
            <a:r>
              <a:rPr lang="en-US" sz="3400" dirty="0" smtClean="0">
                <a:latin typeface="Times New Roman" pitchFamily="18" charset="0"/>
                <a:cs typeface="Times New Roman" pitchFamily="18" charset="0"/>
              </a:rPr>
              <a:t>.</a:t>
            </a:r>
          </a:p>
          <a:p>
            <a:pPr lvl="0">
              <a:buNone/>
            </a:pPr>
            <a:r>
              <a:rPr lang="en-US" sz="3400" i="1" dirty="0" smtClean="0">
                <a:solidFill>
                  <a:srgbClr val="FF0000"/>
                </a:solidFill>
                <a:latin typeface="Times New Roman" pitchFamily="18" charset="0"/>
                <a:cs typeface="Times New Roman" pitchFamily="18" charset="0"/>
              </a:rPr>
              <a:t>6.Use </a:t>
            </a:r>
            <a:r>
              <a:rPr lang="en-US" sz="3400" i="1" dirty="0" smtClean="0">
                <a:solidFill>
                  <a:srgbClr val="FF0000"/>
                </a:solidFill>
                <a:latin typeface="Times New Roman" pitchFamily="18" charset="0"/>
                <a:cs typeface="Times New Roman" pitchFamily="18" charset="0"/>
              </a:rPr>
              <a:t>a common environment</a:t>
            </a:r>
            <a:r>
              <a:rPr lang="en-US" sz="3400" dirty="0" smtClean="0">
                <a:solidFill>
                  <a:srgbClr val="FF0000"/>
                </a:solidFill>
                <a:latin typeface="Times New Roman" pitchFamily="18" charset="0"/>
                <a:cs typeface="Times New Roman" pitchFamily="18" charset="0"/>
              </a:rPr>
              <a:t>. </a:t>
            </a:r>
            <a:r>
              <a:rPr lang="en-US" sz="3400" dirty="0" smtClean="0">
                <a:latin typeface="Times New Roman" pitchFamily="18" charset="0"/>
                <a:cs typeface="Times New Roman" pitchFamily="18" charset="0"/>
              </a:rPr>
              <a:t>Developers tend to have their own personal </a:t>
            </a:r>
            <a:r>
              <a:rPr lang="en-US" sz="3400" dirty="0" err="1" smtClean="0">
                <a:latin typeface="Times New Roman" pitchFamily="18" charset="0"/>
                <a:cs typeface="Times New Roman" pitchFamily="18" charset="0"/>
              </a:rPr>
              <a:t>favourite</a:t>
            </a:r>
            <a:r>
              <a:rPr lang="en-US" sz="3400" dirty="0" smtClean="0">
                <a:latin typeface="Times New Roman" pitchFamily="18" charset="0"/>
                <a:cs typeface="Times New Roman" pitchFamily="18" charset="0"/>
              </a:rPr>
              <a:t> development environment. For Java this might be </a:t>
            </a:r>
            <a:r>
              <a:rPr lang="en-US" sz="3400" dirty="0" err="1" smtClean="0">
                <a:latin typeface="Times New Roman" pitchFamily="18" charset="0"/>
                <a:cs typeface="Times New Roman" pitchFamily="18" charset="0"/>
              </a:rPr>
              <a:t>JCreator</a:t>
            </a:r>
            <a:r>
              <a:rPr lang="en-US" sz="3400" dirty="0" smtClean="0">
                <a:latin typeface="Times New Roman" pitchFamily="18" charset="0"/>
                <a:cs typeface="Times New Roman" pitchFamily="18" charset="0"/>
              </a:rPr>
              <a:t>, </a:t>
            </a:r>
            <a:r>
              <a:rPr lang="en-US" sz="3400" dirty="0" err="1" smtClean="0">
                <a:latin typeface="Times New Roman" pitchFamily="18" charset="0"/>
                <a:cs typeface="Times New Roman" pitchFamily="18" charset="0"/>
              </a:rPr>
              <a:t>JBuilder</a:t>
            </a:r>
            <a:r>
              <a:rPr lang="en-US" sz="3400" dirty="0" smtClean="0">
                <a:latin typeface="Times New Roman" pitchFamily="18" charset="0"/>
                <a:cs typeface="Times New Roman" pitchFamily="18" charset="0"/>
              </a:rPr>
              <a:t>, </a:t>
            </a:r>
            <a:r>
              <a:rPr lang="en-US" sz="3400" dirty="0" err="1" smtClean="0">
                <a:latin typeface="Times New Roman" pitchFamily="18" charset="0"/>
                <a:cs typeface="Times New Roman" pitchFamily="18" charset="0"/>
              </a:rPr>
              <a:t>NetBeans</a:t>
            </a:r>
            <a:r>
              <a:rPr lang="en-US" sz="3400" dirty="0" smtClean="0">
                <a:latin typeface="Times New Roman" pitchFamily="18" charset="0"/>
                <a:cs typeface="Times New Roman" pitchFamily="18" charset="0"/>
              </a:rPr>
              <a:t>, Eclipse or even </a:t>
            </a:r>
            <a:r>
              <a:rPr lang="en-US" sz="3400" dirty="0" err="1" smtClean="0">
                <a:latin typeface="Times New Roman" pitchFamily="18" charset="0"/>
                <a:cs typeface="Times New Roman" pitchFamily="18" charset="0"/>
              </a:rPr>
              <a:t>Emacs</a:t>
            </a:r>
            <a:r>
              <a:rPr lang="en-US" sz="3400" dirty="0" smtClean="0">
                <a:latin typeface="Times New Roman" pitchFamily="18" charset="0"/>
                <a:cs typeface="Times New Roman" pitchFamily="18" charset="0"/>
              </a:rPr>
              <a:t>, etc. However, having different development environments makes pair programming harder. Selecting one development environment to be used by all makes life a lot easier. </a:t>
            </a:r>
            <a:endParaRPr lang="en-IN" sz="3400" dirty="0" smtClean="0">
              <a:latin typeface="Times New Roman" pitchFamily="18" charset="0"/>
              <a:cs typeface="Times New Roman" pitchFamily="18" charset="0"/>
            </a:endParaRPr>
          </a:p>
          <a:p>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pPr lvl="0">
              <a:buNone/>
            </a:pPr>
            <a:r>
              <a:rPr lang="en-US" i="1" dirty="0" smtClean="0">
                <a:solidFill>
                  <a:srgbClr val="FF0000"/>
                </a:solidFill>
                <a:latin typeface="Times New Roman" pitchFamily="18" charset="0"/>
                <a:cs typeface="Times New Roman" pitchFamily="18" charset="0"/>
              </a:rPr>
              <a:t>7.Shared </a:t>
            </a:r>
            <a:r>
              <a:rPr lang="en-US" i="1" dirty="0" smtClean="0">
                <a:solidFill>
                  <a:srgbClr val="FF0000"/>
                </a:solidFill>
                <a:latin typeface="Times New Roman" pitchFamily="18" charset="0"/>
                <a:cs typeface="Times New Roman" pitchFamily="18" charset="0"/>
              </a:rPr>
              <a:t>language and vocabulary</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Developers who have a shared vocabulary of design and programming concepts tend to work together better. This is partly because it avoids the “what do you mean by </a:t>
            </a:r>
            <a:r>
              <a:rPr lang="en-US" i="1" dirty="0" smtClean="0">
                <a:latin typeface="Times New Roman" pitchFamily="18" charset="0"/>
                <a:cs typeface="Times New Roman" pitchFamily="18" charset="0"/>
              </a:rPr>
              <a:t>Factory Method</a:t>
            </a:r>
            <a:r>
              <a:rPr lang="en-US" dirty="0" smtClean="0">
                <a:latin typeface="Times New Roman" pitchFamily="18" charset="0"/>
                <a:cs typeface="Times New Roman" pitchFamily="18" charset="0"/>
              </a:rPr>
              <a:t>?” type question. This is not as easy as it may seem. As an analogy, consider the following question that I was once asked when buying some fast food while visiting the USA:</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“Would you like that on a biscuit?”</a:t>
            </a:r>
            <a:endParaRPr lang="en-IN"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To me this was somewhat surprising as what I pictured at this point was what I would call a Digestive biscuit.</a:t>
            </a:r>
            <a:endParaRPr lang="en-IN" dirty="0">
              <a:latin typeface="Times New Roman" pitchFamily="18" charset="0"/>
              <a:cs typeface="Times New Roman"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4525963"/>
          </a:xfrm>
        </p:spPr>
        <p:txBody>
          <a:bodyPr>
            <a:normAutofit fontScale="85000" lnSpcReduction="10000"/>
          </a:bodyPr>
          <a:lstStyle/>
          <a:p>
            <a:pPr lvl="0">
              <a:buNone/>
            </a:pPr>
            <a:r>
              <a:rPr lang="en-US" i="1" dirty="0" smtClean="0">
                <a:solidFill>
                  <a:srgbClr val="FF0000"/>
                </a:solidFill>
                <a:latin typeface="Times New Roman" pitchFamily="18" charset="0"/>
                <a:cs typeface="Times New Roman" pitchFamily="18" charset="0"/>
              </a:rPr>
              <a:t>8.Allowing </a:t>
            </a:r>
            <a:r>
              <a:rPr lang="en-US" i="1" dirty="0" smtClean="0">
                <a:solidFill>
                  <a:srgbClr val="FF0000"/>
                </a:solidFill>
                <a:latin typeface="Times New Roman" pitchFamily="18" charset="0"/>
                <a:cs typeface="Times New Roman" pitchFamily="18" charset="0"/>
              </a:rPr>
              <a:t>non-pair time</a:t>
            </a:r>
            <a:r>
              <a:rPr lang="en-US" dirty="0" smtClean="0">
                <a:solidFill>
                  <a:srgbClr val="FF0000"/>
                </a:solidFill>
                <a:latin typeface="Times New Roman" pitchFamily="18" charset="0"/>
                <a:cs typeface="Times New Roman" pitchFamily="18" charset="0"/>
              </a:rPr>
              <a:t>. </a:t>
            </a:r>
            <a:r>
              <a:rPr lang="en-US" dirty="0" smtClean="0">
                <a:latin typeface="Times New Roman" pitchFamily="18" charset="0"/>
                <a:cs typeface="Times New Roman" pitchFamily="18" charset="0"/>
              </a:rPr>
              <a:t>There are some situations where allowing a pair to work alone can be beneficial. This may be a little controversial for some in the XP community, as they will argue that it is </a:t>
            </a:r>
            <a:r>
              <a:rPr lang="en-US" i="1" dirty="0" smtClean="0">
                <a:latin typeface="Times New Roman" pitchFamily="18" charset="0"/>
                <a:cs typeface="Times New Roman" pitchFamily="18" charset="0"/>
              </a:rPr>
              <a:t>always </a:t>
            </a:r>
            <a:r>
              <a:rPr lang="en-US" dirty="0" smtClean="0">
                <a:latin typeface="Times New Roman" pitchFamily="18" charset="0"/>
                <a:cs typeface="Times New Roman" pitchFamily="18" charset="0"/>
              </a:rPr>
              <a:t>between to work in pairs. However, in the following situations, flying solo may be an alternative (but it should be the rare exception to pair programming</a:t>
            </a:r>
            <a:r>
              <a:rPr lang="en-US" dirty="0" smtClean="0">
                <a:latin typeface="Times New Roman" pitchFamily="18" charset="0"/>
                <a:cs typeface="Times New Roman" pitchFamily="18" charset="0"/>
              </a:rPr>
              <a:t>):</a:t>
            </a:r>
          </a:p>
          <a:p>
            <a:pPr lvl="0">
              <a:buNone/>
            </a:pPr>
            <a:endParaRPr lang="en-IN" dirty="0" smtClean="0">
              <a:latin typeface="Times New Roman" pitchFamily="18" charset="0"/>
              <a:cs typeface="Times New Roman" pitchFamily="18" charset="0"/>
            </a:endParaRPr>
          </a:p>
          <a:p>
            <a:pPr lvl="1"/>
            <a:r>
              <a:rPr lang="en-US" dirty="0" smtClean="0"/>
              <a:t>Exploring completing alternative solutions,</a:t>
            </a:r>
            <a:endParaRPr lang="en-IN" sz="3200" dirty="0" smtClean="0"/>
          </a:p>
          <a:p>
            <a:pPr lvl="1"/>
            <a:r>
              <a:rPr lang="en-US" dirty="0" smtClean="0"/>
              <a:t>Following multiple competing lines of investigation during debugging (but not bug fixing).</a:t>
            </a:r>
            <a:endParaRPr lang="en-IN" sz="3200" dirty="0" smtClean="0"/>
          </a:p>
          <a:p>
            <a:endParaRPr lang="en-IN"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8229600" cy="4525963"/>
          </a:xfrm>
        </p:spPr>
        <p:txBody>
          <a:bodyPr/>
          <a:lstStyle/>
          <a:p>
            <a:pPr lvl="0">
              <a:buNone/>
            </a:pPr>
            <a:r>
              <a:rPr lang="en-US" sz="2400" i="1" dirty="0" smtClean="0">
                <a:solidFill>
                  <a:srgbClr val="FF0000"/>
                </a:solidFill>
                <a:latin typeface="Times New Roman" pitchFamily="18" charset="0"/>
                <a:cs typeface="Times New Roman" pitchFamily="18" charset="0"/>
              </a:rPr>
              <a:t> 9.Change </a:t>
            </a:r>
            <a:r>
              <a:rPr lang="en-US" sz="2400" i="1" dirty="0" smtClean="0">
                <a:solidFill>
                  <a:srgbClr val="FF0000"/>
                </a:solidFill>
                <a:latin typeface="Times New Roman" pitchFamily="18" charset="0"/>
                <a:cs typeface="Times New Roman" pitchFamily="18" charset="0"/>
              </a:rPr>
              <a:t>partners often</a:t>
            </a:r>
            <a:r>
              <a:rPr lang="en-US" sz="2400" dirty="0" smtClean="0">
                <a:solidFill>
                  <a:srgbClr val="FF000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Pairs should not be permanent. Instead, pairs should change as and when required. The typical point at which to change is at the start of a new task. However, if a task ranges over a number of areas, then a “driver” developer may pair with several “navigators” in order to benefit from their different areas of expertise.</a:t>
            </a:r>
            <a:endParaRPr lang="en-IN" sz="2400" dirty="0" smtClean="0">
              <a:latin typeface="Times New Roman" pitchFamily="18" charset="0"/>
              <a:cs typeface="Times New Roman" pitchFamily="18" charset="0"/>
            </a:endParaRPr>
          </a:p>
          <a:p>
            <a:pPr>
              <a:buNone/>
            </a:pPr>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IN" b="1" dirty="0" smtClean="0">
                <a:solidFill>
                  <a:srgbClr val="FF0000"/>
                </a:solidFill>
                <a:latin typeface="Times New Roman" pitchFamily="18" charset="0"/>
                <a:cs typeface="Times New Roman" pitchFamily="18" charset="0"/>
              </a:rPr>
              <a:t>Questions on UNIT-II</a:t>
            </a:r>
            <a:r>
              <a:rPr lang="en-IN" dirty="0" smtClean="0"/>
              <a:t/>
            </a:r>
            <a:br>
              <a:rPr lang="en-IN" dirty="0" smtClean="0"/>
            </a:br>
            <a:endParaRPr lang="en-IN" dirty="0"/>
          </a:p>
        </p:txBody>
      </p:sp>
      <p:sp>
        <p:nvSpPr>
          <p:cNvPr id="3" name="Content Placeholder 2"/>
          <p:cNvSpPr>
            <a:spLocks noGrp="1"/>
          </p:cNvSpPr>
          <p:nvPr>
            <p:ph idx="1"/>
          </p:nvPr>
        </p:nvSpPr>
        <p:spPr>
          <a:xfrm>
            <a:off x="381000" y="685800"/>
            <a:ext cx="8610600" cy="5867400"/>
          </a:xfrm>
        </p:spPr>
        <p:txBody>
          <a:bodyPr>
            <a:noAutofit/>
          </a:bodyPr>
          <a:lstStyle/>
          <a:p>
            <a:pPr lvl="0"/>
            <a:r>
              <a:rPr lang="en-IN" sz="1600" dirty="0" smtClean="0">
                <a:latin typeface="Times New Roman" pitchFamily="18" charset="0"/>
                <a:cs typeface="Times New Roman" pitchFamily="18" charset="0"/>
              </a:rPr>
              <a:t>What </a:t>
            </a:r>
            <a:r>
              <a:rPr lang="en-IN" sz="1600" dirty="0" smtClean="0">
                <a:latin typeface="Times New Roman" pitchFamily="18" charset="0"/>
                <a:cs typeface="Times New Roman" pitchFamily="18" charset="0"/>
              </a:rPr>
              <a:t>is Extreme Programming (XP) and when was it developed?</a:t>
            </a:r>
          </a:p>
          <a:p>
            <a:pPr lvl="0"/>
            <a:r>
              <a:rPr lang="en-IN" sz="1600" dirty="0" smtClean="0">
                <a:latin typeface="Times New Roman" pitchFamily="18" charset="0"/>
                <a:cs typeface="Times New Roman" pitchFamily="18" charset="0"/>
              </a:rPr>
              <a:t>Who is the primary creator of XP?</a:t>
            </a:r>
          </a:p>
          <a:p>
            <a:pPr lvl="0"/>
            <a:r>
              <a:rPr lang="en-IN" sz="1600" dirty="0" smtClean="0">
                <a:solidFill>
                  <a:srgbClr val="FF0000"/>
                </a:solidFill>
                <a:latin typeface="Times New Roman" pitchFamily="18" charset="0"/>
                <a:cs typeface="Times New Roman" pitchFamily="18" charset="0"/>
              </a:rPr>
              <a:t>In what types of projects is XP most effective?</a:t>
            </a:r>
          </a:p>
          <a:p>
            <a:pPr lvl="0"/>
            <a:r>
              <a:rPr lang="en-IN" sz="1600" dirty="0" smtClean="0">
                <a:latin typeface="Times New Roman" pitchFamily="18" charset="0"/>
                <a:cs typeface="Times New Roman" pitchFamily="18" charset="0"/>
              </a:rPr>
              <a:t>How does XP differ from other Agile methodologies?</a:t>
            </a:r>
          </a:p>
          <a:p>
            <a:pPr lvl="0"/>
            <a:r>
              <a:rPr lang="en-IN" sz="1600" dirty="0" smtClean="0">
                <a:latin typeface="Times New Roman" pitchFamily="18" charset="0"/>
                <a:cs typeface="Times New Roman" pitchFamily="18" charset="0"/>
              </a:rPr>
              <a:t>What problems in traditional software development does XP aim to solve?</a:t>
            </a:r>
          </a:p>
          <a:p>
            <a:pPr lvl="0"/>
            <a:r>
              <a:rPr lang="en-IN" sz="1600" dirty="0" smtClean="0">
                <a:solidFill>
                  <a:srgbClr val="FF0000"/>
                </a:solidFill>
                <a:latin typeface="Times New Roman" pitchFamily="18" charset="0"/>
                <a:cs typeface="Times New Roman" pitchFamily="18" charset="0"/>
              </a:rPr>
              <a:t>What are the five core values of XP?</a:t>
            </a:r>
          </a:p>
          <a:p>
            <a:pPr lvl="0"/>
            <a:r>
              <a:rPr lang="en-IN" sz="1600" dirty="0" smtClean="0">
                <a:latin typeface="Times New Roman" pitchFamily="18" charset="0"/>
                <a:cs typeface="Times New Roman" pitchFamily="18" charset="0"/>
              </a:rPr>
              <a:t>How does the value of </a:t>
            </a:r>
            <a:r>
              <a:rPr lang="en-IN" sz="1600" b="1" dirty="0" smtClean="0">
                <a:latin typeface="Times New Roman" pitchFamily="18" charset="0"/>
                <a:cs typeface="Times New Roman" pitchFamily="18" charset="0"/>
              </a:rPr>
              <a:t>Communication</a:t>
            </a:r>
            <a:r>
              <a:rPr lang="en-IN" sz="1600" dirty="0" smtClean="0">
                <a:latin typeface="Times New Roman" pitchFamily="18" charset="0"/>
                <a:cs typeface="Times New Roman" pitchFamily="18" charset="0"/>
              </a:rPr>
              <a:t> impact XP practices?</a:t>
            </a:r>
          </a:p>
          <a:p>
            <a:pPr lvl="0"/>
            <a:r>
              <a:rPr lang="en-IN" sz="1600" dirty="0" smtClean="0">
                <a:latin typeface="Times New Roman" pitchFamily="18" charset="0"/>
                <a:cs typeface="Times New Roman" pitchFamily="18" charset="0"/>
              </a:rPr>
              <a:t>Why is </a:t>
            </a:r>
            <a:r>
              <a:rPr lang="en-IN" sz="1600" b="1" dirty="0" smtClean="0">
                <a:latin typeface="Times New Roman" pitchFamily="18" charset="0"/>
                <a:cs typeface="Times New Roman" pitchFamily="18" charset="0"/>
              </a:rPr>
              <a:t>Simplicity</a:t>
            </a:r>
            <a:r>
              <a:rPr lang="en-IN" sz="1600" dirty="0" smtClean="0">
                <a:latin typeface="Times New Roman" pitchFamily="18" charset="0"/>
                <a:cs typeface="Times New Roman" pitchFamily="18" charset="0"/>
              </a:rPr>
              <a:t> emphasized in XP?</a:t>
            </a:r>
          </a:p>
          <a:p>
            <a:pPr lvl="0"/>
            <a:r>
              <a:rPr lang="en-IN" sz="1600" dirty="0" smtClean="0">
                <a:latin typeface="Times New Roman" pitchFamily="18" charset="0"/>
                <a:cs typeface="Times New Roman" pitchFamily="18" charset="0"/>
              </a:rPr>
              <a:t>How do </a:t>
            </a:r>
            <a:r>
              <a:rPr lang="en-IN" sz="1600" b="1" dirty="0" smtClean="0">
                <a:latin typeface="Times New Roman" pitchFamily="18" charset="0"/>
                <a:cs typeface="Times New Roman" pitchFamily="18" charset="0"/>
              </a:rPr>
              <a:t>Feedback</a:t>
            </a:r>
            <a:r>
              <a:rPr lang="en-IN" sz="1600" dirty="0" smtClean="0">
                <a:latin typeface="Times New Roman" pitchFamily="18" charset="0"/>
                <a:cs typeface="Times New Roman" pitchFamily="18" charset="0"/>
              </a:rPr>
              <a:t> and </a:t>
            </a:r>
            <a:r>
              <a:rPr lang="en-IN" sz="1600" b="1" dirty="0" smtClean="0">
                <a:latin typeface="Times New Roman" pitchFamily="18" charset="0"/>
                <a:cs typeface="Times New Roman" pitchFamily="18" charset="0"/>
              </a:rPr>
              <a:t>Courage</a:t>
            </a:r>
            <a:r>
              <a:rPr lang="en-IN" sz="1600" dirty="0" smtClean="0">
                <a:latin typeface="Times New Roman" pitchFamily="18" charset="0"/>
                <a:cs typeface="Times New Roman" pitchFamily="18" charset="0"/>
              </a:rPr>
              <a:t> contribute to project success in XP?</a:t>
            </a:r>
          </a:p>
          <a:p>
            <a:pPr lvl="0"/>
            <a:r>
              <a:rPr lang="en-IN" sz="1600" dirty="0" smtClean="0">
                <a:latin typeface="Times New Roman" pitchFamily="18" charset="0"/>
                <a:cs typeface="Times New Roman" pitchFamily="18" charset="0"/>
              </a:rPr>
              <a:t>Explain how </a:t>
            </a:r>
            <a:r>
              <a:rPr lang="en-IN" sz="1600" b="1" dirty="0" smtClean="0">
                <a:latin typeface="Times New Roman" pitchFamily="18" charset="0"/>
                <a:cs typeface="Times New Roman" pitchFamily="18" charset="0"/>
              </a:rPr>
              <a:t>Respect</a:t>
            </a:r>
            <a:r>
              <a:rPr lang="en-IN" sz="1600" dirty="0" smtClean="0">
                <a:latin typeface="Times New Roman" pitchFamily="18" charset="0"/>
                <a:cs typeface="Times New Roman" pitchFamily="18" charset="0"/>
              </a:rPr>
              <a:t> among team members supports the XP process.</a:t>
            </a:r>
          </a:p>
          <a:p>
            <a:pPr lvl="0"/>
            <a:r>
              <a:rPr lang="en-IN" sz="1600" dirty="0" smtClean="0">
                <a:solidFill>
                  <a:srgbClr val="FF0000"/>
                </a:solidFill>
                <a:latin typeface="Times New Roman" pitchFamily="18" charset="0"/>
                <a:cs typeface="Times New Roman" pitchFamily="18" charset="0"/>
              </a:rPr>
              <a:t>What are the twelve practices in Extreme Programming?</a:t>
            </a:r>
          </a:p>
          <a:p>
            <a:pPr lvl="0"/>
            <a:r>
              <a:rPr lang="en-IN" sz="1600" dirty="0" smtClean="0">
                <a:solidFill>
                  <a:srgbClr val="FF0000"/>
                </a:solidFill>
                <a:latin typeface="Times New Roman" pitchFamily="18" charset="0"/>
                <a:cs typeface="Times New Roman" pitchFamily="18" charset="0"/>
              </a:rPr>
              <a:t>Explain the concept of </a:t>
            </a:r>
            <a:r>
              <a:rPr lang="en-IN" sz="1600" b="1" dirty="0" smtClean="0">
                <a:solidFill>
                  <a:srgbClr val="FF0000"/>
                </a:solidFill>
                <a:latin typeface="Times New Roman" pitchFamily="18" charset="0"/>
                <a:cs typeface="Times New Roman" pitchFamily="18" charset="0"/>
              </a:rPr>
              <a:t>Pair </a:t>
            </a:r>
            <a:r>
              <a:rPr lang="en-IN" sz="1600" b="1" dirty="0" smtClean="0">
                <a:solidFill>
                  <a:srgbClr val="FF0000"/>
                </a:solidFill>
                <a:latin typeface="Times New Roman" pitchFamily="18" charset="0"/>
                <a:cs typeface="Times New Roman" pitchFamily="18" charset="0"/>
              </a:rPr>
              <a:t>Programming</a:t>
            </a:r>
            <a:r>
              <a:rPr lang="en-IN" sz="1600" dirty="0" smtClean="0">
                <a:solidFill>
                  <a:srgbClr val="FF0000"/>
                </a:solidFill>
                <a:latin typeface="Times New Roman" pitchFamily="18" charset="0"/>
                <a:cs typeface="Times New Roman" pitchFamily="18" charset="0"/>
              </a:rPr>
              <a:t> with a work flow.</a:t>
            </a:r>
            <a:endParaRPr lang="en-IN" sz="1600" dirty="0" smtClean="0">
              <a:solidFill>
                <a:srgbClr val="FF0000"/>
              </a:solidFill>
              <a:latin typeface="Times New Roman" pitchFamily="18" charset="0"/>
              <a:cs typeface="Times New Roman" pitchFamily="18" charset="0"/>
            </a:endParaRPr>
          </a:p>
          <a:p>
            <a:pPr lvl="0"/>
            <a:r>
              <a:rPr lang="en-IN" sz="1600" dirty="0" smtClean="0">
                <a:solidFill>
                  <a:srgbClr val="FF0000"/>
                </a:solidFill>
                <a:latin typeface="Times New Roman" pitchFamily="18" charset="0"/>
                <a:cs typeface="Times New Roman" pitchFamily="18" charset="0"/>
              </a:rPr>
              <a:t>How does </a:t>
            </a:r>
            <a:r>
              <a:rPr lang="en-IN" sz="1600" b="1" dirty="0" smtClean="0">
                <a:solidFill>
                  <a:srgbClr val="FF0000"/>
                </a:solidFill>
                <a:latin typeface="Times New Roman" pitchFamily="18" charset="0"/>
                <a:cs typeface="Times New Roman" pitchFamily="18" charset="0"/>
              </a:rPr>
              <a:t>Test-First Development (TDD)</a:t>
            </a:r>
            <a:r>
              <a:rPr lang="en-IN" sz="1600" dirty="0" smtClean="0">
                <a:solidFill>
                  <a:srgbClr val="FF0000"/>
                </a:solidFill>
                <a:latin typeface="Times New Roman" pitchFamily="18" charset="0"/>
                <a:cs typeface="Times New Roman" pitchFamily="18" charset="0"/>
              </a:rPr>
              <a:t> improve code quality?</a:t>
            </a:r>
          </a:p>
          <a:p>
            <a:pPr lvl="0"/>
            <a:r>
              <a:rPr lang="en-IN" sz="1600" dirty="0" smtClean="0">
                <a:latin typeface="Times New Roman" pitchFamily="18" charset="0"/>
                <a:cs typeface="Times New Roman" pitchFamily="18" charset="0"/>
              </a:rPr>
              <a:t>What is </a:t>
            </a:r>
            <a:r>
              <a:rPr lang="en-IN" sz="1600" b="1" dirty="0" smtClean="0">
                <a:latin typeface="Times New Roman" pitchFamily="18" charset="0"/>
                <a:cs typeface="Times New Roman" pitchFamily="18" charset="0"/>
              </a:rPr>
              <a:t>Continuous Integration</a:t>
            </a:r>
            <a:r>
              <a:rPr lang="en-IN" sz="1600" dirty="0" smtClean="0">
                <a:latin typeface="Times New Roman" pitchFamily="18" charset="0"/>
                <a:cs typeface="Times New Roman" pitchFamily="18" charset="0"/>
              </a:rPr>
              <a:t>, and why is it essential in XP?</a:t>
            </a:r>
          </a:p>
          <a:p>
            <a:pPr lvl="0"/>
            <a:r>
              <a:rPr lang="en-IN" sz="1600" dirty="0" smtClean="0">
                <a:solidFill>
                  <a:srgbClr val="FF0000"/>
                </a:solidFill>
                <a:latin typeface="Times New Roman" pitchFamily="18" charset="0"/>
                <a:cs typeface="Times New Roman" pitchFamily="18" charset="0"/>
              </a:rPr>
              <a:t>Describe the importance of </a:t>
            </a:r>
            <a:r>
              <a:rPr lang="en-IN" sz="1600" b="1" dirty="0" smtClean="0">
                <a:solidFill>
                  <a:srgbClr val="FF0000"/>
                </a:solidFill>
                <a:latin typeface="Times New Roman" pitchFamily="18" charset="0"/>
                <a:cs typeface="Times New Roman" pitchFamily="18" charset="0"/>
              </a:rPr>
              <a:t>Collective Code Ownership</a:t>
            </a:r>
            <a:r>
              <a:rPr lang="en-IN" sz="1600" dirty="0" smtClean="0">
                <a:solidFill>
                  <a:srgbClr val="FF0000"/>
                </a:solidFill>
                <a:latin typeface="Times New Roman" pitchFamily="18" charset="0"/>
                <a:cs typeface="Times New Roman" pitchFamily="18" charset="0"/>
              </a:rPr>
              <a:t>.</a:t>
            </a:r>
          </a:p>
          <a:p>
            <a:pPr lvl="0"/>
            <a:r>
              <a:rPr lang="en-IN" sz="1600" dirty="0" smtClean="0">
                <a:latin typeface="Times New Roman" pitchFamily="18" charset="0"/>
                <a:cs typeface="Times New Roman" pitchFamily="18" charset="0"/>
              </a:rPr>
              <a:t>How does </a:t>
            </a:r>
            <a:r>
              <a:rPr lang="en-IN" sz="1600" b="1" dirty="0" smtClean="0">
                <a:latin typeface="Times New Roman" pitchFamily="18" charset="0"/>
                <a:cs typeface="Times New Roman" pitchFamily="18" charset="0"/>
              </a:rPr>
              <a:t>40-Hour Week</a:t>
            </a:r>
            <a:r>
              <a:rPr lang="en-IN" sz="1600" dirty="0" smtClean="0">
                <a:latin typeface="Times New Roman" pitchFamily="18" charset="0"/>
                <a:cs typeface="Times New Roman" pitchFamily="18" charset="0"/>
              </a:rPr>
              <a:t> relate to sustainable development?</a:t>
            </a:r>
          </a:p>
          <a:p>
            <a:pPr lvl="0"/>
            <a:r>
              <a:rPr lang="en-IN" sz="1600" dirty="0" smtClean="0">
                <a:latin typeface="Times New Roman" pitchFamily="18" charset="0"/>
                <a:cs typeface="Times New Roman" pitchFamily="18" charset="0"/>
              </a:rPr>
              <a:t>What is the purpose of </a:t>
            </a:r>
            <a:r>
              <a:rPr lang="en-IN" sz="1600" b="1" dirty="0" smtClean="0">
                <a:latin typeface="Times New Roman" pitchFamily="18" charset="0"/>
                <a:cs typeface="Times New Roman" pitchFamily="18" charset="0"/>
              </a:rPr>
              <a:t>Metaphor</a:t>
            </a:r>
            <a:r>
              <a:rPr lang="en-IN" sz="1600" dirty="0" smtClean="0">
                <a:latin typeface="Times New Roman" pitchFamily="18" charset="0"/>
                <a:cs typeface="Times New Roman" pitchFamily="18" charset="0"/>
              </a:rPr>
              <a:t> in XP?</a:t>
            </a:r>
          </a:p>
          <a:p>
            <a:pPr lvl="0"/>
            <a:r>
              <a:rPr lang="en-IN" sz="1600" dirty="0" smtClean="0">
                <a:solidFill>
                  <a:srgbClr val="FF0000"/>
                </a:solidFill>
                <a:latin typeface="Times New Roman" pitchFamily="18" charset="0"/>
                <a:cs typeface="Times New Roman" pitchFamily="18" charset="0"/>
              </a:rPr>
              <a:t>How does </a:t>
            </a:r>
            <a:r>
              <a:rPr lang="en-IN" sz="1600" b="1" dirty="0" smtClean="0">
                <a:solidFill>
                  <a:srgbClr val="FF0000"/>
                </a:solidFill>
                <a:latin typeface="Times New Roman" pitchFamily="18" charset="0"/>
                <a:cs typeface="Times New Roman" pitchFamily="18" charset="0"/>
              </a:rPr>
              <a:t>Refactoring</a:t>
            </a:r>
            <a:r>
              <a:rPr lang="en-IN" sz="1600" dirty="0" smtClean="0">
                <a:solidFill>
                  <a:srgbClr val="FF0000"/>
                </a:solidFill>
                <a:latin typeface="Times New Roman" pitchFamily="18" charset="0"/>
                <a:cs typeface="Times New Roman" pitchFamily="18" charset="0"/>
              </a:rPr>
              <a:t> contribute to code quality in XP?</a:t>
            </a:r>
          </a:p>
          <a:p>
            <a:pPr lvl="0"/>
            <a:r>
              <a:rPr lang="en-IN" sz="1600" dirty="0" smtClean="0">
                <a:latin typeface="Times New Roman" pitchFamily="18" charset="0"/>
                <a:cs typeface="Times New Roman" pitchFamily="18" charset="0"/>
              </a:rPr>
              <a:t>What are the main goals of Extreme Programming?</a:t>
            </a:r>
          </a:p>
          <a:p>
            <a:r>
              <a:rPr lang="en-IN" sz="1600" dirty="0" smtClean="0">
                <a:latin typeface="Times New Roman" pitchFamily="18" charset="0"/>
                <a:cs typeface="Times New Roman" pitchFamily="18" charset="0"/>
              </a:rPr>
              <a:t>How does XP handle rapidly changing customer requirement</a:t>
            </a:r>
            <a:endParaRPr lang="en-IN" sz="1600" dirty="0">
              <a:latin typeface="Times New Roman" pitchFamily="18" charset="0"/>
              <a:cs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62500" lnSpcReduction="20000"/>
          </a:bodyPr>
          <a:lstStyle/>
          <a:p>
            <a:pPr lvl="0"/>
            <a:r>
              <a:rPr lang="en-IN" dirty="0" smtClean="0">
                <a:solidFill>
                  <a:srgbClr val="FF0000"/>
                </a:solidFill>
                <a:latin typeface="Times New Roman" pitchFamily="18" charset="0"/>
                <a:cs typeface="Times New Roman" pitchFamily="18" charset="0"/>
              </a:rPr>
              <a:t>What are the typical roles in an XP team?</a:t>
            </a:r>
          </a:p>
          <a:p>
            <a:pPr lvl="0"/>
            <a:r>
              <a:rPr lang="en-IN" dirty="0" smtClean="0">
                <a:latin typeface="Times New Roman" pitchFamily="18" charset="0"/>
                <a:cs typeface="Times New Roman" pitchFamily="18" charset="0"/>
              </a:rPr>
              <a:t>How is customer involvement ensured in XP?</a:t>
            </a:r>
          </a:p>
          <a:p>
            <a:pPr lvl="0"/>
            <a:r>
              <a:rPr lang="en-IN" dirty="0" smtClean="0">
                <a:latin typeface="Times New Roman" pitchFamily="18" charset="0"/>
                <a:cs typeface="Times New Roman" pitchFamily="18" charset="0"/>
              </a:rPr>
              <a:t>What are some limitations or criticisms of XP?</a:t>
            </a:r>
          </a:p>
          <a:p>
            <a:pPr lvl="0"/>
            <a:r>
              <a:rPr lang="en-IN" dirty="0" smtClean="0">
                <a:solidFill>
                  <a:srgbClr val="FF0000"/>
                </a:solidFill>
                <a:latin typeface="Times New Roman" pitchFamily="18" charset="0"/>
                <a:cs typeface="Times New Roman" pitchFamily="18" charset="0"/>
              </a:rPr>
              <a:t>What is the role of </a:t>
            </a:r>
            <a:r>
              <a:rPr lang="en-IN" b="1" dirty="0" smtClean="0">
                <a:solidFill>
                  <a:srgbClr val="FF0000"/>
                </a:solidFill>
                <a:latin typeface="Times New Roman" pitchFamily="18" charset="0"/>
                <a:cs typeface="Times New Roman" pitchFamily="18" charset="0"/>
              </a:rPr>
              <a:t>User Stories</a:t>
            </a:r>
            <a:r>
              <a:rPr lang="en-IN" dirty="0" smtClean="0">
                <a:solidFill>
                  <a:srgbClr val="FF0000"/>
                </a:solidFill>
                <a:latin typeface="Times New Roman" pitchFamily="18" charset="0"/>
                <a:cs typeface="Times New Roman" pitchFamily="18" charset="0"/>
              </a:rPr>
              <a:t> in XP planning?</a:t>
            </a:r>
          </a:p>
          <a:p>
            <a:pPr lvl="0"/>
            <a:r>
              <a:rPr lang="en-IN" dirty="0" smtClean="0">
                <a:latin typeface="Times New Roman" pitchFamily="18" charset="0"/>
                <a:cs typeface="Times New Roman" pitchFamily="18" charset="0"/>
              </a:rPr>
              <a:t>How are release plans and iteration plans created in XP?</a:t>
            </a:r>
          </a:p>
          <a:p>
            <a:pPr lvl="0"/>
            <a:r>
              <a:rPr lang="en-IN" dirty="0" smtClean="0">
                <a:solidFill>
                  <a:srgbClr val="FF0000"/>
                </a:solidFill>
                <a:latin typeface="Times New Roman" pitchFamily="18" charset="0"/>
                <a:cs typeface="Times New Roman" pitchFamily="18" charset="0"/>
              </a:rPr>
              <a:t>What is </a:t>
            </a:r>
            <a:r>
              <a:rPr lang="en-IN" b="1" dirty="0" smtClean="0">
                <a:solidFill>
                  <a:srgbClr val="FF0000"/>
                </a:solidFill>
                <a:latin typeface="Times New Roman" pitchFamily="18" charset="0"/>
                <a:cs typeface="Times New Roman" pitchFamily="18" charset="0"/>
              </a:rPr>
              <a:t>Velocity</a:t>
            </a:r>
            <a:r>
              <a:rPr lang="en-IN" dirty="0" smtClean="0">
                <a:solidFill>
                  <a:srgbClr val="FF0000"/>
                </a:solidFill>
                <a:latin typeface="Times New Roman" pitchFamily="18" charset="0"/>
                <a:cs typeface="Times New Roman" pitchFamily="18" charset="0"/>
              </a:rPr>
              <a:t> in XP and how is it used?</a:t>
            </a:r>
          </a:p>
          <a:p>
            <a:pPr lvl="0"/>
            <a:r>
              <a:rPr lang="en-IN" dirty="0" smtClean="0">
                <a:solidFill>
                  <a:srgbClr val="FF0000"/>
                </a:solidFill>
                <a:latin typeface="Times New Roman" pitchFamily="18" charset="0"/>
                <a:cs typeface="Times New Roman" pitchFamily="18" charset="0"/>
              </a:rPr>
              <a:t>Describe the concept of </a:t>
            </a:r>
            <a:r>
              <a:rPr lang="en-IN" b="1" dirty="0" smtClean="0">
                <a:solidFill>
                  <a:srgbClr val="FF0000"/>
                </a:solidFill>
                <a:latin typeface="Times New Roman" pitchFamily="18" charset="0"/>
                <a:cs typeface="Times New Roman" pitchFamily="18" charset="0"/>
              </a:rPr>
              <a:t>Planning Game</a:t>
            </a:r>
            <a:r>
              <a:rPr lang="en-IN" dirty="0" smtClean="0">
                <a:solidFill>
                  <a:srgbClr val="FF0000"/>
                </a:solidFill>
                <a:latin typeface="Times New Roman" pitchFamily="18" charset="0"/>
                <a:cs typeface="Times New Roman" pitchFamily="18" charset="0"/>
              </a:rPr>
              <a:t> in XP.</a:t>
            </a:r>
          </a:p>
          <a:p>
            <a:pPr lvl="0"/>
            <a:r>
              <a:rPr lang="en-IN" dirty="0" smtClean="0">
                <a:latin typeface="Times New Roman" pitchFamily="18" charset="0"/>
                <a:cs typeface="Times New Roman" pitchFamily="18" charset="0"/>
              </a:rPr>
              <a:t>How are priorities set in XP project planning</a:t>
            </a:r>
          </a:p>
          <a:p>
            <a:pPr lvl="0"/>
            <a:r>
              <a:rPr lang="en-IN" dirty="0" smtClean="0">
                <a:solidFill>
                  <a:srgbClr val="FF0000"/>
                </a:solidFill>
                <a:latin typeface="Times New Roman" pitchFamily="18" charset="0"/>
                <a:cs typeface="Times New Roman" pitchFamily="18" charset="0"/>
              </a:rPr>
              <a:t>What is </a:t>
            </a:r>
            <a:r>
              <a:rPr lang="en-IN" b="1" dirty="0" smtClean="0">
                <a:solidFill>
                  <a:srgbClr val="FF0000"/>
                </a:solidFill>
                <a:latin typeface="Times New Roman" pitchFamily="18" charset="0"/>
                <a:cs typeface="Times New Roman" pitchFamily="18" charset="0"/>
              </a:rPr>
              <a:t>Test-First Coding</a:t>
            </a:r>
            <a:r>
              <a:rPr lang="en-IN" dirty="0" smtClean="0">
                <a:solidFill>
                  <a:srgbClr val="FF0000"/>
                </a:solidFill>
                <a:latin typeface="Times New Roman" pitchFamily="18" charset="0"/>
                <a:cs typeface="Times New Roman" pitchFamily="18" charset="0"/>
              </a:rPr>
              <a:t> or </a:t>
            </a:r>
            <a:r>
              <a:rPr lang="en-IN" b="1" dirty="0" smtClean="0">
                <a:solidFill>
                  <a:srgbClr val="FF0000"/>
                </a:solidFill>
                <a:latin typeface="Times New Roman" pitchFamily="18" charset="0"/>
                <a:cs typeface="Times New Roman" pitchFamily="18" charset="0"/>
              </a:rPr>
              <a:t>Test-Driven Development (TDD)</a:t>
            </a:r>
            <a:r>
              <a:rPr lang="en-IN" dirty="0" smtClean="0">
                <a:solidFill>
                  <a:srgbClr val="FF0000"/>
                </a:solidFill>
                <a:latin typeface="Times New Roman" pitchFamily="18" charset="0"/>
                <a:cs typeface="Times New Roman" pitchFamily="18" charset="0"/>
              </a:rPr>
              <a:t> in XP?</a:t>
            </a:r>
          </a:p>
          <a:p>
            <a:pPr lvl="0"/>
            <a:r>
              <a:rPr lang="en-IN" dirty="0" smtClean="0">
                <a:latin typeface="Times New Roman" pitchFamily="18" charset="0"/>
                <a:cs typeface="Times New Roman" pitchFamily="18" charset="0"/>
              </a:rPr>
              <a:t>How does writing tests before code benefit the development process?</a:t>
            </a:r>
          </a:p>
          <a:p>
            <a:pPr lvl="0"/>
            <a:r>
              <a:rPr lang="en-IN" dirty="0" smtClean="0">
                <a:solidFill>
                  <a:srgbClr val="FF0000"/>
                </a:solidFill>
                <a:latin typeface="Times New Roman" pitchFamily="18" charset="0"/>
                <a:cs typeface="Times New Roman" pitchFamily="18" charset="0"/>
              </a:rPr>
              <a:t>What are the steps involved in TDD?</a:t>
            </a:r>
          </a:p>
          <a:p>
            <a:pPr lvl="0"/>
            <a:r>
              <a:rPr lang="en-IN" dirty="0" smtClean="0">
                <a:latin typeface="Times New Roman" pitchFamily="18" charset="0"/>
                <a:cs typeface="Times New Roman" pitchFamily="18" charset="0"/>
              </a:rPr>
              <a:t>How do developers handle test failures in Test-First Coding?</a:t>
            </a:r>
          </a:p>
          <a:p>
            <a:pPr lvl="0"/>
            <a:r>
              <a:rPr lang="en-IN" dirty="0" smtClean="0">
                <a:solidFill>
                  <a:srgbClr val="FF0000"/>
                </a:solidFill>
                <a:latin typeface="Times New Roman" pitchFamily="18" charset="0"/>
                <a:cs typeface="Times New Roman" pitchFamily="18" charset="0"/>
              </a:rPr>
              <a:t>What is the difference between unit tests and acceptance tests in XP?</a:t>
            </a:r>
          </a:p>
          <a:p>
            <a:pPr lvl="0"/>
            <a:r>
              <a:rPr lang="en-IN" dirty="0" smtClean="0">
                <a:latin typeface="Times New Roman" pitchFamily="18" charset="0"/>
                <a:cs typeface="Times New Roman" pitchFamily="18" charset="0"/>
              </a:rPr>
              <a:t>What is Pair Programming and how is it implemented in XP?</a:t>
            </a:r>
          </a:p>
          <a:p>
            <a:pPr lvl="0"/>
            <a:r>
              <a:rPr lang="en-IN" dirty="0" smtClean="0">
                <a:solidFill>
                  <a:srgbClr val="FF0000"/>
                </a:solidFill>
                <a:latin typeface="Times New Roman" pitchFamily="18" charset="0"/>
                <a:cs typeface="Times New Roman" pitchFamily="18" charset="0"/>
              </a:rPr>
              <a:t>What are the roles of the </a:t>
            </a:r>
            <a:r>
              <a:rPr lang="en-IN" b="1" dirty="0" smtClean="0">
                <a:solidFill>
                  <a:srgbClr val="FF0000"/>
                </a:solidFill>
                <a:latin typeface="Times New Roman" pitchFamily="18" charset="0"/>
                <a:cs typeface="Times New Roman" pitchFamily="18" charset="0"/>
              </a:rPr>
              <a:t>Driver</a:t>
            </a:r>
            <a:r>
              <a:rPr lang="en-IN" dirty="0" smtClean="0">
                <a:solidFill>
                  <a:srgbClr val="FF0000"/>
                </a:solidFill>
                <a:latin typeface="Times New Roman" pitchFamily="18" charset="0"/>
                <a:cs typeface="Times New Roman" pitchFamily="18" charset="0"/>
              </a:rPr>
              <a:t> and </a:t>
            </a:r>
            <a:r>
              <a:rPr lang="en-IN" b="1" dirty="0" smtClean="0">
                <a:solidFill>
                  <a:srgbClr val="FF0000"/>
                </a:solidFill>
                <a:latin typeface="Times New Roman" pitchFamily="18" charset="0"/>
                <a:cs typeface="Times New Roman" pitchFamily="18" charset="0"/>
              </a:rPr>
              <a:t>Navigator</a:t>
            </a:r>
            <a:r>
              <a:rPr lang="en-IN" dirty="0" smtClean="0">
                <a:solidFill>
                  <a:srgbClr val="FF0000"/>
                </a:solidFill>
                <a:latin typeface="Times New Roman" pitchFamily="18" charset="0"/>
                <a:cs typeface="Times New Roman" pitchFamily="18" charset="0"/>
              </a:rPr>
              <a:t> in Pair Programming?</a:t>
            </a:r>
          </a:p>
          <a:p>
            <a:pPr lvl="0"/>
            <a:r>
              <a:rPr lang="en-IN" dirty="0" smtClean="0">
                <a:latin typeface="Times New Roman" pitchFamily="18" charset="0"/>
                <a:cs typeface="Times New Roman" pitchFamily="18" charset="0"/>
              </a:rPr>
              <a:t>What are the benefits of Pair Programming?</a:t>
            </a:r>
          </a:p>
          <a:p>
            <a:pPr lvl="0"/>
            <a:r>
              <a:rPr lang="en-IN" dirty="0" smtClean="0">
                <a:latin typeface="Times New Roman" pitchFamily="18" charset="0"/>
                <a:cs typeface="Times New Roman" pitchFamily="18" charset="0"/>
              </a:rPr>
              <a:t>What challenges might teams face with Pair Programming?</a:t>
            </a:r>
          </a:p>
          <a:p>
            <a:pPr lvl="0"/>
            <a:r>
              <a:rPr lang="en-IN" dirty="0" smtClean="0">
                <a:latin typeface="Times New Roman" pitchFamily="18" charset="0"/>
                <a:cs typeface="Times New Roman" pitchFamily="18" charset="0"/>
              </a:rPr>
              <a:t>How can teams ensure effective communication during Pair Programming?</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TotalTime>
  <Words>6813</Words>
  <Application>Microsoft Office PowerPoint</Application>
  <PresentationFormat>On-screen Show (4:3)</PresentationFormat>
  <Paragraphs>319</Paragraphs>
  <Slides>57</Slides>
  <Notes>0</Notes>
  <HiddenSlides>0</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Office Theme</vt:lpstr>
      <vt:lpstr>UNIT-II</vt:lpstr>
      <vt:lpstr>UNIT - II  </vt:lpstr>
      <vt:lpstr>Extreme Programming (XP) </vt:lpstr>
      <vt:lpstr>Core XP Values </vt:lpstr>
      <vt:lpstr>Communication </vt:lpstr>
      <vt:lpstr>Simplicity </vt:lpstr>
      <vt:lpstr>Feedback </vt:lpstr>
      <vt:lpstr>Courage </vt:lpstr>
      <vt:lpstr>User stories are developed any time by customers, but particularly during the planning game–a process which occurs at the start of an XP project. A user story is a description in the customers’ own words, describing what the system needs to do. Conceptually, they are written by the customers, although in practise a developer may write down what a customer tells them Each user story has a name, a short paragraph describing the purpose of the story, an estimate of how long it will take to implement (which may be “we don’t know”), and a relative importance (such as “must have,” “should have” and “niceto have”). Note that it is customers, however, who can validate (and reject) stories and not developers. </vt:lpstr>
      <vt:lpstr>The Twelve XP Practices </vt:lpstr>
      <vt:lpstr>The 12 practices are: </vt:lpstr>
      <vt:lpstr>Slide 12</vt:lpstr>
      <vt:lpstr>What is So Extreme About Extreme Programming? </vt:lpstr>
      <vt:lpstr>Slide 14</vt:lpstr>
      <vt:lpstr>Planning an XP Project </vt:lpstr>
      <vt:lpstr>Agile Influences on Planning an XP Project </vt:lpstr>
      <vt:lpstr>Slide 17</vt:lpstr>
      <vt:lpstr>The Planning Game in Detail </vt:lpstr>
      <vt:lpstr>Slide 19</vt:lpstr>
      <vt:lpstr>Slide 20</vt:lpstr>
      <vt:lpstr>Planning XP Projects </vt:lpstr>
      <vt:lpstr>Slide 22</vt:lpstr>
      <vt:lpstr>Slide 23</vt:lpstr>
      <vt:lpstr>4.The Game Pieces </vt:lpstr>
      <vt:lpstr>5.The Moves/Playing the Game </vt:lpstr>
      <vt:lpstr>Slide 26</vt:lpstr>
      <vt:lpstr>Steering Phase </vt:lpstr>
      <vt:lpstr>Planning Your XP Project </vt:lpstr>
      <vt:lpstr>Slide 29</vt:lpstr>
      <vt:lpstr>Slide 30</vt:lpstr>
      <vt:lpstr>Slide 31</vt:lpstr>
      <vt:lpstr>Slide 32</vt:lpstr>
      <vt:lpstr>Test First Coding </vt:lpstr>
      <vt:lpstr>Slide 34</vt:lpstr>
      <vt:lpstr>Slide 35</vt:lpstr>
      <vt:lpstr>Slide 36</vt:lpstr>
      <vt:lpstr>Slide 37</vt:lpstr>
      <vt:lpstr>Slide 38</vt:lpstr>
      <vt:lpstr>Slide 39</vt:lpstr>
      <vt:lpstr>Slide 40</vt:lpstr>
      <vt:lpstr>Slide 41</vt:lpstr>
      <vt:lpstr>Slide 42</vt:lpstr>
      <vt:lpstr>Slide 43</vt:lpstr>
      <vt:lpstr>What to Test? </vt:lpstr>
      <vt:lpstr>Slide 45</vt:lpstr>
      <vt:lpstr>Making Pair Programming Work </vt:lpstr>
      <vt:lpstr>Slide 47</vt:lpstr>
      <vt:lpstr>Slide 48</vt:lpstr>
      <vt:lpstr>Whilst there are no hard and fast rules to how to do this, there are things that can help:</vt:lpstr>
      <vt:lpstr>Slide 50</vt:lpstr>
      <vt:lpstr>Slide 51</vt:lpstr>
      <vt:lpstr>Slide 52</vt:lpstr>
      <vt:lpstr>Slide 53</vt:lpstr>
      <vt:lpstr>Slide 54</vt:lpstr>
      <vt:lpstr>Slide 55</vt:lpstr>
      <vt:lpstr>Questions on UNIT-II </vt:lpstr>
      <vt:lpstr>Slide 57</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dc:title>
  <dc:creator>Admin</dc:creator>
  <cp:lastModifiedBy>Preethi</cp:lastModifiedBy>
  <cp:revision>32</cp:revision>
  <dcterms:created xsi:type="dcterms:W3CDTF">2006-08-16T00:00:00Z</dcterms:created>
  <dcterms:modified xsi:type="dcterms:W3CDTF">2025-09-01T04:36:15Z</dcterms:modified>
</cp:coreProperties>
</file>