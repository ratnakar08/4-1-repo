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64" r:id="rId6"/>
    <p:sldId id="259" r:id="rId7"/>
    <p:sldId id="260" r:id="rId8"/>
    <p:sldId id="261" r:id="rId9"/>
    <p:sldId id="262"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solidFill>
                  <a:srgbClr val="FF0000"/>
                </a:solidFill>
                <a:latin typeface="Times New Roman" pitchFamily="18" charset="0"/>
                <a:cs typeface="Times New Roman" pitchFamily="18" charset="0"/>
              </a:rPr>
              <a:t>UNIT - III</a:t>
            </a:r>
            <a:endParaRPr lang="en-IN" dirty="0">
              <a:solidFill>
                <a:srgbClr val="FF0000"/>
              </a:solidFill>
            </a:endParaRPr>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FF0000"/>
                </a:solidFill>
                <a:latin typeface="Times New Roman" pitchFamily="18" charset="0"/>
                <a:cs typeface="Times New Roman" pitchFamily="18" charset="0"/>
              </a:rPr>
              <a:t>UNIT - III</a:t>
            </a:r>
            <a:r>
              <a:rPr lang="en-IN" dirty="0" smtClean="0">
                <a:solidFill>
                  <a:srgbClr val="FF0000"/>
                </a:solidFill>
                <a:latin typeface="Times New Roman" pitchFamily="18" charset="0"/>
                <a:cs typeface="Times New Roman" pitchFamily="18" charset="0"/>
              </a:rPr>
              <a:t> </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Agile Modelling and XP: Introduction</a:t>
            </a:r>
          </a:p>
          <a:p>
            <a:pPr>
              <a:buNone/>
            </a:pPr>
            <a:r>
              <a:rPr lang="en-IN" dirty="0" smtClean="0">
                <a:latin typeface="Times New Roman" pitchFamily="18" charset="0"/>
                <a:cs typeface="Times New Roman" pitchFamily="18" charset="0"/>
              </a:rPr>
              <a:t>The Fit</a:t>
            </a:r>
          </a:p>
          <a:p>
            <a:pPr>
              <a:buNone/>
            </a:pPr>
            <a:r>
              <a:rPr lang="en-IN" dirty="0" smtClean="0">
                <a:latin typeface="Times New Roman" pitchFamily="18" charset="0"/>
                <a:cs typeface="Times New Roman" pitchFamily="18" charset="0"/>
              </a:rPr>
              <a:t>Common Practices</a:t>
            </a:r>
          </a:p>
          <a:p>
            <a:pPr>
              <a:buNone/>
            </a:pPr>
            <a:r>
              <a:rPr lang="en-IN" dirty="0" smtClean="0">
                <a:latin typeface="Times New Roman" pitchFamily="18" charset="0"/>
                <a:cs typeface="Times New Roman" pitchFamily="18" charset="0"/>
              </a:rPr>
              <a:t> Modelling Specific Practices </a:t>
            </a:r>
          </a:p>
          <a:p>
            <a:pPr>
              <a:buNone/>
            </a:pPr>
            <a:r>
              <a:rPr lang="en-IN" dirty="0" smtClean="0">
                <a:latin typeface="Times New Roman" pitchFamily="18" charset="0"/>
                <a:cs typeface="Times New Roman" pitchFamily="18" charset="0"/>
              </a:rPr>
              <a:t>XP Objections to Agile Modelling</a:t>
            </a:r>
          </a:p>
          <a:p>
            <a:pPr>
              <a:buNone/>
            </a:pPr>
            <a:r>
              <a:rPr lang="en-IN" dirty="0" smtClean="0">
                <a:latin typeface="Times New Roman" pitchFamily="18" charset="0"/>
                <a:cs typeface="Times New Roman" pitchFamily="18" charset="0"/>
              </a:rPr>
              <a:t> Agile Modelling and Planning XP Projects</a:t>
            </a:r>
          </a:p>
          <a:p>
            <a:pPr>
              <a:buNone/>
            </a:pPr>
            <a:r>
              <a:rPr lang="en-IN" dirty="0" smtClean="0">
                <a:latin typeface="Times New Roman" pitchFamily="18" charset="0"/>
                <a:cs typeface="Times New Roman" pitchFamily="18" charset="0"/>
              </a:rPr>
              <a:t>XP Implementation Phase.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Agile </a:t>
            </a:r>
            <a:r>
              <a:rPr lang="en-US" b="1" dirty="0" err="1" smtClean="0">
                <a:solidFill>
                  <a:srgbClr val="FF0000"/>
                </a:solidFill>
                <a:latin typeface="Times New Roman" pitchFamily="18" charset="0"/>
                <a:cs typeface="Times New Roman" pitchFamily="18" charset="0"/>
              </a:rPr>
              <a:t>Modelling</a:t>
            </a:r>
            <a:r>
              <a:rPr lang="en-US" b="1" dirty="0" smtClean="0">
                <a:solidFill>
                  <a:srgbClr val="FF0000"/>
                </a:solidFill>
                <a:latin typeface="Times New Roman" pitchFamily="18" charset="0"/>
                <a:cs typeface="Times New Roman" pitchFamily="18" charset="0"/>
              </a:rPr>
              <a:t> and XP</a:t>
            </a:r>
            <a:r>
              <a:rPr lang="en-IN" b="1" dirty="0" smtClean="0"/>
              <a:t/>
            </a:r>
            <a:br>
              <a:rPr lang="en-IN" b="1" dirty="0" smtClean="0"/>
            </a:br>
            <a:endParaRPr lang="en-IN" dirty="0"/>
          </a:p>
        </p:txBody>
      </p:sp>
      <p:sp>
        <p:nvSpPr>
          <p:cNvPr id="3" name="Content Placeholder 2"/>
          <p:cNvSpPr>
            <a:spLocks noGrp="1"/>
          </p:cNvSpPr>
          <p:nvPr>
            <p:ph idx="1"/>
          </p:nvPr>
        </p:nvSpPr>
        <p:spPr>
          <a:xfrm>
            <a:off x="533400" y="1143000"/>
            <a:ext cx="8229600" cy="4525963"/>
          </a:xfrm>
        </p:spPr>
        <p:txBody>
          <a:bodyPr>
            <a:normAutofit fontScale="85000" lnSpcReduction="10000"/>
          </a:bodyPr>
          <a:lstStyle/>
          <a:p>
            <a:pPr>
              <a:buNone/>
            </a:pPr>
            <a:r>
              <a:rPr lang="en-US" dirty="0" smtClean="0">
                <a:latin typeface="Times New Roman" pitchFamily="18" charset="0"/>
                <a:cs typeface="Times New Roman" pitchFamily="18" charset="0"/>
              </a:rPr>
              <a:t>   Over </a:t>
            </a:r>
            <a:r>
              <a:rPr lang="en-US" dirty="0" smtClean="0">
                <a:latin typeface="Times New Roman" pitchFamily="18" charset="0"/>
                <a:cs typeface="Times New Roman" pitchFamily="18" charset="0"/>
              </a:rPr>
              <a:t>the last four chapters, we have considered in detail both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(AM) and </a:t>
            </a:r>
            <a:r>
              <a:rPr lang="en-US" dirty="0" err="1" smtClean="0">
                <a:latin typeface="Times New Roman" pitchFamily="18" charset="0"/>
                <a:cs typeface="Times New Roman" pitchFamily="18" charset="0"/>
              </a:rPr>
              <a:t>eXtreme</a:t>
            </a:r>
            <a:r>
              <a:rPr lang="en-US" dirty="0" smtClean="0">
                <a:latin typeface="Times New Roman" pitchFamily="18" charset="0"/>
                <a:cs typeface="Times New Roman" pitchFamily="18" charset="0"/>
              </a:rPr>
              <a:t> Programming (XP). Both are from the agile movement and both are motivated by the desire to produce better software faster. But how do they relate (if at all)? What is the relationship between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and XP? Are they complementary or contradictory</a:t>
            </a:r>
            <a:r>
              <a:rPr lang="en-US" dirty="0" smtClean="0">
                <a:latin typeface="Times New Roman" pitchFamily="18" charset="0"/>
                <a:cs typeface="Times New Roman" pitchFamily="18" charset="0"/>
              </a:rPr>
              <a:t>?</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 this UNIT, we will consider exactly this issue and look at how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can actually enhance an XP project</a:t>
            </a:r>
            <a:endParaRPr lang="en-IN"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077200" cy="5867400"/>
          </a:xfrm>
        </p:spPr>
        <p:txBody>
          <a:bodyPr>
            <a:noAutofit/>
          </a:bodyPr>
          <a:lstStyle/>
          <a:p>
            <a:pPr lvl="1"/>
            <a:r>
              <a:rPr lang="en-US" b="1" dirty="0" smtClean="0">
                <a:solidFill>
                  <a:srgbClr val="FF0000"/>
                </a:solidFill>
                <a:latin typeface="Times New Roman" pitchFamily="18" charset="0"/>
                <a:cs typeface="Times New Roman" pitchFamily="18" charset="0"/>
              </a:rPr>
              <a:t>The Fit</a:t>
            </a:r>
            <a:endParaRPr lang="en-IN" b="1" dirty="0" smtClean="0">
              <a:solidFill>
                <a:srgbClr val="FF000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In actual fact, many of the Agile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practises</a:t>
            </a:r>
            <a:r>
              <a:rPr lang="en-US" sz="2400" dirty="0" smtClean="0">
                <a:latin typeface="Times New Roman" pitchFamily="18" charset="0"/>
                <a:cs typeface="Times New Roman" pitchFamily="18" charset="0"/>
              </a:rPr>
              <a:t> fit straight into XP. In many cases, they are the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equivalent of the XP programming-oriented </a:t>
            </a:r>
            <a:r>
              <a:rPr lang="en-US" sz="2400" dirty="0" smtClean="0">
                <a:latin typeface="Times New Roman" pitchFamily="18" charset="0"/>
                <a:cs typeface="Times New Roman" pitchFamily="18" charset="0"/>
              </a:rPr>
              <a:t>practices.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It is also important to consider whether Agile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actually fits in with the philosophy of XP at all. At first sight, there may be a fundamental conflict</a:t>
            </a:r>
          </a:p>
          <a:p>
            <a:r>
              <a:rPr lang="en-US" sz="2400" dirty="0" smtClean="0">
                <a:latin typeface="Times New Roman" pitchFamily="18" charset="0"/>
                <a:cs typeface="Times New Roman" pitchFamily="18" charset="0"/>
              </a:rPr>
              <a:t>Agile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needs to be applied with some other development methodology to be of any real benefit. As such, it brings a suite of agile techniques to the process of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XP does do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although this may come as a shock to some alleged XP practitioners. However, it does not do “big up-front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Instead,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is performed as and when required during the lifetime of an XP project</a:t>
            </a:r>
            <a:endParaRPr lang="en-IN"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3600" b="1" dirty="0" smtClean="0">
                <a:solidFill>
                  <a:srgbClr val="FF0000"/>
                </a:solidFill>
                <a:latin typeface="Times New Roman" pitchFamily="18" charset="0"/>
                <a:cs typeface="Times New Roman" pitchFamily="18" charset="0"/>
              </a:rPr>
              <a:t>Common </a:t>
            </a:r>
            <a:r>
              <a:rPr lang="en-US" sz="3600" b="1" dirty="0" smtClean="0">
                <a:solidFill>
                  <a:srgbClr val="FF0000"/>
                </a:solidFill>
                <a:latin typeface="Times New Roman" pitchFamily="18" charset="0"/>
                <a:cs typeface="Times New Roman" pitchFamily="18" charset="0"/>
              </a:rPr>
              <a:t>Practices</a:t>
            </a:r>
            <a:r>
              <a:rPr lang="en-IN" sz="3600" b="1" dirty="0" smtClean="0">
                <a:latin typeface="Times New Roman" pitchFamily="18" charset="0"/>
                <a:cs typeface="Times New Roman" pitchFamily="18" charset="0"/>
              </a:rPr>
              <a:t/>
            </a:r>
            <a:br>
              <a:rPr lang="en-IN" sz="3600" b="1" dirty="0" smtClean="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143000"/>
            <a:ext cx="8229600" cy="5257800"/>
          </a:xfrm>
        </p:spPr>
        <p:txBody>
          <a:bodyPr>
            <a:normAutofit/>
          </a:bodyPr>
          <a:lstStyle/>
          <a:p>
            <a:r>
              <a:rPr lang="en-US" sz="2000" dirty="0" smtClean="0">
                <a:latin typeface="Times New Roman" pitchFamily="18" charset="0"/>
                <a:cs typeface="Times New Roman" pitchFamily="18" charset="0"/>
              </a:rPr>
              <a:t>So both Agile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and XP are part of the agile movement so what </a:t>
            </a:r>
            <a:r>
              <a:rPr lang="en-US" sz="2000" dirty="0" smtClean="0">
                <a:latin typeface="Times New Roman" pitchFamily="18" charset="0"/>
                <a:cs typeface="Times New Roman" pitchFamily="18" charset="0"/>
              </a:rPr>
              <a:t>practices </a:t>
            </a:r>
            <a:r>
              <a:rPr lang="en-US" sz="2000" dirty="0" smtClean="0">
                <a:latin typeface="Times New Roman" pitchFamily="18" charset="0"/>
                <a:cs typeface="Times New Roman" pitchFamily="18" charset="0"/>
              </a:rPr>
              <a:t>do they have in common. Actually, they have quite a few practices in common (although the names may differ from one approach to the other). To illustrate this, consider Table 7.1. This table pairs up various Agile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practices </a:t>
            </a:r>
            <a:r>
              <a:rPr lang="en-US" sz="2000" dirty="0" smtClean="0">
                <a:latin typeface="Times New Roman" pitchFamily="18" charset="0"/>
                <a:cs typeface="Times New Roman" pitchFamily="18" charset="0"/>
              </a:rPr>
              <a:t>with their equivalent (or near-equivalent) XP </a:t>
            </a:r>
            <a:r>
              <a:rPr lang="en-US" sz="2000" dirty="0" smtClean="0">
                <a:latin typeface="Times New Roman" pitchFamily="18" charset="0"/>
                <a:cs typeface="Times New Roman" pitchFamily="18" charset="0"/>
              </a:rPr>
              <a:t>practices.</a:t>
            </a:r>
            <a:endParaRPr lang="en-IN" sz="2000" dirty="0" smtClean="0">
              <a:latin typeface="Times New Roman" pitchFamily="18" charset="0"/>
              <a:cs typeface="Times New Roman" pitchFamily="18" charset="0"/>
            </a:endParaRPr>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381000" y="3124200"/>
            <a:ext cx="8382000" cy="32766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381000"/>
            <a:ext cx="8229600" cy="5745163"/>
          </a:xfrm>
        </p:spPr>
        <p:txBody>
          <a:bodyPr>
            <a:normAutofit/>
          </a:bodyPr>
          <a:lstStyle/>
          <a:p>
            <a:r>
              <a:rPr lang="en-US" sz="2000" dirty="0" smtClean="0">
                <a:latin typeface="Times New Roman" pitchFamily="18" charset="0"/>
                <a:cs typeface="Times New Roman" pitchFamily="18" charset="0"/>
              </a:rPr>
              <a:t>Other Agile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practises</a:t>
            </a:r>
            <a:r>
              <a:rPr lang="en-US" sz="2000" dirty="0" smtClean="0">
                <a:latin typeface="Times New Roman" pitchFamily="18" charset="0"/>
                <a:cs typeface="Times New Roman" pitchFamily="18" charset="0"/>
              </a:rPr>
              <a:t> have potentially less obvious parallels within XP </a:t>
            </a:r>
            <a:r>
              <a:rPr lang="en-US" sz="2000" dirty="0" smtClean="0">
                <a:latin typeface="Times New Roman" pitchFamily="18" charset="0"/>
                <a:cs typeface="Times New Roman" pitchFamily="18" charset="0"/>
              </a:rPr>
              <a:t>practices. </a:t>
            </a:r>
            <a:r>
              <a:rPr lang="en-US" sz="2000" dirty="0" smtClean="0">
                <a:latin typeface="Times New Roman" pitchFamily="18" charset="0"/>
                <a:cs typeface="Times New Roman" pitchFamily="18" charset="0"/>
              </a:rPr>
              <a:t>But again if they are examined, it can be seen that they represent the same or similar intention but from the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perspective. These are illustrated in Table 7.2.</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For example, in Table 7.2 when performing Agile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you should </a:t>
            </a:r>
            <a:r>
              <a:rPr lang="en-US" sz="2000" dirty="0" smtClean="0">
                <a:latin typeface="Times New Roman" pitchFamily="18" charset="0"/>
                <a:cs typeface="Times New Roman" pitchFamily="18" charset="0"/>
              </a:rPr>
              <a:t>consider </a:t>
            </a:r>
            <a:r>
              <a:rPr lang="en-US" sz="2000" dirty="0" smtClean="0">
                <a:latin typeface="Times New Roman" pitchFamily="18" charset="0"/>
                <a:cs typeface="Times New Roman" pitchFamily="18" charset="0"/>
              </a:rPr>
              <a:t>how what you are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might be tested? How you can model to </a:t>
            </a:r>
            <a:r>
              <a:rPr lang="en-US" sz="2000" dirty="0" smtClean="0">
                <a:latin typeface="Times New Roman" pitchFamily="18" charset="0"/>
                <a:cs typeface="Times New Roman" pitchFamily="18" charset="0"/>
              </a:rPr>
              <a:t>facilitate </a:t>
            </a:r>
            <a:r>
              <a:rPr lang="en-US" sz="2000" dirty="0" smtClean="0">
                <a:latin typeface="Times New Roman" pitchFamily="18" charset="0"/>
                <a:cs typeface="Times New Roman" pitchFamily="18" charset="0"/>
              </a:rPr>
              <a:t>testing? (and by implication what those tests are</a:t>
            </a:r>
            <a:endParaRPr lang="en-IN" sz="2000"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2" cstate="print"/>
          <a:srcRect/>
          <a:stretch>
            <a:fillRect/>
          </a:stretch>
        </p:blipFill>
        <p:spPr bwMode="auto">
          <a:xfrm>
            <a:off x="609600" y="3276600"/>
            <a:ext cx="8001000" cy="32004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err="1" smtClean="0">
                <a:solidFill>
                  <a:srgbClr val="FF0000"/>
                </a:solidFill>
                <a:latin typeface="Times New Roman" pitchFamily="18" charset="0"/>
                <a:cs typeface="Times New Roman" pitchFamily="18" charset="0"/>
              </a:rPr>
              <a:t>Modelling</a:t>
            </a:r>
            <a:r>
              <a:rPr lang="en-US" sz="3200" b="1" dirty="0" smtClean="0">
                <a:solidFill>
                  <a:srgbClr val="FF0000"/>
                </a:solidFill>
                <a:latin typeface="Times New Roman" pitchFamily="18" charset="0"/>
                <a:cs typeface="Times New Roman" pitchFamily="18" charset="0"/>
              </a:rPr>
              <a:t> Specific </a:t>
            </a:r>
            <a:r>
              <a:rPr lang="en-US" sz="3200" b="1" dirty="0" smtClean="0">
                <a:solidFill>
                  <a:srgbClr val="FF0000"/>
                </a:solidFill>
                <a:latin typeface="Times New Roman" pitchFamily="18" charset="0"/>
                <a:cs typeface="Times New Roman" pitchFamily="18" charset="0"/>
              </a:rPr>
              <a:t>Practices</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77500" lnSpcReduction="20000"/>
          </a:bodyPr>
          <a:lstStyle/>
          <a:p>
            <a:pPr>
              <a:buNone/>
            </a:pPr>
            <a:r>
              <a:rPr lang="en-US" dirty="0" smtClean="0">
                <a:latin typeface="Times New Roman" pitchFamily="18" charset="0"/>
                <a:cs typeface="Times New Roman" pitchFamily="18" charset="0"/>
              </a:rPr>
              <a:t>    There are some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that may, at first at least, appear to have no place within XP at all. These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include: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model with a purpose,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using multiple models and</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know your models.</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This is partly as they are very clearly specific to the act of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It is also partly because XP does not have much to say about the act of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or of the models that might be created. The only thing that tends to be discussed is the use of stand-up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meetings during which existing code is </a:t>
            </a:r>
            <a:r>
              <a:rPr lang="en-US" dirty="0" smtClean="0">
                <a:latin typeface="Times New Roman" pitchFamily="18" charset="0"/>
                <a:cs typeface="Times New Roman" pitchFamily="18" charset="0"/>
              </a:rPr>
              <a:t>analyzed </a:t>
            </a:r>
            <a:r>
              <a:rPr lang="en-US" dirty="0" smtClean="0">
                <a:latin typeface="Times New Roman" pitchFamily="18" charset="0"/>
                <a:cs typeface="Times New Roman" pitchFamily="18" charset="0"/>
              </a:rPr>
              <a:t>or new code explored through the use of diagrams (which are a form of model). </a:t>
            </a:r>
            <a:endParaRPr lang="en-IN"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800" b="1" dirty="0" smtClean="0">
                <a:solidFill>
                  <a:srgbClr val="FF0000"/>
                </a:solidFill>
                <a:latin typeface="Times New Roman" pitchFamily="18" charset="0"/>
                <a:cs typeface="Times New Roman" pitchFamily="18" charset="0"/>
              </a:rPr>
              <a:t>Model with a Purpose</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92500" lnSpcReduction="20000"/>
          </a:bodyPr>
          <a:lstStyle/>
          <a:p>
            <a:pPr>
              <a:buNone/>
            </a:pPr>
            <a:r>
              <a:rPr lang="en-US" dirty="0" smtClean="0">
                <a:latin typeface="Times New Roman" pitchFamily="18" charset="0"/>
                <a:cs typeface="Times New Roman" pitchFamily="18" charset="0"/>
              </a:rPr>
              <a:t>   As </a:t>
            </a:r>
            <a:r>
              <a:rPr lang="en-US" dirty="0" smtClean="0">
                <a:latin typeface="Times New Roman" pitchFamily="18" charset="0"/>
                <a:cs typeface="Times New Roman" pitchFamily="18" charset="0"/>
              </a:rPr>
              <a:t>many XP practitioners may see no place for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all, this point may, to them, seem self-defeating. That is, there is no purpose to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within an XP project! However, this can be very wrong. There are a number of purposes to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which can be very relevant to XP. For example, the motivational category within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that includes the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“Model to Understand” and “Model to Communicate.” These two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are considered in more detail below.</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i="1" dirty="0" smtClean="0">
                <a:solidFill>
                  <a:srgbClr val="FF0000"/>
                </a:solidFill>
                <a:latin typeface="Times New Roman" pitchFamily="18" charset="0"/>
                <a:cs typeface="Times New Roman" pitchFamily="18" charset="0"/>
              </a:rPr>
              <a:t>Model to understand the software</a:t>
            </a:r>
            <a:r>
              <a:rPr lang="en-US" dirty="0" smtClean="0">
                <a:latin typeface="Times New Roman" pitchFamily="18" charset="0"/>
                <a:cs typeface="Times New Roman" pitchFamily="18" charset="0"/>
              </a:rPr>
              <a:t>. This is relevant because, before you </a:t>
            </a:r>
            <a:r>
              <a:rPr lang="en-US" dirty="0" smtClean="0">
                <a:latin typeface="Times New Roman" pitchFamily="18" charset="0"/>
                <a:cs typeface="Times New Roman" pitchFamily="18" charset="0"/>
              </a:rPr>
              <a:t>refractor </a:t>
            </a:r>
            <a:r>
              <a:rPr lang="en-US" dirty="0" smtClean="0">
                <a:latin typeface="Times New Roman" pitchFamily="18" charset="0"/>
                <a:cs typeface="Times New Roman" pitchFamily="18" charset="0"/>
              </a:rPr>
              <a:t>or extend your code you must understand it. Individual methods or classes may be understandable merely by considering them in isolation</a:t>
            </a:r>
            <a:endParaRPr lang="en-IN"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152400" y="228600"/>
            <a:ext cx="5486400" cy="6172200"/>
          </a:xfrm>
          <a:prstGeom prst="rect">
            <a:avLst/>
          </a:prstGeom>
          <a:noFill/>
          <a:ln w="9525">
            <a:noFill/>
            <a:miter lim="800000"/>
            <a:headEnd/>
            <a:tailEnd/>
          </a:ln>
        </p:spPr>
      </p:pic>
      <p:sp>
        <p:nvSpPr>
          <p:cNvPr id="5" name="Rectangle 4"/>
          <p:cNvSpPr/>
          <p:nvPr/>
        </p:nvSpPr>
        <p:spPr>
          <a:xfrm>
            <a:off x="5562600" y="838200"/>
            <a:ext cx="3581400" cy="4093428"/>
          </a:xfrm>
          <a:prstGeom prst="rect">
            <a:avLst/>
          </a:prstGeom>
        </p:spPr>
        <p:txBody>
          <a:bodyPr wrap="square">
            <a:spAutoFit/>
          </a:bodyPr>
          <a:lstStyle/>
          <a:p>
            <a:r>
              <a:rPr lang="en-US" sz="2000" dirty="0" smtClean="0">
                <a:latin typeface="Times New Roman" pitchFamily="18" charset="0"/>
                <a:cs typeface="Times New Roman" pitchFamily="18" charset="0"/>
              </a:rPr>
              <a:t>For example, when looking at part of the implementation of the Clear Spell spell checker developed by a colleague, I need to become familiar with the structure of the main spell-checking engine. To do this, I have decided to use the </a:t>
            </a:r>
            <a:r>
              <a:rPr lang="en-US" sz="2000" dirty="0" err="1" smtClean="0">
                <a:latin typeface="Times New Roman" pitchFamily="18" charset="0"/>
                <a:cs typeface="Times New Roman" pitchFamily="18" charset="0"/>
              </a:rPr>
              <a:t>Omondo</a:t>
            </a:r>
            <a:r>
              <a:rPr lang="en-US" sz="2000" dirty="0" smtClean="0">
                <a:latin typeface="Times New Roman" pitchFamily="18" charset="0"/>
                <a:cs typeface="Times New Roman" pitchFamily="18" charset="0"/>
              </a:rPr>
              <a:t> plug-in for Eclipse to generate a class diagram for myself. This is done within Eclipse by creating a new UML diagram as illustrated in Figure 7.1.</a:t>
            </a:r>
            <a:endParaRPr lang="en-IN" sz="20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0" y="457200"/>
            <a:ext cx="4876800" cy="5410200"/>
          </a:xfrm>
          <a:prstGeom prst="rect">
            <a:avLst/>
          </a:prstGeom>
          <a:noFill/>
          <a:ln w="9525">
            <a:noFill/>
            <a:miter lim="800000"/>
            <a:headEnd/>
            <a:tailEnd/>
          </a:ln>
        </p:spPr>
      </p:pic>
      <p:sp>
        <p:nvSpPr>
          <p:cNvPr id="5" name="Rectangle 4"/>
          <p:cNvSpPr/>
          <p:nvPr/>
        </p:nvSpPr>
        <p:spPr>
          <a:xfrm>
            <a:off x="4572000" y="1295400"/>
            <a:ext cx="4572000" cy="3785652"/>
          </a:xfrm>
          <a:prstGeom prst="rect">
            <a:avLst/>
          </a:prstGeom>
        </p:spPr>
        <p:txBody>
          <a:bodyPr>
            <a:spAutoFit/>
          </a:bodyPr>
          <a:lstStyle/>
          <a:p>
            <a:r>
              <a:rPr lang="en-US" sz="2400" dirty="0" smtClean="0">
                <a:latin typeface="Times New Roman" pitchFamily="18" charset="0"/>
                <a:cs typeface="Times New Roman" pitchFamily="18" charset="0"/>
              </a:rPr>
              <a:t>Once this is done, </a:t>
            </a:r>
            <a:r>
              <a:rPr lang="en-US" sz="2400" dirty="0" err="1" smtClean="0">
                <a:latin typeface="Times New Roman" pitchFamily="18" charset="0"/>
                <a:cs typeface="Times New Roman" pitchFamily="18" charset="0"/>
              </a:rPr>
              <a:t>Omondo</a:t>
            </a:r>
            <a:r>
              <a:rPr lang="en-US" sz="2400" dirty="0" smtClean="0">
                <a:latin typeface="Times New Roman" pitchFamily="18" charset="0"/>
                <a:cs typeface="Times New Roman" pitchFamily="18" charset="0"/>
              </a:rPr>
              <a:t> finds out which classes and interfaces are in the selected package. It then presents a selection dialog to the user, which allows them to select which classes and interfaces they actually want to include in the diagram and what type of relationships to show. This is illustrated in Figure 7.2.</a:t>
            </a:r>
            <a:endParaRPr lang="en-IN"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304801" y="457201"/>
            <a:ext cx="5791200" cy="5334794"/>
          </a:xfrm>
          <a:prstGeom prst="rect">
            <a:avLst/>
          </a:prstGeom>
          <a:noFill/>
          <a:ln w="9525">
            <a:noFill/>
            <a:miter lim="800000"/>
            <a:headEnd/>
            <a:tailEnd/>
          </a:ln>
        </p:spPr>
      </p:pic>
      <p:sp>
        <p:nvSpPr>
          <p:cNvPr id="5" name="Rectangle 4"/>
          <p:cNvSpPr/>
          <p:nvPr/>
        </p:nvSpPr>
        <p:spPr>
          <a:xfrm>
            <a:off x="5867400" y="2057400"/>
            <a:ext cx="2819400" cy="1323439"/>
          </a:xfrm>
          <a:prstGeom prst="rect">
            <a:avLst/>
          </a:prstGeom>
        </p:spPr>
        <p:txBody>
          <a:bodyPr wrap="square">
            <a:spAutoFit/>
          </a:bodyPr>
          <a:lstStyle/>
          <a:p>
            <a:r>
              <a:rPr lang="en-US" sz="2000" dirty="0" smtClean="0">
                <a:latin typeface="Times New Roman" pitchFamily="18" charset="0"/>
                <a:cs typeface="Times New Roman" pitchFamily="18" charset="0"/>
              </a:rPr>
              <a:t>Having done this, </a:t>
            </a:r>
            <a:r>
              <a:rPr lang="en-US" sz="2000" dirty="0" err="1" smtClean="0">
                <a:latin typeface="Times New Roman" pitchFamily="18" charset="0"/>
                <a:cs typeface="Times New Roman" pitchFamily="18" charset="0"/>
              </a:rPr>
              <a:t>Omondo</a:t>
            </a:r>
            <a:r>
              <a:rPr lang="en-US" sz="2000" dirty="0" smtClean="0">
                <a:latin typeface="Times New Roman" pitchFamily="18" charset="0"/>
                <a:cs typeface="Times New Roman" pitchFamily="18" charset="0"/>
              </a:rPr>
              <a:t> then creates the class diagram displayed in Figure 7.3. </a:t>
            </a:r>
            <a:endParaRPr lang="en-IN" sz="20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457200" y="609600"/>
            <a:ext cx="4724400" cy="4953000"/>
          </a:xfrm>
          <a:prstGeom prst="rect">
            <a:avLst/>
          </a:prstGeom>
          <a:noFill/>
          <a:ln w="9525">
            <a:noFill/>
            <a:miter lim="800000"/>
            <a:headEnd/>
            <a:tailEnd/>
          </a:ln>
        </p:spPr>
      </p:pic>
      <p:sp>
        <p:nvSpPr>
          <p:cNvPr id="5" name="Rectangle 4"/>
          <p:cNvSpPr/>
          <p:nvPr/>
        </p:nvSpPr>
        <p:spPr>
          <a:xfrm>
            <a:off x="4343400" y="2057400"/>
            <a:ext cx="4572000" cy="1938992"/>
          </a:xfrm>
          <a:prstGeom prst="rect">
            <a:avLst/>
          </a:prstGeom>
        </p:spPr>
        <p:txBody>
          <a:bodyPr>
            <a:spAutoFit/>
          </a:bodyPr>
          <a:lstStyle/>
          <a:p>
            <a:r>
              <a:rPr lang="en-US" sz="2000" dirty="0" smtClean="0">
                <a:latin typeface="Times New Roman" pitchFamily="18" charset="0"/>
                <a:cs typeface="Times New Roman" pitchFamily="18" charset="0"/>
              </a:rPr>
              <a:t>Although I must still determine what the various elements of this package now do, I have a much better feel for the structure of this package, then I would have got just by looking at what the package contains (as illustrated in Figure 7.4).</a:t>
            </a:r>
            <a:endParaRPr lang="en-IN" sz="20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0" y="457200"/>
            <a:ext cx="6096000" cy="5410200"/>
          </a:xfrm>
          <a:prstGeom prst="rect">
            <a:avLst/>
          </a:prstGeom>
          <a:noFill/>
          <a:ln w="9525">
            <a:noFill/>
            <a:miter lim="800000"/>
            <a:headEnd/>
            <a:tailEnd/>
          </a:ln>
        </p:spPr>
      </p:pic>
      <p:sp>
        <p:nvSpPr>
          <p:cNvPr id="5" name="Rectangle 4"/>
          <p:cNvSpPr/>
          <p:nvPr/>
        </p:nvSpPr>
        <p:spPr>
          <a:xfrm>
            <a:off x="6019800" y="1295400"/>
            <a:ext cx="3124200" cy="5016758"/>
          </a:xfrm>
          <a:prstGeom prst="rect">
            <a:avLst/>
          </a:prstGeom>
        </p:spPr>
        <p:txBody>
          <a:bodyPr wrap="square">
            <a:spAutoFit/>
          </a:bodyPr>
          <a:lstStyle/>
          <a:p>
            <a:r>
              <a:rPr lang="en-US" sz="2000" dirty="0" smtClean="0">
                <a:latin typeface="Times New Roman" pitchFamily="18" charset="0"/>
                <a:cs typeface="Times New Roman" pitchFamily="18" charset="0"/>
              </a:rPr>
              <a:t>Of course, I do not need to use a tool such as Eclipse or Together at all. I might find that merely drawing out the structure on a white board is more than sufficient (as illustrated in Figure 7.5).</a:t>
            </a:r>
            <a:endParaRPr lang="en-IN" sz="2000" dirty="0" smtClean="0">
              <a:latin typeface="Times New Roman" pitchFamily="18" charset="0"/>
              <a:cs typeface="Times New Roman" pitchFamily="18" charset="0"/>
            </a:endParaRPr>
          </a:p>
          <a:p>
            <a:r>
              <a:rPr lang="en-US" sz="2000" i="1" dirty="0" smtClean="0">
                <a:solidFill>
                  <a:srgbClr val="FF0000"/>
                </a:solidFill>
                <a:latin typeface="Times New Roman" pitchFamily="18" charset="0"/>
                <a:cs typeface="Times New Roman" pitchFamily="18" charset="0"/>
              </a:rPr>
              <a:t>Model to communicate</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Source code is the end result that we all are trying to produce (it is not a model which will be delivered as an executable after all). However, it is not the best way to explain your ideas to one or more other people</a:t>
            </a:r>
            <a:endParaRPr lang="en-IN" sz="20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smtClean="0">
                <a:solidFill>
                  <a:srgbClr val="FF0000"/>
                </a:solidFill>
                <a:latin typeface="Times New Roman" pitchFamily="18" charset="0"/>
                <a:cs typeface="Times New Roman" pitchFamily="18" charset="0"/>
              </a:rPr>
              <a:t>Know Your Models</a:t>
            </a:r>
            <a:r>
              <a:rPr lang="en-IN" b="1" dirty="0" smtClean="0">
                <a:solidFill>
                  <a:srgbClr val="FF0000"/>
                </a:solidFill>
              </a:rPr>
              <a:t/>
            </a:r>
            <a:br>
              <a:rPr lang="en-IN" b="1" dirty="0" smtClean="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normAutofit/>
          </a:bodyPr>
          <a:lstStyle/>
          <a:p>
            <a:pPr>
              <a:buNone/>
            </a:pPr>
            <a:r>
              <a:rPr lang="en-US" sz="2400" dirty="0" smtClean="0">
                <a:latin typeface="Times New Roman" pitchFamily="18" charset="0"/>
                <a:cs typeface="Times New Roman" pitchFamily="18" charset="0"/>
              </a:rPr>
              <a:t>Whether you are an Agile </a:t>
            </a:r>
            <a:r>
              <a:rPr lang="en-US" sz="2400" dirty="0" err="1" smtClean="0">
                <a:latin typeface="Times New Roman" pitchFamily="18" charset="0"/>
                <a:cs typeface="Times New Roman" pitchFamily="18" charset="0"/>
              </a:rPr>
              <a:t>modeller</a:t>
            </a:r>
            <a:r>
              <a:rPr lang="en-US" sz="2400" dirty="0" smtClean="0">
                <a:latin typeface="Times New Roman" pitchFamily="18" charset="0"/>
                <a:cs typeface="Times New Roman" pitchFamily="18" charset="0"/>
              </a:rPr>
              <a:t> or an XP developer you need to know the tools available to you. Even for those working on an XP project, </a:t>
            </a:r>
            <a:r>
              <a:rPr lang="en-US" sz="2400" dirty="0" err="1" smtClean="0">
                <a:latin typeface="Times New Roman" pitchFamily="18" charset="0"/>
                <a:cs typeface="Times New Roman" pitchFamily="18" charset="0"/>
              </a:rPr>
              <a:t>modelling</a:t>
            </a:r>
            <a:r>
              <a:rPr lang="en-US" sz="2400" dirty="0" smtClean="0">
                <a:latin typeface="Times New Roman" pitchFamily="18" charset="0"/>
                <a:cs typeface="Times New Roman" pitchFamily="18" charset="0"/>
              </a:rPr>
              <a:t> is relevant (as has already been said). Thus, XP developers need to understand the models available to them just as much as an Agile </a:t>
            </a:r>
            <a:r>
              <a:rPr lang="en-US" sz="2400" dirty="0" err="1" smtClean="0">
                <a:latin typeface="Times New Roman" pitchFamily="18" charset="0"/>
                <a:cs typeface="Times New Roman" pitchFamily="18" charset="0"/>
              </a:rPr>
              <a:t>modeller</a:t>
            </a:r>
            <a:r>
              <a:rPr lang="en-US" sz="2400" dirty="0" smtClean="0">
                <a:latin typeface="Times New Roman" pitchFamily="18" charset="0"/>
                <a:cs typeface="Times New Roman" pitchFamily="18" charset="0"/>
              </a:rPr>
              <a:t> should. That is, they should understand the strengths and weaknesses of different types of models. This will help them to keep models as simple as possible, as well as helps to apply appropriate models which will help them to understand the systems under consideration</a:t>
            </a:r>
            <a:endParaRPr lang="en-IN"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smtClean="0">
                <a:solidFill>
                  <a:srgbClr val="FF0000"/>
                </a:solidFill>
                <a:latin typeface="Times New Roman" pitchFamily="18" charset="0"/>
                <a:cs typeface="Times New Roman" pitchFamily="18" charset="0"/>
              </a:rPr>
              <a:t>XP Objections to Agile </a:t>
            </a:r>
            <a:r>
              <a:rPr lang="en-US" sz="3200" b="1" dirty="0" err="1" smtClean="0">
                <a:solidFill>
                  <a:srgbClr val="FF0000"/>
                </a:solidFill>
                <a:latin typeface="Times New Roman" pitchFamily="18" charset="0"/>
                <a:cs typeface="Times New Roman" pitchFamily="18" charset="0"/>
              </a:rPr>
              <a:t>Modelling</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pPr>
              <a:buNone/>
            </a:pPr>
            <a:r>
              <a:rPr lang="en-US" dirty="0" smtClean="0">
                <a:latin typeface="Times New Roman" pitchFamily="18" charset="0"/>
                <a:cs typeface="Times New Roman" pitchFamily="18" charset="0"/>
              </a:rPr>
              <a:t>Other arguments raised by XP practitioners against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include:</a:t>
            </a:r>
            <a:endParaRPr lang="en-IN" dirty="0" smtClean="0">
              <a:latin typeface="Times New Roman" pitchFamily="18" charset="0"/>
              <a:cs typeface="Times New Roman" pitchFamily="18" charset="0"/>
            </a:endParaRPr>
          </a:p>
          <a:p>
            <a:r>
              <a:rPr lang="en-US" i="1" u="sng" dirty="0" err="1" smtClean="0">
                <a:solidFill>
                  <a:srgbClr val="FF0000"/>
                </a:solidFill>
                <a:latin typeface="Times New Roman" pitchFamily="18" charset="0"/>
                <a:cs typeface="Times New Roman" pitchFamily="18" charset="0"/>
              </a:rPr>
              <a:t>Modelling</a:t>
            </a:r>
            <a:r>
              <a:rPr lang="en-US" i="1" u="sng" dirty="0" smtClean="0">
                <a:solidFill>
                  <a:srgbClr val="FF0000"/>
                </a:solidFill>
                <a:latin typeface="Times New Roman" pitchFamily="18" charset="0"/>
                <a:cs typeface="Times New Roman" pitchFamily="18" charset="0"/>
              </a:rPr>
              <a:t> is all about big up-front design </a:t>
            </a:r>
            <a:r>
              <a:rPr lang="en-US" dirty="0" smtClean="0">
                <a:latin typeface="Times New Roman" pitchFamily="18" charset="0"/>
                <a:cs typeface="Times New Roman" pitchFamily="18" charset="0"/>
              </a:rPr>
              <a:t>(the so called BMUF – Big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Up-Front syndrome).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clearly does not promote this. This is illustrated by the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such as “Model in Small Increments” and “Prove it with Code.”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915400" cy="6858000"/>
          </a:xfrm>
        </p:spPr>
        <p:txBody>
          <a:bodyPr>
            <a:normAutofit fontScale="40000" lnSpcReduction="20000"/>
          </a:bodyPr>
          <a:lstStyle/>
          <a:p>
            <a:endParaRPr lang="en-IN" sz="5000" dirty="0" smtClean="0">
              <a:latin typeface="Times New Roman" pitchFamily="18" charset="0"/>
              <a:cs typeface="Times New Roman" pitchFamily="18" charset="0"/>
            </a:endParaRPr>
          </a:p>
          <a:p>
            <a:pPr>
              <a:buNone/>
            </a:pPr>
            <a:endParaRPr lang="en-IN" sz="5000" dirty="0" smtClean="0">
              <a:latin typeface="Times New Roman" pitchFamily="18" charset="0"/>
              <a:cs typeface="Times New Roman" pitchFamily="18" charset="0"/>
            </a:endParaRPr>
          </a:p>
          <a:p>
            <a:r>
              <a:rPr lang="en-US" sz="5000" i="1" u="sng" dirty="0" smtClean="0">
                <a:solidFill>
                  <a:srgbClr val="FF0000"/>
                </a:solidFill>
                <a:latin typeface="Times New Roman" pitchFamily="18" charset="0"/>
                <a:cs typeface="Times New Roman" pitchFamily="18" charset="0"/>
              </a:rPr>
              <a:t>All </a:t>
            </a:r>
            <a:r>
              <a:rPr lang="en-US" sz="5000" i="1" u="sng" dirty="0" smtClean="0">
                <a:solidFill>
                  <a:srgbClr val="FF0000"/>
                </a:solidFill>
                <a:latin typeface="Times New Roman" pitchFamily="18" charset="0"/>
                <a:cs typeface="Times New Roman" pitchFamily="18" charset="0"/>
              </a:rPr>
              <a:t>models are permanent documents </a:t>
            </a:r>
            <a:r>
              <a:rPr lang="en-US" sz="5000" dirty="0" smtClean="0">
                <a:latin typeface="Times New Roman" pitchFamily="18" charset="0"/>
                <a:cs typeface="Times New Roman" pitchFamily="18" charset="0"/>
              </a:rPr>
              <a:t>that must be updated when any changes are made. This is clearly not what Agile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says. For example, the </a:t>
            </a:r>
            <a:r>
              <a:rPr lang="en-US" sz="5000" dirty="0" err="1" smtClean="0">
                <a:latin typeface="Times New Roman" pitchFamily="18" charset="0"/>
                <a:cs typeface="Times New Roman" pitchFamily="18" charset="0"/>
              </a:rPr>
              <a:t>practises</a:t>
            </a:r>
            <a:r>
              <a:rPr lang="en-US" sz="5000" dirty="0" smtClean="0">
                <a:latin typeface="Times New Roman" pitchFamily="18" charset="0"/>
                <a:cs typeface="Times New Roman" pitchFamily="18" charset="0"/>
              </a:rPr>
              <a:t> “Discard temporary models,” “Use the simplest tools” and “Update only when it hurts” contradict this view.</a:t>
            </a:r>
            <a:r>
              <a:rPr lang="en-IN" sz="5000" dirty="0" smtClean="0">
                <a:latin typeface="Times New Roman" pitchFamily="18" charset="0"/>
                <a:cs typeface="Times New Roman" pitchFamily="18" charset="0"/>
              </a:rPr>
              <a:t> </a:t>
            </a:r>
          </a:p>
          <a:p>
            <a:pPr>
              <a:buNone/>
            </a:pPr>
            <a:endParaRPr lang="en-IN" sz="5000" dirty="0" smtClean="0">
              <a:latin typeface="Times New Roman" pitchFamily="18" charset="0"/>
              <a:cs typeface="Times New Roman" pitchFamily="18" charset="0"/>
            </a:endParaRPr>
          </a:p>
          <a:p>
            <a:r>
              <a:rPr lang="en-US" sz="5000" i="1" u="sng" dirty="0" smtClean="0">
                <a:solidFill>
                  <a:srgbClr val="FF0000"/>
                </a:solidFill>
                <a:latin typeface="Times New Roman" pitchFamily="18" charset="0"/>
                <a:cs typeface="Times New Roman" pitchFamily="18" charset="0"/>
              </a:rPr>
              <a:t>You need to use a complex </a:t>
            </a:r>
            <a:r>
              <a:rPr lang="en-US" sz="5000" i="1" u="sng" dirty="0" err="1" smtClean="0">
                <a:solidFill>
                  <a:srgbClr val="FF0000"/>
                </a:solidFill>
                <a:latin typeface="Times New Roman" pitchFamily="18" charset="0"/>
                <a:cs typeface="Times New Roman" pitchFamily="18" charset="0"/>
              </a:rPr>
              <a:t>modelling</a:t>
            </a:r>
            <a:r>
              <a:rPr lang="en-US" sz="5000" i="1" u="sng" dirty="0" smtClean="0">
                <a:solidFill>
                  <a:srgbClr val="FF0000"/>
                </a:solidFill>
                <a:latin typeface="Times New Roman" pitchFamily="18" charset="0"/>
                <a:cs typeface="Times New Roman" pitchFamily="18" charset="0"/>
              </a:rPr>
              <a:t> </a:t>
            </a:r>
            <a:r>
              <a:rPr lang="en-US" sz="5000" i="1" dirty="0" smtClean="0">
                <a:latin typeface="Times New Roman" pitchFamily="18" charset="0"/>
                <a:cs typeface="Times New Roman" pitchFamily="18" charset="0"/>
              </a:rPr>
              <a:t>tool</a:t>
            </a:r>
            <a:r>
              <a:rPr lang="en-US" sz="5000" dirty="0" smtClean="0">
                <a:latin typeface="Times New Roman" pitchFamily="18" charset="0"/>
                <a:cs typeface="Times New Roman" pitchFamily="18" charset="0"/>
              </a:rPr>
              <a:t>, such as Rational Rose to carry out any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activity. However, as Agile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explicitly debunks that myth, stating you should use whatever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medium is appropriate, which may include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tools such as Rational Rose, but also white boards, index cards, post-it notes, etc.</a:t>
            </a:r>
            <a:r>
              <a:rPr lang="en-IN" sz="5000" dirty="0" smtClean="0">
                <a:latin typeface="Times New Roman" pitchFamily="18" charset="0"/>
                <a:cs typeface="Times New Roman" pitchFamily="18" charset="0"/>
              </a:rPr>
              <a:t> </a:t>
            </a:r>
            <a:endParaRPr lang="en-IN" sz="5000" dirty="0" smtClean="0">
              <a:latin typeface="Times New Roman" pitchFamily="18" charset="0"/>
              <a:cs typeface="Times New Roman" pitchFamily="18" charset="0"/>
            </a:endParaRPr>
          </a:p>
          <a:p>
            <a:pPr>
              <a:buNone/>
            </a:pPr>
            <a:endParaRPr lang="en-IN" sz="5000" dirty="0" smtClean="0">
              <a:latin typeface="Times New Roman" pitchFamily="18" charset="0"/>
              <a:cs typeface="Times New Roman" pitchFamily="18" charset="0"/>
            </a:endParaRPr>
          </a:p>
          <a:p>
            <a:r>
              <a:rPr lang="en-US" sz="5000" i="1" u="sng" dirty="0" smtClean="0">
                <a:solidFill>
                  <a:srgbClr val="FF0000"/>
                </a:solidFill>
                <a:latin typeface="Times New Roman" pitchFamily="18" charset="0"/>
                <a:cs typeface="Times New Roman" pitchFamily="18" charset="0"/>
              </a:rPr>
              <a:t>You need to know, and use, </a:t>
            </a:r>
            <a:r>
              <a:rPr lang="en-US" sz="5000" i="1" dirty="0" smtClean="0">
                <a:latin typeface="Times New Roman" pitchFamily="18" charset="0"/>
                <a:cs typeface="Times New Roman" pitchFamily="18" charset="0"/>
              </a:rPr>
              <a:t>UML to create models</a:t>
            </a:r>
            <a:r>
              <a:rPr lang="en-US" sz="5000" dirty="0" smtClean="0">
                <a:latin typeface="Times New Roman" pitchFamily="18" charset="0"/>
                <a:cs typeface="Times New Roman" pitchFamily="18" charset="0"/>
              </a:rPr>
              <a:t>. Agile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does say that you should know how to apply whatever representation you are using in your models and that UML is one example of this. But it does not mandate any particular type of representation and indeed Agile </a:t>
            </a:r>
            <a:r>
              <a:rPr lang="en-US" sz="5000" dirty="0" err="1" smtClean="0">
                <a:latin typeface="Times New Roman" pitchFamily="18" charset="0"/>
                <a:cs typeface="Times New Roman" pitchFamily="18" charset="0"/>
              </a:rPr>
              <a:t>modellers</a:t>
            </a:r>
            <a:r>
              <a:rPr lang="en-US" sz="5000" dirty="0" smtClean="0">
                <a:latin typeface="Times New Roman" pitchFamily="18" charset="0"/>
                <a:cs typeface="Times New Roman" pitchFamily="18" charset="0"/>
              </a:rPr>
              <a:t> know that something like UML does not cover all the </a:t>
            </a:r>
            <a:r>
              <a:rPr lang="en-US" sz="5000" dirty="0" err="1" smtClean="0">
                <a:latin typeface="Times New Roman" pitchFamily="18" charset="0"/>
                <a:cs typeface="Times New Roman" pitchFamily="18" charset="0"/>
              </a:rPr>
              <a:t>modelling</a:t>
            </a:r>
            <a:r>
              <a:rPr lang="en-US" sz="5000" dirty="0" smtClean="0">
                <a:latin typeface="Times New Roman" pitchFamily="18" charset="0"/>
                <a:cs typeface="Times New Roman" pitchFamily="18" charset="0"/>
              </a:rPr>
              <a:t> situations you might want. In addition, an Agile </a:t>
            </a:r>
            <a:r>
              <a:rPr lang="en-US" sz="5000" dirty="0" err="1" smtClean="0">
                <a:latin typeface="Times New Roman" pitchFamily="18" charset="0"/>
                <a:cs typeface="Times New Roman" pitchFamily="18" charset="0"/>
              </a:rPr>
              <a:t>modeller</a:t>
            </a:r>
            <a:r>
              <a:rPr lang="en-US" sz="5000" dirty="0" smtClean="0">
                <a:latin typeface="Times New Roman" pitchFamily="18" charset="0"/>
                <a:cs typeface="Times New Roman" pitchFamily="18" charset="0"/>
              </a:rPr>
              <a:t> will not worry about creating a precise and complete UML diagram. Instead, they will focus on the audience of what they are creating and make sure that it is comprehensible to that audience. </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7500" lnSpcReduction="20000"/>
          </a:bodyPr>
          <a:lstStyle/>
          <a:p>
            <a:r>
              <a:rPr lang="en-US" i="1" u="sng" dirty="0" smtClean="0">
                <a:solidFill>
                  <a:srgbClr val="FF0000"/>
                </a:solidFill>
                <a:latin typeface="Times New Roman" pitchFamily="18" charset="0"/>
                <a:cs typeface="Times New Roman" pitchFamily="18" charset="0"/>
              </a:rPr>
              <a:t>XP does not encourage </a:t>
            </a:r>
            <a:r>
              <a:rPr lang="en-US" i="1" u="sng" dirty="0" err="1" smtClean="0">
                <a:solidFill>
                  <a:srgbClr val="FF0000"/>
                </a:solidFill>
                <a:latin typeface="Times New Roman" pitchFamily="18" charset="0"/>
                <a:cs typeface="Times New Roman" pitchFamily="18" charset="0"/>
              </a:rPr>
              <a:t>modelling</a:t>
            </a:r>
            <a:r>
              <a:rPr lang="en-US" dirty="0" smtClean="0">
                <a:latin typeface="Times New Roman" pitchFamily="18" charset="0"/>
                <a:cs typeface="Times New Roman" pitchFamily="18" charset="0"/>
              </a:rPr>
              <a:t>. Actually this is wrong. XP does promote the creation and use of models. The use of index cards for user stories and classes is a form of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XP practitioners will also often draw diagrams on white boards while trying to consider how to address a problem of </a:t>
            </a:r>
            <a:r>
              <a:rPr lang="en-US" dirty="0" err="1" smtClean="0">
                <a:latin typeface="Times New Roman" pitchFamily="18" charset="0"/>
                <a:cs typeface="Times New Roman" pitchFamily="18" charset="0"/>
              </a:rPr>
              <a:t>refactor</a:t>
            </a:r>
            <a:r>
              <a:rPr lang="en-US" dirty="0" smtClean="0">
                <a:latin typeface="Times New Roman" pitchFamily="18" charset="0"/>
                <a:cs typeface="Times New Roman" pitchFamily="18" charset="0"/>
              </a:rPr>
              <a:t> code, etc. These are again forms of models.</a:t>
            </a:r>
            <a:endParaRPr lang="en-IN" dirty="0" smtClean="0">
              <a:latin typeface="Times New Roman" pitchFamily="18" charset="0"/>
              <a:cs typeface="Times New Roman" pitchFamily="18" charset="0"/>
            </a:endParaRPr>
          </a:p>
          <a:p>
            <a:r>
              <a:rPr lang="en-US" i="1" u="sng" dirty="0" smtClean="0">
                <a:solidFill>
                  <a:srgbClr val="FF0000"/>
                </a:solidFill>
                <a:latin typeface="Times New Roman" pitchFamily="18" charset="0"/>
                <a:cs typeface="Times New Roman" pitchFamily="18" charset="0"/>
              </a:rPr>
              <a:t>XP does not create any documentation </a:t>
            </a:r>
            <a:r>
              <a:rPr lang="en-US" dirty="0" smtClean="0">
                <a:latin typeface="Times New Roman" pitchFamily="18" charset="0"/>
                <a:cs typeface="Times New Roman" pitchFamily="18" charset="0"/>
              </a:rPr>
              <a:t>and models are a form of unnecessary documentation. XP promotes code as the core form of documentation for a system as only code is in sync with code. However, documentation needs to be appropriate for the reader of that documentation. Source code may be a good source of reference for programmers, but it is unlikely to be appropriate for end users, non-programmers, support personnel, etc. In some cases, models may be a very useful form of documentation for some of these audiences. </a:t>
            </a:r>
            <a:endParaRPr lang="en-IN"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ctr" rtl="0">
              <a:spcBef>
                <a:spcPct val="0"/>
              </a:spcBef>
            </a:pPr>
            <a:r>
              <a:rPr lang="en-US" sz="3600" b="1" dirty="0" smtClean="0">
                <a:solidFill>
                  <a:srgbClr val="FF0000"/>
                </a:solidFill>
                <a:latin typeface="Times New Roman" pitchFamily="18" charset="0"/>
                <a:cs typeface="Times New Roman" pitchFamily="18" charset="0"/>
              </a:rPr>
              <a:t>Agile </a:t>
            </a:r>
            <a:r>
              <a:rPr lang="en-US" sz="3600" b="1" dirty="0" err="1" smtClean="0">
                <a:solidFill>
                  <a:srgbClr val="FF0000"/>
                </a:solidFill>
                <a:latin typeface="Times New Roman" pitchFamily="18" charset="0"/>
                <a:cs typeface="Times New Roman" pitchFamily="18" charset="0"/>
              </a:rPr>
              <a:t>Modelling</a:t>
            </a:r>
            <a:r>
              <a:rPr lang="en-US" sz="3600" b="1" dirty="0" smtClean="0">
                <a:solidFill>
                  <a:srgbClr val="FF0000"/>
                </a:solidFill>
                <a:latin typeface="Times New Roman" pitchFamily="18" charset="0"/>
                <a:cs typeface="Times New Roman" pitchFamily="18" charset="0"/>
              </a:rPr>
              <a:t> and Planning XP Projects</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In this section, we will consider how and where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fits into the project-planning aspects of an XP project. An XP project is planned at a number of levels and at various points during an XP projects lifetime (see Figure 7.6). This means that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practices </a:t>
            </a:r>
            <a:r>
              <a:rPr lang="en-US" dirty="0" smtClean="0">
                <a:latin typeface="Times New Roman" pitchFamily="18" charset="0"/>
                <a:cs typeface="Times New Roman" pitchFamily="18" charset="0"/>
              </a:rPr>
              <a:t>may be more or less relevant at different stages during this process. In the following, we will consider the planning process and where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can be exploited to the benefit of XP</a:t>
            </a:r>
            <a:endParaRPr lang="en-IN"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457200" y="381000"/>
            <a:ext cx="8382000" cy="57912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6172200"/>
          </a:xfrm>
        </p:spPr>
        <p:txBody>
          <a:bodyPr>
            <a:normAutofit fontScale="85000" lnSpcReduction="20000"/>
          </a:bodyPr>
          <a:lstStyle/>
          <a:p>
            <a:pPr lvl="2">
              <a:buNone/>
            </a:pPr>
            <a:r>
              <a:rPr lang="en-US" sz="3300" b="1" dirty="0" smtClean="0">
                <a:solidFill>
                  <a:srgbClr val="FF0000"/>
                </a:solidFill>
                <a:latin typeface="Times New Roman" pitchFamily="18" charset="0"/>
                <a:cs typeface="Times New Roman" pitchFamily="18" charset="0"/>
              </a:rPr>
              <a:t>Initial Project Planning</a:t>
            </a:r>
            <a:endParaRPr lang="en-IN" sz="3300" b="1" dirty="0" smtClean="0">
              <a:solidFill>
                <a:srgbClr val="FF0000"/>
              </a:solidFill>
              <a:latin typeface="Times New Roman" pitchFamily="18" charset="0"/>
              <a:cs typeface="Times New Roman" pitchFamily="18" charset="0"/>
            </a:endParaRPr>
          </a:p>
          <a:p>
            <a:r>
              <a:rPr lang="en-US" sz="3300" dirty="0" smtClean="0">
                <a:latin typeface="Times New Roman" pitchFamily="18" charset="0"/>
                <a:cs typeface="Times New Roman" pitchFamily="18" charset="0"/>
              </a:rPr>
              <a:t>There are two primary steps within the initial project-planning phase; these are the initial planning game and the elaboration process.</a:t>
            </a:r>
          </a:p>
          <a:p>
            <a:r>
              <a:rPr lang="en-US" sz="3300" i="1" u="sng" dirty="0" smtClean="0">
                <a:solidFill>
                  <a:srgbClr val="FF0000"/>
                </a:solidFill>
                <a:latin typeface="Times New Roman" pitchFamily="18" charset="0"/>
                <a:cs typeface="Times New Roman" pitchFamily="18" charset="0"/>
              </a:rPr>
              <a:t>Initial planning game</a:t>
            </a:r>
            <a:r>
              <a:rPr lang="en-US" sz="3300" dirty="0" smtClean="0">
                <a:latin typeface="Times New Roman" pitchFamily="18" charset="0"/>
                <a:cs typeface="Times New Roman" pitchFamily="18" charset="0"/>
              </a:rPr>
              <a:t>. During this process, business and development may resort to </a:t>
            </a:r>
            <a:r>
              <a:rPr lang="en-US" sz="3300" dirty="0" err="1" smtClean="0">
                <a:latin typeface="Times New Roman" pitchFamily="18" charset="0"/>
                <a:cs typeface="Times New Roman" pitchFamily="18" charset="0"/>
              </a:rPr>
              <a:t>modelling</a:t>
            </a:r>
            <a:r>
              <a:rPr lang="en-US" sz="3300" dirty="0" smtClean="0">
                <a:latin typeface="Times New Roman" pitchFamily="18" charset="0"/>
                <a:cs typeface="Times New Roman" pitchFamily="18" charset="0"/>
              </a:rPr>
              <a:t> to help them clarify the user stories. By applying Agile </a:t>
            </a:r>
            <a:r>
              <a:rPr lang="en-US" sz="3300" dirty="0" err="1" smtClean="0">
                <a:latin typeface="Times New Roman" pitchFamily="18" charset="0"/>
                <a:cs typeface="Times New Roman" pitchFamily="18" charset="0"/>
              </a:rPr>
              <a:t>Modelling</a:t>
            </a:r>
            <a:r>
              <a:rPr lang="en-US" sz="3300" dirty="0" smtClean="0">
                <a:latin typeface="Times New Roman" pitchFamily="18" charset="0"/>
                <a:cs typeface="Times New Roman" pitchFamily="18" charset="0"/>
              </a:rPr>
              <a:t> </a:t>
            </a:r>
            <a:r>
              <a:rPr lang="en-US" sz="3300" dirty="0" smtClean="0">
                <a:latin typeface="Times New Roman" pitchFamily="18" charset="0"/>
                <a:cs typeface="Times New Roman" pitchFamily="18" charset="0"/>
              </a:rPr>
              <a:t>practices, </a:t>
            </a:r>
            <a:r>
              <a:rPr lang="en-US" sz="3300" dirty="0" smtClean="0">
                <a:latin typeface="Times New Roman" pitchFamily="18" charset="0"/>
                <a:cs typeface="Times New Roman" pitchFamily="18" charset="0"/>
              </a:rPr>
              <a:t>this </a:t>
            </a:r>
            <a:r>
              <a:rPr lang="en-US" sz="3300" dirty="0" err="1" smtClean="0">
                <a:latin typeface="Times New Roman" pitchFamily="18" charset="0"/>
                <a:cs typeface="Times New Roman" pitchFamily="18" charset="0"/>
              </a:rPr>
              <a:t>modelling</a:t>
            </a:r>
            <a:r>
              <a:rPr lang="en-US" sz="3300" dirty="0" smtClean="0">
                <a:latin typeface="Times New Roman" pitchFamily="18" charset="0"/>
                <a:cs typeface="Times New Roman" pitchFamily="18" charset="0"/>
              </a:rPr>
              <a:t> can be controlled and focused. An example of where they might do this is when a User Interface mock up might be created, with some simple flow charts to prototype system </a:t>
            </a:r>
            <a:r>
              <a:rPr lang="en-US" sz="3300" dirty="0" err="1" smtClean="0">
                <a:latin typeface="Times New Roman" pitchFamily="18" charset="0"/>
                <a:cs typeface="Times New Roman" pitchFamily="18" charset="0"/>
              </a:rPr>
              <a:t>behaviour</a:t>
            </a:r>
            <a:r>
              <a:rPr lang="en-US" sz="3300" dirty="0" smtClean="0">
                <a:latin typeface="Times New Roman" pitchFamily="18" charset="0"/>
                <a:cs typeface="Times New Roman" pitchFamily="18" charset="0"/>
              </a:rPr>
              <a:t> as a way of elaborating a user story.</a:t>
            </a:r>
          </a:p>
          <a:p>
            <a:r>
              <a:rPr lang="en-US" sz="3300" i="1" u="sng" dirty="0" smtClean="0">
                <a:solidFill>
                  <a:srgbClr val="FF0000"/>
                </a:solidFill>
                <a:latin typeface="Times New Roman" pitchFamily="18" charset="0"/>
                <a:cs typeface="Times New Roman" pitchFamily="18" charset="0"/>
              </a:rPr>
              <a:t>Elaboration process</a:t>
            </a:r>
            <a:r>
              <a:rPr lang="en-US" sz="3300" dirty="0" smtClean="0">
                <a:latin typeface="Times New Roman" pitchFamily="18" charset="0"/>
                <a:cs typeface="Times New Roman" pitchFamily="18" charset="0"/>
              </a:rPr>
              <a:t>. </a:t>
            </a:r>
            <a:r>
              <a:rPr lang="en-US" sz="3300" dirty="0" err="1" smtClean="0">
                <a:latin typeface="Times New Roman" pitchFamily="18" charset="0"/>
                <a:cs typeface="Times New Roman" pitchFamily="18" charset="0"/>
              </a:rPr>
              <a:t>Duringthe</a:t>
            </a:r>
            <a:r>
              <a:rPr lang="en-US" sz="3300" dirty="0" smtClean="0">
                <a:latin typeface="Times New Roman" pitchFamily="18" charset="0"/>
                <a:cs typeface="Times New Roman" pitchFamily="18" charset="0"/>
              </a:rPr>
              <a:t> elaboration process, various models may be created to help the developers understand what will be required of the system. This will help to produce better estimates, etc. Again Agile </a:t>
            </a:r>
            <a:r>
              <a:rPr lang="en-US" sz="3300" dirty="0" err="1" smtClean="0">
                <a:latin typeface="Times New Roman" pitchFamily="18" charset="0"/>
                <a:cs typeface="Times New Roman" pitchFamily="18" charset="0"/>
              </a:rPr>
              <a:t>Modelling</a:t>
            </a:r>
            <a:r>
              <a:rPr lang="en-US" sz="3300" dirty="0" smtClean="0">
                <a:latin typeface="Times New Roman" pitchFamily="18" charset="0"/>
                <a:cs typeface="Times New Roman" pitchFamily="18" charset="0"/>
              </a:rPr>
              <a:t> </a:t>
            </a:r>
            <a:r>
              <a:rPr lang="en-US" sz="3300" dirty="0" smtClean="0">
                <a:latin typeface="Times New Roman" pitchFamily="18" charset="0"/>
                <a:cs typeface="Times New Roman" pitchFamily="18" charset="0"/>
              </a:rPr>
              <a:t>practices </a:t>
            </a:r>
            <a:r>
              <a:rPr lang="en-US" sz="3300" dirty="0" smtClean="0">
                <a:latin typeface="Times New Roman" pitchFamily="18" charset="0"/>
                <a:cs typeface="Times New Roman" pitchFamily="18" charset="0"/>
              </a:rPr>
              <a:t>can be of great help here.</a:t>
            </a:r>
            <a:endParaRPr lang="en-IN" sz="3300" dirty="0" smtClean="0">
              <a:latin typeface="Times New Roman" pitchFamily="18" charset="0"/>
              <a:cs typeface="Times New Roman" pitchFamily="18" charset="0"/>
            </a:endParaRPr>
          </a:p>
          <a:p>
            <a:endParaRPr lang="en-IN" dirty="0" smtClean="0"/>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fontScale="85000" lnSpcReduction="20000"/>
          </a:bodyPr>
          <a:lstStyle/>
          <a:p>
            <a:pPr lvl="2">
              <a:buNone/>
            </a:pPr>
            <a:r>
              <a:rPr lang="en-US" sz="3100" b="1" dirty="0" smtClean="0">
                <a:solidFill>
                  <a:srgbClr val="FF0000"/>
                </a:solidFill>
                <a:latin typeface="Times New Roman" pitchFamily="18" charset="0"/>
                <a:cs typeface="Times New Roman" pitchFamily="18" charset="0"/>
              </a:rPr>
              <a:t>Iteration/Release Planning</a:t>
            </a:r>
            <a:endParaRPr lang="en-IN" sz="3100" b="1" dirty="0" smtClean="0">
              <a:solidFill>
                <a:srgbClr val="FF0000"/>
              </a:solidFill>
              <a:latin typeface="Times New Roman" pitchFamily="18" charset="0"/>
              <a:cs typeface="Times New Roman" pitchFamily="18" charset="0"/>
            </a:endParaRPr>
          </a:p>
          <a:p>
            <a:r>
              <a:rPr lang="en-US" sz="3100" dirty="0" smtClean="0">
                <a:latin typeface="Times New Roman" pitchFamily="18" charset="0"/>
                <a:cs typeface="Times New Roman" pitchFamily="18" charset="0"/>
              </a:rPr>
              <a:t>During the iteration/release planning stages,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is again important.</a:t>
            </a:r>
            <a:endParaRPr lang="en-IN" sz="3100" dirty="0" smtClean="0">
              <a:latin typeface="Times New Roman" pitchFamily="18" charset="0"/>
              <a:cs typeface="Times New Roman" pitchFamily="18" charset="0"/>
            </a:endParaRPr>
          </a:p>
          <a:p>
            <a:r>
              <a:rPr lang="en-US" sz="3100" i="1" dirty="0" smtClean="0">
                <a:solidFill>
                  <a:srgbClr val="FF0000"/>
                </a:solidFill>
                <a:latin typeface="Times New Roman" pitchFamily="18" charset="0"/>
                <a:cs typeface="Times New Roman" pitchFamily="18" charset="0"/>
              </a:rPr>
              <a:t>Release </a:t>
            </a:r>
            <a:r>
              <a:rPr lang="en-US" sz="3100" i="1" dirty="0" err="1" smtClean="0">
                <a:solidFill>
                  <a:srgbClr val="FF0000"/>
                </a:solidFill>
                <a:latin typeface="Times New Roman" pitchFamily="18" charset="0"/>
                <a:cs typeface="Times New Roman" pitchFamily="18" charset="0"/>
              </a:rPr>
              <a:t>planninggame</a:t>
            </a:r>
            <a:r>
              <a:rPr lang="en-US" sz="3100" dirty="0" smtClean="0">
                <a:latin typeface="Times New Roman" pitchFamily="18" charset="0"/>
                <a:cs typeface="Times New Roman" pitchFamily="18" charset="0"/>
              </a:rPr>
              <a:t>. As with the initial planning game, Agile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a:t>
            </a:r>
            <a:r>
              <a:rPr lang="en-US" sz="3100" dirty="0" smtClean="0">
                <a:latin typeface="Times New Roman" pitchFamily="18" charset="0"/>
                <a:cs typeface="Times New Roman" pitchFamily="18" charset="0"/>
              </a:rPr>
              <a:t>practices </a:t>
            </a:r>
            <a:r>
              <a:rPr lang="en-US" sz="3100" dirty="0" smtClean="0">
                <a:latin typeface="Times New Roman" pitchFamily="18" charset="0"/>
                <a:cs typeface="Times New Roman" pitchFamily="18" charset="0"/>
              </a:rPr>
              <a:t>can help focus the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activities used to clarify user requirements.</a:t>
            </a:r>
            <a:endParaRPr lang="en-IN" sz="3100" dirty="0" smtClean="0">
              <a:latin typeface="Times New Roman" pitchFamily="18" charset="0"/>
              <a:cs typeface="Times New Roman" pitchFamily="18" charset="0"/>
            </a:endParaRPr>
          </a:p>
          <a:p>
            <a:r>
              <a:rPr lang="en-US" sz="3100" i="1" dirty="0" smtClean="0">
                <a:solidFill>
                  <a:srgbClr val="FF0000"/>
                </a:solidFill>
                <a:latin typeface="Times New Roman" pitchFamily="18" charset="0"/>
                <a:cs typeface="Times New Roman" pitchFamily="18" charset="0"/>
              </a:rPr>
              <a:t>Elaboration process</a:t>
            </a:r>
            <a:r>
              <a:rPr lang="en-US" sz="3100" dirty="0" smtClean="0">
                <a:latin typeface="Times New Roman" pitchFamily="18" charset="0"/>
                <a:cs typeface="Times New Roman" pitchFamily="18" charset="0"/>
              </a:rPr>
              <a:t>. Although this is typically a shorter process than for the </a:t>
            </a:r>
            <a:r>
              <a:rPr lang="en-US" sz="3100" dirty="0" smtClean="0">
                <a:latin typeface="Times New Roman" pitchFamily="18" charset="0"/>
                <a:cs typeface="Times New Roman" pitchFamily="18" charset="0"/>
              </a:rPr>
              <a:t>initial </a:t>
            </a:r>
            <a:r>
              <a:rPr lang="en-US" sz="3100" dirty="0" smtClean="0">
                <a:latin typeface="Times New Roman" pitchFamily="18" charset="0"/>
                <a:cs typeface="Times New Roman" pitchFamily="18" charset="0"/>
              </a:rPr>
              <a:t>project planning phase, some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often still takes place and Agile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can be applied to ensure that </a:t>
            </a:r>
            <a:r>
              <a:rPr lang="en-US" sz="3100" dirty="0" err="1" smtClean="0">
                <a:latin typeface="Times New Roman" pitchFamily="18" charset="0"/>
                <a:cs typeface="Times New Roman" pitchFamily="18" charset="0"/>
              </a:rPr>
              <a:t>modelling</a:t>
            </a:r>
            <a:r>
              <a:rPr lang="en-US" sz="3100" dirty="0" smtClean="0">
                <a:latin typeface="Times New Roman" pitchFamily="18" charset="0"/>
                <a:cs typeface="Times New Roman" pitchFamily="18" charset="0"/>
              </a:rPr>
              <a:t> does not become a burden.</a:t>
            </a:r>
          </a:p>
          <a:p>
            <a:r>
              <a:rPr lang="en-US" sz="3100" i="1" dirty="0" smtClean="0">
                <a:solidFill>
                  <a:srgbClr val="FF0000"/>
                </a:solidFill>
                <a:latin typeface="Times New Roman" pitchFamily="18" charset="0"/>
                <a:cs typeface="Times New Roman" pitchFamily="18" charset="0"/>
              </a:rPr>
              <a:t>Iteration planning</a:t>
            </a:r>
            <a:r>
              <a:rPr lang="en-US" sz="3100" dirty="0" smtClean="0">
                <a:latin typeface="Times New Roman" pitchFamily="18" charset="0"/>
                <a:cs typeface="Times New Roman" pitchFamily="18" charset="0"/>
              </a:rPr>
              <a:t>. In order to break down user stories into tasks, it may be </a:t>
            </a:r>
            <a:r>
              <a:rPr lang="en-US" sz="3100" dirty="0" smtClean="0">
                <a:latin typeface="Times New Roman" pitchFamily="18" charset="0"/>
                <a:cs typeface="Times New Roman" pitchFamily="18" charset="0"/>
              </a:rPr>
              <a:t>necessary </a:t>
            </a:r>
            <a:r>
              <a:rPr lang="en-US" sz="3100" dirty="0" smtClean="0">
                <a:latin typeface="Times New Roman" pitchFamily="18" charset="0"/>
                <a:cs typeface="Times New Roman" pitchFamily="18" charset="0"/>
              </a:rPr>
              <a:t>to model how the user stories might be implemented. This might involve initial class structures, </a:t>
            </a:r>
            <a:r>
              <a:rPr lang="en-US" sz="3100" dirty="0" smtClean="0">
                <a:latin typeface="Times New Roman" pitchFamily="18" charset="0"/>
                <a:cs typeface="Times New Roman" pitchFamily="18" charset="0"/>
              </a:rPr>
              <a:t>behavior, </a:t>
            </a:r>
            <a:r>
              <a:rPr lang="en-US" sz="3100" dirty="0" smtClean="0">
                <a:latin typeface="Times New Roman" pitchFamily="18" charset="0"/>
                <a:cs typeface="Times New Roman" pitchFamily="18" charset="0"/>
              </a:rPr>
              <a:t>etc. This can allow tasks to be identified, </a:t>
            </a:r>
            <a:r>
              <a:rPr lang="en-US" sz="3100" dirty="0" smtClean="0">
                <a:latin typeface="Times New Roman" pitchFamily="18" charset="0"/>
                <a:cs typeface="Times New Roman" pitchFamily="18" charset="0"/>
              </a:rPr>
              <a:t>clarified </a:t>
            </a:r>
            <a:r>
              <a:rPr lang="en-US" sz="3100" dirty="0" smtClean="0">
                <a:latin typeface="Times New Roman" pitchFamily="18" charset="0"/>
                <a:cs typeface="Times New Roman" pitchFamily="18" charset="0"/>
              </a:rPr>
              <a:t>or split up. Note that this is not large up-front design, as the models may be discarded and may only be intended to help elaborate the tasks.</a:t>
            </a:r>
            <a:endParaRPr lang="en-IN" sz="3100" dirty="0" smtClean="0">
              <a:latin typeface="Times New Roman" pitchFamily="18" charset="0"/>
              <a:cs typeface="Times New Roman" pitchFamily="18" charset="0"/>
            </a:endParaRP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smtClean="0">
                <a:latin typeface="Times New Roman" pitchFamily="18" charset="0"/>
                <a:cs typeface="Times New Roman" pitchFamily="18" charset="0"/>
              </a:rPr>
              <a:t>XP Implementation Phase</a:t>
            </a:r>
            <a:r>
              <a:rPr lang="en-IN" b="1" dirty="0" smtClean="0"/>
              <a:t/>
            </a:r>
            <a:br>
              <a:rPr lang="en-IN" b="1" dirty="0" smtClean="0"/>
            </a:br>
            <a:endParaRPr lang="en-IN" dirty="0"/>
          </a:p>
        </p:txBody>
      </p:sp>
      <p:sp>
        <p:nvSpPr>
          <p:cNvPr id="3" name="Content Placeholder 2"/>
          <p:cNvSpPr>
            <a:spLocks noGrp="1"/>
          </p:cNvSpPr>
          <p:nvPr>
            <p:ph idx="1"/>
          </p:nvPr>
        </p:nvSpPr>
        <p:spPr>
          <a:xfrm>
            <a:off x="381000" y="1143000"/>
            <a:ext cx="8229600" cy="5105400"/>
          </a:xfrm>
        </p:spPr>
        <p:txBody>
          <a:bodyPr>
            <a:normAutofit fontScale="70000" lnSpcReduction="20000"/>
          </a:bodyPr>
          <a:lstStyle/>
          <a:p>
            <a:r>
              <a:rPr lang="en-US" dirty="0" smtClean="0"/>
              <a:t>This is where the code actually gets written within an XP project. There are therefore various points at which a model may be relevant and therefore Agile </a:t>
            </a:r>
            <a:r>
              <a:rPr lang="en-US" dirty="0" err="1" smtClean="0"/>
              <a:t>Modelling</a:t>
            </a:r>
            <a:r>
              <a:rPr lang="en-US" dirty="0" smtClean="0"/>
              <a:t> </a:t>
            </a:r>
            <a:r>
              <a:rPr lang="en-US" dirty="0" err="1" smtClean="0"/>
              <a:t>practises</a:t>
            </a:r>
            <a:r>
              <a:rPr lang="en-US" dirty="0" smtClean="0"/>
              <a:t> may be applied. For example, in helping to understand code in order to </a:t>
            </a:r>
            <a:r>
              <a:rPr lang="en-US" dirty="0" err="1" smtClean="0"/>
              <a:t>refactor</a:t>
            </a:r>
            <a:r>
              <a:rPr lang="en-US" dirty="0" smtClean="0"/>
              <a:t> it, etc. We will now look at how Agile </a:t>
            </a:r>
            <a:r>
              <a:rPr lang="en-US" dirty="0" err="1" smtClean="0"/>
              <a:t>Modelling</a:t>
            </a:r>
            <a:r>
              <a:rPr lang="en-US" dirty="0" smtClean="0"/>
              <a:t> can </a:t>
            </a:r>
            <a:r>
              <a:rPr lang="en-US" dirty="0" err="1" smtClean="0"/>
              <a:t>comple</a:t>
            </a:r>
            <a:r>
              <a:rPr lang="en-US" dirty="0" smtClean="0"/>
              <a:t>- </a:t>
            </a:r>
            <a:r>
              <a:rPr lang="en-US" dirty="0" err="1" smtClean="0"/>
              <a:t>ment</a:t>
            </a:r>
            <a:r>
              <a:rPr lang="en-US" dirty="0" smtClean="0"/>
              <a:t> several of the implementation-oriented </a:t>
            </a:r>
            <a:r>
              <a:rPr lang="en-US" dirty="0" err="1" smtClean="0"/>
              <a:t>practises</a:t>
            </a:r>
            <a:r>
              <a:rPr lang="en-US" dirty="0" smtClean="0"/>
              <a:t> of XP. By implementation- oriented </a:t>
            </a:r>
            <a:r>
              <a:rPr lang="en-US" dirty="0" err="1" smtClean="0"/>
              <a:t>practises</a:t>
            </a:r>
            <a:r>
              <a:rPr lang="en-US" dirty="0" smtClean="0"/>
              <a:t>, I mean </a:t>
            </a:r>
            <a:r>
              <a:rPr lang="en-US" dirty="0" err="1" smtClean="0"/>
              <a:t>practises</a:t>
            </a:r>
            <a:r>
              <a:rPr lang="en-US" dirty="0" smtClean="0"/>
              <a:t> such as “Test-first coding,” and “Refactoring,” rather than the more process-oriented ones such as, “The Planning Game” or the “40 hour week rule.”</a:t>
            </a:r>
            <a:endParaRPr lang="en-IN" dirty="0" smtClean="0"/>
          </a:p>
          <a:p>
            <a:r>
              <a:rPr lang="en-US" dirty="0" smtClean="0"/>
              <a:t>The </a:t>
            </a:r>
            <a:r>
              <a:rPr lang="en-US" dirty="0" err="1" smtClean="0"/>
              <a:t>practises</a:t>
            </a:r>
            <a:r>
              <a:rPr lang="en-US" dirty="0" smtClean="0"/>
              <a:t> to be looked at in this section are:</a:t>
            </a:r>
            <a:endParaRPr lang="en-IN" dirty="0" smtClean="0"/>
          </a:p>
          <a:p>
            <a:r>
              <a:rPr lang="en-US" dirty="0" smtClean="0"/>
              <a:t>refactoring,</a:t>
            </a:r>
            <a:endParaRPr lang="en-IN" dirty="0" smtClean="0"/>
          </a:p>
          <a:p>
            <a:r>
              <a:rPr lang="en-US" dirty="0" smtClean="0"/>
              <a:t>test-first coding,</a:t>
            </a:r>
          </a:p>
          <a:p>
            <a:r>
              <a:rPr lang="en-US" dirty="0" smtClean="0"/>
              <a:t>simple design and</a:t>
            </a:r>
            <a:endParaRPr lang="en-IN" dirty="0" smtClean="0"/>
          </a:p>
          <a:p>
            <a:r>
              <a:rPr lang="en-US" dirty="0" smtClean="0"/>
              <a:t>pair programming.</a:t>
            </a:r>
            <a:endParaRPr lang="en-IN" dirty="0" smtClean="0"/>
          </a:p>
          <a:p>
            <a:endParaRPr lang="en-IN" dirty="0" smtClean="0"/>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3200" b="1" dirty="0" smtClean="0">
                <a:solidFill>
                  <a:srgbClr val="FF0000"/>
                </a:solidFill>
              </a:rPr>
              <a:t>Refactoring</a:t>
            </a:r>
            <a:r>
              <a:rPr lang="en-IN" sz="3200" b="1" dirty="0" smtClean="0"/>
              <a:t/>
            </a:r>
            <a:br>
              <a:rPr lang="en-IN" sz="3200" b="1" dirty="0" smtClean="0"/>
            </a:br>
            <a:endParaRPr lang="en-IN" sz="3200" dirty="0"/>
          </a:p>
        </p:txBody>
      </p:sp>
      <p:sp>
        <p:nvSpPr>
          <p:cNvPr id="3" name="Content Placeholder 2"/>
          <p:cNvSpPr>
            <a:spLocks noGrp="1"/>
          </p:cNvSpPr>
          <p:nvPr>
            <p:ph idx="1"/>
          </p:nvPr>
        </p:nvSpPr>
        <p:spPr>
          <a:xfrm>
            <a:off x="609600" y="1066800"/>
            <a:ext cx="8229600" cy="4525963"/>
          </a:xfrm>
        </p:spPr>
        <p:txBody>
          <a:bodyPr>
            <a:normAutofit fontScale="77500" lnSpcReduction="20000"/>
          </a:bodyPr>
          <a:lstStyle/>
          <a:p>
            <a:r>
              <a:rPr lang="en-US" dirty="0" smtClean="0">
                <a:latin typeface="Times New Roman" pitchFamily="18" charset="0"/>
                <a:cs typeface="Times New Roman" pitchFamily="18" charset="0"/>
              </a:rPr>
              <a:t>Refactoring is primarily a code improvement technique, so is it compatible with a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activity? Is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and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in particular, relevant to refactoring? The answer of course is “yes,” as we have already indicated earlier in this chapter. In the last chapter, some of the issues to consider when refactoring were given as: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Make sure you know how to improve the code.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Make sure what you have done has improved the code.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That is, “know what you are doing!” It was also stressed that you should not </a:t>
            </a:r>
            <a:r>
              <a:rPr lang="en-US" dirty="0" smtClean="0">
                <a:latin typeface="Times New Roman" pitchFamily="18" charset="0"/>
                <a:cs typeface="Times New Roman" pitchFamily="18" charset="0"/>
              </a:rPr>
              <a:t>refractor:</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“When you haven’t got a clear plan of how you will improve the code.”</a:t>
            </a:r>
            <a:endParaRPr lang="en-IN" sz="4400" dirty="0" smtClean="0">
              <a:latin typeface="Times New Roman" pitchFamily="18" charset="0"/>
              <a:cs typeface="Times New Roman" pitchFamily="18" charset="0"/>
            </a:endParaRPr>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1" y="381000"/>
            <a:ext cx="5714999" cy="5630069"/>
          </a:xfrm>
          <a:prstGeom prst="rect">
            <a:avLst/>
          </a:prstGeom>
          <a:noFill/>
          <a:ln w="9525">
            <a:noFill/>
            <a:miter lim="800000"/>
            <a:headEnd/>
            <a:tailEnd/>
          </a:ln>
        </p:spPr>
      </p:pic>
      <p:sp>
        <p:nvSpPr>
          <p:cNvPr id="5" name="Rectangle 4"/>
          <p:cNvSpPr/>
          <p:nvPr/>
        </p:nvSpPr>
        <p:spPr>
          <a:xfrm>
            <a:off x="5791200" y="1752600"/>
            <a:ext cx="3352800" cy="3785652"/>
          </a:xfrm>
          <a:prstGeom prst="rect">
            <a:avLst/>
          </a:prstGeom>
        </p:spPr>
        <p:txBody>
          <a:bodyPr wrap="square">
            <a:spAutoFit/>
          </a:bodyPr>
          <a:lstStyle/>
          <a:p>
            <a:r>
              <a:rPr lang="en-US" sz="2400" dirty="0" smtClean="0">
                <a:latin typeface="Times New Roman" pitchFamily="18" charset="0"/>
                <a:cs typeface="Times New Roman" pitchFamily="18" charset="0"/>
              </a:rPr>
              <a:t>For example, Figure 7.7 illustrates a possible user interface design for a membership web site. This is a diagram drawn on a white board to consider what fields are needed and what will happen when a user selects the submit option. </a:t>
            </a:r>
            <a:endParaRPr lang="en-IN"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400" b="1" dirty="0" smtClean="0">
                <a:solidFill>
                  <a:srgbClr val="FF0000"/>
                </a:solidFill>
                <a:latin typeface="Times New Roman" pitchFamily="18" charset="0"/>
                <a:cs typeface="Times New Roman" pitchFamily="18" charset="0"/>
              </a:rPr>
              <a:t>Test-First Coding</a:t>
            </a:r>
            <a:r>
              <a:rPr lang="en-IN" b="1" dirty="0" smtClean="0"/>
              <a:t/>
            </a:r>
            <a:br>
              <a:rPr lang="en-IN" b="1" dirty="0" smtClean="0"/>
            </a:br>
            <a:endParaRPr lang="en-IN" dirty="0"/>
          </a:p>
        </p:txBody>
      </p:sp>
      <p:sp>
        <p:nvSpPr>
          <p:cNvPr id="3" name="Content Placeholder 2"/>
          <p:cNvSpPr>
            <a:spLocks noGrp="1"/>
          </p:cNvSpPr>
          <p:nvPr>
            <p:ph idx="1"/>
          </p:nvPr>
        </p:nvSpPr>
        <p:spPr>
          <a:xfrm>
            <a:off x="457200" y="914400"/>
            <a:ext cx="8229600" cy="4525963"/>
          </a:xfrm>
        </p:spPr>
        <p:txBody>
          <a:bodyPr>
            <a:normAutofit/>
          </a:bodyPr>
          <a:lstStyle/>
          <a:p>
            <a:r>
              <a:rPr lang="en-US" sz="2600" dirty="0" smtClean="0">
                <a:latin typeface="Times New Roman" pitchFamily="18" charset="0"/>
                <a:cs typeface="Times New Roman" pitchFamily="18" charset="0"/>
              </a:rPr>
              <a:t>At first sight, with respect to test-first coding, </a:t>
            </a:r>
            <a:r>
              <a:rPr lang="en-US" sz="2600" dirty="0" err="1" smtClean="0">
                <a:latin typeface="Times New Roman" pitchFamily="18" charset="0"/>
                <a:cs typeface="Times New Roman" pitchFamily="18" charset="0"/>
              </a:rPr>
              <a:t>modelling</a:t>
            </a:r>
            <a:r>
              <a:rPr lang="en-US" sz="2600" dirty="0" smtClean="0">
                <a:latin typeface="Times New Roman" pitchFamily="18" charset="0"/>
                <a:cs typeface="Times New Roman" pitchFamily="18" charset="0"/>
              </a:rPr>
              <a:t> may seem at best </a:t>
            </a:r>
            <a:r>
              <a:rPr lang="en-US" sz="2600" dirty="0" smtClean="0">
                <a:latin typeface="Times New Roman" pitchFamily="18" charset="0"/>
                <a:cs typeface="Times New Roman" pitchFamily="18" charset="0"/>
              </a:rPr>
              <a:t>superfluous </a:t>
            </a:r>
            <a:r>
              <a:rPr lang="en-US" sz="2600" dirty="0" smtClean="0">
                <a:latin typeface="Times New Roman" pitchFamily="18" charset="0"/>
                <a:cs typeface="Times New Roman" pitchFamily="18" charset="0"/>
              </a:rPr>
              <a:t>and at worst contradictory. This is because, in test-first coding, you essentially follow this cycle:</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Write a test.</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Write the code to be tested.</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Run the test/get the code to work.</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If the test has passed, then return to step 1 until finished.</a:t>
            </a:r>
            <a:endParaRPr lang="en-IN" sz="2600" dirty="0" smtClean="0">
              <a:latin typeface="Times New Roman" pitchFamily="18" charset="0"/>
              <a:cs typeface="Times New Roman" pitchFamily="18" charset="0"/>
            </a:endParaRPr>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229600" cy="4525963"/>
          </a:xfrm>
        </p:spPr>
        <p:txBody>
          <a:bodyPr>
            <a:normAutofit fontScale="77500" lnSpcReduction="20000"/>
          </a:bodyPr>
          <a:lstStyle/>
          <a:p>
            <a:r>
              <a:rPr lang="en-US" dirty="0" smtClean="0">
                <a:latin typeface="Times New Roman" pitchFamily="18" charset="0"/>
                <a:cs typeface="Times New Roman" pitchFamily="18" charset="0"/>
              </a:rPr>
              <a:t>Thus, if you modify the test-first coding cycle to the following, then you are </a:t>
            </a:r>
            <a:r>
              <a:rPr lang="en-US" dirty="0" smtClean="0">
                <a:latin typeface="Times New Roman" pitchFamily="18" charset="0"/>
                <a:cs typeface="Times New Roman" pitchFamily="18" charset="0"/>
              </a:rPr>
              <a:t>maximizing </a:t>
            </a:r>
            <a:r>
              <a:rPr lang="en-US" dirty="0" smtClean="0">
                <a:latin typeface="Times New Roman" pitchFamily="18" charset="0"/>
                <a:cs typeface="Times New Roman" pitchFamily="18" charset="0"/>
              </a:rPr>
              <a:t>this XP </a:t>
            </a:r>
            <a:r>
              <a:rPr lang="en-US" dirty="0" smtClean="0">
                <a:latin typeface="Times New Roman" pitchFamily="18" charset="0"/>
                <a:cs typeface="Times New Roman" pitchFamily="18" charset="0"/>
              </a:rPr>
              <a:t>practice, </a:t>
            </a:r>
            <a:r>
              <a:rPr lang="en-US" dirty="0" smtClean="0">
                <a:latin typeface="Times New Roman" pitchFamily="18" charset="0"/>
                <a:cs typeface="Times New Roman" pitchFamily="18" charset="0"/>
              </a:rPr>
              <a:t>as well as, supporting the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principle of rapid feedback:</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Write a test.</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Model the solution.</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Implement the solution.</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Run the test/get the code to work.</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Discard temporary models.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If the test has passed, then return to step 1 until finished.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4000" b="1" dirty="0" smtClean="0">
                <a:solidFill>
                  <a:srgbClr val="FF0000"/>
                </a:solidFill>
                <a:latin typeface="Times New Roman" pitchFamily="18" charset="0"/>
                <a:cs typeface="Times New Roman" pitchFamily="18" charset="0"/>
              </a:rPr>
              <a:t>Simple Design</a:t>
            </a:r>
            <a:r>
              <a:rPr lang="en-IN" b="1" dirty="0" smtClean="0"/>
              <a:t/>
            </a:r>
            <a:br>
              <a:rPr lang="en-IN" b="1" dirty="0" smtClean="0"/>
            </a:br>
            <a:endParaRPr lang="en-IN" dirty="0"/>
          </a:p>
        </p:txBody>
      </p:sp>
      <p:sp>
        <p:nvSpPr>
          <p:cNvPr id="3" name="Content Placeholder 2"/>
          <p:cNvSpPr>
            <a:spLocks noGrp="1"/>
          </p:cNvSpPr>
          <p:nvPr>
            <p:ph idx="1"/>
          </p:nvPr>
        </p:nvSpPr>
        <p:spPr>
          <a:xfrm>
            <a:off x="381000" y="1219200"/>
            <a:ext cx="8229600" cy="4525963"/>
          </a:xfrm>
        </p:spPr>
        <p:txBody>
          <a:bodyPr>
            <a:normAutofit fontScale="62500" lnSpcReduction="20000"/>
          </a:bodyPr>
          <a:lstStyle/>
          <a:p>
            <a:r>
              <a:rPr lang="en-US" sz="3400" dirty="0" smtClean="0">
                <a:latin typeface="Times New Roman" pitchFamily="18" charset="0"/>
                <a:cs typeface="Times New Roman" pitchFamily="18" charset="0"/>
              </a:rPr>
              <a:t>The XP </a:t>
            </a:r>
            <a:r>
              <a:rPr lang="en-US" sz="3400" dirty="0" smtClean="0">
                <a:latin typeface="Times New Roman" pitchFamily="18" charset="0"/>
                <a:cs typeface="Times New Roman" pitchFamily="18" charset="0"/>
              </a:rPr>
              <a:t>practice </a:t>
            </a:r>
            <a:r>
              <a:rPr lang="en-US" sz="3400" dirty="0" smtClean="0">
                <a:latin typeface="Times New Roman" pitchFamily="18" charset="0"/>
                <a:cs typeface="Times New Roman" pitchFamily="18" charset="0"/>
              </a:rPr>
              <a:t>of simple design aims to promote the simplest implementation that will:</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Run all the tests.</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Has no duplicate code.</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Makes it clear to anyone reading the code what it is meant to do.</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Have the fewest possible classes and methods.</a:t>
            </a:r>
          </a:p>
          <a:p>
            <a:r>
              <a:rPr lang="en-US" sz="3400" dirty="0" smtClean="0">
                <a:latin typeface="Times New Roman" pitchFamily="18" charset="0"/>
                <a:cs typeface="Times New Roman" pitchFamily="18" charset="0"/>
              </a:rPr>
              <a:t>There are in fact a variety of Agile </a:t>
            </a:r>
            <a:r>
              <a:rPr lang="en-US" sz="3400" dirty="0" err="1" smtClean="0">
                <a:latin typeface="Times New Roman" pitchFamily="18" charset="0"/>
                <a:cs typeface="Times New Roman" pitchFamily="18" charset="0"/>
              </a:rPr>
              <a:t>Modelling</a:t>
            </a:r>
            <a:r>
              <a:rPr lang="en-US" sz="3400" dirty="0" smtClean="0">
                <a:latin typeface="Times New Roman" pitchFamily="18" charset="0"/>
                <a:cs typeface="Times New Roman" pitchFamily="18" charset="0"/>
              </a:rPr>
              <a:t> </a:t>
            </a:r>
            <a:r>
              <a:rPr lang="en-US" sz="3400" dirty="0" smtClean="0">
                <a:latin typeface="Times New Roman" pitchFamily="18" charset="0"/>
                <a:cs typeface="Times New Roman" pitchFamily="18" charset="0"/>
              </a:rPr>
              <a:t>practices </a:t>
            </a:r>
            <a:r>
              <a:rPr lang="en-US" sz="3400" dirty="0" smtClean="0">
                <a:latin typeface="Times New Roman" pitchFamily="18" charset="0"/>
                <a:cs typeface="Times New Roman" pitchFamily="18" charset="0"/>
              </a:rPr>
              <a:t>that also promote </a:t>
            </a:r>
            <a:r>
              <a:rPr lang="en-US" sz="3400" dirty="0" smtClean="0">
                <a:latin typeface="Times New Roman" pitchFamily="18" charset="0"/>
                <a:cs typeface="Times New Roman" pitchFamily="18" charset="0"/>
              </a:rPr>
              <a:t>simplicity </a:t>
            </a:r>
            <a:r>
              <a:rPr lang="en-US" sz="3400" dirty="0" smtClean="0">
                <a:latin typeface="Times New Roman" pitchFamily="18" charset="0"/>
                <a:cs typeface="Times New Roman" pitchFamily="18" charset="0"/>
              </a:rPr>
              <a:t>within </a:t>
            </a:r>
            <a:r>
              <a:rPr lang="en-US" sz="3400" dirty="0" err="1" smtClean="0">
                <a:latin typeface="Times New Roman" pitchFamily="18" charset="0"/>
                <a:cs typeface="Times New Roman" pitchFamily="18" charset="0"/>
              </a:rPr>
              <a:t>modelling</a:t>
            </a:r>
            <a:r>
              <a:rPr lang="en-US" sz="3400" dirty="0" smtClean="0">
                <a:latin typeface="Times New Roman" pitchFamily="18" charset="0"/>
                <a:cs typeface="Times New Roman" pitchFamily="18" charset="0"/>
              </a:rPr>
              <a:t>. These are:</a:t>
            </a:r>
            <a:endParaRPr lang="en-IN" sz="3400" dirty="0" smtClean="0">
              <a:latin typeface="Times New Roman" pitchFamily="18" charset="0"/>
              <a:cs typeface="Times New Roman" pitchFamily="18" charset="0"/>
            </a:endParaRPr>
          </a:p>
          <a:p>
            <a:pPr>
              <a:buNone/>
            </a:pP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Create simple content.</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Depict models simply.</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Apply patterns gently.</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Formalize </a:t>
            </a:r>
            <a:r>
              <a:rPr lang="en-US" sz="3400" dirty="0" smtClean="0">
                <a:latin typeface="Times New Roman" pitchFamily="18" charset="0"/>
                <a:cs typeface="Times New Roman" pitchFamily="18" charset="0"/>
              </a:rPr>
              <a:t>contract models.</a:t>
            </a:r>
            <a:endParaRPr lang="en-IN" sz="3400" dirty="0" smtClean="0">
              <a:latin typeface="Times New Roman" pitchFamily="18" charset="0"/>
              <a:cs typeface="Times New Roman" pitchFamily="18" charset="0"/>
            </a:endParaRPr>
          </a:p>
          <a:p>
            <a:pPr>
              <a:buNone/>
            </a:pPr>
            <a:endParaRPr lang="en-IN" sz="3600" dirty="0" smtClean="0"/>
          </a:p>
          <a:p>
            <a:pPr lvl="0"/>
            <a:endParaRPr lang="en-IN" sz="3600" dirty="0" smtClean="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686800" cy="4525963"/>
          </a:xfrm>
        </p:spPr>
        <p:txBody>
          <a:bodyPr>
            <a:normAutofit fontScale="92500" lnSpcReduction="20000"/>
          </a:bodyPr>
          <a:lstStyle/>
          <a:p>
            <a:pPr lvl="2" algn="ctr">
              <a:buNone/>
            </a:pPr>
            <a:r>
              <a:rPr lang="en-US" sz="3500" b="1" dirty="0" smtClean="0">
                <a:solidFill>
                  <a:srgbClr val="FF0000"/>
                </a:solidFill>
                <a:latin typeface="Times New Roman" pitchFamily="18" charset="0"/>
                <a:cs typeface="Times New Roman" pitchFamily="18" charset="0"/>
              </a:rPr>
              <a:t>Pair </a:t>
            </a:r>
            <a:r>
              <a:rPr lang="en-US" sz="3500" b="1" dirty="0" smtClean="0">
                <a:solidFill>
                  <a:srgbClr val="FF0000"/>
                </a:solidFill>
                <a:latin typeface="Times New Roman" pitchFamily="18" charset="0"/>
                <a:cs typeface="Times New Roman" pitchFamily="18" charset="0"/>
              </a:rPr>
              <a:t>Programming</a:t>
            </a:r>
          </a:p>
          <a:p>
            <a:pPr>
              <a:buNone/>
            </a:pPr>
            <a:endParaRPr lang="en-IN" sz="3000" b="1" dirty="0" smtClean="0">
              <a:solidFill>
                <a:srgbClr val="FF0000"/>
              </a:solidFill>
              <a:latin typeface="Times New Roman" pitchFamily="18" charset="0"/>
              <a:cs typeface="Times New Roman" pitchFamily="18" charset="0"/>
            </a:endParaRPr>
          </a:p>
          <a:p>
            <a:pPr>
              <a:buNone/>
            </a:pPr>
            <a:r>
              <a:rPr lang="en-IN" sz="3000" b="1" dirty="0" smtClean="0">
                <a:solidFill>
                  <a:srgbClr val="FF0000"/>
                </a:solidFill>
                <a:latin typeface="Times New Roman" pitchFamily="18" charset="0"/>
                <a:cs typeface="Times New Roman" pitchFamily="18" charset="0"/>
              </a:rPr>
              <a:t> </a:t>
            </a:r>
            <a:r>
              <a:rPr lang="en-IN" sz="3000" b="1"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Pair </a:t>
            </a:r>
            <a:r>
              <a:rPr lang="en-US" dirty="0" smtClean="0">
                <a:latin typeface="Times New Roman" pitchFamily="18" charset="0"/>
                <a:cs typeface="Times New Roman" pitchFamily="18" charset="0"/>
              </a:rPr>
              <a:t>programming, as we know, involves two developers working together at a single machine. Within the pair, one developer controls the mouse and keyboard (the driver) while the other essentially monitors what the first is doing (the navigator). It is essentially that the pair communicates and understands what they are trying to achieve. It is also important that the navigator understands how the driver is intended to achieve their goals.</a:t>
            </a:r>
            <a:endParaRPr lang="en-IN"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cstate="print"/>
          <a:srcRect/>
          <a:stretch>
            <a:fillRect/>
          </a:stretch>
        </p:blipFill>
        <p:spPr bwMode="auto">
          <a:xfrm>
            <a:off x="228600" y="304800"/>
            <a:ext cx="8458200" cy="63246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latin typeface="Times New Roman" pitchFamily="18" charset="0"/>
                <a:cs typeface="Times New Roman" pitchFamily="18" charset="0"/>
              </a:rPr>
              <a:t>UNIT-III</a:t>
            </a:r>
            <a:r>
              <a:rPr lang="en-IN" dirty="0" smtClean="0"/>
              <a:t/>
            </a:r>
            <a:br>
              <a:rPr lang="en-IN" dirty="0" smtClean="0"/>
            </a:br>
            <a:endParaRPr lang="en-IN" dirty="0"/>
          </a:p>
        </p:txBody>
      </p:sp>
      <p:sp>
        <p:nvSpPr>
          <p:cNvPr id="3" name="Content Placeholder 2"/>
          <p:cNvSpPr>
            <a:spLocks noGrp="1"/>
          </p:cNvSpPr>
          <p:nvPr>
            <p:ph idx="1"/>
          </p:nvPr>
        </p:nvSpPr>
        <p:spPr>
          <a:xfrm>
            <a:off x="457200" y="838200"/>
            <a:ext cx="8229600" cy="5791200"/>
          </a:xfrm>
        </p:spPr>
        <p:txBody>
          <a:bodyPr>
            <a:normAutofit fontScale="40000" lnSpcReduction="20000"/>
          </a:bodyPr>
          <a:lstStyle/>
          <a:p>
            <a:pPr lvl="0"/>
            <a:r>
              <a:rPr lang="en-IN" sz="4500" dirty="0" smtClean="0">
                <a:solidFill>
                  <a:srgbClr val="FF0000"/>
                </a:solidFill>
                <a:latin typeface="Times New Roman" pitchFamily="18" charset="0"/>
                <a:cs typeface="Times New Roman" pitchFamily="18" charset="0"/>
              </a:rPr>
              <a:t>What is Extreme Programming (XP)?</a:t>
            </a:r>
          </a:p>
          <a:p>
            <a:pPr lvl="0"/>
            <a:r>
              <a:rPr lang="en-IN" sz="4500" dirty="0" smtClean="0">
                <a:latin typeface="Times New Roman" pitchFamily="18" charset="0"/>
                <a:cs typeface="Times New Roman" pitchFamily="18" charset="0"/>
              </a:rPr>
              <a:t>Who developed XP and in what context?</a:t>
            </a:r>
          </a:p>
          <a:p>
            <a:pPr lvl="0"/>
            <a:r>
              <a:rPr lang="en-IN" sz="4500" dirty="0" smtClean="0">
                <a:latin typeface="Times New Roman" pitchFamily="18" charset="0"/>
                <a:cs typeface="Times New Roman" pitchFamily="18" charset="0"/>
              </a:rPr>
              <a:t>How does XP align with the Agile Manifesto?</a:t>
            </a:r>
          </a:p>
          <a:p>
            <a:pPr lvl="0"/>
            <a:r>
              <a:rPr lang="en-IN" sz="4500" dirty="0" smtClean="0">
                <a:latin typeface="Times New Roman" pitchFamily="18" charset="0"/>
                <a:cs typeface="Times New Roman" pitchFamily="18" charset="0"/>
              </a:rPr>
              <a:t>What types of software development projects are best suited for XP?</a:t>
            </a:r>
          </a:p>
          <a:p>
            <a:pPr lvl="0"/>
            <a:r>
              <a:rPr lang="en-IN" sz="4500" dirty="0" smtClean="0">
                <a:latin typeface="Times New Roman" pitchFamily="18" charset="0"/>
                <a:cs typeface="Times New Roman" pitchFamily="18" charset="0"/>
              </a:rPr>
              <a:t>What are the main goals of XP?</a:t>
            </a:r>
          </a:p>
          <a:p>
            <a:pPr lvl="0"/>
            <a:r>
              <a:rPr lang="en-IN" sz="4500" dirty="0" smtClean="0">
                <a:solidFill>
                  <a:srgbClr val="FF0000"/>
                </a:solidFill>
                <a:latin typeface="Times New Roman" pitchFamily="18" charset="0"/>
                <a:cs typeface="Times New Roman" pitchFamily="18" charset="0"/>
              </a:rPr>
              <a:t>How does Agile Modelling (AM) complement Extreme Programming (XP)?</a:t>
            </a:r>
          </a:p>
          <a:p>
            <a:pPr lvl="0"/>
            <a:r>
              <a:rPr lang="en-IN" sz="4500" dirty="0" smtClean="0">
                <a:latin typeface="Times New Roman" pitchFamily="18" charset="0"/>
                <a:cs typeface="Times New Roman" pitchFamily="18" charset="0"/>
              </a:rPr>
              <a:t>What modelling gaps does AM fill in XP practices?</a:t>
            </a:r>
          </a:p>
          <a:p>
            <a:pPr lvl="0"/>
            <a:r>
              <a:rPr lang="en-IN" sz="4500" dirty="0" smtClean="0">
                <a:solidFill>
                  <a:srgbClr val="FF0000"/>
                </a:solidFill>
                <a:latin typeface="Times New Roman" pitchFamily="18" charset="0"/>
                <a:cs typeface="Times New Roman" pitchFamily="18" charset="0"/>
              </a:rPr>
              <a:t>Why is Agile Modelling referred to as a "fit" for XP rather than a replacement?</a:t>
            </a:r>
          </a:p>
          <a:p>
            <a:pPr lvl="0"/>
            <a:r>
              <a:rPr lang="en-IN" sz="4500" dirty="0" smtClean="0">
                <a:latin typeface="Times New Roman" pitchFamily="18" charset="0"/>
                <a:cs typeface="Times New Roman" pitchFamily="18" charset="0"/>
              </a:rPr>
              <a:t>In what ways does Agile Modelling enhance communication in XP?</a:t>
            </a:r>
          </a:p>
          <a:p>
            <a:pPr lvl="0"/>
            <a:r>
              <a:rPr lang="en-IN" sz="4500" dirty="0" smtClean="0">
                <a:latin typeface="Times New Roman" pitchFamily="18" charset="0"/>
                <a:cs typeface="Times New Roman" pitchFamily="18" charset="0"/>
              </a:rPr>
              <a:t>How can combining AM and XP improve the quality of deliverables?</a:t>
            </a:r>
          </a:p>
          <a:p>
            <a:pPr lvl="0"/>
            <a:r>
              <a:rPr lang="en-IN" sz="4500" dirty="0" smtClean="0">
                <a:latin typeface="Times New Roman" pitchFamily="18" charset="0"/>
                <a:cs typeface="Times New Roman" pitchFamily="18" charset="0"/>
              </a:rPr>
              <a:t>What are the common development practices shared by AM and XP?</a:t>
            </a:r>
          </a:p>
          <a:p>
            <a:pPr lvl="0"/>
            <a:r>
              <a:rPr lang="en-IN" sz="4500" dirty="0" smtClean="0">
                <a:latin typeface="Times New Roman" pitchFamily="18" charset="0"/>
                <a:cs typeface="Times New Roman" pitchFamily="18" charset="0"/>
              </a:rPr>
              <a:t>How do AM and XP both promote simplicity?</a:t>
            </a:r>
          </a:p>
          <a:p>
            <a:pPr lvl="0"/>
            <a:r>
              <a:rPr lang="en-IN" sz="4500" dirty="0" smtClean="0">
                <a:latin typeface="Times New Roman" pitchFamily="18" charset="0"/>
                <a:cs typeface="Times New Roman" pitchFamily="18" charset="0"/>
              </a:rPr>
              <a:t>How is customer collaboration emphasized in both AM and XP?</a:t>
            </a:r>
          </a:p>
          <a:p>
            <a:pPr lvl="0"/>
            <a:r>
              <a:rPr lang="en-IN" sz="4500" dirty="0" smtClean="0">
                <a:latin typeface="Times New Roman" pitchFamily="18" charset="0"/>
                <a:cs typeface="Times New Roman" pitchFamily="18" charset="0"/>
              </a:rPr>
              <a:t>Explain how iterative development is practiced in both AM and XP.</a:t>
            </a:r>
          </a:p>
          <a:p>
            <a:pPr lvl="0"/>
            <a:r>
              <a:rPr lang="en-IN" sz="4500" dirty="0" smtClean="0">
                <a:latin typeface="Times New Roman" pitchFamily="18" charset="0"/>
                <a:cs typeface="Times New Roman" pitchFamily="18" charset="0"/>
              </a:rPr>
              <a:t>How do both methodologies address the issue of documentation?</a:t>
            </a:r>
          </a:p>
          <a:p>
            <a:pPr lvl="0"/>
            <a:r>
              <a:rPr lang="en-IN" sz="4500" dirty="0" smtClean="0">
                <a:solidFill>
                  <a:srgbClr val="FF0000"/>
                </a:solidFill>
                <a:latin typeface="Times New Roman" pitchFamily="18" charset="0"/>
                <a:cs typeface="Times New Roman" pitchFamily="18" charset="0"/>
              </a:rPr>
              <a:t>What are the core principles of Agile Modelling?</a:t>
            </a:r>
          </a:p>
          <a:p>
            <a:pPr lvl="0"/>
            <a:r>
              <a:rPr lang="en-IN" sz="4500" dirty="0" smtClean="0">
                <a:latin typeface="Times New Roman" pitchFamily="18" charset="0"/>
                <a:cs typeface="Times New Roman" pitchFamily="18" charset="0"/>
              </a:rPr>
              <a:t>Explain “Model with a Purpose” and why it is important.</a:t>
            </a:r>
          </a:p>
          <a:p>
            <a:pPr lvl="0"/>
            <a:r>
              <a:rPr lang="en-IN" sz="4500" dirty="0" smtClean="0">
                <a:latin typeface="Times New Roman" pitchFamily="18" charset="0"/>
                <a:cs typeface="Times New Roman" pitchFamily="18" charset="0"/>
              </a:rPr>
              <a:t>What is meant by “Travel Light” in Agile Modelling?</a:t>
            </a:r>
          </a:p>
          <a:p>
            <a:pPr lvl="0"/>
            <a:r>
              <a:rPr lang="en-IN" sz="4500" dirty="0" smtClean="0">
                <a:latin typeface="Times New Roman" pitchFamily="18" charset="0"/>
                <a:cs typeface="Times New Roman" pitchFamily="18" charset="0"/>
              </a:rPr>
              <a:t>How does Agile Modelling use “Just Barely Good Enough” models?</a:t>
            </a:r>
          </a:p>
          <a:p>
            <a:pPr lvl="0"/>
            <a:r>
              <a:rPr lang="en-IN" sz="4500" dirty="0" smtClean="0">
                <a:latin typeface="Times New Roman" pitchFamily="18" charset="0"/>
                <a:cs typeface="Times New Roman" pitchFamily="18" charset="0"/>
              </a:rPr>
              <a:t>What is “Multiple Models” in AM and how does it help in development?</a:t>
            </a:r>
          </a:p>
          <a:p>
            <a:pPr>
              <a:buNone/>
            </a:pP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62500" lnSpcReduction="20000"/>
          </a:bodyPr>
          <a:lstStyle/>
          <a:p>
            <a:pPr lvl="0"/>
            <a:r>
              <a:rPr lang="en-IN" dirty="0" smtClean="0">
                <a:latin typeface="Times New Roman" pitchFamily="18" charset="0"/>
                <a:cs typeface="Times New Roman" pitchFamily="18" charset="0"/>
              </a:rPr>
              <a:t>Why might some XP practitioners be resistant to Agile Modelling?</a:t>
            </a:r>
          </a:p>
          <a:p>
            <a:pPr lvl="0"/>
            <a:r>
              <a:rPr lang="en-IN" dirty="0" smtClean="0">
                <a:solidFill>
                  <a:srgbClr val="FF0000"/>
                </a:solidFill>
                <a:latin typeface="Times New Roman" pitchFamily="18" charset="0"/>
                <a:cs typeface="Times New Roman" pitchFamily="18" charset="0"/>
              </a:rPr>
              <a:t>What are the common objections from the XP community regarding AM?</a:t>
            </a:r>
          </a:p>
          <a:p>
            <a:pPr lvl="0"/>
            <a:r>
              <a:rPr lang="en-IN" dirty="0" smtClean="0">
                <a:latin typeface="Times New Roman" pitchFamily="18" charset="0"/>
                <a:cs typeface="Times New Roman" pitchFamily="18" charset="0"/>
              </a:rPr>
              <a:t>How can Agile Modelling address concerns of over-modelling in XP?</a:t>
            </a:r>
          </a:p>
          <a:p>
            <a:pPr lvl="0"/>
            <a:r>
              <a:rPr lang="en-IN" dirty="0" smtClean="0">
                <a:latin typeface="Times New Roman" pitchFamily="18" charset="0"/>
                <a:cs typeface="Times New Roman" pitchFamily="18" charset="0"/>
              </a:rPr>
              <a:t>Are Agile models seen as contrary to the XP principle of simplicity?</a:t>
            </a:r>
          </a:p>
          <a:p>
            <a:pPr lvl="0"/>
            <a:r>
              <a:rPr lang="en-IN" dirty="0" smtClean="0">
                <a:latin typeface="Times New Roman" pitchFamily="18" charset="0"/>
                <a:cs typeface="Times New Roman" pitchFamily="18" charset="0"/>
              </a:rPr>
              <a:t>How can the Agile Modelling approach be adapted to address XP’s focus on working code?</a:t>
            </a:r>
          </a:p>
          <a:p>
            <a:pPr lvl="0"/>
            <a:r>
              <a:rPr lang="en-IN" dirty="0" smtClean="0">
                <a:solidFill>
                  <a:srgbClr val="FF0000"/>
                </a:solidFill>
                <a:latin typeface="Times New Roman" pitchFamily="18" charset="0"/>
                <a:cs typeface="Times New Roman" pitchFamily="18" charset="0"/>
              </a:rPr>
              <a:t>How does Agile Modelling assist in planning XP projects?</a:t>
            </a:r>
          </a:p>
          <a:p>
            <a:pPr lvl="0"/>
            <a:r>
              <a:rPr lang="en-IN" dirty="0" smtClean="0">
                <a:solidFill>
                  <a:srgbClr val="FF0000"/>
                </a:solidFill>
                <a:latin typeface="Times New Roman" pitchFamily="18" charset="0"/>
                <a:cs typeface="Times New Roman" pitchFamily="18" charset="0"/>
              </a:rPr>
              <a:t>In what way does AM support the Planning Game in XP?</a:t>
            </a:r>
          </a:p>
          <a:p>
            <a:pPr lvl="0"/>
            <a:r>
              <a:rPr lang="en-IN" dirty="0" smtClean="0">
                <a:latin typeface="Times New Roman" pitchFamily="18" charset="0"/>
                <a:cs typeface="Times New Roman" pitchFamily="18" charset="0"/>
              </a:rPr>
              <a:t>How can models be used to derive estimates and stories in XP?</a:t>
            </a:r>
          </a:p>
          <a:p>
            <a:pPr lvl="0"/>
            <a:r>
              <a:rPr lang="en-IN" dirty="0" smtClean="0">
                <a:latin typeface="Times New Roman" pitchFamily="18" charset="0"/>
                <a:cs typeface="Times New Roman" pitchFamily="18" charset="0"/>
              </a:rPr>
              <a:t>What is the role of modelling in release and iteration planning?</a:t>
            </a:r>
          </a:p>
          <a:p>
            <a:pPr lvl="0"/>
            <a:r>
              <a:rPr lang="en-IN" dirty="0" smtClean="0">
                <a:latin typeface="Times New Roman" pitchFamily="18" charset="0"/>
                <a:cs typeface="Times New Roman" pitchFamily="18" charset="0"/>
              </a:rPr>
              <a:t>How can modelling activities remain lightweight during XP planning?</a:t>
            </a:r>
          </a:p>
          <a:p>
            <a:pPr lvl="0"/>
            <a:r>
              <a:rPr lang="en-IN" dirty="0" smtClean="0">
                <a:latin typeface="Times New Roman" pitchFamily="18" charset="0"/>
                <a:cs typeface="Times New Roman" pitchFamily="18" charset="0"/>
              </a:rPr>
              <a:t>What is involved in the implementation phase of XP?</a:t>
            </a:r>
          </a:p>
          <a:p>
            <a:pPr lvl="0"/>
            <a:r>
              <a:rPr lang="en-IN" dirty="0" smtClean="0">
                <a:latin typeface="Times New Roman" pitchFamily="18" charset="0"/>
                <a:cs typeface="Times New Roman" pitchFamily="18" charset="0"/>
              </a:rPr>
              <a:t>How do modelling activities evolve during the XP implementation phase?</a:t>
            </a:r>
          </a:p>
          <a:p>
            <a:pPr lvl="0"/>
            <a:r>
              <a:rPr lang="en-IN" dirty="0" smtClean="0">
                <a:latin typeface="Times New Roman" pitchFamily="18" charset="0"/>
                <a:cs typeface="Times New Roman" pitchFamily="18" charset="0"/>
              </a:rPr>
              <a:t>How are Agile models kept up-to-date during continuous development?</a:t>
            </a:r>
          </a:p>
          <a:p>
            <a:pPr lvl="0"/>
            <a:r>
              <a:rPr lang="en-IN" dirty="0" smtClean="0">
                <a:latin typeface="Times New Roman" pitchFamily="18" charset="0"/>
                <a:cs typeface="Times New Roman" pitchFamily="18" charset="0"/>
              </a:rPr>
              <a:t>How is code quality maintained through practices like refactoring in implementation?</a:t>
            </a:r>
          </a:p>
          <a:p>
            <a:pPr lvl="0"/>
            <a:r>
              <a:rPr lang="en-IN" dirty="0" smtClean="0">
                <a:solidFill>
                  <a:srgbClr val="FF0000"/>
                </a:solidFill>
                <a:latin typeface="Times New Roman" pitchFamily="18" charset="0"/>
                <a:cs typeface="Times New Roman" pitchFamily="18" charset="0"/>
              </a:rPr>
              <a:t>What roles do unit testing and integration play in the XP implementation phase?</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2919</Words>
  <Application>Microsoft Office PowerPoint</Application>
  <PresentationFormat>On-screen Show (4:3)</PresentationFormat>
  <Paragraphs>141</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UNIT - III</vt:lpstr>
      <vt:lpstr>UNIT - III  </vt:lpstr>
      <vt:lpstr>Agile Modelling and XP </vt:lpstr>
      <vt:lpstr>Slide 4</vt:lpstr>
      <vt:lpstr>Common Practices </vt:lpstr>
      <vt:lpstr>Slide 6</vt:lpstr>
      <vt:lpstr>Modelling Specific Practices </vt:lpstr>
      <vt:lpstr>Model with a Purpose </vt:lpstr>
      <vt:lpstr>Slide 9</vt:lpstr>
      <vt:lpstr>Slide 10</vt:lpstr>
      <vt:lpstr>Slide 11</vt:lpstr>
      <vt:lpstr>Slide 12</vt:lpstr>
      <vt:lpstr>Slide 13</vt:lpstr>
      <vt:lpstr>Slide 14</vt:lpstr>
      <vt:lpstr>Know Your Models </vt:lpstr>
      <vt:lpstr>XP Objections to Agile Modelling </vt:lpstr>
      <vt:lpstr>Slide 17</vt:lpstr>
      <vt:lpstr>Slide 18</vt:lpstr>
      <vt:lpstr>Agile Modelling and Planning XP Projects </vt:lpstr>
      <vt:lpstr>Slide 20</vt:lpstr>
      <vt:lpstr>Slide 21</vt:lpstr>
      <vt:lpstr>Slide 22</vt:lpstr>
      <vt:lpstr>XP Implementation Phase </vt:lpstr>
      <vt:lpstr>Refactoring </vt:lpstr>
      <vt:lpstr>Slide 25</vt:lpstr>
      <vt:lpstr>Test-First Coding </vt:lpstr>
      <vt:lpstr>Slide 27</vt:lpstr>
      <vt:lpstr>Simple Design </vt:lpstr>
      <vt:lpstr>Slide 29</vt:lpstr>
      <vt:lpstr>Slide 30</vt:lpstr>
      <vt:lpstr>UNIT-III </vt:lpstr>
      <vt:lpstr>Slide 32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III</dc:title>
  <dc:creator>Admin</dc:creator>
  <cp:lastModifiedBy>Preethi</cp:lastModifiedBy>
  <cp:revision>12</cp:revision>
  <dcterms:created xsi:type="dcterms:W3CDTF">2006-08-16T00:00:00Z</dcterms:created>
  <dcterms:modified xsi:type="dcterms:W3CDTF">2025-09-08T03:11:53Z</dcterms:modified>
</cp:coreProperties>
</file>