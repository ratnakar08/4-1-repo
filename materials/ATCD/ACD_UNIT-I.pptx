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331" r:id="rId3"/>
    <p:sldId id="332" r:id="rId4"/>
    <p:sldId id="33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334" r:id="rId32"/>
    <p:sldId id="335" r:id="rId33"/>
    <p:sldId id="336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37" r:id="rId56"/>
    <p:sldId id="338" r:id="rId57"/>
    <p:sldId id="339" r:id="rId58"/>
    <p:sldId id="340" r:id="rId5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276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48093-673C-4CDA-AFAB-4926FD1CA2E1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4C267-2556-4C22-8EA2-3D576D06F8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5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286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2E01F8-3D99-4D9D-A62F-159BB1DAE20D}" type="slidenum">
              <a:rPr lang="zh-TW" altLang="en-US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E09E4E-4B8C-43C5-AC87-EC51A0A87990}" type="slidenum">
              <a:rPr lang="zh-TW" altLang="en-US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dirty="0" smtClean="0"/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E09E4E-4B8C-43C5-AC87-EC51A0A87990}" type="slidenum">
              <a:rPr lang="zh-TW" altLang="en-US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644397"/>
            <a:ext cx="34791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56EF3-9789-44F9-B7DB-AA847749CC93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8B7EC-4458-45AA-904C-035A748614A0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A8A7C-800C-4185-8715-98FF60F73169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3B0FD-7EF7-4581-A4FA-F0F90643CCFF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A111-40B8-4D46-9C2F-24BA511C7F2E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430" y="749934"/>
            <a:ext cx="754313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1450" y="2432050"/>
            <a:ext cx="6115050" cy="3761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93444" y="6295958"/>
            <a:ext cx="2701925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FAC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D24FE-6008-4C56-B982-09DA7D75454D}" type="datetime1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5973" y="6334058"/>
            <a:ext cx="25654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homes.di.unimi.it/~alberti/colos/AUTOMATAHT/TUTORIAL/language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quiz.geeksforgeeks.org/toc-finite-automata-introductio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" y="160020"/>
            <a:ext cx="9022080" cy="6697980"/>
            <a:chOff x="62484" y="67056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" y="70104"/>
              <a:ext cx="9012936" cy="66918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532" y="70104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ACCE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464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31060" y="3145704"/>
            <a:ext cx="5728335" cy="48987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700"/>
              </a:spcBef>
            </a:pPr>
            <a:r>
              <a:rPr sz="2600" b="1" spc="-40" smtClean="0">
                <a:solidFill>
                  <a:srgbClr val="1FACCC"/>
                </a:solidFill>
                <a:latin typeface="Times New Roman"/>
                <a:cs typeface="Times New Roman"/>
              </a:rPr>
              <a:t>UNIT-I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2CA1BE"/>
          </a:solidFill>
        </p:spPr>
        <p:txBody>
          <a:bodyPr vert="horz" wrap="square" lIns="0" tIns="378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80"/>
              </a:spcBef>
            </a:pPr>
            <a:r>
              <a:rPr sz="4000" spc="-5" dirty="0">
                <a:solidFill>
                  <a:srgbClr val="FFFFFF"/>
                </a:solidFill>
              </a:rPr>
              <a:t>Automata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&amp;</a:t>
            </a:r>
            <a:r>
              <a:rPr sz="400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Compiler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Design</a:t>
            </a:r>
            <a:endParaRPr sz="400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685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200" spc="-5" dirty="0" smtClean="0"/>
              <a:t>Unit-I</a:t>
            </a:r>
            <a:r>
              <a:rPr lang="en-US" sz="3200" spc="-65" dirty="0" smtClean="0"/>
              <a:t> </a:t>
            </a:r>
            <a:r>
              <a:rPr lang="en-US" sz="3200" dirty="0" smtClean="0"/>
              <a:t>Syllabus</a:t>
            </a:r>
            <a:endParaRPr lang="en-US" altLang="zh-TW" sz="3000" dirty="0" smtClean="0"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96325" cy="4876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String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Alphabet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Language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Operations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Finite Automaton model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000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Acceptance of Strings &amp; Languages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Deterministic finite automaton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Non deterministic finite automaton</a:t>
            </a:r>
            <a:endParaRPr lang="en-US" altLang="zh-TW" sz="2000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Equivalence between  NFA to DFA conversion</a:t>
            </a:r>
            <a:endParaRPr lang="en-US" altLang="zh-TW" sz="2000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400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ea typeface="Arial Unicode MS" pitchFamily="34" charset="-120"/>
                <a:cs typeface="Arial Unicode MS" pitchFamily="34" charset="-120"/>
              </a:rPr>
              <a:t>String:</a:t>
            </a:r>
            <a:endParaRPr lang="zh-TW" altLang="en-US" dirty="0" smtClean="0"/>
          </a:p>
        </p:txBody>
      </p:sp>
      <p:sp>
        <p:nvSpPr>
          <p:cNvPr id="11267" name="內容版面配置區 2"/>
          <p:cNvSpPr>
            <a:spLocks noGrp="1"/>
          </p:cNvSpPr>
          <p:nvPr>
            <p:ph type="body" idx="1"/>
          </p:nvPr>
        </p:nvSpPr>
        <p:spPr>
          <a:xfrm>
            <a:off x="457200" y="1357313"/>
            <a:ext cx="8229600" cy="4799012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None/>
            </a:pPr>
            <a:endParaRPr lang="en-US" altLang="zh-TW" sz="2000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dirty="0" smtClean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 string over an alphabet ∑ is a Finite sequence of symbols of ∑.</a:t>
            </a:r>
          </a:p>
          <a:p>
            <a:pPr>
              <a:buNone/>
            </a:pP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</a:t>
            </a:r>
          </a:p>
          <a:p>
            <a:pPr>
              <a:buNone/>
            </a:pPr>
            <a:r>
              <a:rPr lang="en-US" sz="220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Example: 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Let ∑ = {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a,b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 be an alphabet; then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aa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ab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bba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baaba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…………….</a:t>
            </a:r>
          </a:p>
          <a:p>
            <a:pPr>
              <a:buNone/>
            </a:pP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are some examples of strings over ∑.</a:t>
            </a:r>
            <a:endParaRPr lang="en-US" altLang="zh-TW" sz="2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TW" sz="2200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ea typeface="Arial Unicode MS" pitchFamily="34" charset="-120"/>
                <a:cs typeface="Arial Unicode MS" pitchFamily="34" charset="-120"/>
              </a:rPr>
              <a:t>Alphabet:</a:t>
            </a:r>
            <a:endParaRPr lang="zh-TW" altLang="en-US" dirty="0" smtClean="0"/>
          </a:p>
        </p:txBody>
      </p:sp>
      <p:sp>
        <p:nvSpPr>
          <p:cNvPr id="11267" name="內容版面配置區 2"/>
          <p:cNvSpPr>
            <a:spLocks noGrp="1"/>
          </p:cNvSpPr>
          <p:nvPr>
            <p:ph type="body" idx="1"/>
          </p:nvPr>
        </p:nvSpPr>
        <p:spPr>
          <a:xfrm>
            <a:off x="457200" y="1357313"/>
            <a:ext cx="8229600" cy="4799012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buNone/>
            </a:pPr>
            <a:endParaRPr lang="en-US" altLang="zh-TW" sz="2000" dirty="0" smtClean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dirty="0" smtClean="0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  <a:p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We formally 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define </a:t>
            </a: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 alphabet as a non-empty 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finite </a:t>
            </a:r>
            <a:r>
              <a:rPr lang="en-US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set. We normally 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use the symbols letters/digits/any special symbols.</a:t>
            </a:r>
          </a:p>
          <a:p>
            <a:endParaRPr lang="en-US" sz="2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Example:</a:t>
            </a:r>
          </a:p>
          <a:p>
            <a:pPr>
              <a:buNone/>
            </a:pPr>
            <a:r>
              <a:rPr lang="en-US" altLang="zh-TW" sz="22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2200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altLang="zh-TW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Letters: a, b, c……</a:t>
            </a:r>
          </a:p>
          <a:p>
            <a:pPr>
              <a:buNone/>
            </a:pPr>
            <a:r>
              <a:rPr lang="en-US" altLang="zh-TW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Digits  : 0,1</a:t>
            </a:r>
          </a:p>
          <a:p>
            <a:pPr>
              <a:buNone/>
            </a:pPr>
            <a:r>
              <a:rPr lang="en-US" altLang="zh-TW" sz="22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Special Symbols: +,-,(,),*,…..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202818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Language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788617"/>
            <a:ext cx="7022465" cy="294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lnSpc>
                <a:spcPts val="2510"/>
              </a:lnSpc>
              <a:spcBef>
                <a:spcPts val="9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Given 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alphabet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strings,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286385">
              <a:lnSpc>
                <a:spcPts val="2510"/>
              </a:lnSpc>
            </a:pPr>
            <a:r>
              <a:rPr sz="2200" spc="-5" dirty="0">
                <a:latin typeface="Times New Roman"/>
                <a:cs typeface="Times New Roman"/>
              </a:rPr>
              <a:t>subset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the</a:t>
            </a:r>
            <a:r>
              <a:rPr sz="2200" spc="-5" dirty="0">
                <a:latin typeface="Times New Roman"/>
                <a:cs typeface="Times New Roman"/>
              </a:rPr>
              <a:t> universal language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200">
              <a:latin typeface="Times New Roman"/>
              <a:cs typeface="Times New Roman"/>
            </a:endParaRPr>
          </a:p>
          <a:p>
            <a:pPr marL="434975" lvl="1" indent="-283210">
              <a:lnSpc>
                <a:spcPct val="100000"/>
              </a:lnSpc>
              <a:spcBef>
                <a:spcPts val="600"/>
              </a:spcBef>
              <a:buAutoNum type="alphaLcParenR"/>
              <a:tabLst>
                <a:tab pos="435609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 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 </a:t>
            </a:r>
            <a:r>
              <a:rPr sz="2200" spc="-40" dirty="0">
                <a:latin typeface="Times New Roman"/>
                <a:cs typeface="Times New Roman"/>
              </a:rPr>
              <a:t>0’s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1’s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 </a:t>
            </a:r>
            <a:r>
              <a:rPr sz="2200" dirty="0">
                <a:latin typeface="Times New Roman"/>
                <a:cs typeface="Times New Roman"/>
              </a:rPr>
              <a:t>equal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each:{ɛ,01,10,0011,0101,1001,….}</a:t>
            </a:r>
            <a:endParaRPr sz="2200">
              <a:latin typeface="Times New Roman"/>
              <a:cs typeface="Times New Roman"/>
            </a:endParaRPr>
          </a:p>
          <a:p>
            <a:pPr marL="286385" marR="1656714" lvl="1" indent="-66040">
              <a:lnSpc>
                <a:spcPct val="100000"/>
              </a:lnSpc>
              <a:spcBef>
                <a:spcPts val="600"/>
              </a:spcBef>
              <a:buAutoNum type="alphaLcParenR" startAt="2"/>
              <a:tabLst>
                <a:tab pos="520065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binary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numbers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whose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value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prime:{10,11,101,1011,………}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2254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Operations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8881"/>
            <a:ext cx="6376035" cy="4453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234315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3928"/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Times New Roman"/>
                <a:cs typeface="Times New Roman"/>
              </a:rPr>
              <a:t>On</a:t>
            </a:r>
            <a:r>
              <a:rPr sz="2800" spc="1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800" u="heavy" spc="-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Times New Roman"/>
                <a:cs typeface="Times New Roman"/>
                <a:hlinkClick r:id="rId2"/>
              </a:rPr>
              <a:t>languages</a:t>
            </a:r>
            <a:r>
              <a:rPr sz="2800" spc="-15" dirty="0">
                <a:solidFill>
                  <a:srgbClr val="FF8118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-5" dirty="0">
                <a:latin typeface="Times New Roman"/>
                <a:cs typeface="Times New Roman"/>
              </a:rPr>
              <a:t> define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usual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are.</a:t>
            </a:r>
            <a:endParaRPr sz="2800">
              <a:latin typeface="Times New Roman"/>
              <a:cs typeface="Times New Roman"/>
            </a:endParaRPr>
          </a:p>
          <a:p>
            <a:pPr marL="636905" lvl="1" indent="-305435">
              <a:lnSpc>
                <a:spcPct val="100000"/>
              </a:lnSpc>
              <a:spcBef>
                <a:spcPts val="295"/>
              </a:spcBef>
              <a:buClr>
                <a:srgbClr val="DA1F28"/>
              </a:buClr>
              <a:buSzPct val="85416"/>
              <a:buFont typeface="Arial MT"/>
              <a:buChar char="•"/>
              <a:tabLst>
                <a:tab pos="636905" algn="l"/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union</a:t>
            </a:r>
            <a:endParaRPr sz="2400">
              <a:latin typeface="Times New Roman"/>
              <a:cs typeface="Times New Roman"/>
            </a:endParaRPr>
          </a:p>
          <a:p>
            <a:pPr marL="636905" lvl="1" indent="-305435">
              <a:lnSpc>
                <a:spcPct val="100000"/>
              </a:lnSpc>
              <a:spcBef>
                <a:spcPts val="575"/>
              </a:spcBef>
              <a:buClr>
                <a:srgbClr val="DA1F28"/>
              </a:buClr>
              <a:buSzPct val="85416"/>
              <a:buFont typeface="Arial MT"/>
              <a:buChar char="•"/>
              <a:tabLst>
                <a:tab pos="636905" algn="l"/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intersection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575"/>
              </a:spcBef>
              <a:buClr>
                <a:srgbClr val="DA1F28"/>
              </a:buClr>
              <a:buSzPct val="85416"/>
              <a:buFont typeface="Arial MT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Complement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890"/>
              </a:spcBef>
              <a:buClr>
                <a:srgbClr val="2CA1BE"/>
              </a:buClr>
              <a:buSzPct val="83928"/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Times New Roman"/>
                <a:cs typeface="Times New Roman"/>
              </a:rPr>
              <a:t>Let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L1 = {10}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L2 = </a:t>
            </a:r>
            <a:r>
              <a:rPr sz="2800" spc="-25" dirty="0">
                <a:latin typeface="Times New Roman"/>
                <a:cs typeface="Times New Roman"/>
              </a:rPr>
              <a:t>{011,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11}.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CA1BE"/>
              </a:buClr>
              <a:buFont typeface="Arial MT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636905" lvl="1" indent="-305435">
              <a:lnSpc>
                <a:spcPct val="100000"/>
              </a:lnSpc>
              <a:buClr>
                <a:srgbClr val="DA1F28"/>
              </a:buClr>
              <a:buSzPct val="85416"/>
              <a:buFont typeface="Arial MT"/>
              <a:buChar char="•"/>
              <a:tabLst>
                <a:tab pos="636905" algn="l"/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Union: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Cambria Math"/>
                <a:cs typeface="Cambria Math"/>
              </a:rPr>
              <a:t>𝖴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{10,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011, </a:t>
            </a:r>
            <a:r>
              <a:rPr sz="2400" spc="-30" dirty="0">
                <a:latin typeface="Times New Roman"/>
                <a:cs typeface="Times New Roman"/>
              </a:rPr>
              <a:t>11}</a:t>
            </a:r>
            <a:endParaRPr sz="2400">
              <a:latin typeface="Times New Roman"/>
              <a:cs typeface="Times New Roman"/>
            </a:endParaRPr>
          </a:p>
          <a:p>
            <a:pPr marL="636905" lvl="1" indent="-305435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416"/>
              <a:buFont typeface="Arial MT"/>
              <a:buChar char="•"/>
              <a:tabLst>
                <a:tab pos="636905" algn="l"/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Concatenation: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L2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{10011,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1011}</a:t>
            </a:r>
            <a:endParaRPr sz="2400">
              <a:latin typeface="Times New Roman"/>
              <a:cs typeface="Times New Roman"/>
            </a:endParaRPr>
          </a:p>
          <a:p>
            <a:pPr marL="636905" lvl="1" indent="-305435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5416"/>
              <a:buFont typeface="Arial MT"/>
              <a:buChar char="•"/>
              <a:tabLst>
                <a:tab pos="636905" algn="l"/>
                <a:tab pos="637540" algn="l"/>
              </a:tabLst>
            </a:pPr>
            <a:r>
              <a:rPr sz="2400" dirty="0">
                <a:latin typeface="Times New Roman"/>
                <a:cs typeface="Times New Roman"/>
              </a:rPr>
              <a:t>Kleene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Star: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1010,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101010,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4738"/>
            <a:ext cx="7185659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Regular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Language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&amp;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Regular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Expression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&amp;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Regular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Grammar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396734"/>
            <a:ext cx="7872095" cy="48266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35915" indent="-323850">
              <a:lnSpc>
                <a:spcPct val="100000"/>
              </a:lnSpc>
              <a:spcBef>
                <a:spcPts val="69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335915" algn="l"/>
                <a:tab pos="33655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regular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expressed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terms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expression.</a:t>
            </a:r>
            <a:endParaRPr sz="20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denote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languages.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endParaRPr sz="20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if:</a:t>
            </a:r>
            <a:endParaRPr sz="20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ɸ</a:t>
            </a:r>
            <a:r>
              <a:rPr sz="2000" spc="-5" dirty="0">
                <a:latin typeface="Times New Roman"/>
                <a:cs typeface="Times New Roman"/>
              </a:rPr>
              <a:t>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ɸ.</a:t>
            </a:r>
            <a:endParaRPr sz="20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405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ɛ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{ɛ}.</a:t>
            </a:r>
            <a:endParaRPr sz="20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Cambria Math"/>
                <a:cs typeface="Cambria Math"/>
              </a:rPr>
              <a:t>∈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Σ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(Σ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Times New Roman"/>
                <a:cs typeface="Times New Roman"/>
                <a:hlinkClick r:id="rId2"/>
              </a:rPr>
              <a:t>input</a:t>
            </a:r>
            <a:r>
              <a:rPr sz="2000" u="sng" spc="-2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000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Times New Roman"/>
                <a:cs typeface="Times New Roman"/>
                <a:hlinkClick r:id="rId2"/>
              </a:rPr>
              <a:t>alphabet</a:t>
            </a:r>
            <a:r>
              <a:rPr sz="2000" dirty="0">
                <a:latin typeface="Times New Roman"/>
                <a:cs typeface="Times New Roman"/>
              </a:rPr>
              <a:t>),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{a}.</a:t>
            </a:r>
            <a:endParaRPr sz="2000">
              <a:latin typeface="Times New Roman"/>
              <a:cs typeface="Times New Roman"/>
            </a:endParaRPr>
          </a:p>
          <a:p>
            <a:pPr marL="561340" marR="75565" lvl="1" indent="-228600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 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+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{a,b}.</a:t>
            </a:r>
            <a:endParaRPr sz="20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409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 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ab </a:t>
            </a:r>
            <a:r>
              <a:rPr sz="2000" dirty="0">
                <a:latin typeface="Times New Roman"/>
                <a:cs typeface="Times New Roman"/>
              </a:rPr>
              <a:t>(concatenation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endParaRPr sz="20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2000" spc="-15" dirty="0">
                <a:latin typeface="Times New Roman"/>
                <a:cs typeface="Times New Roman"/>
              </a:rPr>
              <a:t>regular.</a:t>
            </a:r>
            <a:endParaRPr sz="20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6197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a* (0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a) </a:t>
            </a:r>
            <a:r>
              <a:rPr sz="2000" spc="-5" dirty="0">
                <a:latin typeface="Times New Roman"/>
                <a:cs typeface="Times New Roman"/>
              </a:rPr>
              <a:t>is also</a:t>
            </a:r>
            <a:r>
              <a:rPr sz="2000" spc="-15" dirty="0">
                <a:latin typeface="Times New Roman"/>
                <a:cs typeface="Times New Roman"/>
              </a:rPr>
              <a:t> regular.</a:t>
            </a:r>
            <a:endParaRPr sz="2000">
              <a:latin typeface="Times New Roman"/>
              <a:cs typeface="Times New Roman"/>
            </a:endParaRPr>
          </a:p>
          <a:p>
            <a:pPr marL="287020" marR="433705" indent="-274955">
              <a:lnSpc>
                <a:spcPct val="100000"/>
              </a:lnSpc>
              <a:spcBef>
                <a:spcPts val="59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7020" algn="l"/>
                <a:tab pos="28765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grammar</a:t>
            </a:r>
            <a:r>
              <a:rPr sz="2000" dirty="0">
                <a:latin typeface="Times New Roman"/>
                <a:cs typeface="Times New Roman"/>
              </a:rPr>
              <a:t>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-&gt;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or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-&gt;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aB</a:t>
            </a:r>
            <a:r>
              <a:rPr sz="2000" dirty="0">
                <a:latin typeface="Times New Roman"/>
                <a:cs typeface="Times New Roman"/>
              </a:rPr>
              <a:t> or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-&gt;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ɛ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ɛ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special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NULL.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58642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Closure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Properties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Regular </a:t>
            </a:r>
            <a:r>
              <a:rPr b="1" spc="-88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404873"/>
            <a:ext cx="7575550" cy="42030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 marR="320675" indent="-274320">
              <a:lnSpc>
                <a:spcPts val="2110"/>
              </a:lnSpc>
              <a:spcBef>
                <a:spcPts val="60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Union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L2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languages, their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union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Cambria Math"/>
                <a:cs typeface="Cambria Math"/>
              </a:rPr>
              <a:t>𝖴</a:t>
            </a:r>
            <a:r>
              <a:rPr sz="2200" spc="7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L2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110"/>
              </a:lnSpc>
              <a:buClr>
                <a:srgbClr val="DA1F28"/>
              </a:buClr>
              <a:buSzPct val="85000"/>
              <a:buFont typeface="Segoe UI Symbol"/>
              <a:buChar char="⚫"/>
              <a:tabLst>
                <a:tab pos="57404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{a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</a:t>
            </a:r>
            <a:r>
              <a:rPr sz="2000" spc="5" dirty="0">
                <a:latin typeface="Times New Roman"/>
                <a:cs typeface="Times New Roman"/>
              </a:rPr>
              <a:t>0}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{b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32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0}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2170"/>
              </a:lnSpc>
            </a:pPr>
            <a:r>
              <a:rPr sz="2000" dirty="0">
                <a:latin typeface="Times New Roman"/>
                <a:cs typeface="Times New Roman"/>
              </a:rPr>
              <a:t>L3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L2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</a:t>
            </a:r>
            <a:r>
              <a:rPr sz="1950" baseline="25641" dirty="0">
                <a:latin typeface="Times New Roman"/>
                <a:cs typeface="Times New Roman"/>
              </a:rPr>
              <a:t>n</a:t>
            </a:r>
            <a:r>
              <a:rPr sz="1950" spc="247" baseline="25641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b</a:t>
            </a:r>
            <a:r>
              <a:rPr sz="1950" spc="15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0}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endParaRPr sz="2000">
              <a:latin typeface="Times New Roman"/>
              <a:cs typeface="Times New Roman"/>
            </a:endParaRPr>
          </a:p>
          <a:p>
            <a:pPr marL="299085" marR="318135" indent="-274320">
              <a:lnSpc>
                <a:spcPct val="80000"/>
              </a:lnSpc>
              <a:spcBef>
                <a:spcPts val="58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Intersection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L2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" dirty="0">
                <a:latin typeface="Times New Roman"/>
                <a:cs typeface="Times New Roman"/>
              </a:rPr>
              <a:t> two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regular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languages,</a:t>
            </a:r>
            <a:r>
              <a:rPr sz="2200" spc="-5" dirty="0">
                <a:latin typeface="Times New Roman"/>
                <a:cs typeface="Times New Roman"/>
              </a:rPr>
              <a:t> their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intersection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∩ L2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will</a:t>
            </a:r>
            <a:r>
              <a:rPr sz="2200" spc="-5" dirty="0">
                <a:latin typeface="Times New Roman"/>
                <a:cs typeface="Times New Roman"/>
              </a:rPr>
              <a:t> also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637540" lvl="1" indent="-293370">
              <a:lnSpc>
                <a:spcPts val="2095"/>
              </a:lnSpc>
              <a:buClr>
                <a:srgbClr val="DA1F28"/>
              </a:buClr>
              <a:buSzPct val="85000"/>
              <a:buFont typeface="Segoe UI Symbol"/>
              <a:buChar char="⚫"/>
              <a:tabLst>
                <a:tab pos="637540" algn="l"/>
                <a:tab pos="63817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L1=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{a</a:t>
            </a:r>
            <a:r>
              <a:rPr sz="1950" spc="7" baseline="25641" dirty="0">
                <a:latin typeface="Times New Roman"/>
                <a:cs typeface="Times New Roman"/>
              </a:rPr>
              <a:t>m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L2=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{a</a:t>
            </a:r>
            <a:r>
              <a:rPr sz="1950" spc="15" baseline="25641" dirty="0">
                <a:latin typeface="Times New Roman"/>
                <a:cs typeface="Times New Roman"/>
              </a:rPr>
              <a:t>m</a:t>
            </a:r>
            <a:r>
              <a:rPr sz="1950" spc="277" baseline="25641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47" baseline="25641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1950" spc="15" baseline="25641" dirty="0">
                <a:latin typeface="Times New Roman"/>
                <a:cs typeface="Times New Roman"/>
              </a:rPr>
              <a:t>m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0}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L3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∩ L2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</a:t>
            </a:r>
            <a:r>
              <a:rPr sz="2000" spc="5" dirty="0">
                <a:latin typeface="Times New Roman"/>
                <a:cs typeface="Times New Roman"/>
              </a:rPr>
              <a:t>{a</a:t>
            </a:r>
            <a:r>
              <a:rPr sz="1950" spc="7" baseline="25641" dirty="0">
                <a:latin typeface="Times New Roman"/>
                <a:cs typeface="Times New Roman"/>
              </a:rPr>
              <a:t>m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b</a:t>
            </a:r>
            <a:r>
              <a:rPr sz="1950" spc="15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 ≥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0}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 </a:t>
            </a:r>
            <a:r>
              <a:rPr sz="2000" spc="-15" dirty="0">
                <a:latin typeface="Times New Roman"/>
                <a:cs typeface="Times New Roman"/>
              </a:rPr>
              <a:t>regular.</a:t>
            </a:r>
            <a:endParaRPr sz="2000">
              <a:latin typeface="Times New Roman"/>
              <a:cs typeface="Times New Roman"/>
            </a:endParaRPr>
          </a:p>
          <a:p>
            <a:pPr marL="299085" marR="17780" indent="-274320">
              <a:lnSpc>
                <a:spcPct val="80000"/>
              </a:lnSpc>
              <a:spcBef>
                <a:spcPts val="59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Concatenation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L2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their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concatenation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L1.L2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 </a:t>
            </a:r>
            <a:r>
              <a:rPr sz="2200" spc="-20" dirty="0"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85"/>
              </a:lnSpc>
              <a:buClr>
                <a:srgbClr val="DA1F28"/>
              </a:buClr>
              <a:buSzPct val="85000"/>
              <a:buFont typeface="Segoe UI Symbol"/>
              <a:buChar char="⚫"/>
              <a:tabLst>
                <a:tab pos="57404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L1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</a:t>
            </a:r>
            <a:r>
              <a:rPr sz="1950" baseline="25641" dirty="0">
                <a:latin typeface="Times New Roman"/>
                <a:cs typeface="Times New Roman"/>
              </a:rPr>
              <a:t>n</a:t>
            </a:r>
            <a:r>
              <a:rPr sz="1950" spc="27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0}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{b</a:t>
            </a:r>
            <a:r>
              <a:rPr sz="1950" spc="7" baseline="25641" dirty="0">
                <a:latin typeface="Times New Roman"/>
                <a:cs typeface="Times New Roman"/>
              </a:rPr>
              <a:t>n</a:t>
            </a:r>
            <a:r>
              <a:rPr sz="1950" spc="232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</a:t>
            </a:r>
            <a:r>
              <a:rPr sz="2000" spc="5" dirty="0">
                <a:latin typeface="Times New Roman"/>
                <a:cs typeface="Times New Roman"/>
              </a:rPr>
              <a:t>0}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L3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L1.L2 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{a</a:t>
            </a:r>
            <a:r>
              <a:rPr sz="1950" spc="7" baseline="25641" dirty="0">
                <a:latin typeface="Times New Roman"/>
                <a:cs typeface="Times New Roman"/>
              </a:rPr>
              <a:t>m</a:t>
            </a:r>
            <a:r>
              <a:rPr sz="1950" spc="254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b</a:t>
            </a:r>
            <a:r>
              <a:rPr sz="1950" spc="15" baseline="25641" dirty="0">
                <a:latin typeface="Times New Roman"/>
                <a:cs typeface="Times New Roman"/>
              </a:rPr>
              <a:t>n</a:t>
            </a:r>
            <a:r>
              <a:rPr sz="1950" spc="247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 0}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regular.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58642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Closure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Properties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Regular </a:t>
            </a:r>
            <a:r>
              <a:rPr b="1" spc="-88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404873"/>
            <a:ext cx="7630795" cy="43707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9085" marR="173990" indent="-274320">
              <a:lnSpc>
                <a:spcPts val="2110"/>
              </a:lnSpc>
              <a:spcBef>
                <a:spcPts val="60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Kleene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Closure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Kleene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closure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L1*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 also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573405" marR="5531485" lvl="1" indent="-228600">
              <a:lnSpc>
                <a:spcPct val="80300"/>
              </a:lnSpc>
              <a:spcBef>
                <a:spcPts val="420"/>
              </a:spcBef>
              <a:buClr>
                <a:srgbClr val="DA1F28"/>
              </a:buClr>
              <a:buSzPct val="85000"/>
              <a:buFont typeface="Segoe UI Symbol"/>
              <a:buChar char="⚫"/>
              <a:tabLst>
                <a:tab pos="574040" algn="l"/>
              </a:tabLst>
            </a:pP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example, </a:t>
            </a:r>
            <a:r>
              <a:rPr sz="2000" dirty="0">
                <a:latin typeface="Times New Roman"/>
                <a:cs typeface="Times New Roman"/>
              </a:rPr>
              <a:t> L1 = (a </a:t>
            </a:r>
            <a:r>
              <a:rPr sz="2000" spc="90" dirty="0">
                <a:latin typeface="Cambria Math"/>
                <a:cs typeface="Cambria Math"/>
              </a:rPr>
              <a:t>𝖴 </a:t>
            </a:r>
            <a:r>
              <a:rPr sz="2000" spc="5" dirty="0">
                <a:latin typeface="Times New Roman"/>
                <a:cs typeface="Times New Roman"/>
              </a:rPr>
              <a:t>b)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L1*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b)*</a:t>
            </a:r>
            <a:endParaRPr sz="2000">
              <a:latin typeface="Times New Roman"/>
              <a:cs typeface="Times New Roman"/>
            </a:endParaRPr>
          </a:p>
          <a:p>
            <a:pPr marL="299085" marR="168275" indent="-274320">
              <a:lnSpc>
                <a:spcPct val="80000"/>
              </a:lnSpc>
              <a:spcBef>
                <a:spcPts val="58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Complement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L(G)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regular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complement 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L’(G)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will</a:t>
            </a:r>
            <a:r>
              <a:rPr sz="2200" spc="-5" dirty="0">
                <a:latin typeface="Times New Roman"/>
                <a:cs typeface="Times New Roman"/>
              </a:rPr>
              <a:t> also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20" dirty="0">
                <a:latin typeface="Times New Roman"/>
                <a:cs typeface="Times New Roman"/>
              </a:rPr>
              <a:t>regular.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Complement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language can</a:t>
            </a:r>
            <a:r>
              <a:rPr sz="2200" dirty="0">
                <a:latin typeface="Times New Roman"/>
                <a:cs typeface="Times New Roman"/>
              </a:rPr>
              <a:t> be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found </a:t>
            </a:r>
            <a:r>
              <a:rPr sz="2200" spc="-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subtracting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strings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L(G)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from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strings.</a:t>
            </a:r>
            <a:endParaRPr sz="22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95"/>
              </a:lnSpc>
              <a:buClr>
                <a:srgbClr val="DA1F28"/>
              </a:buClr>
              <a:buSzPct val="85000"/>
              <a:buFont typeface="Segoe UI Symbol"/>
              <a:buChar char="⚫"/>
              <a:tabLst>
                <a:tab pos="57404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L(G)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</a:t>
            </a:r>
            <a:r>
              <a:rPr sz="1950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3}</a:t>
            </a:r>
            <a:endParaRPr sz="2000">
              <a:latin typeface="Times New Roman"/>
              <a:cs typeface="Times New Roman"/>
            </a:endParaRPr>
          </a:p>
          <a:p>
            <a:pPr marL="573405">
              <a:lnSpc>
                <a:spcPts val="2120"/>
              </a:lnSpc>
            </a:pPr>
            <a:r>
              <a:rPr sz="2000" spc="-35" dirty="0">
                <a:latin typeface="Times New Roman"/>
                <a:cs typeface="Times New Roman"/>
              </a:rPr>
              <a:t>L’(G)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</a:t>
            </a:r>
            <a:r>
              <a:rPr sz="1950" baseline="25641" dirty="0">
                <a:latin typeface="Times New Roman"/>
                <a:cs typeface="Times New Roman"/>
              </a:rPr>
              <a:t>n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&lt;=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3}</a:t>
            </a:r>
            <a:endParaRPr sz="2000">
              <a:latin typeface="Times New Roman"/>
              <a:cs typeface="Times New Roman"/>
            </a:endParaRPr>
          </a:p>
          <a:p>
            <a:pPr marL="573405" marR="17780" indent="-228600">
              <a:lnSpc>
                <a:spcPct val="80000"/>
              </a:lnSpc>
              <a:spcBef>
                <a:spcPts val="434"/>
              </a:spcBef>
              <a:buClr>
                <a:srgbClr val="DA1F28"/>
              </a:buClr>
              <a:buSzPct val="85000"/>
              <a:buFont typeface="Wingdings"/>
              <a:buChar char=""/>
              <a:tabLst>
                <a:tab pos="574040" algn="l"/>
              </a:tabLst>
            </a:pPr>
            <a:r>
              <a:rPr sz="2000" b="1" dirty="0">
                <a:latin typeface="Times New Roman"/>
                <a:cs typeface="Times New Roman"/>
              </a:rPr>
              <a:t>Note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Two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equivalent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them are </a:t>
            </a:r>
            <a:r>
              <a:rPr sz="2000" spc="-5" dirty="0">
                <a:latin typeface="Times New Roman"/>
                <a:cs typeface="Times New Roman"/>
              </a:rPr>
              <a:t>same.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example, </a:t>
            </a:r>
            <a:r>
              <a:rPr sz="2000" dirty="0">
                <a:latin typeface="Times New Roman"/>
                <a:cs typeface="Times New Roman"/>
              </a:rPr>
              <a:t>(a+b*)* and (a+b)* generate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 language. Every string which is generated by (a+b*)* is </a:t>
            </a:r>
            <a:r>
              <a:rPr sz="2000" spc="-5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 generated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(a+b)*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versa.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12749"/>
            <a:ext cx="6343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Regular</a:t>
            </a:r>
            <a:r>
              <a:rPr sz="4000" spc="-10" dirty="0"/>
              <a:t> </a:t>
            </a:r>
            <a:r>
              <a:rPr sz="4000" spc="-5" dirty="0"/>
              <a:t>Expressions</a:t>
            </a:r>
            <a:r>
              <a:rPr sz="4000" spc="-10" dirty="0"/>
              <a:t> </a:t>
            </a:r>
            <a:r>
              <a:rPr sz="4000" spc="-5" dirty="0"/>
              <a:t>Examples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04873"/>
            <a:ext cx="7290434" cy="39722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containing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substring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00 over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∑={0,1}</a:t>
            </a:r>
            <a:endParaRPr sz="22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70"/>
              </a:spcBef>
            </a:pPr>
            <a:r>
              <a:rPr sz="2200" dirty="0">
                <a:latin typeface="Times New Roman"/>
                <a:cs typeface="Times New Roman"/>
              </a:rPr>
              <a:t>(0/1)*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00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(0/1)*</a:t>
            </a:r>
            <a:endParaRPr sz="2200">
              <a:latin typeface="Times New Roman"/>
              <a:cs typeface="Times New Roman"/>
            </a:endParaRPr>
          </a:p>
          <a:p>
            <a:pPr marL="286385" indent="-274320">
              <a:lnSpc>
                <a:spcPts val="2600"/>
              </a:lnSpc>
              <a:spcBef>
                <a:spcPts val="7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containing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most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0’s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over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∑={0,1}</a:t>
            </a:r>
            <a:endParaRPr sz="2200">
              <a:latin typeface="Times New Roman"/>
              <a:cs typeface="Times New Roman"/>
            </a:endParaRPr>
          </a:p>
          <a:p>
            <a:pPr marL="926465">
              <a:lnSpc>
                <a:spcPts val="2360"/>
              </a:lnSpc>
            </a:pPr>
            <a:r>
              <a:rPr sz="2000" spc="-5" dirty="0">
                <a:latin typeface="Times New Roman"/>
                <a:cs typeface="Times New Roman"/>
              </a:rPr>
              <a:t>(0/1)*0(0/1)*0(0/1)*</a:t>
            </a:r>
            <a:endParaRPr sz="2000">
              <a:latin typeface="Times New Roman"/>
              <a:cs typeface="Times New Roman"/>
            </a:endParaRPr>
          </a:p>
          <a:p>
            <a:pPr marL="286385" indent="-274320">
              <a:lnSpc>
                <a:spcPts val="2610"/>
              </a:lnSpc>
              <a:spcBef>
                <a:spcPts val="6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 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begin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end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over ∑={0,1}</a:t>
            </a:r>
            <a:endParaRPr sz="2200">
              <a:latin typeface="Times New Roman"/>
              <a:cs typeface="Times New Roman"/>
            </a:endParaRPr>
          </a:p>
          <a:p>
            <a:pPr marL="990600">
              <a:lnSpc>
                <a:spcPts val="2370"/>
              </a:lnSpc>
            </a:pPr>
            <a:r>
              <a:rPr sz="2000" dirty="0">
                <a:latin typeface="Times New Roman"/>
                <a:cs typeface="Times New Roman"/>
              </a:rPr>
              <a:t>1(0/1)*1</a:t>
            </a:r>
            <a:endParaRPr sz="2000">
              <a:latin typeface="Times New Roman"/>
              <a:cs typeface="Times New Roman"/>
            </a:endParaRPr>
          </a:p>
          <a:p>
            <a:pPr marL="286385" indent="-274320">
              <a:lnSpc>
                <a:spcPts val="2605"/>
              </a:lnSpc>
              <a:spcBef>
                <a:spcPts val="6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 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 </a:t>
            </a:r>
            <a:r>
              <a:rPr sz="2200" dirty="0">
                <a:latin typeface="Times New Roman"/>
                <a:cs typeface="Times New Roman"/>
              </a:rPr>
              <a:t>strings</a:t>
            </a:r>
            <a:r>
              <a:rPr sz="2200" spc="-5" dirty="0">
                <a:latin typeface="Times New Roman"/>
                <a:cs typeface="Times New Roman"/>
              </a:rPr>
              <a:t> that</a:t>
            </a:r>
            <a:r>
              <a:rPr sz="2200" dirty="0">
                <a:latin typeface="Times New Roman"/>
                <a:cs typeface="Times New Roman"/>
              </a:rPr>
              <a:t> ends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 </a:t>
            </a:r>
            <a:r>
              <a:rPr sz="2200" dirty="0">
                <a:latin typeface="Times New Roman"/>
                <a:cs typeface="Times New Roman"/>
              </a:rPr>
              <a:t>over </a:t>
            </a:r>
            <a:r>
              <a:rPr sz="2200" spc="-5" dirty="0">
                <a:latin typeface="Times New Roman"/>
                <a:cs typeface="Times New Roman"/>
              </a:rPr>
              <a:t>∑={a,b}</a:t>
            </a:r>
            <a:endParaRPr sz="2200">
              <a:latin typeface="Times New Roman"/>
              <a:cs typeface="Times New Roman"/>
            </a:endParaRPr>
          </a:p>
          <a:p>
            <a:pPr marL="990600">
              <a:lnSpc>
                <a:spcPts val="2365"/>
              </a:lnSpc>
            </a:pPr>
            <a:r>
              <a:rPr sz="2000" spc="-5" dirty="0">
                <a:latin typeface="Times New Roman"/>
                <a:cs typeface="Times New Roman"/>
              </a:rPr>
              <a:t>(a/b)*aa</a:t>
            </a:r>
            <a:endParaRPr sz="2000">
              <a:latin typeface="Times New Roman"/>
              <a:cs typeface="Times New Roman"/>
            </a:endParaRPr>
          </a:p>
          <a:p>
            <a:pPr marL="286385" indent="-274320">
              <a:lnSpc>
                <a:spcPts val="2600"/>
              </a:lnSpc>
              <a:spcBef>
                <a:spcPts val="6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has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most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2a’s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over </a:t>
            </a:r>
            <a:r>
              <a:rPr sz="2200" dirty="0">
                <a:latin typeface="Times New Roman"/>
                <a:cs typeface="Times New Roman"/>
              </a:rPr>
              <a:t>∑={a,b}</a:t>
            </a:r>
            <a:endParaRPr sz="2200">
              <a:latin typeface="Times New Roman"/>
              <a:cs typeface="Times New Roman"/>
            </a:endParaRPr>
          </a:p>
          <a:p>
            <a:pPr marL="926465">
              <a:lnSpc>
                <a:spcPts val="2360"/>
              </a:lnSpc>
            </a:pPr>
            <a:r>
              <a:rPr sz="2000" dirty="0">
                <a:latin typeface="Times New Roman"/>
                <a:cs typeface="Times New Roman"/>
              </a:rPr>
              <a:t>(b)*+(b)*a(b)*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(b)*a(b)*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a(a)*</a:t>
            </a:r>
            <a:endParaRPr sz="2000">
              <a:latin typeface="Times New Roman"/>
              <a:cs typeface="Times New Roman"/>
            </a:endParaRPr>
          </a:p>
          <a:p>
            <a:pPr marL="286385" indent="-274320">
              <a:lnSpc>
                <a:spcPts val="2610"/>
              </a:lnSpc>
              <a:spcBef>
                <a:spcPts val="6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set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has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exactly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2a’s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over </a:t>
            </a:r>
            <a:r>
              <a:rPr sz="2200" dirty="0">
                <a:latin typeface="Times New Roman"/>
                <a:cs typeface="Times New Roman"/>
              </a:rPr>
              <a:t>∑={a,b}</a:t>
            </a:r>
            <a:endParaRPr sz="2200">
              <a:latin typeface="Times New Roman"/>
              <a:cs typeface="Times New Roman"/>
            </a:endParaRPr>
          </a:p>
          <a:p>
            <a:pPr marL="990600">
              <a:lnSpc>
                <a:spcPts val="2370"/>
              </a:lnSpc>
            </a:pPr>
            <a:r>
              <a:rPr sz="2000" smtClean="0">
                <a:latin typeface="Times New Roman"/>
                <a:cs typeface="Times New Roman"/>
              </a:rPr>
              <a:t>(b</a:t>
            </a:r>
            <a:r>
              <a:rPr sz="2000">
                <a:latin typeface="Times New Roman"/>
                <a:cs typeface="Times New Roman"/>
              </a:rPr>
              <a:t>)*</a:t>
            </a:r>
            <a:r>
              <a:rPr sz="2000" smtClean="0">
                <a:latin typeface="Times New Roman"/>
                <a:cs typeface="Times New Roman"/>
              </a:rPr>
              <a:t>a(b</a:t>
            </a:r>
            <a:r>
              <a:rPr sz="2000">
                <a:latin typeface="Times New Roman"/>
                <a:cs typeface="Times New Roman"/>
              </a:rPr>
              <a:t>)*</a:t>
            </a:r>
            <a:r>
              <a:rPr sz="2000" spc="-80">
                <a:latin typeface="Times New Roman"/>
                <a:cs typeface="Times New Roman"/>
              </a:rPr>
              <a:t> </a:t>
            </a:r>
            <a:r>
              <a:rPr sz="2000" smtClean="0">
                <a:latin typeface="Times New Roman"/>
                <a:cs typeface="Times New Roman"/>
              </a:rPr>
              <a:t>a(b</a:t>
            </a:r>
            <a:r>
              <a:rPr sz="2000" dirty="0">
                <a:latin typeface="Times New Roman"/>
                <a:cs typeface="Times New Roman"/>
              </a:rPr>
              <a:t>)*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7567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Regular</a:t>
            </a:r>
            <a:r>
              <a:rPr spc="-5" dirty="0"/>
              <a:t> sets </a:t>
            </a:r>
            <a:r>
              <a:rPr dirty="0"/>
              <a:t>&amp;</a:t>
            </a:r>
            <a:r>
              <a:rPr spc="-5" dirty="0"/>
              <a:t> Properties</a:t>
            </a:r>
            <a:r>
              <a:rPr spc="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Regular</a:t>
            </a:r>
            <a:r>
              <a:rPr spc="-5" dirty="0"/>
              <a:t> sets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981202"/>
            <a:ext cx="8087359" cy="47440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99085" marR="174625" indent="-274320">
              <a:lnSpc>
                <a:spcPts val="2380"/>
              </a:lnSpc>
              <a:spcBef>
                <a:spcPts val="39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Any set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represents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value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Expression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called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b="1" spc="-5" dirty="0">
                <a:latin typeface="Times New Roman"/>
                <a:cs typeface="Times New Roman"/>
              </a:rPr>
              <a:t>Regular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Set.</a:t>
            </a:r>
            <a:endParaRPr sz="2200">
              <a:latin typeface="Times New Roman"/>
              <a:cs typeface="Times New Roman"/>
            </a:endParaRPr>
          </a:p>
          <a:p>
            <a:pPr marL="299720" indent="-274320">
              <a:lnSpc>
                <a:spcPct val="100000"/>
              </a:lnSpc>
              <a:spcBef>
                <a:spcPts val="29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Properties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of Regular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Sets: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union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35"/>
              </a:spcBef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25400" marR="4107815">
              <a:lnSpc>
                <a:spcPct val="112700"/>
              </a:lnSpc>
            </a:pPr>
            <a:r>
              <a:rPr sz="2200" spc="-5" dirty="0">
                <a:latin typeface="Times New Roman"/>
                <a:cs typeface="Times New Roman"/>
              </a:rPr>
              <a:t>Let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 two regular expressions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175" spc="-7" baseline="-21072" dirty="0">
                <a:latin typeface="Times New Roman"/>
                <a:cs typeface="Times New Roman"/>
              </a:rPr>
              <a:t>1</a:t>
            </a:r>
            <a:r>
              <a:rPr sz="2175" spc="292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a(aa)*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(aa)*</a:t>
            </a:r>
            <a:endParaRPr sz="2200">
              <a:latin typeface="Times New Roman"/>
              <a:cs typeface="Times New Roman"/>
            </a:endParaRPr>
          </a:p>
          <a:p>
            <a:pPr marL="25400" marR="417830">
              <a:lnSpc>
                <a:spcPct val="1127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So,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{a, </a:t>
            </a:r>
            <a:r>
              <a:rPr sz="2200" spc="-10" dirty="0">
                <a:latin typeface="Times New Roman"/>
                <a:cs typeface="Times New Roman"/>
              </a:rPr>
              <a:t>aaa, </a:t>
            </a:r>
            <a:r>
              <a:rPr sz="2200" spc="-5" dirty="0">
                <a:latin typeface="Times New Roman"/>
                <a:cs typeface="Times New Roman"/>
              </a:rPr>
              <a:t>aaaaa,.....} (Strings of odd length excluding Null)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ε, 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aaaaaa,.......}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including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292" baseline="-21072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Cambria Math"/>
                <a:cs typeface="Cambria Math"/>
              </a:rPr>
              <a:t>𝖴</a:t>
            </a:r>
            <a:r>
              <a:rPr sz="2200" spc="70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ε,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aaaaaa,.......}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35"/>
              </a:spcBef>
            </a:pP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</a:pP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dirty="0">
                <a:latin typeface="Times New Roman"/>
                <a:cs typeface="Times New Roman"/>
              </a:rPr>
              <a:t> (L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Cambria Math"/>
                <a:cs typeface="Cambria Math"/>
              </a:rPr>
              <a:t>𝖴</a:t>
            </a:r>
            <a:r>
              <a:rPr sz="2200" spc="75" dirty="0">
                <a:latin typeface="Cambria Math"/>
                <a:cs typeface="Cambria Math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a*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(which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expression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itself)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Hence,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540" y="709929"/>
            <a:ext cx="8006080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intersection of</a:t>
            </a:r>
            <a:r>
              <a:rPr sz="2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 is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63500" marR="3988435">
              <a:lnSpc>
                <a:spcPct val="2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Let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 two regular expressions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a(a*)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(aa)*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So,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a,aa,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....}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 lengths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excluding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63500" marR="4318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 ε, aa, </a:t>
            </a:r>
            <a:r>
              <a:rPr sz="2200" spc="-10" dirty="0">
                <a:latin typeface="Times New Roman"/>
                <a:cs typeface="Times New Roman"/>
              </a:rPr>
              <a:t>aaaa, </a:t>
            </a:r>
            <a:r>
              <a:rPr sz="2200" spc="-5" dirty="0">
                <a:latin typeface="Times New Roman"/>
                <a:cs typeface="Times New Roman"/>
              </a:rPr>
              <a:t>aaaaaa,.......} (Strings of even length including Null)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∩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 aa, </a:t>
            </a:r>
            <a:r>
              <a:rPr sz="2200" spc="-10" dirty="0">
                <a:latin typeface="Times New Roman"/>
                <a:cs typeface="Times New Roman"/>
              </a:rPr>
              <a:t>aaaa, </a:t>
            </a:r>
            <a:r>
              <a:rPr sz="2200" spc="-5" dirty="0">
                <a:latin typeface="Times New Roman"/>
                <a:cs typeface="Times New Roman"/>
              </a:rPr>
              <a:t>aaaaaa,.......} (Strings of even length excluding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RE </a:t>
            </a:r>
            <a:r>
              <a:rPr sz="2200" dirty="0">
                <a:latin typeface="Times New Roman"/>
                <a:cs typeface="Times New Roman"/>
              </a:rPr>
              <a:t>(L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∩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aa(aa)*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regular </a:t>
            </a:r>
            <a:r>
              <a:rPr sz="2200" spc="-5" dirty="0">
                <a:latin typeface="Times New Roman"/>
                <a:cs typeface="Times New Roman"/>
              </a:rPr>
              <a:t>expression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itself.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latin typeface="Times New Roman"/>
                <a:cs typeface="Times New Roman"/>
              </a:rPr>
              <a:t>Hence,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86129"/>
            <a:ext cx="758317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3.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complement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 is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Let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 take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expression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(aa)*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So,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{ε,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aaaaaa,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.......}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 including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Complement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L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strings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" dirty="0">
                <a:latin typeface="Times New Roman"/>
                <a:cs typeface="Times New Roman"/>
              </a:rPr>
              <a:t> in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L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marR="113664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So,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L’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{a, </a:t>
            </a:r>
            <a:r>
              <a:rPr sz="2200" spc="-10" dirty="0">
                <a:latin typeface="Times New Roman"/>
                <a:cs typeface="Times New Roman"/>
              </a:rPr>
              <a:t>aaa,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.....} (Strings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odd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excluding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 </a:t>
            </a:r>
            <a:r>
              <a:rPr sz="2200" spc="-50" dirty="0">
                <a:latin typeface="Times New Roman"/>
                <a:cs typeface="Times New Roman"/>
              </a:rPr>
              <a:t>(L’)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a(aa)*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regular expression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itself.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Hence,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340" y="786129"/>
            <a:ext cx="8094345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4.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difference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Proof</a:t>
            </a:r>
            <a:r>
              <a:rPr sz="2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63500" marR="3849370">
              <a:lnSpc>
                <a:spcPct val="2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Let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 take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expressions −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(a*)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RE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(aa)*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So,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{a,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....}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excluding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63500" marR="13081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 ε, aa, </a:t>
            </a:r>
            <a:r>
              <a:rPr sz="2200" spc="-10" dirty="0">
                <a:latin typeface="Times New Roman"/>
                <a:cs typeface="Times New Roman"/>
              </a:rPr>
              <a:t>aaaa, </a:t>
            </a:r>
            <a:r>
              <a:rPr sz="2200" spc="-5" dirty="0">
                <a:latin typeface="Times New Roman"/>
                <a:cs typeface="Times New Roman"/>
              </a:rPr>
              <a:t>aaaaaa,.......} (Strings of even length including Null)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292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{a,</a:t>
            </a:r>
            <a:r>
              <a:rPr sz="2200" spc="-10" dirty="0">
                <a:latin typeface="Times New Roman"/>
                <a:cs typeface="Times New Roman"/>
              </a:rPr>
              <a:t> aaa,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aaaaaaa,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....}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(Strings 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odd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excluding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RE </a:t>
            </a:r>
            <a:r>
              <a:rPr sz="2200" dirty="0">
                <a:latin typeface="Times New Roman"/>
                <a:cs typeface="Times New Roman"/>
              </a:rPr>
              <a:t>(L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(aa)*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 expression.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Hence,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633729"/>
            <a:ext cx="7424420" cy="542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5.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reversal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2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4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50800" marR="1124585">
              <a:lnSpc>
                <a:spcPct val="100000"/>
              </a:lnSpc>
            </a:pPr>
            <a:r>
              <a:rPr sz="2200" spc="-95" dirty="0">
                <a:latin typeface="Times New Roman"/>
                <a:cs typeface="Times New Roman"/>
              </a:rPr>
              <a:t>We</a:t>
            </a:r>
            <a:r>
              <a:rPr sz="2200" spc="-5" dirty="0">
                <a:latin typeface="Times New Roman"/>
                <a:cs typeface="Times New Roman"/>
              </a:rPr>
              <a:t> have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</a:t>
            </a:r>
            <a:r>
              <a:rPr sz="2175" b="1" baseline="24904" dirty="0">
                <a:latin typeface="Times New Roman"/>
                <a:cs typeface="Times New Roman"/>
              </a:rPr>
              <a:t>R</a:t>
            </a:r>
            <a:r>
              <a:rPr sz="2175" b="1" spc="292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L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regular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set.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Let,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{01,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11,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10}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(L)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01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10 +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11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10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24904" dirty="0">
                <a:latin typeface="Times New Roman"/>
                <a:cs typeface="Times New Roman"/>
              </a:rPr>
              <a:t>R</a:t>
            </a:r>
            <a:r>
              <a:rPr sz="2175" spc="270" baseline="249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{10,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01,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11,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01}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RE </a:t>
            </a:r>
            <a:r>
              <a:rPr sz="2200" dirty="0">
                <a:latin typeface="Times New Roman"/>
                <a:cs typeface="Times New Roman"/>
              </a:rPr>
              <a:t>(L</a:t>
            </a:r>
            <a:r>
              <a:rPr sz="2175" baseline="24904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01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+ 10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 </a:t>
            </a:r>
            <a:r>
              <a:rPr sz="2200" spc="-45" dirty="0">
                <a:latin typeface="Times New Roman"/>
                <a:cs typeface="Times New Roman"/>
              </a:rPr>
              <a:t>11</a:t>
            </a:r>
            <a:r>
              <a:rPr sz="2200" spc="-5" dirty="0">
                <a:latin typeface="Times New Roman"/>
                <a:cs typeface="Times New Roman"/>
              </a:rPr>
              <a:t> + 10 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regular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Hence,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6.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closure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 is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50800" marR="1778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aaaaa,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.......} </a:t>
            </a:r>
            <a:r>
              <a:rPr sz="2200" spc="-5" dirty="0">
                <a:latin typeface="Times New Roman"/>
                <a:cs typeface="Times New Roman"/>
              </a:rPr>
              <a:t>(Strings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odd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length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excluding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i.e.,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 (L)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a (aa)*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L*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{a,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aaaaa,……………}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(Strings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all </a:t>
            </a:r>
            <a:r>
              <a:rPr sz="2200" dirty="0">
                <a:latin typeface="Times New Roman"/>
                <a:cs typeface="Times New Roman"/>
              </a:rPr>
              <a:t>lengths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ts val="2635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excluding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Null)</a:t>
            </a:r>
            <a:endParaRPr sz="2200">
              <a:latin typeface="Times New Roman"/>
              <a:cs typeface="Times New Roman"/>
            </a:endParaRPr>
          </a:p>
          <a:p>
            <a:pPr marL="50800">
              <a:lnSpc>
                <a:spcPts val="2875"/>
              </a:lnSpc>
              <a:tabLst>
                <a:tab pos="2058035" algn="l"/>
              </a:tabLst>
            </a:pP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(L*)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(a)*	</a:t>
            </a:r>
            <a:r>
              <a:rPr sz="2400" b="1" dirty="0">
                <a:latin typeface="Times New Roman"/>
                <a:cs typeface="Times New Roman"/>
              </a:rPr>
              <a:t>Hence,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proved.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940" y="862329"/>
            <a:ext cx="7827645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Property</a:t>
            </a:r>
            <a:r>
              <a:rPr sz="22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7.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concatenation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regular.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Proof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Let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175" spc="-7" baseline="-21072" dirty="0">
                <a:latin typeface="Times New Roman"/>
                <a:cs typeface="Times New Roman"/>
              </a:rPr>
              <a:t>1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(0+1)*0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RE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01(0+1)*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 marR="53276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Here,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 {0, </a:t>
            </a:r>
            <a:r>
              <a:rPr sz="2200" spc="-5" dirty="0">
                <a:latin typeface="Times New Roman"/>
                <a:cs typeface="Times New Roman"/>
              </a:rPr>
              <a:t>00, </a:t>
            </a:r>
            <a:r>
              <a:rPr sz="2200" dirty="0">
                <a:latin typeface="Times New Roman"/>
                <a:cs typeface="Times New Roman"/>
              </a:rPr>
              <a:t>10, </a:t>
            </a:r>
            <a:r>
              <a:rPr sz="2200" spc="-5" dirty="0">
                <a:latin typeface="Times New Roman"/>
                <a:cs typeface="Times New Roman"/>
              </a:rPr>
              <a:t>000,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010, </a:t>
            </a:r>
            <a:r>
              <a:rPr sz="2200" dirty="0">
                <a:latin typeface="Times New Roman"/>
                <a:cs typeface="Times New Roman"/>
              </a:rPr>
              <a:t>......}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(Set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ending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 {01, </a:t>
            </a:r>
            <a:r>
              <a:rPr sz="2200" spc="-10" dirty="0">
                <a:latin typeface="Times New Roman"/>
                <a:cs typeface="Times New Roman"/>
              </a:rPr>
              <a:t>010,011,.....} </a:t>
            </a:r>
            <a:r>
              <a:rPr sz="2200" spc="-5" dirty="0">
                <a:latin typeface="Times New Roman"/>
                <a:cs typeface="Times New Roman"/>
              </a:rPr>
              <a:t>(Set of strings beginning with 01) </a:t>
            </a:r>
            <a:r>
              <a:rPr sz="2200" dirty="0">
                <a:latin typeface="Times New Roman"/>
                <a:cs typeface="Times New Roman"/>
              </a:rPr>
              <a:t> Then,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1</a:t>
            </a:r>
            <a:r>
              <a:rPr sz="2175" spc="300" baseline="-2107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</a:t>
            </a:r>
            <a:r>
              <a:rPr sz="2175" baseline="-21072" dirty="0">
                <a:latin typeface="Times New Roman"/>
                <a:cs typeface="Times New Roman"/>
              </a:rPr>
              <a:t>2</a:t>
            </a:r>
            <a:r>
              <a:rPr sz="2175" spc="277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{001,0010,0011,0001,00010,00011,1001,10010,.............}</a:t>
            </a:r>
            <a:endParaRPr sz="2200">
              <a:latin typeface="Times New Roman"/>
              <a:cs typeface="Times New Roman"/>
            </a:endParaRPr>
          </a:p>
          <a:p>
            <a:pPr marL="63500" marR="4318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strings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001</a:t>
            </a:r>
            <a:r>
              <a:rPr sz="2200" spc="-5" dirty="0">
                <a:latin typeface="Times New Roman"/>
                <a:cs typeface="Times New Roman"/>
              </a:rPr>
              <a:t> 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substring</a:t>
            </a:r>
            <a:r>
              <a:rPr sz="2200" spc="-5" dirty="0">
                <a:latin typeface="Times New Roman"/>
                <a:cs typeface="Times New Roman"/>
              </a:rPr>
              <a:t> which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represented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 </a:t>
            </a:r>
            <a:r>
              <a:rPr sz="2200" dirty="0">
                <a:latin typeface="Times New Roman"/>
                <a:cs typeface="Times New Roman"/>
              </a:rPr>
              <a:t>(0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+</a:t>
            </a:r>
            <a:r>
              <a:rPr sz="2200" dirty="0">
                <a:latin typeface="Times New Roman"/>
                <a:cs typeface="Times New Roman"/>
              </a:rPr>
              <a:t> 1)*001(0 </a:t>
            </a:r>
            <a:r>
              <a:rPr sz="2200" spc="-5" dirty="0">
                <a:latin typeface="Times New Roman"/>
                <a:cs typeface="Times New Roman"/>
              </a:rPr>
              <a:t>+ </a:t>
            </a:r>
            <a:r>
              <a:rPr sz="2200" dirty="0">
                <a:latin typeface="Times New Roman"/>
                <a:cs typeface="Times New Roman"/>
              </a:rPr>
              <a:t>1)*</a:t>
            </a:r>
            <a:endParaRPr sz="22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Hence,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4738"/>
            <a:ext cx="67570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Identities</a:t>
            </a:r>
            <a:r>
              <a:rPr sz="3200" spc="-45" dirty="0"/>
              <a:t> </a:t>
            </a:r>
            <a:r>
              <a:rPr sz="3200" dirty="0"/>
              <a:t>Related</a:t>
            </a:r>
            <a:r>
              <a:rPr sz="3200" spc="-5" dirty="0"/>
              <a:t> </a:t>
            </a:r>
            <a:r>
              <a:rPr sz="3200" dirty="0"/>
              <a:t>to</a:t>
            </a:r>
            <a:r>
              <a:rPr sz="3200" spc="-5" dirty="0"/>
              <a:t> </a:t>
            </a:r>
            <a:r>
              <a:rPr sz="3200" dirty="0"/>
              <a:t>Regular</a:t>
            </a:r>
            <a:r>
              <a:rPr sz="3200" spc="-30" dirty="0"/>
              <a:t> </a:t>
            </a:r>
            <a:r>
              <a:rPr sz="3200" dirty="0"/>
              <a:t>Expressions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40054"/>
            <a:ext cx="6503670" cy="47574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latin typeface="Times New Roman"/>
                <a:cs typeface="Times New Roman"/>
              </a:rPr>
              <a:t>Given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P,</a:t>
            </a:r>
            <a:r>
              <a:rPr sz="1800" dirty="0">
                <a:latin typeface="Times New Roman"/>
                <a:cs typeface="Times New Roman"/>
              </a:rPr>
              <a:t> L,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 regular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expressions,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following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identities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hold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−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ε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ε*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ε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RR*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R*R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R*R*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(R*)*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RR*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R*R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spc="-5" dirty="0">
                <a:latin typeface="Times New Roman"/>
                <a:cs typeface="Times New Roman"/>
              </a:rPr>
              <a:t>(PQ)*P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=P(QP)*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(a+b)*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(a*b*)*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(a*+b*)*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(a+b*)*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a*(ba*)*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identity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union)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ε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ε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identity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concatenation)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∅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annihilator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concatenation)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(Idempotent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law)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5" dirty="0">
                <a:latin typeface="Times New Roman"/>
                <a:cs typeface="Times New Roman"/>
              </a:rPr>
              <a:t>N)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LM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LN</a:t>
            </a:r>
            <a:r>
              <a:rPr sz="1800" dirty="0">
                <a:latin typeface="Times New Roman"/>
                <a:cs typeface="Times New Roman"/>
              </a:rPr>
              <a:t> (Left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distributive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law)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(M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N)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(Right distributive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law)</a:t>
            </a:r>
            <a:endParaRPr sz="1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83333"/>
              <a:buFont typeface="Wingdings"/>
              <a:buChar char=""/>
              <a:tabLst>
                <a:tab pos="287020" algn="l"/>
              </a:tabLst>
            </a:pPr>
            <a:r>
              <a:rPr sz="1800" dirty="0">
                <a:latin typeface="Times New Roman"/>
                <a:cs typeface="Times New Roman"/>
              </a:rPr>
              <a:t>ε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RR*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ε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R*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4257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Finite</a:t>
            </a:r>
            <a:r>
              <a:rPr sz="4000" spc="-35" dirty="0"/>
              <a:t> </a:t>
            </a:r>
            <a:r>
              <a:rPr sz="4000" spc="-5" dirty="0"/>
              <a:t>State</a:t>
            </a:r>
            <a:r>
              <a:rPr sz="4000" spc="-30" dirty="0"/>
              <a:t> </a:t>
            </a:r>
            <a:r>
              <a:rPr sz="4000" spc="-5" dirty="0"/>
              <a:t>Machine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1930"/>
            <a:ext cx="7459345" cy="4208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75000"/>
              <a:buFont typeface="Segoe UI Symbol"/>
              <a:buChar char="⚫"/>
              <a:tabLst>
                <a:tab pos="342900" algn="l"/>
                <a:tab pos="343535" algn="l"/>
              </a:tabLst>
            </a:pPr>
            <a:r>
              <a:rPr sz="2000" dirty="0">
                <a:latin typeface="Times New Roman"/>
                <a:cs typeface="Times New Roman"/>
              </a:rPr>
              <a:t>The finite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automata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mathematical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discrete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inputs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buClr>
                <a:srgbClr val="DA1F28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model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consists</a:t>
            </a:r>
            <a:r>
              <a:rPr sz="1800" dirty="0">
                <a:latin typeface="Times New Roman"/>
                <a:cs typeface="Times New Roman"/>
              </a:rPr>
              <a:t> of </a:t>
            </a:r>
            <a:r>
              <a:rPr sz="1800" spc="-5" dirty="0">
                <a:latin typeface="Times New Roman"/>
                <a:cs typeface="Times New Roman"/>
              </a:rPr>
              <a:t>several</a:t>
            </a:r>
            <a:r>
              <a:rPr sz="1800" dirty="0">
                <a:latin typeface="Times New Roman"/>
                <a:cs typeface="Times New Roman"/>
              </a:rPr>
              <a:t> states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transitions</a:t>
            </a:r>
            <a:endParaRPr sz="1800">
              <a:latin typeface="Times New Roman"/>
              <a:cs typeface="Times New Roman"/>
            </a:endParaRPr>
          </a:p>
          <a:p>
            <a:pPr marL="560705" marR="314325" lvl="1" indent="-228600">
              <a:lnSpc>
                <a:spcPct val="100000"/>
              </a:lnSpc>
              <a:spcBef>
                <a:spcPts val="409"/>
              </a:spcBef>
              <a:buClr>
                <a:srgbClr val="DA1F28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</a:t>
            </a:r>
            <a:r>
              <a:rPr sz="1800" dirty="0">
                <a:latin typeface="Times New Roman"/>
                <a:cs typeface="Times New Roman"/>
              </a:rPr>
              <a:t> 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system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summarizes</a:t>
            </a:r>
            <a:r>
              <a:rPr sz="1800" dirty="0">
                <a:latin typeface="Times New Roman"/>
                <a:cs typeface="Times New Roman"/>
              </a:rPr>
              <a:t> the info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concerning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inputs that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needed to </a:t>
            </a:r>
            <a:r>
              <a:rPr sz="1800" spc="-5" dirty="0">
                <a:latin typeface="Times New Roman"/>
                <a:cs typeface="Times New Roman"/>
              </a:rPr>
              <a:t>determine </a:t>
            </a:r>
            <a:r>
              <a:rPr sz="1800" dirty="0">
                <a:latin typeface="Times New Roman"/>
                <a:cs typeface="Times New Roman"/>
              </a:rPr>
              <a:t>the behavior of the system on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subsequence </a:t>
            </a:r>
            <a:r>
              <a:rPr sz="1800" dirty="0">
                <a:latin typeface="Times New Roman"/>
                <a:cs typeface="Times New Roman"/>
              </a:rPr>
              <a:t>inputs.</a:t>
            </a:r>
            <a:endParaRPr sz="1800">
              <a:latin typeface="Times New Roman"/>
              <a:cs typeface="Times New Roman"/>
            </a:endParaRPr>
          </a:p>
          <a:p>
            <a:pPr marL="560705" marR="26034" lvl="1" indent="-228600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1800" dirty="0">
                <a:latin typeface="Times New Roman"/>
                <a:cs typeface="Times New Roman"/>
              </a:rPr>
              <a:t>The control mechanism of an elevator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a good example of </a:t>
            </a:r>
            <a:r>
              <a:rPr sz="1800" spc="-5" dirty="0">
                <a:latin typeface="Times New Roman"/>
                <a:cs typeface="Times New Roman"/>
              </a:rPr>
              <a:t>FSM. </a:t>
            </a:r>
            <a:r>
              <a:rPr sz="1800" dirty="0">
                <a:latin typeface="Times New Roman"/>
                <a:cs typeface="Times New Roman"/>
              </a:rPr>
              <a:t>This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mechanism doesn’t remember </a:t>
            </a:r>
            <a:r>
              <a:rPr sz="1800" dirty="0">
                <a:latin typeface="Times New Roman"/>
                <a:cs typeface="Times New Roman"/>
              </a:rPr>
              <a:t>all previous requests for </a:t>
            </a:r>
            <a:r>
              <a:rPr sz="1800" spc="-5" dirty="0">
                <a:latin typeface="Times New Roman"/>
                <a:cs typeface="Times New Roman"/>
              </a:rPr>
              <a:t>service </a:t>
            </a:r>
            <a:r>
              <a:rPr sz="1800" dirty="0">
                <a:latin typeface="Times New Roman"/>
                <a:cs typeface="Times New Roman"/>
              </a:rPr>
              <a:t>but only 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current flow the direction of </a:t>
            </a:r>
            <a:r>
              <a:rPr sz="1800" spc="-5" dirty="0">
                <a:latin typeface="Times New Roman"/>
                <a:cs typeface="Times New Roman"/>
              </a:rPr>
              <a:t>motion </a:t>
            </a:r>
            <a:r>
              <a:rPr sz="1800" dirty="0">
                <a:latin typeface="Times New Roman"/>
                <a:cs typeface="Times New Roman"/>
              </a:rPr>
              <a:t>(up </a:t>
            </a:r>
            <a:r>
              <a:rPr sz="1800" spc="-5" dirty="0">
                <a:latin typeface="Times New Roman"/>
                <a:cs typeface="Times New Roman"/>
              </a:rPr>
              <a:t>or </a:t>
            </a:r>
            <a:r>
              <a:rPr sz="1800" dirty="0">
                <a:latin typeface="Times New Roman"/>
                <a:cs typeface="Times New Roman"/>
              </a:rPr>
              <a:t>down) and the collection of </a:t>
            </a:r>
            <a:r>
              <a:rPr sz="1800" spc="-5" dirty="0">
                <a:latin typeface="Times New Roman"/>
                <a:cs typeface="Times New Roman"/>
              </a:rPr>
              <a:t>not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yet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satisfied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requests</a:t>
            </a:r>
            <a:r>
              <a:rPr sz="1800" dirty="0">
                <a:latin typeface="Times New Roman"/>
                <a:cs typeface="Times New Roman"/>
              </a:rPr>
              <a:t> for </a:t>
            </a:r>
            <a:r>
              <a:rPr sz="1800" spc="-5" dirty="0">
                <a:latin typeface="Times New Roman"/>
                <a:cs typeface="Times New Roman"/>
              </a:rPr>
              <a:t>service.</a:t>
            </a:r>
            <a:endParaRPr sz="1800">
              <a:latin typeface="Times New Roman"/>
              <a:cs typeface="Times New Roman"/>
            </a:endParaRPr>
          </a:p>
          <a:p>
            <a:pPr marL="560705" marR="283845" lvl="1" indent="-228600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3333"/>
              <a:buFont typeface="Segoe UI Symbol"/>
              <a:buChar char="⚫"/>
              <a:tabLst>
                <a:tab pos="561340" algn="l"/>
              </a:tabLst>
            </a:pP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xi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al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</a:t>
            </a:r>
            <a:r>
              <a:rPr sz="1800" spc="25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z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scans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10" dirty="0">
                <a:latin typeface="Times New Roman"/>
                <a:cs typeface="Times New Roman"/>
              </a:rPr>
              <a:t>y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bols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program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loca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 string of characters corresponding to identifiers, constants and </a:t>
            </a:r>
            <a:r>
              <a:rPr sz="1800" spc="-5" dirty="0">
                <a:latin typeface="Times New Roman"/>
                <a:cs typeface="Times New Roman"/>
              </a:rPr>
              <a:t>reserved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595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Fin</a:t>
            </a:r>
            <a:r>
              <a:rPr sz="4000" spc="5" dirty="0"/>
              <a:t>i</a:t>
            </a:r>
            <a:r>
              <a:rPr sz="4000" spc="-5" dirty="0"/>
              <a:t>te</a:t>
            </a:r>
            <a:r>
              <a:rPr sz="4000" spc="-225" dirty="0"/>
              <a:t> </a:t>
            </a:r>
            <a:r>
              <a:rPr sz="4000" spc="-5" dirty="0"/>
              <a:t>Aut</a:t>
            </a:r>
            <a:r>
              <a:rPr sz="4000" dirty="0"/>
              <a:t>o</a:t>
            </a:r>
            <a:r>
              <a:rPr sz="4000" spc="-5" dirty="0"/>
              <a:t>mat</a:t>
            </a:r>
            <a:r>
              <a:rPr sz="4000" dirty="0"/>
              <a:t>o</a:t>
            </a:r>
            <a:r>
              <a:rPr sz="4000" spc="-5" dirty="0"/>
              <a:t>n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0405"/>
            <a:ext cx="7527925" cy="388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69265" indent="-2743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  <a:tab pos="2500630" algn="l"/>
              </a:tabLst>
            </a:pPr>
            <a:r>
              <a:rPr sz="2400" dirty="0">
                <a:latin typeface="Times New Roman"/>
                <a:cs typeface="Times New Roman"/>
              </a:rPr>
              <a:t>Consists of a finite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States and 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transitions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symbols</a:t>
            </a:r>
            <a:r>
              <a:rPr sz="2400" dirty="0">
                <a:latin typeface="Times New Roman"/>
                <a:cs typeface="Times New Roman"/>
              </a:rPr>
              <a:t> chosen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alphabet	∑.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CA1BE"/>
              </a:buClr>
              <a:buFont typeface="Segoe UI Symbol"/>
              <a:buChar char="⚫"/>
            </a:pPr>
            <a:endParaRPr sz="335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 automaton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composed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five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components: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5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5" dirty="0">
                <a:latin typeface="Times New Roman"/>
                <a:cs typeface="Times New Roman"/>
              </a:rPr>
              <a:t>1.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Q: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finite</a:t>
            </a:r>
            <a:r>
              <a:rPr sz="2200" spc="-5" dirty="0">
                <a:latin typeface="Times New Roman"/>
                <a:cs typeface="Times New Roman"/>
              </a:rPr>
              <a:t> set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states.</a:t>
            </a:r>
            <a:endParaRPr sz="2200">
              <a:latin typeface="Times New Roman"/>
              <a:cs typeface="Times New Roman"/>
            </a:endParaRPr>
          </a:p>
          <a:p>
            <a:pPr marL="631190" lvl="1" indent="-299720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631190" algn="l"/>
                <a:tab pos="631825" algn="l"/>
              </a:tabLst>
            </a:pPr>
            <a:r>
              <a:rPr sz="2200" spc="-5" dirty="0">
                <a:latin typeface="Times New Roman"/>
                <a:cs typeface="Times New Roman"/>
              </a:rPr>
              <a:t>2. :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symbols, 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alphabet.</a:t>
            </a:r>
            <a:endParaRPr sz="2200">
              <a:latin typeface="Times New Roman"/>
              <a:cs typeface="Times New Roman"/>
            </a:endParaRPr>
          </a:p>
          <a:p>
            <a:pPr marL="631190" lvl="1" indent="-299720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631190" algn="l"/>
                <a:tab pos="631825" algn="l"/>
              </a:tabLst>
            </a:pPr>
            <a:r>
              <a:rPr sz="2200" spc="-5" dirty="0">
                <a:latin typeface="Times New Roman"/>
                <a:cs typeface="Times New Roman"/>
              </a:rPr>
              <a:t>3. Q x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∑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--&gt;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 is the transition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function.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9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5" dirty="0">
                <a:latin typeface="Times New Roman"/>
                <a:cs typeface="Times New Roman"/>
              </a:rPr>
              <a:t>4.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start state.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5" dirty="0">
                <a:latin typeface="Times New Roman"/>
                <a:cs typeface="Times New Roman"/>
              </a:rPr>
              <a:t>5. 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final </a:t>
            </a:r>
            <a:r>
              <a:rPr sz="2200" spc="-5" dirty="0">
                <a:latin typeface="Times New Roman"/>
                <a:cs typeface="Times New Roman"/>
              </a:rPr>
              <a:t>states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states).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 is 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subset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885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Transition</a:t>
            </a:r>
            <a:r>
              <a:rPr sz="4000" spc="-75" dirty="0"/>
              <a:t> </a:t>
            </a:r>
            <a:r>
              <a:rPr sz="4000" spc="-5" dirty="0"/>
              <a:t>diagram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0405"/>
            <a:ext cx="75615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Directed Graph called a transition diagram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associated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8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vertices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graph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esponds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es  of </a:t>
            </a:r>
            <a:r>
              <a:rPr sz="2400" spc="-18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lab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cal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ed  transition.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3352849"/>
            <a:ext cx="3505200" cy="213429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209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Transition</a:t>
            </a:r>
            <a:r>
              <a:rPr sz="4000" spc="-80" dirty="0"/>
              <a:t> </a:t>
            </a:r>
            <a:r>
              <a:rPr sz="4000" spc="-5" dirty="0"/>
              <a:t>table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1929"/>
            <a:ext cx="6914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7020" algn="l"/>
              </a:tabLst>
            </a:pPr>
            <a:r>
              <a:rPr sz="2800" spc="-15" dirty="0">
                <a:latin typeface="Arial MT"/>
                <a:cs typeface="Arial MT"/>
              </a:rPr>
              <a:t>Transition</a:t>
            </a:r>
            <a:r>
              <a:rPr sz="2800" dirty="0">
                <a:latin typeface="Arial MT"/>
                <a:cs typeface="Arial MT"/>
              </a:rPr>
              <a:t> table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represents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transitions.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621" y="2200282"/>
            <a:ext cx="5266949" cy="34198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876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String</a:t>
            </a:r>
            <a:r>
              <a:rPr sz="4000" spc="-245" dirty="0"/>
              <a:t> </a:t>
            </a:r>
            <a:r>
              <a:rPr sz="4000" spc="-5" dirty="0"/>
              <a:t>Acceptance: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0405"/>
            <a:ext cx="7515859" cy="458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40690" indent="-2743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aid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pted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a </a:t>
            </a:r>
            <a:r>
              <a:rPr sz="2400" spc="-18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M=</a:t>
            </a:r>
            <a:r>
              <a:rPr sz="2400" spc="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Q,∑</a:t>
            </a:r>
            <a:r>
              <a:rPr sz="2400" spc="15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δ</a:t>
            </a:r>
            <a:r>
              <a:rPr sz="2400" dirty="0">
                <a:latin typeface="Times New Roman"/>
                <a:cs typeface="Times New Roman"/>
              </a:rPr>
              <a:t>,q0</a:t>
            </a:r>
            <a:r>
              <a:rPr sz="2400" spc="-5" dirty="0">
                <a:latin typeface="Times New Roman"/>
                <a:cs typeface="Times New Roman"/>
              </a:rPr>
              <a:t>,F)</a:t>
            </a:r>
            <a:r>
              <a:rPr sz="2400" spc="5" dirty="0">
                <a:latin typeface="Times New Roman"/>
                <a:cs typeface="Times New Roman"/>
              </a:rPr>
              <a:t> i</a:t>
            </a:r>
            <a:r>
              <a:rPr sz="2400" dirty="0">
                <a:latin typeface="Times New Roman"/>
                <a:cs typeface="Times New Roman"/>
              </a:rPr>
              <a:t>f  δ(q0,x)=p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F.</a:t>
            </a:r>
            <a:endParaRPr sz="2400">
              <a:latin typeface="Times New Roman"/>
              <a:cs typeface="Times New Roman"/>
            </a:endParaRPr>
          </a:p>
          <a:p>
            <a:pPr marL="286385" marR="7175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accepted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accepted.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said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regular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accepted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Ex: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δ(q0,111)=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δ(δ(δ(q0,1),11)</a:t>
            </a:r>
            <a:endParaRPr sz="240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δ(δ(q0,1),1)</a:t>
            </a:r>
            <a:endParaRPr sz="240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δ(q1,1)</a:t>
            </a:r>
            <a:endParaRPr sz="2400">
              <a:latin typeface="Times New Roman"/>
              <a:cs typeface="Times New Roman"/>
            </a:endParaRPr>
          </a:p>
          <a:p>
            <a:pPr marL="12700" marR="4667250" indent="1828164">
              <a:lnSpc>
                <a:spcPct val="1208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ϵ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accepted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5047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Finite</a:t>
            </a:r>
            <a:r>
              <a:rPr sz="4000" spc="-250" dirty="0"/>
              <a:t> </a:t>
            </a:r>
            <a:r>
              <a:rPr sz="4000" spc="-5" dirty="0"/>
              <a:t>Automaton</a:t>
            </a:r>
            <a:r>
              <a:rPr sz="4000" spc="-30" dirty="0"/>
              <a:t> </a:t>
            </a:r>
            <a:r>
              <a:rPr sz="4000" spc="-5" dirty="0"/>
              <a:t>Model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8882"/>
            <a:ext cx="686815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finite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automaton</a:t>
            </a:r>
            <a:r>
              <a:rPr sz="2600" dirty="0">
                <a:latin typeface="Times New Roman"/>
                <a:cs typeface="Times New Roman"/>
              </a:rPr>
              <a:t> model</a:t>
            </a:r>
            <a:r>
              <a:rPr sz="2600" spc="-5" dirty="0">
                <a:latin typeface="Times New Roman"/>
                <a:cs typeface="Times New Roman"/>
              </a:rPr>
              <a:t> can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represented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2204" y="2605258"/>
            <a:ext cx="3972977" cy="14570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5047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Finite</a:t>
            </a:r>
            <a:r>
              <a:rPr sz="4000" spc="-250" dirty="0"/>
              <a:t> </a:t>
            </a:r>
            <a:r>
              <a:rPr sz="4000" spc="-5" dirty="0"/>
              <a:t>Automaton</a:t>
            </a:r>
            <a:r>
              <a:rPr sz="4000" spc="-30" dirty="0"/>
              <a:t> </a:t>
            </a:r>
            <a:r>
              <a:rPr sz="4000" spc="-5" dirty="0"/>
              <a:t>Model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1930"/>
            <a:ext cx="7602855" cy="3303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tape: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linear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cells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∑.</a:t>
            </a:r>
            <a:endParaRPr sz="20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5" dirty="0">
                <a:latin typeface="Times New Roman"/>
                <a:cs typeface="Times New Roman"/>
              </a:rPr>
              <a:t>Finite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indicates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decided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particular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tape.</a:t>
            </a:r>
            <a:endParaRPr sz="2000">
              <a:latin typeface="Times New Roman"/>
              <a:cs typeface="Times New Roman"/>
            </a:endParaRPr>
          </a:p>
          <a:p>
            <a:pPr marL="286385" marR="52197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346075" algn="l"/>
                <a:tab pos="346710" algn="l"/>
              </a:tabLst>
            </a:pPr>
            <a:r>
              <a:rPr dirty="0"/>
              <a:t>	</a:t>
            </a:r>
            <a:r>
              <a:rPr sz="2000" spc="-35" dirty="0">
                <a:latin typeface="Times New Roman"/>
                <a:cs typeface="Times New Roman"/>
              </a:rPr>
              <a:t>Tape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cells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left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read.</a:t>
            </a:r>
            <a:endParaRPr sz="2000">
              <a:latin typeface="Times New Roman"/>
              <a:cs typeface="Times New Roman"/>
            </a:endParaRPr>
          </a:p>
          <a:p>
            <a:pPr marL="286385" marR="14097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346075" algn="l"/>
                <a:tab pos="346710" algn="l"/>
              </a:tabLst>
            </a:pPr>
            <a:r>
              <a:rPr dirty="0"/>
              <a:t>	</a:t>
            </a:r>
            <a:r>
              <a:rPr sz="2000" dirty="0">
                <a:latin typeface="Times New Roman"/>
                <a:cs typeface="Times New Roman"/>
              </a:rPr>
              <a:t>The read head </a:t>
            </a:r>
            <a:r>
              <a:rPr sz="2000" spc="-5" dirty="0">
                <a:latin typeface="Times New Roman"/>
                <a:cs typeface="Times New Roman"/>
              </a:rPr>
              <a:t>examines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and head </a:t>
            </a:r>
            <a:r>
              <a:rPr sz="2000" spc="-5" dirty="0">
                <a:latin typeface="Times New Roman"/>
                <a:cs typeface="Times New Roman"/>
              </a:rPr>
              <a:t>moves to </a:t>
            </a:r>
            <a:r>
              <a:rPr sz="2000" dirty="0">
                <a:latin typeface="Times New Roman"/>
                <a:cs typeface="Times New Roman"/>
              </a:rPr>
              <a:t>the right side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without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finite control is in final </a:t>
            </a:r>
            <a:r>
              <a:rPr sz="2000" spc="-5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then the string is accepted otherwise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rejected.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312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Fin</a:t>
            </a:r>
            <a:r>
              <a:rPr sz="4000" spc="5" dirty="0"/>
              <a:t>i</a:t>
            </a:r>
            <a:r>
              <a:rPr sz="4000" spc="-5" dirty="0"/>
              <a:t>te</a:t>
            </a:r>
            <a:r>
              <a:rPr sz="4000" spc="-225" dirty="0"/>
              <a:t> </a:t>
            </a:r>
            <a:r>
              <a:rPr sz="4000" spc="-5" dirty="0"/>
              <a:t>Aut</a:t>
            </a:r>
            <a:r>
              <a:rPr sz="4000" dirty="0"/>
              <a:t>o</a:t>
            </a:r>
            <a:r>
              <a:rPr sz="4000" spc="-5" dirty="0"/>
              <a:t>mata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70405"/>
            <a:ext cx="4841240" cy="171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automata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5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Clr>
                <a:srgbClr val="2CA1BE"/>
              </a:buClr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Times New Roman"/>
                <a:cs typeface="Times New Roman"/>
              </a:rPr>
              <a:t>Dete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ata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Times New Roman"/>
                <a:cs typeface="Times New Roman"/>
              </a:rPr>
              <a:t>Non Dete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620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Deterministic</a:t>
            </a:r>
            <a:r>
              <a:rPr sz="4000" dirty="0"/>
              <a:t> </a:t>
            </a:r>
            <a:r>
              <a:rPr sz="4000" spc="-5" dirty="0"/>
              <a:t>Finite</a:t>
            </a:r>
            <a:r>
              <a:rPr sz="4000" spc="-220" dirty="0"/>
              <a:t> </a:t>
            </a:r>
            <a:r>
              <a:rPr sz="4000" spc="-5" dirty="0"/>
              <a:t>Automata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404873"/>
            <a:ext cx="7601584" cy="38449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40385" marR="17780" indent="-445134">
              <a:lnSpc>
                <a:spcPct val="80000"/>
              </a:lnSpc>
              <a:spcBef>
                <a:spcPts val="620"/>
              </a:spcBef>
            </a:pP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DFA,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each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input symbol, one can determine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 to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 move.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Hence,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 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Deterministic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Automaton. As it has a finite number of states, the machine is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Deterministic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5" dirty="0">
                <a:latin typeface="Times New Roman"/>
                <a:cs typeface="Times New Roman"/>
              </a:rPr>
              <a:t> Deterministic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Automaton.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5"/>
              </a:spcBef>
            </a:pPr>
            <a:r>
              <a:rPr sz="2200" b="1" spc="-5" dirty="0">
                <a:latin typeface="Times New Roman"/>
                <a:cs typeface="Times New Roman"/>
              </a:rPr>
              <a:t>F</a:t>
            </a:r>
            <a:r>
              <a:rPr sz="2200" b="1" dirty="0">
                <a:latin typeface="Times New Roman"/>
                <a:cs typeface="Times New Roman"/>
              </a:rPr>
              <a:t>o</a:t>
            </a:r>
            <a:r>
              <a:rPr sz="2200" b="1" spc="-5" dirty="0">
                <a:latin typeface="Times New Roman"/>
                <a:cs typeface="Times New Roman"/>
              </a:rPr>
              <a:t>r</a:t>
            </a:r>
            <a:r>
              <a:rPr sz="2200" b="1" spc="-15" dirty="0">
                <a:latin typeface="Times New Roman"/>
                <a:cs typeface="Times New Roman"/>
              </a:rPr>
              <a:t>m</a:t>
            </a:r>
            <a:r>
              <a:rPr sz="2200" b="1" spc="-5" dirty="0">
                <a:latin typeface="Times New Roman"/>
                <a:cs typeface="Times New Roman"/>
              </a:rPr>
              <a:t>al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Definiti</a:t>
            </a:r>
            <a:r>
              <a:rPr sz="2200" b="1" dirty="0">
                <a:latin typeface="Times New Roman"/>
                <a:cs typeface="Times New Roman"/>
              </a:rPr>
              <a:t>o</a:t>
            </a:r>
            <a:r>
              <a:rPr sz="2200" b="1" spc="-5" dirty="0">
                <a:latin typeface="Times New Roman"/>
                <a:cs typeface="Times New Roman"/>
              </a:rPr>
              <a:t>n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of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D</a:t>
            </a:r>
            <a:r>
              <a:rPr sz="2200" b="1" spc="-170" dirty="0">
                <a:latin typeface="Times New Roman"/>
                <a:cs typeface="Times New Roman"/>
              </a:rPr>
              <a:t>F</a:t>
            </a:r>
            <a:r>
              <a:rPr sz="2200" b="1" spc="-5" dirty="0">
                <a:latin typeface="Times New Roman"/>
                <a:cs typeface="Times New Roman"/>
              </a:rPr>
              <a:t>A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DFA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represented</a:t>
            </a:r>
            <a:r>
              <a:rPr sz="2200" dirty="0">
                <a:latin typeface="Times New Roman"/>
                <a:cs typeface="Times New Roman"/>
              </a:rPr>
              <a:t> by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5-tuple</a:t>
            </a:r>
            <a:r>
              <a:rPr sz="2200" spc="-5" dirty="0">
                <a:latin typeface="Times New Roman"/>
                <a:cs typeface="Times New Roman"/>
              </a:rPr>
              <a:t> (Q,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∑, δ,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q</a:t>
            </a:r>
            <a:r>
              <a:rPr sz="2175" spc="7" baseline="-21072" dirty="0">
                <a:latin typeface="Times New Roman"/>
                <a:cs typeface="Times New Roman"/>
              </a:rPr>
              <a:t>0</a:t>
            </a:r>
            <a:r>
              <a:rPr sz="2200" spc="5" dirty="0">
                <a:latin typeface="Times New Roman"/>
                <a:cs typeface="Times New Roman"/>
              </a:rPr>
              <a:t>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where</a:t>
            </a:r>
            <a:r>
              <a:rPr sz="2200" spc="-5" dirty="0">
                <a:latin typeface="Times New Roman"/>
                <a:cs typeface="Times New Roman"/>
              </a:rPr>
              <a:t> −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Q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states.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∑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 set</a:t>
            </a:r>
            <a:r>
              <a:rPr sz="2200" dirty="0">
                <a:latin typeface="Times New Roman"/>
                <a:cs typeface="Times New Roman"/>
              </a:rPr>
              <a:t> of </a:t>
            </a:r>
            <a:r>
              <a:rPr sz="2200" spc="-5" dirty="0">
                <a:latin typeface="Times New Roman"/>
                <a:cs typeface="Times New Roman"/>
              </a:rPr>
              <a:t>symbols called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alphabet.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δ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transition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 </a:t>
            </a:r>
            <a:r>
              <a:rPr sz="2200" spc="-10" dirty="0">
                <a:latin typeface="Times New Roman"/>
                <a:cs typeface="Times New Roman"/>
              </a:rPr>
              <a:t>where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δ: Q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× ∑ →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dirty="0">
                <a:latin typeface="Times New Roman"/>
                <a:cs typeface="Times New Roman"/>
              </a:rPr>
              <a:t>q</a:t>
            </a:r>
            <a:r>
              <a:rPr sz="2175" b="1" baseline="-21072" dirty="0">
                <a:latin typeface="Times New Roman"/>
                <a:cs typeface="Times New Roman"/>
              </a:rPr>
              <a:t>0</a:t>
            </a:r>
            <a:r>
              <a:rPr sz="2175" b="1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the </a:t>
            </a:r>
            <a:r>
              <a:rPr sz="2200" spc="-5" dirty="0">
                <a:latin typeface="Times New Roman"/>
                <a:cs typeface="Times New Roman"/>
              </a:rPr>
              <a:t>initial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 from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where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input 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(q</a:t>
            </a:r>
            <a:r>
              <a:rPr sz="2175" spc="22" baseline="-21072" dirty="0">
                <a:latin typeface="Times New Roman"/>
                <a:cs typeface="Times New Roman"/>
              </a:rPr>
              <a:t>0</a:t>
            </a:r>
            <a:r>
              <a:rPr sz="2175" spc="284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∈</a:t>
            </a:r>
            <a:r>
              <a:rPr sz="2200" spc="8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Q).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F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set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final</a:t>
            </a:r>
            <a:r>
              <a:rPr sz="2200" spc="-5" dirty="0">
                <a:latin typeface="Times New Roman"/>
                <a:cs typeface="Times New Roman"/>
              </a:rPr>
              <a:t> state/states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 (F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⊆</a:t>
            </a:r>
            <a:r>
              <a:rPr sz="2200" spc="6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Q).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620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Deterministic</a:t>
            </a:r>
            <a:r>
              <a:rPr sz="4000" dirty="0"/>
              <a:t> </a:t>
            </a:r>
            <a:r>
              <a:rPr sz="4000" spc="-5" dirty="0"/>
              <a:t>Finite</a:t>
            </a:r>
            <a:r>
              <a:rPr sz="4000" spc="-220" dirty="0"/>
              <a:t> </a:t>
            </a:r>
            <a:r>
              <a:rPr sz="4000" spc="-5" dirty="0"/>
              <a:t>Automata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396734"/>
            <a:ext cx="5951220" cy="26930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95"/>
              </a:spcBef>
            </a:pPr>
            <a:r>
              <a:rPr sz="2000" spc="-5" dirty="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deterministic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finite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automaton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→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c},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∑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1},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spc="10" dirty="0">
                <a:latin typeface="Times New Roman"/>
                <a:cs typeface="Times New Roman"/>
              </a:rPr>
              <a:t>q</a:t>
            </a:r>
            <a:r>
              <a:rPr sz="1950" spc="15" baseline="-21367" dirty="0">
                <a:latin typeface="Times New Roman"/>
                <a:cs typeface="Times New Roman"/>
              </a:rPr>
              <a:t>0</a:t>
            </a:r>
            <a:r>
              <a:rPr sz="1950" spc="195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{a},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{c},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−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0767" y="4360614"/>
            <a:ext cx="3689001" cy="16747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7205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Non</a:t>
            </a:r>
            <a:r>
              <a:rPr sz="4000" spc="-10" dirty="0"/>
              <a:t> </a:t>
            </a:r>
            <a:r>
              <a:rPr sz="4000" spc="-5" dirty="0"/>
              <a:t>Deterministic</a:t>
            </a:r>
            <a:r>
              <a:rPr sz="4000" dirty="0"/>
              <a:t> Finite</a:t>
            </a:r>
            <a:r>
              <a:rPr sz="4000" spc="-229" dirty="0"/>
              <a:t> </a:t>
            </a:r>
            <a:r>
              <a:rPr sz="4000" spc="-5" dirty="0"/>
              <a:t>Automata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404873"/>
            <a:ext cx="7632700" cy="41497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9085" marR="17780" indent="-274320">
              <a:lnSpc>
                <a:spcPct val="80000"/>
              </a:lnSpc>
              <a:spcBef>
                <a:spcPts val="62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NDFA,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particular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input symbol,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any combination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the </a:t>
            </a:r>
            <a:r>
              <a:rPr sz="2200" spc="-5" dirty="0">
                <a:latin typeface="Times New Roman"/>
                <a:cs typeface="Times New Roman"/>
              </a:rPr>
              <a:t>states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machine.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words,</a:t>
            </a:r>
            <a:r>
              <a:rPr sz="2200" dirty="0">
                <a:latin typeface="Times New Roman"/>
                <a:cs typeface="Times New Roman"/>
              </a:rPr>
              <a:t> 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exact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moves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cannot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determined.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Hence, it is called </a:t>
            </a:r>
            <a:r>
              <a:rPr sz="2200" b="1" spc="-5" dirty="0">
                <a:latin typeface="Times New Roman"/>
                <a:cs typeface="Times New Roman"/>
              </a:rPr>
              <a:t>Non-deterministic Automaton</a:t>
            </a:r>
            <a:r>
              <a:rPr sz="2200" spc="-5" dirty="0">
                <a:latin typeface="Times New Roman"/>
                <a:cs typeface="Times New Roman"/>
              </a:rPr>
              <a:t>. As it has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Non-deterministic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Finite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Machine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Non-deterministic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Finite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Automaton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5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Formal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Definition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of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spc="-40" dirty="0">
                <a:latin typeface="Times New Roman"/>
                <a:cs typeface="Times New Roman"/>
              </a:rPr>
              <a:t>NDFA: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Times New Roman"/>
                <a:cs typeface="Times New Roman"/>
              </a:rPr>
              <a:t>An </a:t>
            </a:r>
            <a:r>
              <a:rPr sz="2200" spc="-45" dirty="0">
                <a:latin typeface="Times New Roman"/>
                <a:cs typeface="Times New Roman"/>
              </a:rPr>
              <a:t>NDFA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 represented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 a</a:t>
            </a:r>
            <a:r>
              <a:rPr sz="2200" dirty="0">
                <a:latin typeface="Times New Roman"/>
                <a:cs typeface="Times New Roman"/>
              </a:rPr>
              <a:t> 5-tuple </a:t>
            </a:r>
            <a:r>
              <a:rPr sz="2200" spc="-5" dirty="0">
                <a:latin typeface="Times New Roman"/>
                <a:cs typeface="Times New Roman"/>
              </a:rPr>
              <a:t>(Q,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∑,</a:t>
            </a:r>
            <a:r>
              <a:rPr sz="2200" spc="-5" dirty="0">
                <a:latin typeface="Times New Roman"/>
                <a:cs typeface="Times New Roman"/>
              </a:rPr>
              <a:t> δ,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175" baseline="-21072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spc="-5" dirty="0">
                <a:latin typeface="Times New Roman"/>
                <a:cs typeface="Times New Roman"/>
              </a:rPr>
              <a:t>F)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where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−</a:t>
            </a:r>
            <a:endParaRPr sz="2200">
              <a:latin typeface="Times New Roman"/>
              <a:cs typeface="Times New Roman"/>
            </a:endParaRPr>
          </a:p>
          <a:p>
            <a:pPr marL="573405" lvl="1" indent="-229235">
              <a:lnSpc>
                <a:spcPct val="100000"/>
              </a:lnSpc>
              <a:spcBef>
                <a:spcPts val="10"/>
              </a:spcBef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b="1" dirty="0">
                <a:latin typeface="Times New Roman"/>
                <a:cs typeface="Times New Roman"/>
              </a:rPr>
              <a:t>Q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finite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states.</a:t>
            </a:r>
            <a:endParaRPr sz="17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35"/>
              </a:lnSpc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b="1" dirty="0">
                <a:latin typeface="Times New Roman"/>
                <a:cs typeface="Times New Roman"/>
              </a:rPr>
              <a:t>∑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finite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symbols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alphabets.</a:t>
            </a:r>
            <a:endParaRPr sz="17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30"/>
              </a:lnSpc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b="1" dirty="0">
                <a:latin typeface="Times New Roman"/>
                <a:cs typeface="Times New Roman"/>
              </a:rPr>
              <a:t>δ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transition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function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δ:</a:t>
            </a:r>
            <a:r>
              <a:rPr sz="1700" dirty="0">
                <a:latin typeface="Times New Roman"/>
                <a:cs typeface="Times New Roman"/>
              </a:rPr>
              <a:t> Q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×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∑ → </a:t>
            </a:r>
            <a:r>
              <a:rPr sz="1700" spc="5" dirty="0">
                <a:latin typeface="Times New Roman"/>
                <a:cs typeface="Times New Roman"/>
              </a:rPr>
              <a:t>2</a:t>
            </a:r>
            <a:r>
              <a:rPr sz="1650" spc="7" baseline="25252" dirty="0">
                <a:latin typeface="Times New Roman"/>
                <a:cs typeface="Times New Roman"/>
              </a:rPr>
              <a:t>Q</a:t>
            </a:r>
            <a:endParaRPr sz="1650" baseline="25252">
              <a:latin typeface="Times New Roman"/>
              <a:cs typeface="Times New Roman"/>
            </a:endParaRPr>
          </a:p>
          <a:p>
            <a:pPr marL="573405" marR="269875" lvl="1" indent="-228600">
              <a:lnSpc>
                <a:spcPct val="80000"/>
              </a:lnSpc>
              <a:spcBef>
                <a:spcPts val="405"/>
              </a:spcBef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dirty="0">
                <a:latin typeface="Times New Roman"/>
                <a:cs typeface="Times New Roman"/>
              </a:rPr>
              <a:t>(Here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power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(2</a:t>
            </a:r>
            <a:r>
              <a:rPr sz="1650" spc="7" baseline="25252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)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been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taken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because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case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NDFA,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state, transition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occur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combination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Q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states)</a:t>
            </a:r>
            <a:endParaRPr sz="17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35"/>
              </a:lnSpc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b="1" spc="5" dirty="0">
                <a:latin typeface="Times New Roman"/>
                <a:cs typeface="Times New Roman"/>
              </a:rPr>
              <a:t>q</a:t>
            </a:r>
            <a:r>
              <a:rPr sz="1650" b="1" spc="7" baseline="-20202" dirty="0">
                <a:latin typeface="Times New Roman"/>
                <a:cs typeface="Times New Roman"/>
              </a:rPr>
              <a:t>0</a:t>
            </a:r>
            <a:r>
              <a:rPr sz="1650" b="1" spc="209" baseline="-2020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initial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input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processed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(q</a:t>
            </a:r>
            <a:r>
              <a:rPr sz="1650" spc="15" baseline="-20202" dirty="0">
                <a:latin typeface="Times New Roman"/>
                <a:cs typeface="Times New Roman"/>
              </a:rPr>
              <a:t>0</a:t>
            </a:r>
            <a:r>
              <a:rPr sz="1650" spc="217" baseline="-2020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ambria Math"/>
                <a:cs typeface="Cambria Math"/>
              </a:rPr>
              <a:t>∈</a:t>
            </a:r>
            <a:r>
              <a:rPr sz="1700" spc="50" dirty="0">
                <a:latin typeface="Cambria Math"/>
                <a:cs typeface="Cambria Math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Q).</a:t>
            </a:r>
            <a:endParaRPr sz="1700">
              <a:latin typeface="Times New Roman"/>
              <a:cs typeface="Times New Roman"/>
            </a:endParaRPr>
          </a:p>
          <a:p>
            <a:pPr marL="573405" lvl="1" indent="-229235">
              <a:lnSpc>
                <a:spcPts val="2035"/>
              </a:lnSpc>
              <a:buClr>
                <a:srgbClr val="DA1F28"/>
              </a:buClr>
              <a:buSzPct val="85294"/>
              <a:buFont typeface="Segoe UI Symbol"/>
              <a:buChar char="⚫"/>
              <a:tabLst>
                <a:tab pos="573405" algn="l"/>
                <a:tab pos="574040" algn="l"/>
              </a:tabLst>
            </a:pPr>
            <a:r>
              <a:rPr sz="1700" b="1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a </a:t>
            </a:r>
            <a:r>
              <a:rPr sz="1700" spc="-5" dirty="0">
                <a:latin typeface="Times New Roman"/>
                <a:cs typeface="Times New Roman"/>
              </a:rPr>
              <a:t>set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final state/states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(F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ambria Math"/>
                <a:cs typeface="Cambria Math"/>
              </a:rPr>
              <a:t>⊆</a:t>
            </a:r>
            <a:r>
              <a:rPr sz="1700" spc="40" dirty="0">
                <a:latin typeface="Cambria Math"/>
                <a:cs typeface="Cambria Math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Q).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7205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Non</a:t>
            </a:r>
            <a:r>
              <a:rPr sz="4000" spc="-10" dirty="0"/>
              <a:t> </a:t>
            </a:r>
            <a:r>
              <a:rPr sz="4000" spc="-5" dirty="0"/>
              <a:t>Deterministic</a:t>
            </a:r>
            <a:r>
              <a:rPr sz="4000" dirty="0"/>
              <a:t> Finite</a:t>
            </a:r>
            <a:r>
              <a:rPr sz="4000" spc="-229" dirty="0"/>
              <a:t> </a:t>
            </a:r>
            <a:r>
              <a:rPr sz="4000" spc="-5" dirty="0"/>
              <a:t>Automata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397253"/>
            <a:ext cx="4579620" cy="24796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74320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b="1" dirty="0"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Let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non-deterministic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finite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automaton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Q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{a,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c}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∑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{0,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1}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baseline="-20833" dirty="0">
                <a:latin typeface="Times New Roman"/>
                <a:cs typeface="Times New Roman"/>
              </a:rPr>
              <a:t>0</a:t>
            </a:r>
            <a:r>
              <a:rPr sz="1800" spc="13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{a}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{c}</a:t>
            </a:r>
            <a:endParaRPr sz="18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transition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δ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below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−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0057" y="3914047"/>
            <a:ext cx="3851377" cy="174740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3149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</a:t>
            </a:r>
            <a:r>
              <a:rPr sz="4000" spc="-315" dirty="0"/>
              <a:t>F</a:t>
            </a:r>
            <a:r>
              <a:rPr sz="4000" spc="-5" dirty="0"/>
              <a:t>A</a:t>
            </a:r>
            <a:r>
              <a:rPr sz="4000" spc="-204" dirty="0"/>
              <a:t> </a:t>
            </a:r>
            <a:r>
              <a:rPr sz="4000" spc="-5" dirty="0"/>
              <a:t>vs. ND</a:t>
            </a:r>
            <a:r>
              <a:rPr sz="4000" spc="-315" dirty="0"/>
              <a:t>F</a:t>
            </a:r>
            <a:r>
              <a:rPr sz="4000" spc="-5" dirty="0"/>
              <a:t>A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1695451"/>
            <a:ext cx="8219697" cy="420089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Examples of FA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28600" y="762000"/>
            <a:ext cx="84582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Example 1:</a:t>
            </a:r>
          </a:p>
          <a:p>
            <a:r>
              <a:rPr lang="en-US" sz="2400" dirty="0" smtClean="0"/>
              <a:t>Design a FA with ∑ = {0, 1} accepts those string which starts with 1 and ends with 0.</a:t>
            </a:r>
          </a:p>
          <a:p>
            <a:r>
              <a:rPr lang="en-US" sz="2400" b="1" dirty="0" smtClean="0"/>
              <a:t>Solution:</a:t>
            </a:r>
            <a:endParaRPr lang="en-US" sz="2400" dirty="0" smtClean="0"/>
          </a:p>
          <a:p>
            <a:r>
              <a:rPr lang="en-US" sz="2400" dirty="0" smtClean="0"/>
              <a:t>The FA will have a start state q0 from which only the edge with input 1 will go to the next state.</a:t>
            </a:r>
          </a:p>
          <a:p>
            <a:r>
              <a:rPr lang="en-US" sz="2400" dirty="0" smtClean="0"/>
              <a:t>In state q1, if we read 1, we will be in state q1, but if we read 0 at state q1, we will reach to state q2 which is the final state. In state q2, if we read either 0 or 1, we will go to q2 state or q1 state respectively. Note that if the input ends with 0, it will be in the final state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/>
          <a:lstStyle/>
          <a:p>
            <a:r>
              <a:rPr lang="en-US" dirty="0" err="1" smtClean="0"/>
              <a:t>K.Nalini</a:t>
            </a:r>
            <a:r>
              <a:rPr lang="en-US" dirty="0" smtClean="0"/>
              <a:t>, Assistant Professor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876800"/>
            <a:ext cx="600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bject 4"/>
          <p:cNvSpPr/>
          <p:nvPr/>
        </p:nvSpPr>
        <p:spPr>
          <a:xfrm>
            <a:off x="2286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8001000" cy="1538883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Example 2:</a:t>
            </a:r>
          </a:p>
          <a:p>
            <a:r>
              <a:rPr lang="en-US" sz="2000" dirty="0" smtClean="0"/>
              <a:t>Design a FA with ∑ = {0, 1} accepts the only input 101.</a:t>
            </a:r>
          </a:p>
          <a:p>
            <a:pPr>
              <a:buNone/>
            </a:pPr>
            <a:r>
              <a:rPr lang="en-US" sz="2000" b="1" dirty="0" smtClean="0"/>
              <a:t>Solution:</a:t>
            </a:r>
          </a:p>
          <a:p>
            <a:pPr>
              <a:buNone/>
            </a:pPr>
            <a:r>
              <a:rPr lang="en-US" sz="2000" dirty="0" smtClean="0"/>
              <a:t>	In the given solution, we can see that only input 101 will be accepted. Hence, for input 101, there is no other path shown for other input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K.Nalini, Assistant Professor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810000"/>
            <a:ext cx="72580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bject 4"/>
          <p:cNvSpPr/>
          <p:nvPr/>
        </p:nvSpPr>
        <p:spPr>
          <a:xfrm>
            <a:off x="2286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533400" y="685800"/>
            <a:ext cx="8153400" cy="1815882"/>
          </a:xfrm>
        </p:spPr>
        <p:txBody>
          <a:bodyPr/>
          <a:lstStyle/>
          <a:p>
            <a:r>
              <a:rPr lang="en-US" sz="2000" dirty="0" smtClean="0"/>
              <a:t>Example 3:</a:t>
            </a:r>
          </a:p>
          <a:p>
            <a:r>
              <a:rPr lang="en-US" sz="2000" dirty="0" smtClean="0"/>
              <a:t>Design FA with ∑ = {0, 1} accepts even number of 0's and even number of 1's.</a:t>
            </a:r>
          </a:p>
          <a:p>
            <a:r>
              <a:rPr lang="en-US" sz="2000" b="1" dirty="0" smtClean="0"/>
              <a:t>Solution:</a:t>
            </a:r>
            <a:endParaRPr lang="en-US" sz="2000" dirty="0" smtClean="0"/>
          </a:p>
          <a:p>
            <a:r>
              <a:rPr lang="en-US" sz="2000" dirty="0" smtClean="0"/>
              <a:t>This FA will consider four different stages for input 0 and input 1. The stages could be: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/>
          <a:lstStyle/>
          <a:p>
            <a:r>
              <a:rPr lang="en-US" dirty="0" err="1" smtClean="0"/>
              <a:t>K.Nalini</a:t>
            </a:r>
            <a:r>
              <a:rPr lang="en-US" dirty="0" smtClean="0"/>
              <a:t>, Assistant Professor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2438400"/>
            <a:ext cx="3581400" cy="310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bject 4"/>
          <p:cNvSpPr/>
          <p:nvPr/>
        </p:nvSpPr>
        <p:spPr>
          <a:xfrm>
            <a:off x="2286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2834"/>
            <a:ext cx="4486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DFA-</a:t>
            </a:r>
            <a:r>
              <a:rPr spc="-40" dirty="0"/>
              <a:t> </a:t>
            </a:r>
            <a:r>
              <a:rPr spc="-5" dirty="0"/>
              <a:t>Practice</a:t>
            </a:r>
            <a:r>
              <a:rPr spc="-25" dirty="0"/>
              <a:t> </a:t>
            </a:r>
            <a:r>
              <a:rPr dirty="0"/>
              <a:t>Problems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016253"/>
            <a:ext cx="7538084" cy="4751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222250" indent="-5156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3333"/>
              <a:buAutoNum type="arabicParenR"/>
              <a:tabLst>
                <a:tab pos="527685" algn="l"/>
                <a:tab pos="528320" algn="l"/>
              </a:tabLst>
            </a:pPr>
            <a:r>
              <a:rPr sz="1800" spc="-5" dirty="0">
                <a:latin typeface="Times New Roman"/>
                <a:cs typeface="Times New Roman"/>
              </a:rPr>
              <a:t>Design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FA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 accepts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dirty="0">
                <a:latin typeface="Times New Roman"/>
                <a:cs typeface="Times New Roman"/>
              </a:rPr>
              <a:t> of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every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ends  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00,over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alphabet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∑={0,1}.</a:t>
            </a:r>
            <a:endParaRPr sz="1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/>
              <a:tabLst>
                <a:tab pos="527685" algn="l"/>
                <a:tab pos="528320" algn="l"/>
              </a:tabLst>
            </a:pPr>
            <a:r>
              <a:rPr sz="1800" dirty="0">
                <a:latin typeface="Times New Roman"/>
                <a:cs typeface="Times New Roman"/>
              </a:rPr>
              <a:t>Construct a </a:t>
            </a:r>
            <a:r>
              <a:rPr sz="1800" spc="-140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pt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str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wher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nu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ber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0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ev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ry</a:t>
            </a:r>
            <a:endParaRPr sz="18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multiple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alphabet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∑={0,1}.</a:t>
            </a:r>
            <a:endParaRPr sz="18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3"/>
              <a:tabLst>
                <a:tab pos="527685" algn="l"/>
                <a:tab pos="528320" algn="l"/>
              </a:tabLst>
            </a:pPr>
            <a:r>
              <a:rPr sz="1800" spc="-5" dirty="0">
                <a:latin typeface="Times New Roman"/>
                <a:cs typeface="Times New Roman"/>
              </a:rPr>
              <a:t>Desig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pts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dirty="0">
                <a:latin typeface="Times New Roman"/>
                <a:cs typeface="Times New Roman"/>
              </a:rPr>
              <a:t>s con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four 1</a:t>
            </a:r>
            <a:r>
              <a:rPr sz="1800" spc="-105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ev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ry 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 alphabet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∑={0,1}.</a:t>
            </a:r>
            <a:endParaRPr sz="1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3"/>
              <a:tabLst>
                <a:tab pos="527685" algn="l"/>
                <a:tab pos="528320" algn="l"/>
              </a:tabLst>
            </a:pPr>
            <a:r>
              <a:rPr sz="1800" spc="-5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FA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exactly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 1 over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alphabet</a:t>
            </a:r>
            <a:endParaRPr sz="18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∑={0,1}.</a:t>
            </a:r>
            <a:endParaRPr sz="1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5"/>
              <a:tabLst>
                <a:tab pos="527685" algn="l"/>
                <a:tab pos="528320" algn="l"/>
              </a:tabLst>
            </a:pPr>
            <a:r>
              <a:rPr sz="1800" dirty="0">
                <a:latin typeface="Times New Roman"/>
                <a:cs typeface="Times New Roman"/>
              </a:rPr>
              <a:t>De</a:t>
            </a:r>
            <a:r>
              <a:rPr sz="1800" spc="-1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ign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</a:t>
            </a:r>
            <a:r>
              <a:rPr sz="1800" spc="-10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h 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ept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nguage</a:t>
            </a:r>
            <a:endParaRPr sz="1800">
              <a:latin typeface="Times New Roman"/>
              <a:cs typeface="Times New Roman"/>
            </a:endParaRPr>
          </a:p>
          <a:p>
            <a:pPr marL="926465" indent="-91440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3333"/>
              <a:buAutoNum type="arabicParenR" startAt="5"/>
              <a:tabLst>
                <a:tab pos="926465" algn="l"/>
                <a:tab pos="927100" algn="l"/>
              </a:tabLst>
            </a:pPr>
            <a:r>
              <a:rPr sz="1800" dirty="0">
                <a:latin typeface="Times New Roman"/>
                <a:cs typeface="Times New Roman"/>
              </a:rPr>
              <a:t>L={ω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ϵ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(0</a:t>
            </a:r>
            <a:r>
              <a:rPr sz="1800" spc="5" dirty="0">
                <a:latin typeface="Times New Roman"/>
                <a:cs typeface="Times New Roman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1)*/se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ond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spc="10" dirty="0">
                <a:latin typeface="Times New Roman"/>
                <a:cs typeface="Times New Roman"/>
              </a:rPr>
              <a:t>y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bol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ω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‘0’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fourth input 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1}.</a:t>
            </a:r>
            <a:endParaRPr sz="1800">
              <a:latin typeface="Times New Roman"/>
              <a:cs typeface="Times New Roman"/>
            </a:endParaRPr>
          </a:p>
          <a:p>
            <a:pPr marL="527685" marR="26543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5"/>
              <a:tabLst>
                <a:tab pos="527685" algn="l"/>
                <a:tab pos="528320" algn="l"/>
              </a:tabLst>
            </a:pPr>
            <a:r>
              <a:rPr sz="1800" spc="-5" dirty="0">
                <a:latin typeface="Times New Roman"/>
                <a:cs typeface="Times New Roman"/>
              </a:rPr>
              <a:t>Giv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spc="-140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Σ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{0,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1}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tr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ngs 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 an odd number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1</a:t>
            </a:r>
            <a:r>
              <a:rPr sz="1800" spc="-105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  any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30" dirty="0">
                <a:latin typeface="Times New Roman"/>
                <a:cs typeface="Times New Roman"/>
              </a:rPr>
              <a:t>0’s.</a:t>
            </a:r>
            <a:endParaRPr sz="1800">
              <a:latin typeface="Times New Roman"/>
              <a:cs typeface="Times New Roman"/>
            </a:endParaRPr>
          </a:p>
          <a:p>
            <a:pPr marL="583565" indent="-57150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5"/>
              <a:tabLst>
                <a:tab pos="583565" algn="l"/>
                <a:tab pos="584200" algn="l"/>
              </a:tabLst>
            </a:pPr>
            <a:r>
              <a:rPr sz="1800" spc="-5" dirty="0">
                <a:latin typeface="Times New Roman"/>
                <a:cs typeface="Times New Roman"/>
              </a:rPr>
              <a:t>Giv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14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Σ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{a, b,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c} th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pts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5" dirty="0">
                <a:latin typeface="Times New Roman"/>
                <a:cs typeface="Times New Roman"/>
              </a:rPr>
              <a:t> strin</a:t>
            </a:r>
            <a:r>
              <a:rPr sz="1800" dirty="0">
                <a:latin typeface="Times New Roman"/>
                <a:cs typeface="Times New Roman"/>
              </a:rPr>
              <a:t>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aab</a:t>
            </a:r>
            <a:r>
              <a:rPr sz="1800" spc="-5" dirty="0">
                <a:latin typeface="Times New Roman"/>
                <a:cs typeface="Times New Roman"/>
              </a:rPr>
              <a:t> 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sub</a:t>
            </a:r>
            <a:r>
              <a:rPr sz="1800" spc="-1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tr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ng.</a:t>
            </a:r>
            <a:endParaRPr sz="1800">
              <a:latin typeface="Times New Roman"/>
              <a:cs typeface="Times New Roman"/>
            </a:endParaRPr>
          </a:p>
          <a:p>
            <a:pPr marL="527685" marR="88011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Times New Roman"/>
              <a:buAutoNum type="arabicParenR" startAt="5"/>
              <a:tabLst>
                <a:tab pos="583565" algn="l"/>
                <a:tab pos="584200" algn="l"/>
              </a:tabLst>
            </a:pPr>
            <a:r>
              <a:rPr dirty="0"/>
              <a:t>	</a:t>
            </a:r>
            <a:r>
              <a:rPr sz="1800" spc="-5" dirty="0">
                <a:latin typeface="Times New Roman"/>
                <a:cs typeface="Times New Roman"/>
              </a:rPr>
              <a:t>Giv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14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Σ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{a, b}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t a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pts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5" dirty="0">
                <a:latin typeface="Times New Roman"/>
                <a:cs typeface="Times New Roman"/>
              </a:rPr>
              <a:t> strin</a:t>
            </a:r>
            <a:r>
              <a:rPr sz="1800" dirty="0">
                <a:latin typeface="Times New Roman"/>
                <a:cs typeface="Times New Roman"/>
              </a:rPr>
              <a:t>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babb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 </a:t>
            </a:r>
            <a:r>
              <a:rPr sz="1800" spc="-5" dirty="0">
                <a:latin typeface="Times New Roman"/>
                <a:cs typeface="Times New Roman"/>
              </a:rPr>
              <a:t>substring.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12749"/>
            <a:ext cx="4981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DFA-</a:t>
            </a:r>
            <a:r>
              <a:rPr sz="4000" spc="15" dirty="0"/>
              <a:t> </a:t>
            </a:r>
            <a:r>
              <a:rPr sz="4000" spc="-5" dirty="0"/>
              <a:t>Practice</a:t>
            </a:r>
            <a:r>
              <a:rPr sz="4000" spc="-15" dirty="0"/>
              <a:t> </a:t>
            </a:r>
            <a:r>
              <a:rPr sz="4000" spc="-5" dirty="0"/>
              <a:t>Problems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10970"/>
            <a:ext cx="7541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1700" dirty="0">
                <a:solidFill>
                  <a:srgbClr val="2CA1BE"/>
                </a:solidFill>
                <a:latin typeface="Times New Roman"/>
                <a:cs typeface="Times New Roman"/>
              </a:rPr>
              <a:t>9.	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651884"/>
            <a:ext cx="7465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Times New Roman"/>
                <a:cs typeface="Times New Roman"/>
              </a:rPr>
              <a:t>10.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905000"/>
            <a:ext cx="4639056" cy="16093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393" y="4343437"/>
            <a:ext cx="4352550" cy="14005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6549"/>
            <a:ext cx="4981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DFA-</a:t>
            </a:r>
            <a:r>
              <a:rPr sz="4000" spc="15" dirty="0"/>
              <a:t> </a:t>
            </a:r>
            <a:r>
              <a:rPr sz="4000" spc="-5" dirty="0"/>
              <a:t>Practice</a:t>
            </a:r>
            <a:r>
              <a:rPr sz="4000" spc="-15" dirty="0"/>
              <a:t> </a:t>
            </a:r>
            <a:r>
              <a:rPr sz="4000" spc="-5" dirty="0"/>
              <a:t>Problems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0744" y="1162887"/>
            <a:ext cx="7535545" cy="444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2670810" indent="-482600">
              <a:lnSpc>
                <a:spcPct val="106700"/>
              </a:lnSpc>
              <a:spcBef>
                <a:spcPts val="95"/>
              </a:spcBef>
              <a:buClr>
                <a:srgbClr val="2CA1BE"/>
              </a:buClr>
              <a:buSzPct val="85000"/>
              <a:buAutoNum type="arabicPeriod" startAt="11"/>
              <a:tabLst>
                <a:tab pos="482600" algn="l"/>
                <a:tab pos="2823210" algn="l"/>
                <a:tab pos="3480435" algn="l"/>
              </a:tabLst>
            </a:pPr>
            <a:r>
              <a:rPr sz="3000" spc="-5" dirty="0">
                <a:latin typeface="Times New Roman"/>
                <a:cs typeface="Times New Roman"/>
              </a:rPr>
              <a:t>Design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29" dirty="0">
                <a:latin typeface="Times New Roman"/>
                <a:cs typeface="Times New Roman"/>
              </a:rPr>
              <a:t>F</a:t>
            </a:r>
            <a:r>
              <a:rPr sz="3000" spc="-5" dirty="0">
                <a:latin typeface="Times New Roman"/>
                <a:cs typeface="Times New Roman"/>
              </a:rPr>
              <a:t>A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</a:t>
            </a:r>
            <a:r>
              <a:rPr sz="3000" dirty="0">
                <a:latin typeface="Times New Roman"/>
                <a:cs typeface="Times New Roman"/>
              </a:rPr>
              <a:t>or	t</a:t>
            </a:r>
            <a:r>
              <a:rPr sz="3000" spc="-10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e	language  </a:t>
            </a:r>
            <a:r>
              <a:rPr sz="3000" spc="-5" dirty="0">
                <a:latin typeface="Times New Roman"/>
                <a:cs typeface="Times New Roman"/>
              </a:rPr>
              <a:t>L={(01)</a:t>
            </a:r>
            <a:r>
              <a:rPr sz="3000" spc="-7" baseline="25000" dirty="0">
                <a:latin typeface="Times New Roman"/>
                <a:cs typeface="Times New Roman"/>
              </a:rPr>
              <a:t>i</a:t>
            </a:r>
            <a:r>
              <a:rPr sz="3000" spc="-15" baseline="25000" dirty="0">
                <a:latin typeface="Times New Roman"/>
                <a:cs typeface="Times New Roman"/>
              </a:rPr>
              <a:t> </a:t>
            </a:r>
            <a:r>
              <a:rPr sz="3000" spc="-5">
                <a:latin typeface="Times New Roman"/>
                <a:cs typeface="Times New Roman"/>
              </a:rPr>
              <a:t>(</a:t>
            </a:r>
            <a:r>
              <a:rPr sz="3000" spc="-5" smtClean="0">
                <a:latin typeface="Times New Roman"/>
                <a:cs typeface="Times New Roman"/>
              </a:rPr>
              <a:t>1)</a:t>
            </a:r>
            <a:r>
              <a:rPr sz="3000" spc="-7" baseline="25000" smtClean="0">
                <a:latin typeface="Times New Roman"/>
                <a:cs typeface="Times New Roman"/>
              </a:rPr>
              <a:t>2</a:t>
            </a:r>
            <a:r>
              <a:rPr lang="en-US" sz="3000" spc="-7" baseline="25000" dirty="0" smtClean="0">
                <a:latin typeface="Times New Roman"/>
                <a:cs typeface="Times New Roman"/>
              </a:rPr>
              <a:t>j</a:t>
            </a:r>
            <a:r>
              <a:rPr sz="3000" baseline="25000" smtClean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/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</a:t>
            </a:r>
            <a:r>
              <a:rPr sz="3000" spc="-5">
                <a:latin typeface="Times New Roman"/>
                <a:cs typeface="Times New Roman"/>
              </a:rPr>
              <a:t>&gt;=</a:t>
            </a:r>
            <a:r>
              <a:rPr sz="3000" spc="-5" smtClean="0">
                <a:latin typeface="Times New Roman"/>
                <a:cs typeface="Times New Roman"/>
              </a:rPr>
              <a:t>1</a:t>
            </a:r>
            <a:r>
              <a:rPr lang="en-US" sz="3000" spc="-5" dirty="0" smtClean="0">
                <a:latin typeface="Times New Roman"/>
                <a:cs typeface="Times New Roman"/>
              </a:rPr>
              <a:t>,j&gt;=1</a:t>
            </a:r>
            <a:r>
              <a:rPr sz="3000" spc="-5" smtClean="0">
                <a:latin typeface="Times New Roman"/>
                <a:cs typeface="Times New Roman"/>
              </a:rPr>
              <a:t>}.</a:t>
            </a:r>
            <a:endParaRPr sz="3000">
              <a:latin typeface="Times New Roman"/>
              <a:cs typeface="Times New Roman"/>
            </a:endParaRPr>
          </a:p>
          <a:p>
            <a:pPr marL="481965" marR="17780" indent="-457200">
              <a:lnSpc>
                <a:spcPts val="2810"/>
              </a:lnSpc>
              <a:spcBef>
                <a:spcPts val="660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4488180" algn="l"/>
              </a:tabLst>
            </a:pPr>
            <a:r>
              <a:rPr sz="2600" spc="-5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abet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∑={0,1},w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pt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  </a:t>
            </a:r>
            <a:r>
              <a:rPr sz="2600" spc="-5" dirty="0">
                <a:latin typeface="Times New Roman"/>
                <a:cs typeface="Times New Roman"/>
              </a:rPr>
              <a:t>set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strings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either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start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	01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01.</a:t>
            </a:r>
            <a:endParaRPr sz="2600">
              <a:latin typeface="Times New Roman"/>
              <a:cs typeface="Times New Roman"/>
            </a:endParaRPr>
          </a:p>
          <a:p>
            <a:pPr marL="481965" marR="46355" indent="-457200">
              <a:lnSpc>
                <a:spcPct val="90000"/>
              </a:lnSpc>
              <a:spcBef>
                <a:spcPts val="555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3563620" algn="l"/>
              </a:tabLst>
            </a:pPr>
            <a:r>
              <a:rPr sz="2600" dirty="0">
                <a:latin typeface="Times New Roman"/>
                <a:cs typeface="Times New Roman"/>
              </a:rPr>
              <a:t>Give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 D</a:t>
            </a:r>
            <a:r>
              <a:rPr sz="2600" spc="-19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pting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t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rings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er  alphabet ∑={0,1},such that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each </a:t>
            </a:r>
            <a:r>
              <a:rPr sz="2600" spc="-5" dirty="0">
                <a:latin typeface="Times New Roman"/>
                <a:cs typeface="Times New Roman"/>
              </a:rPr>
              <a:t>string </a:t>
            </a:r>
            <a:r>
              <a:rPr sz="2600" dirty="0">
                <a:latin typeface="Times New Roman"/>
                <a:cs typeface="Times New Roman"/>
              </a:rPr>
              <a:t>number of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0’s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divisible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 five	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1’s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divisible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3.</a:t>
            </a:r>
            <a:endParaRPr sz="2600">
              <a:latin typeface="Times New Roman"/>
              <a:cs typeface="Times New Roman"/>
            </a:endParaRPr>
          </a:p>
          <a:p>
            <a:pPr marL="481965" marR="84455" indent="-457200">
              <a:lnSpc>
                <a:spcPct val="90000"/>
              </a:lnSpc>
              <a:spcBef>
                <a:spcPts val="600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</a:tabLst>
            </a:pPr>
            <a:r>
              <a:rPr sz="2600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20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pt 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ua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L=</a:t>
            </a:r>
            <a:r>
              <a:rPr sz="2600" spc="15" dirty="0">
                <a:latin typeface="Times New Roman"/>
                <a:cs typeface="Times New Roman"/>
              </a:rPr>
              <a:t>{</a:t>
            </a:r>
            <a:r>
              <a:rPr sz="2600" dirty="0">
                <a:latin typeface="Times New Roman"/>
                <a:cs typeface="Times New Roman"/>
              </a:rPr>
              <a:t>ω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/</a:t>
            </a:r>
            <a:r>
              <a:rPr sz="2600" dirty="0">
                <a:latin typeface="Times New Roman"/>
                <a:cs typeface="Times New Roman"/>
              </a:rPr>
              <a:t>ω has  both an even number of </a:t>
            </a:r>
            <a:r>
              <a:rPr sz="2600" spc="-50" dirty="0">
                <a:latin typeface="Times New Roman"/>
                <a:cs typeface="Times New Roman"/>
              </a:rPr>
              <a:t>0’s </a:t>
            </a:r>
            <a:r>
              <a:rPr sz="2600" dirty="0">
                <a:latin typeface="Times New Roman"/>
                <a:cs typeface="Times New Roman"/>
              </a:rPr>
              <a:t>and an even number of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1’s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over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alphabet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∑={0,1}.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48552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NFA-Practice</a:t>
            </a:r>
            <a:r>
              <a:rPr sz="4000" spc="-10" dirty="0"/>
              <a:t> </a:t>
            </a:r>
            <a:r>
              <a:rPr sz="4000" spc="-5" dirty="0"/>
              <a:t>Problems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42644" y="1404873"/>
            <a:ext cx="7533005" cy="44577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78485" marR="222885" indent="-515620">
              <a:lnSpc>
                <a:spcPts val="2110"/>
              </a:lnSpc>
              <a:spcBef>
                <a:spcPts val="605"/>
              </a:spcBef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  <a:tab pos="1506855" algn="l"/>
                <a:tab pos="2586355" algn="l"/>
                <a:tab pos="4248150" algn="l"/>
              </a:tabLst>
            </a:pPr>
            <a:r>
              <a:rPr sz="2200" spc="-5" dirty="0">
                <a:latin typeface="Times New Roman"/>
                <a:cs typeface="Times New Roman"/>
              </a:rPr>
              <a:t>Design	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	L=all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 over </a:t>
            </a:r>
            <a:r>
              <a:rPr sz="2200" dirty="0">
                <a:latin typeface="Times New Roman"/>
                <a:cs typeface="Times New Roman"/>
              </a:rPr>
              <a:t>{0,1}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least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	consecutive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0’s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1’s.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2CA1BE"/>
              </a:buClr>
              <a:buFont typeface="Times New Roman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578485" marR="584200" indent="-515620">
              <a:lnSpc>
                <a:spcPct val="80000"/>
              </a:lnSpc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  <a:tab pos="1136650" algn="l"/>
              </a:tabLst>
            </a:pPr>
            <a:r>
              <a:rPr sz="2200" spc="-5" dirty="0">
                <a:latin typeface="Times New Roman"/>
                <a:cs typeface="Times New Roman"/>
              </a:rPr>
              <a:t>2.	Draw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L=(ab)*(ba)*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aa*.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Times New Roman"/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578485" indent="-515620">
              <a:lnSpc>
                <a:spcPts val="2375"/>
              </a:lnSpc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</a:tabLst>
            </a:pPr>
            <a:r>
              <a:rPr sz="2200" spc="-5" dirty="0">
                <a:latin typeface="Times New Roman"/>
                <a:cs typeface="Times New Roman"/>
              </a:rPr>
              <a:t>Draw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dirty="0">
                <a:latin typeface="Times New Roman"/>
                <a:cs typeface="Times New Roman"/>
              </a:rPr>
              <a:t>L=(aba)*</a:t>
            </a:r>
            <a:endParaRPr sz="2200">
              <a:latin typeface="Times New Roman"/>
              <a:cs typeface="Times New Roman"/>
            </a:endParaRPr>
          </a:p>
          <a:p>
            <a:pPr marL="57848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aa*.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578485" marR="1143635" indent="-515620">
              <a:lnSpc>
                <a:spcPct val="80000"/>
              </a:lnSpc>
              <a:buClr>
                <a:srgbClr val="2CA1BE"/>
              </a:buClr>
              <a:buSzPct val="84090"/>
              <a:buAutoNum type="arabicPeriod" startAt="4"/>
              <a:tabLst>
                <a:tab pos="578485" algn="l"/>
                <a:tab pos="579120" algn="l"/>
              </a:tabLst>
            </a:pPr>
            <a:r>
              <a:rPr sz="2200" spc="-5" dirty="0">
                <a:latin typeface="Times New Roman"/>
                <a:cs typeface="Times New Roman"/>
              </a:rPr>
              <a:t>Draw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L={(a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:n&gt;=0)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 (b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a:n&gt;=1)}.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Times New Roman"/>
              <a:buAutoNum type="arabicPeriod" startAt="4"/>
            </a:pPr>
            <a:endParaRPr sz="2400">
              <a:latin typeface="Times New Roman"/>
              <a:cs typeface="Times New Roman"/>
            </a:endParaRPr>
          </a:p>
          <a:p>
            <a:pPr marL="578485" indent="-515620">
              <a:lnSpc>
                <a:spcPts val="2375"/>
              </a:lnSpc>
              <a:spcBef>
                <a:spcPts val="5"/>
              </a:spcBef>
              <a:buClr>
                <a:srgbClr val="2CA1BE"/>
              </a:buClr>
              <a:buSzPct val="84090"/>
              <a:buAutoNum type="arabicPeriod" startAt="4"/>
              <a:tabLst>
                <a:tab pos="578485" algn="l"/>
                <a:tab pos="579120" algn="l"/>
                <a:tab pos="1136650" algn="l"/>
              </a:tabLst>
            </a:pPr>
            <a:r>
              <a:rPr sz="2200" spc="-5" dirty="0">
                <a:latin typeface="Times New Roman"/>
                <a:cs typeface="Times New Roman"/>
              </a:rPr>
              <a:t>5.	Draw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</a:t>
            </a:r>
            <a:endParaRPr sz="2200">
              <a:latin typeface="Times New Roman"/>
              <a:cs typeface="Times New Roman"/>
            </a:endParaRPr>
          </a:p>
          <a:p>
            <a:pPr marL="57848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={(a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:n&gt;=0)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</a:t>
            </a:r>
            <a:r>
              <a:rPr sz="2175" baseline="2490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:n&gt;=0)}.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5707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Regular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expression</a:t>
            </a:r>
            <a:r>
              <a:rPr b="1" spc="-5" dirty="0">
                <a:latin typeface="Times New Roman"/>
                <a:cs typeface="Times New Roman"/>
              </a:rPr>
              <a:t> to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Cambria Math"/>
                <a:cs typeface="Cambria Math"/>
              </a:rPr>
              <a:t>∈</a:t>
            </a:r>
            <a:r>
              <a:rPr b="1" spc="-60" dirty="0">
                <a:latin typeface="Times New Roman"/>
                <a:cs typeface="Times New Roman"/>
              </a:rPr>
              <a:t>-NFA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066800"/>
            <a:ext cx="552746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95783"/>
            <a:ext cx="6485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Regular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exp</a:t>
            </a:r>
            <a:r>
              <a:rPr sz="3000" b="1" spc="-60" dirty="0">
                <a:latin typeface="Times New Roman"/>
                <a:cs typeface="Times New Roman"/>
              </a:rPr>
              <a:t>r</a:t>
            </a:r>
            <a:r>
              <a:rPr sz="3000" b="1" spc="-5" dirty="0">
                <a:latin typeface="Times New Roman"/>
                <a:cs typeface="Times New Roman"/>
              </a:rPr>
              <a:t>ess</a:t>
            </a:r>
            <a:r>
              <a:rPr sz="3000" b="1" spc="-20" dirty="0">
                <a:latin typeface="Times New Roman"/>
                <a:cs typeface="Times New Roman"/>
              </a:rPr>
              <a:t>i</a:t>
            </a:r>
            <a:r>
              <a:rPr sz="3000" b="1" spc="-5" dirty="0">
                <a:latin typeface="Times New Roman"/>
                <a:cs typeface="Times New Roman"/>
              </a:rPr>
              <a:t>on</a:t>
            </a:r>
            <a:r>
              <a:rPr sz="3000" b="1" dirty="0">
                <a:latin typeface="Times New Roman"/>
                <a:cs typeface="Times New Roman"/>
              </a:rPr>
              <a:t> to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Cambria Math"/>
                <a:cs typeface="Cambria Math"/>
              </a:rPr>
              <a:t>∈</a:t>
            </a:r>
            <a:r>
              <a:rPr sz="3000" b="1" spc="-5" dirty="0">
                <a:latin typeface="Times New Roman"/>
                <a:cs typeface="Times New Roman"/>
              </a:rPr>
              <a:t>-N</a:t>
            </a:r>
            <a:r>
              <a:rPr sz="3000" b="1" spc="-215" dirty="0">
                <a:latin typeface="Times New Roman"/>
                <a:cs typeface="Times New Roman"/>
              </a:rPr>
              <a:t>F</a:t>
            </a:r>
            <a:r>
              <a:rPr sz="3000" b="1" spc="-5" dirty="0">
                <a:latin typeface="Times New Roman"/>
                <a:cs typeface="Times New Roman"/>
              </a:rPr>
              <a:t>A</a:t>
            </a:r>
            <a:r>
              <a:rPr sz="3000" b="1" spc="-1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for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dirty="0"/>
              <a:t>(a</a:t>
            </a:r>
            <a:r>
              <a:rPr sz="3000" spc="-10" dirty="0"/>
              <a:t>/</a:t>
            </a:r>
            <a:r>
              <a:rPr sz="3000" dirty="0"/>
              <a:t>b)*a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201" y="973484"/>
            <a:ext cx="7344928" cy="47415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7450"/>
            <a:ext cx="6609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Conver</a:t>
            </a:r>
            <a:r>
              <a:rPr sz="4000" b="1" spc="5" dirty="0">
                <a:latin typeface="Times New Roman"/>
                <a:cs typeface="Times New Roman"/>
              </a:rPr>
              <a:t>s</a:t>
            </a:r>
            <a:r>
              <a:rPr sz="4000" b="1" spc="-5" dirty="0">
                <a:latin typeface="Times New Roman"/>
                <a:cs typeface="Times New Roman"/>
              </a:rPr>
              <a:t>ion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Of </a:t>
            </a:r>
            <a:r>
              <a:rPr sz="4000" b="1" spc="5" dirty="0">
                <a:latin typeface="Times New Roman"/>
                <a:cs typeface="Times New Roman"/>
              </a:rPr>
              <a:t>E</a:t>
            </a:r>
            <a:r>
              <a:rPr sz="4000" b="1" spc="-5" dirty="0">
                <a:latin typeface="Times New Roman"/>
                <a:cs typeface="Times New Roman"/>
              </a:rPr>
              <a:t>-N</a:t>
            </a:r>
            <a:r>
              <a:rPr sz="4000" b="1" spc="-315" dirty="0">
                <a:latin typeface="Times New Roman"/>
                <a:cs typeface="Times New Roman"/>
              </a:rPr>
              <a:t>F</a:t>
            </a:r>
            <a:r>
              <a:rPr sz="4000" b="1" spc="-5" dirty="0">
                <a:latin typeface="Times New Roman"/>
                <a:cs typeface="Times New Roman"/>
              </a:rPr>
              <a:t>A</a:t>
            </a:r>
            <a:r>
              <a:rPr sz="4000" b="1" spc="-275" dirty="0">
                <a:latin typeface="Times New Roman"/>
                <a:cs typeface="Times New Roman"/>
              </a:rPr>
              <a:t> </a:t>
            </a:r>
            <a:r>
              <a:rPr sz="4000" b="1" spc="-380" dirty="0">
                <a:latin typeface="Times New Roman"/>
                <a:cs typeface="Times New Roman"/>
              </a:rPr>
              <a:t>T</a:t>
            </a:r>
            <a:r>
              <a:rPr sz="4000" b="1" spc="-5" dirty="0">
                <a:latin typeface="Times New Roman"/>
                <a:cs typeface="Times New Roman"/>
              </a:rPr>
              <a:t>o N</a:t>
            </a:r>
            <a:r>
              <a:rPr sz="4000" b="1" spc="-310" dirty="0">
                <a:latin typeface="Times New Roman"/>
                <a:cs typeface="Times New Roman"/>
              </a:rPr>
              <a:t>F</a:t>
            </a:r>
            <a:r>
              <a:rPr sz="4000" b="1" spc="-5" dirty="0">
                <a:latin typeface="Times New Roman"/>
                <a:cs typeface="Times New Roman"/>
              </a:rPr>
              <a:t>A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0744" y="1398168"/>
            <a:ext cx="6843395" cy="482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312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Conversion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ε-NFA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NFA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Called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Thomson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Construction.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Note:-</a:t>
            </a:r>
            <a:endParaRPr sz="16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No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Change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Initial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</a:t>
            </a:r>
            <a:endParaRPr sz="16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No Change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Total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No.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States</a:t>
            </a:r>
            <a:endParaRPr sz="160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May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Change </a:t>
            </a:r>
            <a:r>
              <a:rPr sz="1600" spc="-10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States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Times New Roman"/>
                <a:cs typeface="Times New Roman"/>
              </a:rPr>
              <a:t>Let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M=(Q,Σ,δ,q</a:t>
            </a:r>
            <a:r>
              <a:rPr sz="1575" spc="-7" baseline="-21164" dirty="0">
                <a:latin typeface="Times New Roman"/>
                <a:cs typeface="Times New Roman"/>
              </a:rPr>
              <a:t>0</a:t>
            </a:r>
            <a:r>
              <a:rPr sz="1600" spc="-5" dirty="0">
                <a:latin typeface="Times New Roman"/>
                <a:cs typeface="Times New Roman"/>
              </a:rPr>
              <a:t>,F)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–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ε-NFA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latin typeface="Times New Roman"/>
                <a:cs typeface="Times New Roman"/>
              </a:rPr>
              <a:t>M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(Q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,Σ,δ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,q</a:t>
            </a:r>
            <a:r>
              <a:rPr sz="1575" baseline="-21164" dirty="0">
                <a:latin typeface="Times New Roman"/>
                <a:cs typeface="Times New Roman"/>
              </a:rPr>
              <a:t>0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,F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) </a:t>
            </a:r>
            <a:r>
              <a:rPr sz="1600" spc="-5" dirty="0">
                <a:latin typeface="Times New Roman"/>
                <a:cs typeface="Times New Roman"/>
              </a:rPr>
              <a:t>–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NFA</a:t>
            </a:r>
            <a:endParaRPr sz="1600"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/>
              <a:tabLst>
                <a:tab pos="246379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Initial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State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600" spc="5" dirty="0">
                <a:latin typeface="Times New Roman"/>
                <a:cs typeface="Times New Roman"/>
              </a:rPr>
              <a:t>q</a:t>
            </a:r>
            <a:r>
              <a:rPr sz="1575" spc="7" baseline="-21164" dirty="0">
                <a:latin typeface="Times New Roman"/>
                <a:cs typeface="Times New Roman"/>
              </a:rPr>
              <a:t>0</a:t>
            </a:r>
            <a:r>
              <a:rPr sz="1575" spc="7" baseline="26455" dirty="0">
                <a:latin typeface="Times New Roman"/>
                <a:cs typeface="Times New Roman"/>
              </a:rPr>
              <a:t>1</a:t>
            </a:r>
            <a:r>
              <a:rPr sz="1600" spc="5" dirty="0">
                <a:latin typeface="Times New Roman"/>
                <a:cs typeface="Times New Roman"/>
              </a:rPr>
              <a:t>=q</a:t>
            </a:r>
            <a:r>
              <a:rPr sz="1575" spc="7" baseline="-21164" dirty="0">
                <a:latin typeface="Times New Roman"/>
                <a:cs typeface="Times New Roman"/>
              </a:rPr>
              <a:t>0</a:t>
            </a:r>
            <a:endParaRPr sz="1575" baseline="-21164"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 startAt="2"/>
              <a:tabLst>
                <a:tab pos="246379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Construction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Of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δ</a:t>
            </a:r>
            <a:r>
              <a:rPr sz="1575" b="1" baseline="26455" dirty="0">
                <a:latin typeface="Times New Roman"/>
                <a:cs typeface="Times New Roman"/>
              </a:rPr>
              <a:t>1</a:t>
            </a:r>
            <a:endParaRPr sz="1575" baseline="26455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400" baseline="-17361" dirty="0">
                <a:latin typeface="Times New Roman"/>
                <a:cs typeface="Times New Roman"/>
              </a:rPr>
              <a:t>δ</a:t>
            </a: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1600" spc="-5" dirty="0">
                <a:latin typeface="Times New Roman"/>
                <a:cs typeface="Times New Roman"/>
              </a:rPr>
              <a:t>(q,x)=ε-Closure(δ(ε-Closure(q),x)</a:t>
            </a:r>
            <a:endParaRPr sz="1600"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 startAt="3"/>
              <a:tabLst>
                <a:tab pos="246379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Final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State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Times New Roman"/>
                <a:cs typeface="Times New Roman"/>
              </a:rPr>
              <a:t>Every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Who’s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ε-Closure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Contain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ε-NFA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NFA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842898"/>
            <a:ext cx="6518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Conversion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b="1" spc="-45" dirty="0">
                <a:latin typeface="Times New Roman"/>
                <a:cs typeface="Times New Roman"/>
              </a:rPr>
              <a:t>E-NFA</a:t>
            </a:r>
            <a:r>
              <a:rPr sz="3000" b="1" spc="-229" dirty="0">
                <a:latin typeface="Times New Roman"/>
                <a:cs typeface="Times New Roman"/>
              </a:rPr>
              <a:t> </a:t>
            </a:r>
            <a:r>
              <a:rPr sz="3000" b="1" spc="-140" dirty="0">
                <a:latin typeface="Times New Roman"/>
                <a:cs typeface="Times New Roman"/>
              </a:rPr>
              <a:t>To</a:t>
            </a:r>
            <a:r>
              <a:rPr sz="3000" b="1" dirty="0">
                <a:latin typeface="Times New Roman"/>
                <a:cs typeface="Times New Roman"/>
              </a:rPr>
              <a:t> </a:t>
            </a:r>
            <a:r>
              <a:rPr sz="3000" b="1" spc="-80" dirty="0">
                <a:latin typeface="Times New Roman"/>
                <a:cs typeface="Times New Roman"/>
              </a:rPr>
              <a:t>NFA</a:t>
            </a:r>
            <a:r>
              <a:rPr sz="3000" b="1" spc="-16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-example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8044" y="2845434"/>
            <a:ext cx="5126355" cy="2985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311785" algn="l"/>
                <a:tab pos="312420" algn="l"/>
              </a:tabLst>
            </a:pPr>
            <a:r>
              <a:rPr sz="2400" dirty="0">
                <a:latin typeface="Times New Roman"/>
                <a:cs typeface="Times New Roman"/>
              </a:rPr>
              <a:t>ε-Closure(q</a:t>
            </a:r>
            <a:r>
              <a:rPr sz="2400" baseline="-20833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)-{q</a:t>
            </a:r>
            <a:r>
              <a:rPr sz="2400" baseline="-20833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,q</a:t>
            </a:r>
            <a:r>
              <a:rPr sz="2400" baseline="-20833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1785" indent="-274320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311785" algn="l"/>
                <a:tab pos="312420" algn="l"/>
              </a:tabLst>
            </a:pPr>
            <a:r>
              <a:rPr sz="2400" dirty="0">
                <a:latin typeface="Times New Roman"/>
                <a:cs typeface="Times New Roman"/>
              </a:rPr>
              <a:t>ε-Closure(q</a:t>
            </a:r>
            <a:r>
              <a:rPr sz="2400" baseline="-20833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)-{q</a:t>
            </a:r>
            <a:r>
              <a:rPr sz="2400" baseline="-20833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494665" indent="-457200">
              <a:lnSpc>
                <a:spcPct val="100000"/>
              </a:lnSpc>
              <a:spcBef>
                <a:spcPts val="80"/>
              </a:spcBef>
              <a:buClr>
                <a:srgbClr val="2CA1BE"/>
              </a:buClr>
              <a:buSzPct val="84090"/>
              <a:buAutoNum type="arabicPeriod"/>
              <a:tabLst>
                <a:tab pos="494665" algn="l"/>
                <a:tab pos="49530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Initial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State :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q0</a:t>
            </a:r>
            <a:endParaRPr sz="2200">
              <a:latin typeface="Times New Roman"/>
              <a:cs typeface="Times New Roman"/>
            </a:endParaRPr>
          </a:p>
          <a:p>
            <a:pPr marL="494665" indent="-457200">
              <a:lnSpc>
                <a:spcPts val="2255"/>
              </a:lnSpc>
              <a:spcBef>
                <a:spcPts val="155"/>
              </a:spcBef>
              <a:buClr>
                <a:srgbClr val="2CA1BE"/>
              </a:buClr>
              <a:buSzPct val="84210"/>
              <a:buAutoNum type="arabicPeriod"/>
              <a:tabLst>
                <a:tab pos="494665" algn="l"/>
                <a:tab pos="495300" algn="l"/>
              </a:tabLst>
            </a:pPr>
            <a:r>
              <a:rPr sz="1900" b="1" spc="-5" dirty="0">
                <a:latin typeface="Times New Roman"/>
                <a:cs typeface="Times New Roman"/>
              </a:rPr>
              <a:t>Construction</a:t>
            </a:r>
            <a:r>
              <a:rPr sz="1900" b="1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Of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δ</a:t>
            </a:r>
            <a:r>
              <a:rPr sz="1875" b="1" baseline="26666" dirty="0">
                <a:latin typeface="Times New Roman"/>
                <a:cs typeface="Times New Roman"/>
              </a:rPr>
              <a:t>1</a:t>
            </a:r>
            <a:endParaRPr sz="1875" baseline="26666">
              <a:latin typeface="Times New Roman"/>
              <a:cs typeface="Times New Roman"/>
            </a:endParaRPr>
          </a:p>
          <a:p>
            <a:pPr marL="38100">
              <a:lnSpc>
                <a:spcPts val="3080"/>
              </a:lnSpc>
            </a:pPr>
            <a:r>
              <a:rPr sz="2600" dirty="0">
                <a:latin typeface="Times New Roman"/>
                <a:cs typeface="Times New Roman"/>
              </a:rPr>
              <a:t>δ</a:t>
            </a:r>
            <a:r>
              <a:rPr sz="2550" baseline="26143" dirty="0">
                <a:latin typeface="Times New Roman"/>
                <a:cs typeface="Times New Roman"/>
              </a:rPr>
              <a:t>1</a:t>
            </a:r>
            <a:r>
              <a:rPr sz="2600" dirty="0">
                <a:latin typeface="Times New Roman"/>
                <a:cs typeface="Times New Roman"/>
              </a:rPr>
              <a:t>=(q</a:t>
            </a:r>
            <a:r>
              <a:rPr sz="2550" baseline="-21241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,0)=ε-Closure(δ(ε-Closure(q</a:t>
            </a:r>
            <a:r>
              <a:rPr sz="2550" baseline="-21241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,0)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ts val="3095"/>
              </a:lnSpc>
            </a:pPr>
            <a:r>
              <a:rPr sz="2600" dirty="0">
                <a:latin typeface="Times New Roman"/>
                <a:cs typeface="Times New Roman"/>
              </a:rPr>
              <a:t>=ε-Closure(δ({q</a:t>
            </a:r>
            <a:r>
              <a:rPr sz="2550" baseline="-21241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,q</a:t>
            </a:r>
            <a:r>
              <a:rPr sz="2550" baseline="-21241" dirty="0">
                <a:latin typeface="Times New Roman"/>
                <a:cs typeface="Times New Roman"/>
              </a:rPr>
              <a:t>1</a:t>
            </a:r>
            <a:r>
              <a:rPr sz="2600" dirty="0">
                <a:latin typeface="Times New Roman"/>
                <a:cs typeface="Times New Roman"/>
              </a:rPr>
              <a:t>},0))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ts val="3095"/>
              </a:lnSpc>
            </a:pPr>
            <a:r>
              <a:rPr sz="2600" dirty="0">
                <a:latin typeface="Times New Roman"/>
                <a:cs typeface="Times New Roman"/>
              </a:rPr>
              <a:t>=ε-Closure(q</a:t>
            </a:r>
            <a:r>
              <a:rPr sz="2550" baseline="-21241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38100">
              <a:lnSpc>
                <a:spcPts val="3110"/>
              </a:lnSpc>
            </a:pPr>
            <a:r>
              <a:rPr sz="2600" dirty="0">
                <a:latin typeface="Times New Roman"/>
                <a:cs typeface="Times New Roman"/>
              </a:rPr>
              <a:t>={q</a:t>
            </a:r>
            <a:r>
              <a:rPr sz="2550" baseline="-21241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,q</a:t>
            </a:r>
            <a:r>
              <a:rPr sz="2550" baseline="-21241" dirty="0">
                <a:latin typeface="Times New Roman"/>
                <a:cs typeface="Times New Roman"/>
              </a:rPr>
              <a:t>1</a:t>
            </a:r>
            <a:r>
              <a:rPr sz="260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295400"/>
            <a:ext cx="3048000" cy="1371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8384" y="1455575"/>
            <a:ext cx="3058945" cy="18534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842898"/>
            <a:ext cx="6518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Conversion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b="1" spc="-45" dirty="0">
                <a:latin typeface="Times New Roman"/>
                <a:cs typeface="Times New Roman"/>
              </a:rPr>
              <a:t>E-NFA</a:t>
            </a:r>
            <a:r>
              <a:rPr sz="3000" b="1" spc="-229" dirty="0">
                <a:latin typeface="Times New Roman"/>
                <a:cs typeface="Times New Roman"/>
              </a:rPr>
              <a:t> </a:t>
            </a:r>
            <a:r>
              <a:rPr sz="3000" b="1" spc="-140" dirty="0">
                <a:latin typeface="Times New Roman"/>
                <a:cs typeface="Times New Roman"/>
              </a:rPr>
              <a:t>To</a:t>
            </a:r>
            <a:r>
              <a:rPr sz="3000" b="1" dirty="0">
                <a:latin typeface="Times New Roman"/>
                <a:cs typeface="Times New Roman"/>
              </a:rPr>
              <a:t> </a:t>
            </a:r>
            <a:r>
              <a:rPr sz="3000" b="1" spc="-80" dirty="0">
                <a:latin typeface="Times New Roman"/>
                <a:cs typeface="Times New Roman"/>
              </a:rPr>
              <a:t>NFA</a:t>
            </a:r>
            <a:r>
              <a:rPr sz="3000" b="1" spc="-16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-example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42644" y="1410970"/>
            <a:ext cx="4008120" cy="4492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,1)=ε-Closure(δ(ε-Closure(q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,1)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Times New Roman"/>
                <a:cs typeface="Times New Roman"/>
              </a:rPr>
              <a:t>=ε-Closure(δ({q</a:t>
            </a:r>
            <a:r>
              <a:rPr sz="1950" baseline="-21367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,q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},1))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=ε-Closure(q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={q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,0)=ε-Closure(δ(ε-Closure(q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,0)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=ε-Closure(δ({q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},0))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=ε-Closure(Φ)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=Φ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,1)=ε-Closure(δ(ε-Closure(q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,1)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=ε-Closure(δ({q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},1))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=ε-Closure(q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={q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842898"/>
            <a:ext cx="6518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Conversion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b="1" spc="-45" dirty="0">
                <a:latin typeface="Times New Roman"/>
                <a:cs typeface="Times New Roman"/>
              </a:rPr>
              <a:t>E-NFA</a:t>
            </a:r>
            <a:r>
              <a:rPr sz="3000" b="1" spc="-229" dirty="0">
                <a:latin typeface="Times New Roman"/>
                <a:cs typeface="Times New Roman"/>
              </a:rPr>
              <a:t> </a:t>
            </a:r>
            <a:r>
              <a:rPr sz="3000" b="1" spc="-140" dirty="0">
                <a:latin typeface="Times New Roman"/>
                <a:cs typeface="Times New Roman"/>
              </a:rPr>
              <a:t>To</a:t>
            </a:r>
            <a:r>
              <a:rPr sz="3000" b="1" dirty="0">
                <a:latin typeface="Times New Roman"/>
                <a:cs typeface="Times New Roman"/>
              </a:rPr>
              <a:t> </a:t>
            </a:r>
            <a:r>
              <a:rPr sz="3000" b="1" spc="-80" dirty="0">
                <a:latin typeface="Times New Roman"/>
                <a:cs typeface="Times New Roman"/>
              </a:rPr>
              <a:t>NFA</a:t>
            </a:r>
            <a:r>
              <a:rPr sz="3000" b="1" spc="-16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-example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1539" y="3006669"/>
            <a:ext cx="5744210" cy="18865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State?</a:t>
            </a:r>
            <a:endParaRPr sz="2400">
              <a:latin typeface="Times New Roman"/>
              <a:cs typeface="Times New Roman"/>
            </a:endParaRPr>
          </a:p>
          <a:p>
            <a:pPr marL="312420" marR="30480" indent="-274955">
              <a:lnSpc>
                <a:spcPct val="100000"/>
              </a:lnSpc>
              <a:spcBef>
                <a:spcPts val="585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313055" algn="l"/>
              </a:tabLst>
            </a:pPr>
            <a:r>
              <a:rPr sz="2800" spc="5" dirty="0">
                <a:latin typeface="Times New Roman"/>
                <a:cs typeface="Times New Roman"/>
              </a:rPr>
              <a:t>q</a:t>
            </a:r>
            <a:r>
              <a:rPr sz="2775" spc="7" baseline="-21021" dirty="0">
                <a:latin typeface="Times New Roman"/>
                <a:cs typeface="Times New Roman"/>
              </a:rPr>
              <a:t>0</a:t>
            </a:r>
            <a:r>
              <a:rPr sz="2775" spc="-22" baseline="-2102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&amp; </a:t>
            </a:r>
            <a:r>
              <a:rPr sz="2800" spc="5" dirty="0">
                <a:latin typeface="Times New Roman"/>
                <a:cs typeface="Times New Roman"/>
              </a:rPr>
              <a:t>q</a:t>
            </a:r>
            <a:r>
              <a:rPr sz="2775" spc="7" baseline="-21021" dirty="0">
                <a:latin typeface="Times New Roman"/>
                <a:cs typeface="Times New Roman"/>
              </a:rPr>
              <a:t>1</a:t>
            </a:r>
            <a:r>
              <a:rPr sz="2775" spc="-15" baseline="-2102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Both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Because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ε-Closure(q</a:t>
            </a:r>
            <a:r>
              <a:rPr sz="2775" baseline="-21021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)={q</a:t>
            </a:r>
            <a:r>
              <a:rPr sz="2775" baseline="-21021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,q</a:t>
            </a:r>
            <a:r>
              <a:rPr sz="2775" baseline="-21021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12420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/>
                <a:cs typeface="Times New Roman"/>
              </a:rPr>
              <a:t>ε-Closure(q</a:t>
            </a:r>
            <a:r>
              <a:rPr sz="2775" baseline="-21021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)={q</a:t>
            </a:r>
            <a:r>
              <a:rPr sz="2775" baseline="-21021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573114"/>
            <a:ext cx="2508584" cy="10465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5572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 from </a:t>
            </a:r>
            <a:r>
              <a:rPr dirty="0"/>
              <a:t>N</a:t>
            </a:r>
            <a:r>
              <a:rPr spc="-270" dirty="0"/>
              <a:t>F</a:t>
            </a:r>
            <a:r>
              <a:rPr spc="-5" dirty="0"/>
              <a:t>A</a:t>
            </a:r>
            <a:r>
              <a:rPr spc="-210" dirty="0"/>
              <a:t> </a:t>
            </a:r>
            <a:r>
              <a:rPr dirty="0"/>
              <a:t>to </a:t>
            </a:r>
            <a:r>
              <a:rPr spc="-5" dirty="0"/>
              <a:t>D</a:t>
            </a:r>
            <a:r>
              <a:rPr spc="-270" dirty="0"/>
              <a:t>F</a:t>
            </a:r>
            <a:r>
              <a:rPr spc="-5" dirty="0"/>
              <a:t>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444" y="1013205"/>
            <a:ext cx="7318375" cy="443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8895" indent="-2743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Let,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(Q,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∑,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δ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q0, 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epts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langu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L(M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 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equiv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  by</a:t>
            </a:r>
            <a:r>
              <a:rPr sz="2400" spc="-5" dirty="0">
                <a:latin typeface="Times New Roman"/>
                <a:cs typeface="Times New Roman"/>
              </a:rPr>
              <a:t> M'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(Q',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∑',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q0',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δ',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F')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such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L(M)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L(M').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Times New Roman"/>
                <a:cs typeface="Times New Roman"/>
              </a:rPr>
              <a:t>Steps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A: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 </a:t>
            </a:r>
            <a:r>
              <a:rPr sz="2400" spc="-5" dirty="0">
                <a:latin typeface="Times New Roman"/>
                <a:cs typeface="Times New Roman"/>
              </a:rPr>
              <a:t>Initially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Q'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ϕ</a:t>
            </a:r>
            <a:endParaRPr sz="2400">
              <a:latin typeface="Times New Roman"/>
              <a:cs typeface="Times New Roman"/>
            </a:endParaRPr>
          </a:p>
          <a:p>
            <a:pPr marL="286385" marR="37338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2: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 q0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Q</a:t>
            </a:r>
            <a:r>
              <a:rPr sz="2400" spc="-20" dirty="0">
                <a:latin typeface="Times New Roman"/>
                <a:cs typeface="Times New Roman"/>
              </a:rPr>
              <a:t>'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ind 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ans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tions 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</a:t>
            </a:r>
            <a:r>
              <a:rPr sz="2400" b="1" dirty="0">
                <a:latin typeface="Times New Roman"/>
                <a:cs typeface="Times New Roman"/>
              </a:rPr>
              <a:t>3: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Q',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" dirty="0">
                <a:latin typeface="Times New Roman"/>
                <a:cs typeface="Times New Roman"/>
              </a:rPr>
              <a:t> 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symbol.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Q',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Q'.</a:t>
            </a:r>
            <a:endParaRPr sz="2400">
              <a:latin typeface="Times New Roman"/>
              <a:cs typeface="Times New Roman"/>
            </a:endParaRPr>
          </a:p>
          <a:p>
            <a:pPr marL="286385" marR="203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</a:t>
            </a:r>
            <a:r>
              <a:rPr sz="2400" b="1" dirty="0">
                <a:latin typeface="Times New Roman"/>
                <a:cs typeface="Times New Roman"/>
              </a:rPr>
              <a:t>4: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DFA,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F(final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0" dirty="0">
                <a:latin typeface="Times New Roman"/>
                <a:cs typeface="Times New Roman"/>
              </a:rPr>
              <a:t>NFA)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 from </a:t>
            </a:r>
            <a:r>
              <a:rPr dirty="0"/>
              <a:t>N</a:t>
            </a:r>
            <a:r>
              <a:rPr spc="-270" dirty="0"/>
              <a:t>F</a:t>
            </a:r>
            <a:r>
              <a:rPr spc="-5" dirty="0"/>
              <a:t>A</a:t>
            </a:r>
            <a:r>
              <a:rPr spc="-210" dirty="0"/>
              <a:t> </a:t>
            </a:r>
            <a:r>
              <a:rPr dirty="0"/>
              <a:t>to </a:t>
            </a:r>
            <a:r>
              <a:rPr spc="-5" dirty="0"/>
              <a:t>D</a:t>
            </a:r>
            <a:r>
              <a:rPr spc="-270" dirty="0"/>
              <a:t>F</a:t>
            </a:r>
            <a:r>
              <a:rPr spc="5" dirty="0"/>
              <a:t>A</a:t>
            </a:r>
            <a:r>
              <a:rPr dirty="0"/>
              <a:t>-Exa</a:t>
            </a:r>
            <a:r>
              <a:rPr spc="-20" dirty="0"/>
              <a:t>m</a:t>
            </a:r>
            <a:r>
              <a:rPr dirty="0"/>
              <a:t>ple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295400"/>
            <a:ext cx="4114800" cy="18288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70250" y="3117850"/>
          <a:ext cx="3962400" cy="2597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2545"/>
                <a:gridCol w="1347470"/>
                <a:gridCol w="1302385"/>
              </a:tblGrid>
              <a:tr h="72263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</a:tr>
              <a:tr h="620648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→q0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626871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{q1,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q2}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  <a:tr h="626999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*q2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{q1,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q2}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2834"/>
            <a:ext cx="7350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 from </a:t>
            </a:r>
            <a:r>
              <a:rPr dirty="0"/>
              <a:t>N</a:t>
            </a:r>
            <a:r>
              <a:rPr spc="-270" dirty="0"/>
              <a:t>F</a:t>
            </a:r>
            <a:r>
              <a:rPr spc="-5" dirty="0"/>
              <a:t>A</a:t>
            </a:r>
            <a:r>
              <a:rPr spc="-210" dirty="0"/>
              <a:t> </a:t>
            </a:r>
            <a:r>
              <a:rPr dirty="0"/>
              <a:t>to </a:t>
            </a:r>
            <a:r>
              <a:rPr spc="-5" dirty="0"/>
              <a:t>D</a:t>
            </a:r>
            <a:r>
              <a:rPr spc="-270" dirty="0"/>
              <a:t>F</a:t>
            </a:r>
            <a:r>
              <a:rPr spc="5" dirty="0"/>
              <a:t>A</a:t>
            </a:r>
            <a:r>
              <a:rPr dirty="0"/>
              <a:t>-Exa</a:t>
            </a:r>
            <a:r>
              <a:rPr spc="-20" dirty="0"/>
              <a:t>m</a:t>
            </a:r>
            <a:r>
              <a:rPr dirty="0"/>
              <a:t>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877570"/>
            <a:ext cx="4740910" cy="513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δ'([q0],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[q0]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Times New Roman"/>
                <a:cs typeface="Times New Roman"/>
              </a:rPr>
              <a:t>δ'([q0],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40000" algn="l"/>
              </a:tabLst>
            </a:pPr>
            <a:r>
              <a:rPr sz="2000" spc="-5" dirty="0">
                <a:latin typeface="Times New Roman"/>
                <a:cs typeface="Times New Roman"/>
              </a:rPr>
              <a:t>δ'([q1],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	(</a:t>
            </a:r>
            <a:r>
              <a:rPr sz="2000" b="1" dirty="0">
                <a:latin typeface="Times New Roman"/>
                <a:cs typeface="Times New Roman"/>
              </a:rPr>
              <a:t>new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generated)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δ'([q1],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[q1]</a:t>
            </a:r>
            <a:endParaRPr sz="2000">
              <a:latin typeface="Times New Roman"/>
              <a:cs typeface="Times New Roman"/>
            </a:endParaRPr>
          </a:p>
          <a:p>
            <a:pPr marL="12700" marR="358775">
              <a:lnSpc>
                <a:spcPct val="105000"/>
              </a:lnSpc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δ'([q2],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[q2]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δ'([q2],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δ'([q1,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δ(q2,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0)</a:t>
            </a:r>
            <a:endParaRPr sz="2000">
              <a:latin typeface="Times New Roman"/>
              <a:cs typeface="Times New Roman"/>
            </a:endParaRPr>
          </a:p>
          <a:p>
            <a:pPr marL="14103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q2}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δ'([q1,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δ(q2,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4103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{q1}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 from </a:t>
            </a:r>
            <a:r>
              <a:rPr dirty="0"/>
              <a:t>N</a:t>
            </a:r>
            <a:r>
              <a:rPr spc="-270" dirty="0"/>
              <a:t>F</a:t>
            </a:r>
            <a:r>
              <a:rPr spc="-5" dirty="0"/>
              <a:t>A</a:t>
            </a:r>
            <a:r>
              <a:rPr spc="-210" dirty="0"/>
              <a:t> </a:t>
            </a:r>
            <a:r>
              <a:rPr dirty="0"/>
              <a:t>to </a:t>
            </a:r>
            <a:r>
              <a:rPr spc="-5" dirty="0"/>
              <a:t>D</a:t>
            </a:r>
            <a:r>
              <a:rPr spc="-270" dirty="0"/>
              <a:t>F</a:t>
            </a:r>
            <a:r>
              <a:rPr spc="5" dirty="0"/>
              <a:t>A</a:t>
            </a:r>
            <a:r>
              <a:rPr dirty="0"/>
              <a:t>-Exa</a:t>
            </a:r>
            <a:r>
              <a:rPr spc="-20" dirty="0"/>
              <a:t>m</a:t>
            </a:r>
            <a:r>
              <a:rPr dirty="0"/>
              <a:t>ple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1450" y="2813050"/>
          <a:ext cx="3049270" cy="2978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/>
                <a:gridCol w="908050"/>
                <a:gridCol w="1121410"/>
              </a:tblGrid>
              <a:tr h="668401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</a:tr>
              <a:tr h="57264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→[q0]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57899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*[q2]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57899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22044" y="1700529"/>
            <a:ext cx="586994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95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The 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[q1,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q2] is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because it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contains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 </a:t>
            </a:r>
            <a:r>
              <a:rPr sz="2200" dirty="0">
                <a:latin typeface="Times New Roman"/>
                <a:cs typeface="Times New Roman"/>
              </a:rPr>
              <a:t>q2.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The transition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table</a:t>
            </a:r>
            <a:r>
              <a:rPr sz="2200" dirty="0">
                <a:latin typeface="Times New Roman"/>
                <a:cs typeface="Times New Roman"/>
              </a:rPr>
              <a:t> for the </a:t>
            </a:r>
            <a:r>
              <a:rPr sz="2200" spc="-5" dirty="0">
                <a:latin typeface="Times New Roman"/>
                <a:cs typeface="Times New Roman"/>
              </a:rPr>
              <a:t>constructed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DFA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be: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124200"/>
            <a:ext cx="3429084" cy="19415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42228" y="5513019"/>
            <a:ext cx="25380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Note: The </a:t>
            </a:r>
            <a:r>
              <a:rPr sz="1800" dirty="0">
                <a:latin typeface="Times New Roman"/>
                <a:cs typeface="Times New Roman"/>
              </a:rPr>
              <a:t>state </a:t>
            </a:r>
            <a:r>
              <a:rPr sz="1800" spc="-5" dirty="0">
                <a:latin typeface="Times New Roman"/>
                <a:cs typeface="Times New Roman"/>
              </a:rPr>
              <a:t>q2 </a:t>
            </a:r>
            <a:r>
              <a:rPr sz="1800" dirty="0">
                <a:latin typeface="Times New Roman"/>
                <a:cs typeface="Times New Roman"/>
              </a:rPr>
              <a:t>can </a:t>
            </a:r>
            <a:r>
              <a:rPr sz="1800" spc="-5" dirty="0">
                <a:latin typeface="Times New Roman"/>
                <a:cs typeface="Times New Roman"/>
              </a:rPr>
              <a:t>be </a:t>
            </a:r>
            <a:r>
              <a:rPr sz="1800" dirty="0">
                <a:latin typeface="Times New Roman"/>
                <a:cs typeface="Times New Roman"/>
              </a:rPr>
              <a:t> eliminated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unreachable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94259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10540" y="1090930"/>
            <a:ext cx="8162925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7055" indent="-529590" algn="just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567690" algn="l"/>
              </a:tabLst>
            </a:pPr>
            <a:r>
              <a:rPr sz="2000" dirty="0">
                <a:latin typeface="Times New Roman"/>
                <a:cs typeface="Times New Roman"/>
              </a:rPr>
              <a:t>Suppose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 </a:t>
            </a:r>
            <a:r>
              <a:rPr sz="2000" spc="-5" dirty="0">
                <a:latin typeface="Times New Roman"/>
                <a:cs typeface="Times New Roman"/>
              </a:rPr>
              <a:t>Q,</a:t>
            </a:r>
            <a:r>
              <a:rPr sz="2000" dirty="0">
                <a:latin typeface="Times New Roman"/>
                <a:cs typeface="Times New Roman"/>
              </a:rPr>
              <a:t> ∑,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δ,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 &gt;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recognizes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language</a:t>
            </a:r>
            <a:endParaRPr sz="2000">
              <a:latin typeface="Times New Roman"/>
              <a:cs typeface="Times New Roman"/>
            </a:endParaRPr>
          </a:p>
          <a:p>
            <a:pPr marL="311785" marR="3251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minimized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Q’,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∑,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δ’,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F’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 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constructed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311785" marR="101600" algn="just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sets.</a:t>
            </a:r>
            <a:r>
              <a:rPr sz="2000" dirty="0">
                <a:latin typeface="Times New Roman"/>
                <a:cs typeface="Times New Roman"/>
              </a:rPr>
              <a:t> 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non-final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P0.</a:t>
            </a:r>
            <a:endParaRPr sz="200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Initialize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11785" marR="31813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 3: </a:t>
            </a:r>
            <a:r>
              <a:rPr sz="2000" dirty="0">
                <a:latin typeface="Times New Roman"/>
                <a:cs typeface="Times New Roman"/>
              </a:rPr>
              <a:t>Find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7" baseline="-21367" dirty="0">
                <a:latin typeface="Times New Roman"/>
                <a:cs typeface="Times New Roman"/>
              </a:rPr>
              <a:t>k </a:t>
            </a:r>
            <a:r>
              <a:rPr sz="2000" dirty="0">
                <a:latin typeface="Times New Roman"/>
                <a:cs typeface="Times New Roman"/>
              </a:rPr>
              <a:t>by partitioning the </a:t>
            </a:r>
            <a:r>
              <a:rPr sz="2000" spc="-5" dirty="0">
                <a:latin typeface="Times New Roman"/>
                <a:cs typeface="Times New Roman"/>
              </a:rPr>
              <a:t>different sets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2000" spc="10" dirty="0">
                <a:latin typeface="Times New Roman"/>
                <a:cs typeface="Times New Roman"/>
              </a:rPr>
              <a:t>. </a:t>
            </a:r>
            <a:r>
              <a:rPr sz="2000" dirty="0">
                <a:latin typeface="Times New Roman"/>
                <a:cs typeface="Times New Roman"/>
              </a:rPr>
              <a:t>In each </a:t>
            </a:r>
            <a:r>
              <a:rPr sz="2000" spc="-5" dirty="0">
                <a:latin typeface="Times New Roman"/>
                <a:cs typeface="Times New Roman"/>
              </a:rPr>
              <a:t>set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2000" spc="10" dirty="0">
                <a:latin typeface="Times New Roman"/>
                <a:cs typeface="Times New Roman"/>
              </a:rPr>
              <a:t>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</a:t>
            </a:r>
            <a:r>
              <a:rPr sz="2000" spc="-5" dirty="0">
                <a:latin typeface="Times New Roman"/>
                <a:cs typeface="Times New Roman"/>
              </a:rPr>
              <a:t>will take all possible </a:t>
            </a:r>
            <a:r>
              <a:rPr sz="2000" dirty="0">
                <a:latin typeface="Times New Roman"/>
                <a:cs typeface="Times New Roman"/>
              </a:rPr>
              <a:t>pair of </a:t>
            </a:r>
            <a:r>
              <a:rPr sz="2000" spc="-5" dirty="0">
                <a:latin typeface="Times New Roman"/>
                <a:cs typeface="Times New Roman"/>
              </a:rPr>
              <a:t>states. </a:t>
            </a:r>
            <a:r>
              <a:rPr sz="2000" dirty="0">
                <a:latin typeface="Times New Roman"/>
                <a:cs typeface="Times New Roman"/>
              </a:rPr>
              <a:t>If two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of a set are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split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sets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</a:t>
            </a:r>
            <a:r>
              <a:rPr sz="2000" spc="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7" baseline="-21367" dirty="0">
                <a:latin typeface="Times New Roman"/>
                <a:cs typeface="Times New Roman"/>
              </a:rPr>
              <a:t>k</a:t>
            </a:r>
            <a:r>
              <a:rPr sz="1950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1950" spc="254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partition)</a:t>
            </a:r>
            <a:endParaRPr sz="2000">
              <a:latin typeface="Times New Roman"/>
              <a:cs typeface="Times New Roman"/>
            </a:endParaRPr>
          </a:p>
          <a:p>
            <a:pPr marL="311785" marR="19621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5:</a:t>
            </a:r>
            <a:r>
              <a:rPr sz="20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merged</a:t>
            </a:r>
            <a:r>
              <a:rPr sz="2000" dirty="0">
                <a:latin typeface="Times New Roman"/>
                <a:cs typeface="Times New Roman"/>
              </a:rPr>
              <a:t> 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minimized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4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1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se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30" baseline="-21367" dirty="0">
                <a:latin typeface="Times New Roman"/>
                <a:cs typeface="Times New Roman"/>
              </a:rPr>
              <a:t>k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Minimization</a:t>
            </a:r>
            <a:r>
              <a:rPr spc="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FSM: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89405"/>
            <a:ext cx="6053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4000"/>
              <a:buFont typeface="Segoe UI Symbol"/>
              <a:buChar char="⚫"/>
              <a:tabLst>
                <a:tab pos="287020" algn="l"/>
              </a:tabLst>
            </a:pPr>
            <a:r>
              <a:rPr sz="2500" b="1" spc="-5" dirty="0">
                <a:latin typeface="Times New Roman"/>
                <a:cs typeface="Times New Roman"/>
              </a:rPr>
              <a:t>Example</a:t>
            </a:r>
            <a:endParaRPr sz="25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Consider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following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imes New Roman"/>
                <a:cs typeface="Times New Roman"/>
              </a:rPr>
              <a:t>DFA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shown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figure.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624" y="2178185"/>
            <a:ext cx="5618622" cy="278208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4397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243330"/>
            <a:ext cx="8275955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Step 1. </a:t>
            </a:r>
            <a:r>
              <a:rPr sz="2000" dirty="0">
                <a:latin typeface="Times New Roman"/>
                <a:cs typeface="Times New Roman"/>
              </a:rPr>
              <a:t>P0 will have two </a:t>
            </a:r>
            <a:r>
              <a:rPr sz="2000" spc="-5" dirty="0">
                <a:latin typeface="Times New Roman"/>
                <a:cs typeface="Times New Roman"/>
              </a:rPr>
              <a:t>sets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states. </a:t>
            </a:r>
            <a:r>
              <a:rPr sz="2000" spc="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set will contain </a:t>
            </a:r>
            <a:r>
              <a:rPr sz="2000" spc="5" dirty="0">
                <a:latin typeface="Times New Roman"/>
                <a:cs typeface="Times New Roman"/>
              </a:rPr>
              <a:t>q1, q2, </a:t>
            </a:r>
            <a:r>
              <a:rPr sz="2000" dirty="0">
                <a:latin typeface="Times New Roman"/>
                <a:cs typeface="Times New Roman"/>
              </a:rPr>
              <a:t>q4 which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DFA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remaining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 { 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}.</a:t>
            </a:r>
            <a:endParaRPr sz="2000">
              <a:latin typeface="Times New Roman"/>
              <a:cs typeface="Times New Roman"/>
            </a:endParaRPr>
          </a:p>
          <a:p>
            <a:pPr marL="286385" marR="52324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calculate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 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not: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q4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q5,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 </a:t>
            </a:r>
            <a:r>
              <a:rPr sz="2000" dirty="0">
                <a:latin typeface="Times New Roman"/>
                <a:cs typeface="Times New Roman"/>
              </a:rPr>
              <a:t>q1 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19431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dirty="0">
                <a:latin typeface="Times New Roman"/>
                <a:cs typeface="Times New Roman"/>
              </a:rPr>
              <a:t> δ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 (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 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q5,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 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12039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latin typeface="Times New Roman"/>
                <a:cs typeface="Times New Roman"/>
              </a:rPr>
              <a:t>{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3591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5" dirty="0"/>
              <a:t> </a:t>
            </a:r>
            <a:r>
              <a:rPr sz="3000" dirty="0"/>
              <a:t>of</a:t>
            </a:r>
            <a:r>
              <a:rPr sz="3000" spc="-30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049259" cy="3760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q0,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q5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 marR="423862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endParaRPr sz="2000">
              <a:latin typeface="Times New Roman"/>
              <a:cs typeface="Times New Roman"/>
            </a:endParaRPr>
          </a:p>
          <a:p>
            <a:pPr marL="28638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Moves of q0 and q3 on input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0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q3 and q0 </a:t>
            </a:r>
            <a:r>
              <a:rPr sz="2000" spc="-5" dirty="0">
                <a:latin typeface="Times New Roman"/>
                <a:cs typeface="Times New Roman"/>
              </a:rPr>
              <a:t>respectively </a:t>
            </a:r>
            <a:r>
              <a:rPr sz="2000" dirty="0">
                <a:latin typeface="Times New Roman"/>
                <a:cs typeface="Times New Roman"/>
              </a:rPr>
              <a:t>which 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partition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dirty="0">
                <a:latin typeface="Times New Roman"/>
                <a:cs typeface="Times New Roman"/>
              </a:rPr>
              <a:t> 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q3 and q0 which are in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P0. So, q0 and q3 are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4064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δ ( </a:t>
            </a:r>
            <a:r>
              <a:rPr sz="2000" spc="5" dirty="0">
                <a:latin typeface="Times New Roman"/>
                <a:cs typeface="Times New Roman"/>
              </a:rPr>
              <a:t>q0, </a:t>
            </a:r>
            <a:r>
              <a:rPr sz="2000" dirty="0">
                <a:latin typeface="Times New Roman"/>
                <a:cs typeface="Times New Roman"/>
              </a:rPr>
              <a:t>0 ) = q3 and δ ( </a:t>
            </a:r>
            <a:r>
              <a:rPr sz="2000" spc="5" dirty="0">
                <a:latin typeface="Times New Roman"/>
                <a:cs typeface="Times New Roman"/>
              </a:rPr>
              <a:t>q5, </a:t>
            </a:r>
            <a:r>
              <a:rPr sz="2000" dirty="0">
                <a:latin typeface="Times New Roman"/>
                <a:cs typeface="Times New Roman"/>
              </a:rPr>
              <a:t>0 ) = q5 and δ ( </a:t>
            </a:r>
            <a:r>
              <a:rPr sz="2000" spc="5" dirty="0">
                <a:latin typeface="Times New Roman"/>
                <a:cs typeface="Times New Roman"/>
              </a:rPr>
              <a:t>q0, </a:t>
            </a:r>
            <a:r>
              <a:rPr sz="2000" dirty="0">
                <a:latin typeface="Times New Roman"/>
                <a:cs typeface="Times New Roman"/>
              </a:rPr>
              <a:t>1 ) = q1 and δ ( </a:t>
            </a:r>
            <a:r>
              <a:rPr sz="2000" spc="5" dirty="0">
                <a:latin typeface="Times New Roman"/>
                <a:cs typeface="Times New Roman"/>
              </a:rPr>
              <a:t>q5, </a:t>
            </a:r>
            <a:r>
              <a:rPr sz="2000" dirty="0">
                <a:latin typeface="Times New Roman"/>
                <a:cs typeface="Times New Roman"/>
              </a:rPr>
              <a:t>1 ) = q5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 </a:t>
            </a:r>
            <a:r>
              <a:rPr sz="2000" spc="-5" dirty="0">
                <a:latin typeface="Times New Roman"/>
                <a:cs typeface="Times New Roman"/>
              </a:rPr>
              <a:t>respectively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different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P0. So, q0 and q5 are </a:t>
            </a:r>
            <a:r>
              <a:rPr sz="2000" spc="-5" dirty="0">
                <a:latin typeface="Times New Roman"/>
                <a:cs typeface="Times New Roman"/>
              </a:rPr>
              <a:t>distinguishable. </a:t>
            </a:r>
            <a:r>
              <a:rPr sz="2000" dirty="0">
                <a:latin typeface="Times New Roman"/>
                <a:cs typeface="Times New Roman"/>
              </a:rPr>
              <a:t>So, set { </a:t>
            </a:r>
            <a:r>
              <a:rPr sz="2000" spc="5" dirty="0">
                <a:latin typeface="Times New Roman"/>
                <a:cs typeface="Times New Roman"/>
              </a:rPr>
              <a:t> 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}. </a:t>
            </a:r>
            <a:r>
              <a:rPr sz="2000" spc="5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q3},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0349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0" dirty="0"/>
              <a:t> </a:t>
            </a:r>
            <a:r>
              <a:rPr sz="3000" dirty="0"/>
              <a:t>of</a:t>
            </a:r>
            <a:r>
              <a:rPr sz="3000" spc="-25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146415" cy="3531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9685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calculate </a:t>
            </a:r>
            <a:r>
              <a:rPr sz="2000" dirty="0">
                <a:latin typeface="Times New Roman"/>
                <a:cs typeface="Times New Roman"/>
              </a:rPr>
              <a:t>P2,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5" dirty="0">
                <a:latin typeface="Times New Roman"/>
                <a:cs typeface="Times New Roman"/>
              </a:rPr>
              <a:t> 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spc="-640" dirty="0">
                <a:solidFill>
                  <a:srgbClr val="2CA1BE"/>
                </a:solidFill>
                <a:latin typeface="Segoe UI Symbol"/>
                <a:cs typeface="Segoe UI Symbol"/>
              </a:rPr>
              <a:t>⚫</a:t>
            </a:r>
            <a:endParaRPr sz="170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q1,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q4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q5,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6223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q5,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 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0349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0" dirty="0"/>
              <a:t> </a:t>
            </a:r>
            <a:r>
              <a:rPr sz="3000" dirty="0"/>
              <a:t>of</a:t>
            </a:r>
            <a:r>
              <a:rPr sz="3000" spc="-25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273415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q0,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q3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 marR="44646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endParaRPr sz="2000">
              <a:latin typeface="Times New Roman"/>
              <a:cs typeface="Times New Roman"/>
            </a:endParaRPr>
          </a:p>
          <a:p>
            <a:pPr marL="28638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5" dirty="0">
                <a:latin typeface="Times New Roman"/>
                <a:cs typeface="Times New Roman"/>
              </a:rPr>
              <a:t>respectively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P1. </a:t>
            </a:r>
            <a:r>
              <a:rPr sz="2000" spc="-20" dirty="0">
                <a:latin typeface="Times New Roman"/>
                <a:cs typeface="Times New Roman"/>
              </a:rPr>
              <a:t>Similarly, </a:t>
            </a:r>
            <a:r>
              <a:rPr sz="2000" dirty="0">
                <a:latin typeface="Times New Roman"/>
                <a:cs typeface="Times New Roman"/>
              </a:rPr>
              <a:t>Moves of q0 and q3 on input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1 are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 and q0 which are in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P1. So, q0 and q3 are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q5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Since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dirty="0">
                <a:latin typeface="Times New Roman"/>
                <a:cs typeface="Times New Roman"/>
              </a:rPr>
              <a:t> in</a:t>
            </a:r>
            <a:r>
              <a:rPr sz="2000" spc="-5" dirty="0">
                <a:latin typeface="Times New Roman"/>
                <a:cs typeface="Times New Roman"/>
              </a:rPr>
              <a:t> 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set,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can’t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partitioned.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 {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}</a:t>
            </a:r>
            <a:endParaRPr sz="2000">
              <a:latin typeface="Times New Roman"/>
              <a:cs typeface="Times New Roman"/>
            </a:endParaRPr>
          </a:p>
          <a:p>
            <a:pPr marL="286385" marR="565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P1=P2.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means</a:t>
            </a:r>
            <a:r>
              <a:rPr sz="2000" dirty="0">
                <a:latin typeface="Times New Roman"/>
                <a:cs typeface="Times New Roman"/>
              </a:rPr>
              <a:t> 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merged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dirty="0">
                <a:latin typeface="Times New Roman"/>
                <a:cs typeface="Times New Roman"/>
              </a:rPr>
              <a:t> q0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merged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Minimized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corresponding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Figure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842898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lang="en-US" spc="-10" smtClean="0"/>
              <a:t>K.Nalini, Assistant Professor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075" y="2016528"/>
            <a:ext cx="4544178" cy="193567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/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Definition 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(equivalence of finite state machines): Two finite state machines M1 and M2 are equivalent (M1≡M2) if they have the same input and output alphabets and if, starting from their respective initial states, they produce the same output for any input string.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snist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65753" y="1905000"/>
            <a:ext cx="5612494" cy="35685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Solution: The initial states in M1 and M2 are q1 and q4. |Let us see that combined transition of M1 and M2 on inputs c and d as follows: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2667000"/>
          <a:ext cx="6248400" cy="3124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</a:tblGrid>
              <a:tr h="1036634"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States/Inputs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(q1,q4)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(q2,q6)</a:t>
                      </a:r>
                      <a:endParaRPr lang="en-US" sz="2200" dirty="0"/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(q2,q6)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(q3,q7)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(q1,q4)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(q2,q6)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(q3,q7)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(q2,q5) is new state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Let us analyze the above transition table carefully, then we find that, the behavior of M1 and M2 is similar.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do not get a pair (q , q’) where q is a final state ,and q’ is a non final state (or vice versa) at every row. Therefore M and M’ are equivalent.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811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4951</Words>
  <Application>Microsoft Office PowerPoint</Application>
  <PresentationFormat>On-screen Show (4:3)</PresentationFormat>
  <Paragraphs>539</Paragraphs>
  <Slides>58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Automata &amp; Compiler Design</vt:lpstr>
      <vt:lpstr>Unit-I Syllabus</vt:lpstr>
      <vt:lpstr>String:</vt:lpstr>
      <vt:lpstr>Alphabet:</vt:lpstr>
      <vt:lpstr>Language</vt:lpstr>
      <vt:lpstr>Operations</vt:lpstr>
      <vt:lpstr>Regular Language &amp; Regular Expression  &amp; Regular Grammar</vt:lpstr>
      <vt:lpstr>Closure Properties of Regular  Languages</vt:lpstr>
      <vt:lpstr>Closure Properties of Regular  Languages</vt:lpstr>
      <vt:lpstr>Regular Expressions Examples</vt:lpstr>
      <vt:lpstr>Regular sets &amp; Properties of Regular 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Identities Related to Regular Expressions</vt:lpstr>
      <vt:lpstr>Finite State Machine</vt:lpstr>
      <vt:lpstr>Finite Automaton</vt:lpstr>
      <vt:lpstr>Transition diagram</vt:lpstr>
      <vt:lpstr>Transition table</vt:lpstr>
      <vt:lpstr>String Acceptance:</vt:lpstr>
      <vt:lpstr>Finite Automaton Model</vt:lpstr>
      <vt:lpstr>Finite Automaton Model</vt:lpstr>
      <vt:lpstr>Finite Automata</vt:lpstr>
      <vt:lpstr>Deterministic Finite Automata</vt:lpstr>
      <vt:lpstr>Deterministic Finite Automata</vt:lpstr>
      <vt:lpstr>Non Deterministic Finite Automata</vt:lpstr>
      <vt:lpstr>Non Deterministic Finite Automata</vt:lpstr>
      <vt:lpstr>DFA vs. NDFA</vt:lpstr>
      <vt:lpstr>Examples of FA</vt:lpstr>
      <vt:lpstr>PowerPoint Presentation</vt:lpstr>
      <vt:lpstr>PowerPoint Presentation</vt:lpstr>
      <vt:lpstr>DFA- Practice Problems</vt:lpstr>
      <vt:lpstr>DFA- Practice Problems</vt:lpstr>
      <vt:lpstr>DFA- Practice Problems</vt:lpstr>
      <vt:lpstr>NFA-Practice Problems</vt:lpstr>
      <vt:lpstr>Regular expression to ∈-NFA</vt:lpstr>
      <vt:lpstr>Regular expression to ∈-NFA for (a/b)*a</vt:lpstr>
      <vt:lpstr>Conversion Of E-NFA To NFA</vt:lpstr>
      <vt:lpstr>Conversion Of E-NFA To NFA -example</vt:lpstr>
      <vt:lpstr>Conversion Of E-NFA To NFA -example</vt:lpstr>
      <vt:lpstr>Conversion Of E-NFA To NFA -example</vt:lpstr>
      <vt:lpstr>Conversion from NFA to DFA</vt:lpstr>
      <vt:lpstr>Conversion from NFA to DFA-Example</vt:lpstr>
      <vt:lpstr>Conversion from NFA to DFA-Example</vt:lpstr>
      <vt:lpstr>Conversion from NFA to DFA-Example</vt:lpstr>
      <vt:lpstr>Minimization of FSM:</vt:lpstr>
      <vt:lpstr>Minimization of FSM:</vt:lpstr>
      <vt:lpstr>Minimization of FSM:</vt:lpstr>
      <vt:lpstr>Minimization of FSM:</vt:lpstr>
      <vt:lpstr>Minimization of FSM:</vt:lpstr>
      <vt:lpstr>Minimization of FSM:</vt:lpstr>
      <vt:lpstr>Minimization of FSM:</vt:lpstr>
      <vt:lpstr>Equivalence between two FSM’s:</vt:lpstr>
      <vt:lpstr>Equivalence between two FSM’s:</vt:lpstr>
      <vt:lpstr>Equivalence between two FSM’s:</vt:lpstr>
      <vt:lpstr>Equivalence between two FSM’s: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snist</dc:creator>
  <cp:lastModifiedBy>Admin</cp:lastModifiedBy>
  <cp:revision>10</cp:revision>
  <dcterms:created xsi:type="dcterms:W3CDTF">2021-04-19T07:59:02Z</dcterms:created>
  <dcterms:modified xsi:type="dcterms:W3CDTF">2026-07-28T04:51:08Z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2021-04-19T00:00:00Z</vt:filetime>
  </property>
</Properties>
</file>