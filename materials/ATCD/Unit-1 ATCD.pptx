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7" r:id="rId9"/>
    <p:sldId id="310" r:id="rId10"/>
    <p:sldId id="263" r:id="rId11"/>
    <p:sldId id="309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67" r:id="rId20"/>
    <p:sldId id="30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656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CD8F5-C7FB-45AE-AB89-65C386C4BAFF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27BDC-4E47-4714-AAF0-4E797F244E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B27BDC-4E47-4714-AAF0-4E797F244EA6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3D585-FA0C-4735-A6BE-10D54F33837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B939B-3493-4F58-84E7-2AEF3AD708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homes.di.unimi.it/~alberti/colos/AUTOMATAHT/TUTORIAL/language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theory-of-computation-pushdown-automata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inear_bounded_automato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UNIT- </a:t>
            </a:r>
            <a:r>
              <a:rPr lang="en-US" b="1" dirty="0" smtClean="0"/>
              <a:t>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</a:rPr>
              <a:t>Syllabus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  <a:r>
              <a:rPr lang="en-US" altLang="zh-TW" dirty="0" smtClean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String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Alphabet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Language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Operations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Finite Automaton model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Acceptance of Strings &amp; Languages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Chomsky hierarchy of languages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Deterministic finite automaton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Non deterministic finite automaton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NFA to DFA conversion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equivalence of DFA ‘s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chemeClr val="accent2"/>
                </a:solidFill>
                <a:ea typeface="Arial Unicode MS" pitchFamily="34" charset="-120"/>
                <a:cs typeface="Arial Unicode MS" pitchFamily="34" charset="-12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Automata: it is a mathematical model or abstract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takes some input</a:t>
            </a:r>
          </a:p>
          <a:p>
            <a:r>
              <a:rPr lang="en-US" dirty="0" smtClean="0"/>
              <a:t>Processes it using rules.</a:t>
            </a:r>
          </a:p>
          <a:p>
            <a:r>
              <a:rPr lang="en-US" dirty="0" smtClean="0"/>
              <a:t>Produces an output( accepts or rejects </a:t>
            </a:r>
            <a:r>
              <a:rPr lang="en-US" smtClean="0"/>
              <a:t>the input).</a:t>
            </a:r>
            <a:endParaRPr lang="en-US" dirty="0" smtClean="0"/>
          </a:p>
          <a:p>
            <a:r>
              <a:rPr lang="en-US" dirty="0" smtClean="0"/>
              <a:t>It is helpful for check whether the given string belongs to language or not.</a:t>
            </a:r>
          </a:p>
          <a:p>
            <a:r>
              <a:rPr lang="en-US" dirty="0" smtClean="0"/>
              <a:t>Finite automata : it is a model (or) machine which runs in a finite state is called finite automata.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Representation &amp; Notations used in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Symbols: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Symbols are an entity or individual objects, which can be any letter, alphabet or any picture.</a:t>
            </a:r>
          </a:p>
          <a:p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Example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 1, a, b, #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Alphabets: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Alphabets are a finite set of symbols. It is denoted by ∑.</a:t>
            </a:r>
          </a:p>
          <a:p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Examples: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∑ = {a, b}  , ∑ = {A, B, C, D}  ,  ∑ = {0, 1, 2}  , ∑ = {0, 1, ....., 5]  ,  ∑ = {#, β, Δ}  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String: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is a collection of symbols over alphabet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 The string is denoted by w.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Example 1: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If ∑ = {a, b}, various string that can be generated from ∑ are {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bb,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.....}.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 string with zero occurrences of symbols is known as an empty string. It is represented by ε.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number of symbols in a string w is called the length of a string. It is denoted by |w|.</a:t>
            </a:r>
          </a:p>
          <a:p>
            <a:pPr>
              <a:buNone/>
            </a:pP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Example 2: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 = 010 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Number of Sting |w| = 3  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spc="-5" dirty="0">
                <a:latin typeface="Times New Roman" pitchFamily="18" charset="0"/>
                <a:cs typeface="Times New Roman" pitchFamily="18" charset="0"/>
              </a:rPr>
              <a:t>It is a collection or set of all strings over alphabet.</a:t>
            </a:r>
          </a:p>
          <a:p>
            <a:r>
              <a:rPr lang="en-US" sz="2200" spc="-5" dirty="0">
                <a:latin typeface="Times New Roman" pitchFamily="18" charset="0"/>
                <a:cs typeface="Times New Roman" pitchFamily="18" charset="0"/>
              </a:rPr>
              <a:t>It is represented as ‘L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language which is formed over Σ can be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Finite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or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Infinite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spc="-5" dirty="0">
              <a:latin typeface="Times New Roman" pitchFamily="18" charset="0"/>
              <a:cs typeface="Times New Roman" pitchFamily="18" charset="0"/>
            </a:endParaRPr>
          </a:p>
          <a:p>
            <a:pPr marL="286385" indent="-274320">
              <a:lnSpc>
                <a:spcPts val="2510"/>
              </a:lnSpc>
              <a:spcBef>
                <a:spcPts val="95"/>
              </a:spcBef>
              <a:buClr>
                <a:srgbClr val="2CA1BE"/>
              </a:buClr>
              <a:buSzPct val="84090"/>
              <a:tabLst>
                <a:tab pos="286385" algn="l"/>
                <a:tab pos="287020" algn="l"/>
              </a:tabLst>
            </a:pP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Given an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alphabet</a:t>
            </a:r>
            <a:r>
              <a:rPr lang="en-US" sz="2200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i="1" spc="-5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en-US" sz="2200" i="1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i="1" spc="-5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200" i="1" spc="-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200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en-US" sz="2200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strings,</a:t>
            </a:r>
            <a:r>
              <a:rPr lang="en-US" sz="22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sz="2200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200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a subset</a:t>
            </a:r>
            <a:r>
              <a:rPr lang="en-US" sz="22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the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 universal language</a:t>
            </a:r>
            <a:r>
              <a:rPr lang="en-US" sz="2200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i="1" spc="-5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spc="-5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Example: 1</a:t>
            </a:r>
          </a:p>
          <a:p>
            <a:r>
              <a:rPr lang="en-US" sz="2400" dirty="0" smtClean="0"/>
              <a:t>L1 = {Set of string of length 2} = {</a:t>
            </a:r>
            <a:r>
              <a:rPr lang="en-US" sz="2400" dirty="0" err="1" smtClean="0"/>
              <a:t>aa</a:t>
            </a:r>
            <a:r>
              <a:rPr lang="en-US" sz="2400" dirty="0" smtClean="0"/>
              <a:t>, bb, </a:t>
            </a:r>
            <a:r>
              <a:rPr lang="en-US" sz="2400" dirty="0" err="1" smtClean="0"/>
              <a:t>ba</a:t>
            </a:r>
            <a:r>
              <a:rPr lang="en-US" sz="2400" dirty="0" smtClean="0"/>
              <a:t>, bb} </a:t>
            </a:r>
            <a:r>
              <a:rPr lang="en-US" sz="2400" b="1" dirty="0" smtClean="0"/>
              <a:t>Finite Language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Example: 2</a:t>
            </a:r>
          </a:p>
          <a:p>
            <a:r>
              <a:rPr lang="en-US" sz="2400" dirty="0" smtClean="0"/>
              <a:t>L2 = {Set of all strings starts with 'a'} = {a, </a:t>
            </a:r>
            <a:r>
              <a:rPr lang="en-US" sz="2400" dirty="0" err="1" smtClean="0"/>
              <a:t>aa</a:t>
            </a:r>
            <a:r>
              <a:rPr lang="en-US" sz="2400" dirty="0" smtClean="0"/>
              <a:t>, </a:t>
            </a:r>
            <a:r>
              <a:rPr lang="en-US" sz="2400" dirty="0" err="1" smtClean="0"/>
              <a:t>aaa</a:t>
            </a:r>
            <a:r>
              <a:rPr lang="en-US" sz="2400" dirty="0" smtClean="0"/>
              <a:t>, </a:t>
            </a:r>
            <a:r>
              <a:rPr lang="en-US" sz="2400" dirty="0" err="1" smtClean="0"/>
              <a:t>abb</a:t>
            </a:r>
            <a:r>
              <a:rPr lang="en-US" sz="2400" dirty="0" smtClean="0"/>
              <a:t>, </a:t>
            </a:r>
            <a:r>
              <a:rPr lang="en-US" sz="2400" dirty="0" err="1" smtClean="0"/>
              <a:t>abbb</a:t>
            </a:r>
            <a:r>
              <a:rPr lang="en-US" sz="2400" dirty="0" smtClean="0"/>
              <a:t>, </a:t>
            </a:r>
            <a:r>
              <a:rPr lang="en-US" sz="2400" dirty="0" err="1" smtClean="0"/>
              <a:t>ababb</a:t>
            </a:r>
            <a:r>
              <a:rPr lang="en-US" sz="2400" dirty="0" smtClean="0"/>
              <a:t>…} </a:t>
            </a:r>
            <a:r>
              <a:rPr lang="en-US" sz="2400" b="1" dirty="0" smtClean="0"/>
              <a:t>Infinite Language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6385" marR="234315" indent="-274320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3928"/>
              <a:tabLst>
                <a:tab pos="286385" algn="l"/>
                <a:tab pos="287020" algn="l"/>
              </a:tabLst>
            </a:pPr>
            <a:r>
              <a:rPr lang="en-US" sz="2400" spc="-10" dirty="0" smtClean="0"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sz="2400" spc="10" dirty="0" smtClean="0">
                <a:solidFill>
                  <a:srgbClr val="FF811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u="heavy" spc="-5" dirty="0" smtClean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Times New Roman" pitchFamily="18" charset="0"/>
                <a:cs typeface="Times New Roman" pitchFamily="18" charset="0"/>
                <a:hlinkClick r:id="rId2"/>
              </a:rPr>
              <a:t>languages</a:t>
            </a:r>
            <a:r>
              <a:rPr lang="en-US" sz="2400" spc="-15" dirty="0" smtClean="0">
                <a:solidFill>
                  <a:srgbClr val="FF8118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en-US" sz="2400" spc="-5" dirty="0" smtClean="0"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sz="24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 smtClean="0">
                <a:latin typeface="Times New Roman" pitchFamily="18" charset="0"/>
                <a:cs typeface="Times New Roman" pitchFamily="18" charset="0"/>
              </a:rPr>
              <a:t>can</a:t>
            </a:r>
            <a:r>
              <a:rPr lang="en-US" sz="2400" spc="-5" dirty="0" smtClean="0">
                <a:latin typeface="Times New Roman" pitchFamily="18" charset="0"/>
                <a:cs typeface="Times New Roman" pitchFamily="18" charset="0"/>
              </a:rPr>
              <a:t> define</a:t>
            </a:r>
            <a:r>
              <a:rPr lang="en-US" sz="24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4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 smtClean="0">
                <a:latin typeface="Times New Roman" pitchFamily="18" charset="0"/>
                <a:cs typeface="Times New Roman" pitchFamily="18" charset="0"/>
              </a:rPr>
              <a:t>usual</a:t>
            </a:r>
            <a:r>
              <a:rPr lang="en-US" sz="24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 smtClean="0">
                <a:latin typeface="Times New Roman" pitchFamily="18" charset="0"/>
                <a:cs typeface="Times New Roman" pitchFamily="18" charset="0"/>
              </a:rPr>
              <a:t>set </a:t>
            </a:r>
            <a:r>
              <a:rPr lang="en-US" sz="2400" spc="-6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 smtClean="0">
                <a:latin typeface="Times New Roman" pitchFamily="18" charset="0"/>
                <a:cs typeface="Times New Roman" pitchFamily="18" charset="0"/>
              </a:rPr>
              <a:t>operations</a:t>
            </a:r>
            <a:r>
              <a:rPr lang="en-US" sz="24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 smtClean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sz="24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 smtClean="0">
                <a:latin typeface="Times New Roman" pitchFamily="18" charset="0"/>
                <a:cs typeface="Times New Roman" pitchFamily="18" charset="0"/>
              </a:rPr>
              <a:t>are.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636905" lvl="1" indent="-305435">
              <a:lnSpc>
                <a:spcPct val="100000"/>
              </a:lnSpc>
              <a:spcBef>
                <a:spcPts val="295"/>
              </a:spcBef>
              <a:buClr>
                <a:srgbClr val="DA1F28"/>
              </a:buClr>
              <a:buSzPct val="85416"/>
              <a:buFont typeface="Wingdings" pitchFamily="2" charset="2"/>
              <a:buChar char="Ø"/>
              <a:tabLst>
                <a:tab pos="636905" algn="l"/>
                <a:tab pos="63754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union</a:t>
            </a:r>
          </a:p>
          <a:p>
            <a:pPr marL="636905" lvl="1" indent="-305435">
              <a:lnSpc>
                <a:spcPct val="100000"/>
              </a:lnSpc>
              <a:spcBef>
                <a:spcPts val="575"/>
              </a:spcBef>
              <a:buClr>
                <a:srgbClr val="DA1F28"/>
              </a:buClr>
              <a:buSzPct val="85416"/>
              <a:buFont typeface="Wingdings" pitchFamily="2" charset="2"/>
              <a:buChar char="Ø"/>
              <a:tabLst>
                <a:tab pos="636905" algn="l"/>
                <a:tab pos="63754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intersection</a:t>
            </a:r>
          </a:p>
          <a:p>
            <a:pPr marL="560705" lvl="1" indent="-229235">
              <a:lnSpc>
                <a:spcPct val="100000"/>
              </a:lnSpc>
              <a:spcBef>
                <a:spcPts val="575"/>
              </a:spcBef>
              <a:buClr>
                <a:srgbClr val="DA1F28"/>
              </a:buClr>
              <a:buSzPct val="85416"/>
              <a:buFont typeface="Wingdings" pitchFamily="2" charset="2"/>
              <a:buChar char="Ø"/>
              <a:tabLst>
                <a:tab pos="560705" algn="l"/>
                <a:tab pos="561340" algn="l"/>
              </a:tabLst>
            </a:pP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Complement</a:t>
            </a:r>
          </a:p>
          <a:p>
            <a:pPr marL="560705" lvl="1" indent="-229235">
              <a:lnSpc>
                <a:spcPct val="100000"/>
              </a:lnSpc>
              <a:spcBef>
                <a:spcPts val="575"/>
              </a:spcBef>
              <a:buClr>
                <a:srgbClr val="DA1F28"/>
              </a:buClr>
              <a:buSzPct val="85416"/>
              <a:buFont typeface="Wingdings" pitchFamily="2" charset="2"/>
              <a:buChar char="Ø"/>
              <a:tabLst>
                <a:tab pos="560705" algn="l"/>
                <a:tab pos="561340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6385" indent="-274320">
              <a:lnSpc>
                <a:spcPct val="100000"/>
              </a:lnSpc>
              <a:spcBef>
                <a:spcPts val="890"/>
              </a:spcBef>
              <a:buClr>
                <a:srgbClr val="2CA1BE"/>
              </a:buClr>
              <a:buSzPct val="83928"/>
              <a:tabLst>
                <a:tab pos="286385" algn="l"/>
                <a:tab pos="287020" algn="l"/>
              </a:tabLst>
            </a:pP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Let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L1 = {10}</a:t>
            </a:r>
            <a:r>
              <a:rPr lang="en-US" sz="2000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and L2 = 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{011,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11}.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0"/>
              </a:spcBef>
              <a:buClr>
                <a:srgbClr val="2CA1BE"/>
              </a:buClr>
              <a:buFont typeface="Arial MT"/>
              <a:buChar char="•"/>
            </a:pPr>
            <a:endParaRPr lang="en-US" sz="3800" dirty="0" smtClean="0">
              <a:latin typeface="Times New Roman" pitchFamily="18" charset="0"/>
              <a:cs typeface="Times New Roman" pitchFamily="18" charset="0"/>
            </a:endParaRPr>
          </a:p>
          <a:p>
            <a:pPr marL="636905" lvl="1" indent="-305435">
              <a:lnSpc>
                <a:spcPct val="100000"/>
              </a:lnSpc>
              <a:buClr>
                <a:srgbClr val="DA1F28"/>
              </a:buClr>
              <a:buSzPct val="85416"/>
              <a:buFont typeface="Wingdings" pitchFamily="2" charset="2"/>
              <a:buChar char="Ø"/>
              <a:tabLst>
                <a:tab pos="636905" algn="l"/>
                <a:tab pos="63754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Union: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L1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𝖴</a:t>
            </a:r>
            <a:r>
              <a:rPr lang="en-US" sz="2000" spc="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L2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{10,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011, 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11}</a:t>
            </a:r>
          </a:p>
          <a:p>
            <a:pPr marL="636905" lvl="1" indent="-305435">
              <a:lnSpc>
                <a:spcPct val="100000"/>
              </a:lnSpc>
              <a:buClr>
                <a:srgbClr val="DA1F28"/>
              </a:buClr>
              <a:buSzPct val="85416"/>
              <a:tabLst>
                <a:tab pos="636905" algn="l"/>
                <a:tab pos="637540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36905" lvl="1" indent="-305435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5416"/>
              <a:buFont typeface="Wingdings" pitchFamily="2" charset="2"/>
              <a:buChar char="Ø"/>
              <a:tabLst>
                <a:tab pos="636905" algn="l"/>
                <a:tab pos="63754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Concatenation: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L1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L2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{10011,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1011}</a:t>
            </a:r>
          </a:p>
          <a:p>
            <a:pPr marL="636905" lvl="1" indent="-305435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5416"/>
              <a:tabLst>
                <a:tab pos="636905" algn="l"/>
                <a:tab pos="637540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36905" lvl="1" indent="-305435">
              <a:lnSpc>
                <a:spcPct val="100000"/>
              </a:lnSpc>
              <a:spcBef>
                <a:spcPts val="395"/>
              </a:spcBef>
              <a:buClr>
                <a:srgbClr val="DA1F28"/>
              </a:buClr>
              <a:buSzPct val="85416"/>
              <a:buFont typeface="Wingdings" pitchFamily="2" charset="2"/>
              <a:buChar char="Ø"/>
              <a:tabLst>
                <a:tab pos="636905" algn="l"/>
                <a:tab pos="637540" algn="l"/>
              </a:tabLst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Kleene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Star: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L1</a:t>
            </a: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{e,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10,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1010,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101010,</a:t>
            </a: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Power of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sz="36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∑’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Ex:-∑ =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  = set of all strings with length ‘0’. Sol: </a:t>
            </a:r>
            <a:r>
              <a:rPr lang="el-GR" sz="1800" b="1" dirty="0" smtClean="0">
                <a:solidFill>
                  <a:srgbClr val="FF0000"/>
                </a:solidFill>
              </a:rPr>
              <a:t>ε</a:t>
            </a:r>
            <a:endParaRPr lang="en-US" sz="1800" dirty="0" smtClean="0">
              <a:latin typeface="Times New Roman" pitchFamily="18" charset="0"/>
              <a:ea typeface="Arial Unicode MS" pitchFamily="34" charset="-128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  = set of all strings with length ‘1’. Sol: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</a:t>
            </a:r>
            <a:endParaRPr lang="en-US" sz="1800" b="1" dirty="0" smtClean="0">
              <a:solidFill>
                <a:srgbClr val="FF0000"/>
              </a:solidFill>
            </a:endParaRP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  = set of all strings with length ‘2’. </a:t>
            </a:r>
            <a:endParaRPr lang="en-US" sz="1800" b="1" dirty="0" smtClean="0">
              <a:solidFill>
                <a:srgbClr val="FF0000"/>
              </a:solidFill>
            </a:endParaRP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Sol: ∑. ∑={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}={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aa,ab,ba,bb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  = set of all strings with length ‘3’. </a:t>
            </a:r>
            <a:endParaRPr lang="en-US" sz="1800" b="1" dirty="0" smtClean="0">
              <a:solidFill>
                <a:srgbClr val="FF0000"/>
              </a:solidFill>
            </a:endParaRP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∑. ∑. ∑ ={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=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aa.ab,ba,bb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}=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aaa,,aab,aba,abb,baa,bab,bba,bbb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.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.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   (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Kleene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 Closure): it is set of all strings of all length possible on {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a,b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} is called </a:t>
            </a:r>
            <a:r>
              <a:rPr lang="en-US" sz="1800" dirty="0" err="1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kleene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 closure.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It is a infinite language</a:t>
            </a:r>
          </a:p>
          <a:p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 ∑   (Positive Closure): all strings possible but </a:t>
            </a:r>
            <a:r>
              <a:rPr lang="el-GR" sz="1800" b="1" dirty="0" smtClean="0">
                <a:solidFill>
                  <a:srgbClr val="FF0000"/>
                </a:solidFill>
              </a:rPr>
              <a:t>ε 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is not available.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Formula: 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∑  = ∑ + ∑</a:t>
            </a:r>
          </a:p>
          <a:p>
            <a:pPr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	</a:t>
            </a:r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 ∑ -</a:t>
            </a:r>
            <a:r>
              <a:rPr lang="el-GR" sz="1800" b="1" dirty="0" smtClean="0">
                <a:solidFill>
                  <a:srgbClr val="FF0000"/>
                </a:solidFill>
              </a:rPr>
              <a:t> ε</a:t>
            </a:r>
            <a:r>
              <a:rPr lang="en-US" sz="1800" b="1" dirty="0" smtClean="0">
                <a:solidFill>
                  <a:srgbClr val="FF0000"/>
                </a:solidFill>
              </a:rPr>
              <a:t> =</a:t>
            </a:r>
            <a:r>
              <a:rPr lang="en-US" sz="1800" dirty="0" smtClean="0"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 ∑</a:t>
            </a:r>
          </a:p>
          <a:p>
            <a:endParaRPr lang="en-US" sz="1800" dirty="0" smtClean="0">
              <a:latin typeface="Times New Roman" pitchFamily="18" charset="0"/>
              <a:ea typeface="Arial Unicode MS" pitchFamily="34" charset="-128"/>
              <a:cs typeface="Times New Roman" pitchFamily="18" charset="0"/>
            </a:endParaRPr>
          </a:p>
          <a:p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22098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6002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0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9050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1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990600" y="28194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3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990600" y="434340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579120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518160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+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2057400" y="548640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+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2514600" y="54864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0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1600200" y="548640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200" y="579120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+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Finite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Finite automata are used to recognize patterns.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takes the string of symbol as input and changes its state accordingly. When the desired symbol is found, then the transition occurs.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 the time of transition, the automata can either move to the next state or stay in the same state.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Finite automata have two states,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Accept state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or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Reject state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When the input string is processed successfully, and the automata reached its final state, then it will accept.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Formal Definition of FA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finite automaton is a collection of 5-tuple (Q, ∑, δ, q0, F), where: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Q: finite set of states  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∑: finite set of the input symbol  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q0: initial state   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F: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state  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δ: Transition function  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24400" y="152400"/>
            <a:ext cx="4267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Transition Table:-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transition table is basically a tabular representation of the transition function. It takes two arguments (a state and a symbol) and returns a state (the "next state").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transition table is represented by the following things: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Columns correspond to input symbols.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Rows correspond to states.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Entries correspond to the next state.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The start state is denoted by an arrow with no source.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The accept state is denoted by a star.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3962400"/>
          <a:ext cx="1524000" cy="12954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9600"/>
                <a:gridCol w="381000"/>
                <a:gridCol w="533400"/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Symbol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   q</a:t>
                      </a:r>
                      <a:r>
                        <a:rPr lang="en-US" sz="800" dirty="0" smtClean="0"/>
                        <a:t>0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</a:t>
                      </a:r>
                      <a:r>
                        <a:rPr lang="en-US" sz="800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q</a:t>
                      </a:r>
                      <a:r>
                        <a:rPr lang="en-US" sz="800" dirty="0" smtClean="0"/>
                        <a:t>1</a:t>
                      </a:r>
                      <a:endParaRPr lang="en-US" dirty="0" smtClean="0"/>
                    </a:p>
                  </a:txBody>
                  <a:tcPr/>
                </a:tc>
              </a:tr>
              <a:tr h="431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 *q</a:t>
                      </a:r>
                      <a:r>
                        <a:rPr lang="en-US" sz="800" dirty="0" smtClean="0"/>
                        <a:t>1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q</a:t>
                      </a:r>
                      <a:r>
                        <a:rPr lang="en-US" sz="800" dirty="0" smtClean="0"/>
                        <a:t>1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</a:t>
                      </a:r>
                      <a:r>
                        <a:rPr lang="en-US" sz="800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6400799" y="3962400"/>
            <a:ext cx="6096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1363304">
            <a:off x="6350878" y="4120722"/>
            <a:ext cx="4716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/>
              <a:t>States</a:t>
            </a:r>
            <a:endParaRPr lang="en-US" sz="9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28600"/>
            <a:ext cx="381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Transition Diagram:-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transition diagram or state transition diagram is a directed graph which can be constructed as follows: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There is a node for each state in Q, which is represented by the circle.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There is a directed edge from node q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node q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labeled a if δ(q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a) = q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In the start state, there is an arrow with no source.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Accepting states or final states are indicating by a double circle.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4457700"/>
            <a:ext cx="533400" cy="381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sz="800" dirty="0" smtClean="0"/>
              <a:t>0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2895600" y="4381500"/>
            <a:ext cx="6858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971800" y="4457700"/>
            <a:ext cx="533400" cy="381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sz="800" dirty="0"/>
              <a:t>1</a:t>
            </a:r>
            <a:endParaRPr lang="en-US" dirty="0"/>
          </a:p>
        </p:txBody>
      </p:sp>
      <p:sp>
        <p:nvSpPr>
          <p:cNvPr id="15" name="Freeform 14"/>
          <p:cNvSpPr/>
          <p:nvPr/>
        </p:nvSpPr>
        <p:spPr>
          <a:xfrm>
            <a:off x="1440729" y="4232991"/>
            <a:ext cx="347321" cy="239381"/>
          </a:xfrm>
          <a:custGeom>
            <a:avLst/>
            <a:gdLst>
              <a:gd name="connsiteX0" fmla="*/ 7071 w 347321"/>
              <a:gd name="connsiteY0" fmla="*/ 213164 h 239381"/>
              <a:gd name="connsiteX1" fmla="*/ 34780 w 347321"/>
              <a:gd name="connsiteY1" fmla="*/ 130036 h 239381"/>
              <a:gd name="connsiteX2" fmla="*/ 53253 w 347321"/>
              <a:gd name="connsiteY2" fmla="*/ 65382 h 239381"/>
              <a:gd name="connsiteX3" fmla="*/ 80962 w 347321"/>
              <a:gd name="connsiteY3" fmla="*/ 46909 h 239381"/>
              <a:gd name="connsiteX4" fmla="*/ 99435 w 347321"/>
              <a:gd name="connsiteY4" fmla="*/ 19200 h 239381"/>
              <a:gd name="connsiteX5" fmla="*/ 284162 w 347321"/>
              <a:gd name="connsiteY5" fmla="*/ 19200 h 239381"/>
              <a:gd name="connsiteX6" fmla="*/ 311871 w 347321"/>
              <a:gd name="connsiteY6" fmla="*/ 37673 h 239381"/>
              <a:gd name="connsiteX7" fmla="*/ 330344 w 347321"/>
              <a:gd name="connsiteY7" fmla="*/ 102327 h 239381"/>
              <a:gd name="connsiteX8" fmla="*/ 311871 w 347321"/>
              <a:gd name="connsiteY8" fmla="*/ 203927 h 23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321" h="239381">
                <a:moveTo>
                  <a:pt x="7071" y="213164"/>
                </a:moveTo>
                <a:cubicBezTo>
                  <a:pt x="29203" y="124630"/>
                  <a:pt x="0" y="234375"/>
                  <a:pt x="34780" y="130036"/>
                </a:cubicBezTo>
                <a:cubicBezTo>
                  <a:pt x="35730" y="127187"/>
                  <a:pt x="48168" y="71738"/>
                  <a:pt x="53253" y="65382"/>
                </a:cubicBezTo>
                <a:cubicBezTo>
                  <a:pt x="60188" y="56714"/>
                  <a:pt x="71726" y="53067"/>
                  <a:pt x="80962" y="46909"/>
                </a:cubicBezTo>
                <a:cubicBezTo>
                  <a:pt x="87120" y="37673"/>
                  <a:pt x="88825" y="22465"/>
                  <a:pt x="99435" y="19200"/>
                </a:cubicBezTo>
                <a:cubicBezTo>
                  <a:pt x="161836" y="0"/>
                  <a:pt x="222136" y="12308"/>
                  <a:pt x="284162" y="19200"/>
                </a:cubicBezTo>
                <a:cubicBezTo>
                  <a:pt x="293398" y="25358"/>
                  <a:pt x="304936" y="29005"/>
                  <a:pt x="311871" y="37673"/>
                </a:cubicBezTo>
                <a:cubicBezTo>
                  <a:pt x="316688" y="43694"/>
                  <a:pt x="329741" y="99916"/>
                  <a:pt x="330344" y="102327"/>
                </a:cubicBezTo>
                <a:cubicBezTo>
                  <a:pt x="320745" y="217503"/>
                  <a:pt x="347321" y="239381"/>
                  <a:pt x="311871" y="203927"/>
                </a:cubicBez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1697182" y="4409209"/>
            <a:ext cx="166254" cy="92364"/>
          </a:xfrm>
          <a:custGeom>
            <a:avLst/>
            <a:gdLst>
              <a:gd name="connsiteX0" fmla="*/ 0 w 166254"/>
              <a:gd name="connsiteY0" fmla="*/ 0 h 92364"/>
              <a:gd name="connsiteX1" fmla="*/ 27709 w 166254"/>
              <a:gd name="connsiteY1" fmla="*/ 9236 h 92364"/>
              <a:gd name="connsiteX2" fmla="*/ 73891 w 166254"/>
              <a:gd name="connsiteY2" fmla="*/ 92364 h 92364"/>
              <a:gd name="connsiteX3" fmla="*/ 110836 w 166254"/>
              <a:gd name="connsiteY3" fmla="*/ 83127 h 92364"/>
              <a:gd name="connsiteX4" fmla="*/ 147782 w 166254"/>
              <a:gd name="connsiteY4" fmla="*/ 27709 h 92364"/>
              <a:gd name="connsiteX5" fmla="*/ 166254 w 166254"/>
              <a:gd name="connsiteY5" fmla="*/ 18473 h 92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254" h="92364">
                <a:moveTo>
                  <a:pt x="0" y="0"/>
                </a:moveTo>
                <a:cubicBezTo>
                  <a:pt x="9236" y="3079"/>
                  <a:pt x="20825" y="2352"/>
                  <a:pt x="27709" y="9236"/>
                </a:cubicBezTo>
                <a:cubicBezTo>
                  <a:pt x="59466" y="40994"/>
                  <a:pt x="62276" y="57521"/>
                  <a:pt x="73891" y="92364"/>
                </a:cubicBezTo>
                <a:cubicBezTo>
                  <a:pt x="86206" y="89285"/>
                  <a:pt x="101283" y="91486"/>
                  <a:pt x="110836" y="83127"/>
                </a:cubicBezTo>
                <a:cubicBezTo>
                  <a:pt x="127544" y="68507"/>
                  <a:pt x="127924" y="37638"/>
                  <a:pt x="147782" y="27709"/>
                </a:cubicBezTo>
                <a:lnTo>
                  <a:pt x="166254" y="18473"/>
                </a:ln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3124200" y="4152900"/>
            <a:ext cx="347321" cy="239381"/>
          </a:xfrm>
          <a:custGeom>
            <a:avLst/>
            <a:gdLst>
              <a:gd name="connsiteX0" fmla="*/ 7071 w 347321"/>
              <a:gd name="connsiteY0" fmla="*/ 213164 h 239381"/>
              <a:gd name="connsiteX1" fmla="*/ 34780 w 347321"/>
              <a:gd name="connsiteY1" fmla="*/ 130036 h 239381"/>
              <a:gd name="connsiteX2" fmla="*/ 53253 w 347321"/>
              <a:gd name="connsiteY2" fmla="*/ 65382 h 239381"/>
              <a:gd name="connsiteX3" fmla="*/ 80962 w 347321"/>
              <a:gd name="connsiteY3" fmla="*/ 46909 h 239381"/>
              <a:gd name="connsiteX4" fmla="*/ 99435 w 347321"/>
              <a:gd name="connsiteY4" fmla="*/ 19200 h 239381"/>
              <a:gd name="connsiteX5" fmla="*/ 284162 w 347321"/>
              <a:gd name="connsiteY5" fmla="*/ 19200 h 239381"/>
              <a:gd name="connsiteX6" fmla="*/ 311871 w 347321"/>
              <a:gd name="connsiteY6" fmla="*/ 37673 h 239381"/>
              <a:gd name="connsiteX7" fmla="*/ 330344 w 347321"/>
              <a:gd name="connsiteY7" fmla="*/ 102327 h 239381"/>
              <a:gd name="connsiteX8" fmla="*/ 311871 w 347321"/>
              <a:gd name="connsiteY8" fmla="*/ 203927 h 23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321" h="239381">
                <a:moveTo>
                  <a:pt x="7071" y="213164"/>
                </a:moveTo>
                <a:cubicBezTo>
                  <a:pt x="29203" y="124630"/>
                  <a:pt x="0" y="234375"/>
                  <a:pt x="34780" y="130036"/>
                </a:cubicBezTo>
                <a:cubicBezTo>
                  <a:pt x="35730" y="127187"/>
                  <a:pt x="48168" y="71738"/>
                  <a:pt x="53253" y="65382"/>
                </a:cubicBezTo>
                <a:cubicBezTo>
                  <a:pt x="60188" y="56714"/>
                  <a:pt x="71726" y="53067"/>
                  <a:pt x="80962" y="46909"/>
                </a:cubicBezTo>
                <a:cubicBezTo>
                  <a:pt x="87120" y="37673"/>
                  <a:pt x="88825" y="22465"/>
                  <a:pt x="99435" y="19200"/>
                </a:cubicBezTo>
                <a:cubicBezTo>
                  <a:pt x="161836" y="0"/>
                  <a:pt x="222136" y="12308"/>
                  <a:pt x="284162" y="19200"/>
                </a:cubicBezTo>
                <a:cubicBezTo>
                  <a:pt x="293398" y="25358"/>
                  <a:pt x="304936" y="29005"/>
                  <a:pt x="311871" y="37673"/>
                </a:cubicBezTo>
                <a:cubicBezTo>
                  <a:pt x="316688" y="43694"/>
                  <a:pt x="329741" y="99916"/>
                  <a:pt x="330344" y="102327"/>
                </a:cubicBezTo>
                <a:cubicBezTo>
                  <a:pt x="320745" y="217503"/>
                  <a:pt x="347321" y="239381"/>
                  <a:pt x="311871" y="203927"/>
                </a:cubicBez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3380653" y="4329118"/>
            <a:ext cx="166254" cy="92364"/>
          </a:xfrm>
          <a:custGeom>
            <a:avLst/>
            <a:gdLst>
              <a:gd name="connsiteX0" fmla="*/ 0 w 166254"/>
              <a:gd name="connsiteY0" fmla="*/ 0 h 92364"/>
              <a:gd name="connsiteX1" fmla="*/ 27709 w 166254"/>
              <a:gd name="connsiteY1" fmla="*/ 9236 h 92364"/>
              <a:gd name="connsiteX2" fmla="*/ 73891 w 166254"/>
              <a:gd name="connsiteY2" fmla="*/ 92364 h 92364"/>
              <a:gd name="connsiteX3" fmla="*/ 110836 w 166254"/>
              <a:gd name="connsiteY3" fmla="*/ 83127 h 92364"/>
              <a:gd name="connsiteX4" fmla="*/ 147782 w 166254"/>
              <a:gd name="connsiteY4" fmla="*/ 27709 h 92364"/>
              <a:gd name="connsiteX5" fmla="*/ 166254 w 166254"/>
              <a:gd name="connsiteY5" fmla="*/ 18473 h 92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254" h="92364">
                <a:moveTo>
                  <a:pt x="0" y="0"/>
                </a:moveTo>
                <a:cubicBezTo>
                  <a:pt x="9236" y="3079"/>
                  <a:pt x="20825" y="2352"/>
                  <a:pt x="27709" y="9236"/>
                </a:cubicBezTo>
                <a:cubicBezTo>
                  <a:pt x="59466" y="40994"/>
                  <a:pt x="62276" y="57521"/>
                  <a:pt x="73891" y="92364"/>
                </a:cubicBezTo>
                <a:cubicBezTo>
                  <a:pt x="86206" y="89285"/>
                  <a:pt x="101283" y="91486"/>
                  <a:pt x="110836" y="83127"/>
                </a:cubicBezTo>
                <a:cubicBezTo>
                  <a:pt x="127544" y="68507"/>
                  <a:pt x="127924" y="37638"/>
                  <a:pt x="147782" y="27709"/>
                </a:cubicBezTo>
                <a:lnTo>
                  <a:pt x="166254" y="18473"/>
                </a:ln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724891" y="4778664"/>
            <a:ext cx="1376218" cy="365536"/>
          </a:xfrm>
          <a:custGeom>
            <a:avLst/>
            <a:gdLst>
              <a:gd name="connsiteX0" fmla="*/ 1376218 w 1376218"/>
              <a:gd name="connsiteY0" fmla="*/ 110836 h 365536"/>
              <a:gd name="connsiteX1" fmla="*/ 1357745 w 1376218"/>
              <a:gd name="connsiteY1" fmla="*/ 184727 h 365536"/>
              <a:gd name="connsiteX2" fmla="*/ 1237673 w 1376218"/>
              <a:gd name="connsiteY2" fmla="*/ 304800 h 365536"/>
              <a:gd name="connsiteX3" fmla="*/ 1182254 w 1376218"/>
              <a:gd name="connsiteY3" fmla="*/ 314036 h 365536"/>
              <a:gd name="connsiteX4" fmla="*/ 1108364 w 1376218"/>
              <a:gd name="connsiteY4" fmla="*/ 341745 h 365536"/>
              <a:gd name="connsiteX5" fmla="*/ 822036 w 1376218"/>
              <a:gd name="connsiteY5" fmla="*/ 332509 h 365536"/>
              <a:gd name="connsiteX6" fmla="*/ 748145 w 1376218"/>
              <a:gd name="connsiteY6" fmla="*/ 314036 h 365536"/>
              <a:gd name="connsiteX7" fmla="*/ 692727 w 1376218"/>
              <a:gd name="connsiteY7" fmla="*/ 295563 h 365536"/>
              <a:gd name="connsiteX8" fmla="*/ 665018 w 1376218"/>
              <a:gd name="connsiteY8" fmla="*/ 286327 h 365536"/>
              <a:gd name="connsiteX9" fmla="*/ 600364 w 1376218"/>
              <a:gd name="connsiteY9" fmla="*/ 258618 h 365536"/>
              <a:gd name="connsiteX10" fmla="*/ 517236 w 1376218"/>
              <a:gd name="connsiteY10" fmla="*/ 221672 h 365536"/>
              <a:gd name="connsiteX11" fmla="*/ 452582 w 1376218"/>
              <a:gd name="connsiteY11" fmla="*/ 203200 h 365536"/>
              <a:gd name="connsiteX12" fmla="*/ 415636 w 1376218"/>
              <a:gd name="connsiteY12" fmla="*/ 184727 h 365536"/>
              <a:gd name="connsiteX13" fmla="*/ 387927 w 1376218"/>
              <a:gd name="connsiteY13" fmla="*/ 175491 h 365536"/>
              <a:gd name="connsiteX14" fmla="*/ 350982 w 1376218"/>
              <a:gd name="connsiteY14" fmla="*/ 157018 h 365536"/>
              <a:gd name="connsiteX15" fmla="*/ 286327 w 1376218"/>
              <a:gd name="connsiteY15" fmla="*/ 138545 h 365536"/>
              <a:gd name="connsiteX16" fmla="*/ 258618 w 1376218"/>
              <a:gd name="connsiteY16" fmla="*/ 120072 h 365536"/>
              <a:gd name="connsiteX17" fmla="*/ 184727 w 1376218"/>
              <a:gd name="connsiteY17" fmla="*/ 101600 h 365536"/>
              <a:gd name="connsiteX18" fmla="*/ 157018 w 1376218"/>
              <a:gd name="connsiteY18" fmla="*/ 92363 h 365536"/>
              <a:gd name="connsiteX19" fmla="*/ 129309 w 1376218"/>
              <a:gd name="connsiteY19" fmla="*/ 73891 h 365536"/>
              <a:gd name="connsiteX20" fmla="*/ 101600 w 1376218"/>
              <a:gd name="connsiteY20" fmla="*/ 64654 h 365536"/>
              <a:gd name="connsiteX21" fmla="*/ 46182 w 1376218"/>
              <a:gd name="connsiteY21" fmla="*/ 36945 h 365536"/>
              <a:gd name="connsiteX22" fmla="*/ 0 w 1376218"/>
              <a:gd name="connsiteY22" fmla="*/ 0 h 365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376218" h="365536">
                <a:moveTo>
                  <a:pt x="1376218" y="110836"/>
                </a:moveTo>
                <a:cubicBezTo>
                  <a:pt x="1370060" y="135466"/>
                  <a:pt x="1368384" y="161675"/>
                  <a:pt x="1357745" y="184727"/>
                </a:cubicBezTo>
                <a:cubicBezTo>
                  <a:pt x="1342403" y="217968"/>
                  <a:pt x="1251355" y="296591"/>
                  <a:pt x="1237673" y="304800"/>
                </a:cubicBezTo>
                <a:cubicBezTo>
                  <a:pt x="1221614" y="314435"/>
                  <a:pt x="1200727" y="310957"/>
                  <a:pt x="1182254" y="314036"/>
                </a:cubicBezTo>
                <a:cubicBezTo>
                  <a:pt x="1157624" y="323272"/>
                  <a:pt x="1133781" y="334967"/>
                  <a:pt x="1108364" y="341745"/>
                </a:cubicBezTo>
                <a:cubicBezTo>
                  <a:pt x="1019146" y="365536"/>
                  <a:pt x="899066" y="338928"/>
                  <a:pt x="822036" y="332509"/>
                </a:cubicBezTo>
                <a:cubicBezTo>
                  <a:pt x="737972" y="304486"/>
                  <a:pt x="870728" y="347468"/>
                  <a:pt x="748145" y="314036"/>
                </a:cubicBezTo>
                <a:cubicBezTo>
                  <a:pt x="729359" y="308913"/>
                  <a:pt x="711200" y="301721"/>
                  <a:pt x="692727" y="295563"/>
                </a:cubicBezTo>
                <a:cubicBezTo>
                  <a:pt x="683491" y="292484"/>
                  <a:pt x="673726" y="290681"/>
                  <a:pt x="665018" y="286327"/>
                </a:cubicBezTo>
                <a:cubicBezTo>
                  <a:pt x="542499" y="225066"/>
                  <a:pt x="695487" y="299385"/>
                  <a:pt x="600364" y="258618"/>
                </a:cubicBezTo>
                <a:cubicBezTo>
                  <a:pt x="544037" y="234478"/>
                  <a:pt x="581683" y="243154"/>
                  <a:pt x="517236" y="221672"/>
                </a:cubicBezTo>
                <a:cubicBezTo>
                  <a:pt x="495973" y="214584"/>
                  <a:pt x="473646" y="210860"/>
                  <a:pt x="452582" y="203200"/>
                </a:cubicBezTo>
                <a:cubicBezTo>
                  <a:pt x="439642" y="198495"/>
                  <a:pt x="428292" y="190151"/>
                  <a:pt x="415636" y="184727"/>
                </a:cubicBezTo>
                <a:cubicBezTo>
                  <a:pt x="406687" y="180892"/>
                  <a:pt x="396876" y="179326"/>
                  <a:pt x="387927" y="175491"/>
                </a:cubicBezTo>
                <a:cubicBezTo>
                  <a:pt x="375272" y="170067"/>
                  <a:pt x="363637" y="162442"/>
                  <a:pt x="350982" y="157018"/>
                </a:cubicBezTo>
                <a:cubicBezTo>
                  <a:pt x="332426" y="149065"/>
                  <a:pt x="305082" y="143234"/>
                  <a:pt x="286327" y="138545"/>
                </a:cubicBezTo>
                <a:cubicBezTo>
                  <a:pt x="277091" y="132387"/>
                  <a:pt x="269050" y="123866"/>
                  <a:pt x="258618" y="120072"/>
                </a:cubicBezTo>
                <a:cubicBezTo>
                  <a:pt x="234758" y="111396"/>
                  <a:pt x="208812" y="109629"/>
                  <a:pt x="184727" y="101600"/>
                </a:cubicBezTo>
                <a:cubicBezTo>
                  <a:pt x="175491" y="98521"/>
                  <a:pt x="165726" y="96717"/>
                  <a:pt x="157018" y="92363"/>
                </a:cubicBezTo>
                <a:cubicBezTo>
                  <a:pt x="147089" y="87399"/>
                  <a:pt x="139238" y="78855"/>
                  <a:pt x="129309" y="73891"/>
                </a:cubicBezTo>
                <a:cubicBezTo>
                  <a:pt x="120601" y="69537"/>
                  <a:pt x="110308" y="69008"/>
                  <a:pt x="101600" y="64654"/>
                </a:cubicBezTo>
                <a:cubicBezTo>
                  <a:pt x="29988" y="28847"/>
                  <a:pt x="115822" y="60158"/>
                  <a:pt x="46182" y="36945"/>
                </a:cubicBezTo>
                <a:cubicBezTo>
                  <a:pt x="13605" y="4368"/>
                  <a:pt x="30156" y="15077"/>
                  <a:pt x="0" y="0"/>
                </a:cubicBez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1743364" y="4806373"/>
            <a:ext cx="9236" cy="101600"/>
          </a:xfrm>
          <a:custGeom>
            <a:avLst/>
            <a:gdLst>
              <a:gd name="connsiteX0" fmla="*/ 0 w 9236"/>
              <a:gd name="connsiteY0" fmla="*/ 0 h 101600"/>
              <a:gd name="connsiteX1" fmla="*/ 9236 w 9236"/>
              <a:gd name="connsiteY1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36" h="101600">
                <a:moveTo>
                  <a:pt x="0" y="0"/>
                </a:moveTo>
                <a:lnTo>
                  <a:pt x="9236" y="101600"/>
                </a:ln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1752600" y="4757780"/>
            <a:ext cx="138545" cy="48593"/>
          </a:xfrm>
          <a:custGeom>
            <a:avLst/>
            <a:gdLst>
              <a:gd name="connsiteX0" fmla="*/ 0 w 138545"/>
              <a:gd name="connsiteY0" fmla="*/ 48593 h 48593"/>
              <a:gd name="connsiteX1" fmla="*/ 9236 w 138545"/>
              <a:gd name="connsiteY1" fmla="*/ 20884 h 48593"/>
              <a:gd name="connsiteX2" fmla="*/ 110836 w 138545"/>
              <a:gd name="connsiteY2" fmla="*/ 20884 h 48593"/>
              <a:gd name="connsiteX3" fmla="*/ 138545 w 138545"/>
              <a:gd name="connsiteY3" fmla="*/ 30120 h 4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45" h="48593">
                <a:moveTo>
                  <a:pt x="0" y="48593"/>
                </a:moveTo>
                <a:cubicBezTo>
                  <a:pt x="3079" y="39357"/>
                  <a:pt x="2352" y="27768"/>
                  <a:pt x="9236" y="20884"/>
                </a:cubicBezTo>
                <a:cubicBezTo>
                  <a:pt x="30119" y="0"/>
                  <a:pt x="104722" y="20120"/>
                  <a:pt x="110836" y="20884"/>
                </a:cubicBezTo>
                <a:lnTo>
                  <a:pt x="138545" y="30120"/>
                </a:ln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endCxn id="12" idx="2"/>
          </p:cNvCxnSpPr>
          <p:nvPr/>
        </p:nvCxnSpPr>
        <p:spPr>
          <a:xfrm flipV="1">
            <a:off x="762000" y="4648200"/>
            <a:ext cx="533400" cy="38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6"/>
            <a:endCxn id="13" idx="2"/>
          </p:cNvCxnSpPr>
          <p:nvPr/>
        </p:nvCxnSpPr>
        <p:spPr>
          <a:xfrm>
            <a:off x="1828800" y="46482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76400" y="415290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0</a:t>
            </a:r>
            <a:endParaRPr 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2133600" y="445770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1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2438400" y="491490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6600" y="396240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477000" y="4572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2600" y="36576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410200"/>
            <a:ext cx="3505200" cy="1295400"/>
          </a:xfrm>
          <a:prstGeom prst="rect">
            <a:avLst/>
          </a:prstGeom>
        </p:spPr>
      </p:pic>
      <p:pic>
        <p:nvPicPr>
          <p:cNvPr id="3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0" y="5324482"/>
            <a:ext cx="2590800" cy="15335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Finite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Autofit/>
          </a:bodyPr>
          <a:lstStyle/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tabLst>
                <a:tab pos="342900" algn="l"/>
                <a:tab pos="343535" algn="l"/>
              </a:tabLst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Finite automata are abstract machines used to recognize patterns in input sequences, forming the basis for understanding regular languages in computer science. 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buFont typeface="Wingdings" pitchFamily="2" charset="2"/>
              <a:buChar char="Ø"/>
              <a:tabLst>
                <a:tab pos="342900" algn="l"/>
                <a:tab pos="343535" algn="l"/>
              </a:tabLst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They consist of </a:t>
            </a: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states, transitions, and input symbols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, processing each symbol step-by-step. 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buFont typeface="Wingdings" pitchFamily="2" charset="2"/>
              <a:buChar char="Ø"/>
              <a:tabLst>
                <a:tab pos="342900" algn="l"/>
                <a:tab pos="343535" algn="l"/>
              </a:tabLst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If the machine ends in an accepting state after processing the input, it is accepted; otherwise, it is rejected.</a:t>
            </a:r>
          </a:p>
          <a:p>
            <a:pPr>
              <a:buNone/>
            </a:pP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Automata can be construct with help of </a:t>
            </a:r>
          </a:p>
          <a:p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States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: it represent as circle with state name.</a:t>
            </a:r>
          </a:p>
          <a:p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Transitions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: directed edge between two states.</a:t>
            </a:r>
          </a:p>
          <a:p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Initial state: 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state with an edge from no source.</a:t>
            </a:r>
          </a:p>
          <a:p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Final state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: represented as double circle with state name.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buNone/>
              <a:tabLst>
                <a:tab pos="342900" algn="l"/>
                <a:tab pos="343535" algn="l"/>
              </a:tabLst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Features of Finite Automata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tabLst>
                <a:tab pos="342900" algn="l"/>
                <a:tab pos="343535" algn="l"/>
              </a:tabLst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Input:  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Set of symbols or characters provided to the machine.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tabLst>
                <a:tab pos="342900" algn="l"/>
                <a:tab pos="343535" algn="l"/>
              </a:tabLst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  Accept or reject based on the input pattern.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tabLst>
                <a:tab pos="342900" algn="l"/>
                <a:tab pos="343535" algn="l"/>
              </a:tabLst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States of Automata:</a:t>
            </a:r>
            <a:r>
              <a:rPr lang="en-US" sz="15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The conditions or configurations of the machine.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tabLst>
                <a:tab pos="342900" algn="l"/>
                <a:tab pos="343535" algn="l"/>
              </a:tabLst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State Relation: 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The transitions between states.</a:t>
            </a:r>
          </a:p>
          <a:p>
            <a:pPr indent="-330835">
              <a:spcBef>
                <a:spcPts val="105"/>
              </a:spcBef>
              <a:buClr>
                <a:srgbClr val="2CA1BE"/>
              </a:buClr>
              <a:buSzPct val="75000"/>
              <a:tabLst>
                <a:tab pos="342900" algn="l"/>
                <a:tab pos="343535" algn="l"/>
              </a:tabLst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Output Relation:</a:t>
            </a:r>
            <a:r>
              <a:rPr lang="en-US" sz="1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Based on the final state, the output decision is made.</a:t>
            </a:r>
          </a:p>
        </p:txBody>
      </p:sp>
      <p:pic>
        <p:nvPicPr>
          <p:cNvPr id="4" name="Content Placeholder 4" descr="automata-300x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5814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Finite Automata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Finite automata can be represented by input tape and finite control.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Input tape: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It is a linear tape having some number of cells. Each input symbol is placed in each cell.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Finite control: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The finite control decides the next state on receiving particular input from input tape. The tape reader reads the cells one by one from left to right, and at a time only one input symbol is read.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Admin\Desktop\finite-automat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3581400"/>
            <a:ext cx="473075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spc="-5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Acceptance of String&amp; Language</a:t>
            </a:r>
            <a:r>
              <a:rPr lang="en-US" sz="3600" b="1" spc="-245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spc="-5" dirty="0" smtClean="0"/>
              <a:t>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6385" marR="440690" indent="-274320">
              <a:lnSpc>
                <a:spcPct val="100000"/>
              </a:lnSpc>
              <a:spcBef>
                <a:spcPts val="100"/>
              </a:spcBef>
            </a:pPr>
            <a:r>
              <a:rPr lang="en-US" sz="1600" dirty="0" smtClean="0">
                <a:latin typeface="Times New Roman"/>
                <a:cs typeface="Times New Roman"/>
              </a:rPr>
              <a:t>A</a:t>
            </a:r>
            <a:r>
              <a:rPr lang="en-US" sz="1600" spc="-13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St</a:t>
            </a:r>
            <a:r>
              <a:rPr lang="en-US" sz="1600" dirty="0" smtClean="0">
                <a:latin typeface="Times New Roman"/>
                <a:cs typeface="Times New Roman"/>
              </a:rPr>
              <a:t>ring</a:t>
            </a:r>
            <a:r>
              <a:rPr lang="en-US" sz="1600" spc="-2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is </a:t>
            </a:r>
            <a:r>
              <a:rPr lang="en-US" sz="1600" spc="5" dirty="0" smtClean="0">
                <a:latin typeface="Times New Roman"/>
                <a:cs typeface="Times New Roman"/>
              </a:rPr>
              <a:t>s</a:t>
            </a:r>
            <a:r>
              <a:rPr lang="en-US" sz="1600" dirty="0" smtClean="0">
                <a:latin typeface="Times New Roman"/>
                <a:cs typeface="Times New Roman"/>
              </a:rPr>
              <a:t>aid to</a:t>
            </a:r>
            <a:r>
              <a:rPr lang="en-US" sz="1600" spc="-1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be</a:t>
            </a:r>
            <a:r>
              <a:rPr lang="en-US" sz="1600" spc="-1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acc</a:t>
            </a:r>
            <a:r>
              <a:rPr lang="en-US" sz="1600" spc="5" dirty="0" smtClean="0">
                <a:latin typeface="Times New Roman"/>
                <a:cs typeface="Times New Roman"/>
              </a:rPr>
              <a:t>e</a:t>
            </a:r>
            <a:r>
              <a:rPr lang="en-US" sz="1600" dirty="0" smtClean="0">
                <a:latin typeface="Times New Roman"/>
                <a:cs typeface="Times New Roman"/>
              </a:rPr>
              <a:t>pted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by a </a:t>
            </a:r>
            <a:r>
              <a:rPr lang="en-US" sz="1600" spc="-185" dirty="0" smtClean="0">
                <a:latin typeface="Times New Roman"/>
                <a:cs typeface="Times New Roman"/>
              </a:rPr>
              <a:t>F</a:t>
            </a:r>
            <a:r>
              <a:rPr lang="en-US" sz="1600" dirty="0" smtClean="0">
                <a:latin typeface="Times New Roman"/>
                <a:cs typeface="Times New Roman"/>
              </a:rPr>
              <a:t>A</a:t>
            </a:r>
            <a:r>
              <a:rPr lang="en-US" sz="1600" spc="-13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M=</a:t>
            </a:r>
            <a:r>
              <a:rPr lang="en-US" sz="1600" spc="5" dirty="0" smtClean="0">
                <a:latin typeface="Times New Roman"/>
                <a:cs typeface="Times New Roman"/>
              </a:rPr>
              <a:t>(</a:t>
            </a:r>
            <a:r>
              <a:rPr lang="en-US" sz="1600" spc="-5" dirty="0" smtClean="0">
                <a:latin typeface="Times New Roman"/>
                <a:cs typeface="Times New Roman"/>
              </a:rPr>
              <a:t>Q,∑</a:t>
            </a:r>
            <a:r>
              <a:rPr lang="en-US" sz="1600" spc="15" dirty="0" smtClean="0">
                <a:latin typeface="Times New Roman"/>
                <a:cs typeface="Times New Roman"/>
              </a:rPr>
              <a:t>,</a:t>
            </a:r>
            <a:r>
              <a:rPr lang="en-US" sz="1600" spc="-5" dirty="0" smtClean="0">
                <a:latin typeface="Times New Roman"/>
                <a:cs typeface="Times New Roman"/>
              </a:rPr>
              <a:t>δ</a:t>
            </a:r>
            <a:r>
              <a:rPr lang="en-US" sz="1600" dirty="0" smtClean="0">
                <a:latin typeface="Times New Roman"/>
                <a:cs typeface="Times New Roman"/>
              </a:rPr>
              <a:t>,q0</a:t>
            </a:r>
            <a:r>
              <a:rPr lang="en-US" sz="1600" spc="-5" dirty="0" smtClean="0">
                <a:latin typeface="Times New Roman"/>
                <a:cs typeface="Times New Roman"/>
              </a:rPr>
              <a:t>,F)</a:t>
            </a:r>
            <a:r>
              <a:rPr lang="en-US" sz="1600" spc="5" dirty="0" smtClean="0">
                <a:latin typeface="Times New Roman"/>
                <a:cs typeface="Times New Roman"/>
              </a:rPr>
              <a:t> i</a:t>
            </a:r>
            <a:r>
              <a:rPr lang="en-US" sz="1600" dirty="0" smtClean="0">
                <a:latin typeface="Times New Roman"/>
                <a:cs typeface="Times New Roman"/>
              </a:rPr>
              <a:t>f  δ(q0,x)=p</a:t>
            </a:r>
            <a:r>
              <a:rPr lang="en-US" sz="1600" spc="-15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for</a:t>
            </a:r>
            <a:r>
              <a:rPr lang="en-US" sz="160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some</a:t>
            </a:r>
            <a:r>
              <a:rPr lang="en-US" sz="1600" spc="1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p</a:t>
            </a:r>
            <a:r>
              <a:rPr lang="en-US" sz="1600" spc="-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in</a:t>
            </a:r>
            <a:r>
              <a:rPr lang="en-US" sz="1600" spc="-15" dirty="0" smtClean="0">
                <a:latin typeface="Times New Roman"/>
                <a:cs typeface="Times New Roman"/>
              </a:rPr>
              <a:t> </a:t>
            </a:r>
            <a:r>
              <a:rPr lang="en-US" sz="1600" spc="-100" dirty="0" smtClean="0">
                <a:latin typeface="Times New Roman"/>
                <a:cs typeface="Times New Roman"/>
              </a:rPr>
              <a:t>F.</a:t>
            </a:r>
            <a:endParaRPr lang="en-US" sz="1600" dirty="0" smtClean="0">
              <a:latin typeface="Times New Roman"/>
              <a:cs typeface="Times New Roman"/>
            </a:endParaRPr>
          </a:p>
          <a:p>
            <a:pPr marL="286385" marR="7175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lang="en-US" sz="1600" spc="-5" dirty="0" smtClean="0">
                <a:latin typeface="Times New Roman"/>
                <a:cs typeface="Times New Roman"/>
              </a:rPr>
              <a:t>A</a:t>
            </a:r>
            <a:r>
              <a:rPr lang="en-US" sz="1600" spc="-14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language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is</a:t>
            </a:r>
            <a:r>
              <a:rPr lang="en-US" sz="1600" spc="-1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accepted</a:t>
            </a:r>
            <a:r>
              <a:rPr lang="en-US" sz="1600" spc="-4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if</a:t>
            </a:r>
            <a:r>
              <a:rPr lang="en-US" sz="1600" spc="-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all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the</a:t>
            </a:r>
            <a:r>
              <a:rPr lang="en-US" sz="1600" spc="-2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strings</a:t>
            </a:r>
            <a:r>
              <a:rPr lang="en-US" sz="1600" spc="-1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generated</a:t>
            </a:r>
            <a:r>
              <a:rPr lang="en-US" sz="1600" spc="-3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from</a:t>
            </a:r>
            <a:r>
              <a:rPr lang="en-US" sz="1600" spc="-2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the </a:t>
            </a:r>
            <a:r>
              <a:rPr lang="en-US" sz="1600" spc="-58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language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is</a:t>
            </a:r>
            <a:r>
              <a:rPr lang="en-US" sz="1600" dirty="0" smtClean="0">
                <a:latin typeface="Times New Roman"/>
                <a:cs typeface="Times New Roman"/>
              </a:rPr>
              <a:t> accepted.</a:t>
            </a: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lang="en-US" sz="1600" spc="-5" dirty="0" smtClean="0">
                <a:latin typeface="Times New Roman"/>
                <a:cs typeface="Times New Roman"/>
              </a:rPr>
              <a:t>A</a:t>
            </a:r>
            <a:r>
              <a:rPr lang="en-US" sz="1600" spc="-13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language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is</a:t>
            </a:r>
            <a:r>
              <a:rPr lang="en-US" sz="1600" dirty="0" smtClean="0">
                <a:latin typeface="Times New Roman"/>
                <a:cs typeface="Times New Roman"/>
              </a:rPr>
              <a:t> said</a:t>
            </a:r>
            <a:r>
              <a:rPr lang="en-US" sz="1600" spc="-1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to</a:t>
            </a:r>
            <a:r>
              <a:rPr lang="en-US" sz="1600" spc="-1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be</a:t>
            </a:r>
            <a:r>
              <a:rPr lang="en-US" sz="1600" spc="-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regular</a:t>
            </a:r>
            <a:r>
              <a:rPr lang="en-US" sz="1600" spc="-4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if it</a:t>
            </a:r>
            <a:r>
              <a:rPr lang="en-US" sz="1600" spc="-25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is</a:t>
            </a:r>
            <a:r>
              <a:rPr lang="en-US" sz="1600" dirty="0" smtClean="0">
                <a:latin typeface="Times New Roman"/>
                <a:cs typeface="Times New Roman"/>
              </a:rPr>
              <a:t> the</a:t>
            </a:r>
            <a:r>
              <a:rPr lang="en-US" sz="1600" spc="-15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set</a:t>
            </a:r>
            <a:r>
              <a:rPr lang="en-US" sz="1600" spc="-2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accepted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by</a:t>
            </a:r>
            <a:r>
              <a:rPr lang="en-US" sz="1600" spc="-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a </a:t>
            </a:r>
            <a:r>
              <a:rPr lang="en-US" sz="1600" spc="-585" dirty="0" smtClean="0">
                <a:latin typeface="Times New Roman"/>
                <a:cs typeface="Times New Roman"/>
              </a:rPr>
              <a:t> </a:t>
            </a:r>
            <a:r>
              <a:rPr lang="en-US" sz="1600" spc="-95" dirty="0" smtClean="0">
                <a:latin typeface="Times New Roman"/>
                <a:cs typeface="Times New Roman"/>
              </a:rPr>
              <a:t>FA</a:t>
            </a:r>
            <a:r>
              <a:rPr lang="en-US" sz="1600" spc="-13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M(Finite Automata Machine).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US" sz="1600" dirty="0" smtClean="0">
                <a:latin typeface="Times New Roman"/>
                <a:cs typeface="Times New Roman"/>
              </a:rPr>
              <a:t>Ex:</a:t>
            </a:r>
            <a:r>
              <a:rPr lang="en-US" sz="1600" spc="-15" dirty="0" smtClean="0">
                <a:latin typeface="Times New Roman"/>
                <a:cs typeface="Times New Roman"/>
              </a:rPr>
              <a:t> </a:t>
            </a:r>
            <a:r>
              <a:rPr lang="en-US" sz="1600" spc="-20" dirty="0" smtClean="0">
                <a:latin typeface="Times New Roman"/>
                <a:cs typeface="Times New Roman"/>
              </a:rPr>
              <a:t>δ(q0,111)=</a:t>
            </a:r>
            <a:r>
              <a:rPr lang="en-US" sz="1600" spc="-25" dirty="0" smtClean="0">
                <a:latin typeface="Times New Roman"/>
                <a:cs typeface="Times New Roman"/>
              </a:rPr>
              <a:t> </a:t>
            </a:r>
            <a:r>
              <a:rPr lang="en-US" sz="1600" spc="-10" dirty="0" smtClean="0">
                <a:latin typeface="Times New Roman"/>
                <a:cs typeface="Times New Roman"/>
              </a:rPr>
              <a:t>δ(δ(δ(q0,1),11)</a:t>
            </a:r>
            <a:endParaRPr lang="en-US" sz="1600" dirty="0" smtClean="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  <a:spcBef>
                <a:spcPts val="600"/>
              </a:spcBef>
            </a:pPr>
            <a:r>
              <a:rPr lang="en-US" sz="1600" dirty="0" smtClean="0">
                <a:latin typeface="Times New Roman"/>
                <a:cs typeface="Times New Roman"/>
              </a:rPr>
              <a:t>=</a:t>
            </a:r>
            <a:r>
              <a:rPr lang="en-US" sz="1600" spc="-15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δ(δ(q0,1),1)</a:t>
            </a:r>
            <a:endParaRPr lang="en-US" sz="1600" dirty="0" smtClean="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  <a:spcBef>
                <a:spcPts val="600"/>
              </a:spcBef>
            </a:pPr>
            <a:r>
              <a:rPr lang="en-US" sz="1600" dirty="0" smtClean="0">
                <a:latin typeface="Times New Roman"/>
                <a:cs typeface="Times New Roman"/>
              </a:rPr>
              <a:t>=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δ(q1,1)</a:t>
            </a:r>
          </a:p>
          <a:p>
            <a:pPr marL="1840864">
              <a:lnSpc>
                <a:spcPct val="100000"/>
              </a:lnSpc>
              <a:spcBef>
                <a:spcPts val="600"/>
              </a:spcBef>
            </a:pPr>
            <a:r>
              <a:rPr lang="en-US" sz="1600" dirty="0" smtClean="0">
                <a:latin typeface="Times New Roman"/>
                <a:cs typeface="Times New Roman"/>
              </a:rPr>
              <a:t>=</a:t>
            </a:r>
            <a:r>
              <a:rPr lang="en-US" sz="1600" spc="-3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q2</a:t>
            </a:r>
            <a:r>
              <a:rPr lang="en-US" sz="1600" spc="-2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Times New Roman"/>
                <a:cs typeface="Times New Roman"/>
              </a:rPr>
              <a:t>ϵ</a:t>
            </a:r>
            <a:r>
              <a:rPr lang="en-US" sz="1600" spc="-3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F </a:t>
            </a:r>
            <a:r>
              <a:rPr lang="en-US" sz="1600" spc="-585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String</a:t>
            </a:r>
            <a:r>
              <a:rPr lang="en-US" sz="1600" spc="-20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smtClean="0">
                <a:latin typeface="Times New Roman"/>
                <a:cs typeface="Times New Roman"/>
              </a:rPr>
              <a:t>is </a:t>
            </a:r>
            <a:r>
              <a:rPr lang="en-US" sz="1600" dirty="0" smtClean="0">
                <a:latin typeface="Times New Roman"/>
                <a:cs typeface="Times New Roman"/>
              </a:rPr>
              <a:t>accepted.</a:t>
            </a:r>
          </a:p>
          <a:p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Acceptance of Strings: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Scan the entire String, if the input string reaches to the final state from initial state in a given Finite Automata(either DFA or NFA) then it is said to be string is accepted.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Acceptance of language: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 language is said to be accepted, if all the strings in the language are accepted and some strings not in the language are rejected in Finite Automata(FA).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 smtClean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Chomsky hierarchy of languages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According to </a:t>
            </a:r>
            <a:r>
              <a:rPr lang="en-US" sz="2200" smtClean="0">
                <a:latin typeface="Times New Roman" pitchFamily="18" charset="0"/>
                <a:cs typeface="Times New Roman" pitchFamily="18" charset="0"/>
              </a:rPr>
              <a:t>Noam Chomsky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there are four types of grammars − Type 0, Type 1, Type 2, and Type 3. The following table shows how they differ from each other −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209800"/>
          <a:ext cx="72390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753750"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/>
                        <a:t>Grammar 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/>
                        <a:t>Grammar Accepted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/>
                        <a:t>Language Accepted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/>
                        <a:t>Automaton</a:t>
                      </a:r>
                      <a:endParaRPr lang="en-US">
                        <a:solidFill>
                          <a:srgbClr val="000000"/>
                        </a:solidFill>
                      </a:endParaRPr>
                    </a:p>
                  </a:txBody>
                  <a:tcPr marL="76200" marR="76200" marT="76200" marB="76200"/>
                </a:tc>
              </a:tr>
              <a:tr h="1048695"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Type 0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Unrestricted grammar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Recursively enumerable language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Turing Machine</a:t>
                      </a:r>
                    </a:p>
                  </a:txBody>
                  <a:tcPr marL="76200" marR="76200" marT="76200" marB="76200"/>
                </a:tc>
              </a:tr>
              <a:tr h="1048695"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Type 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Context-sensitive grammar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Context-sensitive language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Linear-bounded automaton</a:t>
                      </a:r>
                    </a:p>
                  </a:txBody>
                  <a:tcPr marL="76200" marR="76200" marT="76200" marB="76200"/>
                </a:tc>
              </a:tr>
              <a:tr h="753750"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Type 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Context-free grammar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Context-free language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Pushdown automaton</a:t>
                      </a:r>
                    </a:p>
                  </a:txBody>
                  <a:tcPr marL="76200" marR="76200" marT="76200" marB="76200"/>
                </a:tc>
              </a:tr>
              <a:tr h="753750"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Type 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/>
                        <a:t>Regular grammar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Regular language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/>
                        <a:t>Finite state automaton</a:t>
                      </a: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 smtClean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Chomsky hierarchy of languages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Take a look at the following illustration. It shows the scope of each type of grammar −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snist\Desktop\containment_of_type3_type2_type1_type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057400"/>
            <a:ext cx="6248400" cy="46053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 smtClean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Chomsky hierarchy of languages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400" b="1" dirty="0"/>
              <a:t>Type 3: Regular </a:t>
            </a:r>
            <a:r>
              <a:rPr lang="en-US" sz="2400" b="1" dirty="0" smtClean="0"/>
              <a:t>Grammar:</a:t>
            </a:r>
            <a:r>
              <a:rPr lang="en-US" sz="2400" dirty="0"/>
              <a:t>Type-3 grammars generate regular languages</a:t>
            </a:r>
            <a:r>
              <a:rPr lang="en-US" sz="2400" dirty="0" smtClean="0"/>
              <a:t>.</a:t>
            </a:r>
          </a:p>
          <a:p>
            <a:pPr fontAlgn="base"/>
            <a:r>
              <a:rPr lang="en-US" sz="2400" dirty="0"/>
              <a:t>These languages are exactly all languages that can be accepted by a finite-state automaton. Type 3 is the most restricted form of grammar. </a:t>
            </a:r>
          </a:p>
          <a:p>
            <a:pPr fontAlgn="base"/>
            <a:r>
              <a:rPr lang="en-US" sz="2400" dirty="0"/>
              <a:t>Type 3 should be in the given form only : </a:t>
            </a:r>
          </a:p>
          <a:p>
            <a:pPr fontAlgn="base"/>
            <a:r>
              <a:rPr lang="en-US" sz="2400" b="1" dirty="0" smtClean="0"/>
              <a:t>V --&gt; VT / T </a:t>
            </a:r>
            <a:r>
              <a:rPr lang="en-US" sz="2400" dirty="0" smtClean="0"/>
              <a:t>(left-regular grammar)</a:t>
            </a:r>
            <a:br>
              <a:rPr lang="en-US" sz="2400" dirty="0" smtClean="0"/>
            </a:br>
            <a:r>
              <a:rPr lang="en-US" sz="2400" dirty="0" smtClean="0"/>
              <a:t>(or)</a:t>
            </a:r>
            <a:br>
              <a:rPr lang="en-US" sz="2400" dirty="0" smtClean="0"/>
            </a:br>
            <a:r>
              <a:rPr lang="en-US" sz="2400" dirty="0" smtClean="0"/>
              <a:t>V --&gt; TV /T (right-regular grammar)</a:t>
            </a:r>
            <a:br>
              <a:rPr lang="en-US" sz="2400" dirty="0" smtClean="0"/>
            </a:br>
            <a:r>
              <a:rPr lang="en-US" sz="2400" dirty="0"/>
              <a:t>For example:</a:t>
            </a:r>
          </a:p>
          <a:p>
            <a:pPr fontAlgn="base"/>
            <a:r>
              <a:rPr lang="en-US" sz="2400" dirty="0" smtClean="0"/>
              <a:t>S --&gt; a</a:t>
            </a:r>
            <a:br>
              <a:rPr lang="en-US" sz="2400" dirty="0" smtClean="0"/>
            </a:br>
            <a:r>
              <a:rPr lang="en-US" sz="2400" dirty="0"/>
              <a:t>The above form is called strictly regular grammar.</a:t>
            </a:r>
          </a:p>
          <a:p>
            <a:pPr fontAlgn="base"/>
            <a:r>
              <a:rPr lang="en-US" sz="2400" dirty="0"/>
              <a:t>There is another form of regular grammar called extended regular grammar. In this form:</a:t>
            </a:r>
          </a:p>
          <a:p>
            <a:pPr fontAlgn="base"/>
            <a:r>
              <a:rPr lang="en-US" sz="2400" dirty="0" smtClean="0"/>
              <a:t>V --&gt; VT* / T*.  (extended left-regular grammar)</a:t>
            </a:r>
            <a:br>
              <a:rPr lang="en-US" sz="2400" dirty="0" smtClean="0"/>
            </a:br>
            <a:r>
              <a:rPr lang="en-US" sz="2400" dirty="0" smtClean="0"/>
              <a:t>(or) </a:t>
            </a:r>
            <a:br>
              <a:rPr lang="en-US" sz="2400" dirty="0" smtClean="0"/>
            </a:br>
            <a:r>
              <a:rPr lang="en-US" sz="2400" dirty="0" smtClean="0"/>
              <a:t>V --&gt; T*V /T*  (extended right-regular grammar)</a:t>
            </a:r>
            <a:br>
              <a:rPr lang="en-US" sz="2400" dirty="0" smtClean="0"/>
            </a:br>
            <a:r>
              <a:rPr lang="en-US" sz="2400" dirty="0"/>
              <a:t>For example : </a:t>
            </a:r>
          </a:p>
          <a:p>
            <a:r>
              <a:rPr lang="en-US" sz="2400" dirty="0" smtClean="0"/>
              <a:t>S --&gt; ab.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 smtClean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Chomsky hierarchy of languages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/>
              <a:t>Type 2: Context-Free Grammar</a:t>
            </a:r>
            <a:r>
              <a:rPr lang="en-US" sz="2400" b="1" dirty="0" smtClean="0"/>
              <a:t>:</a:t>
            </a:r>
          </a:p>
          <a:p>
            <a:r>
              <a:rPr lang="en-US" sz="2400" dirty="0"/>
              <a:t>Type-2 grammars generate context-free languages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The language generated by the grammar is recognized by a </a:t>
            </a:r>
            <a:r>
              <a:rPr lang="en-US" sz="2400" u="sng" dirty="0">
                <a:hlinkClick r:id="rId2"/>
              </a:rPr>
              <a:t>Pushdown </a:t>
            </a:r>
            <a:r>
              <a:rPr lang="en-US" sz="2400" u="sng" dirty="0" smtClean="0">
                <a:hlinkClick r:id="rId2"/>
              </a:rPr>
              <a:t>automata</a:t>
            </a:r>
            <a:endParaRPr lang="en-US" sz="2400" u="sng" dirty="0" smtClean="0"/>
          </a:p>
          <a:p>
            <a:pPr fontAlgn="base"/>
            <a:r>
              <a:rPr lang="en-US" sz="2400" dirty="0"/>
              <a:t>In Type 2:</a:t>
            </a:r>
          </a:p>
          <a:p>
            <a:pPr fontAlgn="base"/>
            <a:r>
              <a:rPr lang="en-US" sz="2400" dirty="0"/>
              <a:t>First of all, it should be Type 1. </a:t>
            </a:r>
          </a:p>
          <a:p>
            <a:pPr fontAlgn="base"/>
            <a:r>
              <a:rPr lang="en-US" sz="2400" dirty="0"/>
              <a:t>The left-hand side of production can have only one variable and there is no restriction on </a:t>
            </a:r>
            <a:r>
              <a:rPr lang="en-US" sz="2400" i="1" dirty="0" smtClean="0"/>
              <a:t>β</a:t>
            </a:r>
            <a:r>
              <a:rPr lang="en-US" sz="2400" dirty="0"/>
              <a:t> </a:t>
            </a:r>
            <a:endParaRPr lang="en-US" sz="2400" dirty="0" smtClean="0"/>
          </a:p>
          <a:p>
            <a:pPr fontAlgn="base"/>
            <a:r>
              <a:rPr lang="en-US" sz="2400" dirty="0"/>
              <a:t>∣</a:t>
            </a:r>
            <a:r>
              <a:rPr lang="en-US" sz="2400" i="1" dirty="0"/>
              <a:t>α</a:t>
            </a:r>
            <a:r>
              <a:rPr lang="en-US" sz="2400" dirty="0"/>
              <a:t>∣=1.  </a:t>
            </a:r>
          </a:p>
          <a:p>
            <a:pPr fontAlgn="base"/>
            <a:r>
              <a:rPr lang="en-US" sz="2400" dirty="0"/>
              <a:t>For example:</a:t>
            </a:r>
          </a:p>
          <a:p>
            <a:r>
              <a:rPr lang="en-US" sz="2400" dirty="0" smtClean="0"/>
              <a:t>S --&gt; AB </a:t>
            </a:r>
            <a:br>
              <a:rPr lang="en-US" sz="2400" dirty="0" smtClean="0"/>
            </a:br>
            <a:r>
              <a:rPr lang="en-US" sz="2400" dirty="0" smtClean="0"/>
              <a:t>A --&gt; a </a:t>
            </a:r>
            <a:br>
              <a:rPr lang="en-US" sz="2400" dirty="0" smtClean="0"/>
            </a:br>
            <a:r>
              <a:rPr lang="en-US" sz="2400" dirty="0" smtClean="0"/>
              <a:t>B --&gt; b </a:t>
            </a:r>
            <a:endParaRPr lang="en-US" sz="2400" dirty="0"/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 smtClean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Chomsky hierarchy of languages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b="1" dirty="0"/>
              <a:t>Type 1: </a:t>
            </a:r>
            <a:r>
              <a:rPr lang="en-US" sz="2400" dirty="0"/>
              <a:t>Context-Sensitive </a:t>
            </a:r>
            <a:r>
              <a:rPr lang="en-US" sz="2400" dirty="0" smtClean="0"/>
              <a:t>Grammar:</a:t>
            </a:r>
          </a:p>
          <a:p>
            <a:r>
              <a:rPr lang="en-US" sz="2400" dirty="0" smtClean="0"/>
              <a:t>Type-1 </a:t>
            </a:r>
            <a:r>
              <a:rPr lang="en-US" sz="2400" dirty="0"/>
              <a:t>grammars generate context-sensitive languages.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language generated by the grammar is recognized by the </a:t>
            </a:r>
            <a:r>
              <a:rPr lang="en-US" sz="2400" u="sng" dirty="0" smtClean="0">
                <a:hlinkClick r:id="rId2"/>
              </a:rPr>
              <a:t>Linear Bound Automata</a:t>
            </a:r>
            <a:r>
              <a:rPr lang="en-US" sz="2400" dirty="0" smtClean="0"/>
              <a:t> </a:t>
            </a:r>
          </a:p>
          <a:p>
            <a:pPr fontAlgn="base"/>
            <a:r>
              <a:rPr lang="en-US" sz="2400" dirty="0"/>
              <a:t>In Type 1 </a:t>
            </a:r>
          </a:p>
          <a:p>
            <a:pPr fontAlgn="base"/>
            <a:r>
              <a:rPr lang="en-US" sz="2400" dirty="0"/>
              <a:t>First of all Type 1 grammar should be Type 0. </a:t>
            </a:r>
            <a:endParaRPr lang="en-US" sz="2400" dirty="0" smtClean="0"/>
          </a:p>
          <a:p>
            <a:pPr fontAlgn="base"/>
            <a:r>
              <a:rPr lang="en-US" sz="2400" dirty="0" smtClean="0"/>
              <a:t>The </a:t>
            </a:r>
            <a:r>
              <a:rPr lang="en-US" sz="2400" dirty="0" err="1" smtClean="0"/>
              <a:t>no.of</a:t>
            </a:r>
            <a:r>
              <a:rPr lang="en-US" sz="2400" dirty="0" smtClean="0"/>
              <a:t> symbols on the left side of the production cannot more than </a:t>
            </a:r>
            <a:r>
              <a:rPr lang="en-US" sz="2400" dirty="0" err="1" smtClean="0"/>
              <a:t>no.of</a:t>
            </a:r>
            <a:r>
              <a:rPr lang="en-US" sz="2400" dirty="0" smtClean="0"/>
              <a:t> symbols on the right side of the production.</a:t>
            </a:r>
            <a:endParaRPr lang="en-US" sz="2400" dirty="0"/>
          </a:p>
          <a:p>
            <a:pPr fontAlgn="base"/>
            <a:r>
              <a:rPr lang="en-US" sz="2400" dirty="0"/>
              <a:t>Grammar Production in the form of </a:t>
            </a:r>
          </a:p>
          <a:p>
            <a:r>
              <a:rPr lang="el-GR" sz="2400" i="1" dirty="0"/>
              <a:t>α</a:t>
            </a:r>
            <a:r>
              <a:rPr lang="el-GR" sz="2400" dirty="0"/>
              <a:t>→</a:t>
            </a:r>
            <a:r>
              <a:rPr lang="el-GR" sz="2400" i="1" dirty="0"/>
              <a:t>β</a:t>
            </a:r>
            <a:r>
              <a:rPr lang="el-GR" sz="2400" dirty="0" smtClean="0"/>
              <a:t/>
            </a:r>
            <a:br>
              <a:rPr lang="el-GR" sz="2400" dirty="0" smtClean="0"/>
            </a:br>
            <a:r>
              <a:rPr lang="el-GR" sz="2400" dirty="0" smtClean="0"/>
              <a:t>∣</a:t>
            </a:r>
            <a:r>
              <a:rPr lang="el-GR" sz="2400" i="1" dirty="0"/>
              <a:t>α</a:t>
            </a:r>
            <a:r>
              <a:rPr lang="el-GR" sz="2400" dirty="0"/>
              <a:t>∣&lt;=∣</a:t>
            </a:r>
            <a:r>
              <a:rPr lang="el-GR" sz="2400" i="1" dirty="0"/>
              <a:t>β</a:t>
            </a:r>
            <a:r>
              <a:rPr lang="el-GR" sz="2400" dirty="0" smtClean="0"/>
              <a:t>∣</a:t>
            </a:r>
            <a:endParaRPr lang="en-US" sz="2400" dirty="0" smtClean="0"/>
          </a:p>
          <a:p>
            <a:pPr fontAlgn="base"/>
            <a:r>
              <a:rPr lang="en-US" sz="2400" dirty="0"/>
              <a:t>For Example:</a:t>
            </a:r>
          </a:p>
          <a:p>
            <a:r>
              <a:rPr lang="en-US" sz="2400" dirty="0" smtClean="0"/>
              <a:t>S --&gt; AB</a:t>
            </a:r>
            <a:br>
              <a:rPr lang="en-US" sz="2400" dirty="0" smtClean="0"/>
            </a:br>
            <a:r>
              <a:rPr lang="en-US" sz="2400" dirty="0" smtClean="0"/>
              <a:t>AB --&gt; </a:t>
            </a:r>
            <a:r>
              <a:rPr lang="en-US" sz="2400" dirty="0" err="1" smtClean="0"/>
              <a:t>abc</a:t>
            </a:r>
            <a:r>
              <a:rPr lang="en-US" sz="2400" dirty="0" smtClean="0"/>
              <a:t> </a:t>
            </a:r>
            <a:br>
              <a:rPr lang="en-US" sz="2400" dirty="0" smtClean="0"/>
            </a:br>
            <a:r>
              <a:rPr lang="en-US" sz="2400" dirty="0" smtClean="0"/>
              <a:t>B --&gt; b 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 smtClean="0"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Chomsky hierarchy of languages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b="1" dirty="0"/>
              <a:t>Type 0: Unrestricted Grammar: </a:t>
            </a:r>
            <a:endParaRPr lang="en-US" sz="2400" dirty="0" smtClean="0"/>
          </a:p>
          <a:p>
            <a:r>
              <a:rPr lang="en-US" sz="2400" dirty="0" smtClean="0"/>
              <a:t>Type-0 </a:t>
            </a:r>
            <a:r>
              <a:rPr lang="en-US" sz="2400" dirty="0"/>
              <a:t>grammars include all formal grammar. Type 0 grammar languages are recognized by </a:t>
            </a:r>
            <a:r>
              <a:rPr lang="en-US" sz="2400" dirty="0" smtClean="0"/>
              <a:t>Turing </a:t>
            </a:r>
            <a:r>
              <a:rPr lang="en-US" sz="2400" dirty="0"/>
              <a:t>machine. These languages are also known as the Recursively Enumerable languages</a:t>
            </a:r>
            <a:r>
              <a:rPr lang="en-US" sz="2400" dirty="0" smtClean="0"/>
              <a:t>.</a:t>
            </a:r>
          </a:p>
          <a:p>
            <a:pPr fontAlgn="base"/>
            <a:r>
              <a:rPr lang="en-US" sz="2400" dirty="0"/>
              <a:t>Grammar Production in the form of    </a:t>
            </a:r>
            <a:r>
              <a:rPr lang="en-US" sz="2400" i="1" dirty="0" err="1"/>
              <a:t>α</a:t>
            </a:r>
            <a:r>
              <a:rPr lang="en-US" sz="2400" dirty="0" err="1"/>
              <a:t>→</a:t>
            </a:r>
            <a:r>
              <a:rPr lang="en-US" sz="2400" i="1" dirty="0" err="1"/>
              <a:t>β</a:t>
            </a:r>
            <a:r>
              <a:rPr lang="en-US" sz="2400" dirty="0"/>
              <a:t>  where </a:t>
            </a:r>
          </a:p>
          <a:p>
            <a:pPr fontAlgn="base"/>
            <a:r>
              <a:rPr lang="en-US" sz="2400" i="1" dirty="0" smtClean="0"/>
              <a:t>α</a:t>
            </a:r>
            <a:r>
              <a:rPr lang="en-US" sz="2400" dirty="0" smtClean="0"/>
              <a:t> is ( V + T)* V ( V + T)* </a:t>
            </a:r>
            <a:br>
              <a:rPr lang="en-US" sz="2400" dirty="0" smtClean="0"/>
            </a:br>
            <a:r>
              <a:rPr lang="en-US" sz="2400" dirty="0" smtClean="0"/>
              <a:t>V : Variables </a:t>
            </a:r>
            <a:br>
              <a:rPr lang="en-US" sz="2400" dirty="0" smtClean="0"/>
            </a:br>
            <a:r>
              <a:rPr lang="en-US" sz="2400" dirty="0" smtClean="0"/>
              <a:t>T : Terminals. </a:t>
            </a:r>
            <a:endParaRPr lang="en-US" sz="2400" dirty="0"/>
          </a:p>
          <a:p>
            <a:r>
              <a:rPr lang="en-US" sz="2400" i="1" dirty="0" smtClean="0"/>
              <a:t>β</a:t>
            </a:r>
            <a:r>
              <a:rPr lang="en-US" sz="2400" dirty="0" smtClean="0"/>
              <a:t> is ( V + T )*. </a:t>
            </a:r>
          </a:p>
          <a:p>
            <a:pPr fontAlgn="base"/>
            <a:r>
              <a:rPr lang="en-US" sz="2400" dirty="0"/>
              <a:t>In type 0 there must be at least one variable on the Left side of production. </a:t>
            </a:r>
          </a:p>
          <a:p>
            <a:pPr fontAlgn="base"/>
            <a:r>
              <a:rPr lang="en-US" sz="2400" dirty="0"/>
              <a:t>For example: </a:t>
            </a:r>
          </a:p>
          <a:p>
            <a:pPr fontAlgn="base"/>
            <a:r>
              <a:rPr lang="en-US" sz="2400" dirty="0" err="1" smtClean="0"/>
              <a:t>Sab</a:t>
            </a:r>
            <a:r>
              <a:rPr lang="en-US" sz="2400" dirty="0" smtClean="0"/>
              <a:t> --&gt; </a:t>
            </a:r>
            <a:r>
              <a:rPr lang="en-US" sz="2400" dirty="0" err="1" smtClean="0"/>
              <a:t>ba</a:t>
            </a:r>
            <a:r>
              <a:rPr lang="en-US" sz="2400" dirty="0" smtClean="0"/>
              <a:t> </a:t>
            </a:r>
            <a:br>
              <a:rPr lang="en-US" sz="2400" dirty="0" smtClean="0"/>
            </a:br>
            <a:r>
              <a:rPr lang="en-US" sz="2400" dirty="0" smtClean="0"/>
              <a:t>A --&gt; S</a:t>
            </a:r>
          </a:p>
          <a:p>
            <a:pPr fontAlgn="base"/>
            <a:r>
              <a:rPr lang="en-US" sz="2400" dirty="0" smtClean="0"/>
              <a:t>Here</a:t>
            </a:r>
            <a:r>
              <a:rPr lang="en-US" sz="2400" dirty="0"/>
              <a:t>, Variables are S, A, and Terminals a, b. 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5" dirty="0" smtClean="0">
                <a:solidFill>
                  <a:schemeClr val="accent2"/>
                </a:solidFill>
              </a:rPr>
              <a:t>Fin</a:t>
            </a:r>
            <a:r>
              <a:rPr lang="en-US" b="1" spc="5" dirty="0" smtClean="0">
                <a:solidFill>
                  <a:schemeClr val="accent2"/>
                </a:solidFill>
              </a:rPr>
              <a:t>i</a:t>
            </a:r>
            <a:r>
              <a:rPr lang="en-US" b="1" spc="-5" dirty="0" smtClean="0">
                <a:solidFill>
                  <a:schemeClr val="accent2"/>
                </a:solidFill>
              </a:rPr>
              <a:t>te</a:t>
            </a:r>
            <a:r>
              <a:rPr lang="en-US" b="1" spc="-225" dirty="0" smtClean="0">
                <a:solidFill>
                  <a:schemeClr val="accent2"/>
                </a:solidFill>
              </a:rPr>
              <a:t> </a:t>
            </a:r>
            <a:r>
              <a:rPr lang="en-US" b="1" spc="-5" dirty="0" smtClean="0">
                <a:solidFill>
                  <a:schemeClr val="accent2"/>
                </a:solidFill>
              </a:rPr>
              <a:t>Aut</a:t>
            </a:r>
            <a:r>
              <a:rPr lang="en-US" b="1" dirty="0" smtClean="0">
                <a:solidFill>
                  <a:schemeClr val="accent2"/>
                </a:solidFill>
              </a:rPr>
              <a:t>o</a:t>
            </a:r>
            <a:r>
              <a:rPr lang="en-US" b="1" spc="-5" dirty="0" smtClean="0">
                <a:solidFill>
                  <a:schemeClr val="accent2"/>
                </a:solidFill>
              </a:rPr>
              <a:t>mata Types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>
                <a:latin typeface="Times New Roman"/>
                <a:cs typeface="Times New Roman"/>
              </a:rPr>
              <a:t>There</a:t>
            </a:r>
            <a:r>
              <a:rPr lang="en-US" spc="-2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are</a:t>
            </a:r>
            <a:r>
              <a:rPr lang="en-US" spc="-25" dirty="0" smtClean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two</a:t>
            </a:r>
            <a:r>
              <a:rPr lang="en-US" spc="-1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types</a:t>
            </a:r>
            <a:r>
              <a:rPr lang="en-US" spc="-2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of</a:t>
            </a:r>
            <a:r>
              <a:rPr lang="en-US" spc="-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finite</a:t>
            </a:r>
            <a:r>
              <a:rPr lang="en-US" spc="-30" dirty="0" smtClean="0">
                <a:latin typeface="Times New Roman"/>
                <a:cs typeface="Times New Roman"/>
              </a:rPr>
              <a:t> </a:t>
            </a:r>
            <a:r>
              <a:rPr lang="en-US" spc="-5" dirty="0" smtClean="0">
                <a:latin typeface="Times New Roman"/>
                <a:cs typeface="Times New Roman"/>
              </a:rPr>
              <a:t>automata</a:t>
            </a:r>
            <a:endParaRPr lang="en-US" sz="4400" dirty="0" smtClean="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buClr>
                <a:srgbClr val="2CA1BE"/>
              </a:buClr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Dete</a:t>
            </a:r>
            <a:r>
              <a:rPr lang="en-US" spc="5" dirty="0" smtClean="0">
                <a:latin typeface="Times New Roman"/>
                <a:cs typeface="Times New Roman"/>
              </a:rPr>
              <a:t>r</a:t>
            </a:r>
            <a:r>
              <a:rPr lang="en-US" spc="-20" dirty="0" smtClean="0">
                <a:latin typeface="Times New Roman"/>
                <a:cs typeface="Times New Roman"/>
              </a:rPr>
              <a:t>m</a:t>
            </a:r>
            <a:r>
              <a:rPr lang="en-US" dirty="0" smtClean="0">
                <a:latin typeface="Times New Roman"/>
                <a:cs typeface="Times New Roman"/>
              </a:rPr>
              <a:t>in</a:t>
            </a:r>
            <a:r>
              <a:rPr lang="en-US" spc="5" dirty="0" smtClean="0">
                <a:latin typeface="Times New Roman"/>
                <a:cs typeface="Times New Roman"/>
              </a:rPr>
              <a:t>i</a:t>
            </a:r>
            <a:r>
              <a:rPr lang="en-US" spc="-5" dirty="0" smtClean="0">
                <a:latin typeface="Times New Roman"/>
                <a:cs typeface="Times New Roman"/>
              </a:rPr>
              <a:t>st</a:t>
            </a:r>
            <a:r>
              <a:rPr lang="en-US" dirty="0" smtClean="0">
                <a:latin typeface="Times New Roman"/>
                <a:cs typeface="Times New Roman"/>
              </a:rPr>
              <a:t>ic</a:t>
            </a:r>
            <a:r>
              <a:rPr lang="en-US" spc="-5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Finite</a:t>
            </a:r>
            <a:r>
              <a:rPr lang="en-US" spc="-15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Auto</a:t>
            </a:r>
            <a:r>
              <a:rPr lang="en-US" spc="-20" dirty="0" smtClean="0">
                <a:latin typeface="Times New Roman"/>
                <a:cs typeface="Times New Roman"/>
              </a:rPr>
              <a:t>m</a:t>
            </a:r>
            <a:r>
              <a:rPr lang="en-US" dirty="0" smtClean="0">
                <a:latin typeface="Times New Roman"/>
                <a:cs typeface="Times New Roman"/>
              </a:rPr>
              <a:t>ata</a:t>
            </a: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Non Dete</a:t>
            </a:r>
            <a:r>
              <a:rPr lang="en-US" spc="5" dirty="0" smtClean="0">
                <a:latin typeface="Times New Roman"/>
                <a:cs typeface="Times New Roman"/>
              </a:rPr>
              <a:t>r</a:t>
            </a:r>
            <a:r>
              <a:rPr lang="en-US" spc="-20" dirty="0" smtClean="0">
                <a:latin typeface="Times New Roman"/>
                <a:cs typeface="Times New Roman"/>
              </a:rPr>
              <a:t>m</a:t>
            </a:r>
            <a:r>
              <a:rPr lang="en-US" dirty="0" smtClean="0">
                <a:latin typeface="Times New Roman"/>
                <a:cs typeface="Times New Roman"/>
              </a:rPr>
              <a:t>in</a:t>
            </a:r>
            <a:r>
              <a:rPr lang="en-US" spc="5" dirty="0" smtClean="0">
                <a:latin typeface="Times New Roman"/>
                <a:cs typeface="Times New Roman"/>
              </a:rPr>
              <a:t>i</a:t>
            </a:r>
            <a:r>
              <a:rPr lang="en-US" spc="-5" dirty="0" smtClean="0">
                <a:latin typeface="Times New Roman"/>
                <a:cs typeface="Times New Roman"/>
              </a:rPr>
              <a:t>st</a:t>
            </a:r>
            <a:r>
              <a:rPr lang="en-US" dirty="0" smtClean="0">
                <a:latin typeface="Times New Roman"/>
                <a:cs typeface="Times New Roman"/>
              </a:rPr>
              <a:t>ic</a:t>
            </a:r>
            <a:r>
              <a:rPr lang="en-US" spc="-5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Finite</a:t>
            </a:r>
            <a:r>
              <a:rPr lang="en-US" spc="-15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Auto</a:t>
            </a:r>
            <a:r>
              <a:rPr lang="en-US" spc="-20" dirty="0" smtClean="0">
                <a:latin typeface="Times New Roman"/>
                <a:cs typeface="Times New Roman"/>
              </a:rPr>
              <a:t>m</a:t>
            </a:r>
            <a:r>
              <a:rPr lang="en-US" dirty="0" smtClean="0">
                <a:latin typeface="Times New Roman"/>
                <a:cs typeface="Times New Roman"/>
              </a:rPr>
              <a:t>ata</a:t>
            </a:r>
          </a:p>
          <a:p>
            <a:r>
              <a:rPr lang="en-US" b="1" spc="-5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Deterministic</a:t>
            </a:r>
            <a:r>
              <a:rPr lang="en-US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5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Finite</a:t>
            </a:r>
            <a:r>
              <a:rPr lang="en-US" b="1" spc="-22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spc="-5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Automata(DFA)</a:t>
            </a:r>
          </a:p>
          <a:p>
            <a:pPr marL="540385" marR="17780" indent="-445134">
              <a:spcBef>
                <a:spcPts val="620"/>
              </a:spcBef>
            </a:pP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DFA,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lang="en-US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input symbol, one can determine</a:t>
            </a:r>
            <a:r>
              <a:rPr lang="en-US" spc="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state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en-US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lang="en-US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will move.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Hence,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it is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called</a:t>
            </a:r>
            <a:r>
              <a:rPr lang="en-US" spc="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Deterministic </a:t>
            </a:r>
            <a:r>
              <a:rPr lang="en-US" spc="-5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Automaton. </a:t>
            </a:r>
          </a:p>
          <a:p>
            <a:pPr marL="540385" marR="17780" indent="-445134">
              <a:spcBef>
                <a:spcPts val="620"/>
              </a:spcBef>
            </a:pP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As it has a finite number of states, the machine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called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Deterministic</a:t>
            </a:r>
            <a:r>
              <a:rPr lang="en-US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Finite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 Deterministic</a:t>
            </a:r>
            <a:r>
              <a:rPr lang="en-US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Finite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 smtClean="0">
                <a:latin typeface="Times New Roman" pitchFamily="18" charset="0"/>
                <a:cs typeface="Times New Roman" pitchFamily="18" charset="0"/>
              </a:rPr>
              <a:t>Automaton.</a:t>
            </a:r>
          </a:p>
          <a:p>
            <a:pPr marL="299085" indent="-274320">
              <a:spcBef>
                <a:spcPts val="75"/>
              </a:spcBef>
              <a:buClr>
                <a:srgbClr val="2CA1BE"/>
              </a:buClr>
              <a:buSzPct val="84090"/>
              <a:buNone/>
              <a:tabLst>
                <a:tab pos="299085" algn="l"/>
                <a:tab pos="299720" algn="l"/>
              </a:tabLst>
            </a:pPr>
            <a:endParaRPr lang="en-US" spc="-5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Deterministic Finite Automaton (DFA)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32500" lnSpcReduction="20000"/>
          </a:bodyPr>
          <a:lstStyle/>
          <a:p>
            <a:r>
              <a:rPr lang="en-US" sz="6200" dirty="0" smtClean="0"/>
              <a:t>In DFA, there is only one path input from the current state to the next state.</a:t>
            </a:r>
          </a:p>
          <a:p>
            <a:r>
              <a:rPr lang="en-US" sz="6200" dirty="0" smtClean="0"/>
              <a:t> It does not accept the null move, i.e. it cannot change state without any input.</a:t>
            </a:r>
          </a:p>
          <a:p>
            <a:r>
              <a:rPr lang="en-US" sz="6200" dirty="0" smtClean="0"/>
              <a:t>It can contain multiple final states. It is used in Lexical Analysis in compilers.</a:t>
            </a:r>
          </a:p>
          <a:p>
            <a:pPr>
              <a:buNone/>
            </a:pPr>
            <a:r>
              <a:rPr lang="en-US" sz="6200" dirty="0" smtClean="0"/>
              <a:t>Formal Definition of a DFA</a:t>
            </a:r>
          </a:p>
          <a:p>
            <a:r>
              <a:rPr lang="en-US" sz="6200" dirty="0" smtClean="0"/>
              <a:t>A Deterministic Finite automata (DFA) is a collection of defined as a 5-tuples and is as follows −</a:t>
            </a:r>
          </a:p>
          <a:p>
            <a:r>
              <a:rPr lang="en-US" sz="6200" dirty="0" smtClean="0"/>
              <a:t>M=(Q,Σ,δ,q0,F)</a:t>
            </a:r>
          </a:p>
          <a:p>
            <a:r>
              <a:rPr lang="en-US" sz="6200" dirty="0" smtClean="0"/>
              <a:t>Where,</a:t>
            </a:r>
          </a:p>
          <a:p>
            <a:r>
              <a:rPr lang="en-US" sz="6200" b="1" dirty="0" smtClean="0"/>
              <a:t>Q</a:t>
            </a:r>
            <a:r>
              <a:rPr lang="en-US" sz="6200" dirty="0" smtClean="0"/>
              <a:t> is a finite set of states.</a:t>
            </a:r>
          </a:p>
          <a:p>
            <a:r>
              <a:rPr lang="en-US" sz="6200" b="1" dirty="0" smtClean="0"/>
              <a:t>∑</a:t>
            </a:r>
            <a:r>
              <a:rPr lang="en-US" sz="6200" dirty="0" smtClean="0"/>
              <a:t> is a finite set of symbols called the alphabet.</a:t>
            </a:r>
          </a:p>
          <a:p>
            <a:r>
              <a:rPr lang="en-US" sz="6200" b="1" dirty="0" smtClean="0"/>
              <a:t>δ</a:t>
            </a:r>
            <a:r>
              <a:rPr lang="en-US" sz="6200" dirty="0" smtClean="0"/>
              <a:t> is the transition function where δ: Q × ∑ → Q</a:t>
            </a:r>
          </a:p>
          <a:p>
            <a:r>
              <a:rPr lang="en-US" sz="6200" b="1" dirty="0" smtClean="0"/>
              <a:t>q</a:t>
            </a:r>
            <a:r>
              <a:rPr lang="en-US" sz="6200" b="1" baseline="-25000" dirty="0" smtClean="0"/>
              <a:t>0</a:t>
            </a:r>
            <a:r>
              <a:rPr lang="en-US" sz="6200" dirty="0" smtClean="0"/>
              <a:t> is the initial state from where any input is processed (q</a:t>
            </a:r>
            <a:r>
              <a:rPr lang="en-US" sz="6200" baseline="-25000" dirty="0" smtClean="0"/>
              <a:t>0</a:t>
            </a:r>
            <a:r>
              <a:rPr lang="en-US" sz="6200" dirty="0" smtClean="0"/>
              <a:t> ∈ Q).</a:t>
            </a:r>
          </a:p>
          <a:p>
            <a:r>
              <a:rPr lang="en-US" sz="6200" b="1" dirty="0" smtClean="0"/>
              <a:t>F</a:t>
            </a:r>
            <a:r>
              <a:rPr lang="en-US" sz="6200" dirty="0" smtClean="0"/>
              <a:t> is a set of final state/states of Q (F ⊆ Q).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152400"/>
            <a:ext cx="8382000" cy="3520836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95"/>
              </a:spcBef>
            </a:pPr>
            <a:r>
              <a:rPr sz="2800" b="1" spc="-5" smtClean="0">
                <a:latin typeface="Times New Roman"/>
                <a:cs typeface="Times New Roman"/>
              </a:rPr>
              <a:t>Example</a:t>
            </a:r>
            <a:r>
              <a:rPr lang="en-US" sz="2800" b="1" spc="-5" dirty="0" smtClean="0">
                <a:latin typeface="Times New Roman"/>
                <a:cs typeface="Times New Roman"/>
              </a:rPr>
              <a:t>:</a:t>
            </a:r>
            <a:endParaRPr sz="2800" b="1" dirty="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tabLst>
                <a:tab pos="299085" algn="l"/>
                <a:tab pos="299720" algn="l"/>
              </a:tabLst>
            </a:pPr>
            <a:r>
              <a:rPr sz="2000" dirty="0">
                <a:latin typeface="Times New Roman"/>
                <a:cs typeface="Times New Roman"/>
              </a:rPr>
              <a:t>Let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deterministic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finite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automaton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→</a:t>
            </a:r>
            <a:endParaRPr sz="2000" dirty="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000"/>
              <a:tabLst>
                <a:tab pos="299085" algn="l"/>
                <a:tab pos="299720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Construct a DFA that accepts all strings ending with </a:t>
            </a:r>
            <a:r>
              <a:rPr lang="en-US" sz="2000" b="1" dirty="0" smtClean="0">
                <a:latin typeface="Times New Roman"/>
                <a:cs typeface="Times New Roman"/>
              </a:rPr>
              <a:t>‘a’.</a:t>
            </a:r>
          </a:p>
          <a:p>
            <a:pPr marL="299085" indent="-27432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000"/>
              <a:tabLst>
                <a:tab pos="299085" algn="l"/>
                <a:tab pos="299720" algn="l"/>
              </a:tabLst>
            </a:pPr>
            <a:r>
              <a:rPr lang="en-US" sz="2000" b="1" dirty="0" smtClean="0">
                <a:latin typeface="Times New Roman"/>
                <a:cs typeface="Times New Roman"/>
              </a:rPr>
              <a:t>Given:</a:t>
            </a:r>
          </a:p>
          <a:p>
            <a:pPr marL="481965" indent="-45720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000"/>
              <a:buFont typeface="+mj-lt"/>
              <a:buAutoNum type="alphaLcPeriod"/>
              <a:tabLst>
                <a:tab pos="299085" algn="l"/>
                <a:tab pos="299720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Σ = {a, b},</a:t>
            </a:r>
          </a:p>
          <a:p>
            <a:pPr marL="481965" indent="-45720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000"/>
              <a:buFont typeface="+mj-lt"/>
              <a:buAutoNum type="alphaLcPeriod"/>
              <a:tabLst>
                <a:tab pos="299085" algn="l"/>
                <a:tab pos="299720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Q = {q0, q1},</a:t>
            </a:r>
          </a:p>
          <a:p>
            <a:pPr marL="481965" indent="-45720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000"/>
              <a:buFont typeface="+mj-lt"/>
              <a:buAutoNum type="alphaLcPeriod"/>
              <a:tabLst>
                <a:tab pos="299085" algn="l"/>
                <a:tab pos="299720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F = {q1}</a:t>
            </a: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tabLst>
                <a:tab pos="299085" algn="l"/>
                <a:tab pos="299720" algn="l"/>
              </a:tabLst>
            </a:pPr>
            <a:r>
              <a:rPr sz="2000" spc="-10" smtClean="0">
                <a:latin typeface="Times New Roman"/>
                <a:cs typeface="Times New Roman"/>
              </a:rPr>
              <a:t>Transition</a:t>
            </a:r>
            <a:r>
              <a:rPr sz="2000" spc="-40" smtClean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δ </a:t>
            </a:r>
            <a:r>
              <a:rPr sz="2000" spc="-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following</a:t>
            </a:r>
            <a:r>
              <a:rPr sz="2000" spc="-40">
                <a:latin typeface="Times New Roman"/>
                <a:cs typeface="Times New Roman"/>
              </a:rPr>
              <a:t> </a:t>
            </a:r>
            <a:r>
              <a:rPr lang="en-US" sz="2000" b="1" spc="-40" dirty="0" smtClean="0">
                <a:latin typeface="Times New Roman" pitchFamily="18" charset="0"/>
                <a:cs typeface="Times New Roman" pitchFamily="18" charset="0"/>
              </a:rPr>
              <a:t>transition diagram and transition </a:t>
            </a:r>
            <a:r>
              <a:rPr sz="2000" b="1" spc="-5" smtClean="0">
                <a:latin typeface="Times New Roman" pitchFamily="18" charset="0"/>
                <a:cs typeface="Times New Roman" pitchFamily="18" charset="0"/>
              </a:rPr>
              <a:t>table</a:t>
            </a:r>
            <a:r>
              <a:rPr sz="2000" b="1" spc="-25" smtClean="0">
                <a:latin typeface="Times New Roman" pitchFamily="18" charset="0"/>
                <a:cs typeface="Times New Roman" pitchFamily="18" charset="0"/>
              </a:rPr>
              <a:t> </a:t>
            </a:r>
            <a:endParaRPr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Admin\Downloads\DFA_FS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810000"/>
            <a:ext cx="3200400" cy="2057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91000" y="3810000"/>
          <a:ext cx="4038600" cy="2004060"/>
        </p:xfrm>
        <a:graphic>
          <a:graphicData uri="http://schemas.openxmlformats.org/drawingml/2006/table">
            <a:tbl>
              <a:tblPr/>
              <a:tblGrid>
                <a:gridCol w="1676400"/>
                <a:gridCol w="990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State</a:t>
                      </a:r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\</a:t>
                      </a:r>
                      <a:r>
                        <a:rPr lang="en-US" sz="2800" b="1" baseline="30000" dirty="0">
                          <a:latin typeface="Times New Roman" pitchFamily="18" charset="0"/>
                          <a:cs typeface="Times New Roman" pitchFamily="18" charset="0"/>
                        </a:rPr>
                        <a:t>Symbol</a:t>
                      </a: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8100" marR="3810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b="1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8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8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8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800" b="1" baseline="-2500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8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8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019800"/>
            <a:ext cx="89916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273239"/>
                </a:solidFill>
                <a:latin typeface="Times New Roman" pitchFamily="18" charset="0"/>
                <a:cs typeface="Times New Roman" pitchFamily="18" charset="0"/>
              </a:rPr>
              <a:t>If the string ends in ‘a’, the machine reaches state q1, which is an accepting state</a:t>
            </a:r>
            <a:r>
              <a:rPr lang="en-US" sz="2000" dirty="0" smtClean="0">
                <a:solidFill>
                  <a:srgbClr val="27323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720534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5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Non</a:t>
            </a:r>
            <a:r>
              <a:rPr sz="3600" b="1" spc="-1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5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Deterministic</a:t>
            </a:r>
            <a:r>
              <a:rPr sz="3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Finite</a:t>
            </a:r>
            <a:r>
              <a:rPr sz="3600" b="1" spc="-229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5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Automata</a:t>
            </a:r>
            <a:endParaRPr sz="36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914401"/>
            <a:ext cx="8534400" cy="548098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9085" marR="17780" indent="-274320">
              <a:spcBef>
                <a:spcPts val="620"/>
              </a:spcBef>
              <a:buClr>
                <a:srgbClr val="2CA1BE"/>
              </a:buClr>
              <a:buSzPct val="84090"/>
              <a:tabLst>
                <a:tab pos="299085" algn="l"/>
                <a:tab pos="299720" algn="l"/>
              </a:tabLst>
            </a:pP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NDFA,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particular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input symbol,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move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any combination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the </a:t>
            </a:r>
            <a:r>
              <a:rPr sz="2200" spc="-5" dirty="0">
                <a:latin typeface="Times New Roman"/>
                <a:cs typeface="Times New Roman"/>
              </a:rPr>
              <a:t>states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-5">
                <a:latin typeface="Times New Roman"/>
                <a:cs typeface="Times New Roman"/>
              </a:rPr>
              <a:t>.</a:t>
            </a:r>
            <a:r>
              <a:rPr sz="2200" spc="20">
                <a:latin typeface="Times New Roman"/>
                <a:cs typeface="Times New Roman"/>
              </a:rPr>
              <a:t> </a:t>
            </a:r>
            <a:r>
              <a:rPr lang="en-US" sz="2200" spc="20" dirty="0" smtClean="0">
                <a:latin typeface="Times New Roman"/>
                <a:cs typeface="Times New Roman"/>
              </a:rPr>
              <a:t>(</a:t>
            </a:r>
            <a:r>
              <a:rPr lang="en-US" sz="2200" b="1" spc="20" dirty="0" smtClean="0">
                <a:latin typeface="Times New Roman"/>
                <a:cs typeface="Times New Roman"/>
              </a:rPr>
              <a:t>The machine have multiple paths on one input symbol)</a:t>
            </a:r>
          </a:p>
          <a:p>
            <a:pPr marL="299085" marR="17780" indent="-274320">
              <a:spcBef>
                <a:spcPts val="620"/>
              </a:spcBef>
              <a:buClr>
                <a:srgbClr val="2CA1BE"/>
              </a:buClr>
              <a:buSzPct val="84090"/>
              <a:tabLst>
                <a:tab pos="299085" algn="l"/>
                <a:tab pos="299720" algn="l"/>
              </a:tabLst>
            </a:pPr>
            <a:r>
              <a:rPr sz="2200" spc="-5" smtClean="0">
                <a:latin typeface="Times New Roman"/>
                <a:cs typeface="Times New Roman"/>
              </a:rPr>
              <a:t>In</a:t>
            </a:r>
            <a:r>
              <a:rPr sz="2200" spc="5" smtClean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other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words,</a:t>
            </a:r>
            <a:r>
              <a:rPr sz="2200" dirty="0">
                <a:latin typeface="Times New Roman"/>
                <a:cs typeface="Times New Roman"/>
              </a:rPr>
              <a:t> the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exact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moves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cannot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determined.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Hence, it is called </a:t>
            </a:r>
            <a:r>
              <a:rPr sz="2200" b="1" spc="-5" dirty="0">
                <a:latin typeface="Times New Roman"/>
                <a:cs typeface="Times New Roman"/>
              </a:rPr>
              <a:t>Non-deterministic Automaton</a:t>
            </a:r>
            <a:r>
              <a:rPr sz="2200" spc="-5">
                <a:latin typeface="Times New Roman"/>
                <a:cs typeface="Times New Roman"/>
              </a:rPr>
              <a:t>. </a:t>
            </a:r>
            <a:endParaRPr lang="en-US" sz="2200" spc="-5" dirty="0" smtClean="0">
              <a:latin typeface="Times New Roman"/>
              <a:cs typeface="Times New Roman"/>
            </a:endParaRPr>
          </a:p>
          <a:p>
            <a:pPr marL="299085" marR="17780" indent="-274320">
              <a:spcBef>
                <a:spcPts val="620"/>
              </a:spcBef>
              <a:buClr>
                <a:srgbClr val="2CA1BE"/>
              </a:buClr>
              <a:buSzPct val="84090"/>
              <a:tabLst>
                <a:tab pos="299085" algn="l"/>
                <a:tab pos="299720" algn="l"/>
              </a:tabLst>
            </a:pPr>
            <a:r>
              <a:rPr sz="2200" spc="-5" smtClean="0">
                <a:latin typeface="Times New Roman"/>
                <a:cs typeface="Times New Roman"/>
              </a:rPr>
              <a:t>As </a:t>
            </a:r>
            <a:r>
              <a:rPr sz="2200" spc="-5" dirty="0">
                <a:latin typeface="Times New Roman"/>
                <a:cs typeface="Times New Roman"/>
              </a:rPr>
              <a:t>it has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finite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number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states,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Non-deterministic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Finite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Machine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Non-deterministic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Finite</a:t>
            </a:r>
            <a:r>
              <a:rPr sz="2200" b="1" spc="-110" dirty="0">
                <a:latin typeface="Times New Roman"/>
                <a:cs typeface="Times New Roman"/>
              </a:rPr>
              <a:t> </a:t>
            </a:r>
            <a:r>
              <a:rPr sz="2200" b="1" spc="-5">
                <a:latin typeface="Times New Roman"/>
                <a:cs typeface="Times New Roman"/>
              </a:rPr>
              <a:t>Automaton</a:t>
            </a:r>
            <a:r>
              <a:rPr sz="2200" spc="-5" smtClean="0">
                <a:latin typeface="Times New Roman"/>
                <a:cs typeface="Times New Roman"/>
              </a:rPr>
              <a:t>.</a:t>
            </a:r>
            <a:endParaRPr lang="en-US" sz="2200" spc="-5" dirty="0" smtClean="0"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75"/>
              </a:spcBef>
              <a:buClr>
                <a:srgbClr val="2CA1BE"/>
              </a:buClr>
              <a:buSzPct val="84090"/>
              <a:tabLst>
                <a:tab pos="299085" algn="l"/>
                <a:tab pos="299720" algn="l"/>
              </a:tabLst>
            </a:pPr>
            <a:r>
              <a:rPr sz="2200" b="1" spc="-5" smtClean="0">
                <a:latin typeface="Times New Roman"/>
                <a:cs typeface="Times New Roman"/>
              </a:rPr>
              <a:t>Formal</a:t>
            </a:r>
            <a:r>
              <a:rPr sz="2200" b="1" spc="10" smtClean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Definition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of </a:t>
            </a:r>
            <a:r>
              <a:rPr sz="2200" b="1" dirty="0">
                <a:latin typeface="Times New Roman"/>
                <a:cs typeface="Times New Roman"/>
              </a:rPr>
              <a:t>an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spc="-40" dirty="0">
                <a:latin typeface="Times New Roman"/>
                <a:cs typeface="Times New Roman"/>
              </a:rPr>
              <a:t>NDFA:</a:t>
            </a:r>
            <a:endParaRPr sz="2200" dirty="0">
              <a:latin typeface="Times New Roman"/>
              <a:cs typeface="Times New Roman"/>
            </a:endParaRPr>
          </a:p>
          <a:p>
            <a:pPr marL="25400">
              <a:spcBef>
                <a:spcPts val="70"/>
              </a:spcBef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sz="2000" spc="-45" dirty="0">
                <a:latin typeface="Times New Roman" pitchFamily="18" charset="0"/>
                <a:cs typeface="Times New Roman" pitchFamily="18" charset="0"/>
              </a:rPr>
              <a:t>NDFA</a:t>
            </a:r>
            <a:r>
              <a:rPr sz="2000" spc="-11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can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be represented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by a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 5-tuple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(Q,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∑,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δ,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000" baseline="-21072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F)</a:t>
            </a:r>
            <a:r>
              <a:rPr sz="2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573405" lvl="1" indent="-229235">
              <a:spcBef>
                <a:spcPts val="10"/>
              </a:spcBef>
              <a:buClr>
                <a:srgbClr val="DA1F28"/>
              </a:buClr>
              <a:buSzPct val="85294"/>
              <a:buFont typeface="Wingdings" pitchFamily="2" charset="2"/>
              <a:buChar char="Ø"/>
              <a:tabLst>
                <a:tab pos="573405" algn="l"/>
                <a:tab pos="574040" algn="l"/>
              </a:tabLst>
            </a:pPr>
            <a:r>
              <a:rPr sz="20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finite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set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states.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573405" lvl="1" indent="-229235">
              <a:buClr>
                <a:srgbClr val="DA1F28"/>
              </a:buClr>
              <a:buSzPct val="85294"/>
              <a:buFont typeface="Wingdings" pitchFamily="2" charset="2"/>
              <a:buChar char="Ø"/>
              <a:tabLst>
                <a:tab pos="573405" algn="l"/>
                <a:tab pos="574040" algn="l"/>
              </a:tabLst>
            </a:pPr>
            <a:r>
              <a:rPr sz="2000" b="1" dirty="0">
                <a:latin typeface="Times New Roman" pitchFamily="18" charset="0"/>
                <a:cs typeface="Times New Roman" pitchFamily="18" charset="0"/>
              </a:rPr>
              <a:t>∑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finite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set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symbols</a:t>
            </a:r>
            <a:r>
              <a:rPr sz="20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called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alphabets.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573405" lvl="1" indent="-229235">
              <a:buClr>
                <a:srgbClr val="DA1F28"/>
              </a:buClr>
              <a:buSzPct val="85294"/>
              <a:buFont typeface="Wingdings" pitchFamily="2" charset="2"/>
              <a:buChar char="Ø"/>
              <a:tabLst>
                <a:tab pos="573405" algn="l"/>
                <a:tab pos="574040" algn="l"/>
              </a:tabLst>
            </a:pPr>
            <a:r>
              <a:rPr sz="2000" b="1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transition</a:t>
            </a:r>
            <a:r>
              <a:rPr sz="2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δ:</a:t>
            </a:r>
            <a:r>
              <a:rPr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sz="2000" b="1" spc="-5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sz="2000" b="1" spc="1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∑ → </a:t>
            </a:r>
            <a:r>
              <a:rPr sz="2000" b="1" spc="5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sz="2000" b="1" spc="7" baseline="25252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endParaRPr sz="2000" b="1" baseline="25252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73405" marR="269875" lvl="1" indent="-228600">
              <a:spcBef>
                <a:spcPts val="405"/>
              </a:spcBef>
              <a:buClr>
                <a:srgbClr val="DA1F28"/>
              </a:buClr>
              <a:buSzPct val="85294"/>
              <a:tabLst>
                <a:tab pos="573405" algn="l"/>
                <a:tab pos="574040" algn="l"/>
              </a:tabLst>
            </a:pPr>
            <a:r>
              <a:rPr sz="2000" b="1" dirty="0">
                <a:latin typeface="Times New Roman" pitchFamily="18" charset="0"/>
                <a:cs typeface="Times New Roman" pitchFamily="18" charset="0"/>
              </a:rPr>
              <a:t>(Here</a:t>
            </a:r>
            <a:r>
              <a:rPr sz="2000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the power</a:t>
            </a:r>
            <a:r>
              <a:rPr sz="2000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set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0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5" dirty="0">
                <a:latin typeface="Times New Roman" pitchFamily="18" charset="0"/>
                <a:cs typeface="Times New Roman" pitchFamily="18" charset="0"/>
              </a:rPr>
              <a:t>(2</a:t>
            </a:r>
            <a:r>
              <a:rPr sz="2000" b="1" spc="7" baseline="25252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000" b="1" spc="5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has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been</a:t>
            </a:r>
            <a:r>
              <a:rPr sz="20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taken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because</a:t>
            </a:r>
            <a:r>
              <a:rPr sz="2000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sz="20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25" dirty="0">
                <a:latin typeface="Times New Roman" pitchFamily="18" charset="0"/>
                <a:cs typeface="Times New Roman" pitchFamily="18" charset="0"/>
              </a:rPr>
              <a:t>NDFA,</a:t>
            </a:r>
            <a:r>
              <a:rPr sz="2000" b="1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0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000" b="1" spc="-40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state, transition</a:t>
            </a:r>
            <a:r>
              <a:rPr sz="2000" b="1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can</a:t>
            </a:r>
            <a:r>
              <a:rPr sz="20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occur</a:t>
            </a:r>
            <a:r>
              <a:rPr sz="2000" b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b="1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any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combination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of Q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states)</a:t>
            </a:r>
            <a:endParaRPr sz="2000" b="1" dirty="0">
              <a:latin typeface="Times New Roman" pitchFamily="18" charset="0"/>
              <a:cs typeface="Times New Roman" pitchFamily="18" charset="0"/>
            </a:endParaRPr>
          </a:p>
          <a:p>
            <a:pPr marL="573405" lvl="1" indent="-229235">
              <a:buClr>
                <a:srgbClr val="DA1F28"/>
              </a:buClr>
              <a:buSzPct val="85294"/>
              <a:buFont typeface="Wingdings" pitchFamily="2" charset="2"/>
              <a:buChar char="Ø"/>
              <a:tabLst>
                <a:tab pos="573405" algn="l"/>
                <a:tab pos="574040" algn="l"/>
              </a:tabLst>
            </a:pPr>
            <a:r>
              <a:rPr sz="2000" b="1" spc="5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000" b="1" spc="7" baseline="-20202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000" b="1" spc="209" baseline="-20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initial</a:t>
            </a:r>
            <a:r>
              <a:rPr sz="20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state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any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 processed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(q</a:t>
            </a:r>
            <a:r>
              <a:rPr sz="2000" spc="15" baseline="-20202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000" spc="217" baseline="-20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∈</a:t>
            </a:r>
            <a:r>
              <a:rPr sz="2000" spc="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Q).</a:t>
            </a:r>
          </a:p>
          <a:p>
            <a:pPr marL="573405" lvl="1" indent="-229235">
              <a:buClr>
                <a:srgbClr val="DA1F28"/>
              </a:buClr>
              <a:buSzPct val="85294"/>
              <a:buFont typeface="Wingdings" pitchFamily="2" charset="2"/>
              <a:buChar char="Ø"/>
              <a:tabLst>
                <a:tab pos="573405" algn="l"/>
                <a:tab pos="574040" algn="l"/>
              </a:tabLst>
            </a:pPr>
            <a:r>
              <a:rPr sz="20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0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set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final state/states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(F</a:t>
            </a:r>
            <a:r>
              <a:rPr sz="2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⊆</a:t>
            </a:r>
            <a:r>
              <a:rPr sz="2000" spc="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Q).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720534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Non</a:t>
            </a:r>
            <a:r>
              <a:rPr sz="3200" b="1" spc="-1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5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Deterministic</a:t>
            </a:r>
            <a:r>
              <a:rPr sz="32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Finite</a:t>
            </a:r>
            <a:r>
              <a:rPr sz="3200" b="1" spc="-229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5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Automata</a:t>
            </a:r>
            <a:endParaRPr sz="32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838201"/>
            <a:ext cx="8153400" cy="37643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NFA is similar to DFA but includes the following features: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can transition to multiple states for the same input.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allows null (ϵ) moves, where the machine can change states without consuming any input.</a:t>
            </a:r>
          </a:p>
          <a:p>
            <a:pPr marL="299085" indent="-274320">
              <a:lnSpc>
                <a:spcPct val="100000"/>
              </a:lnSpc>
              <a:spcBef>
                <a:spcPts val="700"/>
              </a:spcBef>
              <a:buClr>
                <a:srgbClr val="2CA1BE"/>
              </a:buClr>
              <a:buSzPct val="83333"/>
              <a:tabLst>
                <a:tab pos="299085" algn="l"/>
                <a:tab pos="299720" algn="l"/>
              </a:tabLst>
            </a:pPr>
            <a:r>
              <a:rPr sz="2000" b="1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tabLst>
                <a:tab pos="299085" algn="l"/>
                <a:tab pos="299720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Let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non-deterministic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finite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automaton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be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→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Construct an NFA that accepts strings ending in ‘a’.</a:t>
            </a:r>
          </a:p>
          <a:p>
            <a:pPr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 fontAlgn="base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Σ = {a, b}, Q = {q0, q1}, F = {q1}</a:t>
            </a: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tabLst>
                <a:tab pos="299085" algn="l"/>
                <a:tab pos="299720" algn="l"/>
              </a:tabLst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1" dirty="0">
                <a:latin typeface="Times New Roman" pitchFamily="18" charset="0"/>
                <a:cs typeface="Times New Roman" pitchFamily="18" charset="0"/>
              </a:rPr>
              <a:t>transition</a:t>
            </a:r>
            <a:r>
              <a:rPr sz="2000" b="1" i="1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1" dirty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sz="2000" b="1" i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i="1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sz="2000" b="1" i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shown</a:t>
            </a:r>
            <a:r>
              <a:rPr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>
                <a:latin typeface="Times New Roman" pitchFamily="18" charset="0"/>
                <a:cs typeface="Times New Roman" pitchFamily="18" charset="0"/>
              </a:rPr>
              <a:t>below</a:t>
            </a:r>
            <a:r>
              <a:rPr sz="2000" spc="-2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by</a:t>
            </a:r>
            <a:r>
              <a:rPr lang="en-US" sz="2000" spc="-10" dirty="0" smtClean="0">
                <a:latin typeface="Times New Roman"/>
                <a:cs typeface="Times New Roman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the</a:t>
            </a:r>
            <a:r>
              <a:rPr lang="en-US" sz="2000" spc="-5" dirty="0" smtClean="0">
                <a:latin typeface="Times New Roman"/>
                <a:cs typeface="Times New Roman"/>
              </a:rPr>
              <a:t> </a:t>
            </a:r>
            <a:r>
              <a:rPr lang="en-US" sz="2000" b="1" spc="-40" dirty="0" smtClean="0">
                <a:latin typeface="Times New Roman" pitchFamily="18" charset="0"/>
                <a:cs typeface="Times New Roman" pitchFamily="18" charset="0"/>
              </a:rPr>
              <a:t>transition diagram and transition </a:t>
            </a:r>
            <a:r>
              <a:rPr lang="en-US" sz="2000" b="1" spc="-5" dirty="0" smtClean="0">
                <a:latin typeface="Times New Roman" pitchFamily="18" charset="0"/>
                <a:cs typeface="Times New Roman" pitchFamily="18" charset="0"/>
              </a:rPr>
              <a:t>table</a:t>
            </a:r>
            <a:r>
              <a:rPr lang="en-US" sz="2000" b="1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−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53000" y="4419600"/>
          <a:ext cx="3352800" cy="1638300"/>
        </p:xfrm>
        <a:graphic>
          <a:graphicData uri="http://schemas.openxmlformats.org/drawingml/2006/table">
            <a:tbl>
              <a:tblPr/>
              <a:tblGrid>
                <a:gridCol w="1219200"/>
                <a:gridCol w="1016000"/>
                <a:gridCol w="1117600"/>
              </a:tblGrid>
              <a:tr h="42731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baseline="-25000" dirty="0" smtClean="0">
                          <a:solidFill>
                            <a:schemeClr val="accent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State</a:t>
                      </a:r>
                      <a:r>
                        <a:rPr lang="en-US" sz="2000" b="1" dirty="0" smtClean="0">
                          <a:solidFill>
                            <a:schemeClr val="accent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\</a:t>
                      </a:r>
                      <a:r>
                        <a:rPr lang="en-US" sz="2000" b="1" baseline="30000" dirty="0" smtClean="0">
                          <a:solidFill>
                            <a:schemeClr val="accent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Symbol</a:t>
                      </a:r>
                      <a:endParaRPr lang="en-US" sz="2000" b="1" dirty="0">
                        <a:solidFill>
                          <a:schemeClr val="accent2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8100" marR="3810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95250" marR="95250" marT="95250" marB="952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000" b="1" baseline="-250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0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{q</a:t>
                      </a:r>
                      <a:r>
                        <a:rPr lang="en-US" sz="20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,q</a:t>
                      </a:r>
                      <a:r>
                        <a:rPr lang="en-US" sz="20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0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0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sz="2000" b="1" baseline="-2500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2000" b="1" dirty="0">
                          <a:latin typeface="Times New Roman" pitchFamily="18" charset="0"/>
                          <a:cs typeface="Times New Roman" pitchFamily="18" charset="0"/>
                        </a:rPr>
                        <a:t>φ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l-GR" sz="2000" b="1" dirty="0">
                          <a:latin typeface="Times New Roman" pitchFamily="18" charset="0"/>
                          <a:cs typeface="Times New Roman" pitchFamily="18" charset="0"/>
                        </a:rPr>
                        <a:t>φ</a:t>
                      </a:r>
                    </a:p>
                  </a:txBody>
                  <a:tcPr marL="95250" marR="95250" marT="133350" marB="133350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2769" name="Picture 1" descr="C:\Users\Admin\Downloads\NFA_FS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495800"/>
            <a:ext cx="3124200" cy="15240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457200" y="6248400"/>
            <a:ext cx="8305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273239"/>
                </a:solidFill>
                <a:latin typeface="Times New Roman" pitchFamily="18" charset="0"/>
                <a:cs typeface="Times New Roman" pitchFamily="18" charset="0"/>
              </a:rPr>
              <a:t>if any transition leads to an accepting state, the string is accepted</a:t>
            </a:r>
            <a:r>
              <a:rPr lang="en-US" sz="2000" dirty="0" smtClean="0">
                <a:solidFill>
                  <a:srgbClr val="27323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388335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chemeClr val="accent2"/>
                </a:solidFill>
              </a:rPr>
              <a:t>D</a:t>
            </a:r>
            <a:r>
              <a:rPr b="1" spc="-315" dirty="0">
                <a:solidFill>
                  <a:schemeClr val="accent2"/>
                </a:solidFill>
              </a:rPr>
              <a:t>F</a:t>
            </a:r>
            <a:r>
              <a:rPr b="1" spc="-5" dirty="0">
                <a:solidFill>
                  <a:schemeClr val="accent2"/>
                </a:solidFill>
              </a:rPr>
              <a:t>A</a:t>
            </a:r>
            <a:r>
              <a:rPr b="1" spc="-204" dirty="0">
                <a:solidFill>
                  <a:schemeClr val="accent2"/>
                </a:solidFill>
              </a:rPr>
              <a:t> </a:t>
            </a:r>
            <a:r>
              <a:rPr b="1" spc="-5" dirty="0">
                <a:solidFill>
                  <a:schemeClr val="accent2"/>
                </a:solidFill>
              </a:rPr>
              <a:t>vs. ND</a:t>
            </a:r>
            <a:r>
              <a:rPr b="1" spc="-315" dirty="0">
                <a:solidFill>
                  <a:schemeClr val="accent2"/>
                </a:solidFill>
              </a:rPr>
              <a:t>F</a:t>
            </a:r>
            <a:r>
              <a:rPr b="1" spc="-5" dirty="0">
                <a:solidFill>
                  <a:schemeClr val="accent2"/>
                </a:solidFill>
              </a:rPr>
              <a:t>A</a:t>
            </a:r>
            <a:endParaRPr b="1">
              <a:solidFill>
                <a:schemeClr val="accent2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66800"/>
            <a:ext cx="84582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/>
                </a:solidFill>
              </a:rPr>
              <a:t>Examples of FA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28600" y="762000"/>
            <a:ext cx="84582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 1:</a:t>
            </a:r>
          </a:p>
          <a:p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Design a FA with ∑ = {0, 1} accepts those string which starts with 1 and ends with 0.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Solution: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FA will have a start state q0 from which only the edge with input 1 will go to the next state q1.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state q1, if we read 1, we will be in state q1, but if we read 0 at state q1, we will reach to state q2 which is the final state.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state q2, if we read either 0 or 1, we will go to q2 state or q1 state respectively.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Note that if the input ends with 0, it will be in the final state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876800"/>
            <a:ext cx="600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28600" y="457200"/>
            <a:ext cx="8458200" cy="295465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 2: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Design a FA with ∑ = {0, 1} accepts the only input string 101.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In the given solution, we can see that only input string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101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will be accepted.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Hence, for input 101, there is no other path shown for other input.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267200"/>
            <a:ext cx="725805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533400" y="381000"/>
            <a:ext cx="8153400" cy="2859345"/>
          </a:xfrm>
        </p:spPr>
        <p:txBody>
          <a:bodyPr/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 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Design FA with ∑ = {0, 1} accepts even number of 0's and even number of 1's.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Solution: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FA will consider four different stages for input 0 and input 1. The stages could be: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124200"/>
            <a:ext cx="3581400" cy="310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2834"/>
            <a:ext cx="44862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sng" spc="-7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DFA-</a:t>
            </a:r>
            <a:r>
              <a:rPr sz="2800" b="1" u="sng" spc="-4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u="sng" spc="-5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r>
              <a:rPr sz="2800" b="1" u="sng" spc="-25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u="sng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016253"/>
            <a:ext cx="8305800" cy="47833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222250" indent="-51562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83333"/>
              <a:buAutoNum type="arabicParenR"/>
              <a:tabLst>
                <a:tab pos="527685" algn="l"/>
                <a:tab pos="528320" algn="l"/>
              </a:tabLst>
            </a:pPr>
            <a:r>
              <a:rPr sz="2000" spc="-5" dirty="0">
                <a:latin typeface="Times New Roman"/>
                <a:cs typeface="Times New Roman"/>
              </a:rPr>
              <a:t>Design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FA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 accepts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strings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ends  in </a:t>
            </a:r>
            <a:r>
              <a:rPr sz="2000" spc="-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00,over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alphabet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∑={0,1}.</a:t>
            </a:r>
            <a:endParaRPr sz="20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/>
              <a:tabLst>
                <a:tab pos="527685" algn="l"/>
                <a:tab pos="528320" algn="l"/>
              </a:tabLst>
            </a:pPr>
            <a:r>
              <a:rPr sz="2000" dirty="0">
                <a:latin typeface="Times New Roman"/>
                <a:cs typeface="Times New Roman"/>
              </a:rPr>
              <a:t>Construct a </a:t>
            </a:r>
            <a:r>
              <a:rPr sz="2000" spc="-14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</a:t>
            </a: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str</a:t>
            </a:r>
            <a:r>
              <a:rPr sz="2000" spc="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wher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nu</a:t>
            </a:r>
            <a:r>
              <a:rPr sz="2000" spc="-1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ber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100" dirty="0">
                <a:latin typeface="Times New Roman"/>
                <a:cs typeface="Times New Roman"/>
              </a:rPr>
              <a:t>’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ev</a:t>
            </a:r>
            <a:r>
              <a:rPr sz="2000" spc="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ry</a:t>
            </a:r>
            <a:endParaRPr sz="20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string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alphabet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∑={0,1}.</a:t>
            </a:r>
            <a:endParaRPr sz="20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3"/>
              <a:tabLst>
                <a:tab pos="527685" algn="l"/>
                <a:tab pos="528320" algn="l"/>
              </a:tabLst>
            </a:pPr>
            <a:r>
              <a:rPr sz="2000" spc="-5" dirty="0">
                <a:latin typeface="Times New Roman"/>
                <a:cs typeface="Times New Roman"/>
              </a:rPr>
              <a:t>Desig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whic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string</a:t>
            </a:r>
            <a:r>
              <a:rPr sz="2000" dirty="0">
                <a:latin typeface="Times New Roman"/>
                <a:cs typeface="Times New Roman"/>
              </a:rPr>
              <a:t>s con</a:t>
            </a:r>
            <a:r>
              <a:rPr sz="2000" spc="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</a:t>
            </a: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four 1</a:t>
            </a:r>
            <a:r>
              <a:rPr sz="2000" spc="-105" dirty="0">
                <a:latin typeface="Times New Roman"/>
                <a:cs typeface="Times New Roman"/>
              </a:rPr>
              <a:t>’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ev</a:t>
            </a:r>
            <a:r>
              <a:rPr sz="2000" spc="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ry  </a:t>
            </a:r>
            <a:r>
              <a:rPr sz="2000" spc="-5" dirty="0">
                <a:latin typeface="Times New Roman"/>
                <a:cs typeface="Times New Roman"/>
              </a:rPr>
              <a:t>string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 alphabet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∑={0,1}.</a:t>
            </a:r>
            <a:endParaRPr sz="20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3"/>
              <a:tabLst>
                <a:tab pos="527685" algn="l"/>
                <a:tab pos="528320" algn="l"/>
              </a:tabLst>
            </a:pPr>
            <a:r>
              <a:rPr sz="2000" spc="-5" dirty="0">
                <a:latin typeface="Times New Roman"/>
                <a:cs typeface="Times New Roman"/>
              </a:rPr>
              <a:t>Design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FA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accept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strings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exactly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 1 over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alphabet</a:t>
            </a:r>
            <a:endParaRPr sz="2000">
              <a:latin typeface="Times New Roman"/>
              <a:cs typeface="Times New Roman"/>
            </a:endParaRPr>
          </a:p>
          <a:p>
            <a:pPr marL="5276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∑={0,1}.</a:t>
            </a:r>
            <a:endParaRPr sz="2000">
              <a:latin typeface="Times New Roman"/>
              <a:cs typeface="Times New Roman"/>
            </a:endParaRPr>
          </a:p>
          <a:p>
            <a:pPr marL="527685" marR="265430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5"/>
              <a:tabLst>
                <a:tab pos="527685" algn="l"/>
                <a:tab pos="528320" algn="l"/>
              </a:tabLst>
            </a:pPr>
            <a:r>
              <a:rPr sz="2000" spc="-5" smtClean="0">
                <a:latin typeface="Times New Roman"/>
                <a:cs typeface="Times New Roman"/>
              </a:rPr>
              <a:t>Giv</a:t>
            </a:r>
            <a:r>
              <a:rPr sz="2000" smtClean="0">
                <a:latin typeface="Times New Roman"/>
                <a:cs typeface="Times New Roman"/>
              </a:rPr>
              <a:t>e</a:t>
            </a:r>
            <a:r>
              <a:rPr sz="2000" spc="-5" smtClean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D</a:t>
            </a:r>
            <a:r>
              <a:rPr sz="2000" spc="-14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Σ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{0,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tr</a:t>
            </a:r>
            <a:r>
              <a:rPr sz="2000" spc="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ngs 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 an odd number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1</a:t>
            </a:r>
            <a:r>
              <a:rPr sz="2000" spc="-105" dirty="0">
                <a:latin typeface="Times New Roman"/>
                <a:cs typeface="Times New Roman"/>
              </a:rPr>
              <a:t>’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  any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30" dirty="0">
                <a:latin typeface="Times New Roman"/>
                <a:cs typeface="Times New Roman"/>
              </a:rPr>
              <a:t>0’s.</a:t>
            </a:r>
            <a:endParaRPr sz="2000">
              <a:latin typeface="Times New Roman"/>
              <a:cs typeface="Times New Roman"/>
            </a:endParaRPr>
          </a:p>
          <a:p>
            <a:pPr marL="583565" indent="-57150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AutoNum type="arabicParenR" startAt="5"/>
              <a:tabLst>
                <a:tab pos="583565" algn="l"/>
                <a:tab pos="584200" algn="l"/>
              </a:tabLst>
            </a:pPr>
            <a:r>
              <a:rPr sz="2000" spc="-5" dirty="0">
                <a:latin typeface="Times New Roman"/>
                <a:cs typeface="Times New Roman"/>
              </a:rPr>
              <a:t>Giv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D</a:t>
            </a:r>
            <a:r>
              <a:rPr sz="2000" spc="-14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Σ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{a, b,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c} th</a:t>
            </a: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5" dirty="0">
                <a:latin typeface="Times New Roman"/>
                <a:cs typeface="Times New Roman"/>
              </a:rPr>
              <a:t> strin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w</a:t>
            </a:r>
            <a:r>
              <a:rPr sz="2000">
                <a:latin typeface="Times New Roman"/>
                <a:cs typeface="Times New Roman"/>
              </a:rPr>
              <a:t>i</a:t>
            </a:r>
            <a:r>
              <a:rPr sz="2000" spc="5">
                <a:latin typeface="Times New Roman"/>
                <a:cs typeface="Times New Roman"/>
              </a:rPr>
              <a:t>t</a:t>
            </a:r>
            <a:r>
              <a:rPr sz="2000">
                <a:latin typeface="Times New Roman"/>
                <a:cs typeface="Times New Roman"/>
              </a:rPr>
              <a:t>h</a:t>
            </a:r>
            <a:r>
              <a:rPr sz="2000" spc="25">
                <a:latin typeface="Times New Roman"/>
                <a:cs typeface="Times New Roman"/>
              </a:rPr>
              <a:t> </a:t>
            </a:r>
            <a:r>
              <a:rPr lang="en-US" sz="2000" spc="25" dirty="0" smtClean="0">
                <a:latin typeface="Times New Roman"/>
                <a:cs typeface="Times New Roman"/>
              </a:rPr>
              <a:t>"</a:t>
            </a:r>
            <a:r>
              <a:rPr sz="2000" b="1" smtClean="0">
                <a:latin typeface="Times New Roman"/>
                <a:cs typeface="Times New Roman"/>
              </a:rPr>
              <a:t>aab</a:t>
            </a:r>
            <a:r>
              <a:rPr lang="en-US" sz="2000" b="1" dirty="0" smtClean="0">
                <a:latin typeface="Times New Roman"/>
                <a:cs typeface="Times New Roman"/>
              </a:rPr>
              <a:t>"</a:t>
            </a:r>
            <a:r>
              <a:rPr sz="2000" spc="-5" smtClean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sub</a:t>
            </a:r>
            <a:r>
              <a:rPr sz="2000" spc="-15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tr</a:t>
            </a:r>
            <a:r>
              <a:rPr sz="2000" spc="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ng.</a:t>
            </a:r>
            <a:endParaRPr sz="2000">
              <a:latin typeface="Times New Roman"/>
              <a:cs typeface="Times New Roman"/>
            </a:endParaRPr>
          </a:p>
          <a:p>
            <a:pPr marL="527685" marR="880110" indent="-5156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333"/>
              <a:buFont typeface="Times New Roman"/>
              <a:buAutoNum type="arabicParenR" startAt="5"/>
              <a:tabLst>
                <a:tab pos="583565" algn="l"/>
                <a:tab pos="584200" algn="l"/>
              </a:tabLst>
            </a:pPr>
            <a:r>
              <a:rPr sz="2000" dirty="0"/>
              <a:t>	</a:t>
            </a:r>
            <a:r>
              <a:rPr sz="2000" spc="-5" dirty="0">
                <a:latin typeface="Times New Roman"/>
                <a:cs typeface="Times New Roman"/>
              </a:rPr>
              <a:t>Giv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D</a:t>
            </a:r>
            <a:r>
              <a:rPr sz="2000" spc="-14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Σ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{a, b}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</a:t>
            </a: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 a</a:t>
            </a:r>
            <a:r>
              <a:rPr sz="2000" spc="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pts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5" dirty="0">
                <a:latin typeface="Times New Roman"/>
                <a:cs typeface="Times New Roman"/>
              </a:rPr>
              <a:t> strin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w</a:t>
            </a:r>
            <a:r>
              <a:rPr sz="2000">
                <a:latin typeface="Times New Roman"/>
                <a:cs typeface="Times New Roman"/>
              </a:rPr>
              <a:t>i</a:t>
            </a:r>
            <a:r>
              <a:rPr sz="2000" spc="5">
                <a:latin typeface="Times New Roman"/>
                <a:cs typeface="Times New Roman"/>
              </a:rPr>
              <a:t>t</a:t>
            </a:r>
            <a:r>
              <a:rPr sz="2000">
                <a:latin typeface="Times New Roman"/>
                <a:cs typeface="Times New Roman"/>
              </a:rPr>
              <a:t>h</a:t>
            </a:r>
            <a:r>
              <a:rPr sz="2000" spc="20">
                <a:latin typeface="Times New Roman"/>
                <a:cs typeface="Times New Roman"/>
              </a:rPr>
              <a:t> </a:t>
            </a:r>
            <a:r>
              <a:rPr lang="en-US" sz="2000" spc="20" dirty="0" smtClean="0">
                <a:latin typeface="Times New Roman"/>
                <a:cs typeface="Times New Roman"/>
              </a:rPr>
              <a:t>"</a:t>
            </a:r>
            <a:r>
              <a:rPr sz="2000" b="1" smtClean="0">
                <a:latin typeface="Times New Roman"/>
                <a:cs typeface="Times New Roman"/>
              </a:rPr>
              <a:t>a</a:t>
            </a:r>
            <a:r>
              <a:rPr sz="2000" b="1" spc="5" smtClean="0">
                <a:latin typeface="Times New Roman"/>
                <a:cs typeface="Times New Roman"/>
              </a:rPr>
              <a:t>a</a:t>
            </a:r>
            <a:r>
              <a:rPr sz="2000" b="1" smtClean="0">
                <a:latin typeface="Times New Roman"/>
                <a:cs typeface="Times New Roman"/>
              </a:rPr>
              <a:t>babb</a:t>
            </a:r>
            <a:r>
              <a:rPr lang="en-US" sz="2000" b="1" dirty="0" smtClean="0">
                <a:latin typeface="Times New Roman"/>
                <a:cs typeface="Times New Roman"/>
              </a:rPr>
              <a:t>"</a:t>
            </a:r>
            <a:r>
              <a:rPr sz="2000" smtClean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 </a:t>
            </a:r>
            <a:r>
              <a:rPr sz="2000" spc="-5" dirty="0">
                <a:latin typeface="Times New Roman"/>
                <a:cs typeface="Times New Roman"/>
              </a:rPr>
              <a:t>substring.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81000"/>
            <a:ext cx="498157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85" dirty="0">
                <a:solidFill>
                  <a:schemeClr val="accent6">
                    <a:lumMod val="75000"/>
                  </a:schemeClr>
                </a:solidFill>
              </a:rPr>
              <a:t>DFA-</a:t>
            </a:r>
            <a:r>
              <a:rPr sz="3200" b="1" spc="1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</a:rPr>
              <a:t>Practice</a:t>
            </a:r>
            <a:r>
              <a:rPr sz="3200" b="1" spc="-1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</a:rPr>
              <a:t>Problems</a:t>
            </a:r>
            <a:endParaRPr sz="32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410970"/>
            <a:ext cx="7541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1700" dirty="0">
                <a:solidFill>
                  <a:srgbClr val="2CA1BE"/>
                </a:solidFill>
                <a:latin typeface="Times New Roman"/>
                <a:cs typeface="Times New Roman"/>
              </a:rPr>
              <a:t>9.	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given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FA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write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also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give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transition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table.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3651884"/>
            <a:ext cx="7465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Times New Roman"/>
                <a:cs typeface="Times New Roman"/>
              </a:rPr>
              <a:t>10.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FA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1905000"/>
            <a:ext cx="4639056" cy="16093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393" y="4343437"/>
            <a:ext cx="4352550" cy="140051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36549"/>
            <a:ext cx="498157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85" dirty="0">
                <a:solidFill>
                  <a:schemeClr val="accent6">
                    <a:lumMod val="75000"/>
                  </a:schemeClr>
                </a:solidFill>
              </a:rPr>
              <a:t>DFA-</a:t>
            </a:r>
            <a:r>
              <a:rPr sz="3200" b="1" spc="1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</a:rPr>
              <a:t>Practice</a:t>
            </a:r>
            <a:r>
              <a:rPr sz="3200" b="1" spc="-1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3200" b="1" spc="-5" dirty="0">
                <a:solidFill>
                  <a:schemeClr val="accent6">
                    <a:lumMod val="75000"/>
                  </a:schemeClr>
                </a:solidFill>
              </a:rPr>
              <a:t>Problems</a:t>
            </a:r>
            <a:endParaRPr sz="32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162887"/>
            <a:ext cx="8305800" cy="32879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1965" marR="17780" indent="-457200">
              <a:lnSpc>
                <a:spcPts val="2810"/>
              </a:lnSpc>
              <a:spcBef>
                <a:spcPts val="660"/>
              </a:spcBef>
              <a:buClr>
                <a:srgbClr val="2CA1BE"/>
              </a:buClr>
              <a:buSzPct val="84615"/>
              <a:buAutoNum type="arabicPeriod" startAt="11"/>
              <a:tabLst>
                <a:tab pos="482600" algn="l"/>
                <a:tab pos="4488180" algn="l"/>
              </a:tabLst>
            </a:pPr>
            <a:r>
              <a:rPr sz="2400" spc="-5" smtClean="0">
                <a:latin typeface="Times New Roman"/>
                <a:cs typeface="Times New Roman"/>
              </a:rPr>
              <a:t>Des</a:t>
            </a:r>
            <a:r>
              <a:rPr sz="2400" spc="-15" smtClean="0">
                <a:latin typeface="Times New Roman"/>
                <a:cs typeface="Times New Roman"/>
              </a:rPr>
              <a:t>i</a:t>
            </a:r>
            <a:r>
              <a:rPr sz="2400" smtClean="0">
                <a:latin typeface="Times New Roman"/>
                <a:cs typeface="Times New Roman"/>
              </a:rPr>
              <a:t>gn</a:t>
            </a:r>
            <a:r>
              <a:rPr sz="2400" spc="-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20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abet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∑={0,1},w</a:t>
            </a:r>
            <a:r>
              <a:rPr sz="2400" spc="5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either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>
                <a:latin typeface="Times New Roman"/>
                <a:cs typeface="Times New Roman"/>
              </a:rPr>
              <a:t>start</a:t>
            </a:r>
            <a:r>
              <a:rPr sz="2400" spc="5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with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01</a:t>
            </a:r>
            <a:r>
              <a:rPr sz="2400" spc="-1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01.</a:t>
            </a:r>
            <a:endParaRPr sz="2400">
              <a:latin typeface="Times New Roman"/>
              <a:cs typeface="Times New Roman"/>
            </a:endParaRPr>
          </a:p>
          <a:p>
            <a:pPr marL="481965" marR="46355" indent="-457200">
              <a:lnSpc>
                <a:spcPct val="90000"/>
              </a:lnSpc>
              <a:spcBef>
                <a:spcPts val="555"/>
              </a:spcBef>
              <a:buClr>
                <a:srgbClr val="2CA1BE"/>
              </a:buClr>
              <a:buSzPct val="84615"/>
              <a:buAutoNum type="arabicPeriod" startAt="11"/>
              <a:tabLst>
                <a:tab pos="482600" algn="l"/>
                <a:tab pos="3563620" algn="l"/>
              </a:tabLst>
            </a:pPr>
            <a:r>
              <a:rPr sz="2400" dirty="0">
                <a:latin typeface="Times New Roman"/>
                <a:cs typeface="Times New Roman"/>
              </a:rPr>
              <a:t>Give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D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pting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 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rings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er  alphabet ∑={0,1},such that 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each </a:t>
            </a:r>
            <a:r>
              <a:rPr sz="2400" spc="-5" dirty="0">
                <a:latin typeface="Times New Roman"/>
                <a:cs typeface="Times New Roman"/>
              </a:rPr>
              <a:t>string </a:t>
            </a:r>
            <a:r>
              <a:rPr sz="2400" dirty="0">
                <a:latin typeface="Times New Roman"/>
                <a:cs typeface="Times New Roman"/>
              </a:rPr>
              <a:t>number of </a:t>
            </a:r>
            <a:r>
              <a:rPr sz="2400" spc="-6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0’s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divisible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by </a:t>
            </a:r>
            <a:r>
              <a:rPr sz="2400" smtClean="0">
                <a:latin typeface="Times New Roman"/>
                <a:cs typeface="Times New Roman"/>
              </a:rPr>
              <a:t>five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and</a:t>
            </a:r>
            <a:r>
              <a:rPr sz="2400" spc="-2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1’s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divisible </a:t>
            </a:r>
            <a:r>
              <a:rPr sz="2400" spc="-6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3</a:t>
            </a:r>
            <a:r>
              <a:rPr sz="240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481965" marR="46355" indent="-457200">
              <a:lnSpc>
                <a:spcPct val="90000"/>
              </a:lnSpc>
              <a:spcBef>
                <a:spcPts val="555"/>
              </a:spcBef>
              <a:buClr>
                <a:srgbClr val="2CA1BE"/>
              </a:buClr>
              <a:buSzPct val="84615"/>
              <a:buAutoNum type="arabicPeriod" startAt="11"/>
              <a:tabLst>
                <a:tab pos="482600" algn="l"/>
                <a:tab pos="356362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Construct DFA which accept a language ∑={</a:t>
            </a:r>
            <a:r>
              <a:rPr lang="en-US" sz="2400" dirty="0" err="1" smtClean="0">
                <a:latin typeface="Times New Roman"/>
                <a:cs typeface="Times New Roman"/>
              </a:rPr>
              <a:t>a,b</a:t>
            </a:r>
            <a:r>
              <a:rPr lang="en-US" sz="2400" dirty="0" smtClean="0">
                <a:latin typeface="Times New Roman"/>
                <a:cs typeface="Times New Roman"/>
              </a:rPr>
              <a:t>} of all strings containing ‘a’</a:t>
            </a:r>
          </a:p>
          <a:p>
            <a:pPr marL="481965" marR="46355" indent="-457200">
              <a:lnSpc>
                <a:spcPct val="90000"/>
              </a:lnSpc>
              <a:spcBef>
                <a:spcPts val="555"/>
              </a:spcBef>
              <a:buClr>
                <a:srgbClr val="2CA1BE"/>
              </a:buClr>
              <a:buSzPct val="84615"/>
              <a:buAutoNum type="arabicPeriod" startAt="11"/>
              <a:tabLst>
                <a:tab pos="482600" algn="l"/>
                <a:tab pos="356362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Construct DFA which accepts all the strings over an alphabet ∑={</a:t>
            </a:r>
            <a:r>
              <a:rPr lang="en-US" sz="2400" dirty="0" err="1" smtClean="0">
                <a:latin typeface="Times New Roman"/>
                <a:cs typeface="Times New Roman"/>
              </a:rPr>
              <a:t>a,b</a:t>
            </a:r>
            <a:r>
              <a:rPr lang="en-US" sz="2400" dirty="0" smtClean="0">
                <a:latin typeface="Times New Roman"/>
                <a:cs typeface="Times New Roman"/>
              </a:rPr>
              <a:t>} where length of a string =2.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57200"/>
            <a:ext cx="485521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3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NFA-Practice</a:t>
            </a:r>
            <a:r>
              <a:rPr sz="36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Problems</a:t>
            </a:r>
            <a:endParaRPr sz="36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2644" y="1404873"/>
            <a:ext cx="7533005" cy="45541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78485" marR="222885" indent="-515620">
              <a:lnSpc>
                <a:spcPts val="2110"/>
              </a:lnSpc>
              <a:spcBef>
                <a:spcPts val="605"/>
              </a:spcBef>
              <a:buClr>
                <a:srgbClr val="2CA1BE"/>
              </a:buClr>
              <a:buSzPct val="84090"/>
              <a:buAutoNum type="arabicPeriod"/>
              <a:tabLst>
                <a:tab pos="578485" algn="l"/>
                <a:tab pos="579120" algn="l"/>
                <a:tab pos="1506855" algn="l"/>
                <a:tab pos="2586355" algn="l"/>
                <a:tab pos="4248150" algn="l"/>
              </a:tabLst>
            </a:pPr>
            <a:r>
              <a:rPr sz="2200" spc="-5" dirty="0">
                <a:latin typeface="Times New Roman"/>
                <a:cs typeface="Times New Roman"/>
              </a:rPr>
              <a:t>Design	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	L=all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 over </a:t>
            </a:r>
            <a:r>
              <a:rPr sz="2200" dirty="0">
                <a:latin typeface="Times New Roman"/>
                <a:cs typeface="Times New Roman"/>
              </a:rPr>
              <a:t>{0,1}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have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least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	consecutive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40" dirty="0">
                <a:latin typeface="Times New Roman"/>
                <a:cs typeface="Times New Roman"/>
              </a:rPr>
              <a:t>0’s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1’s.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2CA1BE"/>
              </a:buClr>
              <a:buFont typeface="Times New Roman"/>
              <a:buAutoNum type="arabicPeriod"/>
            </a:pPr>
            <a:endParaRPr sz="2900">
              <a:latin typeface="Times New Roman"/>
              <a:cs typeface="Times New Roman"/>
            </a:endParaRPr>
          </a:p>
          <a:p>
            <a:pPr marL="578485" marR="584200" indent="-515620">
              <a:lnSpc>
                <a:spcPct val="80000"/>
              </a:lnSpc>
              <a:buClr>
                <a:srgbClr val="2CA1BE"/>
              </a:buClr>
              <a:buSzPct val="84090"/>
              <a:buAutoNum type="arabicPeriod"/>
              <a:tabLst>
                <a:tab pos="578485" algn="l"/>
                <a:tab pos="579120" algn="l"/>
                <a:tab pos="1136650" algn="l"/>
              </a:tabLst>
            </a:pPr>
            <a:r>
              <a:rPr sz="2200" spc="-5" smtClean="0">
                <a:latin typeface="Times New Roman"/>
                <a:cs typeface="Times New Roman"/>
              </a:rPr>
              <a:t>Draw</a:t>
            </a:r>
            <a:r>
              <a:rPr sz="2200" spc="15" smtClean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L=(ab)*(ba)*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aa*.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Font typeface="Times New Roman"/>
              <a:buAutoNum type="arabicPeriod"/>
            </a:pPr>
            <a:endParaRPr sz="2400">
              <a:latin typeface="Times New Roman"/>
              <a:cs typeface="Times New Roman"/>
            </a:endParaRPr>
          </a:p>
          <a:p>
            <a:pPr marL="578485" indent="-515620">
              <a:lnSpc>
                <a:spcPts val="2375"/>
              </a:lnSpc>
              <a:buClr>
                <a:srgbClr val="2CA1BE"/>
              </a:buClr>
              <a:buSzPct val="84090"/>
              <a:buAutoNum type="arabicPeriod"/>
              <a:tabLst>
                <a:tab pos="578485" algn="l"/>
                <a:tab pos="579120" algn="l"/>
              </a:tabLst>
            </a:pPr>
            <a:r>
              <a:rPr sz="2200" spc="-5" dirty="0">
                <a:latin typeface="Times New Roman"/>
                <a:cs typeface="Times New Roman"/>
              </a:rPr>
              <a:t>Draw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 </a:t>
            </a:r>
            <a:r>
              <a:rPr sz="2200" dirty="0">
                <a:latin typeface="Times New Roman"/>
                <a:cs typeface="Times New Roman"/>
              </a:rPr>
              <a:t>L=(aba)*</a:t>
            </a:r>
            <a:endParaRPr sz="2200">
              <a:latin typeface="Times New Roman"/>
              <a:cs typeface="Times New Roman"/>
            </a:endParaRPr>
          </a:p>
          <a:p>
            <a:pPr marL="578485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U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aa*.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578485" marR="1143635" indent="-515620">
              <a:lnSpc>
                <a:spcPct val="80000"/>
              </a:lnSpc>
              <a:buClr>
                <a:srgbClr val="2CA1BE"/>
              </a:buClr>
              <a:buSzPct val="84090"/>
              <a:buAutoNum type="arabicPeriod" startAt="4"/>
              <a:tabLst>
                <a:tab pos="578485" algn="l"/>
                <a:tab pos="579120" algn="l"/>
              </a:tabLst>
            </a:pPr>
            <a:r>
              <a:rPr sz="2200" spc="-5" dirty="0">
                <a:latin typeface="Times New Roman"/>
                <a:cs typeface="Times New Roman"/>
              </a:rPr>
              <a:t>Draw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L={(a</a:t>
            </a:r>
            <a:r>
              <a:rPr sz="2175" spc="-7" baseline="24904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:n&gt;=0)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 (b</a:t>
            </a:r>
            <a:r>
              <a:rPr sz="2175" spc="-7" baseline="24904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a:n&gt;=1)}.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Font typeface="Times New Roman"/>
              <a:buAutoNum type="arabicPeriod" startAt="4"/>
            </a:pPr>
            <a:endParaRPr sz="2400">
              <a:latin typeface="Times New Roman"/>
              <a:cs typeface="Times New Roman"/>
            </a:endParaRPr>
          </a:p>
          <a:p>
            <a:pPr marL="578485" indent="-515620">
              <a:lnSpc>
                <a:spcPts val="2375"/>
              </a:lnSpc>
              <a:spcBef>
                <a:spcPts val="5"/>
              </a:spcBef>
              <a:buClr>
                <a:srgbClr val="2CA1BE"/>
              </a:buClr>
              <a:buSzPct val="84090"/>
              <a:buAutoNum type="arabicPeriod" startAt="4"/>
              <a:tabLst>
                <a:tab pos="578485" algn="l"/>
                <a:tab pos="579120" algn="l"/>
                <a:tab pos="1136650" algn="l"/>
              </a:tabLst>
            </a:pPr>
            <a:r>
              <a:rPr sz="2200" spc="-5" smtClean="0">
                <a:latin typeface="Times New Roman"/>
                <a:cs typeface="Times New Roman"/>
              </a:rPr>
              <a:t>Draw</a:t>
            </a:r>
            <a:r>
              <a:rPr sz="2200" spc="15" smtClean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NFA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language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L=</a:t>
            </a:r>
            <a:endParaRPr sz="2200">
              <a:latin typeface="Times New Roman"/>
              <a:cs typeface="Times New Roman"/>
            </a:endParaRPr>
          </a:p>
          <a:p>
            <a:pPr marL="578485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={(a</a:t>
            </a:r>
            <a:r>
              <a:rPr sz="2175" spc="-7" baseline="24904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:n&gt;=0)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(b</a:t>
            </a:r>
            <a:r>
              <a:rPr sz="2175" baseline="24904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:n&gt;=0)}.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543139" cy="55399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Epsilon(</a:t>
            </a:r>
            <a:r>
              <a:rPr lang="el-GR" b="1" dirty="0" smtClean="0">
                <a:solidFill>
                  <a:srgbClr val="FF0000"/>
                </a:solidFill>
              </a:rPr>
              <a:t>ε</a:t>
            </a:r>
            <a:r>
              <a:rPr lang="en-US" b="1" dirty="0" smtClean="0">
                <a:solidFill>
                  <a:srgbClr val="FF0000"/>
                </a:solidFill>
              </a:rPr>
              <a:t>) closure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382000" cy="5444669"/>
          </a:xfrm>
        </p:spPr>
        <p:txBody>
          <a:bodyPr>
            <a:normAutofit fontScale="77500" lnSpcReduction="20000"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 set of states that are reached from the state ‘q’ on </a:t>
            </a:r>
            <a:r>
              <a:rPr lang="el-GR" sz="2000" b="1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-transitions.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closure (P) = P, where P ∈ Q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there exists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closure (P) = {q} and 𝛿(q,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ε) =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 then,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closure (P) = {q, r}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Here,</a:t>
            </a:r>
          </a:p>
          <a:p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closure (q0)= {q0,q1,q2}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self state+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reachable states.</a:t>
            </a:r>
          </a:p>
          <a:p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closure (q1)= { q1,q2}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q1 is self-state and q2 is a state obtained from q1 with epsilon input.</a:t>
            </a:r>
          </a:p>
          <a:p>
            <a:r>
              <a:rPr lang="el-GR" sz="2000" dirty="0" smtClean="0">
                <a:latin typeface="Times New Roman" pitchFamily="18" charset="0"/>
                <a:cs typeface="Times New Roman" pitchFamily="18" charset="0"/>
              </a:rPr>
              <a:t>ε-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closure (q2)= {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q2}</a:t>
            </a:r>
            <a:endParaRPr lang="en-US" dirty="0" smtClean="0"/>
          </a:p>
        </p:txBody>
      </p:sp>
      <p:pic>
        <p:nvPicPr>
          <p:cNvPr id="1026" name="Picture 2" descr="C:\Users\Admin\Downloads\epsilon_closur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2667000"/>
            <a:ext cx="5334000" cy="1495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81000"/>
            <a:ext cx="660971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Conver</a:t>
            </a:r>
            <a:r>
              <a:rPr sz="3600" b="1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ion</a:t>
            </a:r>
            <a:r>
              <a:rPr sz="3600" b="1" spc="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sz="3600" b="1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-N</a:t>
            </a:r>
            <a:r>
              <a:rPr sz="3600" b="1" spc="-3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3600" b="1" spc="-27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38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 N</a:t>
            </a:r>
            <a:r>
              <a:rPr sz="3600" b="1" spc="-3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sz="36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sz="36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1066800"/>
            <a:ext cx="8229600" cy="5352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31200"/>
              </a:lnSpc>
              <a:spcBef>
                <a:spcPts val="100"/>
              </a:spcBef>
            </a:pPr>
            <a:r>
              <a:rPr spc="-5" dirty="0">
                <a:latin typeface="Times New Roman"/>
                <a:cs typeface="Times New Roman"/>
              </a:rPr>
              <a:t>The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Process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Of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Conversion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Of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Times New Roman"/>
                <a:cs typeface="Times New Roman"/>
              </a:rPr>
              <a:t>ε-NFA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Times New Roman"/>
                <a:cs typeface="Times New Roman"/>
              </a:rPr>
              <a:t>To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Times New Roman"/>
                <a:cs typeface="Times New Roman"/>
              </a:rPr>
              <a:t>NFA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Called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As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Thomson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Construction</a:t>
            </a:r>
            <a:r>
              <a:rPr spc="-5">
                <a:latin typeface="Times New Roman"/>
                <a:cs typeface="Times New Roman"/>
              </a:rPr>
              <a:t>. </a:t>
            </a:r>
            <a:r>
              <a:rPr spc="-385">
                <a:latin typeface="Times New Roman"/>
                <a:cs typeface="Times New Roman"/>
              </a:rPr>
              <a:t> </a:t>
            </a:r>
            <a:endParaRPr lang="en-US" spc="-385" dirty="0" smtClean="0">
              <a:latin typeface="Times New Roman"/>
              <a:cs typeface="Times New Roman"/>
            </a:endParaRPr>
          </a:p>
          <a:p>
            <a:pPr marL="25400" marR="17780">
              <a:lnSpc>
                <a:spcPct val="131200"/>
              </a:lnSpc>
              <a:spcBef>
                <a:spcPts val="100"/>
              </a:spcBef>
            </a:pPr>
            <a:r>
              <a:rPr spc="-5" smtClean="0">
                <a:latin typeface="Times New Roman"/>
                <a:cs typeface="Times New Roman"/>
              </a:rPr>
              <a:t>Note</a:t>
            </a:r>
            <a:r>
              <a:rPr spc="-5" dirty="0">
                <a:latin typeface="Times New Roman"/>
                <a:cs typeface="Times New Roman"/>
              </a:rPr>
              <a:t>:-</a:t>
            </a:r>
            <a:endParaRPr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4375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pc="-5" dirty="0">
                <a:latin typeface="Times New Roman"/>
                <a:cs typeface="Times New Roman"/>
              </a:rPr>
              <a:t>No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Change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In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Initial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State</a:t>
            </a:r>
            <a:endParaRPr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375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pc="-5" dirty="0">
                <a:latin typeface="Times New Roman"/>
                <a:cs typeface="Times New Roman"/>
              </a:rPr>
              <a:t>No Change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In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The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Total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No.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Of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States</a:t>
            </a:r>
            <a:endParaRPr>
              <a:latin typeface="Times New Roman"/>
              <a:cs typeface="Times New Roman"/>
            </a:endParaRPr>
          </a:p>
          <a:p>
            <a:pPr marL="2990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375"/>
              <a:buFont typeface="Segoe UI Symbol"/>
              <a:buChar char="⚫"/>
              <a:tabLst>
                <a:tab pos="299085" algn="l"/>
                <a:tab pos="299720" algn="l"/>
              </a:tabLst>
            </a:pPr>
            <a:r>
              <a:rPr spc="-5" dirty="0">
                <a:latin typeface="Times New Roman"/>
                <a:cs typeface="Times New Roman"/>
              </a:rPr>
              <a:t>May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Be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Change </a:t>
            </a:r>
            <a:r>
              <a:rPr spc="-10" dirty="0">
                <a:latin typeface="Times New Roman"/>
                <a:cs typeface="Times New Roman"/>
              </a:rPr>
              <a:t>In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Final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States</a:t>
            </a:r>
            <a:endParaRPr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b="1" spc="-5" dirty="0">
                <a:latin typeface="Times New Roman"/>
                <a:cs typeface="Times New Roman"/>
              </a:rPr>
              <a:t>Algorithm</a:t>
            </a:r>
            <a:endParaRPr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pc="-5" dirty="0">
                <a:latin typeface="Times New Roman"/>
                <a:cs typeface="Times New Roman"/>
              </a:rPr>
              <a:t>Let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M=(Q,Σ,δ,q</a:t>
            </a:r>
            <a:r>
              <a:rPr spc="-7" baseline="-21164" dirty="0">
                <a:latin typeface="Times New Roman"/>
                <a:cs typeface="Times New Roman"/>
              </a:rPr>
              <a:t>0</a:t>
            </a:r>
            <a:r>
              <a:rPr spc="-5" dirty="0">
                <a:latin typeface="Times New Roman"/>
                <a:cs typeface="Times New Roman"/>
              </a:rPr>
              <a:t>,F)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–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Times New Roman"/>
                <a:cs typeface="Times New Roman"/>
              </a:rPr>
              <a:t>ε-NFA</a:t>
            </a:r>
            <a:endParaRPr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dirty="0">
                <a:latin typeface="Times New Roman"/>
                <a:cs typeface="Times New Roman"/>
              </a:rPr>
              <a:t>M</a:t>
            </a:r>
            <a:r>
              <a:rPr baseline="26455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(Q</a:t>
            </a:r>
            <a:r>
              <a:rPr baseline="26455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,Σ,δ</a:t>
            </a:r>
            <a:r>
              <a:rPr baseline="26455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,q</a:t>
            </a:r>
            <a:r>
              <a:rPr baseline="-21164" dirty="0">
                <a:latin typeface="Times New Roman"/>
                <a:cs typeface="Times New Roman"/>
              </a:rPr>
              <a:t>0</a:t>
            </a:r>
            <a:r>
              <a:rPr baseline="26455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,F</a:t>
            </a:r>
            <a:r>
              <a:rPr baseline="26455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) </a:t>
            </a:r>
            <a:r>
              <a:rPr spc="-5" dirty="0">
                <a:latin typeface="Times New Roman"/>
                <a:cs typeface="Times New Roman"/>
              </a:rPr>
              <a:t>–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Times New Roman"/>
                <a:cs typeface="Times New Roman"/>
              </a:rPr>
              <a:t>NFA</a:t>
            </a:r>
            <a:endParaRPr>
              <a:latin typeface="Times New Roman"/>
              <a:cs typeface="Times New Roman"/>
            </a:endParaRPr>
          </a:p>
          <a:p>
            <a:pPr marL="245745" indent="-220979">
              <a:lnSpc>
                <a:spcPct val="100000"/>
              </a:lnSpc>
              <a:spcBef>
                <a:spcPts val="600"/>
              </a:spcBef>
              <a:buAutoNum type="arabicParenR"/>
              <a:tabLst>
                <a:tab pos="246379" algn="l"/>
              </a:tabLst>
            </a:pPr>
            <a:r>
              <a:rPr b="1" spc="-5" dirty="0">
                <a:latin typeface="Times New Roman"/>
                <a:cs typeface="Times New Roman"/>
              </a:rPr>
              <a:t>Initial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State</a:t>
            </a:r>
            <a:endParaRPr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pc="5" dirty="0">
                <a:latin typeface="Times New Roman"/>
                <a:cs typeface="Times New Roman"/>
              </a:rPr>
              <a:t>q</a:t>
            </a:r>
            <a:r>
              <a:rPr spc="7" baseline="-21164" dirty="0">
                <a:latin typeface="Times New Roman"/>
                <a:cs typeface="Times New Roman"/>
              </a:rPr>
              <a:t>0</a:t>
            </a:r>
            <a:r>
              <a:rPr spc="7" baseline="26455" dirty="0">
                <a:latin typeface="Times New Roman"/>
                <a:cs typeface="Times New Roman"/>
              </a:rPr>
              <a:t>1</a:t>
            </a:r>
            <a:r>
              <a:rPr spc="5" dirty="0">
                <a:latin typeface="Times New Roman"/>
                <a:cs typeface="Times New Roman"/>
              </a:rPr>
              <a:t>=q</a:t>
            </a:r>
            <a:r>
              <a:rPr spc="7" baseline="-21164" dirty="0">
                <a:latin typeface="Times New Roman"/>
                <a:cs typeface="Times New Roman"/>
              </a:rPr>
              <a:t>0</a:t>
            </a:r>
            <a:endParaRPr baseline="-21164">
              <a:latin typeface="Times New Roman"/>
              <a:cs typeface="Times New Roman"/>
            </a:endParaRPr>
          </a:p>
          <a:p>
            <a:pPr marL="245745" indent="-220979">
              <a:lnSpc>
                <a:spcPct val="100000"/>
              </a:lnSpc>
              <a:spcBef>
                <a:spcPts val="600"/>
              </a:spcBef>
              <a:buAutoNum type="arabicParenR" startAt="2"/>
              <a:tabLst>
                <a:tab pos="246379" algn="l"/>
              </a:tabLst>
            </a:pPr>
            <a:r>
              <a:rPr b="1" spc="-5" dirty="0">
                <a:latin typeface="Times New Roman"/>
                <a:cs typeface="Times New Roman"/>
              </a:rPr>
              <a:t>Construction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Of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δ</a:t>
            </a:r>
            <a:r>
              <a:rPr b="1" baseline="26455" dirty="0">
                <a:latin typeface="Times New Roman"/>
                <a:cs typeface="Times New Roman"/>
              </a:rPr>
              <a:t>1</a:t>
            </a:r>
            <a:endParaRPr baseline="26455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baseline="-17361" dirty="0">
                <a:latin typeface="Times New Roman"/>
                <a:cs typeface="Times New Roman"/>
              </a:rPr>
              <a:t>δ</a:t>
            </a:r>
            <a:r>
              <a:rPr dirty="0">
                <a:latin typeface="Times New Roman"/>
                <a:cs typeface="Times New Roman"/>
              </a:rPr>
              <a:t>1</a:t>
            </a:r>
            <a:endParaRPr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pc="-5" dirty="0">
                <a:latin typeface="Times New Roman"/>
                <a:cs typeface="Times New Roman"/>
              </a:rPr>
              <a:t>(q,x)=ε-Closure(δ(ε-Closure(q),x)</a:t>
            </a:r>
            <a:endParaRPr>
              <a:latin typeface="Times New Roman"/>
              <a:cs typeface="Times New Roman"/>
            </a:endParaRPr>
          </a:p>
          <a:p>
            <a:pPr marL="245745" indent="-220979">
              <a:lnSpc>
                <a:spcPct val="100000"/>
              </a:lnSpc>
              <a:spcBef>
                <a:spcPts val="600"/>
              </a:spcBef>
              <a:buAutoNum type="arabicParenR" startAt="3"/>
              <a:tabLst>
                <a:tab pos="246379" algn="l"/>
              </a:tabLst>
            </a:pPr>
            <a:r>
              <a:rPr b="1" spc="-5" dirty="0">
                <a:latin typeface="Times New Roman"/>
                <a:cs typeface="Times New Roman"/>
              </a:rPr>
              <a:t>Final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State</a:t>
            </a:r>
            <a:endParaRPr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pc="-5" dirty="0">
                <a:latin typeface="Times New Roman"/>
                <a:cs typeface="Times New Roman"/>
              </a:rPr>
              <a:t>Every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State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Who’s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ε-Closure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Contain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Final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State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Of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Times New Roman"/>
                <a:cs typeface="Times New Roman"/>
              </a:rPr>
              <a:t>ε-NFA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Final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State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In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Times New Roman"/>
                <a:cs typeface="Times New Roman"/>
              </a:rPr>
              <a:t>NFA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6518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Conversion</a:t>
            </a:r>
            <a:r>
              <a:rPr sz="30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3000" b="1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4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E-NFA</a:t>
            </a:r>
            <a:r>
              <a:rPr sz="3000" b="1" spc="-229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14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8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NFA</a:t>
            </a:r>
            <a:r>
              <a:rPr sz="3000" b="1" spc="-1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-example</a:t>
            </a:r>
            <a:endParaRPr sz="3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044" y="2845434"/>
            <a:ext cx="5126355" cy="2985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indent="-27432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311785" algn="l"/>
                <a:tab pos="31242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ε-Closure(q</a:t>
            </a:r>
            <a:r>
              <a:rPr sz="2400" baseline="-20833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)-{q</a:t>
            </a:r>
            <a:r>
              <a:rPr sz="2400" baseline="-20833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,q</a:t>
            </a:r>
            <a:r>
              <a:rPr sz="2400" baseline="-20833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11785" indent="-274320"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311785" algn="l"/>
                <a:tab pos="31242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ε-Closure(q</a:t>
            </a:r>
            <a:r>
              <a:rPr sz="2400" baseline="-20833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)-{q</a:t>
            </a:r>
            <a:r>
              <a:rPr sz="2400" baseline="-20833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494665" indent="-457200">
              <a:lnSpc>
                <a:spcPct val="100000"/>
              </a:lnSpc>
              <a:spcBef>
                <a:spcPts val="80"/>
              </a:spcBef>
              <a:buClr>
                <a:srgbClr val="2CA1BE"/>
              </a:buClr>
              <a:buSzPct val="84090"/>
              <a:buAutoNum type="arabicPeriod"/>
              <a:tabLst>
                <a:tab pos="494665" algn="l"/>
                <a:tab pos="495300" algn="l"/>
              </a:tabLst>
            </a:pPr>
            <a:r>
              <a:rPr sz="2200" b="1" spc="-5" dirty="0">
                <a:latin typeface="Times New Roman" pitchFamily="18" charset="0"/>
                <a:cs typeface="Times New Roman" pitchFamily="18" charset="0"/>
              </a:rPr>
              <a:t>Initial</a:t>
            </a:r>
            <a:r>
              <a:rPr sz="2200" b="1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b="1" spc="-5" dirty="0">
                <a:latin typeface="Times New Roman" pitchFamily="18" charset="0"/>
                <a:cs typeface="Times New Roman" pitchFamily="18" charset="0"/>
              </a:rPr>
              <a:t>State :</a:t>
            </a:r>
            <a:r>
              <a:rPr sz="22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200" b="1" spc="-5" dirty="0">
                <a:latin typeface="Times New Roman" pitchFamily="18" charset="0"/>
                <a:cs typeface="Times New Roman" pitchFamily="18" charset="0"/>
              </a:rPr>
              <a:t>q0</a:t>
            </a:r>
            <a:endParaRPr sz="2200">
              <a:latin typeface="Times New Roman" pitchFamily="18" charset="0"/>
              <a:cs typeface="Times New Roman" pitchFamily="18" charset="0"/>
            </a:endParaRPr>
          </a:p>
          <a:p>
            <a:pPr marL="494665" indent="-457200">
              <a:lnSpc>
                <a:spcPts val="2255"/>
              </a:lnSpc>
              <a:spcBef>
                <a:spcPts val="155"/>
              </a:spcBef>
              <a:buClr>
                <a:srgbClr val="2CA1BE"/>
              </a:buClr>
              <a:buSzPct val="84210"/>
              <a:buAutoNum type="arabicPeriod"/>
              <a:tabLst>
                <a:tab pos="494665" algn="l"/>
                <a:tab pos="495300" algn="l"/>
              </a:tabLst>
            </a:pPr>
            <a:r>
              <a:rPr sz="1900" b="1" spc="-5" dirty="0">
                <a:latin typeface="Times New Roman" pitchFamily="18" charset="0"/>
                <a:cs typeface="Times New Roman" pitchFamily="18" charset="0"/>
              </a:rPr>
              <a:t>Construction</a:t>
            </a:r>
            <a:r>
              <a:rPr sz="19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900" b="1"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19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900" b="1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sz="1875" b="1" baseline="26666" dirty="0">
                <a:latin typeface="Times New Roman" pitchFamily="18" charset="0"/>
                <a:cs typeface="Times New Roman" pitchFamily="18" charset="0"/>
              </a:rPr>
              <a:t>1</a:t>
            </a:r>
            <a:endParaRPr sz="1875" baseline="26666">
              <a:latin typeface="Times New Roman" pitchFamily="18" charset="0"/>
              <a:cs typeface="Times New Roman" pitchFamily="18" charset="0"/>
            </a:endParaRPr>
          </a:p>
          <a:p>
            <a:pPr marL="38100">
              <a:lnSpc>
                <a:spcPts val="3080"/>
              </a:lnSpc>
            </a:pPr>
            <a:r>
              <a:rPr sz="2600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sz="2550" baseline="26143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=(q</a:t>
            </a:r>
            <a:r>
              <a:rPr sz="2550" baseline="-2124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,0)=ε-Closure(δ(ε-Closure(q</a:t>
            </a:r>
            <a:r>
              <a:rPr sz="2550" baseline="-2124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,0)</a:t>
            </a:r>
            <a:endParaRPr sz="2600">
              <a:latin typeface="Times New Roman" pitchFamily="18" charset="0"/>
              <a:cs typeface="Times New Roman" pitchFamily="18" charset="0"/>
            </a:endParaRPr>
          </a:p>
          <a:p>
            <a:pPr marL="38100">
              <a:lnSpc>
                <a:spcPts val="3095"/>
              </a:lnSpc>
            </a:pPr>
            <a:r>
              <a:rPr sz="2600" dirty="0">
                <a:latin typeface="Times New Roman" pitchFamily="18" charset="0"/>
                <a:cs typeface="Times New Roman" pitchFamily="18" charset="0"/>
              </a:rPr>
              <a:t>=ε-Closure(δ({q</a:t>
            </a:r>
            <a:r>
              <a:rPr sz="2550" baseline="-2124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,q</a:t>
            </a:r>
            <a:r>
              <a:rPr sz="2550" baseline="-2124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},0))</a:t>
            </a:r>
            <a:endParaRPr sz="2600">
              <a:latin typeface="Times New Roman" pitchFamily="18" charset="0"/>
              <a:cs typeface="Times New Roman" pitchFamily="18" charset="0"/>
            </a:endParaRPr>
          </a:p>
          <a:p>
            <a:pPr marL="38100">
              <a:lnSpc>
                <a:spcPts val="3095"/>
              </a:lnSpc>
            </a:pPr>
            <a:r>
              <a:rPr sz="2600" dirty="0">
                <a:latin typeface="Times New Roman" pitchFamily="18" charset="0"/>
                <a:cs typeface="Times New Roman" pitchFamily="18" charset="0"/>
              </a:rPr>
              <a:t>=ε-Closure(q</a:t>
            </a:r>
            <a:r>
              <a:rPr sz="2550" baseline="-2124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)</a:t>
            </a:r>
            <a:endParaRPr sz="2600">
              <a:latin typeface="Times New Roman" pitchFamily="18" charset="0"/>
              <a:cs typeface="Times New Roman" pitchFamily="18" charset="0"/>
            </a:endParaRPr>
          </a:p>
          <a:p>
            <a:pPr marL="38100">
              <a:lnSpc>
                <a:spcPts val="3110"/>
              </a:lnSpc>
            </a:pPr>
            <a:r>
              <a:rPr sz="2600" dirty="0">
                <a:latin typeface="Times New Roman" pitchFamily="18" charset="0"/>
                <a:cs typeface="Times New Roman" pitchFamily="18" charset="0"/>
              </a:rPr>
              <a:t>={q</a:t>
            </a:r>
            <a:r>
              <a:rPr sz="2550" baseline="-2124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,q</a:t>
            </a:r>
            <a:r>
              <a:rPr sz="2550" baseline="-2124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600" dirty="0">
                <a:latin typeface="Times New Roman" pitchFamily="18" charset="0"/>
                <a:cs typeface="Times New Roman" pitchFamily="18" charset="0"/>
              </a:rPr>
              <a:t>}</a:t>
            </a:r>
            <a:endParaRPr sz="26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295400"/>
            <a:ext cx="3048000" cy="1371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1455575"/>
            <a:ext cx="3399529" cy="26592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04800"/>
            <a:ext cx="6781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Conversion</a:t>
            </a:r>
            <a:r>
              <a:rPr sz="30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3000" b="1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4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E-NFA</a:t>
            </a:r>
            <a:r>
              <a:rPr sz="3000" b="1" spc="-229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14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8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NFA</a:t>
            </a:r>
            <a:r>
              <a:rPr sz="3000" b="1" spc="-1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-example</a:t>
            </a:r>
            <a:endParaRPr sz="3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644" y="1410970"/>
            <a:ext cx="4467556" cy="454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δ</a:t>
            </a:r>
            <a:r>
              <a:rPr sz="1950" spc="-7" baseline="25641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=(q</a:t>
            </a:r>
            <a:r>
              <a:rPr sz="1950" spc="-7" baseline="-21367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,1)=ε-Closure(δ(ε-Closure(q</a:t>
            </a:r>
            <a:r>
              <a:rPr sz="1950" spc="-7" baseline="-21367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,1)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Times New Roman"/>
                <a:cs typeface="Times New Roman"/>
              </a:rPr>
              <a:t>=ε-Closure(δ({q</a:t>
            </a:r>
            <a:r>
              <a:rPr sz="1950" baseline="-21367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,q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},1))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=ε-Closure(q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={q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δ</a:t>
            </a:r>
            <a:r>
              <a:rPr sz="1950" spc="-7" baseline="25641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=(q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,0)=ε-Closure(δ(ε-Closure(q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,0)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Times New Roman"/>
                <a:cs typeface="Times New Roman"/>
              </a:rPr>
              <a:t>=ε-Closure(δ({q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},0))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=ε-Closure(Φ)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Times New Roman"/>
                <a:cs typeface="Times New Roman"/>
              </a:rPr>
              <a:t>=Φ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δ</a:t>
            </a:r>
            <a:r>
              <a:rPr sz="1950" spc="-7" baseline="25641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=(q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,1)=ε-Closure(δ(ε-Closure(q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,1)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spc="-5" dirty="0">
                <a:latin typeface="Times New Roman"/>
                <a:cs typeface="Times New Roman"/>
              </a:rPr>
              <a:t>=ε-Closure(δ({q</a:t>
            </a:r>
            <a:r>
              <a:rPr sz="1950" spc="-7" baseline="-21367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},1))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=ε-Closure(q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={q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57200"/>
            <a:ext cx="6518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Conversion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E-NFA</a:t>
            </a:r>
            <a:r>
              <a:rPr sz="3000" b="1" spc="-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NFA</a:t>
            </a:r>
            <a:r>
              <a:rPr sz="3000" b="1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-example</a:t>
            </a:r>
            <a:endParaRPr sz="30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539" y="3006669"/>
            <a:ext cx="5744210" cy="188658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3.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Final</a:t>
            </a:r>
            <a:r>
              <a:rPr sz="24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State?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12420" marR="30480" indent="-274955">
              <a:lnSpc>
                <a:spcPct val="100000"/>
              </a:lnSpc>
              <a:spcBef>
                <a:spcPts val="585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313055" algn="l"/>
              </a:tabLst>
            </a:pPr>
            <a:r>
              <a:rPr sz="2800" spc="5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775" spc="7" baseline="-2102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775" spc="-22" baseline="-2102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sz="2800" spc="5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sz="2775" spc="7" baseline="-2102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775" spc="-15" baseline="-2102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Both</a:t>
            </a:r>
            <a:r>
              <a:rPr sz="2800" spc="-1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Final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States</a:t>
            </a:r>
            <a:r>
              <a:rPr sz="28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" dirty="0">
                <a:latin typeface="Times New Roman" pitchFamily="18" charset="0"/>
                <a:cs typeface="Times New Roman" pitchFamily="18" charset="0"/>
              </a:rPr>
              <a:t>Because </a:t>
            </a:r>
            <a:r>
              <a:rPr sz="2800" spc="-6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ε-Closure(q</a:t>
            </a:r>
            <a:r>
              <a:rPr sz="2775" baseline="-2102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)={q</a:t>
            </a:r>
            <a:r>
              <a:rPr sz="2775" baseline="-2102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,q</a:t>
            </a:r>
            <a:r>
              <a:rPr sz="2775" baseline="-2102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}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312420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ε-Closure(q</a:t>
            </a:r>
            <a:r>
              <a:rPr sz="2775" baseline="-2102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)={q</a:t>
            </a:r>
            <a:r>
              <a:rPr sz="2775" baseline="-2102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}</a:t>
            </a:r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573114"/>
            <a:ext cx="2508584" cy="10465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1295"/>
            <a:ext cx="5940756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Conversion from </a:t>
            </a:r>
            <a:r>
              <a:rPr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sz="3600" spc="-27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sz="36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3600" spc="-2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sz="36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sz="3600" spc="-27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sz="36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013204"/>
            <a:ext cx="7854619" cy="4460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48895" indent="-2743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Let,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(Q,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∑,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δ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q0, </a:t>
            </a:r>
            <a:r>
              <a:rPr sz="2400" spc="-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19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epts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langu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L(M</a:t>
            </a:r>
            <a:r>
              <a:rPr sz="2400" spc="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 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equiv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  by</a:t>
            </a:r>
            <a:r>
              <a:rPr sz="2400" spc="-5" dirty="0">
                <a:latin typeface="Times New Roman"/>
                <a:cs typeface="Times New Roman"/>
              </a:rPr>
              <a:t> M'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(Q',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∑',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q0',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δ',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F')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such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L(M)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L(M').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latin typeface="Times New Roman"/>
                <a:cs typeface="Times New Roman"/>
              </a:rPr>
              <a:t>Steps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A:</a:t>
            </a:r>
            <a:endParaRPr sz="2400">
              <a:latin typeface="Times New Roman"/>
              <a:cs typeface="Times New Roman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1: </a:t>
            </a:r>
            <a:r>
              <a:rPr sz="2400" spc="-5" dirty="0">
                <a:latin typeface="Times New Roman"/>
                <a:cs typeface="Times New Roman"/>
              </a:rPr>
              <a:t>Initially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Q'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ϕ</a:t>
            </a:r>
            <a:endParaRPr sz="2400">
              <a:latin typeface="Times New Roman"/>
              <a:cs typeface="Times New Roman"/>
            </a:endParaRPr>
          </a:p>
          <a:p>
            <a:pPr marL="286385" marR="37338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 2: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 q0 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Q</a:t>
            </a:r>
            <a:r>
              <a:rPr sz="2400" spc="-20" dirty="0">
                <a:latin typeface="Times New Roman"/>
                <a:cs typeface="Times New Roman"/>
              </a:rPr>
              <a:t>'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 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ind 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ans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tions 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 </a:t>
            </a:r>
            <a:r>
              <a:rPr sz="2400" b="1" dirty="0">
                <a:latin typeface="Times New Roman"/>
                <a:cs typeface="Times New Roman"/>
              </a:rPr>
              <a:t>3: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Q',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5" dirty="0">
                <a:latin typeface="Times New Roman"/>
                <a:cs typeface="Times New Roman"/>
              </a:rPr>
              <a:t> 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symbol.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 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states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Q',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Q'.</a:t>
            </a:r>
            <a:endParaRPr sz="2400">
              <a:latin typeface="Times New Roman"/>
              <a:cs typeface="Times New Roman"/>
            </a:endParaRPr>
          </a:p>
          <a:p>
            <a:pPr marL="286385" marR="203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Step </a:t>
            </a:r>
            <a:r>
              <a:rPr sz="2400" b="1" dirty="0">
                <a:latin typeface="Times New Roman"/>
                <a:cs typeface="Times New Roman"/>
              </a:rPr>
              <a:t>4: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DFA,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F(final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0" dirty="0">
                <a:latin typeface="Times New Roman"/>
                <a:cs typeface="Times New Roman"/>
              </a:rPr>
              <a:t>NFA)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04800"/>
            <a:ext cx="75431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Conversion from </a:t>
            </a:r>
            <a:r>
              <a:rPr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sz="3600" spc="-27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sz="36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3600" spc="-2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sz="36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sz="3600" spc="-27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sz="3600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-Exa</a:t>
            </a:r>
            <a:r>
              <a:rPr sz="3600" spc="-2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990600"/>
            <a:ext cx="4267200" cy="21336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70250" y="3117850"/>
          <a:ext cx="3962400" cy="25971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2545"/>
                <a:gridCol w="1347470"/>
                <a:gridCol w="1302385"/>
              </a:tblGrid>
              <a:tr h="722630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</a:tr>
              <a:tr h="620648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→q0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  <a:tr h="626871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{q1,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q2}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</a:tr>
              <a:tr h="626999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*q2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{q1,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q2}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2834"/>
            <a:ext cx="7350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Conversion from </a:t>
            </a:r>
            <a:r>
              <a:rPr sz="3600" dirty="0"/>
              <a:t>N</a:t>
            </a:r>
            <a:r>
              <a:rPr sz="3600" spc="-270" dirty="0"/>
              <a:t>F</a:t>
            </a:r>
            <a:r>
              <a:rPr sz="3600" spc="-5" dirty="0"/>
              <a:t>A</a:t>
            </a:r>
            <a:r>
              <a:rPr sz="3600" spc="-210" dirty="0"/>
              <a:t> </a:t>
            </a:r>
            <a:r>
              <a:rPr sz="3600" dirty="0"/>
              <a:t>to </a:t>
            </a:r>
            <a:r>
              <a:rPr sz="3600" spc="-5" dirty="0"/>
              <a:t>D</a:t>
            </a:r>
            <a:r>
              <a:rPr sz="3600" spc="-270" dirty="0"/>
              <a:t>F</a:t>
            </a:r>
            <a:r>
              <a:rPr sz="3600" spc="5" dirty="0"/>
              <a:t>A</a:t>
            </a:r>
            <a:r>
              <a:rPr sz="3600" dirty="0"/>
              <a:t>-Exa</a:t>
            </a:r>
            <a:r>
              <a:rPr sz="3600" spc="-20" dirty="0"/>
              <a:t>m</a:t>
            </a:r>
            <a:r>
              <a:rPr sz="3600" dirty="0"/>
              <a:t>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877570"/>
            <a:ext cx="4740910" cy="5132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δ'([q0],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[q0]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Times New Roman"/>
                <a:cs typeface="Times New Roman"/>
              </a:rPr>
              <a:t>δ'([q0],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δ'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40000" algn="l"/>
              </a:tabLst>
            </a:pPr>
            <a:r>
              <a:rPr sz="2000" spc="-5" dirty="0">
                <a:latin typeface="Times New Roman"/>
                <a:cs typeface="Times New Roman"/>
              </a:rPr>
              <a:t>δ'([q1],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	(</a:t>
            </a:r>
            <a:r>
              <a:rPr sz="2000" b="1" dirty="0">
                <a:latin typeface="Times New Roman"/>
                <a:cs typeface="Times New Roman"/>
              </a:rPr>
              <a:t>new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generated)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δ'([q1],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[q1]</a:t>
            </a:r>
            <a:endParaRPr sz="2000">
              <a:latin typeface="Times New Roman"/>
              <a:cs typeface="Times New Roman"/>
            </a:endParaRPr>
          </a:p>
          <a:p>
            <a:pPr marL="12700" marR="358775">
              <a:lnSpc>
                <a:spcPct val="105000"/>
              </a:lnSpc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δ'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δ'([q2],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[q2]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δ'([q2],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obtain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δ'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δ'([q1,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δ(q1,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δ(q2,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0)</a:t>
            </a:r>
            <a:endParaRPr sz="2000">
              <a:latin typeface="Times New Roman"/>
              <a:cs typeface="Times New Roman"/>
            </a:endParaRPr>
          </a:p>
          <a:p>
            <a:pPr marL="141033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q2}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3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{q2}</a:t>
            </a:r>
            <a:endParaRPr sz="200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δ'([q1,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q2],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δ(q1,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δ(q2,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  <a:p>
            <a:pPr marL="1410335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{q1}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 Math"/>
                <a:cs typeface="Cambria Math"/>
              </a:rPr>
              <a:t>𝖴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q2}</a:t>
            </a:r>
            <a:endParaRPr sz="200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{q1,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q2}</a:t>
            </a:r>
            <a:endParaRPr sz="200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[q1,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q2]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Conversion from </a:t>
            </a:r>
            <a:r>
              <a:rPr dirty="0"/>
              <a:t>N</a:t>
            </a:r>
            <a:r>
              <a:rPr spc="-270" dirty="0"/>
              <a:t>F</a:t>
            </a:r>
            <a:r>
              <a:rPr spc="-5" dirty="0"/>
              <a:t>A</a:t>
            </a:r>
            <a:r>
              <a:rPr spc="-210" dirty="0"/>
              <a:t> </a:t>
            </a:r>
            <a:r>
              <a:rPr dirty="0"/>
              <a:t>to </a:t>
            </a:r>
            <a:r>
              <a:rPr spc="-5" dirty="0"/>
              <a:t>D</a:t>
            </a:r>
            <a:r>
              <a:rPr spc="-270" dirty="0"/>
              <a:t>F</a:t>
            </a:r>
            <a:r>
              <a:rPr spc="5" dirty="0"/>
              <a:t>A</a:t>
            </a:r>
            <a:r>
              <a:rPr dirty="0"/>
              <a:t>-Exa</a:t>
            </a:r>
            <a:r>
              <a:rPr spc="-20" dirty="0"/>
              <a:t>m</a:t>
            </a:r>
            <a:r>
              <a:rPr dirty="0"/>
              <a:t>ple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1450" y="2813050"/>
          <a:ext cx="3049270" cy="2978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/>
                <a:gridCol w="908050"/>
                <a:gridCol w="1121410"/>
              </a:tblGrid>
              <a:tr h="668401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State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9065" marB="0">
                    <a:solidFill>
                      <a:srgbClr val="C6CCBD"/>
                    </a:solidFill>
                  </a:tcPr>
                </a:tc>
              </a:tr>
              <a:tr h="572643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→[q0]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  <a:tr h="578993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*[q2]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</a:tcPr>
                </a:tc>
              </a:tr>
              <a:tr h="578993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*[q1,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R="336550" algn="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[q1,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C6CCBD"/>
                      </a:solidFill>
                      <a:prstDash val="solid"/>
                    </a:lnL>
                    <a:lnR w="12700">
                      <a:solidFill>
                        <a:srgbClr val="C6CCBD"/>
                      </a:solidFill>
                      <a:prstDash val="solid"/>
                    </a:lnR>
                    <a:lnT w="12700">
                      <a:solidFill>
                        <a:srgbClr val="C6CCBD"/>
                      </a:solidFill>
                      <a:prstDash val="solid"/>
                    </a:lnT>
                    <a:lnB w="1270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22044" y="1700529"/>
            <a:ext cx="586994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95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The state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[q1,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q2] is 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final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because it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contains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final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state </a:t>
            </a:r>
            <a:r>
              <a:rPr sz="2200" dirty="0">
                <a:latin typeface="Times New Roman"/>
                <a:cs typeface="Times New Roman"/>
              </a:rPr>
              <a:t>q2.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The transition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table</a:t>
            </a:r>
            <a:r>
              <a:rPr sz="2200" dirty="0">
                <a:latin typeface="Times New Roman"/>
                <a:cs typeface="Times New Roman"/>
              </a:rPr>
              <a:t> for the </a:t>
            </a:r>
            <a:r>
              <a:rPr sz="2200" spc="-5" dirty="0">
                <a:latin typeface="Times New Roman"/>
                <a:cs typeface="Times New Roman"/>
              </a:rPr>
              <a:t>constructed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DFA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will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be: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124200"/>
            <a:ext cx="3429084" cy="19415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42228" y="5513019"/>
            <a:ext cx="25380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Note: The </a:t>
            </a:r>
            <a:r>
              <a:rPr sz="1800" dirty="0">
                <a:latin typeface="Times New Roman"/>
                <a:cs typeface="Times New Roman"/>
              </a:rPr>
              <a:t>state </a:t>
            </a:r>
            <a:r>
              <a:rPr sz="1800" spc="-5" dirty="0">
                <a:latin typeface="Times New Roman"/>
                <a:cs typeface="Times New Roman"/>
              </a:rPr>
              <a:t>q2 </a:t>
            </a:r>
            <a:r>
              <a:rPr sz="1800" dirty="0">
                <a:latin typeface="Times New Roman"/>
                <a:cs typeface="Times New Roman"/>
              </a:rPr>
              <a:t>can </a:t>
            </a:r>
            <a:r>
              <a:rPr sz="1800" spc="-5" dirty="0">
                <a:latin typeface="Times New Roman"/>
                <a:cs typeface="Times New Roman"/>
              </a:rPr>
              <a:t>be </a:t>
            </a:r>
            <a:r>
              <a:rPr sz="1800" dirty="0">
                <a:latin typeface="Times New Roman"/>
                <a:cs typeface="Times New Roman"/>
              </a:rPr>
              <a:t> eliminated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unreachable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94259"/>
            <a:ext cx="347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Minimization</a:t>
            </a:r>
            <a:r>
              <a:rPr sz="3000" spc="20" dirty="0"/>
              <a:t> </a:t>
            </a:r>
            <a:r>
              <a:rPr sz="3000" dirty="0"/>
              <a:t>of</a:t>
            </a:r>
            <a:r>
              <a:rPr sz="3000" spc="-20" dirty="0"/>
              <a:t> </a:t>
            </a:r>
            <a:r>
              <a:rPr sz="3000" spc="-5" dirty="0"/>
              <a:t>FSM: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10540" y="1090930"/>
            <a:ext cx="8162925" cy="406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7055" indent="-529590" algn="just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567690" algn="l"/>
              </a:tabLst>
            </a:pPr>
            <a:r>
              <a:rPr sz="2000" dirty="0">
                <a:latin typeface="Times New Roman"/>
                <a:cs typeface="Times New Roman"/>
              </a:rPr>
              <a:t>Suppose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&lt; </a:t>
            </a:r>
            <a:r>
              <a:rPr sz="2000" spc="-5" dirty="0">
                <a:latin typeface="Times New Roman"/>
                <a:cs typeface="Times New Roman"/>
              </a:rPr>
              <a:t>Q,</a:t>
            </a:r>
            <a:r>
              <a:rPr sz="2000" dirty="0">
                <a:latin typeface="Times New Roman"/>
                <a:cs typeface="Times New Roman"/>
              </a:rPr>
              <a:t> ∑,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δ,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 &gt;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recognizes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language</a:t>
            </a:r>
            <a:endParaRPr sz="2000">
              <a:latin typeface="Times New Roman"/>
              <a:cs typeface="Times New Roman"/>
            </a:endParaRPr>
          </a:p>
          <a:p>
            <a:pPr marL="311785" marR="32512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minimized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&lt;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Q’,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∑,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δ’,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F’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&gt; can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constructed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  <a:p>
            <a:pPr marL="311785" marR="101600" algn="just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We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sets.</a:t>
            </a:r>
            <a:r>
              <a:rPr sz="2000" dirty="0">
                <a:latin typeface="Times New Roman"/>
                <a:cs typeface="Times New Roman"/>
              </a:rPr>
              <a:t> 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other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non-final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states.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P0.</a:t>
            </a:r>
            <a:endParaRPr sz="200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Initialize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311785" marR="31813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 3: </a:t>
            </a:r>
            <a:r>
              <a:rPr sz="2000" dirty="0">
                <a:latin typeface="Times New Roman"/>
                <a:cs typeface="Times New Roman"/>
              </a:rPr>
              <a:t>Find </a:t>
            </a:r>
            <a:r>
              <a:rPr sz="2000" spc="5" dirty="0">
                <a:latin typeface="Times New Roman"/>
                <a:cs typeface="Times New Roman"/>
              </a:rPr>
              <a:t>P</a:t>
            </a:r>
            <a:r>
              <a:rPr sz="1950" spc="7" baseline="-21367" dirty="0">
                <a:latin typeface="Times New Roman"/>
                <a:cs typeface="Times New Roman"/>
              </a:rPr>
              <a:t>k </a:t>
            </a:r>
            <a:r>
              <a:rPr sz="2000" dirty="0">
                <a:latin typeface="Times New Roman"/>
                <a:cs typeface="Times New Roman"/>
              </a:rPr>
              <a:t>by partitioning the </a:t>
            </a:r>
            <a:r>
              <a:rPr sz="2000" spc="-5" dirty="0">
                <a:latin typeface="Times New Roman"/>
                <a:cs typeface="Times New Roman"/>
              </a:rPr>
              <a:t>different sets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k-1</a:t>
            </a:r>
            <a:r>
              <a:rPr sz="2000" spc="10" dirty="0">
                <a:latin typeface="Times New Roman"/>
                <a:cs typeface="Times New Roman"/>
              </a:rPr>
              <a:t>. </a:t>
            </a:r>
            <a:r>
              <a:rPr sz="2000" dirty="0">
                <a:latin typeface="Times New Roman"/>
                <a:cs typeface="Times New Roman"/>
              </a:rPr>
              <a:t>In each </a:t>
            </a:r>
            <a:r>
              <a:rPr sz="2000" spc="-5" dirty="0">
                <a:latin typeface="Times New Roman"/>
                <a:cs typeface="Times New Roman"/>
              </a:rPr>
              <a:t>set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k-1</a:t>
            </a:r>
            <a:r>
              <a:rPr sz="2000" spc="10" dirty="0">
                <a:latin typeface="Times New Roman"/>
                <a:cs typeface="Times New Roman"/>
              </a:rPr>
              <a:t>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 </a:t>
            </a:r>
            <a:r>
              <a:rPr sz="2000" spc="-5" dirty="0">
                <a:latin typeface="Times New Roman"/>
                <a:cs typeface="Times New Roman"/>
              </a:rPr>
              <a:t>will take all possible </a:t>
            </a:r>
            <a:r>
              <a:rPr sz="2000" dirty="0">
                <a:latin typeface="Times New Roman"/>
                <a:cs typeface="Times New Roman"/>
              </a:rPr>
              <a:t>pair of </a:t>
            </a:r>
            <a:r>
              <a:rPr sz="2000" spc="-5" dirty="0">
                <a:latin typeface="Times New Roman"/>
                <a:cs typeface="Times New Roman"/>
              </a:rPr>
              <a:t>states. </a:t>
            </a:r>
            <a:r>
              <a:rPr sz="2000" dirty="0">
                <a:latin typeface="Times New Roman"/>
                <a:cs typeface="Times New Roman"/>
              </a:rPr>
              <a:t>If two </a:t>
            </a:r>
            <a:r>
              <a:rPr sz="2000" spc="-5" dirty="0">
                <a:latin typeface="Times New Roman"/>
                <a:cs typeface="Times New Roman"/>
              </a:rPr>
              <a:t>states </a:t>
            </a:r>
            <a:r>
              <a:rPr sz="2000" dirty="0">
                <a:latin typeface="Times New Roman"/>
                <a:cs typeface="Times New Roman"/>
              </a:rPr>
              <a:t>of a set are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split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sets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</a:t>
            </a:r>
            <a:r>
              <a:rPr sz="2000" spc="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4: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P</a:t>
            </a:r>
            <a:r>
              <a:rPr sz="1950" spc="7" baseline="-21367" dirty="0">
                <a:latin typeface="Times New Roman"/>
                <a:cs typeface="Times New Roman"/>
              </a:rPr>
              <a:t>k</a:t>
            </a:r>
            <a:r>
              <a:rPr sz="1950" spc="26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1950" spc="15" baseline="-21367" dirty="0">
                <a:latin typeface="Times New Roman"/>
                <a:cs typeface="Times New Roman"/>
              </a:rPr>
              <a:t>k-1</a:t>
            </a:r>
            <a:r>
              <a:rPr sz="1950" spc="254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partition)</a:t>
            </a:r>
            <a:endParaRPr sz="2000">
              <a:latin typeface="Times New Roman"/>
              <a:cs typeface="Times New Roman"/>
            </a:endParaRPr>
          </a:p>
          <a:p>
            <a:pPr marL="311785" marR="19621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Step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5:</a:t>
            </a:r>
            <a:r>
              <a:rPr sz="20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merged</a:t>
            </a:r>
            <a:r>
              <a:rPr sz="2000" dirty="0">
                <a:latin typeface="Times New Roman"/>
                <a:cs typeface="Times New Roman"/>
              </a:rPr>
              <a:t> 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minimized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4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2000" spc="1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se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P</a:t>
            </a:r>
            <a:r>
              <a:rPr sz="1950" spc="30" baseline="-21367" dirty="0">
                <a:latin typeface="Times New Roman"/>
                <a:cs typeface="Times New Roman"/>
              </a:rPr>
              <a:t>k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Minimization</a:t>
            </a:r>
            <a:r>
              <a:rPr spc="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FSM: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89405"/>
            <a:ext cx="6053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4000"/>
              <a:buFont typeface="Segoe UI Symbol"/>
              <a:buChar char="⚫"/>
              <a:tabLst>
                <a:tab pos="287020" algn="l"/>
              </a:tabLst>
            </a:pPr>
            <a:r>
              <a:rPr sz="2500" b="1" spc="-5" dirty="0">
                <a:latin typeface="Times New Roman"/>
                <a:cs typeface="Times New Roman"/>
              </a:rPr>
              <a:t>Example</a:t>
            </a:r>
            <a:endParaRPr sz="25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Consider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following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65" dirty="0">
                <a:latin typeface="Times New Roman"/>
                <a:cs typeface="Times New Roman"/>
              </a:rPr>
              <a:t>DFA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shown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figure.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2624" y="2178185"/>
            <a:ext cx="5618622" cy="278208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4397"/>
            <a:ext cx="347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Minimization</a:t>
            </a:r>
            <a:r>
              <a:rPr sz="3000" spc="20" dirty="0"/>
              <a:t> </a:t>
            </a:r>
            <a:r>
              <a:rPr sz="3000" dirty="0"/>
              <a:t>of</a:t>
            </a:r>
            <a:r>
              <a:rPr sz="3000" spc="-20" dirty="0"/>
              <a:t> </a:t>
            </a:r>
            <a:r>
              <a:rPr sz="3000" spc="-5" dirty="0"/>
              <a:t>FSM: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59740" y="1243330"/>
            <a:ext cx="8275955" cy="4142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Step 1. </a:t>
            </a:r>
            <a:r>
              <a:rPr sz="2000" dirty="0">
                <a:latin typeface="Times New Roman"/>
                <a:cs typeface="Times New Roman"/>
              </a:rPr>
              <a:t>P0 will have two </a:t>
            </a:r>
            <a:r>
              <a:rPr sz="2000" spc="-5" dirty="0">
                <a:latin typeface="Times New Roman"/>
                <a:cs typeface="Times New Roman"/>
              </a:rPr>
              <a:t>sets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states. </a:t>
            </a:r>
            <a:r>
              <a:rPr sz="2000" spc="5" dirty="0">
                <a:latin typeface="Times New Roman"/>
                <a:cs typeface="Times New Roman"/>
              </a:rPr>
              <a:t>One </a:t>
            </a:r>
            <a:r>
              <a:rPr sz="2000" dirty="0">
                <a:latin typeface="Times New Roman"/>
                <a:cs typeface="Times New Roman"/>
              </a:rPr>
              <a:t>set will contain </a:t>
            </a:r>
            <a:r>
              <a:rPr sz="2000" spc="5" dirty="0">
                <a:latin typeface="Times New Roman"/>
                <a:cs typeface="Times New Roman"/>
              </a:rPr>
              <a:t>q1, q2, </a:t>
            </a:r>
            <a:r>
              <a:rPr sz="2000" dirty="0">
                <a:latin typeface="Times New Roman"/>
                <a:cs typeface="Times New Roman"/>
              </a:rPr>
              <a:t>q4 which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DFA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remaining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 { 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}.</a:t>
            </a:r>
            <a:endParaRPr sz="2000">
              <a:latin typeface="Times New Roman"/>
              <a:cs typeface="Times New Roman"/>
            </a:endParaRPr>
          </a:p>
          <a:p>
            <a:pPr marL="286385" marR="52324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calculate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 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not: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q1,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q2,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q4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δ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 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 q2,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q5,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 </a:t>
            </a:r>
            <a:r>
              <a:rPr sz="2000" dirty="0">
                <a:latin typeface="Times New Roman"/>
                <a:cs typeface="Times New Roman"/>
              </a:rPr>
              <a:t>q1 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19431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dirty="0">
                <a:latin typeface="Times New Roman"/>
                <a:cs typeface="Times New Roman"/>
              </a:rPr>
              <a:t> δ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 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δ (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 (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q5,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 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120396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Since,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595"/>
              </a:spcBef>
            </a:pPr>
            <a:r>
              <a:rPr sz="2000" dirty="0">
                <a:latin typeface="Times New Roman"/>
                <a:cs typeface="Times New Roman"/>
              </a:rPr>
              <a:t>{ 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83591"/>
            <a:ext cx="3515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5" dirty="0"/>
              <a:t>Minimization</a:t>
            </a:r>
            <a:r>
              <a:rPr sz="3000" spc="15" dirty="0"/>
              <a:t> </a:t>
            </a:r>
            <a:r>
              <a:rPr sz="3000" dirty="0"/>
              <a:t>of</a:t>
            </a:r>
            <a:r>
              <a:rPr sz="3000" spc="-30" dirty="0"/>
              <a:t> </a:t>
            </a:r>
            <a:r>
              <a:rPr sz="3000" dirty="0"/>
              <a:t>FSM</a:t>
            </a:r>
            <a:r>
              <a:rPr sz="4000" dirty="0"/>
              <a:t>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014730"/>
            <a:ext cx="8049259" cy="3760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q0,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q3,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q5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 marR="423862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endParaRPr sz="2000">
              <a:latin typeface="Times New Roman"/>
              <a:cs typeface="Times New Roman"/>
            </a:endParaRPr>
          </a:p>
          <a:p>
            <a:pPr marL="286385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Moves of q0 and q3 on input </a:t>
            </a:r>
            <a:r>
              <a:rPr sz="2000" spc="-5" dirty="0">
                <a:latin typeface="Times New Roman"/>
                <a:cs typeface="Times New Roman"/>
              </a:rPr>
              <a:t>symbol </a:t>
            </a:r>
            <a:r>
              <a:rPr sz="2000" dirty="0">
                <a:latin typeface="Times New Roman"/>
                <a:cs typeface="Times New Roman"/>
              </a:rPr>
              <a:t>0 </a:t>
            </a:r>
            <a:r>
              <a:rPr sz="2000" spc="-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q3 and q0 </a:t>
            </a:r>
            <a:r>
              <a:rPr sz="2000" spc="-5" dirty="0">
                <a:latin typeface="Times New Roman"/>
                <a:cs typeface="Times New Roman"/>
              </a:rPr>
              <a:t>respectively </a:t>
            </a:r>
            <a:r>
              <a:rPr sz="2000" dirty="0">
                <a:latin typeface="Times New Roman"/>
                <a:cs typeface="Times New Roman"/>
              </a:rPr>
              <a:t>which 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partition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P0.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dirty="0">
                <a:latin typeface="Times New Roman"/>
                <a:cs typeface="Times New Roman"/>
              </a:rPr>
              <a:t> 1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q3 and q0 which are in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P0. So, q0 and q3 are </a:t>
            </a:r>
            <a:r>
              <a:rPr sz="2000" spc="5" dirty="0">
                <a:latin typeface="Times New Roman"/>
                <a:cs typeface="Times New Roman"/>
              </a:rPr>
              <a:t>not 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4064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dirty="0">
                <a:latin typeface="Times New Roman"/>
                <a:cs typeface="Times New Roman"/>
              </a:rPr>
              <a:t>δ ( </a:t>
            </a:r>
            <a:r>
              <a:rPr sz="2000" spc="5" dirty="0">
                <a:latin typeface="Times New Roman"/>
                <a:cs typeface="Times New Roman"/>
              </a:rPr>
              <a:t>q0, </a:t>
            </a:r>
            <a:r>
              <a:rPr sz="2000" dirty="0">
                <a:latin typeface="Times New Roman"/>
                <a:cs typeface="Times New Roman"/>
              </a:rPr>
              <a:t>0 ) = q3 and δ ( </a:t>
            </a:r>
            <a:r>
              <a:rPr sz="2000" spc="5" dirty="0">
                <a:latin typeface="Times New Roman"/>
                <a:cs typeface="Times New Roman"/>
              </a:rPr>
              <a:t>q5, </a:t>
            </a:r>
            <a:r>
              <a:rPr sz="2000" dirty="0">
                <a:latin typeface="Times New Roman"/>
                <a:cs typeface="Times New Roman"/>
              </a:rPr>
              <a:t>0 ) = q5 and δ ( </a:t>
            </a:r>
            <a:r>
              <a:rPr sz="2000" spc="5" dirty="0">
                <a:latin typeface="Times New Roman"/>
                <a:cs typeface="Times New Roman"/>
              </a:rPr>
              <a:t>q0, </a:t>
            </a:r>
            <a:r>
              <a:rPr sz="2000" dirty="0">
                <a:latin typeface="Times New Roman"/>
                <a:cs typeface="Times New Roman"/>
              </a:rPr>
              <a:t>1 ) = q1 and δ ( </a:t>
            </a:r>
            <a:r>
              <a:rPr sz="2000" spc="5" dirty="0">
                <a:latin typeface="Times New Roman"/>
                <a:cs typeface="Times New Roman"/>
              </a:rPr>
              <a:t>q5, </a:t>
            </a:r>
            <a:r>
              <a:rPr sz="2000" dirty="0">
                <a:latin typeface="Times New Roman"/>
                <a:cs typeface="Times New Roman"/>
              </a:rPr>
              <a:t>1 ) = q5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 q3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 </a:t>
            </a:r>
            <a:r>
              <a:rPr sz="2000" spc="-5" dirty="0">
                <a:latin typeface="Times New Roman"/>
                <a:cs typeface="Times New Roman"/>
              </a:rPr>
              <a:t>respectively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5" dirty="0">
                <a:latin typeface="Times New Roman"/>
                <a:cs typeface="Times New Roman"/>
              </a:rPr>
              <a:t>different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P0. So, q0 and q5 are </a:t>
            </a:r>
            <a:r>
              <a:rPr sz="2000" spc="-5" dirty="0">
                <a:latin typeface="Times New Roman"/>
                <a:cs typeface="Times New Roman"/>
              </a:rPr>
              <a:t>distinguishable. </a:t>
            </a:r>
            <a:r>
              <a:rPr sz="2000" dirty="0">
                <a:latin typeface="Times New Roman"/>
                <a:cs typeface="Times New Roman"/>
              </a:rPr>
              <a:t>So, set { </a:t>
            </a:r>
            <a:r>
              <a:rPr sz="2000" spc="5" dirty="0">
                <a:latin typeface="Times New Roman"/>
                <a:cs typeface="Times New Roman"/>
              </a:rPr>
              <a:t> 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q3,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partitioned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q5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}. </a:t>
            </a:r>
            <a:r>
              <a:rPr sz="2000" spc="5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q3},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60349"/>
            <a:ext cx="3515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5" dirty="0"/>
              <a:t>Minimization</a:t>
            </a:r>
            <a:r>
              <a:rPr sz="3000" spc="10" dirty="0"/>
              <a:t> </a:t>
            </a:r>
            <a:r>
              <a:rPr sz="3000" dirty="0"/>
              <a:t>of</a:t>
            </a:r>
            <a:r>
              <a:rPr sz="3000" spc="-25" dirty="0"/>
              <a:t> </a:t>
            </a:r>
            <a:r>
              <a:rPr sz="3000" dirty="0"/>
              <a:t>FSM</a:t>
            </a:r>
            <a:r>
              <a:rPr sz="4000" dirty="0"/>
              <a:t>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014730"/>
            <a:ext cx="8146415" cy="3531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9685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spc="-75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calculate </a:t>
            </a:r>
            <a:r>
              <a:rPr sz="2000" dirty="0">
                <a:latin typeface="Times New Roman"/>
                <a:cs typeface="Times New Roman"/>
              </a:rPr>
              <a:t>P2,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sets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-5" dirty="0">
                <a:latin typeface="Times New Roman"/>
                <a:cs typeface="Times New Roman"/>
              </a:rPr>
              <a:t> partition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spc="-640" dirty="0">
                <a:solidFill>
                  <a:srgbClr val="2CA1BE"/>
                </a:solidFill>
                <a:latin typeface="Segoe UI Symbol"/>
                <a:cs typeface="Segoe UI Symbol"/>
              </a:rPr>
              <a:t>⚫</a:t>
            </a:r>
            <a:endParaRPr sz="1700">
              <a:latin typeface="Segoe UI Symbol"/>
              <a:cs typeface="Segoe UI Symbol"/>
            </a:endParaRPr>
          </a:p>
          <a:p>
            <a:pPr marL="286385">
              <a:lnSpc>
                <a:spcPct val="100000"/>
              </a:lnSpc>
              <a:spcBef>
                <a:spcPts val="60"/>
              </a:spcBef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q1,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q2,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q4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q5,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 marR="6223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 (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q4,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q5,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 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Since,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q2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distinguishable,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partitioned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60349"/>
            <a:ext cx="3515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5" dirty="0"/>
              <a:t>Minimization</a:t>
            </a:r>
            <a:r>
              <a:rPr sz="3000" spc="10" dirty="0"/>
              <a:t> </a:t>
            </a:r>
            <a:r>
              <a:rPr sz="3000" dirty="0"/>
              <a:t>of</a:t>
            </a:r>
            <a:r>
              <a:rPr sz="3000" spc="-25" dirty="0"/>
              <a:t> </a:t>
            </a:r>
            <a:r>
              <a:rPr sz="3000" dirty="0"/>
              <a:t>FSM</a:t>
            </a:r>
            <a:r>
              <a:rPr sz="4000" dirty="0"/>
              <a:t>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014730"/>
            <a:ext cx="8273415" cy="406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q0,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q3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86385" marR="44646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δ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endParaRPr sz="2000">
              <a:latin typeface="Times New Roman"/>
              <a:cs typeface="Times New Roman"/>
            </a:endParaRPr>
          </a:p>
          <a:p>
            <a:pPr marL="286385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Moves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q0 </a:t>
            </a:r>
            <a:r>
              <a:rPr sz="2000" spc="-5" dirty="0">
                <a:latin typeface="Times New Roman"/>
                <a:cs typeface="Times New Roman"/>
              </a:rPr>
              <a:t>respectively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P1. </a:t>
            </a:r>
            <a:r>
              <a:rPr sz="2000" spc="-20" dirty="0">
                <a:latin typeface="Times New Roman"/>
                <a:cs typeface="Times New Roman"/>
              </a:rPr>
              <a:t>Similarly, </a:t>
            </a:r>
            <a:r>
              <a:rPr sz="2000" dirty="0">
                <a:latin typeface="Times New Roman"/>
                <a:cs typeface="Times New Roman"/>
              </a:rPr>
              <a:t>Moves of q0 and q3 on input </a:t>
            </a:r>
            <a:r>
              <a:rPr sz="2000" spc="-5" dirty="0">
                <a:latin typeface="Times New Roman"/>
                <a:cs typeface="Times New Roman"/>
              </a:rPr>
              <a:t>symbol </a:t>
            </a:r>
            <a:r>
              <a:rPr sz="2000" dirty="0">
                <a:latin typeface="Times New Roman"/>
                <a:cs typeface="Times New Roman"/>
              </a:rPr>
              <a:t>1 are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 and q0 which are in </a:t>
            </a:r>
            <a:r>
              <a:rPr sz="2000" spc="-5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set in </a:t>
            </a:r>
            <a:r>
              <a:rPr sz="2000" spc="-5" dirty="0">
                <a:latin typeface="Times New Roman"/>
                <a:cs typeface="Times New Roman"/>
              </a:rPr>
              <a:t>partition </a:t>
            </a:r>
            <a:r>
              <a:rPr sz="2000" dirty="0">
                <a:latin typeface="Times New Roman"/>
                <a:cs typeface="Times New Roman"/>
              </a:rPr>
              <a:t>P1. So, q0 and q3 are </a:t>
            </a:r>
            <a:r>
              <a:rPr sz="2000" spc="5" dirty="0">
                <a:latin typeface="Times New Roman"/>
                <a:cs typeface="Times New Roman"/>
              </a:rPr>
              <a:t>not 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distinguishable.</a:t>
            </a:r>
            <a:endParaRPr sz="20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00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q5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}: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Since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</a:t>
            </a:r>
            <a:r>
              <a:rPr sz="2000" dirty="0">
                <a:latin typeface="Times New Roman"/>
                <a:cs typeface="Times New Roman"/>
              </a:rPr>
              <a:t> in</a:t>
            </a:r>
            <a:r>
              <a:rPr sz="2000" spc="-5" dirty="0">
                <a:latin typeface="Times New Roman"/>
                <a:cs typeface="Times New Roman"/>
              </a:rPr>
              <a:t> this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set,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can’t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further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partitioned.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So,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{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q2,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 </a:t>
            </a:r>
            <a:r>
              <a:rPr sz="2000" spc="5" dirty="0">
                <a:latin typeface="Times New Roman"/>
                <a:cs typeface="Times New Roman"/>
              </a:rPr>
              <a:t>q0,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}, {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 }</a:t>
            </a:r>
            <a:endParaRPr sz="2000">
              <a:latin typeface="Times New Roman"/>
              <a:cs typeface="Times New Roman"/>
            </a:endParaRPr>
          </a:p>
          <a:p>
            <a:pPr marL="286385" marR="5651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Since,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P1=P2.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partition.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P2</a:t>
            </a:r>
            <a:r>
              <a:rPr sz="2000" spc="-5" dirty="0">
                <a:latin typeface="Times New Roman"/>
                <a:cs typeface="Times New Roman"/>
              </a:rPr>
              <a:t> means</a:t>
            </a:r>
            <a:r>
              <a:rPr sz="2000" dirty="0">
                <a:latin typeface="Times New Roman"/>
                <a:cs typeface="Times New Roman"/>
              </a:rPr>
              <a:t> 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q1,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merged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Similarly,</a:t>
            </a:r>
            <a:r>
              <a:rPr sz="2000" dirty="0">
                <a:latin typeface="Times New Roman"/>
                <a:cs typeface="Times New Roman"/>
              </a:rPr>
              <a:t> q0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merged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endParaRPr sz="20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Minimized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corresponding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DFA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Figure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Figure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842898"/>
            <a:ext cx="34791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Minimization</a:t>
            </a:r>
            <a:r>
              <a:rPr sz="3000" spc="20" dirty="0"/>
              <a:t> </a:t>
            </a:r>
            <a:r>
              <a:rPr sz="3000" dirty="0"/>
              <a:t>of</a:t>
            </a:r>
            <a:r>
              <a:rPr sz="3000" spc="-20" dirty="0"/>
              <a:t> </a:t>
            </a:r>
            <a:r>
              <a:rPr sz="3000" spc="-5" dirty="0"/>
              <a:t>FSM: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075" y="2016528"/>
            <a:ext cx="4544178" cy="193567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US" sz="3000" dirty="0" smtClean="0"/>
              <a:t>Equivalence between two FSM’s: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Definition 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(equivalence of finite state machines): Two finite state machines M1 and M2 are equivalent (M1≡M2) if they have the same input and output alphabets and if, starting from their respective initial states, they produce the same output for any input string.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Equivalence between two FSM’s: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snist\Desktop\Untitled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5753" y="1905000"/>
            <a:ext cx="5612494" cy="35685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>
            <a:normAutofit/>
          </a:bodyPr>
          <a:lstStyle/>
          <a:p>
            <a:pPr algn="l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Equivalence between two FSM’s: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Solution: The initial states in M1 and M2 are q1 and q4. |Let us see that combined transition of M1 and M2 on inputs c and d as follows: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2667000"/>
          <a:ext cx="6248400" cy="3124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/>
                <a:gridCol w="2082800"/>
                <a:gridCol w="2082800"/>
              </a:tblGrid>
              <a:tr h="1036634"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States/Inputs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(q1,q4)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(q1,q4)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(q2,q6)</a:t>
                      </a:r>
                      <a:endParaRPr lang="en-US" sz="2200" dirty="0"/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(q2,q6)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(q3,q7)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(q1,q4)</a:t>
                      </a:r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(q3,q7)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(q2,q5)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(q3,q7)</a:t>
                      </a:r>
                    </a:p>
                  </a:txBody>
                  <a:tcPr/>
                </a:tc>
              </a:tr>
              <a:tr h="52189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(q2,q5)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(q3,q7)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(q1,q4)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Equivalence between two FSM’s: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(q1,q4) is new state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(q2,q6) is new state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(q3,q7) is new state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(q2,q5) is new state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Let us analyze the above transition table carefully, then we find that, the behavior of M1 and M2 is similar.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do not get a pair (q , q’) where q is a final state ,and q’ is a non final state (or vice versa) at every row. Therefore M and M’ are equivalent.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3928</Words>
  <Application>Microsoft Office PowerPoint</Application>
  <PresentationFormat>On-screen Show (4:3)</PresentationFormat>
  <Paragraphs>540</Paragraphs>
  <Slides>51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UNIT- I</vt:lpstr>
      <vt:lpstr>Syllabus</vt:lpstr>
      <vt:lpstr>Introduction</vt:lpstr>
      <vt:lpstr>Representation &amp; Notations used in Automata</vt:lpstr>
      <vt:lpstr>Language</vt:lpstr>
      <vt:lpstr>Operations</vt:lpstr>
      <vt:lpstr>Power of ‘∑’</vt:lpstr>
      <vt:lpstr>Finite Automata</vt:lpstr>
      <vt:lpstr>Slide 9</vt:lpstr>
      <vt:lpstr>Finite automata</vt:lpstr>
      <vt:lpstr>Finite Automata Model</vt:lpstr>
      <vt:lpstr>Acceptance of String&amp; Language :</vt:lpstr>
      <vt:lpstr>Chomsky hierarchy of languages</vt:lpstr>
      <vt:lpstr>Chomsky hierarchy of languages</vt:lpstr>
      <vt:lpstr>Chomsky hierarchy of languages</vt:lpstr>
      <vt:lpstr>Chomsky hierarchy of languages</vt:lpstr>
      <vt:lpstr>Chomsky hierarchy of languages</vt:lpstr>
      <vt:lpstr>Chomsky hierarchy of languages</vt:lpstr>
      <vt:lpstr>Finite Automata Types </vt:lpstr>
      <vt:lpstr>Deterministic Finite Automaton (DFA)</vt:lpstr>
      <vt:lpstr>Slide 21</vt:lpstr>
      <vt:lpstr>Non Deterministic Finite Automata</vt:lpstr>
      <vt:lpstr>Non Deterministic Finite Automata</vt:lpstr>
      <vt:lpstr>DFA vs. NDFA</vt:lpstr>
      <vt:lpstr>Examples of FA</vt:lpstr>
      <vt:lpstr>Slide 26</vt:lpstr>
      <vt:lpstr>Slide 27</vt:lpstr>
      <vt:lpstr>DFA- Practice Problems</vt:lpstr>
      <vt:lpstr>DFA- Practice Problems</vt:lpstr>
      <vt:lpstr>DFA- Practice Problems</vt:lpstr>
      <vt:lpstr>NFA-Practice Problems</vt:lpstr>
      <vt:lpstr>Epsilon(ε) closure</vt:lpstr>
      <vt:lpstr>Conversion Of E-NFA To NFA</vt:lpstr>
      <vt:lpstr>Conversion Of E-NFA To NFA -example</vt:lpstr>
      <vt:lpstr>Conversion Of E-NFA To NFA -example</vt:lpstr>
      <vt:lpstr>Conversion Of E-NFA To NFA -example</vt:lpstr>
      <vt:lpstr>Conversion from NFA to DFA</vt:lpstr>
      <vt:lpstr>Conversion from NFA to DFA-Example</vt:lpstr>
      <vt:lpstr>Conversion from NFA to DFA-Example</vt:lpstr>
      <vt:lpstr>Conversion from NFA to DFA-Example</vt:lpstr>
      <vt:lpstr>Minimization of FSM:</vt:lpstr>
      <vt:lpstr>Minimization of FSM:</vt:lpstr>
      <vt:lpstr>Minimization of FSM:</vt:lpstr>
      <vt:lpstr>Minimization of FSM:</vt:lpstr>
      <vt:lpstr>Minimization of FSM:</vt:lpstr>
      <vt:lpstr>Minimization of FSM:</vt:lpstr>
      <vt:lpstr>Minimization of FSM:</vt:lpstr>
      <vt:lpstr>Equivalence between two FSM’s:</vt:lpstr>
      <vt:lpstr>Equivalence between two FSM’s:</vt:lpstr>
      <vt:lpstr>Equivalence between two FSM’s:</vt:lpstr>
      <vt:lpstr>Equivalence between two FSM’s: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 I</dc:title>
  <dc:creator>Admin</dc:creator>
  <cp:lastModifiedBy>Raju</cp:lastModifiedBy>
  <cp:revision>129</cp:revision>
  <dcterms:created xsi:type="dcterms:W3CDTF">2025-01-27T03:29:14Z</dcterms:created>
  <dcterms:modified xsi:type="dcterms:W3CDTF">2026-01-06T07:21:28Z</dcterms:modified>
</cp:coreProperties>
</file>