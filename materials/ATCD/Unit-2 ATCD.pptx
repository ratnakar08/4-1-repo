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3" r:id="rId8"/>
    <p:sldId id="269" r:id="rId9"/>
    <p:sldId id="271" r:id="rId10"/>
    <p:sldId id="264" r:id="rId11"/>
    <p:sldId id="265" r:id="rId12"/>
    <p:sldId id="266" r:id="rId13"/>
    <p:sldId id="283" r:id="rId14"/>
    <p:sldId id="267" r:id="rId15"/>
    <p:sldId id="272" r:id="rId16"/>
    <p:sldId id="273" r:id="rId17"/>
    <p:sldId id="274" r:id="rId18"/>
    <p:sldId id="276" r:id="rId19"/>
    <p:sldId id="275" r:id="rId20"/>
    <p:sldId id="277" r:id="rId21"/>
    <p:sldId id="278" r:id="rId22"/>
    <p:sldId id="279" r:id="rId23"/>
    <p:sldId id="280" r:id="rId24"/>
    <p:sldId id="281" r:id="rId25"/>
    <p:sldId id="282"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9" r:id="rId50"/>
    <p:sldId id="310" r:id="rId51"/>
    <p:sldId id="324" r:id="rId52"/>
    <p:sldId id="323" r:id="rId53"/>
    <p:sldId id="320" r:id="rId54"/>
    <p:sldId id="321" r:id="rId55"/>
    <p:sldId id="322" r:id="rId56"/>
    <p:sldId id="308" r:id="rId57"/>
    <p:sldId id="307" r:id="rId58"/>
    <p:sldId id="325" r:id="rId59"/>
    <p:sldId id="312" r:id="rId60"/>
    <p:sldId id="313" r:id="rId61"/>
    <p:sldId id="314" r:id="rId62"/>
    <p:sldId id="315" r:id="rId63"/>
    <p:sldId id="317" r:id="rId64"/>
    <p:sldId id="318" r:id="rId65"/>
    <p:sldId id="319"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100" d="100"/>
          <a:sy n="100" d="100"/>
        </p:scale>
        <p:origin x="-294" y="-15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EB7CE4F-3A85-476D-B337-752BA65CF2ED}" type="datetimeFigureOut">
              <a:rPr lang="en-US" smtClean="0"/>
              <a:pPr/>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A775AB-EBB9-4D1A-9CB6-FFFB13EC329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B7CE4F-3A85-476D-B337-752BA65CF2ED}" type="datetimeFigureOut">
              <a:rPr lang="en-US" smtClean="0"/>
              <a:pPr/>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A775AB-EBB9-4D1A-9CB6-FFFB13EC329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EB7CE4F-3A85-476D-B337-752BA65CF2ED}" type="datetimeFigureOut">
              <a:rPr lang="en-US" smtClean="0"/>
              <a:pPr/>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A775AB-EBB9-4D1A-9CB6-FFFB13EC329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EB7CE4F-3A85-476D-B337-752BA65CF2ED}" type="datetimeFigureOut">
              <a:rPr lang="en-US" smtClean="0"/>
              <a:pPr/>
              <a:t>3/13/2025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A775AB-EBB9-4D1A-9CB6-FFFB13EC329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EB7CE4F-3A85-476D-B337-752BA65CF2ED}" type="datetimeFigureOut">
              <a:rPr lang="en-US" smtClean="0"/>
              <a:pPr/>
              <a:t>3/13/2025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FA775AB-EBB9-4D1A-9CB6-FFFB13EC329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EB7CE4F-3A85-476D-B337-752BA65CF2ED}" type="datetimeFigureOut">
              <a:rPr lang="en-US" smtClean="0"/>
              <a:pPr/>
              <a:t>3/13/2025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FA775AB-EBB9-4D1A-9CB6-FFFB13EC329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B7CE4F-3A85-476D-B337-752BA65CF2ED}" type="datetimeFigureOut">
              <a:rPr lang="en-US" smtClean="0"/>
              <a:pPr/>
              <a:t>3/13/2025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FA775AB-EBB9-4D1A-9CB6-FFFB13EC329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B7CE4F-3A85-476D-B337-752BA65CF2ED}" type="datetimeFigureOut">
              <a:rPr lang="en-US" smtClean="0"/>
              <a:pPr/>
              <a:t>3/13/2025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A775AB-EBB9-4D1A-9CB6-FFFB13EC329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EB7CE4F-3A85-476D-B337-752BA65CF2ED}" type="datetimeFigureOut">
              <a:rPr lang="en-US" smtClean="0"/>
              <a:pPr/>
              <a:t>3/13/2025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FA775AB-EBB9-4D1A-9CB6-FFFB13EC329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B7CE4F-3A85-476D-B337-752BA65CF2ED}" type="datetimeFigureOut">
              <a:rPr lang="en-US" smtClean="0"/>
              <a:pPr/>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A775AB-EBB9-4D1A-9CB6-FFFB13EC329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EB7CE4F-3A85-476D-B337-752BA65CF2ED}" type="datetimeFigureOut">
              <a:rPr lang="en-US" smtClean="0"/>
              <a:pPr/>
              <a:t>3/13/2025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FA775AB-EBB9-4D1A-9CB6-FFFB13EC329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B7CE4F-3A85-476D-B337-752BA65CF2ED}" type="datetimeFigureOut">
              <a:rPr lang="en-US" smtClean="0"/>
              <a:pPr/>
              <a:t>3/13/2025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A775AB-EBB9-4D1A-9CB6-FFFB13EC329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zh-min-nan.wikipedia.org/wiki/%C6%90"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UNIT-II</a:t>
            </a:r>
            <a:endParaRPr lang="en-US" dirty="0"/>
          </a:p>
        </p:txBody>
      </p:sp>
      <p:sp>
        <p:nvSpPr>
          <p:cNvPr id="3" name="Subtitle 2"/>
          <p:cNvSpPr>
            <a:spLocks noGrp="1"/>
          </p:cNvSpPr>
          <p:nvPr>
            <p:ph type="subTitle" idx="1"/>
          </p:nvPr>
        </p:nvSpPr>
        <p:spPr/>
        <p:txBody>
          <a:bodyPr/>
          <a:lstStyle/>
          <a:p>
            <a:r>
              <a:rPr lang="en-US" b="1" dirty="0"/>
              <a:t>Regular </a:t>
            </a:r>
            <a:r>
              <a:rPr lang="en-US" b="1" dirty="0" smtClean="0"/>
              <a:t>Languages</a:t>
            </a:r>
          </a:p>
          <a:p>
            <a:r>
              <a:rPr lang="en-US" b="1" dirty="0"/>
              <a:t>Context Free Grammars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p:txBody>
          <a:bodyPr>
            <a:normAutofit fontScale="85000" lnSpcReduction="10000"/>
          </a:bodyPr>
          <a:lstStyle/>
          <a:p>
            <a:r>
              <a:rPr lang="en-US" b="1" dirty="0"/>
              <a:t>Regular Languages</a:t>
            </a:r>
            <a:r>
              <a:rPr lang="en-US" dirty="0"/>
              <a:t>, Regular sets, regular expressions, constructing finite Automata for a given regular expression, Conversion of Finite Automata to Regular expressions. Closure properties of regular sets (proofs not required).</a:t>
            </a:r>
          </a:p>
          <a:p>
            <a:r>
              <a:rPr lang="en-US" b="1" dirty="0"/>
              <a:t>Context Free Grammars: </a:t>
            </a:r>
            <a:r>
              <a:rPr lang="en-US" dirty="0"/>
              <a:t>Context free grammar, derivation trees, right most and leftmost derivation, ambiguity in context free grammars, simplification of Context Free Grammars (removal of </a:t>
            </a:r>
            <a:r>
              <a:rPr lang="en-US" u="sng" dirty="0">
                <a:hlinkClick r:id="rId2"/>
              </a:rPr>
              <a:t>Ɛ</a:t>
            </a:r>
            <a:r>
              <a:rPr lang="en-US" dirty="0"/>
              <a:t>-productions, UNIT productions and useless symbols). Chomsky normal form(CNF),</a:t>
            </a:r>
            <a:r>
              <a:rPr lang="en-US" dirty="0" err="1"/>
              <a:t>Greibach</a:t>
            </a:r>
            <a:r>
              <a:rPr lang="en-US" dirty="0"/>
              <a:t> normal form (GNF).</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Regular Set</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A special set of words over input alphabet </a:t>
            </a:r>
            <a:r>
              <a:rPr lang="el-GR" dirty="0" smtClean="0"/>
              <a:t>Σ</a:t>
            </a:r>
            <a:r>
              <a:rPr lang="en-US" dirty="0" smtClean="0"/>
              <a:t> is called regular set.</a:t>
            </a:r>
          </a:p>
          <a:p>
            <a:r>
              <a:rPr lang="en-US" dirty="0" smtClean="0"/>
              <a:t>Any set that represent the value of a Regular expression is called regular set.</a:t>
            </a:r>
          </a:p>
          <a:p>
            <a:r>
              <a:rPr lang="en-US" dirty="0" smtClean="0"/>
              <a:t>Regular sets are set which are accepted by FA (finite automata).</a:t>
            </a:r>
            <a:br>
              <a:rPr lang="en-US" dirty="0" smtClean="0"/>
            </a:br>
            <a:r>
              <a:rPr lang="en-US" dirty="0" smtClean="0"/>
              <a:t>For example:</a:t>
            </a:r>
            <a:br>
              <a:rPr lang="en-US" dirty="0" smtClean="0"/>
            </a:br>
            <a:r>
              <a:rPr lang="en-US" dirty="0" smtClean="0"/>
              <a:t>L = {ε, 11, 1111, 111111, 11111111…}</a:t>
            </a:r>
          </a:p>
          <a:p>
            <a:r>
              <a:rPr lang="en-US" dirty="0" smtClean="0"/>
              <a:t>Here L is language set of even number of 1’s.</a:t>
            </a:r>
            <a:br>
              <a:rPr lang="en-US" dirty="0" smtClean="0"/>
            </a:br>
            <a:r>
              <a:rPr lang="en-US" dirty="0" smtClean="0"/>
              <a:t>Finite automata for above language L is,</a:t>
            </a:r>
          </a:p>
          <a:p>
            <a:endParaRPr lang="en-US" dirty="0" smtClean="0"/>
          </a:p>
          <a:p>
            <a:endParaRPr lang="en-US" dirty="0" smtClean="0"/>
          </a:p>
          <a:p>
            <a:endParaRPr lang="en-US" dirty="0" smtClean="0"/>
          </a:p>
          <a:p>
            <a:endParaRPr lang="en-US" dirty="0" smtClean="0"/>
          </a:p>
          <a:p>
            <a:endParaRPr lang="en-US" dirty="0" smtClean="0"/>
          </a:p>
          <a:p>
            <a:r>
              <a:rPr lang="en-US" dirty="0" smtClean="0"/>
              <a:t>The give set L is regular set because we can represent it using finite automata.</a:t>
            </a:r>
          </a:p>
          <a:p>
            <a:pPr>
              <a:buNone/>
            </a:pPr>
            <a:endParaRPr lang="en-US" dirty="0"/>
          </a:p>
        </p:txBody>
      </p:sp>
      <p:pic>
        <p:nvPicPr>
          <p:cNvPr id="1027" name="Picture 3" descr="C:\Users\Admin\Desktop\image-1.png"/>
          <p:cNvPicPr>
            <a:picLocks noChangeAspect="1" noChangeArrowheads="1"/>
          </p:cNvPicPr>
          <p:nvPr/>
        </p:nvPicPr>
        <p:blipFill>
          <a:blip r:embed="rId2"/>
          <a:srcRect/>
          <a:stretch>
            <a:fillRect/>
          </a:stretch>
        </p:blipFill>
        <p:spPr bwMode="auto">
          <a:xfrm>
            <a:off x="2286000" y="3962400"/>
            <a:ext cx="3048000" cy="120015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Regular Expressions</a:t>
            </a:r>
            <a:endParaRPr lang="en-US" dirty="0"/>
          </a:p>
        </p:txBody>
      </p:sp>
      <p:sp>
        <p:nvSpPr>
          <p:cNvPr id="3" name="Content Placeholder 2"/>
          <p:cNvSpPr>
            <a:spLocks noGrp="1"/>
          </p:cNvSpPr>
          <p:nvPr>
            <p:ph idx="1"/>
          </p:nvPr>
        </p:nvSpPr>
        <p:spPr/>
        <p:txBody>
          <a:bodyPr>
            <a:normAutofit fontScale="92500" lnSpcReduction="10000"/>
          </a:bodyPr>
          <a:lstStyle/>
          <a:p>
            <a:pPr marL="335915" indent="-323850">
              <a:lnSpc>
                <a:spcPct val="100000"/>
              </a:lnSpc>
              <a:spcBef>
                <a:spcPts val="695"/>
              </a:spcBef>
              <a:buClr>
                <a:srgbClr val="2CA1BE"/>
              </a:buClr>
              <a:buSzPct val="85000"/>
              <a:tabLst>
                <a:tab pos="335915" algn="l"/>
                <a:tab pos="336550" algn="l"/>
              </a:tabLst>
            </a:pPr>
            <a:r>
              <a:rPr lang="en-IN" sz="2000" dirty="0" smtClean="0">
                <a:latin typeface="Times New Roman"/>
                <a:cs typeface="Times New Roman"/>
              </a:rPr>
              <a:t>It is a method to represent a language.</a:t>
            </a:r>
          </a:p>
          <a:p>
            <a:pPr marL="335915" indent="-323850">
              <a:lnSpc>
                <a:spcPct val="100000"/>
              </a:lnSpc>
              <a:spcBef>
                <a:spcPts val="695"/>
              </a:spcBef>
              <a:buClr>
                <a:srgbClr val="2CA1BE"/>
              </a:buClr>
              <a:buSzPct val="85000"/>
              <a:tabLst>
                <a:tab pos="335915" algn="l"/>
                <a:tab pos="336550" algn="l"/>
              </a:tabLst>
            </a:pPr>
            <a:r>
              <a:rPr lang="en-IN" sz="2000" dirty="0" smtClean="0">
                <a:latin typeface="Times New Roman"/>
                <a:cs typeface="Times New Roman"/>
              </a:rPr>
              <a:t>It is a set of characters that represent search pattern for any string.</a:t>
            </a:r>
          </a:p>
          <a:p>
            <a:pPr marL="335915" indent="-323850">
              <a:lnSpc>
                <a:spcPct val="100000"/>
              </a:lnSpc>
              <a:spcBef>
                <a:spcPts val="695"/>
              </a:spcBef>
              <a:buClr>
                <a:srgbClr val="2CA1BE"/>
              </a:buClr>
              <a:buSzPct val="85000"/>
              <a:tabLst>
                <a:tab pos="335915" algn="l"/>
                <a:tab pos="336550" algn="l"/>
              </a:tabLst>
            </a:pPr>
            <a:r>
              <a:rPr lang="en-IN" sz="2000" dirty="0" smtClean="0">
                <a:latin typeface="Times New Roman"/>
                <a:cs typeface="Times New Roman"/>
              </a:rPr>
              <a:t>A</a:t>
            </a:r>
            <a:r>
              <a:rPr lang="en-IN" sz="2000" spc="-105" dirty="0" smtClean="0">
                <a:latin typeface="Times New Roman"/>
                <a:cs typeface="Times New Roman"/>
              </a:rPr>
              <a:t> </a:t>
            </a:r>
            <a:r>
              <a:rPr lang="en-IN" sz="2000" dirty="0" smtClean="0">
                <a:latin typeface="Times New Roman"/>
                <a:cs typeface="Times New Roman"/>
              </a:rPr>
              <a:t>language</a:t>
            </a:r>
            <a:r>
              <a:rPr lang="en-IN" sz="2000" spc="-45" dirty="0" smtClean="0">
                <a:latin typeface="Times New Roman"/>
                <a:cs typeface="Times New Roman"/>
              </a:rPr>
              <a:t> </a:t>
            </a:r>
            <a:r>
              <a:rPr lang="en-IN" sz="2000" dirty="0" smtClean="0">
                <a:latin typeface="Times New Roman"/>
                <a:cs typeface="Times New Roman"/>
              </a:rPr>
              <a:t>is regular</a:t>
            </a:r>
            <a:r>
              <a:rPr lang="en-IN" sz="2000" spc="-40" dirty="0" smtClean="0">
                <a:latin typeface="Times New Roman"/>
                <a:cs typeface="Times New Roman"/>
              </a:rPr>
              <a:t> </a:t>
            </a:r>
            <a:r>
              <a:rPr lang="en-IN" sz="2000" dirty="0" smtClean="0">
                <a:latin typeface="Times New Roman"/>
                <a:cs typeface="Times New Roman"/>
              </a:rPr>
              <a:t>if</a:t>
            </a:r>
            <a:r>
              <a:rPr lang="en-IN" sz="2000" spc="-10" dirty="0" smtClean="0">
                <a:latin typeface="Times New Roman"/>
                <a:cs typeface="Times New Roman"/>
              </a:rPr>
              <a:t> </a:t>
            </a:r>
            <a:r>
              <a:rPr lang="en-IN" sz="2000" dirty="0" smtClean="0">
                <a:latin typeface="Times New Roman"/>
                <a:cs typeface="Times New Roman"/>
              </a:rPr>
              <a:t>it</a:t>
            </a:r>
            <a:r>
              <a:rPr lang="en-IN" sz="2000" spc="-15" dirty="0" smtClean="0">
                <a:latin typeface="Times New Roman"/>
                <a:cs typeface="Times New Roman"/>
              </a:rPr>
              <a:t> </a:t>
            </a:r>
            <a:r>
              <a:rPr lang="en-IN" sz="2000" dirty="0" smtClean="0">
                <a:latin typeface="Times New Roman"/>
                <a:cs typeface="Times New Roman"/>
              </a:rPr>
              <a:t>can</a:t>
            </a:r>
            <a:r>
              <a:rPr lang="en-IN" sz="2000" spc="-5" dirty="0" smtClean="0">
                <a:latin typeface="Times New Roman"/>
                <a:cs typeface="Times New Roman"/>
              </a:rPr>
              <a:t> </a:t>
            </a:r>
            <a:r>
              <a:rPr lang="en-IN" sz="2000" dirty="0" smtClean="0">
                <a:latin typeface="Times New Roman"/>
                <a:cs typeface="Times New Roman"/>
              </a:rPr>
              <a:t>be expressed</a:t>
            </a:r>
            <a:r>
              <a:rPr lang="en-IN" sz="2000" spc="-40" dirty="0" smtClean="0">
                <a:latin typeface="Times New Roman"/>
                <a:cs typeface="Times New Roman"/>
              </a:rPr>
              <a:t> </a:t>
            </a:r>
            <a:r>
              <a:rPr lang="en-IN" sz="2000" dirty="0" smtClean="0">
                <a:latin typeface="Times New Roman"/>
                <a:cs typeface="Times New Roman"/>
              </a:rPr>
              <a:t>in</a:t>
            </a:r>
            <a:r>
              <a:rPr lang="en-IN" sz="2000" spc="-5" dirty="0" smtClean="0">
                <a:latin typeface="Times New Roman"/>
                <a:cs typeface="Times New Roman"/>
              </a:rPr>
              <a:t> terms</a:t>
            </a:r>
            <a:r>
              <a:rPr lang="en-IN" sz="2000" spc="-10" dirty="0" smtClean="0">
                <a:latin typeface="Times New Roman"/>
                <a:cs typeface="Times New Roman"/>
              </a:rPr>
              <a:t> </a:t>
            </a:r>
            <a:r>
              <a:rPr lang="en-IN" sz="2000" dirty="0" smtClean="0">
                <a:latin typeface="Times New Roman"/>
                <a:cs typeface="Times New Roman"/>
              </a:rPr>
              <a:t>of</a:t>
            </a:r>
            <a:r>
              <a:rPr lang="en-IN" sz="2000" spc="-15" dirty="0" smtClean="0">
                <a:latin typeface="Times New Roman"/>
                <a:cs typeface="Times New Roman"/>
              </a:rPr>
              <a:t> </a:t>
            </a:r>
            <a:r>
              <a:rPr lang="en-IN" sz="2000" dirty="0" smtClean="0">
                <a:latin typeface="Times New Roman"/>
                <a:cs typeface="Times New Roman"/>
              </a:rPr>
              <a:t>regular</a:t>
            </a:r>
            <a:r>
              <a:rPr lang="en-IN" sz="2000" spc="-30" dirty="0" smtClean="0">
                <a:latin typeface="Times New Roman"/>
                <a:cs typeface="Times New Roman"/>
              </a:rPr>
              <a:t> </a:t>
            </a:r>
            <a:r>
              <a:rPr lang="en-IN" sz="2000" dirty="0" smtClean="0">
                <a:latin typeface="Times New Roman"/>
                <a:cs typeface="Times New Roman"/>
              </a:rPr>
              <a:t>expression.</a:t>
            </a:r>
          </a:p>
          <a:p>
            <a:pPr marL="469265" indent="-457200">
              <a:lnSpc>
                <a:spcPct val="100000"/>
              </a:lnSpc>
              <a:spcBef>
                <a:spcPts val="600"/>
              </a:spcBef>
              <a:buClr>
                <a:srgbClr val="2CA1BE"/>
              </a:buClr>
              <a:buSzPct val="85000"/>
              <a:buFont typeface="Wingdings" pitchFamily="2" charset="2"/>
              <a:buChar char="Ø"/>
              <a:tabLst>
                <a:tab pos="287020" algn="l"/>
                <a:tab pos="287655" algn="l"/>
              </a:tabLst>
            </a:pPr>
            <a:r>
              <a:rPr lang="en-IN" sz="2000" dirty="0" smtClean="0">
                <a:latin typeface="Times New Roman"/>
                <a:cs typeface="Times New Roman"/>
              </a:rPr>
              <a:t>Regular</a:t>
            </a:r>
            <a:r>
              <a:rPr lang="en-IN" sz="2000" spc="-20" dirty="0" smtClean="0">
                <a:latin typeface="Times New Roman"/>
                <a:cs typeface="Times New Roman"/>
              </a:rPr>
              <a:t> </a:t>
            </a:r>
            <a:r>
              <a:rPr lang="en-IN" sz="2000" dirty="0" smtClean="0">
                <a:latin typeface="Times New Roman"/>
                <a:cs typeface="Times New Roman"/>
              </a:rPr>
              <a:t>Expressions</a:t>
            </a:r>
            <a:r>
              <a:rPr lang="en-IN" sz="2000" spc="-35" dirty="0" smtClean="0">
                <a:latin typeface="Times New Roman"/>
                <a:cs typeface="Times New Roman"/>
              </a:rPr>
              <a:t> </a:t>
            </a:r>
            <a:r>
              <a:rPr lang="en-IN" sz="2000" dirty="0" smtClean="0">
                <a:latin typeface="Times New Roman"/>
                <a:cs typeface="Times New Roman"/>
              </a:rPr>
              <a:t>are</a:t>
            </a:r>
            <a:r>
              <a:rPr lang="en-IN" sz="2000" spc="-25" dirty="0" smtClean="0">
                <a:latin typeface="Times New Roman"/>
                <a:cs typeface="Times New Roman"/>
              </a:rPr>
              <a:t> </a:t>
            </a:r>
            <a:r>
              <a:rPr lang="en-IN" sz="2000" dirty="0" smtClean="0">
                <a:latin typeface="Times New Roman"/>
                <a:cs typeface="Times New Roman"/>
              </a:rPr>
              <a:t>used</a:t>
            </a:r>
            <a:r>
              <a:rPr lang="en-IN" sz="2000" spc="-20" dirty="0" smtClean="0">
                <a:latin typeface="Times New Roman"/>
                <a:cs typeface="Times New Roman"/>
              </a:rPr>
              <a:t> </a:t>
            </a:r>
            <a:r>
              <a:rPr lang="en-IN" sz="2000" dirty="0" smtClean="0">
                <a:latin typeface="Times New Roman"/>
                <a:cs typeface="Times New Roman"/>
              </a:rPr>
              <a:t>to</a:t>
            </a:r>
            <a:r>
              <a:rPr lang="en-IN" sz="2000" spc="-10" dirty="0" smtClean="0">
                <a:latin typeface="Times New Roman"/>
                <a:cs typeface="Times New Roman"/>
              </a:rPr>
              <a:t> </a:t>
            </a:r>
            <a:r>
              <a:rPr lang="en-IN" sz="2000" dirty="0" smtClean="0">
                <a:latin typeface="Times New Roman"/>
                <a:cs typeface="Times New Roman"/>
              </a:rPr>
              <a:t>denote</a:t>
            </a:r>
            <a:r>
              <a:rPr lang="en-IN" sz="2000" spc="-25" dirty="0" smtClean="0">
                <a:latin typeface="Times New Roman"/>
                <a:cs typeface="Times New Roman"/>
              </a:rPr>
              <a:t> </a:t>
            </a:r>
            <a:r>
              <a:rPr lang="en-IN" sz="2000" dirty="0" smtClean="0">
                <a:latin typeface="Times New Roman"/>
                <a:cs typeface="Times New Roman"/>
              </a:rPr>
              <a:t>regular</a:t>
            </a:r>
            <a:r>
              <a:rPr lang="en-IN" sz="2000" spc="-45" dirty="0" smtClean="0">
                <a:latin typeface="Times New Roman"/>
                <a:cs typeface="Times New Roman"/>
              </a:rPr>
              <a:t> </a:t>
            </a:r>
            <a:r>
              <a:rPr lang="en-IN" sz="2000" dirty="0" smtClean="0">
                <a:latin typeface="Times New Roman"/>
                <a:cs typeface="Times New Roman"/>
              </a:rPr>
              <a:t>languages.</a:t>
            </a:r>
            <a:r>
              <a:rPr lang="en-IN" sz="2000" spc="-155" dirty="0" smtClean="0">
                <a:latin typeface="Times New Roman"/>
                <a:cs typeface="Times New Roman"/>
              </a:rPr>
              <a:t> </a:t>
            </a:r>
            <a:r>
              <a:rPr lang="en-IN" sz="2000" dirty="0" smtClean="0">
                <a:latin typeface="Times New Roman"/>
                <a:cs typeface="Times New Roman"/>
              </a:rPr>
              <a:t>An</a:t>
            </a:r>
            <a:r>
              <a:rPr lang="en-IN" sz="2000" spc="-5" dirty="0" smtClean="0">
                <a:latin typeface="Times New Roman"/>
                <a:cs typeface="Times New Roman"/>
              </a:rPr>
              <a:t> </a:t>
            </a:r>
            <a:r>
              <a:rPr lang="en-IN" sz="2000" dirty="0" smtClean="0">
                <a:latin typeface="Times New Roman"/>
                <a:cs typeface="Times New Roman"/>
              </a:rPr>
              <a:t>expression is</a:t>
            </a:r>
            <a:r>
              <a:rPr lang="en-IN" sz="2000" spc="-40" dirty="0" smtClean="0">
                <a:latin typeface="Times New Roman"/>
                <a:cs typeface="Times New Roman"/>
              </a:rPr>
              <a:t> </a:t>
            </a:r>
            <a:r>
              <a:rPr lang="en-IN" sz="2000" dirty="0" smtClean="0">
                <a:latin typeface="Times New Roman"/>
                <a:cs typeface="Times New Roman"/>
              </a:rPr>
              <a:t>regular</a:t>
            </a:r>
            <a:r>
              <a:rPr lang="en-IN" sz="2000" spc="-55" dirty="0" smtClean="0">
                <a:latin typeface="Times New Roman"/>
                <a:cs typeface="Times New Roman"/>
              </a:rPr>
              <a:t> </a:t>
            </a:r>
            <a:r>
              <a:rPr lang="en-IN" sz="2000" dirty="0" smtClean="0">
                <a:latin typeface="Times New Roman"/>
                <a:cs typeface="Times New Roman"/>
              </a:rPr>
              <a:t>if:</a:t>
            </a:r>
          </a:p>
          <a:p>
            <a:pPr marL="561340" lvl="1" indent="-229235">
              <a:lnSpc>
                <a:spcPct val="100000"/>
              </a:lnSpc>
              <a:spcBef>
                <a:spcPts val="395"/>
              </a:spcBef>
              <a:buClr>
                <a:srgbClr val="DA1F28"/>
              </a:buClr>
              <a:buSzPct val="85000"/>
              <a:buFont typeface="Segoe UI Symbol"/>
              <a:buChar char="⚫"/>
              <a:tabLst>
                <a:tab pos="561975" algn="l"/>
              </a:tabLst>
            </a:pPr>
            <a:r>
              <a:rPr lang="en-IN" sz="2000" dirty="0" smtClean="0">
                <a:latin typeface="Times New Roman"/>
                <a:cs typeface="Times New Roman"/>
              </a:rPr>
              <a:t>If ɸ</a:t>
            </a:r>
            <a:r>
              <a:rPr lang="en-IN" sz="2000" spc="-5" dirty="0" smtClean="0">
                <a:latin typeface="Times New Roman"/>
                <a:cs typeface="Times New Roman"/>
              </a:rPr>
              <a:t> is</a:t>
            </a:r>
            <a:r>
              <a:rPr lang="en-IN" sz="2000" spc="-10" dirty="0" smtClean="0">
                <a:latin typeface="Times New Roman"/>
                <a:cs typeface="Times New Roman"/>
              </a:rPr>
              <a:t> </a:t>
            </a:r>
            <a:r>
              <a:rPr lang="en-IN" sz="2000" dirty="0" smtClean="0">
                <a:latin typeface="Times New Roman"/>
                <a:cs typeface="Times New Roman"/>
              </a:rPr>
              <a:t>a</a:t>
            </a:r>
            <a:r>
              <a:rPr lang="en-IN" sz="2000" spc="-5" dirty="0" smtClean="0">
                <a:latin typeface="Times New Roman"/>
                <a:cs typeface="Times New Roman"/>
              </a:rPr>
              <a:t> </a:t>
            </a:r>
            <a:r>
              <a:rPr lang="en-IN" sz="2000" dirty="0" smtClean="0">
                <a:latin typeface="Times New Roman"/>
                <a:cs typeface="Times New Roman"/>
              </a:rPr>
              <a:t>regular</a:t>
            </a:r>
            <a:r>
              <a:rPr lang="en-IN" sz="2000" spc="-30" dirty="0" smtClean="0">
                <a:latin typeface="Times New Roman"/>
                <a:cs typeface="Times New Roman"/>
              </a:rPr>
              <a:t> </a:t>
            </a:r>
            <a:r>
              <a:rPr lang="en-IN" sz="2000" dirty="0" smtClean="0">
                <a:latin typeface="Times New Roman"/>
                <a:cs typeface="Times New Roman"/>
              </a:rPr>
              <a:t>expression</a:t>
            </a:r>
            <a:r>
              <a:rPr lang="en-IN" sz="2000" spc="-40" dirty="0" smtClean="0">
                <a:latin typeface="Times New Roman"/>
                <a:cs typeface="Times New Roman"/>
              </a:rPr>
              <a:t> </a:t>
            </a:r>
            <a:r>
              <a:rPr lang="en-IN" sz="2000" dirty="0" smtClean="0">
                <a:latin typeface="Times New Roman"/>
                <a:cs typeface="Times New Roman"/>
              </a:rPr>
              <a:t>for</a:t>
            </a:r>
            <a:r>
              <a:rPr lang="en-IN" sz="2000" spc="-30" dirty="0" smtClean="0">
                <a:latin typeface="Times New Roman"/>
                <a:cs typeface="Times New Roman"/>
              </a:rPr>
              <a:t> </a:t>
            </a:r>
            <a:r>
              <a:rPr lang="en-IN" sz="2000" dirty="0" smtClean="0">
                <a:latin typeface="Times New Roman"/>
                <a:cs typeface="Times New Roman"/>
              </a:rPr>
              <a:t>regular</a:t>
            </a:r>
            <a:r>
              <a:rPr lang="en-IN" sz="2000" spc="-35" dirty="0" smtClean="0">
                <a:latin typeface="Times New Roman"/>
                <a:cs typeface="Times New Roman"/>
              </a:rPr>
              <a:t> </a:t>
            </a:r>
            <a:r>
              <a:rPr lang="en-IN" sz="2000" dirty="0" smtClean="0">
                <a:latin typeface="Times New Roman"/>
                <a:cs typeface="Times New Roman"/>
              </a:rPr>
              <a:t>language</a:t>
            </a:r>
            <a:r>
              <a:rPr lang="en-IN" sz="2000" spc="-45" dirty="0" smtClean="0">
                <a:latin typeface="Times New Roman"/>
                <a:cs typeface="Times New Roman"/>
              </a:rPr>
              <a:t> </a:t>
            </a:r>
            <a:r>
              <a:rPr lang="en-IN" sz="2000" spc="-5" dirty="0" smtClean="0">
                <a:latin typeface="Times New Roman"/>
                <a:cs typeface="Times New Roman"/>
              </a:rPr>
              <a:t>ɸ.</a:t>
            </a:r>
            <a:endParaRPr lang="en-IN" sz="2000" dirty="0" smtClean="0">
              <a:latin typeface="Times New Roman"/>
              <a:cs typeface="Times New Roman"/>
            </a:endParaRPr>
          </a:p>
          <a:p>
            <a:pPr marL="561340" lvl="1" indent="-229235">
              <a:lnSpc>
                <a:spcPct val="100000"/>
              </a:lnSpc>
              <a:spcBef>
                <a:spcPts val="405"/>
              </a:spcBef>
              <a:buClr>
                <a:srgbClr val="DA1F28"/>
              </a:buClr>
              <a:buSzPct val="85000"/>
              <a:buFont typeface="Segoe UI Symbol"/>
              <a:buChar char="⚫"/>
              <a:tabLst>
                <a:tab pos="561975" algn="l"/>
              </a:tabLst>
            </a:pPr>
            <a:r>
              <a:rPr lang="en-IN" sz="2000" dirty="0" smtClean="0">
                <a:latin typeface="Times New Roman"/>
                <a:cs typeface="Times New Roman"/>
              </a:rPr>
              <a:t>If ɛ</a:t>
            </a:r>
            <a:r>
              <a:rPr lang="en-IN" sz="2000" spc="-15" dirty="0" smtClean="0">
                <a:latin typeface="Times New Roman"/>
                <a:cs typeface="Times New Roman"/>
              </a:rPr>
              <a:t> </a:t>
            </a:r>
            <a:r>
              <a:rPr lang="en-IN" sz="2000" dirty="0" smtClean="0">
                <a:latin typeface="Times New Roman"/>
                <a:cs typeface="Times New Roman"/>
              </a:rPr>
              <a:t>is a</a:t>
            </a:r>
            <a:r>
              <a:rPr lang="en-IN" sz="2000" spc="-20" dirty="0" smtClean="0">
                <a:latin typeface="Times New Roman"/>
                <a:cs typeface="Times New Roman"/>
              </a:rPr>
              <a:t> </a:t>
            </a:r>
            <a:r>
              <a:rPr lang="en-IN" sz="2000" dirty="0" smtClean="0">
                <a:latin typeface="Times New Roman"/>
                <a:cs typeface="Times New Roman"/>
              </a:rPr>
              <a:t>regular</a:t>
            </a:r>
            <a:r>
              <a:rPr lang="en-IN" sz="2000" spc="-30" dirty="0" smtClean="0">
                <a:latin typeface="Times New Roman"/>
                <a:cs typeface="Times New Roman"/>
              </a:rPr>
              <a:t> </a:t>
            </a:r>
            <a:r>
              <a:rPr lang="en-IN" sz="2000" dirty="0" smtClean="0">
                <a:latin typeface="Times New Roman"/>
                <a:cs typeface="Times New Roman"/>
              </a:rPr>
              <a:t>expression</a:t>
            </a:r>
            <a:r>
              <a:rPr lang="en-IN" sz="2000" spc="-35" dirty="0" smtClean="0">
                <a:latin typeface="Times New Roman"/>
                <a:cs typeface="Times New Roman"/>
              </a:rPr>
              <a:t> </a:t>
            </a:r>
            <a:r>
              <a:rPr lang="en-IN" sz="2000" dirty="0" smtClean="0">
                <a:latin typeface="Times New Roman"/>
                <a:cs typeface="Times New Roman"/>
              </a:rPr>
              <a:t>for</a:t>
            </a:r>
            <a:r>
              <a:rPr lang="en-IN" sz="2000" spc="-35" dirty="0" smtClean="0">
                <a:latin typeface="Times New Roman"/>
                <a:cs typeface="Times New Roman"/>
              </a:rPr>
              <a:t> </a:t>
            </a:r>
            <a:r>
              <a:rPr lang="en-IN" sz="2000" dirty="0" smtClean="0">
                <a:latin typeface="Times New Roman"/>
                <a:cs typeface="Times New Roman"/>
              </a:rPr>
              <a:t>regular</a:t>
            </a:r>
            <a:r>
              <a:rPr lang="en-IN" sz="2000" spc="-30" dirty="0" smtClean="0">
                <a:latin typeface="Times New Roman"/>
                <a:cs typeface="Times New Roman"/>
              </a:rPr>
              <a:t> </a:t>
            </a:r>
            <a:r>
              <a:rPr lang="en-IN" sz="2000" dirty="0" smtClean="0">
                <a:latin typeface="Times New Roman"/>
                <a:cs typeface="Times New Roman"/>
              </a:rPr>
              <a:t>language</a:t>
            </a:r>
            <a:r>
              <a:rPr lang="en-IN" sz="2000" spc="-50" dirty="0" smtClean="0">
                <a:latin typeface="Times New Roman"/>
                <a:cs typeface="Times New Roman"/>
              </a:rPr>
              <a:t> </a:t>
            </a:r>
            <a:r>
              <a:rPr lang="en-IN" sz="2000" dirty="0" smtClean="0">
                <a:latin typeface="Times New Roman"/>
                <a:cs typeface="Times New Roman"/>
              </a:rPr>
              <a:t>{ɛ}.</a:t>
            </a:r>
          </a:p>
          <a:p>
            <a:pPr marL="561340" lvl="1" indent="-229235">
              <a:lnSpc>
                <a:spcPct val="100000"/>
              </a:lnSpc>
              <a:spcBef>
                <a:spcPts val="400"/>
              </a:spcBef>
              <a:buClr>
                <a:srgbClr val="DA1F28"/>
              </a:buClr>
              <a:buSzPct val="85000"/>
              <a:buFont typeface="Segoe UI Symbol"/>
              <a:buChar char="⚫"/>
              <a:tabLst>
                <a:tab pos="561975" algn="l"/>
              </a:tabLst>
            </a:pPr>
            <a:r>
              <a:rPr lang="en-IN" sz="2000" dirty="0" smtClean="0">
                <a:latin typeface="Times New Roman"/>
                <a:cs typeface="Times New Roman"/>
              </a:rPr>
              <a:t>If</a:t>
            </a:r>
            <a:r>
              <a:rPr lang="en-IN" sz="2000" spc="-20" dirty="0" smtClean="0">
                <a:latin typeface="Times New Roman"/>
                <a:cs typeface="Times New Roman"/>
              </a:rPr>
              <a:t> x</a:t>
            </a:r>
            <a:r>
              <a:rPr lang="en-IN" sz="2000" spc="-10" dirty="0" smtClean="0">
                <a:latin typeface="Times New Roman"/>
                <a:cs typeface="Times New Roman"/>
              </a:rPr>
              <a:t> </a:t>
            </a:r>
            <a:r>
              <a:rPr lang="en-IN" sz="2000" dirty="0" smtClean="0">
                <a:latin typeface="Times New Roman"/>
                <a:cs typeface="Times New Roman"/>
              </a:rPr>
              <a:t>is</a:t>
            </a:r>
            <a:r>
              <a:rPr lang="en-IN" sz="2000" spc="-15" dirty="0" smtClean="0">
                <a:latin typeface="Times New Roman"/>
                <a:cs typeface="Times New Roman"/>
              </a:rPr>
              <a:t> </a:t>
            </a:r>
            <a:r>
              <a:rPr lang="en-IN" sz="2000" dirty="0" smtClean="0">
                <a:latin typeface="Times New Roman"/>
                <a:cs typeface="Times New Roman"/>
              </a:rPr>
              <a:t>regular</a:t>
            </a:r>
            <a:r>
              <a:rPr lang="en-IN" sz="2000" spc="-35" dirty="0" smtClean="0">
                <a:latin typeface="Times New Roman"/>
                <a:cs typeface="Times New Roman"/>
              </a:rPr>
              <a:t> </a:t>
            </a:r>
            <a:r>
              <a:rPr lang="en-IN" sz="2000" dirty="0" smtClean="0">
                <a:latin typeface="Times New Roman"/>
                <a:cs typeface="Times New Roman"/>
              </a:rPr>
              <a:t>expression</a:t>
            </a:r>
            <a:r>
              <a:rPr lang="en-IN" sz="2000" spc="-40" dirty="0" smtClean="0">
                <a:latin typeface="Times New Roman"/>
                <a:cs typeface="Times New Roman"/>
              </a:rPr>
              <a:t> and regular  </a:t>
            </a:r>
            <a:r>
              <a:rPr lang="en-IN" sz="2000" dirty="0" smtClean="0">
                <a:latin typeface="Times New Roman"/>
                <a:cs typeface="Times New Roman"/>
              </a:rPr>
              <a:t>language</a:t>
            </a:r>
            <a:r>
              <a:rPr lang="en-IN" sz="2000" spc="-70" dirty="0" smtClean="0">
                <a:latin typeface="Times New Roman"/>
                <a:cs typeface="Times New Roman"/>
              </a:rPr>
              <a:t> is </a:t>
            </a:r>
            <a:r>
              <a:rPr lang="en-IN" sz="2000" dirty="0" smtClean="0">
                <a:latin typeface="Times New Roman"/>
                <a:cs typeface="Times New Roman"/>
              </a:rPr>
              <a:t>{x}.</a:t>
            </a:r>
          </a:p>
          <a:p>
            <a:pPr marL="561340" marR="75565" lvl="1" indent="-228600">
              <a:lnSpc>
                <a:spcPct val="100000"/>
              </a:lnSpc>
              <a:spcBef>
                <a:spcPts val="395"/>
              </a:spcBef>
              <a:buClr>
                <a:srgbClr val="DA1F28"/>
              </a:buClr>
              <a:buSzPct val="85000"/>
              <a:buFont typeface="Segoe UI Symbol"/>
              <a:buChar char="⚫"/>
              <a:tabLst>
                <a:tab pos="561975" algn="l"/>
              </a:tabLst>
            </a:pPr>
            <a:r>
              <a:rPr lang="en-IN" sz="2000" dirty="0" smtClean="0">
                <a:latin typeface="Times New Roman"/>
                <a:cs typeface="Times New Roman"/>
              </a:rPr>
              <a:t>If</a:t>
            </a:r>
            <a:r>
              <a:rPr lang="en-IN" sz="2000" spc="-15" dirty="0" smtClean="0">
                <a:latin typeface="Times New Roman"/>
                <a:cs typeface="Times New Roman"/>
              </a:rPr>
              <a:t> </a:t>
            </a:r>
            <a:r>
              <a:rPr lang="en-IN" sz="2000" dirty="0" smtClean="0">
                <a:latin typeface="Times New Roman"/>
                <a:cs typeface="Times New Roman"/>
              </a:rPr>
              <a:t>a and</a:t>
            </a:r>
            <a:r>
              <a:rPr lang="en-IN" sz="2000" spc="-10" dirty="0" smtClean="0">
                <a:latin typeface="Times New Roman"/>
                <a:cs typeface="Times New Roman"/>
              </a:rPr>
              <a:t> </a:t>
            </a:r>
            <a:r>
              <a:rPr lang="en-IN" sz="2000" dirty="0" smtClean="0">
                <a:latin typeface="Times New Roman"/>
                <a:cs typeface="Times New Roman"/>
              </a:rPr>
              <a:t>b are</a:t>
            </a:r>
            <a:r>
              <a:rPr lang="en-IN" sz="2000" spc="-10" dirty="0" smtClean="0">
                <a:latin typeface="Times New Roman"/>
                <a:cs typeface="Times New Roman"/>
              </a:rPr>
              <a:t> </a:t>
            </a:r>
            <a:r>
              <a:rPr lang="en-IN" sz="2000" dirty="0" smtClean="0">
                <a:latin typeface="Times New Roman"/>
                <a:cs typeface="Times New Roman"/>
              </a:rPr>
              <a:t>regular</a:t>
            </a:r>
            <a:r>
              <a:rPr lang="en-IN" sz="2000" spc="-45" dirty="0" smtClean="0">
                <a:latin typeface="Times New Roman"/>
                <a:cs typeface="Times New Roman"/>
              </a:rPr>
              <a:t> </a:t>
            </a:r>
            <a:r>
              <a:rPr lang="en-IN" sz="2000" dirty="0" smtClean="0">
                <a:latin typeface="Times New Roman"/>
                <a:cs typeface="Times New Roman"/>
              </a:rPr>
              <a:t>expression,</a:t>
            </a:r>
            <a:r>
              <a:rPr lang="en-IN" sz="2000" spc="-40" dirty="0" smtClean="0">
                <a:latin typeface="Times New Roman"/>
                <a:cs typeface="Times New Roman"/>
              </a:rPr>
              <a:t> </a:t>
            </a:r>
            <a:r>
              <a:rPr lang="en-IN" sz="2000" b="1" dirty="0" smtClean="0">
                <a:latin typeface="Times New Roman"/>
                <a:cs typeface="Times New Roman"/>
              </a:rPr>
              <a:t>a +</a:t>
            </a:r>
            <a:r>
              <a:rPr lang="en-IN" sz="2000" b="1" spc="-10" dirty="0" smtClean="0">
                <a:latin typeface="Times New Roman"/>
                <a:cs typeface="Times New Roman"/>
              </a:rPr>
              <a:t> </a:t>
            </a:r>
            <a:r>
              <a:rPr lang="en-IN" sz="2000" b="1" dirty="0" smtClean="0">
                <a:latin typeface="Times New Roman"/>
                <a:cs typeface="Times New Roman"/>
              </a:rPr>
              <a:t>b </a:t>
            </a:r>
            <a:r>
              <a:rPr lang="en-IN" sz="2000" spc="-5" dirty="0" smtClean="0">
                <a:latin typeface="Times New Roman"/>
                <a:cs typeface="Times New Roman"/>
              </a:rPr>
              <a:t>is</a:t>
            </a:r>
            <a:r>
              <a:rPr lang="en-IN" sz="2000" spc="-10" dirty="0" smtClean="0">
                <a:latin typeface="Times New Roman"/>
                <a:cs typeface="Times New Roman"/>
              </a:rPr>
              <a:t> </a:t>
            </a:r>
            <a:r>
              <a:rPr lang="en-IN" sz="2000" spc="-5" dirty="0" smtClean="0">
                <a:latin typeface="Times New Roman"/>
                <a:cs typeface="Times New Roman"/>
              </a:rPr>
              <a:t>also</a:t>
            </a:r>
            <a:r>
              <a:rPr lang="en-IN" sz="2000" dirty="0" smtClean="0">
                <a:latin typeface="Times New Roman"/>
                <a:cs typeface="Times New Roman"/>
              </a:rPr>
              <a:t> a</a:t>
            </a:r>
            <a:r>
              <a:rPr lang="en-IN" sz="2000" spc="-10" dirty="0" smtClean="0">
                <a:latin typeface="Times New Roman"/>
                <a:cs typeface="Times New Roman"/>
              </a:rPr>
              <a:t> </a:t>
            </a:r>
            <a:r>
              <a:rPr lang="en-IN" sz="2000" dirty="0" smtClean="0">
                <a:latin typeface="Times New Roman"/>
                <a:cs typeface="Times New Roman"/>
              </a:rPr>
              <a:t>regular</a:t>
            </a:r>
            <a:r>
              <a:rPr lang="en-IN" sz="2000" spc="-30" dirty="0" smtClean="0">
                <a:latin typeface="Times New Roman"/>
                <a:cs typeface="Times New Roman"/>
              </a:rPr>
              <a:t> </a:t>
            </a:r>
            <a:r>
              <a:rPr lang="en-IN" sz="2000" dirty="0" smtClean="0">
                <a:latin typeface="Times New Roman"/>
                <a:cs typeface="Times New Roman"/>
              </a:rPr>
              <a:t>expression</a:t>
            </a:r>
            <a:r>
              <a:rPr lang="en-IN" sz="2000" spc="-40" dirty="0" smtClean="0">
                <a:latin typeface="Times New Roman"/>
                <a:cs typeface="Times New Roman"/>
              </a:rPr>
              <a:t> </a:t>
            </a:r>
            <a:r>
              <a:rPr lang="en-IN" sz="2000" dirty="0" smtClean="0">
                <a:latin typeface="Times New Roman"/>
                <a:cs typeface="Times New Roman"/>
              </a:rPr>
              <a:t>with </a:t>
            </a:r>
            <a:r>
              <a:rPr lang="en-IN" sz="2000" spc="-484" dirty="0" smtClean="0">
                <a:latin typeface="Times New Roman"/>
                <a:cs typeface="Times New Roman"/>
              </a:rPr>
              <a:t> </a:t>
            </a:r>
            <a:r>
              <a:rPr lang="en-IN" sz="2000" dirty="0" smtClean="0">
                <a:latin typeface="Times New Roman"/>
                <a:cs typeface="Times New Roman"/>
              </a:rPr>
              <a:t>language</a:t>
            </a:r>
            <a:r>
              <a:rPr lang="en-IN" sz="2000" spc="-40" dirty="0" smtClean="0">
                <a:latin typeface="Times New Roman"/>
                <a:cs typeface="Times New Roman"/>
              </a:rPr>
              <a:t> </a:t>
            </a:r>
            <a:r>
              <a:rPr lang="en-IN" sz="2000" dirty="0" smtClean="0">
                <a:latin typeface="Times New Roman"/>
                <a:cs typeface="Times New Roman"/>
              </a:rPr>
              <a:t>{</a:t>
            </a:r>
            <a:r>
              <a:rPr lang="en-IN" sz="2000" dirty="0" err="1" smtClean="0">
                <a:latin typeface="Times New Roman"/>
                <a:cs typeface="Times New Roman"/>
              </a:rPr>
              <a:t>a,b</a:t>
            </a:r>
            <a:r>
              <a:rPr lang="en-IN" sz="2000" dirty="0" smtClean="0">
                <a:latin typeface="Times New Roman"/>
                <a:cs typeface="Times New Roman"/>
              </a:rPr>
              <a:t>}.(</a:t>
            </a:r>
            <a:r>
              <a:rPr lang="en-IN" sz="2000" dirty="0" err="1" smtClean="0">
                <a:latin typeface="Times New Roman"/>
                <a:cs typeface="Times New Roman"/>
              </a:rPr>
              <a:t>i.e</a:t>
            </a:r>
            <a:r>
              <a:rPr lang="en-IN" sz="2000" dirty="0" smtClean="0">
                <a:latin typeface="Times New Roman"/>
                <a:cs typeface="Times New Roman"/>
              </a:rPr>
              <a:t> A union B)</a:t>
            </a:r>
          </a:p>
          <a:p>
            <a:pPr marL="561340" lvl="1" indent="-229235">
              <a:lnSpc>
                <a:spcPct val="100000"/>
              </a:lnSpc>
              <a:spcBef>
                <a:spcPts val="409"/>
              </a:spcBef>
              <a:buClr>
                <a:srgbClr val="DA1F28"/>
              </a:buClr>
              <a:buSzPct val="85000"/>
              <a:buFont typeface="Segoe UI Symbol"/>
              <a:buChar char="⚫"/>
              <a:tabLst>
                <a:tab pos="561975" algn="l"/>
              </a:tabLst>
            </a:pPr>
            <a:r>
              <a:rPr lang="en-IN" sz="2000" dirty="0" smtClean="0">
                <a:latin typeface="Times New Roman"/>
                <a:cs typeface="Times New Roman"/>
              </a:rPr>
              <a:t>If</a:t>
            </a:r>
            <a:r>
              <a:rPr lang="en-IN" sz="2000" spc="-15" dirty="0" smtClean="0">
                <a:latin typeface="Times New Roman"/>
                <a:cs typeface="Times New Roman"/>
              </a:rPr>
              <a:t> </a:t>
            </a:r>
            <a:r>
              <a:rPr lang="en-IN" sz="2000" dirty="0" smtClean="0">
                <a:latin typeface="Times New Roman"/>
                <a:cs typeface="Times New Roman"/>
              </a:rPr>
              <a:t>a and</a:t>
            </a:r>
            <a:r>
              <a:rPr lang="en-IN" sz="2000" spc="-10" dirty="0" smtClean="0">
                <a:latin typeface="Times New Roman"/>
                <a:cs typeface="Times New Roman"/>
              </a:rPr>
              <a:t> </a:t>
            </a:r>
            <a:r>
              <a:rPr lang="en-IN" sz="2000" dirty="0" smtClean="0">
                <a:latin typeface="Times New Roman"/>
                <a:cs typeface="Times New Roman"/>
              </a:rPr>
              <a:t>b are</a:t>
            </a:r>
            <a:r>
              <a:rPr lang="en-IN" sz="2000" spc="-10" dirty="0" smtClean="0">
                <a:latin typeface="Times New Roman"/>
                <a:cs typeface="Times New Roman"/>
              </a:rPr>
              <a:t> </a:t>
            </a:r>
            <a:r>
              <a:rPr lang="en-IN" sz="2000" dirty="0" smtClean="0">
                <a:latin typeface="Times New Roman"/>
                <a:cs typeface="Times New Roman"/>
              </a:rPr>
              <a:t>regular</a:t>
            </a:r>
            <a:r>
              <a:rPr lang="en-IN" sz="2000" spc="-45" dirty="0" smtClean="0">
                <a:latin typeface="Times New Roman"/>
                <a:cs typeface="Times New Roman"/>
              </a:rPr>
              <a:t> </a:t>
            </a:r>
            <a:r>
              <a:rPr lang="en-IN" sz="2000" dirty="0" smtClean="0">
                <a:latin typeface="Times New Roman"/>
                <a:cs typeface="Times New Roman"/>
              </a:rPr>
              <a:t>expression,</a:t>
            </a:r>
            <a:r>
              <a:rPr lang="en-IN" sz="2000" spc="-25" dirty="0" smtClean="0">
                <a:latin typeface="Times New Roman"/>
                <a:cs typeface="Times New Roman"/>
              </a:rPr>
              <a:t> </a:t>
            </a:r>
            <a:r>
              <a:rPr lang="en-IN" sz="2000" spc="-5" dirty="0" err="1" smtClean="0">
                <a:latin typeface="Times New Roman"/>
                <a:cs typeface="Times New Roman"/>
              </a:rPr>
              <a:t>ab</a:t>
            </a:r>
            <a:r>
              <a:rPr lang="en-IN" sz="2000" spc="-5" dirty="0" smtClean="0">
                <a:latin typeface="Times New Roman"/>
                <a:cs typeface="Times New Roman"/>
              </a:rPr>
              <a:t> </a:t>
            </a:r>
            <a:r>
              <a:rPr lang="en-IN" sz="2000" dirty="0" smtClean="0">
                <a:latin typeface="Times New Roman"/>
                <a:cs typeface="Times New Roman"/>
              </a:rPr>
              <a:t>(concatenation</a:t>
            </a:r>
            <a:r>
              <a:rPr lang="en-IN" sz="2000" spc="-45" dirty="0" smtClean="0">
                <a:latin typeface="Times New Roman"/>
                <a:cs typeface="Times New Roman"/>
              </a:rPr>
              <a:t> </a:t>
            </a:r>
            <a:r>
              <a:rPr lang="en-IN" sz="2000" dirty="0" smtClean="0">
                <a:latin typeface="Times New Roman"/>
                <a:cs typeface="Times New Roman"/>
              </a:rPr>
              <a:t>of</a:t>
            </a:r>
            <a:r>
              <a:rPr lang="en-IN" sz="2000" spc="-15" dirty="0" smtClean="0">
                <a:latin typeface="Times New Roman"/>
                <a:cs typeface="Times New Roman"/>
              </a:rPr>
              <a:t> </a:t>
            </a:r>
            <a:r>
              <a:rPr lang="en-IN" sz="2000" dirty="0" smtClean="0">
                <a:latin typeface="Times New Roman"/>
                <a:cs typeface="Times New Roman"/>
              </a:rPr>
              <a:t>a and</a:t>
            </a:r>
            <a:r>
              <a:rPr lang="en-IN" sz="2000" spc="-10" dirty="0" smtClean="0">
                <a:latin typeface="Times New Roman"/>
                <a:cs typeface="Times New Roman"/>
              </a:rPr>
              <a:t> </a:t>
            </a:r>
            <a:r>
              <a:rPr lang="en-IN" sz="2000" dirty="0" smtClean="0">
                <a:latin typeface="Times New Roman"/>
                <a:cs typeface="Times New Roman"/>
              </a:rPr>
              <a:t>b)</a:t>
            </a:r>
            <a:r>
              <a:rPr lang="en-IN" sz="2000" spc="-15" dirty="0" smtClean="0">
                <a:latin typeface="Times New Roman"/>
                <a:cs typeface="Times New Roman"/>
              </a:rPr>
              <a:t> </a:t>
            </a:r>
            <a:r>
              <a:rPr lang="en-IN" sz="2000" dirty="0" smtClean="0">
                <a:latin typeface="Times New Roman"/>
                <a:cs typeface="Times New Roman"/>
              </a:rPr>
              <a:t>is</a:t>
            </a:r>
            <a:r>
              <a:rPr lang="en-IN" sz="2000" spc="-10" dirty="0" smtClean="0">
                <a:latin typeface="Times New Roman"/>
                <a:cs typeface="Times New Roman"/>
              </a:rPr>
              <a:t> </a:t>
            </a:r>
            <a:r>
              <a:rPr lang="en-IN" sz="2000" spc="-5" dirty="0" smtClean="0">
                <a:latin typeface="Times New Roman"/>
                <a:cs typeface="Times New Roman"/>
              </a:rPr>
              <a:t>also </a:t>
            </a:r>
            <a:r>
              <a:rPr lang="en-IN" sz="2000" spc="-15" dirty="0" smtClean="0">
                <a:latin typeface="Times New Roman"/>
                <a:cs typeface="Times New Roman"/>
              </a:rPr>
              <a:t>regular.</a:t>
            </a:r>
            <a:endParaRPr lang="en-IN" sz="2000" dirty="0" smtClean="0">
              <a:latin typeface="Times New Roman"/>
              <a:cs typeface="Times New Roman"/>
            </a:endParaRPr>
          </a:p>
          <a:p>
            <a:pPr marL="561340" lvl="1" indent="-229235">
              <a:lnSpc>
                <a:spcPct val="100000"/>
              </a:lnSpc>
              <a:spcBef>
                <a:spcPts val="400"/>
              </a:spcBef>
              <a:buClr>
                <a:srgbClr val="DA1F28"/>
              </a:buClr>
              <a:buSzPct val="85000"/>
              <a:buFont typeface="Segoe UI Symbol"/>
              <a:buChar char="⚫"/>
              <a:tabLst>
                <a:tab pos="561975" algn="l"/>
              </a:tabLst>
            </a:pPr>
            <a:r>
              <a:rPr lang="en-IN" sz="2000" dirty="0" smtClean="0">
                <a:latin typeface="Times New Roman"/>
                <a:cs typeface="Times New Roman"/>
              </a:rPr>
              <a:t>If</a:t>
            </a:r>
            <a:r>
              <a:rPr lang="en-IN" sz="2000" spc="-15" dirty="0" smtClean="0">
                <a:latin typeface="Times New Roman"/>
                <a:cs typeface="Times New Roman"/>
              </a:rPr>
              <a:t> </a:t>
            </a:r>
            <a:r>
              <a:rPr lang="en-IN" sz="2000" dirty="0" smtClean="0">
                <a:latin typeface="Times New Roman"/>
                <a:cs typeface="Times New Roman"/>
              </a:rPr>
              <a:t>a is</a:t>
            </a:r>
            <a:r>
              <a:rPr lang="en-IN" sz="2000" spc="-10" dirty="0" smtClean="0">
                <a:latin typeface="Times New Roman"/>
                <a:cs typeface="Times New Roman"/>
              </a:rPr>
              <a:t> </a:t>
            </a:r>
            <a:r>
              <a:rPr lang="en-IN" sz="2000" dirty="0" smtClean="0">
                <a:latin typeface="Times New Roman"/>
                <a:cs typeface="Times New Roman"/>
              </a:rPr>
              <a:t>regular</a:t>
            </a:r>
            <a:r>
              <a:rPr lang="en-IN" sz="2000" spc="-45" dirty="0" smtClean="0">
                <a:latin typeface="Times New Roman"/>
                <a:cs typeface="Times New Roman"/>
              </a:rPr>
              <a:t> </a:t>
            </a:r>
            <a:r>
              <a:rPr lang="en-IN" sz="2000" dirty="0" smtClean="0">
                <a:latin typeface="Times New Roman"/>
                <a:cs typeface="Times New Roman"/>
              </a:rPr>
              <a:t>expression,</a:t>
            </a:r>
            <a:r>
              <a:rPr lang="en-IN" sz="2000" spc="-35" dirty="0" smtClean="0">
                <a:latin typeface="Times New Roman"/>
                <a:cs typeface="Times New Roman"/>
              </a:rPr>
              <a:t> </a:t>
            </a:r>
            <a:r>
              <a:rPr lang="en-IN" sz="2000" dirty="0" smtClean="0">
                <a:latin typeface="Times New Roman"/>
                <a:cs typeface="Times New Roman"/>
              </a:rPr>
              <a:t>a* (0</a:t>
            </a:r>
            <a:r>
              <a:rPr lang="en-IN" sz="2000" spc="-10" dirty="0" smtClean="0">
                <a:latin typeface="Times New Roman"/>
                <a:cs typeface="Times New Roman"/>
              </a:rPr>
              <a:t> </a:t>
            </a:r>
            <a:r>
              <a:rPr lang="en-IN" sz="2000" dirty="0" smtClean="0">
                <a:latin typeface="Times New Roman"/>
                <a:cs typeface="Times New Roman"/>
              </a:rPr>
              <a:t>or</a:t>
            </a:r>
            <a:r>
              <a:rPr lang="en-IN" sz="2000" spc="-15" dirty="0" smtClean="0">
                <a:latin typeface="Times New Roman"/>
                <a:cs typeface="Times New Roman"/>
              </a:rPr>
              <a:t> </a:t>
            </a:r>
            <a:r>
              <a:rPr lang="en-IN" sz="2000" spc="-5" dirty="0" smtClean="0">
                <a:latin typeface="Times New Roman"/>
                <a:cs typeface="Times New Roman"/>
              </a:rPr>
              <a:t>more</a:t>
            </a:r>
            <a:r>
              <a:rPr lang="en-IN" sz="2000" dirty="0" smtClean="0">
                <a:latin typeface="Times New Roman"/>
                <a:cs typeface="Times New Roman"/>
              </a:rPr>
              <a:t> </a:t>
            </a:r>
            <a:r>
              <a:rPr lang="en-IN" sz="2000" spc="-10" dirty="0" smtClean="0">
                <a:latin typeface="Times New Roman"/>
                <a:cs typeface="Times New Roman"/>
              </a:rPr>
              <a:t>times</a:t>
            </a:r>
            <a:r>
              <a:rPr lang="en-IN" sz="2000" spc="5" dirty="0" smtClean="0">
                <a:latin typeface="Times New Roman"/>
                <a:cs typeface="Times New Roman"/>
              </a:rPr>
              <a:t> </a:t>
            </a:r>
            <a:r>
              <a:rPr lang="en-IN" sz="2000" dirty="0" smtClean="0">
                <a:latin typeface="Times New Roman"/>
                <a:cs typeface="Times New Roman"/>
              </a:rPr>
              <a:t>a) </a:t>
            </a:r>
            <a:r>
              <a:rPr lang="en-IN" sz="2000" spc="-5" dirty="0" smtClean="0">
                <a:latin typeface="Times New Roman"/>
                <a:cs typeface="Times New Roman"/>
              </a:rPr>
              <a:t>is also</a:t>
            </a:r>
            <a:r>
              <a:rPr lang="en-IN" sz="2000" spc="-15" dirty="0" smtClean="0">
                <a:latin typeface="Times New Roman"/>
                <a:cs typeface="Times New Roman"/>
              </a:rPr>
              <a:t> regular.</a:t>
            </a:r>
            <a:endParaRPr lang="en-IN" sz="2000" dirty="0" smtClean="0">
              <a:latin typeface="Times New Roman"/>
              <a:cs typeface="Times New Roman"/>
            </a:endParaRPr>
          </a:p>
          <a:p>
            <a:pPr marL="287020" marR="433705" indent="-274955">
              <a:lnSpc>
                <a:spcPct val="100000"/>
              </a:lnSpc>
              <a:spcBef>
                <a:spcPts val="595"/>
              </a:spcBef>
              <a:buClr>
                <a:srgbClr val="2CA1BE"/>
              </a:buClr>
              <a:buSzPct val="85000"/>
              <a:tabLst>
                <a:tab pos="287020" algn="l"/>
                <a:tab pos="287655" algn="l"/>
              </a:tabLst>
            </a:pPr>
            <a:r>
              <a:rPr lang="en-IN" sz="2000" dirty="0" smtClean="0">
                <a:latin typeface="Times New Roman"/>
                <a:cs typeface="Times New Roman"/>
              </a:rPr>
              <a:t>A</a:t>
            </a:r>
            <a:r>
              <a:rPr lang="en-IN" sz="2000" spc="-110" dirty="0" smtClean="0">
                <a:latin typeface="Times New Roman"/>
                <a:cs typeface="Times New Roman"/>
              </a:rPr>
              <a:t> </a:t>
            </a:r>
            <a:r>
              <a:rPr lang="en-IN" sz="2000" spc="-5" dirty="0" smtClean="0">
                <a:latin typeface="Times New Roman"/>
                <a:cs typeface="Times New Roman"/>
              </a:rPr>
              <a:t>grammar</a:t>
            </a:r>
            <a:r>
              <a:rPr lang="en-IN" sz="2000" dirty="0" smtClean="0">
                <a:latin typeface="Times New Roman"/>
                <a:cs typeface="Times New Roman"/>
              </a:rPr>
              <a:t> is</a:t>
            </a:r>
            <a:r>
              <a:rPr lang="en-IN" sz="2000" spc="-10" dirty="0" smtClean="0">
                <a:latin typeface="Times New Roman"/>
                <a:cs typeface="Times New Roman"/>
              </a:rPr>
              <a:t> </a:t>
            </a:r>
            <a:r>
              <a:rPr lang="en-IN" sz="2000" dirty="0" smtClean="0">
                <a:latin typeface="Times New Roman"/>
                <a:cs typeface="Times New Roman"/>
              </a:rPr>
              <a:t>regular</a:t>
            </a:r>
            <a:r>
              <a:rPr lang="en-IN" sz="2000" spc="-30" dirty="0" smtClean="0">
                <a:latin typeface="Times New Roman"/>
                <a:cs typeface="Times New Roman"/>
              </a:rPr>
              <a:t> </a:t>
            </a:r>
            <a:r>
              <a:rPr lang="en-IN" sz="2000" dirty="0" smtClean="0">
                <a:latin typeface="Times New Roman"/>
                <a:cs typeface="Times New Roman"/>
              </a:rPr>
              <a:t>if</a:t>
            </a:r>
            <a:r>
              <a:rPr lang="en-IN" sz="2000" spc="-25" dirty="0" smtClean="0">
                <a:latin typeface="Times New Roman"/>
                <a:cs typeface="Times New Roman"/>
              </a:rPr>
              <a:t> </a:t>
            </a:r>
            <a:r>
              <a:rPr lang="en-IN" sz="2000" dirty="0" smtClean="0">
                <a:latin typeface="Times New Roman"/>
                <a:cs typeface="Times New Roman"/>
              </a:rPr>
              <a:t>it</a:t>
            </a:r>
            <a:r>
              <a:rPr lang="en-IN" sz="2000" spc="-10" dirty="0" smtClean="0">
                <a:latin typeface="Times New Roman"/>
                <a:cs typeface="Times New Roman"/>
              </a:rPr>
              <a:t> </a:t>
            </a:r>
            <a:r>
              <a:rPr lang="en-IN" sz="2000" dirty="0" smtClean="0">
                <a:latin typeface="Times New Roman"/>
                <a:cs typeface="Times New Roman"/>
              </a:rPr>
              <a:t>has</a:t>
            </a:r>
            <a:r>
              <a:rPr lang="en-IN" sz="2000" spc="-25" dirty="0" smtClean="0">
                <a:latin typeface="Times New Roman"/>
                <a:cs typeface="Times New Roman"/>
              </a:rPr>
              <a:t> </a:t>
            </a:r>
            <a:r>
              <a:rPr lang="en-IN" sz="2000" dirty="0" smtClean="0">
                <a:latin typeface="Times New Roman"/>
                <a:cs typeface="Times New Roman"/>
              </a:rPr>
              <a:t>rules</a:t>
            </a:r>
            <a:r>
              <a:rPr lang="en-IN" sz="2000" spc="-20" dirty="0" smtClean="0">
                <a:latin typeface="Times New Roman"/>
                <a:cs typeface="Times New Roman"/>
              </a:rPr>
              <a:t> </a:t>
            </a:r>
            <a:r>
              <a:rPr lang="en-IN" sz="2000" dirty="0" smtClean="0">
                <a:latin typeface="Times New Roman"/>
                <a:cs typeface="Times New Roman"/>
              </a:rPr>
              <a:t>of</a:t>
            </a:r>
            <a:r>
              <a:rPr lang="en-IN" sz="2000" spc="-15" dirty="0" smtClean="0">
                <a:latin typeface="Times New Roman"/>
                <a:cs typeface="Times New Roman"/>
              </a:rPr>
              <a:t> </a:t>
            </a:r>
            <a:r>
              <a:rPr lang="en-IN" sz="2000" dirty="0" smtClean="0">
                <a:latin typeface="Times New Roman"/>
                <a:cs typeface="Times New Roman"/>
              </a:rPr>
              <a:t>form</a:t>
            </a:r>
            <a:r>
              <a:rPr lang="en-IN" sz="2000" spc="-150" dirty="0" smtClean="0">
                <a:latin typeface="Times New Roman"/>
                <a:cs typeface="Times New Roman"/>
              </a:rPr>
              <a:t> </a:t>
            </a:r>
            <a:r>
              <a:rPr lang="en-IN" sz="2000" dirty="0" smtClean="0">
                <a:latin typeface="Times New Roman"/>
                <a:cs typeface="Times New Roman"/>
              </a:rPr>
              <a:t>A</a:t>
            </a:r>
            <a:r>
              <a:rPr lang="en-IN" sz="2000" spc="-85" dirty="0" smtClean="0">
                <a:latin typeface="Times New Roman"/>
                <a:cs typeface="Times New Roman"/>
              </a:rPr>
              <a:t> </a:t>
            </a:r>
            <a:r>
              <a:rPr lang="en-IN" sz="2000" dirty="0" smtClean="0">
                <a:latin typeface="Times New Roman"/>
                <a:cs typeface="Times New Roman"/>
              </a:rPr>
              <a:t>-&gt;</a:t>
            </a:r>
            <a:r>
              <a:rPr lang="en-IN" sz="2000" spc="-25" dirty="0" smtClean="0">
                <a:latin typeface="Times New Roman"/>
                <a:cs typeface="Times New Roman"/>
              </a:rPr>
              <a:t> </a:t>
            </a:r>
            <a:r>
              <a:rPr lang="en-IN" sz="2000" dirty="0" smtClean="0">
                <a:latin typeface="Times New Roman"/>
                <a:cs typeface="Times New Roman"/>
              </a:rPr>
              <a:t>a or</a:t>
            </a:r>
            <a:r>
              <a:rPr lang="en-IN" sz="2000" spc="-125" dirty="0" smtClean="0">
                <a:latin typeface="Times New Roman"/>
                <a:cs typeface="Times New Roman"/>
              </a:rPr>
              <a:t> </a:t>
            </a:r>
            <a:r>
              <a:rPr lang="en-IN" sz="2000" dirty="0" smtClean="0">
                <a:latin typeface="Times New Roman"/>
                <a:cs typeface="Times New Roman"/>
              </a:rPr>
              <a:t>A</a:t>
            </a:r>
            <a:r>
              <a:rPr lang="en-IN" sz="2000" spc="-110" dirty="0" smtClean="0">
                <a:latin typeface="Times New Roman"/>
                <a:cs typeface="Times New Roman"/>
              </a:rPr>
              <a:t> </a:t>
            </a:r>
            <a:r>
              <a:rPr lang="en-IN" sz="2000" dirty="0" smtClean="0">
                <a:latin typeface="Times New Roman"/>
                <a:cs typeface="Times New Roman"/>
              </a:rPr>
              <a:t>-&gt;</a:t>
            </a:r>
            <a:r>
              <a:rPr lang="en-IN" sz="2000" spc="-15" dirty="0" smtClean="0">
                <a:latin typeface="Times New Roman"/>
                <a:cs typeface="Times New Roman"/>
              </a:rPr>
              <a:t> </a:t>
            </a:r>
            <a:r>
              <a:rPr lang="en-IN" sz="2000" spc="-5" dirty="0" err="1" smtClean="0">
                <a:latin typeface="Times New Roman"/>
                <a:cs typeface="Times New Roman"/>
              </a:rPr>
              <a:t>aB</a:t>
            </a:r>
            <a:r>
              <a:rPr lang="en-IN" sz="2000" dirty="0" smtClean="0">
                <a:latin typeface="Times New Roman"/>
                <a:cs typeface="Times New Roman"/>
              </a:rPr>
              <a:t> or</a:t>
            </a:r>
            <a:r>
              <a:rPr lang="en-IN" sz="2000" spc="-120" dirty="0" smtClean="0">
                <a:latin typeface="Times New Roman"/>
                <a:cs typeface="Times New Roman"/>
              </a:rPr>
              <a:t> </a:t>
            </a:r>
            <a:r>
              <a:rPr lang="en-IN" sz="2000" dirty="0" smtClean="0">
                <a:latin typeface="Times New Roman"/>
                <a:cs typeface="Times New Roman"/>
              </a:rPr>
              <a:t>A</a:t>
            </a:r>
            <a:r>
              <a:rPr lang="en-IN" sz="2000" spc="-110" dirty="0" smtClean="0">
                <a:latin typeface="Times New Roman"/>
                <a:cs typeface="Times New Roman"/>
              </a:rPr>
              <a:t> </a:t>
            </a:r>
            <a:r>
              <a:rPr lang="en-IN" sz="2000" dirty="0" smtClean="0">
                <a:latin typeface="Times New Roman"/>
                <a:cs typeface="Times New Roman"/>
              </a:rPr>
              <a:t>-&gt;</a:t>
            </a:r>
            <a:r>
              <a:rPr lang="en-IN" sz="2000" spc="-15" dirty="0" smtClean="0">
                <a:latin typeface="Times New Roman"/>
                <a:cs typeface="Times New Roman"/>
              </a:rPr>
              <a:t> </a:t>
            </a:r>
            <a:r>
              <a:rPr lang="en-IN" sz="2000" dirty="0" smtClean="0">
                <a:latin typeface="Times New Roman"/>
                <a:cs typeface="Times New Roman"/>
              </a:rPr>
              <a:t>ɛ </a:t>
            </a:r>
            <a:r>
              <a:rPr lang="en-IN" sz="2000" spc="-484" dirty="0" smtClean="0">
                <a:latin typeface="Times New Roman"/>
                <a:cs typeface="Times New Roman"/>
              </a:rPr>
              <a:t> </a:t>
            </a:r>
            <a:r>
              <a:rPr lang="en-IN" sz="2000" dirty="0" smtClean="0">
                <a:latin typeface="Times New Roman"/>
                <a:cs typeface="Times New Roman"/>
              </a:rPr>
              <a:t>where</a:t>
            </a:r>
            <a:r>
              <a:rPr lang="en-IN" sz="2000" spc="-25" dirty="0" smtClean="0">
                <a:latin typeface="Times New Roman"/>
                <a:cs typeface="Times New Roman"/>
              </a:rPr>
              <a:t> </a:t>
            </a:r>
            <a:r>
              <a:rPr lang="en-IN" sz="2000" dirty="0" smtClean="0">
                <a:latin typeface="Times New Roman"/>
                <a:cs typeface="Times New Roman"/>
              </a:rPr>
              <a:t>ɛ</a:t>
            </a:r>
            <a:r>
              <a:rPr lang="en-IN" sz="2000" spc="-10" dirty="0" smtClean="0">
                <a:latin typeface="Times New Roman"/>
                <a:cs typeface="Times New Roman"/>
              </a:rPr>
              <a:t> </a:t>
            </a:r>
            <a:r>
              <a:rPr lang="en-IN" sz="2000" dirty="0" smtClean="0">
                <a:latin typeface="Times New Roman"/>
                <a:cs typeface="Times New Roman"/>
              </a:rPr>
              <a:t>is</a:t>
            </a:r>
            <a:r>
              <a:rPr lang="en-IN" sz="2000" spc="-15" dirty="0" smtClean="0">
                <a:latin typeface="Times New Roman"/>
                <a:cs typeface="Times New Roman"/>
              </a:rPr>
              <a:t> </a:t>
            </a:r>
            <a:r>
              <a:rPr lang="en-IN" sz="2000" dirty="0" smtClean="0">
                <a:latin typeface="Times New Roman"/>
                <a:cs typeface="Times New Roman"/>
              </a:rPr>
              <a:t>a special</a:t>
            </a:r>
            <a:r>
              <a:rPr lang="en-IN" sz="2000" spc="-25" dirty="0" smtClean="0">
                <a:latin typeface="Times New Roman"/>
                <a:cs typeface="Times New Roman"/>
              </a:rPr>
              <a:t> </a:t>
            </a:r>
            <a:r>
              <a:rPr lang="en-IN" sz="2000" spc="-5" dirty="0" smtClean="0">
                <a:latin typeface="Times New Roman"/>
                <a:cs typeface="Times New Roman"/>
              </a:rPr>
              <a:t>symbol</a:t>
            </a:r>
            <a:r>
              <a:rPr lang="en-IN" sz="2000" dirty="0" smtClean="0">
                <a:latin typeface="Times New Roman"/>
                <a:cs typeface="Times New Roman"/>
              </a:rPr>
              <a:t> </a:t>
            </a:r>
            <a:r>
              <a:rPr lang="en-IN" sz="2000" spc="-5" dirty="0" smtClean="0">
                <a:latin typeface="Times New Roman"/>
                <a:cs typeface="Times New Roman"/>
              </a:rPr>
              <a:t>called</a:t>
            </a:r>
            <a:r>
              <a:rPr lang="en-IN" sz="2000" spc="-20" dirty="0" smtClean="0">
                <a:latin typeface="Times New Roman"/>
                <a:cs typeface="Times New Roman"/>
              </a:rPr>
              <a:t> </a:t>
            </a:r>
            <a:r>
              <a:rPr lang="en-IN" sz="2000" dirty="0" smtClean="0">
                <a:latin typeface="Times New Roman"/>
                <a:cs typeface="Times New Roman"/>
              </a:rPr>
              <a:t>NULL.</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IN" spc="-5" dirty="0" smtClean="0">
                <a:solidFill>
                  <a:srgbClr val="FF0000"/>
                </a:solidFill>
              </a:rPr>
              <a:t>Regular</a:t>
            </a:r>
            <a:r>
              <a:rPr lang="en-IN" spc="-10" dirty="0" smtClean="0">
                <a:solidFill>
                  <a:srgbClr val="FF0000"/>
                </a:solidFill>
              </a:rPr>
              <a:t> </a:t>
            </a:r>
            <a:r>
              <a:rPr lang="en-IN" spc="-5" dirty="0" smtClean="0">
                <a:solidFill>
                  <a:srgbClr val="FF0000"/>
                </a:solidFill>
              </a:rPr>
              <a:t>Expressions</a:t>
            </a:r>
            <a:r>
              <a:rPr lang="en-IN" spc="-10" dirty="0" smtClean="0">
                <a:solidFill>
                  <a:srgbClr val="FF0000"/>
                </a:solidFill>
              </a:rPr>
              <a:t> </a:t>
            </a:r>
            <a:r>
              <a:rPr lang="en-IN" spc="-5" dirty="0" smtClean="0">
                <a:solidFill>
                  <a:srgbClr val="FF0000"/>
                </a:solidFill>
              </a:rPr>
              <a:t>Examples</a:t>
            </a:r>
            <a:endParaRPr lang="en-IN" dirty="0"/>
          </a:p>
        </p:txBody>
      </p:sp>
      <p:sp>
        <p:nvSpPr>
          <p:cNvPr id="3" name="Content Placeholder 2"/>
          <p:cNvSpPr>
            <a:spLocks noGrp="1"/>
          </p:cNvSpPr>
          <p:nvPr>
            <p:ph idx="1"/>
          </p:nvPr>
        </p:nvSpPr>
        <p:spPr>
          <a:xfrm>
            <a:off x="457200" y="1066800"/>
            <a:ext cx="8229600" cy="5410200"/>
          </a:xfrm>
        </p:spPr>
        <p:txBody>
          <a:bodyPr>
            <a:normAutofit fontScale="92500" lnSpcReduction="20000"/>
          </a:bodyPr>
          <a:lstStyle/>
          <a:p>
            <a:pPr marL="286385" indent="-274320">
              <a:lnSpc>
                <a:spcPct val="100000"/>
              </a:lnSpc>
              <a:spcBef>
                <a:spcPts val="95"/>
              </a:spcBef>
              <a:buClr>
                <a:srgbClr val="2CA1BE"/>
              </a:buClr>
              <a:buSzPct val="84090"/>
              <a:buFont typeface="Segoe UI Symbol"/>
              <a:buChar char="⚫"/>
              <a:tabLst>
                <a:tab pos="286385" algn="l"/>
                <a:tab pos="287020" algn="l"/>
              </a:tabLst>
            </a:pPr>
            <a:r>
              <a:rPr lang="en-IN" sz="1600" spc="-5" dirty="0" smtClean="0">
                <a:latin typeface="Times New Roman"/>
                <a:cs typeface="Times New Roman"/>
              </a:rPr>
              <a:t>The set</a:t>
            </a:r>
            <a:r>
              <a:rPr lang="en-IN" sz="1600" dirty="0" smtClean="0">
                <a:latin typeface="Times New Roman"/>
                <a:cs typeface="Times New Roman"/>
              </a:rPr>
              <a:t> </a:t>
            </a:r>
            <a:r>
              <a:rPr lang="en-IN" sz="1600" spc="-5" dirty="0" smtClean="0">
                <a:latin typeface="Times New Roman"/>
                <a:cs typeface="Times New Roman"/>
              </a:rPr>
              <a:t>of</a:t>
            </a:r>
            <a:r>
              <a:rPr lang="en-IN" sz="1600" spc="10" dirty="0" smtClean="0">
                <a:latin typeface="Times New Roman"/>
                <a:cs typeface="Times New Roman"/>
              </a:rPr>
              <a:t> </a:t>
            </a:r>
            <a:r>
              <a:rPr lang="en-IN" sz="1600" spc="-5" dirty="0" smtClean="0">
                <a:latin typeface="Times New Roman"/>
                <a:cs typeface="Times New Roman"/>
              </a:rPr>
              <a:t>all</a:t>
            </a:r>
            <a:r>
              <a:rPr lang="en-IN" sz="1600" dirty="0" smtClean="0">
                <a:latin typeface="Times New Roman"/>
                <a:cs typeface="Times New Roman"/>
              </a:rPr>
              <a:t> </a:t>
            </a:r>
            <a:r>
              <a:rPr lang="en-IN" sz="1600" spc="-5" dirty="0" smtClean="0">
                <a:latin typeface="Times New Roman"/>
                <a:cs typeface="Times New Roman"/>
              </a:rPr>
              <a:t>strings</a:t>
            </a:r>
            <a:r>
              <a:rPr lang="en-IN" sz="1600" dirty="0" smtClean="0">
                <a:latin typeface="Times New Roman"/>
                <a:cs typeface="Times New Roman"/>
              </a:rPr>
              <a:t> </a:t>
            </a:r>
            <a:r>
              <a:rPr lang="en-IN" sz="1600" spc="-5" dirty="0" smtClean="0">
                <a:latin typeface="Times New Roman"/>
                <a:cs typeface="Times New Roman"/>
              </a:rPr>
              <a:t>containing</a:t>
            </a:r>
            <a:r>
              <a:rPr lang="en-IN" sz="1600" dirty="0" smtClean="0">
                <a:latin typeface="Times New Roman"/>
                <a:cs typeface="Times New Roman"/>
              </a:rPr>
              <a:t> </a:t>
            </a:r>
            <a:r>
              <a:rPr lang="en-IN" sz="1600" spc="-5" dirty="0" smtClean="0">
                <a:latin typeface="Times New Roman"/>
                <a:cs typeface="Times New Roman"/>
              </a:rPr>
              <a:t>the</a:t>
            </a:r>
            <a:r>
              <a:rPr lang="en-IN" sz="1600" spc="-10" dirty="0" smtClean="0">
                <a:latin typeface="Times New Roman"/>
                <a:cs typeface="Times New Roman"/>
              </a:rPr>
              <a:t> </a:t>
            </a:r>
            <a:r>
              <a:rPr lang="en-IN" sz="1600" spc="-5" dirty="0" smtClean="0">
                <a:latin typeface="Times New Roman"/>
                <a:cs typeface="Times New Roman"/>
              </a:rPr>
              <a:t>substring</a:t>
            </a:r>
            <a:r>
              <a:rPr lang="en-IN" sz="1600" dirty="0" smtClean="0">
                <a:latin typeface="Times New Roman"/>
                <a:cs typeface="Times New Roman"/>
              </a:rPr>
              <a:t> </a:t>
            </a:r>
            <a:r>
              <a:rPr lang="en-IN" sz="1600" spc="-5" dirty="0" smtClean="0">
                <a:latin typeface="Times New Roman"/>
                <a:cs typeface="Times New Roman"/>
              </a:rPr>
              <a:t>00 over</a:t>
            </a:r>
            <a:r>
              <a:rPr lang="en-IN" sz="1600" dirty="0" smtClean="0">
                <a:latin typeface="Times New Roman"/>
                <a:cs typeface="Times New Roman"/>
              </a:rPr>
              <a:t> </a:t>
            </a:r>
            <a:r>
              <a:rPr lang="en-IN" sz="1600" spc="-5" dirty="0" smtClean="0">
                <a:latin typeface="Times New Roman"/>
                <a:cs typeface="Times New Roman"/>
              </a:rPr>
              <a:t>∑={0,1}</a:t>
            </a:r>
            <a:endParaRPr lang="en-IN" sz="1600" dirty="0" smtClean="0">
              <a:latin typeface="Times New Roman"/>
              <a:cs typeface="Times New Roman"/>
            </a:endParaRPr>
          </a:p>
          <a:p>
            <a:pPr marL="926465">
              <a:lnSpc>
                <a:spcPct val="100000"/>
              </a:lnSpc>
              <a:spcBef>
                <a:spcPts val="70"/>
              </a:spcBef>
            </a:pPr>
            <a:r>
              <a:rPr lang="en-IN" sz="1600" dirty="0" smtClean="0">
                <a:latin typeface="Times New Roman"/>
                <a:cs typeface="Times New Roman"/>
              </a:rPr>
              <a:t>(0/1)*</a:t>
            </a:r>
            <a:r>
              <a:rPr lang="en-IN" sz="1600" spc="-30" dirty="0" smtClean="0">
                <a:latin typeface="Times New Roman"/>
                <a:cs typeface="Times New Roman"/>
              </a:rPr>
              <a:t> </a:t>
            </a:r>
            <a:r>
              <a:rPr lang="en-IN" sz="1600" spc="-5" dirty="0" smtClean="0">
                <a:latin typeface="Times New Roman"/>
                <a:cs typeface="Times New Roman"/>
              </a:rPr>
              <a:t>00</a:t>
            </a:r>
            <a:r>
              <a:rPr lang="en-IN" sz="1600" spc="-30" dirty="0" smtClean="0">
                <a:latin typeface="Times New Roman"/>
                <a:cs typeface="Times New Roman"/>
              </a:rPr>
              <a:t> </a:t>
            </a:r>
            <a:r>
              <a:rPr lang="en-IN" sz="1600" dirty="0" smtClean="0">
                <a:latin typeface="Times New Roman"/>
                <a:cs typeface="Times New Roman"/>
              </a:rPr>
              <a:t>(0/1)*</a:t>
            </a:r>
          </a:p>
          <a:p>
            <a:pPr marL="286385" indent="-274320">
              <a:lnSpc>
                <a:spcPts val="2600"/>
              </a:lnSpc>
              <a:spcBef>
                <a:spcPts val="75"/>
              </a:spcBef>
              <a:buClr>
                <a:srgbClr val="2CA1BE"/>
              </a:buClr>
              <a:buSzPct val="84090"/>
              <a:buFont typeface="Segoe UI Symbol"/>
              <a:buChar char="⚫"/>
              <a:tabLst>
                <a:tab pos="286385" algn="l"/>
                <a:tab pos="287020" algn="l"/>
              </a:tabLst>
            </a:pPr>
            <a:r>
              <a:rPr lang="en-IN" sz="1600" spc="-5" dirty="0" smtClean="0">
                <a:latin typeface="Times New Roman"/>
                <a:cs typeface="Times New Roman"/>
              </a:rPr>
              <a:t>The</a:t>
            </a:r>
            <a:r>
              <a:rPr lang="en-IN" sz="1600" dirty="0" smtClean="0">
                <a:latin typeface="Times New Roman"/>
                <a:cs typeface="Times New Roman"/>
              </a:rPr>
              <a:t> </a:t>
            </a:r>
            <a:r>
              <a:rPr lang="en-IN" sz="1600" spc="-5" dirty="0" smtClean="0">
                <a:latin typeface="Times New Roman"/>
                <a:cs typeface="Times New Roman"/>
              </a:rPr>
              <a:t>set</a:t>
            </a:r>
            <a:r>
              <a:rPr lang="en-IN" sz="1600" dirty="0" smtClean="0">
                <a:latin typeface="Times New Roman"/>
                <a:cs typeface="Times New Roman"/>
              </a:rPr>
              <a:t> </a:t>
            </a:r>
            <a:r>
              <a:rPr lang="en-IN" sz="1600" spc="-5" dirty="0" smtClean="0">
                <a:latin typeface="Times New Roman"/>
                <a:cs typeface="Times New Roman"/>
              </a:rPr>
              <a:t>of</a:t>
            </a:r>
            <a:r>
              <a:rPr lang="en-IN" sz="1600" spc="10" dirty="0" smtClean="0">
                <a:latin typeface="Times New Roman"/>
                <a:cs typeface="Times New Roman"/>
              </a:rPr>
              <a:t> </a:t>
            </a:r>
            <a:r>
              <a:rPr lang="en-IN" sz="1600" spc="-5" dirty="0" smtClean="0">
                <a:latin typeface="Times New Roman"/>
                <a:cs typeface="Times New Roman"/>
              </a:rPr>
              <a:t>all</a:t>
            </a:r>
            <a:r>
              <a:rPr lang="en-IN" sz="1600" dirty="0" smtClean="0">
                <a:latin typeface="Times New Roman"/>
                <a:cs typeface="Times New Roman"/>
              </a:rPr>
              <a:t> </a:t>
            </a:r>
            <a:r>
              <a:rPr lang="en-IN" sz="1600" spc="-5" dirty="0" smtClean="0">
                <a:latin typeface="Times New Roman"/>
                <a:cs typeface="Times New Roman"/>
              </a:rPr>
              <a:t>strings</a:t>
            </a:r>
            <a:r>
              <a:rPr lang="en-IN" sz="1600" spc="5" dirty="0" smtClean="0">
                <a:latin typeface="Times New Roman"/>
                <a:cs typeface="Times New Roman"/>
              </a:rPr>
              <a:t> </a:t>
            </a:r>
            <a:r>
              <a:rPr lang="en-IN" sz="1600" spc="-5" dirty="0" smtClean="0">
                <a:latin typeface="Times New Roman"/>
                <a:cs typeface="Times New Roman"/>
              </a:rPr>
              <a:t>containing</a:t>
            </a:r>
            <a:r>
              <a:rPr lang="en-IN" sz="1600" dirty="0" smtClean="0">
                <a:latin typeface="Times New Roman"/>
                <a:cs typeface="Times New Roman"/>
              </a:rPr>
              <a:t> </a:t>
            </a:r>
            <a:r>
              <a:rPr lang="en-IN" sz="1600" spc="-5" dirty="0" smtClean="0">
                <a:latin typeface="Times New Roman"/>
                <a:cs typeface="Times New Roman"/>
              </a:rPr>
              <a:t>at</a:t>
            </a:r>
            <a:r>
              <a:rPr lang="en-IN" sz="1600" dirty="0" smtClean="0">
                <a:latin typeface="Times New Roman"/>
                <a:cs typeface="Times New Roman"/>
              </a:rPr>
              <a:t> </a:t>
            </a:r>
            <a:r>
              <a:rPr lang="en-IN" sz="1600" spc="-10" dirty="0" smtClean="0">
                <a:latin typeface="Times New Roman"/>
                <a:cs typeface="Times New Roman"/>
              </a:rPr>
              <a:t>most</a:t>
            </a:r>
            <a:r>
              <a:rPr lang="en-IN" sz="1600" spc="20" dirty="0" smtClean="0">
                <a:latin typeface="Times New Roman"/>
                <a:cs typeface="Times New Roman"/>
              </a:rPr>
              <a:t> </a:t>
            </a:r>
            <a:r>
              <a:rPr lang="en-IN" sz="1600" spc="-5" dirty="0" smtClean="0">
                <a:latin typeface="Times New Roman"/>
                <a:cs typeface="Times New Roman"/>
              </a:rPr>
              <a:t>two</a:t>
            </a:r>
            <a:r>
              <a:rPr lang="en-IN" sz="1600" spc="10" dirty="0" smtClean="0">
                <a:latin typeface="Times New Roman"/>
                <a:cs typeface="Times New Roman"/>
              </a:rPr>
              <a:t> </a:t>
            </a:r>
            <a:r>
              <a:rPr lang="en-IN" sz="1600" spc="-40" dirty="0" smtClean="0">
                <a:latin typeface="Times New Roman"/>
                <a:cs typeface="Times New Roman"/>
              </a:rPr>
              <a:t>0’s</a:t>
            </a:r>
            <a:r>
              <a:rPr lang="en-IN" sz="1600" spc="-25" dirty="0" smtClean="0">
                <a:latin typeface="Times New Roman"/>
                <a:cs typeface="Times New Roman"/>
              </a:rPr>
              <a:t> </a:t>
            </a:r>
            <a:r>
              <a:rPr lang="en-IN" sz="1600" spc="-5" dirty="0" smtClean="0">
                <a:latin typeface="Times New Roman"/>
                <a:cs typeface="Times New Roman"/>
              </a:rPr>
              <a:t>over</a:t>
            </a:r>
            <a:r>
              <a:rPr lang="en-IN" sz="1600" dirty="0" smtClean="0">
                <a:latin typeface="Times New Roman"/>
                <a:cs typeface="Times New Roman"/>
              </a:rPr>
              <a:t> </a:t>
            </a:r>
            <a:r>
              <a:rPr lang="en-IN" sz="1600" spc="-5" dirty="0" smtClean="0">
                <a:latin typeface="Times New Roman"/>
                <a:cs typeface="Times New Roman"/>
              </a:rPr>
              <a:t>∑={0,1}</a:t>
            </a:r>
            <a:endParaRPr lang="en-IN" sz="1600" dirty="0" smtClean="0">
              <a:latin typeface="Times New Roman"/>
              <a:cs typeface="Times New Roman"/>
            </a:endParaRPr>
          </a:p>
          <a:p>
            <a:pPr marL="926465">
              <a:lnSpc>
                <a:spcPts val="2360"/>
              </a:lnSpc>
            </a:pPr>
            <a:r>
              <a:rPr lang="en-IN" sz="1600" spc="-5" dirty="0" smtClean="0">
                <a:latin typeface="Times New Roman"/>
                <a:cs typeface="Times New Roman"/>
              </a:rPr>
              <a:t>(0/1)*0(0/1)*0(0/1)*</a:t>
            </a:r>
            <a:endParaRPr lang="en-IN" sz="1600" dirty="0" smtClean="0">
              <a:latin typeface="Times New Roman"/>
              <a:cs typeface="Times New Roman"/>
            </a:endParaRPr>
          </a:p>
          <a:p>
            <a:pPr marL="286385" indent="-274320">
              <a:lnSpc>
                <a:spcPts val="2610"/>
              </a:lnSpc>
              <a:spcBef>
                <a:spcPts val="65"/>
              </a:spcBef>
              <a:buClr>
                <a:srgbClr val="2CA1BE"/>
              </a:buClr>
              <a:buSzPct val="84090"/>
              <a:buFont typeface="Segoe UI Symbol"/>
              <a:buChar char="⚫"/>
              <a:tabLst>
                <a:tab pos="286385" algn="l"/>
                <a:tab pos="287020" algn="l"/>
              </a:tabLst>
            </a:pPr>
            <a:r>
              <a:rPr lang="en-IN" sz="1600" spc="-5" dirty="0" smtClean="0">
                <a:latin typeface="Times New Roman"/>
                <a:cs typeface="Times New Roman"/>
              </a:rPr>
              <a:t>The set</a:t>
            </a:r>
            <a:r>
              <a:rPr lang="en-IN" sz="1600" dirty="0" smtClean="0">
                <a:latin typeface="Times New Roman"/>
                <a:cs typeface="Times New Roman"/>
              </a:rPr>
              <a:t> </a:t>
            </a:r>
            <a:r>
              <a:rPr lang="en-IN" sz="1600" spc="-5" dirty="0" smtClean="0">
                <a:latin typeface="Times New Roman"/>
                <a:cs typeface="Times New Roman"/>
              </a:rPr>
              <a:t>of</a:t>
            </a:r>
            <a:r>
              <a:rPr lang="en-IN" sz="1600" spc="10" dirty="0" smtClean="0">
                <a:latin typeface="Times New Roman"/>
                <a:cs typeface="Times New Roman"/>
              </a:rPr>
              <a:t> </a:t>
            </a:r>
            <a:r>
              <a:rPr lang="en-IN" sz="1600" spc="-5" dirty="0" smtClean="0">
                <a:latin typeface="Times New Roman"/>
                <a:cs typeface="Times New Roman"/>
              </a:rPr>
              <a:t>all strings</a:t>
            </a:r>
            <a:r>
              <a:rPr lang="en-IN" sz="1600" spc="5" dirty="0" smtClean="0">
                <a:latin typeface="Times New Roman"/>
                <a:cs typeface="Times New Roman"/>
              </a:rPr>
              <a:t> </a:t>
            </a:r>
            <a:r>
              <a:rPr lang="en-IN" sz="1600" spc="-5" dirty="0" smtClean="0">
                <a:latin typeface="Times New Roman"/>
                <a:cs typeface="Times New Roman"/>
              </a:rPr>
              <a:t>that</a:t>
            </a:r>
            <a:r>
              <a:rPr lang="en-IN" sz="1600" dirty="0" smtClean="0">
                <a:latin typeface="Times New Roman"/>
                <a:cs typeface="Times New Roman"/>
              </a:rPr>
              <a:t> </a:t>
            </a:r>
            <a:r>
              <a:rPr lang="en-IN" sz="1600" spc="-5" dirty="0" smtClean="0">
                <a:latin typeface="Times New Roman"/>
                <a:cs typeface="Times New Roman"/>
              </a:rPr>
              <a:t>begin</a:t>
            </a:r>
            <a:r>
              <a:rPr lang="en-IN" sz="1600" dirty="0" smtClean="0">
                <a:latin typeface="Times New Roman"/>
                <a:cs typeface="Times New Roman"/>
              </a:rPr>
              <a:t> </a:t>
            </a:r>
            <a:r>
              <a:rPr lang="en-IN" sz="1600" spc="-5" dirty="0" smtClean="0">
                <a:latin typeface="Times New Roman"/>
                <a:cs typeface="Times New Roman"/>
              </a:rPr>
              <a:t>and end</a:t>
            </a:r>
            <a:r>
              <a:rPr lang="en-IN" sz="1600" spc="10" dirty="0" smtClean="0">
                <a:latin typeface="Times New Roman"/>
                <a:cs typeface="Times New Roman"/>
              </a:rPr>
              <a:t> </a:t>
            </a:r>
            <a:r>
              <a:rPr lang="en-IN" sz="1600" spc="-10" dirty="0" smtClean="0">
                <a:latin typeface="Times New Roman"/>
                <a:cs typeface="Times New Roman"/>
              </a:rPr>
              <a:t>with</a:t>
            </a:r>
            <a:r>
              <a:rPr lang="en-IN" sz="1600" dirty="0" smtClean="0">
                <a:latin typeface="Times New Roman"/>
                <a:cs typeface="Times New Roman"/>
              </a:rPr>
              <a:t> </a:t>
            </a:r>
            <a:r>
              <a:rPr lang="en-IN" sz="1600" spc="-5" dirty="0" smtClean="0">
                <a:latin typeface="Times New Roman"/>
                <a:cs typeface="Times New Roman"/>
              </a:rPr>
              <a:t>1</a:t>
            </a:r>
            <a:r>
              <a:rPr lang="en-IN" sz="1600" spc="10" dirty="0" smtClean="0">
                <a:latin typeface="Times New Roman"/>
                <a:cs typeface="Times New Roman"/>
              </a:rPr>
              <a:t> </a:t>
            </a:r>
            <a:r>
              <a:rPr lang="en-IN" sz="1600" spc="-5" dirty="0" smtClean="0">
                <a:latin typeface="Times New Roman"/>
                <a:cs typeface="Times New Roman"/>
              </a:rPr>
              <a:t>over ∑={0,1}</a:t>
            </a:r>
            <a:endParaRPr lang="en-IN" sz="1600" dirty="0" smtClean="0">
              <a:latin typeface="Times New Roman"/>
              <a:cs typeface="Times New Roman"/>
            </a:endParaRPr>
          </a:p>
          <a:p>
            <a:pPr marL="990600">
              <a:lnSpc>
                <a:spcPts val="2370"/>
              </a:lnSpc>
            </a:pPr>
            <a:r>
              <a:rPr lang="en-IN" sz="1600" dirty="0" smtClean="0">
                <a:latin typeface="Times New Roman"/>
                <a:cs typeface="Times New Roman"/>
              </a:rPr>
              <a:t>1(0/1)*1</a:t>
            </a:r>
          </a:p>
          <a:p>
            <a:pPr marL="286385" indent="-274320">
              <a:lnSpc>
                <a:spcPts val="2605"/>
              </a:lnSpc>
              <a:spcBef>
                <a:spcPts val="65"/>
              </a:spcBef>
              <a:buClr>
                <a:srgbClr val="2CA1BE"/>
              </a:buClr>
              <a:buSzPct val="84090"/>
              <a:buFont typeface="Segoe UI Symbol"/>
              <a:buChar char="⚫"/>
              <a:tabLst>
                <a:tab pos="286385" algn="l"/>
                <a:tab pos="287020" algn="l"/>
              </a:tabLst>
            </a:pPr>
            <a:r>
              <a:rPr lang="en-IN" sz="1600" spc="-5" dirty="0" smtClean="0">
                <a:latin typeface="Times New Roman"/>
                <a:cs typeface="Times New Roman"/>
              </a:rPr>
              <a:t>The</a:t>
            </a:r>
            <a:r>
              <a:rPr lang="en-IN" sz="1600" dirty="0" smtClean="0">
                <a:latin typeface="Times New Roman"/>
                <a:cs typeface="Times New Roman"/>
              </a:rPr>
              <a:t> </a:t>
            </a:r>
            <a:r>
              <a:rPr lang="en-IN" sz="1600" spc="-5" dirty="0" smtClean="0">
                <a:latin typeface="Times New Roman"/>
                <a:cs typeface="Times New Roman"/>
              </a:rPr>
              <a:t>set of</a:t>
            </a:r>
            <a:r>
              <a:rPr lang="en-IN" sz="1600" dirty="0" smtClean="0">
                <a:latin typeface="Times New Roman"/>
                <a:cs typeface="Times New Roman"/>
              </a:rPr>
              <a:t> </a:t>
            </a:r>
            <a:r>
              <a:rPr lang="en-IN" sz="1600" spc="-5" dirty="0" smtClean="0">
                <a:latin typeface="Times New Roman"/>
                <a:cs typeface="Times New Roman"/>
              </a:rPr>
              <a:t>all </a:t>
            </a:r>
            <a:r>
              <a:rPr lang="en-IN" sz="1600" dirty="0" smtClean="0">
                <a:latin typeface="Times New Roman"/>
                <a:cs typeface="Times New Roman"/>
              </a:rPr>
              <a:t>strings</a:t>
            </a:r>
            <a:r>
              <a:rPr lang="en-IN" sz="1600" spc="-5" dirty="0" smtClean="0">
                <a:latin typeface="Times New Roman"/>
                <a:cs typeface="Times New Roman"/>
              </a:rPr>
              <a:t> that</a:t>
            </a:r>
            <a:r>
              <a:rPr lang="en-IN" sz="1600" dirty="0" smtClean="0">
                <a:latin typeface="Times New Roman"/>
                <a:cs typeface="Times New Roman"/>
              </a:rPr>
              <a:t> ends</a:t>
            </a:r>
            <a:r>
              <a:rPr lang="en-IN" sz="1600" spc="-15" dirty="0" smtClean="0">
                <a:latin typeface="Times New Roman"/>
                <a:cs typeface="Times New Roman"/>
              </a:rPr>
              <a:t> </a:t>
            </a:r>
            <a:r>
              <a:rPr lang="en-IN" sz="1600" spc="-5" dirty="0" smtClean="0">
                <a:latin typeface="Times New Roman"/>
                <a:cs typeface="Times New Roman"/>
              </a:rPr>
              <a:t>with</a:t>
            </a:r>
            <a:r>
              <a:rPr lang="en-IN" sz="1600" spc="15" dirty="0" smtClean="0">
                <a:latin typeface="Times New Roman"/>
                <a:cs typeface="Times New Roman"/>
              </a:rPr>
              <a:t> </a:t>
            </a:r>
            <a:r>
              <a:rPr lang="en-IN" sz="1600" spc="-5" dirty="0" err="1" smtClean="0">
                <a:latin typeface="Times New Roman"/>
                <a:cs typeface="Times New Roman"/>
              </a:rPr>
              <a:t>aa</a:t>
            </a:r>
            <a:r>
              <a:rPr lang="en-IN" sz="1600" spc="-5" dirty="0" smtClean="0">
                <a:latin typeface="Times New Roman"/>
                <a:cs typeface="Times New Roman"/>
              </a:rPr>
              <a:t> </a:t>
            </a:r>
            <a:r>
              <a:rPr lang="en-IN" sz="1600" dirty="0" smtClean="0">
                <a:latin typeface="Times New Roman"/>
                <a:cs typeface="Times New Roman"/>
              </a:rPr>
              <a:t>over </a:t>
            </a:r>
            <a:r>
              <a:rPr lang="en-IN" sz="1600" spc="-5" dirty="0" smtClean="0">
                <a:latin typeface="Times New Roman"/>
                <a:cs typeface="Times New Roman"/>
              </a:rPr>
              <a:t>∑={</a:t>
            </a:r>
            <a:r>
              <a:rPr lang="en-IN" sz="1600" spc="-5" dirty="0" err="1" smtClean="0">
                <a:latin typeface="Times New Roman"/>
                <a:cs typeface="Times New Roman"/>
              </a:rPr>
              <a:t>a,b</a:t>
            </a:r>
            <a:r>
              <a:rPr lang="en-IN" sz="1600" spc="-5" dirty="0" smtClean="0">
                <a:latin typeface="Times New Roman"/>
                <a:cs typeface="Times New Roman"/>
              </a:rPr>
              <a:t>}</a:t>
            </a:r>
            <a:endParaRPr lang="en-IN" sz="1600" dirty="0" smtClean="0">
              <a:latin typeface="Times New Roman"/>
              <a:cs typeface="Times New Roman"/>
            </a:endParaRPr>
          </a:p>
          <a:p>
            <a:pPr marL="990600">
              <a:lnSpc>
                <a:spcPts val="2365"/>
              </a:lnSpc>
            </a:pPr>
            <a:r>
              <a:rPr lang="en-IN" sz="1600" spc="-5" dirty="0" smtClean="0">
                <a:latin typeface="Times New Roman"/>
                <a:cs typeface="Times New Roman"/>
              </a:rPr>
              <a:t>(a/b)*</a:t>
            </a:r>
            <a:r>
              <a:rPr lang="en-IN" sz="1600" spc="-5" dirty="0" err="1" smtClean="0">
                <a:latin typeface="Times New Roman"/>
                <a:cs typeface="Times New Roman"/>
              </a:rPr>
              <a:t>aa</a:t>
            </a:r>
            <a:endParaRPr lang="en-IN" sz="1600" dirty="0" smtClean="0">
              <a:latin typeface="Times New Roman"/>
              <a:cs typeface="Times New Roman"/>
            </a:endParaRPr>
          </a:p>
          <a:p>
            <a:pPr marL="286385" indent="-274320">
              <a:lnSpc>
                <a:spcPts val="2600"/>
              </a:lnSpc>
              <a:spcBef>
                <a:spcPts val="65"/>
              </a:spcBef>
              <a:buClr>
                <a:srgbClr val="2CA1BE"/>
              </a:buClr>
              <a:buSzPct val="84090"/>
              <a:buFont typeface="Segoe UI Symbol"/>
              <a:buChar char="⚫"/>
              <a:tabLst>
                <a:tab pos="286385" algn="l"/>
                <a:tab pos="287020" algn="l"/>
              </a:tabLst>
            </a:pPr>
            <a:r>
              <a:rPr lang="en-IN" sz="1600" spc="-5" dirty="0" smtClean="0">
                <a:latin typeface="Times New Roman"/>
                <a:cs typeface="Times New Roman"/>
              </a:rPr>
              <a:t>The set of</a:t>
            </a:r>
            <a:r>
              <a:rPr lang="en-IN" sz="1600" spc="5" dirty="0" smtClean="0">
                <a:latin typeface="Times New Roman"/>
                <a:cs typeface="Times New Roman"/>
              </a:rPr>
              <a:t> </a:t>
            </a:r>
            <a:r>
              <a:rPr lang="en-IN" sz="1600" spc="-5" dirty="0" smtClean="0">
                <a:latin typeface="Times New Roman"/>
                <a:cs typeface="Times New Roman"/>
              </a:rPr>
              <a:t>all</a:t>
            </a:r>
            <a:r>
              <a:rPr lang="en-IN" sz="1600" dirty="0" smtClean="0">
                <a:latin typeface="Times New Roman"/>
                <a:cs typeface="Times New Roman"/>
              </a:rPr>
              <a:t> </a:t>
            </a:r>
            <a:r>
              <a:rPr lang="en-IN" sz="1600" spc="-5" dirty="0" smtClean="0">
                <a:latin typeface="Times New Roman"/>
                <a:cs typeface="Times New Roman"/>
              </a:rPr>
              <a:t>strings</a:t>
            </a:r>
            <a:r>
              <a:rPr lang="en-IN" sz="1600" dirty="0" smtClean="0">
                <a:latin typeface="Times New Roman"/>
                <a:cs typeface="Times New Roman"/>
              </a:rPr>
              <a:t> </a:t>
            </a:r>
            <a:r>
              <a:rPr lang="en-IN" sz="1600" spc="-5" dirty="0" smtClean="0">
                <a:latin typeface="Times New Roman"/>
                <a:cs typeface="Times New Roman"/>
              </a:rPr>
              <a:t>that has</a:t>
            </a:r>
            <a:r>
              <a:rPr lang="en-IN" sz="1600" spc="-15" dirty="0" smtClean="0">
                <a:latin typeface="Times New Roman"/>
                <a:cs typeface="Times New Roman"/>
              </a:rPr>
              <a:t> </a:t>
            </a:r>
            <a:r>
              <a:rPr lang="en-IN" sz="1600" spc="-5" dirty="0" smtClean="0">
                <a:latin typeface="Times New Roman"/>
                <a:cs typeface="Times New Roman"/>
              </a:rPr>
              <a:t>at</a:t>
            </a:r>
            <a:r>
              <a:rPr lang="en-IN" sz="1600" dirty="0" smtClean="0">
                <a:latin typeface="Times New Roman"/>
                <a:cs typeface="Times New Roman"/>
              </a:rPr>
              <a:t> </a:t>
            </a:r>
            <a:r>
              <a:rPr lang="en-IN" sz="1600" spc="-10" dirty="0" smtClean="0">
                <a:latin typeface="Times New Roman"/>
                <a:cs typeface="Times New Roman"/>
              </a:rPr>
              <a:t>most</a:t>
            </a:r>
            <a:r>
              <a:rPr lang="en-IN" sz="1600" spc="15" dirty="0" smtClean="0">
                <a:latin typeface="Times New Roman"/>
                <a:cs typeface="Times New Roman"/>
              </a:rPr>
              <a:t> </a:t>
            </a:r>
            <a:r>
              <a:rPr lang="en-IN" sz="1600" spc="-30" dirty="0" smtClean="0">
                <a:latin typeface="Times New Roman"/>
                <a:cs typeface="Times New Roman"/>
              </a:rPr>
              <a:t>2a’s</a:t>
            </a:r>
            <a:r>
              <a:rPr lang="en-IN" sz="1600" spc="-15" dirty="0" smtClean="0">
                <a:latin typeface="Times New Roman"/>
                <a:cs typeface="Times New Roman"/>
              </a:rPr>
              <a:t> </a:t>
            </a:r>
            <a:r>
              <a:rPr lang="en-IN" sz="1600" spc="-5" dirty="0" smtClean="0">
                <a:latin typeface="Times New Roman"/>
                <a:cs typeface="Times New Roman"/>
              </a:rPr>
              <a:t>over </a:t>
            </a:r>
            <a:r>
              <a:rPr lang="en-IN" sz="1600" dirty="0" smtClean="0">
                <a:latin typeface="Times New Roman"/>
                <a:cs typeface="Times New Roman"/>
              </a:rPr>
              <a:t>∑={</a:t>
            </a:r>
            <a:r>
              <a:rPr lang="en-IN" sz="1600" dirty="0" err="1" smtClean="0">
                <a:latin typeface="Times New Roman"/>
                <a:cs typeface="Times New Roman"/>
              </a:rPr>
              <a:t>a,b</a:t>
            </a:r>
            <a:r>
              <a:rPr lang="en-IN" sz="1600" dirty="0" smtClean="0">
                <a:latin typeface="Times New Roman"/>
                <a:cs typeface="Times New Roman"/>
              </a:rPr>
              <a:t>}</a:t>
            </a:r>
          </a:p>
          <a:p>
            <a:pPr marL="926465">
              <a:lnSpc>
                <a:spcPts val="2360"/>
              </a:lnSpc>
            </a:pPr>
            <a:r>
              <a:rPr lang="en-IN" sz="1600" dirty="0" smtClean="0">
                <a:latin typeface="Times New Roman"/>
                <a:cs typeface="Times New Roman"/>
              </a:rPr>
              <a:t>(b)*+(b)*a(b)*</a:t>
            </a:r>
            <a:r>
              <a:rPr lang="en-IN" sz="1600" spc="-55" dirty="0" smtClean="0">
                <a:latin typeface="Times New Roman"/>
                <a:cs typeface="Times New Roman"/>
              </a:rPr>
              <a:t> </a:t>
            </a:r>
            <a:r>
              <a:rPr lang="en-IN" sz="1600" dirty="0" smtClean="0">
                <a:latin typeface="Times New Roman"/>
                <a:cs typeface="Times New Roman"/>
              </a:rPr>
              <a:t>+</a:t>
            </a:r>
            <a:r>
              <a:rPr lang="en-IN" sz="1600" spc="-30" dirty="0" smtClean="0">
                <a:latin typeface="Times New Roman"/>
                <a:cs typeface="Times New Roman"/>
              </a:rPr>
              <a:t> </a:t>
            </a:r>
            <a:r>
              <a:rPr lang="en-IN" sz="1600" dirty="0" smtClean="0">
                <a:latin typeface="Times New Roman"/>
                <a:cs typeface="Times New Roman"/>
              </a:rPr>
              <a:t>(b)*a(b)*</a:t>
            </a:r>
            <a:r>
              <a:rPr lang="en-IN" sz="1600" spc="-55" dirty="0" smtClean="0">
                <a:latin typeface="Times New Roman"/>
                <a:cs typeface="Times New Roman"/>
              </a:rPr>
              <a:t> </a:t>
            </a:r>
            <a:r>
              <a:rPr lang="en-IN" sz="1600" dirty="0" smtClean="0">
                <a:latin typeface="Times New Roman"/>
                <a:cs typeface="Times New Roman"/>
              </a:rPr>
              <a:t>a(a)*</a:t>
            </a:r>
          </a:p>
          <a:p>
            <a:pPr marL="286385" indent="-274320">
              <a:lnSpc>
                <a:spcPts val="2610"/>
              </a:lnSpc>
              <a:spcBef>
                <a:spcPts val="65"/>
              </a:spcBef>
              <a:buClr>
                <a:srgbClr val="2CA1BE"/>
              </a:buClr>
              <a:buSzPct val="84090"/>
              <a:buFont typeface="Segoe UI Symbol"/>
              <a:buChar char="⚫"/>
              <a:tabLst>
                <a:tab pos="286385" algn="l"/>
                <a:tab pos="287020" algn="l"/>
              </a:tabLst>
            </a:pPr>
            <a:r>
              <a:rPr lang="en-IN" sz="1600" spc="-5" dirty="0" smtClean="0">
                <a:latin typeface="Times New Roman"/>
                <a:cs typeface="Times New Roman"/>
              </a:rPr>
              <a:t>The set of</a:t>
            </a:r>
            <a:r>
              <a:rPr lang="en-IN" sz="1600" spc="5" dirty="0" smtClean="0">
                <a:latin typeface="Times New Roman"/>
                <a:cs typeface="Times New Roman"/>
              </a:rPr>
              <a:t> </a:t>
            </a:r>
            <a:r>
              <a:rPr lang="en-IN" sz="1600" spc="-5" dirty="0" smtClean="0">
                <a:latin typeface="Times New Roman"/>
                <a:cs typeface="Times New Roman"/>
              </a:rPr>
              <a:t>all</a:t>
            </a:r>
            <a:r>
              <a:rPr lang="en-IN" sz="1600" dirty="0" smtClean="0">
                <a:latin typeface="Times New Roman"/>
                <a:cs typeface="Times New Roman"/>
              </a:rPr>
              <a:t> </a:t>
            </a:r>
            <a:r>
              <a:rPr lang="en-IN" sz="1600" spc="-5" dirty="0" smtClean="0">
                <a:latin typeface="Times New Roman"/>
                <a:cs typeface="Times New Roman"/>
              </a:rPr>
              <a:t>strings</a:t>
            </a:r>
            <a:r>
              <a:rPr lang="en-IN" sz="1600" dirty="0" smtClean="0">
                <a:latin typeface="Times New Roman"/>
                <a:cs typeface="Times New Roman"/>
              </a:rPr>
              <a:t> </a:t>
            </a:r>
            <a:r>
              <a:rPr lang="en-IN" sz="1600" spc="-5" dirty="0" smtClean="0">
                <a:latin typeface="Times New Roman"/>
                <a:cs typeface="Times New Roman"/>
              </a:rPr>
              <a:t>that has</a:t>
            </a:r>
            <a:r>
              <a:rPr lang="en-IN" sz="1600" spc="-15" dirty="0" smtClean="0">
                <a:latin typeface="Times New Roman"/>
                <a:cs typeface="Times New Roman"/>
              </a:rPr>
              <a:t> </a:t>
            </a:r>
            <a:r>
              <a:rPr lang="en-IN" sz="1600" spc="-5" dirty="0" smtClean="0">
                <a:latin typeface="Times New Roman"/>
                <a:cs typeface="Times New Roman"/>
              </a:rPr>
              <a:t>exactly</a:t>
            </a:r>
            <a:r>
              <a:rPr lang="en-IN" sz="1600" spc="10" dirty="0" smtClean="0">
                <a:latin typeface="Times New Roman"/>
                <a:cs typeface="Times New Roman"/>
              </a:rPr>
              <a:t> </a:t>
            </a:r>
            <a:r>
              <a:rPr lang="en-IN" sz="1600" spc="-30" dirty="0" smtClean="0">
                <a:latin typeface="Times New Roman"/>
                <a:cs typeface="Times New Roman"/>
              </a:rPr>
              <a:t>2a’s</a:t>
            </a:r>
            <a:r>
              <a:rPr lang="en-IN" sz="1600" spc="-15" dirty="0" smtClean="0">
                <a:latin typeface="Times New Roman"/>
                <a:cs typeface="Times New Roman"/>
              </a:rPr>
              <a:t> </a:t>
            </a:r>
            <a:r>
              <a:rPr lang="en-IN" sz="1600" spc="-5" dirty="0" smtClean="0">
                <a:latin typeface="Times New Roman"/>
                <a:cs typeface="Times New Roman"/>
              </a:rPr>
              <a:t>over </a:t>
            </a:r>
            <a:r>
              <a:rPr lang="en-IN" sz="1600" dirty="0" smtClean="0">
                <a:latin typeface="Times New Roman"/>
                <a:cs typeface="Times New Roman"/>
              </a:rPr>
              <a:t>∑={</a:t>
            </a:r>
            <a:r>
              <a:rPr lang="en-IN" sz="1600" dirty="0" err="1" smtClean="0">
                <a:latin typeface="Times New Roman"/>
                <a:cs typeface="Times New Roman"/>
              </a:rPr>
              <a:t>a,b</a:t>
            </a:r>
            <a:r>
              <a:rPr lang="en-IN" sz="1600" dirty="0" smtClean="0">
                <a:latin typeface="Times New Roman"/>
                <a:cs typeface="Times New Roman"/>
              </a:rPr>
              <a:t>}</a:t>
            </a:r>
          </a:p>
          <a:p>
            <a:pPr marL="990600">
              <a:lnSpc>
                <a:spcPts val="2370"/>
              </a:lnSpc>
            </a:pPr>
            <a:r>
              <a:rPr lang="en-IN" sz="1600" dirty="0" smtClean="0">
                <a:latin typeface="Times New Roman"/>
                <a:cs typeface="Times New Roman"/>
              </a:rPr>
              <a:t>(b)*a(b)*</a:t>
            </a:r>
            <a:r>
              <a:rPr lang="en-IN" sz="1600" spc="-80" dirty="0" smtClean="0">
                <a:latin typeface="Times New Roman"/>
                <a:cs typeface="Times New Roman"/>
              </a:rPr>
              <a:t> </a:t>
            </a:r>
            <a:r>
              <a:rPr lang="en-IN" sz="1600" dirty="0" smtClean="0">
                <a:latin typeface="Times New Roman"/>
                <a:cs typeface="Times New Roman"/>
              </a:rPr>
              <a:t>a(b)*</a:t>
            </a:r>
          </a:p>
          <a:p>
            <a:r>
              <a:rPr lang="en-IN" sz="1600" dirty="0" smtClean="0"/>
              <a:t>The set of strings over {0,1} that end in 3 consecutive 1's.</a:t>
            </a:r>
          </a:p>
          <a:p>
            <a:pPr lvl="1"/>
            <a:r>
              <a:rPr lang="en-IN" sz="1200" dirty="0" smtClean="0"/>
              <a:t>(0 | 1)* 111</a:t>
            </a:r>
          </a:p>
          <a:p>
            <a:r>
              <a:rPr lang="en-IN" sz="1600" dirty="0" smtClean="0"/>
              <a:t> The set of strings over {0,1} that have at least one 1.</a:t>
            </a:r>
          </a:p>
          <a:p>
            <a:r>
              <a:rPr lang="en-IN" sz="1600" dirty="0" smtClean="0"/>
              <a:t>0* 1 (0 | 1)*</a:t>
            </a:r>
          </a:p>
          <a:p>
            <a:r>
              <a:rPr lang="en-IN" sz="1600" dirty="0" smtClean="0"/>
              <a:t> The set of strings over {0,1} that have at most one 1.</a:t>
            </a:r>
          </a:p>
          <a:p>
            <a:r>
              <a:rPr lang="en-IN" sz="1600" dirty="0" smtClean="0"/>
              <a:t>0* | 0* 1 0*</a:t>
            </a:r>
            <a:endParaRPr lang="en-IN"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normAutofit fontScale="90000"/>
          </a:bodyPr>
          <a:lstStyle/>
          <a:p>
            <a:r>
              <a:rPr lang="en-US" altLang="zh-TW" dirty="0" smtClean="0">
                <a:latin typeface="Times New Roman" pitchFamily="18" charset="0"/>
                <a:ea typeface="Arial Unicode MS" pitchFamily="34" charset="-120"/>
                <a:cs typeface="Times New Roman" pitchFamily="18" charset="0"/>
              </a:rPr>
              <a:t>Construction FA for given RE</a:t>
            </a:r>
            <a:endParaRPr lang="en-IN" dirty="0"/>
          </a:p>
        </p:txBody>
      </p:sp>
      <p:sp>
        <p:nvSpPr>
          <p:cNvPr id="3" name="Content Placeholder 2"/>
          <p:cNvSpPr>
            <a:spLocks noGrp="1"/>
          </p:cNvSpPr>
          <p:nvPr>
            <p:ph idx="1"/>
          </p:nvPr>
        </p:nvSpPr>
        <p:spPr>
          <a:xfrm>
            <a:off x="457200" y="838200"/>
            <a:ext cx="8229600" cy="5287963"/>
          </a:xfrm>
        </p:spPr>
        <p:txBody>
          <a:bodyPr>
            <a:normAutofit/>
          </a:bodyPr>
          <a:lstStyle/>
          <a:p>
            <a:r>
              <a:rPr lang="en-US" sz="1600" dirty="0" smtClean="0">
                <a:latin typeface="Times New Roman" pitchFamily="18" charset="0"/>
                <a:cs typeface="Times New Roman" pitchFamily="18" charset="0"/>
              </a:rPr>
              <a:t>We can use Thompson's Construction to find out a Finite Automaton from a Regular Expression. We will reduce the regular expression into smallest regular expressions and converting these to NFA and finally to DFA.</a:t>
            </a:r>
          </a:p>
          <a:p>
            <a:r>
              <a:rPr lang="en-US" sz="1600" dirty="0" smtClean="0">
                <a:latin typeface="Times New Roman" pitchFamily="18" charset="0"/>
                <a:cs typeface="Times New Roman" pitchFamily="18" charset="0"/>
              </a:rPr>
              <a:t>It will done with two ways 1) Direct Method 2) Subset Method</a:t>
            </a:r>
          </a:p>
          <a:p>
            <a:pPr>
              <a:buNone/>
            </a:pPr>
            <a:r>
              <a:rPr lang="en-US" sz="1600" dirty="0" smtClean="0">
                <a:latin typeface="Times New Roman" pitchFamily="18" charset="0"/>
                <a:cs typeface="Times New Roman" pitchFamily="18" charset="0"/>
              </a:rPr>
              <a:t>Direct Method:-</a:t>
            </a:r>
          </a:p>
          <a:p>
            <a:pPr>
              <a:buNone/>
            </a:pPr>
            <a:r>
              <a:rPr lang="en-US" sz="1600" dirty="0" smtClean="0">
                <a:latin typeface="Times New Roman" pitchFamily="18" charset="0"/>
                <a:cs typeface="Times New Roman" pitchFamily="18" charset="0"/>
              </a:rPr>
              <a:t>Some basic RA expressions are the following </a:t>
            </a:r>
          </a:p>
          <a:p>
            <a:r>
              <a:rPr lang="en-US" sz="1600" dirty="0" smtClean="0"/>
              <a:t>For a regular expression ‘a’, we can construct the following FA. </a:t>
            </a:r>
          </a:p>
          <a:p>
            <a:pPr>
              <a:buNone/>
            </a:pPr>
            <a:endParaRPr lang="en-US" sz="1600" dirty="0" smtClean="0"/>
          </a:p>
          <a:p>
            <a:pPr>
              <a:buNone/>
            </a:pPr>
            <a:endParaRPr lang="en-US" sz="1600" dirty="0" smtClean="0"/>
          </a:p>
          <a:p>
            <a:pPr>
              <a:buNone/>
            </a:pPr>
            <a:endParaRPr lang="en-US" sz="1600" dirty="0" smtClean="0"/>
          </a:p>
          <a:p>
            <a:r>
              <a:rPr lang="en-US" sz="1600" dirty="0" smtClean="0">
                <a:latin typeface="Times New Roman" pitchFamily="18" charset="0"/>
                <a:cs typeface="Times New Roman" pitchFamily="18" charset="0"/>
              </a:rPr>
              <a:t>For a regular expression ‘</a:t>
            </a:r>
            <a:r>
              <a:rPr lang="en-US" sz="1600" dirty="0" err="1" smtClean="0">
                <a:latin typeface="Times New Roman" pitchFamily="18" charset="0"/>
                <a:cs typeface="Times New Roman" pitchFamily="18" charset="0"/>
              </a:rPr>
              <a:t>ab</a:t>
            </a:r>
            <a:r>
              <a:rPr lang="en-US" sz="1600" dirty="0" smtClean="0">
                <a:latin typeface="Times New Roman" pitchFamily="18" charset="0"/>
                <a:cs typeface="Times New Roman" pitchFamily="18" charset="0"/>
              </a:rPr>
              <a:t>’, we can construct the following FA .</a:t>
            </a:r>
          </a:p>
          <a:p>
            <a:endParaRPr lang="en-US" sz="1600" dirty="0" smtClean="0">
              <a:latin typeface="Times New Roman" pitchFamily="18" charset="0"/>
              <a:cs typeface="Times New Roman" pitchFamily="18" charset="0"/>
            </a:endParaRPr>
          </a:p>
          <a:p>
            <a:endParaRPr lang="en-US" sz="1600" dirty="0" smtClean="0">
              <a:latin typeface="Times New Roman" pitchFamily="18" charset="0"/>
              <a:cs typeface="Times New Roman" pitchFamily="18" charset="0"/>
            </a:endParaRPr>
          </a:p>
          <a:p>
            <a:endParaRPr lang="en-US" sz="1600" dirty="0" smtClean="0">
              <a:latin typeface="Times New Roman" pitchFamily="18" charset="0"/>
              <a:cs typeface="Times New Roman" pitchFamily="18" charset="0"/>
            </a:endParaRPr>
          </a:p>
          <a:p>
            <a:endParaRPr lang="en-US" sz="1600" dirty="0" smtClean="0">
              <a:latin typeface="Times New Roman" pitchFamily="18" charset="0"/>
              <a:cs typeface="Times New Roman" pitchFamily="18" charset="0"/>
            </a:endParaRPr>
          </a:p>
          <a:p>
            <a:r>
              <a:rPr lang="en-US" sz="1600" dirty="0" smtClean="0"/>
              <a:t>For a regular expression (</a:t>
            </a:r>
            <a:r>
              <a:rPr lang="en-US" sz="1600" dirty="0" err="1" smtClean="0"/>
              <a:t>a+b</a:t>
            </a:r>
            <a:r>
              <a:rPr lang="en-US" sz="1600" dirty="0" smtClean="0"/>
              <a:t>), we can construct the following FA</a:t>
            </a:r>
            <a:endParaRPr lang="en-US" sz="1600" dirty="0" smtClean="0">
              <a:latin typeface="Times New Roman" pitchFamily="18" charset="0"/>
              <a:cs typeface="Times New Roman" pitchFamily="18" charset="0"/>
            </a:endParaRPr>
          </a:p>
          <a:p>
            <a:endParaRPr lang="en-US" sz="1600" dirty="0" smtClean="0">
              <a:latin typeface="Times New Roman" pitchFamily="18" charset="0"/>
              <a:cs typeface="Times New Roman" pitchFamily="18" charset="0"/>
            </a:endParaRPr>
          </a:p>
          <a:p>
            <a:pPr>
              <a:buNone/>
            </a:pPr>
            <a:endParaRPr lang="en-US" sz="1600" dirty="0" smtClean="0"/>
          </a:p>
          <a:p>
            <a:endParaRPr lang="en-IN" sz="1600" dirty="0"/>
          </a:p>
        </p:txBody>
      </p:sp>
      <p:pic>
        <p:nvPicPr>
          <p:cNvPr id="4" name="Picture 2" descr="C:\Users\snist\Desktop\11.jpg"/>
          <p:cNvPicPr>
            <a:picLocks noChangeAspect="1" noChangeArrowheads="1"/>
          </p:cNvPicPr>
          <p:nvPr/>
        </p:nvPicPr>
        <p:blipFill>
          <a:blip r:embed="rId2" cstate="print"/>
          <a:srcRect/>
          <a:stretch>
            <a:fillRect/>
          </a:stretch>
        </p:blipFill>
        <p:spPr bwMode="auto">
          <a:xfrm>
            <a:off x="2362200" y="2743200"/>
            <a:ext cx="3124200" cy="761999"/>
          </a:xfrm>
          <a:prstGeom prst="rect">
            <a:avLst/>
          </a:prstGeom>
          <a:noFill/>
        </p:spPr>
      </p:pic>
      <p:pic>
        <p:nvPicPr>
          <p:cNvPr id="5" name="Picture 2" descr="C:\Users\snist\Desktop\12.jpg"/>
          <p:cNvPicPr>
            <a:picLocks noChangeAspect="1" noChangeArrowheads="1"/>
          </p:cNvPicPr>
          <p:nvPr/>
        </p:nvPicPr>
        <p:blipFill>
          <a:blip r:embed="rId3" cstate="print"/>
          <a:srcRect/>
          <a:stretch>
            <a:fillRect/>
          </a:stretch>
        </p:blipFill>
        <p:spPr bwMode="auto">
          <a:xfrm>
            <a:off x="1447800" y="4038600"/>
            <a:ext cx="4724400" cy="914400"/>
          </a:xfrm>
          <a:prstGeom prst="rect">
            <a:avLst/>
          </a:prstGeom>
          <a:noFill/>
        </p:spPr>
      </p:pic>
      <p:pic>
        <p:nvPicPr>
          <p:cNvPr id="6" name="Picture 3" descr="C:\Users\snist\Desktop\13.jpg"/>
          <p:cNvPicPr>
            <a:picLocks noChangeAspect="1" noChangeArrowheads="1"/>
          </p:cNvPicPr>
          <p:nvPr/>
        </p:nvPicPr>
        <p:blipFill>
          <a:blip r:embed="rId4" cstate="print"/>
          <a:srcRect/>
          <a:stretch>
            <a:fillRect/>
          </a:stretch>
        </p:blipFill>
        <p:spPr bwMode="auto">
          <a:xfrm>
            <a:off x="2362200" y="5410200"/>
            <a:ext cx="2743200" cy="14478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1"/>
            <a:ext cx="8229600" cy="457200"/>
          </a:xfrm>
        </p:spPr>
        <p:txBody>
          <a:bodyPr>
            <a:normAutofit/>
          </a:bodyPr>
          <a:lstStyle/>
          <a:p>
            <a:pPr>
              <a:buNone/>
            </a:pPr>
            <a:r>
              <a:rPr lang="en-US" altLang="zh-TW" sz="2400" dirty="0" smtClean="0">
                <a:latin typeface="Times New Roman" pitchFamily="18" charset="0"/>
                <a:ea typeface="Arial Unicode MS" pitchFamily="34" charset="-120"/>
                <a:cs typeface="Times New Roman" pitchFamily="18" charset="0"/>
              </a:rPr>
              <a:t>Construction FA for given RE Direct Method</a:t>
            </a:r>
            <a:endParaRPr lang="en-IN" sz="2400" dirty="0"/>
          </a:p>
        </p:txBody>
      </p:sp>
      <p:pic>
        <p:nvPicPr>
          <p:cNvPr id="1026" name="Picture 2" descr="C:\Users\Raju\Desktop\WhatsApp Image 2025-03-01 at 14.03.30.jpeg"/>
          <p:cNvPicPr>
            <a:picLocks noChangeAspect="1" noChangeArrowheads="1"/>
          </p:cNvPicPr>
          <p:nvPr/>
        </p:nvPicPr>
        <p:blipFill>
          <a:blip r:embed="rId2"/>
          <a:srcRect/>
          <a:stretch>
            <a:fillRect/>
          </a:stretch>
        </p:blipFill>
        <p:spPr bwMode="auto">
          <a:xfrm>
            <a:off x="152400" y="838200"/>
            <a:ext cx="7543800" cy="601980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Raju\Desktop\Capture.PNG"/>
          <p:cNvPicPr>
            <a:picLocks noChangeAspect="1" noChangeArrowheads="1"/>
          </p:cNvPicPr>
          <p:nvPr/>
        </p:nvPicPr>
        <p:blipFill>
          <a:blip r:embed="rId2"/>
          <a:srcRect/>
          <a:stretch>
            <a:fillRect/>
          </a:stretch>
        </p:blipFill>
        <p:spPr bwMode="auto">
          <a:xfrm>
            <a:off x="152400" y="381000"/>
            <a:ext cx="4648200" cy="4114800"/>
          </a:xfrm>
          <a:prstGeom prst="rect">
            <a:avLst/>
          </a:prstGeom>
          <a:noFill/>
        </p:spPr>
      </p:pic>
      <p:pic>
        <p:nvPicPr>
          <p:cNvPr id="4099" name="Picture 3" descr="C:\Users\Raju\Desktop\Capture.PNG"/>
          <p:cNvPicPr>
            <a:picLocks noChangeAspect="1" noChangeArrowheads="1"/>
          </p:cNvPicPr>
          <p:nvPr/>
        </p:nvPicPr>
        <p:blipFill>
          <a:blip r:embed="rId3"/>
          <a:srcRect/>
          <a:stretch>
            <a:fillRect/>
          </a:stretch>
        </p:blipFill>
        <p:spPr bwMode="auto">
          <a:xfrm>
            <a:off x="4953000" y="304801"/>
            <a:ext cx="3638550" cy="3886200"/>
          </a:xfrm>
          <a:prstGeom prst="rect">
            <a:avLst/>
          </a:prstGeom>
          <a:noFill/>
        </p:spPr>
      </p:pic>
      <p:sp>
        <p:nvSpPr>
          <p:cNvPr id="6" name="TextBox 5"/>
          <p:cNvSpPr txBox="1"/>
          <p:nvPr/>
        </p:nvSpPr>
        <p:spPr>
          <a:xfrm>
            <a:off x="381000" y="1219200"/>
            <a:ext cx="789703" cy="369332"/>
          </a:xfrm>
          <a:prstGeom prst="rect">
            <a:avLst/>
          </a:prstGeom>
          <a:noFill/>
        </p:spPr>
        <p:txBody>
          <a:bodyPr wrap="none" rtlCol="0">
            <a:spAutoFit/>
          </a:bodyPr>
          <a:lstStyle/>
          <a:p>
            <a:r>
              <a:rPr lang="en-IN" dirty="0" smtClean="0"/>
              <a:t>Step-1</a:t>
            </a:r>
            <a:endParaRPr lang="en-IN" dirty="0"/>
          </a:p>
        </p:txBody>
      </p:sp>
      <p:sp>
        <p:nvSpPr>
          <p:cNvPr id="7" name="TextBox 6"/>
          <p:cNvSpPr txBox="1"/>
          <p:nvPr/>
        </p:nvSpPr>
        <p:spPr>
          <a:xfrm>
            <a:off x="304800" y="2133600"/>
            <a:ext cx="789703" cy="369332"/>
          </a:xfrm>
          <a:prstGeom prst="rect">
            <a:avLst/>
          </a:prstGeom>
          <a:noFill/>
        </p:spPr>
        <p:txBody>
          <a:bodyPr wrap="none" rtlCol="0">
            <a:spAutoFit/>
          </a:bodyPr>
          <a:lstStyle/>
          <a:p>
            <a:r>
              <a:rPr lang="en-IN" dirty="0" smtClean="0"/>
              <a:t>Step-2</a:t>
            </a:r>
            <a:endParaRPr lang="en-IN" dirty="0"/>
          </a:p>
        </p:txBody>
      </p:sp>
      <p:sp>
        <p:nvSpPr>
          <p:cNvPr id="8" name="TextBox 7"/>
          <p:cNvSpPr txBox="1"/>
          <p:nvPr/>
        </p:nvSpPr>
        <p:spPr>
          <a:xfrm>
            <a:off x="304800" y="3048000"/>
            <a:ext cx="789703" cy="369332"/>
          </a:xfrm>
          <a:prstGeom prst="rect">
            <a:avLst/>
          </a:prstGeom>
          <a:noFill/>
        </p:spPr>
        <p:txBody>
          <a:bodyPr wrap="none" rtlCol="0">
            <a:spAutoFit/>
          </a:bodyPr>
          <a:lstStyle/>
          <a:p>
            <a:r>
              <a:rPr lang="en-IN" dirty="0" smtClean="0"/>
              <a:t>Step-3</a:t>
            </a:r>
            <a:endParaRPr lang="en-IN" dirty="0"/>
          </a:p>
        </p:txBody>
      </p:sp>
      <p:sp>
        <p:nvSpPr>
          <p:cNvPr id="9" name="TextBox 8"/>
          <p:cNvSpPr txBox="1"/>
          <p:nvPr/>
        </p:nvSpPr>
        <p:spPr>
          <a:xfrm>
            <a:off x="5105400" y="304800"/>
            <a:ext cx="789703" cy="369332"/>
          </a:xfrm>
          <a:prstGeom prst="rect">
            <a:avLst/>
          </a:prstGeom>
          <a:noFill/>
        </p:spPr>
        <p:txBody>
          <a:bodyPr wrap="none" rtlCol="0">
            <a:spAutoFit/>
          </a:bodyPr>
          <a:lstStyle/>
          <a:p>
            <a:r>
              <a:rPr lang="en-IN" dirty="0" smtClean="0"/>
              <a:t>Step-4</a:t>
            </a:r>
            <a:endParaRPr lang="en-IN" dirty="0"/>
          </a:p>
        </p:txBody>
      </p:sp>
      <p:sp>
        <p:nvSpPr>
          <p:cNvPr id="10" name="TextBox 9"/>
          <p:cNvSpPr txBox="1"/>
          <p:nvPr/>
        </p:nvSpPr>
        <p:spPr>
          <a:xfrm>
            <a:off x="4953000" y="1600200"/>
            <a:ext cx="789703" cy="369332"/>
          </a:xfrm>
          <a:prstGeom prst="rect">
            <a:avLst/>
          </a:prstGeom>
          <a:noFill/>
        </p:spPr>
        <p:txBody>
          <a:bodyPr wrap="none" rtlCol="0">
            <a:spAutoFit/>
          </a:bodyPr>
          <a:lstStyle/>
          <a:p>
            <a:r>
              <a:rPr lang="en-IN" dirty="0" smtClean="0"/>
              <a:t>Step-5</a:t>
            </a:r>
            <a:endParaRPr lang="en-IN" dirty="0"/>
          </a:p>
        </p:txBody>
      </p:sp>
      <p:sp>
        <p:nvSpPr>
          <p:cNvPr id="11" name="TextBox 10"/>
          <p:cNvSpPr txBox="1"/>
          <p:nvPr/>
        </p:nvSpPr>
        <p:spPr>
          <a:xfrm>
            <a:off x="4953000" y="2895600"/>
            <a:ext cx="789703" cy="369332"/>
          </a:xfrm>
          <a:prstGeom prst="rect">
            <a:avLst/>
          </a:prstGeom>
          <a:noFill/>
        </p:spPr>
        <p:txBody>
          <a:bodyPr wrap="none" rtlCol="0">
            <a:spAutoFit/>
          </a:bodyPr>
          <a:lstStyle/>
          <a:p>
            <a:r>
              <a:rPr lang="en-IN" dirty="0" smtClean="0"/>
              <a:t>Step-6</a:t>
            </a:r>
            <a:endParaRPr lang="en-IN" dirty="0"/>
          </a:p>
        </p:txBody>
      </p:sp>
      <p:pic>
        <p:nvPicPr>
          <p:cNvPr id="12" name="Picture 2" descr="C:\Users\Raju\Desktop\Capture.PNG"/>
          <p:cNvPicPr>
            <a:picLocks noChangeAspect="1" noChangeArrowheads="1"/>
          </p:cNvPicPr>
          <p:nvPr/>
        </p:nvPicPr>
        <p:blipFill>
          <a:blip r:embed="rId4"/>
          <a:srcRect/>
          <a:stretch>
            <a:fillRect/>
          </a:stretch>
        </p:blipFill>
        <p:spPr bwMode="auto">
          <a:xfrm>
            <a:off x="2971800" y="4191000"/>
            <a:ext cx="4724400" cy="2514600"/>
          </a:xfrm>
          <a:prstGeom prst="rect">
            <a:avLst/>
          </a:prstGeom>
          <a:noFill/>
        </p:spPr>
      </p:pic>
      <p:sp>
        <p:nvSpPr>
          <p:cNvPr id="14" name="TextBox 13"/>
          <p:cNvSpPr txBox="1"/>
          <p:nvPr/>
        </p:nvSpPr>
        <p:spPr>
          <a:xfrm>
            <a:off x="304800" y="0"/>
            <a:ext cx="2286000" cy="369332"/>
          </a:xfrm>
          <a:prstGeom prst="rect">
            <a:avLst/>
          </a:prstGeom>
          <a:noFill/>
        </p:spPr>
        <p:txBody>
          <a:bodyPr wrap="square" rtlCol="0">
            <a:spAutoFit/>
          </a:bodyPr>
          <a:lstStyle/>
          <a:p>
            <a:r>
              <a:rPr lang="en-IN" dirty="0" smtClean="0"/>
              <a:t>Example</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Raju\Desktop\WhatsApp Image 2025-03-01 at 14.28.20.jpeg"/>
          <p:cNvPicPr>
            <a:picLocks noChangeAspect="1" noChangeArrowheads="1"/>
          </p:cNvPicPr>
          <p:nvPr/>
        </p:nvPicPr>
        <p:blipFill>
          <a:blip r:embed="rId2"/>
          <a:srcRect/>
          <a:stretch>
            <a:fillRect/>
          </a:stretch>
        </p:blipFill>
        <p:spPr bwMode="auto">
          <a:xfrm>
            <a:off x="152400" y="457200"/>
            <a:ext cx="4191001" cy="2971800"/>
          </a:xfrm>
          <a:prstGeom prst="rect">
            <a:avLst/>
          </a:prstGeom>
          <a:noFill/>
        </p:spPr>
      </p:pic>
      <p:pic>
        <p:nvPicPr>
          <p:cNvPr id="5" name="Picture 4" descr="C:\Users\Raju\Desktop\WhatsApp Image 2025-03-01 at 14.27.10.jpeg"/>
          <p:cNvPicPr>
            <a:picLocks noChangeAspect="1" noChangeArrowheads="1"/>
          </p:cNvPicPr>
          <p:nvPr/>
        </p:nvPicPr>
        <p:blipFill>
          <a:blip r:embed="rId3"/>
          <a:srcRect/>
          <a:stretch>
            <a:fillRect/>
          </a:stretch>
        </p:blipFill>
        <p:spPr bwMode="auto">
          <a:xfrm>
            <a:off x="4648200" y="304800"/>
            <a:ext cx="4267201" cy="2667000"/>
          </a:xfrm>
          <a:prstGeom prst="rect">
            <a:avLst/>
          </a:prstGeom>
          <a:noFill/>
        </p:spPr>
      </p:pic>
      <p:pic>
        <p:nvPicPr>
          <p:cNvPr id="6" name="Picture 5" descr="C:\Users\Raju\Desktop\WhatsApp Image 2025-03-01 at 14.27.43.jpeg"/>
          <p:cNvPicPr>
            <a:picLocks noChangeAspect="1" noChangeArrowheads="1"/>
          </p:cNvPicPr>
          <p:nvPr/>
        </p:nvPicPr>
        <p:blipFill>
          <a:blip r:embed="rId4"/>
          <a:srcRect/>
          <a:stretch>
            <a:fillRect/>
          </a:stretch>
        </p:blipFill>
        <p:spPr bwMode="auto">
          <a:xfrm>
            <a:off x="4648201" y="2971800"/>
            <a:ext cx="3733800" cy="3429000"/>
          </a:xfrm>
          <a:prstGeom prst="rect">
            <a:avLst/>
          </a:prstGeom>
          <a:noFill/>
        </p:spPr>
      </p:pic>
      <p:pic>
        <p:nvPicPr>
          <p:cNvPr id="6147" name="Picture 3" descr="C:\Users\Raju\Desktop\WhatsApp Image 2025-03-01 at 14.28.50.jpeg"/>
          <p:cNvPicPr>
            <a:picLocks noChangeAspect="1" noChangeArrowheads="1"/>
          </p:cNvPicPr>
          <p:nvPr/>
        </p:nvPicPr>
        <p:blipFill>
          <a:blip r:embed="rId5"/>
          <a:srcRect/>
          <a:stretch>
            <a:fillRect/>
          </a:stretch>
        </p:blipFill>
        <p:spPr bwMode="auto">
          <a:xfrm>
            <a:off x="381000" y="3581400"/>
            <a:ext cx="3960813" cy="2971800"/>
          </a:xfrm>
          <a:prstGeom prst="rect">
            <a:avLst/>
          </a:prstGeom>
          <a:noFill/>
        </p:spPr>
      </p:pic>
      <p:sp>
        <p:nvSpPr>
          <p:cNvPr id="8" name="TextBox 7"/>
          <p:cNvSpPr txBox="1"/>
          <p:nvPr/>
        </p:nvSpPr>
        <p:spPr>
          <a:xfrm>
            <a:off x="914400" y="0"/>
            <a:ext cx="2743200" cy="369332"/>
          </a:xfrm>
          <a:prstGeom prst="rect">
            <a:avLst/>
          </a:prstGeom>
          <a:noFill/>
        </p:spPr>
        <p:txBody>
          <a:bodyPr wrap="square" rtlCol="0">
            <a:spAutoFit/>
          </a:bodyPr>
          <a:lstStyle/>
          <a:p>
            <a:r>
              <a:rPr lang="en-IN" b="1" dirty="0" smtClean="0">
                <a:solidFill>
                  <a:srgbClr val="FF0000"/>
                </a:solidFill>
              </a:rPr>
              <a:t>DFA Transition Table</a:t>
            </a:r>
            <a:endParaRPr lang="en-IN" b="1" dirty="0">
              <a:solidFill>
                <a:srgbClr val="FF0000"/>
              </a:solidFill>
            </a:endParaRPr>
          </a:p>
        </p:txBody>
      </p:sp>
      <p:sp>
        <p:nvSpPr>
          <p:cNvPr id="9" name="TextBox 8"/>
          <p:cNvSpPr txBox="1"/>
          <p:nvPr/>
        </p:nvSpPr>
        <p:spPr>
          <a:xfrm>
            <a:off x="5181600" y="0"/>
            <a:ext cx="2667000" cy="369332"/>
          </a:xfrm>
          <a:prstGeom prst="rect">
            <a:avLst/>
          </a:prstGeom>
          <a:noFill/>
        </p:spPr>
        <p:txBody>
          <a:bodyPr wrap="square" rtlCol="0">
            <a:spAutoFit/>
          </a:bodyPr>
          <a:lstStyle/>
          <a:p>
            <a:r>
              <a:rPr lang="en-IN" dirty="0" smtClean="0">
                <a:solidFill>
                  <a:srgbClr val="FF0000"/>
                </a:solidFill>
              </a:rPr>
              <a:t>Transitions</a:t>
            </a:r>
            <a:endParaRPr lang="en-IN" dirty="0">
              <a:solidFill>
                <a:srgbClr val="FF0000"/>
              </a:solidFill>
            </a:endParaRPr>
          </a:p>
        </p:txBody>
      </p:sp>
      <p:sp>
        <p:nvSpPr>
          <p:cNvPr id="10" name="TextBox 9"/>
          <p:cNvSpPr txBox="1"/>
          <p:nvPr/>
        </p:nvSpPr>
        <p:spPr>
          <a:xfrm>
            <a:off x="533400" y="3505200"/>
            <a:ext cx="1524000" cy="369332"/>
          </a:xfrm>
          <a:prstGeom prst="rect">
            <a:avLst/>
          </a:prstGeom>
          <a:noFill/>
        </p:spPr>
        <p:txBody>
          <a:bodyPr wrap="square" rtlCol="0">
            <a:spAutoFit/>
          </a:bodyPr>
          <a:lstStyle/>
          <a:p>
            <a:r>
              <a:rPr lang="en-IN" dirty="0" smtClean="0">
                <a:solidFill>
                  <a:srgbClr val="FF0000"/>
                </a:solidFill>
              </a:rPr>
              <a:t>DFA</a:t>
            </a:r>
            <a:endParaRPr lang="en-IN" dirty="0">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IN" dirty="0" smtClean="0"/>
              <a:t>Examples</a:t>
            </a:r>
            <a:endParaRPr lang="en-IN" dirty="0"/>
          </a:p>
        </p:txBody>
      </p:sp>
      <p:sp>
        <p:nvSpPr>
          <p:cNvPr id="3" name="Content Placeholder 2"/>
          <p:cNvSpPr>
            <a:spLocks noGrp="1"/>
          </p:cNvSpPr>
          <p:nvPr>
            <p:ph idx="1"/>
          </p:nvPr>
        </p:nvSpPr>
        <p:spPr>
          <a:xfrm>
            <a:off x="457200" y="1066800"/>
            <a:ext cx="8229600" cy="5059363"/>
          </a:xfrm>
        </p:spPr>
        <p:txBody>
          <a:bodyPr>
            <a:normAutofit/>
          </a:bodyPr>
          <a:lstStyle/>
          <a:p>
            <a:r>
              <a:rPr lang="en-IN" sz="1600" dirty="0" smtClean="0"/>
              <a:t>Ex:1. Design a Finite Automata from the given RE </a:t>
            </a:r>
            <a:r>
              <a:rPr lang="en-IN" sz="1600" b="1" dirty="0" smtClean="0"/>
              <a:t>[ </a:t>
            </a:r>
            <a:r>
              <a:rPr lang="en-IN" sz="1600" b="1" dirty="0" err="1" smtClean="0"/>
              <a:t>ab</a:t>
            </a:r>
            <a:r>
              <a:rPr lang="en-IN" sz="1600" b="1" dirty="0" smtClean="0"/>
              <a:t> + (b + </a:t>
            </a:r>
            <a:r>
              <a:rPr lang="en-IN" sz="1600" b="1" dirty="0" err="1" smtClean="0"/>
              <a:t>aa</a:t>
            </a:r>
            <a:r>
              <a:rPr lang="en-IN" sz="1600" b="1" dirty="0" smtClean="0"/>
              <a:t>)b* a ]</a:t>
            </a:r>
            <a:r>
              <a:rPr lang="en-IN" sz="1600" dirty="0" smtClean="0"/>
              <a:t>.</a:t>
            </a:r>
          </a:p>
          <a:p>
            <a:r>
              <a:rPr lang="en-IN" sz="1600" b="1" dirty="0" smtClean="0"/>
              <a:t>Solution. </a:t>
            </a:r>
            <a:r>
              <a:rPr lang="en-IN" sz="1600" dirty="0" smtClean="0"/>
              <a:t>At first, we will design the Transition diagram for the given expression.</a:t>
            </a:r>
          </a:p>
          <a:p>
            <a:endParaRPr lang="en-IN" sz="1600" dirty="0"/>
          </a:p>
        </p:txBody>
      </p:sp>
      <p:pic>
        <p:nvPicPr>
          <p:cNvPr id="1026" name="Picture 2" descr="C:\Users\Raju\Desktop\Capture.PNG"/>
          <p:cNvPicPr>
            <a:picLocks noChangeAspect="1" noChangeArrowheads="1"/>
          </p:cNvPicPr>
          <p:nvPr/>
        </p:nvPicPr>
        <p:blipFill>
          <a:blip r:embed="rId2"/>
          <a:srcRect/>
          <a:stretch>
            <a:fillRect/>
          </a:stretch>
        </p:blipFill>
        <p:spPr bwMode="auto">
          <a:xfrm>
            <a:off x="762000" y="1752600"/>
            <a:ext cx="3105150" cy="4267200"/>
          </a:xfrm>
          <a:prstGeom prst="rect">
            <a:avLst/>
          </a:prstGeom>
          <a:noFill/>
        </p:spPr>
      </p:pic>
      <p:pic>
        <p:nvPicPr>
          <p:cNvPr id="1027" name="Picture 3" descr="C:\Users\Raju\Desktop\Capture.PNG"/>
          <p:cNvPicPr>
            <a:picLocks noChangeAspect="1" noChangeArrowheads="1"/>
          </p:cNvPicPr>
          <p:nvPr/>
        </p:nvPicPr>
        <p:blipFill>
          <a:blip r:embed="rId3"/>
          <a:srcRect/>
          <a:stretch>
            <a:fillRect/>
          </a:stretch>
        </p:blipFill>
        <p:spPr bwMode="auto">
          <a:xfrm>
            <a:off x="3962400" y="1676400"/>
            <a:ext cx="3352800" cy="485775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a:bodyPr>
          <a:lstStyle/>
          <a:p>
            <a:r>
              <a:rPr lang="en-IN" sz="1600" dirty="0" smtClean="0"/>
              <a:t>After step 5, we have got NFA without ε. Now we will convert it into the required DFA; we will first write a transition table for this NFA.</a:t>
            </a:r>
          </a:p>
          <a:p>
            <a:pPr>
              <a:buNone/>
            </a:pPr>
            <a:endParaRPr lang="en-IN" sz="1600" dirty="0"/>
          </a:p>
        </p:txBody>
      </p:sp>
      <p:pic>
        <p:nvPicPr>
          <p:cNvPr id="2050" name="Picture 2" descr="C:\Users\Raju\Desktop\Capture.PNG"/>
          <p:cNvPicPr>
            <a:picLocks noChangeAspect="1" noChangeArrowheads="1"/>
          </p:cNvPicPr>
          <p:nvPr/>
        </p:nvPicPr>
        <p:blipFill>
          <a:blip r:embed="rId2"/>
          <a:srcRect/>
          <a:stretch>
            <a:fillRect/>
          </a:stretch>
        </p:blipFill>
        <p:spPr bwMode="auto">
          <a:xfrm>
            <a:off x="914400" y="838200"/>
            <a:ext cx="4248150" cy="56388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r>
              <a:rPr lang="en-IN" sz="1600" dirty="0" smtClean="0"/>
              <a:t>Ex:2. Design an NFA from the given RE </a:t>
            </a:r>
            <a:r>
              <a:rPr lang="en-IN" sz="1600" b="1" dirty="0" smtClean="0"/>
              <a:t>[ a (a* </a:t>
            </a:r>
            <a:r>
              <a:rPr lang="en-IN" sz="1600" b="1" dirty="0" err="1" smtClean="0"/>
              <a:t>ba</a:t>
            </a:r>
            <a:r>
              <a:rPr lang="en-IN" sz="1600" b="1" dirty="0" smtClean="0"/>
              <a:t>* </a:t>
            </a:r>
            <a:r>
              <a:rPr lang="en-IN" sz="1600" b="1" dirty="0" err="1" smtClean="0"/>
              <a:t>ba</a:t>
            </a:r>
            <a:r>
              <a:rPr lang="en-IN" sz="1600" b="1" dirty="0" smtClean="0"/>
              <a:t>*)* ]</a:t>
            </a:r>
            <a:r>
              <a:rPr lang="en-IN" sz="1600" dirty="0" smtClean="0"/>
              <a:t>.</a:t>
            </a:r>
            <a:endParaRPr lang="en-IN" sz="1600" dirty="0"/>
          </a:p>
        </p:txBody>
      </p:sp>
      <p:pic>
        <p:nvPicPr>
          <p:cNvPr id="3074" name="Picture 2" descr="C:\Users\Raju\Desktop\Capture.PNG"/>
          <p:cNvPicPr>
            <a:picLocks noChangeAspect="1" noChangeArrowheads="1"/>
          </p:cNvPicPr>
          <p:nvPr/>
        </p:nvPicPr>
        <p:blipFill>
          <a:blip r:embed="rId2"/>
          <a:srcRect/>
          <a:stretch>
            <a:fillRect/>
          </a:stretch>
        </p:blipFill>
        <p:spPr bwMode="auto">
          <a:xfrm>
            <a:off x="1524000" y="1066800"/>
            <a:ext cx="6278563" cy="5362575"/>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444" y="324738"/>
            <a:ext cx="6757034" cy="513715"/>
          </a:xfrm>
          <a:prstGeom prst="rect">
            <a:avLst/>
          </a:prstGeom>
        </p:spPr>
        <p:txBody>
          <a:bodyPr vert="horz" wrap="square" lIns="0" tIns="12700" rIns="0" bIns="0" rtlCol="0">
            <a:spAutoFit/>
          </a:bodyPr>
          <a:lstStyle/>
          <a:p>
            <a:pPr marL="12700">
              <a:lnSpc>
                <a:spcPct val="100000"/>
              </a:lnSpc>
              <a:spcBef>
                <a:spcPts val="100"/>
              </a:spcBef>
            </a:pPr>
            <a:r>
              <a:rPr sz="3200" dirty="0"/>
              <a:t>Identities</a:t>
            </a:r>
            <a:r>
              <a:rPr sz="3200" spc="-45" dirty="0"/>
              <a:t> </a:t>
            </a:r>
            <a:r>
              <a:rPr sz="3200" dirty="0"/>
              <a:t>Related</a:t>
            </a:r>
            <a:r>
              <a:rPr sz="3200" spc="-5" dirty="0"/>
              <a:t> </a:t>
            </a:r>
            <a:r>
              <a:rPr sz="3200" dirty="0"/>
              <a:t>to</a:t>
            </a:r>
            <a:r>
              <a:rPr sz="3200" spc="-5" dirty="0"/>
              <a:t> </a:t>
            </a:r>
            <a:r>
              <a:rPr sz="3200" dirty="0"/>
              <a:t>Regular</a:t>
            </a:r>
            <a:r>
              <a:rPr sz="3200" spc="-30" dirty="0"/>
              <a:t> </a:t>
            </a:r>
            <a:r>
              <a:rPr sz="3200" dirty="0"/>
              <a:t>Expressions</a:t>
            </a:r>
            <a:endParaRPr sz="3200"/>
          </a:p>
        </p:txBody>
      </p:sp>
      <p:sp>
        <p:nvSpPr>
          <p:cNvPr id="3" name="object 3"/>
          <p:cNvSpPr txBox="1"/>
          <p:nvPr/>
        </p:nvSpPr>
        <p:spPr>
          <a:xfrm>
            <a:off x="535940" y="940054"/>
            <a:ext cx="6503670" cy="4548040"/>
          </a:xfrm>
          <a:prstGeom prst="rect">
            <a:avLst/>
          </a:prstGeom>
        </p:spPr>
        <p:txBody>
          <a:bodyPr vert="horz" wrap="square" lIns="0" tIns="33655" rIns="0" bIns="0" rtlCol="0">
            <a:spAutoFit/>
          </a:bodyPr>
          <a:lstStyle/>
          <a:p>
            <a:pPr marL="12700">
              <a:lnSpc>
                <a:spcPct val="100000"/>
              </a:lnSpc>
              <a:spcBef>
                <a:spcPts val="265"/>
              </a:spcBef>
            </a:pPr>
            <a:r>
              <a:rPr sz="1800" spc="-5" dirty="0">
                <a:latin typeface="Times New Roman"/>
                <a:cs typeface="Times New Roman"/>
              </a:rPr>
              <a:t>Given</a:t>
            </a:r>
            <a:r>
              <a:rPr sz="1800" spc="-15" dirty="0">
                <a:latin typeface="Times New Roman"/>
                <a:cs typeface="Times New Roman"/>
              </a:rPr>
              <a:t> </a:t>
            </a:r>
            <a:r>
              <a:rPr sz="1800" dirty="0">
                <a:latin typeface="Times New Roman"/>
                <a:cs typeface="Times New Roman"/>
              </a:rPr>
              <a:t>R,</a:t>
            </a:r>
            <a:r>
              <a:rPr sz="1800" spc="-5" dirty="0">
                <a:latin typeface="Times New Roman"/>
                <a:cs typeface="Times New Roman"/>
              </a:rPr>
              <a:t> </a:t>
            </a:r>
            <a:r>
              <a:rPr sz="1800" spc="-110" dirty="0">
                <a:latin typeface="Times New Roman"/>
                <a:cs typeface="Times New Roman"/>
              </a:rPr>
              <a:t>P,</a:t>
            </a:r>
            <a:r>
              <a:rPr sz="1800" dirty="0">
                <a:latin typeface="Times New Roman"/>
                <a:cs typeface="Times New Roman"/>
              </a:rPr>
              <a:t> L,</a:t>
            </a:r>
            <a:r>
              <a:rPr sz="1800" spc="-5" dirty="0">
                <a:latin typeface="Times New Roman"/>
                <a:cs typeface="Times New Roman"/>
              </a:rPr>
              <a:t> </a:t>
            </a:r>
            <a:r>
              <a:rPr sz="1800" dirty="0">
                <a:latin typeface="Times New Roman"/>
                <a:cs typeface="Times New Roman"/>
              </a:rPr>
              <a:t>Q</a:t>
            </a:r>
            <a:r>
              <a:rPr sz="1800" spc="-15" dirty="0">
                <a:latin typeface="Times New Roman"/>
                <a:cs typeface="Times New Roman"/>
              </a:rPr>
              <a:t> </a:t>
            </a:r>
            <a:r>
              <a:rPr sz="1800" dirty="0">
                <a:latin typeface="Times New Roman"/>
                <a:cs typeface="Times New Roman"/>
              </a:rPr>
              <a:t>as regular</a:t>
            </a:r>
            <a:r>
              <a:rPr sz="1800" spc="-25" dirty="0">
                <a:latin typeface="Times New Roman"/>
                <a:cs typeface="Times New Roman"/>
              </a:rPr>
              <a:t> </a:t>
            </a:r>
            <a:r>
              <a:rPr sz="1800" dirty="0">
                <a:latin typeface="Times New Roman"/>
                <a:cs typeface="Times New Roman"/>
              </a:rPr>
              <a:t>expressions,</a:t>
            </a:r>
            <a:r>
              <a:rPr sz="1800" spc="-10" dirty="0">
                <a:latin typeface="Times New Roman"/>
                <a:cs typeface="Times New Roman"/>
              </a:rPr>
              <a:t> </a:t>
            </a:r>
            <a:r>
              <a:rPr sz="1800" dirty="0">
                <a:latin typeface="Times New Roman"/>
                <a:cs typeface="Times New Roman"/>
              </a:rPr>
              <a:t>the</a:t>
            </a:r>
            <a:r>
              <a:rPr sz="1800" spc="-5" dirty="0">
                <a:latin typeface="Times New Roman"/>
                <a:cs typeface="Times New Roman"/>
              </a:rPr>
              <a:t> </a:t>
            </a:r>
            <a:r>
              <a:rPr sz="1800" dirty="0">
                <a:latin typeface="Times New Roman"/>
                <a:cs typeface="Times New Roman"/>
              </a:rPr>
              <a:t>following</a:t>
            </a:r>
            <a:r>
              <a:rPr sz="1800" spc="-15" dirty="0">
                <a:latin typeface="Times New Roman"/>
                <a:cs typeface="Times New Roman"/>
              </a:rPr>
              <a:t> </a:t>
            </a:r>
            <a:r>
              <a:rPr sz="1800" dirty="0">
                <a:latin typeface="Times New Roman"/>
                <a:cs typeface="Times New Roman"/>
              </a:rPr>
              <a:t>identities</a:t>
            </a:r>
            <a:r>
              <a:rPr sz="1800" spc="-25" dirty="0">
                <a:latin typeface="Times New Roman"/>
                <a:cs typeface="Times New Roman"/>
              </a:rPr>
              <a:t> </a:t>
            </a:r>
            <a:r>
              <a:rPr sz="1800" dirty="0" smtClean="0">
                <a:latin typeface="Times New Roman"/>
                <a:cs typeface="Times New Roman"/>
              </a:rPr>
              <a:t>hold</a:t>
            </a:r>
            <a:endParaRPr sz="1800" dirty="0">
              <a:latin typeface="Times New Roman"/>
              <a:cs typeface="Times New Roman"/>
            </a:endParaRPr>
          </a:p>
          <a:p>
            <a:pPr marL="287020" indent="-274320">
              <a:lnSpc>
                <a:spcPct val="100000"/>
              </a:lnSpc>
              <a:spcBef>
                <a:spcPts val="170"/>
              </a:spcBef>
              <a:buClr>
                <a:srgbClr val="2CA1BE"/>
              </a:buClr>
              <a:buSzPct val="83333"/>
              <a:buFont typeface="Wingdings"/>
              <a:buChar char=""/>
              <a:tabLst>
                <a:tab pos="287020" algn="l"/>
              </a:tabLst>
            </a:pPr>
            <a:r>
              <a:rPr sz="1800" dirty="0">
                <a:latin typeface="Cambria Math"/>
                <a:cs typeface="Cambria Math"/>
              </a:rPr>
              <a:t>∅</a:t>
            </a:r>
            <a:r>
              <a:rPr sz="1800" dirty="0">
                <a:latin typeface="Times New Roman"/>
                <a:cs typeface="Times New Roman"/>
              </a:rPr>
              <a:t>*</a:t>
            </a:r>
            <a:r>
              <a:rPr sz="1800" spc="-40" dirty="0">
                <a:latin typeface="Times New Roman"/>
                <a:cs typeface="Times New Roman"/>
              </a:rPr>
              <a:t> </a:t>
            </a:r>
            <a:r>
              <a:rPr sz="1800" dirty="0">
                <a:latin typeface="Times New Roman"/>
                <a:cs typeface="Times New Roman"/>
              </a:rPr>
              <a:t>=</a:t>
            </a:r>
            <a:r>
              <a:rPr sz="1800" spc="-35" dirty="0">
                <a:latin typeface="Times New Roman"/>
                <a:cs typeface="Times New Roman"/>
              </a:rPr>
              <a:t> </a:t>
            </a:r>
            <a:r>
              <a:rPr sz="1800" dirty="0">
                <a:latin typeface="Times New Roman"/>
                <a:cs typeface="Times New Roman"/>
              </a:rPr>
              <a:t>ε</a:t>
            </a:r>
          </a:p>
          <a:p>
            <a:pPr marL="287020" indent="-274320">
              <a:lnSpc>
                <a:spcPct val="100000"/>
              </a:lnSpc>
              <a:spcBef>
                <a:spcPts val="165"/>
              </a:spcBef>
              <a:buClr>
                <a:srgbClr val="2CA1BE"/>
              </a:buClr>
              <a:buSzPct val="83333"/>
              <a:buFont typeface="Wingdings"/>
              <a:buChar char=""/>
              <a:tabLst>
                <a:tab pos="287020" algn="l"/>
              </a:tabLst>
            </a:pPr>
            <a:r>
              <a:rPr sz="1800" dirty="0">
                <a:latin typeface="Times New Roman"/>
                <a:cs typeface="Times New Roman"/>
              </a:rPr>
              <a:t>ε*</a:t>
            </a:r>
            <a:r>
              <a:rPr sz="1800" spc="-40" dirty="0">
                <a:latin typeface="Times New Roman"/>
                <a:cs typeface="Times New Roman"/>
              </a:rPr>
              <a:t> </a:t>
            </a:r>
            <a:r>
              <a:rPr sz="1800" dirty="0">
                <a:latin typeface="Times New Roman"/>
                <a:cs typeface="Times New Roman"/>
              </a:rPr>
              <a:t>=</a:t>
            </a:r>
            <a:r>
              <a:rPr sz="1800" spc="-30" dirty="0">
                <a:latin typeface="Times New Roman"/>
                <a:cs typeface="Times New Roman"/>
              </a:rPr>
              <a:t> </a:t>
            </a:r>
            <a:r>
              <a:rPr sz="1800" dirty="0">
                <a:latin typeface="Times New Roman"/>
                <a:cs typeface="Times New Roman"/>
              </a:rPr>
              <a:t>ε</a:t>
            </a:r>
          </a:p>
          <a:p>
            <a:pPr marL="287020" indent="-274320">
              <a:lnSpc>
                <a:spcPct val="100000"/>
              </a:lnSpc>
              <a:spcBef>
                <a:spcPts val="170"/>
              </a:spcBef>
              <a:buClr>
                <a:srgbClr val="2CA1BE"/>
              </a:buClr>
              <a:buSzPct val="83333"/>
              <a:buFont typeface="Wingdings"/>
              <a:buChar char=""/>
              <a:tabLst>
                <a:tab pos="287020" algn="l"/>
              </a:tabLst>
            </a:pPr>
            <a:r>
              <a:rPr sz="1800" b="1" dirty="0">
                <a:latin typeface="Times New Roman"/>
                <a:cs typeface="Times New Roman"/>
              </a:rPr>
              <a:t>RR*</a:t>
            </a:r>
            <a:r>
              <a:rPr sz="1800" b="1" spc="-40" dirty="0">
                <a:latin typeface="Times New Roman"/>
                <a:cs typeface="Times New Roman"/>
              </a:rPr>
              <a:t> </a:t>
            </a:r>
            <a:r>
              <a:rPr sz="1800" b="1">
                <a:latin typeface="Times New Roman"/>
                <a:cs typeface="Times New Roman"/>
              </a:rPr>
              <a:t>=</a:t>
            </a:r>
            <a:r>
              <a:rPr sz="1800" b="1" spc="-30">
                <a:latin typeface="Times New Roman"/>
                <a:cs typeface="Times New Roman"/>
              </a:rPr>
              <a:t> </a:t>
            </a:r>
            <a:r>
              <a:rPr sz="1800" b="1" smtClean="0">
                <a:latin typeface="Times New Roman"/>
                <a:cs typeface="Times New Roman"/>
              </a:rPr>
              <a:t>R*R</a:t>
            </a:r>
            <a:r>
              <a:rPr lang="en-US" sz="1800" b="1" dirty="0" smtClean="0">
                <a:latin typeface="Times New Roman"/>
                <a:cs typeface="Times New Roman"/>
                <a:sym typeface="Wingdings" pitchFamily="2" charset="2"/>
              </a:rPr>
              <a:t> R*</a:t>
            </a:r>
            <a:endParaRPr sz="1800" b="1" dirty="0">
              <a:latin typeface="Times New Roman"/>
              <a:cs typeface="Times New Roman"/>
            </a:endParaRPr>
          </a:p>
          <a:p>
            <a:pPr marL="287020" indent="-274320">
              <a:lnSpc>
                <a:spcPct val="100000"/>
              </a:lnSpc>
              <a:spcBef>
                <a:spcPts val="170"/>
              </a:spcBef>
              <a:buClr>
                <a:srgbClr val="2CA1BE"/>
              </a:buClr>
              <a:buSzPct val="83333"/>
              <a:buFont typeface="Wingdings"/>
              <a:buChar char=""/>
              <a:tabLst>
                <a:tab pos="287020" algn="l"/>
              </a:tabLst>
            </a:pPr>
            <a:r>
              <a:rPr sz="1800" b="1" dirty="0">
                <a:latin typeface="Times New Roman"/>
                <a:cs typeface="Times New Roman"/>
              </a:rPr>
              <a:t>R*R*</a:t>
            </a:r>
            <a:r>
              <a:rPr sz="1800" b="1" spc="-60" dirty="0">
                <a:latin typeface="Times New Roman"/>
                <a:cs typeface="Times New Roman"/>
              </a:rPr>
              <a:t> </a:t>
            </a:r>
            <a:r>
              <a:rPr sz="1800" b="1" dirty="0">
                <a:latin typeface="Times New Roman"/>
                <a:cs typeface="Times New Roman"/>
              </a:rPr>
              <a:t>=</a:t>
            </a:r>
            <a:r>
              <a:rPr sz="1800" b="1" spc="-50" dirty="0">
                <a:latin typeface="Times New Roman"/>
                <a:cs typeface="Times New Roman"/>
              </a:rPr>
              <a:t> </a:t>
            </a:r>
            <a:r>
              <a:rPr sz="1800" b="1" dirty="0">
                <a:latin typeface="Times New Roman"/>
                <a:cs typeface="Times New Roman"/>
              </a:rPr>
              <a:t>R*</a:t>
            </a:r>
          </a:p>
          <a:p>
            <a:pPr marL="287020" indent="-274320">
              <a:lnSpc>
                <a:spcPct val="100000"/>
              </a:lnSpc>
              <a:spcBef>
                <a:spcPts val="170"/>
              </a:spcBef>
              <a:buClr>
                <a:srgbClr val="2CA1BE"/>
              </a:buClr>
              <a:buSzPct val="83333"/>
              <a:buFont typeface="Wingdings"/>
              <a:buChar char=""/>
              <a:tabLst>
                <a:tab pos="287020" algn="l"/>
              </a:tabLst>
            </a:pPr>
            <a:r>
              <a:rPr sz="1800" b="1" dirty="0">
                <a:latin typeface="Times New Roman"/>
                <a:cs typeface="Times New Roman"/>
              </a:rPr>
              <a:t>(R*)*</a:t>
            </a:r>
            <a:r>
              <a:rPr sz="1800" b="1" spc="-55" dirty="0">
                <a:latin typeface="Times New Roman"/>
                <a:cs typeface="Times New Roman"/>
              </a:rPr>
              <a:t> </a:t>
            </a:r>
            <a:r>
              <a:rPr sz="1800" b="1" dirty="0">
                <a:latin typeface="Times New Roman"/>
                <a:cs typeface="Times New Roman"/>
              </a:rPr>
              <a:t>=</a:t>
            </a:r>
            <a:r>
              <a:rPr sz="1800" b="1" spc="-55" dirty="0">
                <a:latin typeface="Times New Roman"/>
                <a:cs typeface="Times New Roman"/>
              </a:rPr>
              <a:t> </a:t>
            </a:r>
            <a:r>
              <a:rPr sz="1800" b="1" dirty="0">
                <a:latin typeface="Times New Roman"/>
                <a:cs typeface="Times New Roman"/>
              </a:rPr>
              <a:t>R*</a:t>
            </a:r>
          </a:p>
          <a:p>
            <a:pPr marL="287020" indent="-274320">
              <a:lnSpc>
                <a:spcPct val="100000"/>
              </a:lnSpc>
              <a:spcBef>
                <a:spcPts val="170"/>
              </a:spcBef>
              <a:buClr>
                <a:srgbClr val="2CA1BE"/>
              </a:buClr>
              <a:buSzPct val="83333"/>
              <a:buFont typeface="Wingdings"/>
              <a:buChar char=""/>
              <a:tabLst>
                <a:tab pos="287020" algn="l"/>
              </a:tabLst>
            </a:pPr>
            <a:r>
              <a:rPr sz="1800" b="1" spc="-5" smtClean="0">
                <a:latin typeface="Times New Roman"/>
                <a:cs typeface="Times New Roman"/>
              </a:rPr>
              <a:t>(</a:t>
            </a:r>
            <a:r>
              <a:rPr sz="1800" b="1" spc="-5" dirty="0">
                <a:latin typeface="Times New Roman"/>
                <a:cs typeface="Times New Roman"/>
              </a:rPr>
              <a:t>PQ)*P</a:t>
            </a:r>
            <a:r>
              <a:rPr sz="1800" b="1" spc="-85" dirty="0">
                <a:latin typeface="Times New Roman"/>
                <a:cs typeface="Times New Roman"/>
              </a:rPr>
              <a:t> </a:t>
            </a:r>
            <a:r>
              <a:rPr sz="1800" b="1" spc="-5" dirty="0">
                <a:latin typeface="Times New Roman"/>
                <a:cs typeface="Times New Roman"/>
              </a:rPr>
              <a:t>=P(QP)*</a:t>
            </a:r>
            <a:endParaRPr sz="1800" b="1" dirty="0">
              <a:latin typeface="Times New Roman"/>
              <a:cs typeface="Times New Roman"/>
            </a:endParaRPr>
          </a:p>
          <a:p>
            <a:pPr marL="287020" indent="-274320">
              <a:lnSpc>
                <a:spcPct val="100000"/>
              </a:lnSpc>
              <a:spcBef>
                <a:spcPts val="170"/>
              </a:spcBef>
              <a:buClr>
                <a:srgbClr val="2CA1BE"/>
              </a:buClr>
              <a:buSzPct val="83333"/>
              <a:buFont typeface="Wingdings"/>
              <a:buChar char=""/>
              <a:tabLst>
                <a:tab pos="287020" algn="l"/>
              </a:tabLst>
            </a:pPr>
            <a:r>
              <a:rPr sz="1800" dirty="0">
                <a:latin typeface="Times New Roman"/>
                <a:cs typeface="Times New Roman"/>
              </a:rPr>
              <a:t>(a+b)*</a:t>
            </a:r>
            <a:r>
              <a:rPr sz="1800" spc="-10" dirty="0">
                <a:latin typeface="Times New Roman"/>
                <a:cs typeface="Times New Roman"/>
              </a:rPr>
              <a:t> </a:t>
            </a:r>
            <a:r>
              <a:rPr sz="1800" dirty="0">
                <a:latin typeface="Times New Roman"/>
                <a:cs typeface="Times New Roman"/>
              </a:rPr>
              <a:t>=</a:t>
            </a:r>
            <a:r>
              <a:rPr sz="1800" spc="-30" dirty="0">
                <a:latin typeface="Times New Roman"/>
                <a:cs typeface="Times New Roman"/>
              </a:rPr>
              <a:t> </a:t>
            </a:r>
            <a:r>
              <a:rPr sz="1800" dirty="0">
                <a:latin typeface="Times New Roman"/>
                <a:cs typeface="Times New Roman"/>
              </a:rPr>
              <a:t>(a*b*)*</a:t>
            </a:r>
            <a:r>
              <a:rPr sz="1800" spc="-5" dirty="0">
                <a:latin typeface="Times New Roman"/>
                <a:cs typeface="Times New Roman"/>
              </a:rPr>
              <a:t> </a:t>
            </a:r>
            <a:r>
              <a:rPr sz="1800" dirty="0">
                <a:latin typeface="Times New Roman"/>
                <a:cs typeface="Times New Roman"/>
              </a:rPr>
              <a:t>=</a:t>
            </a:r>
            <a:r>
              <a:rPr sz="1800" spc="-25" dirty="0">
                <a:latin typeface="Times New Roman"/>
                <a:cs typeface="Times New Roman"/>
              </a:rPr>
              <a:t> </a:t>
            </a:r>
            <a:r>
              <a:rPr sz="1800" dirty="0">
                <a:latin typeface="Times New Roman"/>
                <a:cs typeface="Times New Roman"/>
              </a:rPr>
              <a:t>(a*+b*)*</a:t>
            </a:r>
            <a:r>
              <a:rPr sz="1800" spc="-15"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(a+b*)*</a:t>
            </a:r>
            <a:r>
              <a:rPr sz="1800" spc="-30" dirty="0">
                <a:latin typeface="Times New Roman"/>
                <a:cs typeface="Times New Roman"/>
              </a:rPr>
              <a:t> </a:t>
            </a:r>
            <a:r>
              <a:rPr sz="1800" dirty="0">
                <a:latin typeface="Times New Roman"/>
                <a:cs typeface="Times New Roman"/>
              </a:rPr>
              <a:t>=</a:t>
            </a:r>
            <a:r>
              <a:rPr sz="1800" spc="-10" dirty="0">
                <a:latin typeface="Times New Roman"/>
                <a:cs typeface="Times New Roman"/>
              </a:rPr>
              <a:t> </a:t>
            </a:r>
            <a:r>
              <a:rPr sz="1800" dirty="0">
                <a:latin typeface="Times New Roman"/>
                <a:cs typeface="Times New Roman"/>
              </a:rPr>
              <a:t>a*(ba*)*</a:t>
            </a:r>
          </a:p>
          <a:p>
            <a:pPr marL="287020" indent="-274320">
              <a:lnSpc>
                <a:spcPct val="100000"/>
              </a:lnSpc>
              <a:spcBef>
                <a:spcPts val="170"/>
              </a:spcBef>
              <a:buClr>
                <a:srgbClr val="2CA1BE"/>
              </a:buClr>
              <a:buSzPct val="83333"/>
              <a:buFont typeface="Wingdings"/>
              <a:buChar char=""/>
              <a:tabLst>
                <a:tab pos="287020" algn="l"/>
              </a:tabLst>
            </a:pPr>
            <a:r>
              <a:rPr sz="1800" b="1" dirty="0">
                <a:latin typeface="Times New Roman"/>
                <a:cs typeface="Times New Roman"/>
              </a:rPr>
              <a:t>R</a:t>
            </a:r>
            <a:r>
              <a:rPr sz="1800" b="1" spc="-20" dirty="0">
                <a:latin typeface="Times New Roman"/>
                <a:cs typeface="Times New Roman"/>
              </a:rPr>
              <a:t> </a:t>
            </a:r>
            <a:r>
              <a:rPr sz="1800" b="1" dirty="0">
                <a:latin typeface="Times New Roman"/>
                <a:cs typeface="Times New Roman"/>
              </a:rPr>
              <a:t>+</a:t>
            </a:r>
            <a:r>
              <a:rPr sz="1800" b="1" spc="-5" dirty="0">
                <a:latin typeface="Times New Roman"/>
                <a:cs typeface="Times New Roman"/>
              </a:rPr>
              <a:t> </a:t>
            </a:r>
            <a:r>
              <a:rPr sz="1800" b="1" dirty="0">
                <a:latin typeface="Cambria Math"/>
                <a:cs typeface="Cambria Math"/>
              </a:rPr>
              <a:t>∅</a:t>
            </a:r>
            <a:r>
              <a:rPr sz="1800" b="1" spc="45" dirty="0">
                <a:latin typeface="Cambria Math"/>
                <a:cs typeface="Cambria Math"/>
              </a:rPr>
              <a:t> </a:t>
            </a:r>
            <a:r>
              <a:rPr sz="1800" b="1" dirty="0">
                <a:latin typeface="Times New Roman"/>
                <a:cs typeface="Times New Roman"/>
              </a:rPr>
              <a:t>=</a:t>
            </a:r>
            <a:r>
              <a:rPr sz="1800" b="1" spc="-20" dirty="0">
                <a:latin typeface="Times New Roman"/>
                <a:cs typeface="Times New Roman"/>
              </a:rPr>
              <a:t> </a:t>
            </a:r>
            <a:r>
              <a:rPr sz="1800" b="1" dirty="0">
                <a:latin typeface="Cambria Math"/>
                <a:cs typeface="Cambria Math"/>
              </a:rPr>
              <a:t>∅</a:t>
            </a:r>
            <a:r>
              <a:rPr sz="1800" b="1" spc="50" dirty="0">
                <a:latin typeface="Cambria Math"/>
                <a:cs typeface="Cambria Math"/>
              </a:rPr>
              <a:t> </a:t>
            </a:r>
            <a:r>
              <a:rPr sz="1800" b="1" dirty="0">
                <a:latin typeface="Times New Roman"/>
                <a:cs typeface="Times New Roman"/>
              </a:rPr>
              <a:t>+</a:t>
            </a:r>
            <a:r>
              <a:rPr sz="1800" b="1" spc="-10" dirty="0">
                <a:latin typeface="Times New Roman"/>
                <a:cs typeface="Times New Roman"/>
              </a:rPr>
              <a:t> </a:t>
            </a:r>
            <a:r>
              <a:rPr sz="1800" b="1" dirty="0">
                <a:latin typeface="Times New Roman"/>
                <a:cs typeface="Times New Roman"/>
              </a:rPr>
              <a:t>R</a:t>
            </a:r>
            <a:r>
              <a:rPr sz="1800" b="1" spc="-15" dirty="0">
                <a:latin typeface="Times New Roman"/>
                <a:cs typeface="Times New Roman"/>
              </a:rPr>
              <a:t> </a:t>
            </a:r>
            <a:r>
              <a:rPr sz="1800" b="1" dirty="0">
                <a:latin typeface="Times New Roman"/>
                <a:cs typeface="Times New Roman"/>
              </a:rPr>
              <a:t>=</a:t>
            </a:r>
            <a:r>
              <a:rPr sz="1800" b="1" spc="-5" dirty="0">
                <a:latin typeface="Times New Roman"/>
                <a:cs typeface="Times New Roman"/>
              </a:rPr>
              <a:t> </a:t>
            </a:r>
            <a:r>
              <a:rPr sz="1800" b="1" dirty="0">
                <a:latin typeface="Times New Roman"/>
                <a:cs typeface="Times New Roman"/>
              </a:rPr>
              <a:t>R</a:t>
            </a:r>
            <a:r>
              <a:rPr sz="1800" b="1" spc="-10" dirty="0">
                <a:latin typeface="Times New Roman"/>
                <a:cs typeface="Times New Roman"/>
              </a:rPr>
              <a:t> </a:t>
            </a:r>
            <a:r>
              <a:rPr sz="1800" dirty="0">
                <a:latin typeface="Times New Roman"/>
                <a:cs typeface="Times New Roman"/>
              </a:rPr>
              <a:t>(The</a:t>
            </a:r>
            <a:r>
              <a:rPr sz="1800" spc="-20" dirty="0">
                <a:latin typeface="Times New Roman"/>
                <a:cs typeface="Times New Roman"/>
              </a:rPr>
              <a:t> </a:t>
            </a:r>
            <a:r>
              <a:rPr sz="1800" dirty="0">
                <a:latin typeface="Times New Roman"/>
                <a:cs typeface="Times New Roman"/>
              </a:rPr>
              <a:t>identity</a:t>
            </a:r>
            <a:r>
              <a:rPr sz="1800" spc="-25" dirty="0">
                <a:latin typeface="Times New Roman"/>
                <a:cs typeface="Times New Roman"/>
              </a:rPr>
              <a:t> </a:t>
            </a:r>
            <a:r>
              <a:rPr sz="1800" dirty="0">
                <a:latin typeface="Times New Roman"/>
                <a:cs typeface="Times New Roman"/>
              </a:rPr>
              <a:t>for</a:t>
            </a:r>
            <a:r>
              <a:rPr sz="1800" spc="-5" dirty="0">
                <a:latin typeface="Times New Roman"/>
                <a:cs typeface="Times New Roman"/>
              </a:rPr>
              <a:t> </a:t>
            </a:r>
            <a:r>
              <a:rPr sz="1800" dirty="0">
                <a:latin typeface="Times New Roman"/>
                <a:cs typeface="Times New Roman"/>
              </a:rPr>
              <a:t>union)</a:t>
            </a:r>
          </a:p>
          <a:p>
            <a:pPr marL="287020" indent="-274320">
              <a:lnSpc>
                <a:spcPct val="100000"/>
              </a:lnSpc>
              <a:spcBef>
                <a:spcPts val="165"/>
              </a:spcBef>
              <a:buClr>
                <a:srgbClr val="2CA1BE"/>
              </a:buClr>
              <a:buSzPct val="83333"/>
              <a:buFont typeface="Wingdings"/>
              <a:buChar char=""/>
              <a:tabLst>
                <a:tab pos="287020" algn="l"/>
              </a:tabLst>
            </a:pPr>
            <a:r>
              <a:rPr sz="1800" b="1" dirty="0">
                <a:latin typeface="Times New Roman"/>
                <a:cs typeface="Times New Roman"/>
              </a:rPr>
              <a:t>R</a:t>
            </a:r>
            <a:r>
              <a:rPr sz="1800" b="1" spc="-15" dirty="0">
                <a:latin typeface="Times New Roman"/>
                <a:cs typeface="Times New Roman"/>
              </a:rPr>
              <a:t> </a:t>
            </a:r>
            <a:r>
              <a:rPr sz="1800" b="1" dirty="0">
                <a:latin typeface="Times New Roman"/>
                <a:cs typeface="Times New Roman"/>
              </a:rPr>
              <a:t>ε</a:t>
            </a:r>
            <a:r>
              <a:rPr sz="1800" b="1" spc="-15" dirty="0">
                <a:latin typeface="Times New Roman"/>
                <a:cs typeface="Times New Roman"/>
              </a:rPr>
              <a:t> </a:t>
            </a:r>
            <a:r>
              <a:rPr sz="1800" b="1" dirty="0">
                <a:latin typeface="Times New Roman"/>
                <a:cs typeface="Times New Roman"/>
              </a:rPr>
              <a:t>=</a:t>
            </a:r>
            <a:r>
              <a:rPr sz="1800" b="1" spc="-5" dirty="0">
                <a:latin typeface="Times New Roman"/>
                <a:cs typeface="Times New Roman"/>
              </a:rPr>
              <a:t> </a:t>
            </a:r>
            <a:r>
              <a:rPr sz="1800" b="1" dirty="0">
                <a:latin typeface="Times New Roman"/>
                <a:cs typeface="Times New Roman"/>
              </a:rPr>
              <a:t>ε</a:t>
            </a:r>
            <a:r>
              <a:rPr sz="1800" b="1" spc="-20" dirty="0">
                <a:latin typeface="Times New Roman"/>
                <a:cs typeface="Times New Roman"/>
              </a:rPr>
              <a:t> </a:t>
            </a:r>
            <a:r>
              <a:rPr sz="1800" b="1" dirty="0">
                <a:latin typeface="Times New Roman"/>
                <a:cs typeface="Times New Roman"/>
              </a:rPr>
              <a:t>R</a:t>
            </a:r>
            <a:r>
              <a:rPr sz="1800" b="1" spc="-5" dirty="0">
                <a:latin typeface="Times New Roman"/>
                <a:cs typeface="Times New Roman"/>
              </a:rPr>
              <a:t> </a:t>
            </a:r>
            <a:r>
              <a:rPr sz="1800" b="1" dirty="0">
                <a:latin typeface="Times New Roman"/>
                <a:cs typeface="Times New Roman"/>
              </a:rPr>
              <a:t>=</a:t>
            </a:r>
            <a:r>
              <a:rPr sz="1800" b="1" spc="-5" dirty="0">
                <a:latin typeface="Times New Roman"/>
                <a:cs typeface="Times New Roman"/>
              </a:rPr>
              <a:t> </a:t>
            </a:r>
            <a:r>
              <a:rPr sz="1800" b="1" dirty="0">
                <a:latin typeface="Times New Roman"/>
                <a:cs typeface="Times New Roman"/>
              </a:rPr>
              <a:t>R</a:t>
            </a:r>
            <a:r>
              <a:rPr sz="1800" b="1" spc="-20" dirty="0">
                <a:latin typeface="Times New Roman"/>
                <a:cs typeface="Times New Roman"/>
              </a:rPr>
              <a:t> </a:t>
            </a:r>
            <a:r>
              <a:rPr sz="1800" dirty="0">
                <a:latin typeface="Times New Roman"/>
                <a:cs typeface="Times New Roman"/>
              </a:rPr>
              <a:t>(The</a:t>
            </a:r>
            <a:r>
              <a:rPr sz="1800" spc="-5" dirty="0">
                <a:latin typeface="Times New Roman"/>
                <a:cs typeface="Times New Roman"/>
              </a:rPr>
              <a:t> </a:t>
            </a:r>
            <a:r>
              <a:rPr sz="1800" dirty="0">
                <a:latin typeface="Times New Roman"/>
                <a:cs typeface="Times New Roman"/>
              </a:rPr>
              <a:t>identity</a:t>
            </a:r>
            <a:r>
              <a:rPr sz="1800" spc="-25" dirty="0">
                <a:latin typeface="Times New Roman"/>
                <a:cs typeface="Times New Roman"/>
              </a:rPr>
              <a:t> </a:t>
            </a:r>
            <a:r>
              <a:rPr sz="1800" dirty="0">
                <a:latin typeface="Times New Roman"/>
                <a:cs typeface="Times New Roman"/>
              </a:rPr>
              <a:t>for</a:t>
            </a:r>
            <a:r>
              <a:rPr sz="1800" spc="-10" dirty="0">
                <a:latin typeface="Times New Roman"/>
                <a:cs typeface="Times New Roman"/>
              </a:rPr>
              <a:t> </a:t>
            </a:r>
            <a:r>
              <a:rPr sz="1800" dirty="0">
                <a:latin typeface="Times New Roman"/>
                <a:cs typeface="Times New Roman"/>
              </a:rPr>
              <a:t>concatenation)</a:t>
            </a:r>
          </a:p>
          <a:p>
            <a:pPr marL="287020" indent="-274320">
              <a:lnSpc>
                <a:spcPct val="100000"/>
              </a:lnSpc>
              <a:spcBef>
                <a:spcPts val="170"/>
              </a:spcBef>
              <a:buClr>
                <a:srgbClr val="2CA1BE"/>
              </a:buClr>
              <a:buSzPct val="83333"/>
              <a:buFont typeface="Wingdings"/>
              <a:buChar char=""/>
              <a:tabLst>
                <a:tab pos="287020" algn="l"/>
              </a:tabLst>
            </a:pPr>
            <a:r>
              <a:rPr sz="1800" b="1">
                <a:latin typeface="Cambria Math"/>
                <a:cs typeface="Cambria Math"/>
              </a:rPr>
              <a:t>∅</a:t>
            </a:r>
            <a:r>
              <a:rPr sz="1800" b="1" spc="35">
                <a:latin typeface="Cambria Math"/>
                <a:cs typeface="Cambria Math"/>
              </a:rPr>
              <a:t> </a:t>
            </a:r>
            <a:r>
              <a:rPr lang="en-US" b="1" spc="35" dirty="0" smtClean="0">
                <a:latin typeface="Times New Roman"/>
                <a:cs typeface="Times New Roman"/>
              </a:rPr>
              <a:t>R</a:t>
            </a:r>
            <a:r>
              <a:rPr sz="1800" b="1" spc="-70" smtClean="0">
                <a:latin typeface="Times New Roman"/>
                <a:cs typeface="Times New Roman"/>
              </a:rPr>
              <a:t> </a:t>
            </a:r>
            <a:r>
              <a:rPr sz="1800" b="1">
                <a:latin typeface="Times New Roman"/>
                <a:cs typeface="Times New Roman"/>
              </a:rPr>
              <a:t>=</a:t>
            </a:r>
            <a:r>
              <a:rPr sz="1800" b="1" spc="-5">
                <a:latin typeface="Times New Roman"/>
                <a:cs typeface="Times New Roman"/>
              </a:rPr>
              <a:t> </a:t>
            </a:r>
            <a:r>
              <a:rPr lang="en-US" b="1" spc="-80" dirty="0" smtClean="0">
                <a:latin typeface="Times New Roman"/>
                <a:cs typeface="Times New Roman"/>
              </a:rPr>
              <a:t>R</a:t>
            </a:r>
            <a:r>
              <a:rPr sz="1800" b="1" smtClean="0">
                <a:latin typeface="Cambria Math"/>
                <a:cs typeface="Cambria Math"/>
              </a:rPr>
              <a:t>∅</a:t>
            </a:r>
            <a:r>
              <a:rPr sz="1800" b="1" spc="50" smtClean="0">
                <a:latin typeface="Cambria Math"/>
                <a:cs typeface="Cambria Math"/>
              </a:rPr>
              <a:t> </a:t>
            </a:r>
            <a:r>
              <a:rPr sz="1800" b="1" dirty="0">
                <a:latin typeface="Times New Roman"/>
                <a:cs typeface="Times New Roman"/>
              </a:rPr>
              <a:t>=</a:t>
            </a:r>
            <a:r>
              <a:rPr sz="1800" b="1" spc="-20" dirty="0">
                <a:latin typeface="Times New Roman"/>
                <a:cs typeface="Times New Roman"/>
              </a:rPr>
              <a:t> </a:t>
            </a:r>
            <a:r>
              <a:rPr sz="1800" b="1" dirty="0">
                <a:latin typeface="Cambria Math"/>
                <a:cs typeface="Cambria Math"/>
              </a:rPr>
              <a:t>∅</a:t>
            </a:r>
            <a:r>
              <a:rPr sz="1800" b="1" spc="50" dirty="0">
                <a:latin typeface="Cambria Math"/>
                <a:cs typeface="Cambria Math"/>
              </a:rPr>
              <a:t> </a:t>
            </a:r>
            <a:r>
              <a:rPr sz="1800" dirty="0">
                <a:latin typeface="Times New Roman"/>
                <a:cs typeface="Times New Roman"/>
              </a:rPr>
              <a:t>(The</a:t>
            </a:r>
            <a:r>
              <a:rPr sz="1800" spc="-10" dirty="0">
                <a:latin typeface="Times New Roman"/>
                <a:cs typeface="Times New Roman"/>
              </a:rPr>
              <a:t> </a:t>
            </a:r>
            <a:r>
              <a:rPr sz="1800" dirty="0">
                <a:latin typeface="Times New Roman"/>
                <a:cs typeface="Times New Roman"/>
              </a:rPr>
              <a:t>annihilator</a:t>
            </a:r>
            <a:r>
              <a:rPr sz="1800" spc="-35" dirty="0">
                <a:latin typeface="Times New Roman"/>
                <a:cs typeface="Times New Roman"/>
              </a:rPr>
              <a:t> </a:t>
            </a:r>
            <a:r>
              <a:rPr sz="1800" dirty="0">
                <a:latin typeface="Times New Roman"/>
                <a:cs typeface="Times New Roman"/>
              </a:rPr>
              <a:t>for concatenation)</a:t>
            </a:r>
          </a:p>
          <a:p>
            <a:pPr marL="287020" indent="-274320">
              <a:lnSpc>
                <a:spcPct val="100000"/>
              </a:lnSpc>
              <a:spcBef>
                <a:spcPts val="165"/>
              </a:spcBef>
              <a:buClr>
                <a:srgbClr val="2CA1BE"/>
              </a:buClr>
              <a:buSzPct val="83333"/>
              <a:buFont typeface="Wingdings"/>
              <a:buChar char=""/>
              <a:tabLst>
                <a:tab pos="287020" algn="l"/>
              </a:tabLst>
            </a:pPr>
            <a:r>
              <a:rPr sz="1800" b="1" dirty="0">
                <a:latin typeface="Times New Roman"/>
                <a:cs typeface="Times New Roman"/>
              </a:rPr>
              <a:t>R</a:t>
            </a:r>
            <a:r>
              <a:rPr sz="1800" b="1" spc="-15" dirty="0">
                <a:latin typeface="Times New Roman"/>
                <a:cs typeface="Times New Roman"/>
              </a:rPr>
              <a:t> </a:t>
            </a:r>
            <a:r>
              <a:rPr sz="1800" b="1" dirty="0">
                <a:latin typeface="Times New Roman"/>
                <a:cs typeface="Times New Roman"/>
              </a:rPr>
              <a:t>+</a:t>
            </a:r>
            <a:r>
              <a:rPr sz="1800" b="1" spc="-5" dirty="0">
                <a:latin typeface="Times New Roman"/>
                <a:cs typeface="Times New Roman"/>
              </a:rPr>
              <a:t> </a:t>
            </a:r>
            <a:r>
              <a:rPr sz="1800" b="1" dirty="0">
                <a:latin typeface="Times New Roman"/>
                <a:cs typeface="Times New Roman"/>
              </a:rPr>
              <a:t>R</a:t>
            </a:r>
            <a:r>
              <a:rPr sz="1800" b="1" spc="-5" dirty="0">
                <a:latin typeface="Times New Roman"/>
                <a:cs typeface="Times New Roman"/>
              </a:rPr>
              <a:t> </a:t>
            </a:r>
            <a:r>
              <a:rPr sz="1800" b="1" dirty="0">
                <a:latin typeface="Times New Roman"/>
                <a:cs typeface="Times New Roman"/>
              </a:rPr>
              <a:t>=</a:t>
            </a:r>
            <a:r>
              <a:rPr sz="1800" b="1" spc="-5" dirty="0">
                <a:latin typeface="Times New Roman"/>
                <a:cs typeface="Times New Roman"/>
              </a:rPr>
              <a:t> </a:t>
            </a:r>
            <a:r>
              <a:rPr sz="1800" b="1" dirty="0">
                <a:latin typeface="Times New Roman"/>
                <a:cs typeface="Times New Roman"/>
              </a:rPr>
              <a:t>R</a:t>
            </a:r>
            <a:r>
              <a:rPr sz="1800" b="1" spc="-10" dirty="0">
                <a:latin typeface="Times New Roman"/>
                <a:cs typeface="Times New Roman"/>
              </a:rPr>
              <a:t> </a:t>
            </a:r>
            <a:r>
              <a:rPr sz="1800" spc="-5" dirty="0">
                <a:latin typeface="Times New Roman"/>
                <a:cs typeface="Times New Roman"/>
              </a:rPr>
              <a:t>(Idempotent</a:t>
            </a:r>
            <a:r>
              <a:rPr sz="1800" dirty="0">
                <a:latin typeface="Times New Roman"/>
                <a:cs typeface="Times New Roman"/>
              </a:rPr>
              <a:t> </a:t>
            </a:r>
            <a:r>
              <a:rPr sz="1800" spc="-5" dirty="0">
                <a:latin typeface="Times New Roman"/>
                <a:cs typeface="Times New Roman"/>
              </a:rPr>
              <a:t>law)</a:t>
            </a:r>
            <a:endParaRPr sz="1800" dirty="0">
              <a:latin typeface="Times New Roman"/>
              <a:cs typeface="Times New Roman"/>
            </a:endParaRPr>
          </a:p>
          <a:p>
            <a:pPr marL="287020" indent="-274320">
              <a:lnSpc>
                <a:spcPct val="100000"/>
              </a:lnSpc>
              <a:spcBef>
                <a:spcPts val="170"/>
              </a:spcBef>
              <a:buClr>
                <a:srgbClr val="2CA1BE"/>
              </a:buClr>
              <a:buSzPct val="83333"/>
              <a:buFont typeface="Wingdings"/>
              <a:buChar char=""/>
              <a:tabLst>
                <a:tab pos="287020" algn="l"/>
              </a:tabLst>
            </a:pPr>
            <a:r>
              <a:rPr sz="1800" dirty="0">
                <a:latin typeface="Times New Roman"/>
                <a:cs typeface="Times New Roman"/>
              </a:rPr>
              <a:t>L</a:t>
            </a:r>
            <a:r>
              <a:rPr sz="1800" spc="-70" dirty="0">
                <a:latin typeface="Times New Roman"/>
                <a:cs typeface="Times New Roman"/>
              </a:rPr>
              <a:t> </a:t>
            </a:r>
            <a:r>
              <a:rPr sz="1800" spc="-5" dirty="0">
                <a:latin typeface="Times New Roman"/>
                <a:cs typeface="Times New Roman"/>
              </a:rPr>
              <a:t>(M</a:t>
            </a:r>
            <a:r>
              <a:rPr sz="1800" spc="-15" dirty="0">
                <a:latin typeface="Times New Roman"/>
                <a:cs typeface="Times New Roman"/>
              </a:rPr>
              <a:t> </a:t>
            </a:r>
            <a:r>
              <a:rPr sz="1800" dirty="0">
                <a:latin typeface="Times New Roman"/>
                <a:cs typeface="Times New Roman"/>
              </a:rPr>
              <a:t>+ </a:t>
            </a:r>
            <a:r>
              <a:rPr sz="1800" spc="-5" dirty="0">
                <a:latin typeface="Times New Roman"/>
                <a:cs typeface="Times New Roman"/>
              </a:rPr>
              <a:t>N) </a:t>
            </a:r>
            <a:r>
              <a:rPr sz="1800" dirty="0">
                <a:latin typeface="Times New Roman"/>
                <a:cs typeface="Times New Roman"/>
              </a:rPr>
              <a:t>=</a:t>
            </a:r>
            <a:r>
              <a:rPr sz="1800" spc="-5" dirty="0">
                <a:latin typeface="Times New Roman"/>
                <a:cs typeface="Times New Roman"/>
              </a:rPr>
              <a:t> LM</a:t>
            </a:r>
            <a:r>
              <a:rPr sz="1800" spc="5"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spc="-5" dirty="0">
                <a:latin typeface="Times New Roman"/>
                <a:cs typeface="Times New Roman"/>
              </a:rPr>
              <a:t>LN</a:t>
            </a:r>
            <a:r>
              <a:rPr sz="1800" dirty="0">
                <a:latin typeface="Times New Roman"/>
                <a:cs typeface="Times New Roman"/>
              </a:rPr>
              <a:t> (Left</a:t>
            </a:r>
            <a:r>
              <a:rPr sz="1800" spc="-15" dirty="0">
                <a:latin typeface="Times New Roman"/>
                <a:cs typeface="Times New Roman"/>
              </a:rPr>
              <a:t> </a:t>
            </a:r>
            <a:r>
              <a:rPr sz="1800" dirty="0">
                <a:latin typeface="Times New Roman"/>
                <a:cs typeface="Times New Roman"/>
              </a:rPr>
              <a:t>distributive</a:t>
            </a:r>
            <a:r>
              <a:rPr sz="1800" spc="-20" dirty="0">
                <a:latin typeface="Times New Roman"/>
                <a:cs typeface="Times New Roman"/>
              </a:rPr>
              <a:t> </a:t>
            </a:r>
            <a:r>
              <a:rPr sz="1800" dirty="0">
                <a:latin typeface="Times New Roman"/>
                <a:cs typeface="Times New Roman"/>
              </a:rPr>
              <a:t>law)</a:t>
            </a:r>
          </a:p>
          <a:p>
            <a:pPr marL="287020" indent="-274320">
              <a:lnSpc>
                <a:spcPct val="100000"/>
              </a:lnSpc>
              <a:spcBef>
                <a:spcPts val="170"/>
              </a:spcBef>
              <a:buClr>
                <a:srgbClr val="2CA1BE"/>
              </a:buClr>
              <a:buSzPct val="83333"/>
              <a:buFont typeface="Wingdings"/>
              <a:buChar char=""/>
              <a:tabLst>
                <a:tab pos="287020" algn="l"/>
              </a:tabLst>
            </a:pPr>
            <a:r>
              <a:rPr sz="1800" dirty="0">
                <a:latin typeface="Times New Roman"/>
                <a:cs typeface="Times New Roman"/>
              </a:rPr>
              <a:t>(M</a:t>
            </a:r>
            <a:r>
              <a:rPr sz="1800" spc="-5" dirty="0">
                <a:latin typeface="Times New Roman"/>
                <a:cs typeface="Times New Roman"/>
              </a:rPr>
              <a:t> </a:t>
            </a:r>
            <a:r>
              <a:rPr sz="1800" dirty="0">
                <a:latin typeface="Times New Roman"/>
                <a:cs typeface="Times New Roman"/>
              </a:rPr>
              <a:t>+</a:t>
            </a:r>
            <a:r>
              <a:rPr sz="1800" spc="-5" dirty="0">
                <a:latin typeface="Times New Roman"/>
                <a:cs typeface="Times New Roman"/>
              </a:rPr>
              <a:t> N) </a:t>
            </a:r>
            <a:r>
              <a:rPr sz="1800" dirty="0">
                <a:latin typeface="Times New Roman"/>
                <a:cs typeface="Times New Roman"/>
              </a:rPr>
              <a:t>L</a:t>
            </a:r>
            <a:r>
              <a:rPr sz="1800" spc="-75" dirty="0">
                <a:latin typeface="Times New Roman"/>
                <a:cs typeface="Times New Roman"/>
              </a:rPr>
              <a:t> </a:t>
            </a:r>
            <a:r>
              <a:rPr sz="1800" dirty="0">
                <a:latin typeface="Times New Roman"/>
                <a:cs typeface="Times New Roman"/>
              </a:rPr>
              <a:t>=</a:t>
            </a:r>
            <a:r>
              <a:rPr sz="1800" spc="-5" dirty="0">
                <a:latin typeface="Times New Roman"/>
                <a:cs typeface="Times New Roman"/>
              </a:rPr>
              <a:t> </a:t>
            </a:r>
            <a:r>
              <a:rPr sz="1800" dirty="0">
                <a:latin typeface="Times New Roman"/>
                <a:cs typeface="Times New Roman"/>
              </a:rPr>
              <a:t>LM</a:t>
            </a:r>
            <a:r>
              <a:rPr sz="1800" spc="-5"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dirty="0">
                <a:latin typeface="Times New Roman"/>
                <a:cs typeface="Times New Roman"/>
              </a:rPr>
              <a:t>LN</a:t>
            </a:r>
            <a:r>
              <a:rPr sz="1800" spc="-5" dirty="0">
                <a:latin typeface="Times New Roman"/>
                <a:cs typeface="Times New Roman"/>
              </a:rPr>
              <a:t> </a:t>
            </a:r>
            <a:r>
              <a:rPr sz="1800" dirty="0">
                <a:latin typeface="Times New Roman"/>
                <a:cs typeface="Times New Roman"/>
              </a:rPr>
              <a:t>(Right distributive</a:t>
            </a:r>
            <a:r>
              <a:rPr sz="1800" spc="-20" dirty="0">
                <a:latin typeface="Times New Roman"/>
                <a:cs typeface="Times New Roman"/>
              </a:rPr>
              <a:t> </a:t>
            </a:r>
            <a:r>
              <a:rPr sz="1800" dirty="0">
                <a:latin typeface="Times New Roman"/>
                <a:cs typeface="Times New Roman"/>
              </a:rPr>
              <a:t>law)</a:t>
            </a:r>
          </a:p>
          <a:p>
            <a:pPr marL="287020" indent="-274320">
              <a:lnSpc>
                <a:spcPct val="100000"/>
              </a:lnSpc>
              <a:spcBef>
                <a:spcPts val="170"/>
              </a:spcBef>
              <a:buClr>
                <a:srgbClr val="2CA1BE"/>
              </a:buClr>
              <a:buSzPct val="83333"/>
              <a:buFont typeface="Wingdings"/>
              <a:buChar char=""/>
              <a:tabLst>
                <a:tab pos="287020" algn="l"/>
              </a:tabLst>
            </a:pPr>
            <a:r>
              <a:rPr sz="1800" b="1" dirty="0">
                <a:latin typeface="Times New Roman"/>
                <a:cs typeface="Times New Roman"/>
              </a:rPr>
              <a:t>ε</a:t>
            </a:r>
            <a:r>
              <a:rPr sz="1800" b="1" spc="-25" dirty="0">
                <a:latin typeface="Times New Roman"/>
                <a:cs typeface="Times New Roman"/>
              </a:rPr>
              <a:t> </a:t>
            </a:r>
            <a:r>
              <a:rPr sz="1800" b="1" dirty="0">
                <a:latin typeface="Times New Roman"/>
                <a:cs typeface="Times New Roman"/>
              </a:rPr>
              <a:t>+</a:t>
            </a:r>
            <a:r>
              <a:rPr sz="1800" b="1" spc="-10" dirty="0">
                <a:latin typeface="Times New Roman"/>
                <a:cs typeface="Times New Roman"/>
              </a:rPr>
              <a:t> </a:t>
            </a:r>
            <a:r>
              <a:rPr sz="1800" b="1" dirty="0">
                <a:latin typeface="Times New Roman"/>
                <a:cs typeface="Times New Roman"/>
              </a:rPr>
              <a:t>RR*</a:t>
            </a:r>
            <a:r>
              <a:rPr sz="1800" b="1" spc="-20" dirty="0">
                <a:latin typeface="Times New Roman"/>
                <a:cs typeface="Times New Roman"/>
              </a:rPr>
              <a:t> </a:t>
            </a:r>
            <a:r>
              <a:rPr sz="1800" b="1" dirty="0">
                <a:latin typeface="Times New Roman"/>
                <a:cs typeface="Times New Roman"/>
              </a:rPr>
              <a:t>=</a:t>
            </a:r>
            <a:r>
              <a:rPr sz="1800" b="1" spc="-15" dirty="0">
                <a:latin typeface="Times New Roman"/>
                <a:cs typeface="Times New Roman"/>
              </a:rPr>
              <a:t> </a:t>
            </a:r>
            <a:r>
              <a:rPr sz="1800" b="1" dirty="0">
                <a:latin typeface="Times New Roman"/>
                <a:cs typeface="Times New Roman"/>
              </a:rPr>
              <a:t>ε</a:t>
            </a:r>
            <a:r>
              <a:rPr sz="1800" b="1" spc="-20" dirty="0">
                <a:latin typeface="Times New Roman"/>
                <a:cs typeface="Times New Roman"/>
              </a:rPr>
              <a:t> </a:t>
            </a:r>
            <a:r>
              <a:rPr sz="1800" b="1" dirty="0">
                <a:latin typeface="Times New Roman"/>
                <a:cs typeface="Times New Roman"/>
              </a:rPr>
              <a:t>+</a:t>
            </a:r>
            <a:r>
              <a:rPr sz="1800" b="1" spc="-15" dirty="0">
                <a:latin typeface="Times New Roman"/>
                <a:cs typeface="Times New Roman"/>
              </a:rPr>
              <a:t> </a:t>
            </a:r>
            <a:r>
              <a:rPr sz="1800" b="1" dirty="0">
                <a:latin typeface="Times New Roman"/>
                <a:cs typeface="Times New Roman"/>
              </a:rPr>
              <a:t>R*R</a:t>
            </a:r>
            <a:r>
              <a:rPr sz="1800" b="1" spc="-10" dirty="0">
                <a:latin typeface="Times New Roman"/>
                <a:cs typeface="Times New Roman"/>
              </a:rPr>
              <a:t> </a:t>
            </a:r>
            <a:r>
              <a:rPr sz="1800" b="1" dirty="0">
                <a:latin typeface="Times New Roman"/>
                <a:cs typeface="Times New Roman"/>
              </a:rPr>
              <a:t>=</a:t>
            </a:r>
            <a:r>
              <a:rPr sz="1800" b="1" spc="-15" dirty="0">
                <a:latin typeface="Times New Roman"/>
                <a:cs typeface="Times New Roman"/>
              </a:rPr>
              <a:t> </a:t>
            </a:r>
            <a:r>
              <a:rPr sz="1800" b="1" dirty="0">
                <a:latin typeface="Times New Roman"/>
                <a:cs typeface="Times New Roman"/>
              </a:rPr>
              <a:t>R</a:t>
            </a:r>
            <a:r>
              <a:rPr sz="1800" dirty="0">
                <a:latin typeface="Times New Roman"/>
                <a:cs typeface="Times New Roman"/>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Raju\Desktop\WhatsApp Image 2025-03-01 at 14.08.43.jpeg"/>
          <p:cNvPicPr>
            <a:picLocks noChangeAspect="1" noChangeArrowheads="1"/>
          </p:cNvPicPr>
          <p:nvPr/>
        </p:nvPicPr>
        <p:blipFill>
          <a:blip r:embed="rId2"/>
          <a:srcRect/>
          <a:stretch>
            <a:fillRect/>
          </a:stretch>
        </p:blipFill>
        <p:spPr bwMode="auto">
          <a:xfrm>
            <a:off x="76200" y="152400"/>
            <a:ext cx="3810000" cy="6477000"/>
          </a:xfrm>
          <a:prstGeom prst="rect">
            <a:avLst/>
          </a:prstGeom>
          <a:noFill/>
        </p:spPr>
      </p:pic>
      <p:pic>
        <p:nvPicPr>
          <p:cNvPr id="6" name="Picture 3" descr="C:\Users\Raju\Desktop\Capture.PNG"/>
          <p:cNvPicPr>
            <a:picLocks noChangeAspect="1" noChangeArrowheads="1"/>
          </p:cNvPicPr>
          <p:nvPr/>
        </p:nvPicPr>
        <p:blipFill>
          <a:blip r:embed="rId3"/>
          <a:srcRect/>
          <a:stretch>
            <a:fillRect/>
          </a:stretch>
        </p:blipFill>
        <p:spPr bwMode="auto">
          <a:xfrm>
            <a:off x="3962400" y="304800"/>
            <a:ext cx="5029200" cy="62484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altLang="zh-TW" sz="3000" dirty="0" smtClean="0">
                <a:latin typeface="Times New Roman" pitchFamily="18" charset="0"/>
                <a:ea typeface="Arial Unicode MS" pitchFamily="34" charset="-120"/>
                <a:cs typeface="Times New Roman" pitchFamily="18" charset="0"/>
              </a:rPr>
              <a:t>Construction FA for given RE Using Subset Method</a:t>
            </a:r>
            <a:endParaRPr lang="en-IN" sz="3000" dirty="0"/>
          </a:p>
        </p:txBody>
      </p:sp>
      <p:sp>
        <p:nvSpPr>
          <p:cNvPr id="3" name="Content Placeholder 2"/>
          <p:cNvSpPr>
            <a:spLocks noGrp="1"/>
          </p:cNvSpPr>
          <p:nvPr>
            <p:ph idx="1"/>
          </p:nvPr>
        </p:nvSpPr>
        <p:spPr>
          <a:xfrm>
            <a:off x="457200" y="1066800"/>
            <a:ext cx="8229600" cy="5059363"/>
          </a:xfrm>
        </p:spPr>
        <p:txBody>
          <a:bodyPr>
            <a:normAutofit/>
          </a:bodyPr>
          <a:lstStyle/>
          <a:p>
            <a:r>
              <a:rPr lang="en-IN" sz="1600" dirty="0" smtClean="0"/>
              <a:t>To convert the regular expression (RE) to Finite Automata (FA), we can use the Subset method.</a:t>
            </a:r>
          </a:p>
          <a:p>
            <a:r>
              <a:rPr lang="en-IN" sz="1600" dirty="0" smtClean="0"/>
              <a:t>Subset method is used to obtain FA from the given RE.</a:t>
            </a:r>
          </a:p>
          <a:p>
            <a:r>
              <a:rPr lang="en-IN" sz="1600" b="1" dirty="0" smtClean="0"/>
              <a:t>Step 1</a:t>
            </a:r>
            <a:r>
              <a:rPr lang="en-IN" sz="1600" dirty="0" smtClean="0"/>
              <a:t> − Construct a Transition diagram for a given RE by using Non-deterministic finite automata (NFA) with ε moves.</a:t>
            </a:r>
          </a:p>
          <a:p>
            <a:r>
              <a:rPr lang="en-IN" sz="1600" b="1" dirty="0" smtClean="0"/>
              <a:t>Step 2</a:t>
            </a:r>
            <a:r>
              <a:rPr lang="en-IN" sz="1600" dirty="0" smtClean="0"/>
              <a:t> − Convert NFA with ε to NFA without ε.</a:t>
            </a:r>
          </a:p>
          <a:p>
            <a:r>
              <a:rPr lang="en-IN" sz="1600" b="1" dirty="0" smtClean="0"/>
              <a:t>Step 3</a:t>
            </a:r>
            <a:r>
              <a:rPr lang="en-IN" sz="1600" dirty="0" smtClean="0"/>
              <a:t> − Convert the NFA to the equivalent Deterministic Finite Automata (DFA).</a:t>
            </a:r>
          </a:p>
          <a:p>
            <a:endParaRPr lang="en-IN" sz="1600" dirty="0"/>
          </a:p>
        </p:txBody>
      </p:sp>
      <p:pic>
        <p:nvPicPr>
          <p:cNvPr id="8194" name="Picture 2" descr="C:\Users\Raju\Desktop\WhatsApp Image 2025-03-01 at 14.49.05.jpeg"/>
          <p:cNvPicPr>
            <a:picLocks noChangeAspect="1" noChangeArrowheads="1"/>
          </p:cNvPicPr>
          <p:nvPr/>
        </p:nvPicPr>
        <p:blipFill>
          <a:blip r:embed="rId2"/>
          <a:srcRect/>
          <a:stretch>
            <a:fillRect/>
          </a:stretch>
        </p:blipFill>
        <p:spPr bwMode="auto">
          <a:xfrm>
            <a:off x="990600" y="3048000"/>
            <a:ext cx="5410200" cy="38100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Examples</a:t>
            </a:r>
            <a:endParaRPr lang="en-IN" dirty="0"/>
          </a:p>
        </p:txBody>
      </p:sp>
      <p:pic>
        <p:nvPicPr>
          <p:cNvPr id="7170" name="Picture 2" descr="C:\Users\Raju\Desktop\Capture.PNG"/>
          <p:cNvPicPr>
            <a:picLocks noChangeAspect="1" noChangeArrowheads="1"/>
          </p:cNvPicPr>
          <p:nvPr/>
        </p:nvPicPr>
        <p:blipFill>
          <a:blip r:embed="rId2"/>
          <a:srcRect/>
          <a:stretch>
            <a:fillRect/>
          </a:stretch>
        </p:blipFill>
        <p:spPr bwMode="auto">
          <a:xfrm>
            <a:off x="685801" y="1143001"/>
            <a:ext cx="5638800" cy="2438400"/>
          </a:xfrm>
          <a:prstGeom prst="rect">
            <a:avLst/>
          </a:prstGeom>
          <a:noFill/>
        </p:spPr>
      </p:pic>
      <p:pic>
        <p:nvPicPr>
          <p:cNvPr id="7171" name="Picture 3" descr="C:\Users\Raju\Desktop\WhatsApp Image 2025-03-01 at 14.51.35.jpeg"/>
          <p:cNvPicPr>
            <a:picLocks noChangeAspect="1" noChangeArrowheads="1"/>
          </p:cNvPicPr>
          <p:nvPr/>
        </p:nvPicPr>
        <p:blipFill>
          <a:blip r:embed="rId3"/>
          <a:srcRect/>
          <a:stretch>
            <a:fillRect/>
          </a:stretch>
        </p:blipFill>
        <p:spPr bwMode="auto">
          <a:xfrm>
            <a:off x="609600" y="3505200"/>
            <a:ext cx="7162800" cy="3200400"/>
          </a:xfrm>
          <a:prstGeom prst="rect">
            <a:avLst/>
          </a:prstGeom>
          <a:noFill/>
        </p:spPr>
      </p:pic>
      <p:sp>
        <p:nvSpPr>
          <p:cNvPr id="6" name="Arc 5"/>
          <p:cNvSpPr/>
          <p:nvPr/>
        </p:nvSpPr>
        <p:spPr>
          <a:xfrm>
            <a:off x="5181600" y="3505200"/>
            <a:ext cx="1295400" cy="76200"/>
          </a:xfrm>
          <a:prstGeom prst="arc">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8" name="Freeform 7"/>
          <p:cNvSpPr/>
          <p:nvPr/>
        </p:nvSpPr>
        <p:spPr>
          <a:xfrm>
            <a:off x="5209309" y="3417455"/>
            <a:ext cx="1311564" cy="129808"/>
          </a:xfrm>
          <a:custGeom>
            <a:avLst/>
            <a:gdLst>
              <a:gd name="connsiteX0" fmla="*/ 55418 w 1311564"/>
              <a:gd name="connsiteY0" fmla="*/ 129309 h 129808"/>
              <a:gd name="connsiteX1" fmla="*/ 166255 w 1311564"/>
              <a:gd name="connsiteY1" fmla="*/ 92363 h 129808"/>
              <a:gd name="connsiteX2" fmla="*/ 221673 w 1311564"/>
              <a:gd name="connsiteY2" fmla="*/ 73890 h 129808"/>
              <a:gd name="connsiteX3" fmla="*/ 258618 w 1311564"/>
              <a:gd name="connsiteY3" fmla="*/ 55418 h 129808"/>
              <a:gd name="connsiteX4" fmla="*/ 591127 w 1311564"/>
              <a:gd name="connsiteY4" fmla="*/ 46181 h 129808"/>
              <a:gd name="connsiteX5" fmla="*/ 646546 w 1311564"/>
              <a:gd name="connsiteY5" fmla="*/ 27709 h 129808"/>
              <a:gd name="connsiteX6" fmla="*/ 748146 w 1311564"/>
              <a:gd name="connsiteY6" fmla="*/ 18472 h 129808"/>
              <a:gd name="connsiteX7" fmla="*/ 822036 w 1311564"/>
              <a:gd name="connsiteY7" fmla="*/ 9236 h 129808"/>
              <a:gd name="connsiteX8" fmla="*/ 849746 w 1311564"/>
              <a:gd name="connsiteY8" fmla="*/ 0 h 129808"/>
              <a:gd name="connsiteX9" fmla="*/ 1052946 w 1311564"/>
              <a:gd name="connsiteY9" fmla="*/ 27709 h 129808"/>
              <a:gd name="connsiteX10" fmla="*/ 1163782 w 1311564"/>
              <a:gd name="connsiteY10" fmla="*/ 46181 h 129808"/>
              <a:gd name="connsiteX11" fmla="*/ 1219200 w 1311564"/>
              <a:gd name="connsiteY11" fmla="*/ 64654 h 129808"/>
              <a:gd name="connsiteX12" fmla="*/ 1283855 w 1311564"/>
              <a:gd name="connsiteY12" fmla="*/ 92363 h 129808"/>
              <a:gd name="connsiteX13" fmla="*/ 1311564 w 1311564"/>
              <a:gd name="connsiteY13" fmla="*/ 120072 h 129808"/>
              <a:gd name="connsiteX14" fmla="*/ 1283855 w 1311564"/>
              <a:gd name="connsiteY14" fmla="*/ 110836 h 129808"/>
              <a:gd name="connsiteX15" fmla="*/ 1219200 w 1311564"/>
              <a:gd name="connsiteY15" fmla="*/ 92363 h 129808"/>
              <a:gd name="connsiteX16" fmla="*/ 1191491 w 1311564"/>
              <a:gd name="connsiteY16" fmla="*/ 73890 h 129808"/>
              <a:gd name="connsiteX17" fmla="*/ 1136073 w 1311564"/>
              <a:gd name="connsiteY17" fmla="*/ 55418 h 129808"/>
              <a:gd name="connsiteX18" fmla="*/ 1108364 w 1311564"/>
              <a:gd name="connsiteY18" fmla="*/ 36945 h 129808"/>
              <a:gd name="connsiteX19" fmla="*/ 1043709 w 1311564"/>
              <a:gd name="connsiteY19" fmla="*/ 18472 h 129808"/>
              <a:gd name="connsiteX20" fmla="*/ 988291 w 1311564"/>
              <a:gd name="connsiteY20" fmla="*/ 0 h 129808"/>
              <a:gd name="connsiteX21" fmla="*/ 443346 w 1311564"/>
              <a:gd name="connsiteY21" fmla="*/ 9236 h 129808"/>
              <a:gd name="connsiteX22" fmla="*/ 341746 w 1311564"/>
              <a:gd name="connsiteY22" fmla="*/ 36945 h 129808"/>
              <a:gd name="connsiteX23" fmla="*/ 249382 w 1311564"/>
              <a:gd name="connsiteY23" fmla="*/ 55418 h 129808"/>
              <a:gd name="connsiteX24" fmla="*/ 203200 w 1311564"/>
              <a:gd name="connsiteY24" fmla="*/ 64654 h 129808"/>
              <a:gd name="connsiteX25" fmla="*/ 110836 w 1311564"/>
              <a:gd name="connsiteY25" fmla="*/ 73890 h 129808"/>
              <a:gd name="connsiteX26" fmla="*/ 55418 w 1311564"/>
              <a:gd name="connsiteY26" fmla="*/ 92363 h 129808"/>
              <a:gd name="connsiteX27" fmla="*/ 0 w 1311564"/>
              <a:gd name="connsiteY27" fmla="*/ 110836 h 129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11564" h="129808">
                <a:moveTo>
                  <a:pt x="55418" y="129309"/>
                </a:moveTo>
                <a:cubicBezTo>
                  <a:pt x="110828" y="92368"/>
                  <a:pt x="61850" y="120205"/>
                  <a:pt x="166255" y="92363"/>
                </a:cubicBezTo>
                <a:cubicBezTo>
                  <a:pt x="185069" y="87346"/>
                  <a:pt x="204257" y="82598"/>
                  <a:pt x="221673" y="73890"/>
                </a:cubicBezTo>
                <a:cubicBezTo>
                  <a:pt x="233988" y="67733"/>
                  <a:pt x="244888" y="56448"/>
                  <a:pt x="258618" y="55418"/>
                </a:cubicBezTo>
                <a:cubicBezTo>
                  <a:pt x="369187" y="47125"/>
                  <a:pt x="480291" y="49260"/>
                  <a:pt x="591127" y="46181"/>
                </a:cubicBezTo>
                <a:cubicBezTo>
                  <a:pt x="609600" y="40024"/>
                  <a:pt x="627370" y="31093"/>
                  <a:pt x="646546" y="27709"/>
                </a:cubicBezTo>
                <a:cubicBezTo>
                  <a:pt x="680035" y="21799"/>
                  <a:pt x="714327" y="22032"/>
                  <a:pt x="748146" y="18472"/>
                </a:cubicBezTo>
                <a:cubicBezTo>
                  <a:pt x="772831" y="15873"/>
                  <a:pt x="797406" y="12315"/>
                  <a:pt x="822036" y="9236"/>
                </a:cubicBezTo>
                <a:cubicBezTo>
                  <a:pt x="831273" y="6157"/>
                  <a:pt x="840010" y="0"/>
                  <a:pt x="849746" y="0"/>
                </a:cubicBezTo>
                <a:cubicBezTo>
                  <a:pt x="969285" y="0"/>
                  <a:pt x="951021" y="8598"/>
                  <a:pt x="1052946" y="27709"/>
                </a:cubicBezTo>
                <a:cubicBezTo>
                  <a:pt x="1095232" y="35638"/>
                  <a:pt x="1123589" y="35219"/>
                  <a:pt x="1163782" y="46181"/>
                </a:cubicBezTo>
                <a:cubicBezTo>
                  <a:pt x="1182568" y="51304"/>
                  <a:pt x="1200727" y="58496"/>
                  <a:pt x="1219200" y="64654"/>
                </a:cubicBezTo>
                <a:cubicBezTo>
                  <a:pt x="1241814" y="72192"/>
                  <a:pt x="1263879" y="78095"/>
                  <a:pt x="1283855" y="92363"/>
                </a:cubicBezTo>
                <a:cubicBezTo>
                  <a:pt x="1294484" y="99955"/>
                  <a:pt x="1311564" y="107010"/>
                  <a:pt x="1311564" y="120072"/>
                </a:cubicBezTo>
                <a:cubicBezTo>
                  <a:pt x="1311564" y="129808"/>
                  <a:pt x="1293216" y="113511"/>
                  <a:pt x="1283855" y="110836"/>
                </a:cubicBezTo>
                <a:cubicBezTo>
                  <a:pt x="1270038" y="106888"/>
                  <a:pt x="1233969" y="99748"/>
                  <a:pt x="1219200" y="92363"/>
                </a:cubicBezTo>
                <a:cubicBezTo>
                  <a:pt x="1209271" y="87398"/>
                  <a:pt x="1201635" y="78398"/>
                  <a:pt x="1191491" y="73890"/>
                </a:cubicBezTo>
                <a:cubicBezTo>
                  <a:pt x="1173697" y="65982"/>
                  <a:pt x="1136073" y="55418"/>
                  <a:pt x="1136073" y="55418"/>
                </a:cubicBezTo>
                <a:cubicBezTo>
                  <a:pt x="1126837" y="49260"/>
                  <a:pt x="1118293" y="41909"/>
                  <a:pt x="1108364" y="36945"/>
                </a:cubicBezTo>
                <a:cubicBezTo>
                  <a:pt x="1092849" y="29187"/>
                  <a:pt x="1058499" y="22909"/>
                  <a:pt x="1043709" y="18472"/>
                </a:cubicBezTo>
                <a:cubicBezTo>
                  <a:pt x="1025058" y="12877"/>
                  <a:pt x="988291" y="0"/>
                  <a:pt x="988291" y="0"/>
                </a:cubicBezTo>
                <a:lnTo>
                  <a:pt x="443346" y="9236"/>
                </a:lnTo>
                <a:cubicBezTo>
                  <a:pt x="398552" y="10636"/>
                  <a:pt x="386653" y="27964"/>
                  <a:pt x="341746" y="36945"/>
                </a:cubicBezTo>
                <a:lnTo>
                  <a:pt x="249382" y="55418"/>
                </a:lnTo>
                <a:cubicBezTo>
                  <a:pt x="233988" y="58497"/>
                  <a:pt x="218821" y="63092"/>
                  <a:pt x="203200" y="64654"/>
                </a:cubicBezTo>
                <a:lnTo>
                  <a:pt x="110836" y="73890"/>
                </a:lnTo>
                <a:cubicBezTo>
                  <a:pt x="92363" y="80048"/>
                  <a:pt x="74308" y="87640"/>
                  <a:pt x="55418" y="92363"/>
                </a:cubicBezTo>
                <a:cubicBezTo>
                  <a:pt x="11794" y="103270"/>
                  <a:pt x="29827" y="95923"/>
                  <a:pt x="0" y="110836"/>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sp>
        <p:nvSpPr>
          <p:cNvPr id="9" name="TextBox 8"/>
          <p:cNvSpPr txBox="1"/>
          <p:nvPr/>
        </p:nvSpPr>
        <p:spPr>
          <a:xfrm>
            <a:off x="3971302" y="1295400"/>
            <a:ext cx="5172698" cy="830997"/>
          </a:xfrm>
          <a:prstGeom prst="rect">
            <a:avLst/>
          </a:prstGeom>
          <a:noFill/>
        </p:spPr>
        <p:txBody>
          <a:bodyPr wrap="none" rtlCol="0">
            <a:spAutoFit/>
          </a:bodyPr>
          <a:lstStyle/>
          <a:p>
            <a:r>
              <a:rPr lang="en-IN" sz="1200" b="1" dirty="0" smtClean="0"/>
              <a:t>Find out next two steps</a:t>
            </a:r>
          </a:p>
          <a:p>
            <a:r>
              <a:rPr lang="en-IN" sz="1200" b="1" dirty="0" smtClean="0"/>
              <a:t>Step 2</a:t>
            </a:r>
            <a:r>
              <a:rPr lang="en-IN" sz="1200" dirty="0" smtClean="0"/>
              <a:t> − Convert NFA with ε to NFA without ε.</a:t>
            </a:r>
          </a:p>
          <a:p>
            <a:r>
              <a:rPr lang="en-IN" sz="1200" b="1" dirty="0" smtClean="0"/>
              <a:t>Step 3</a:t>
            </a:r>
            <a:r>
              <a:rPr lang="en-IN" sz="1200" dirty="0" smtClean="0"/>
              <a:t> − Convert the NFA to the equivalent Deterministic Finite Automata (DFA).</a:t>
            </a:r>
          </a:p>
          <a:p>
            <a:endParaRPr lang="en-IN" sz="1200" dirty="0"/>
          </a:p>
        </p:txBody>
      </p:sp>
      <p:sp>
        <p:nvSpPr>
          <p:cNvPr id="10" name="TextBox 9"/>
          <p:cNvSpPr txBox="1"/>
          <p:nvPr/>
        </p:nvSpPr>
        <p:spPr>
          <a:xfrm>
            <a:off x="762000" y="838200"/>
            <a:ext cx="834587" cy="369332"/>
          </a:xfrm>
          <a:prstGeom prst="rect">
            <a:avLst/>
          </a:prstGeom>
          <a:noFill/>
        </p:spPr>
        <p:txBody>
          <a:bodyPr wrap="none" rtlCol="0">
            <a:spAutoFit/>
          </a:bodyPr>
          <a:lstStyle/>
          <a:p>
            <a:r>
              <a:rPr lang="en-IN" dirty="0" smtClean="0"/>
              <a:t>Step 1:</a:t>
            </a:r>
            <a:endParaRPr lang="en-IN" dirty="0"/>
          </a:p>
        </p:txBody>
      </p:sp>
      <p:sp>
        <p:nvSpPr>
          <p:cNvPr id="11" name="TextBox 10"/>
          <p:cNvSpPr txBox="1"/>
          <p:nvPr/>
        </p:nvSpPr>
        <p:spPr>
          <a:xfrm>
            <a:off x="533400" y="3276600"/>
            <a:ext cx="834587" cy="369332"/>
          </a:xfrm>
          <a:prstGeom prst="rect">
            <a:avLst/>
          </a:prstGeom>
          <a:noFill/>
        </p:spPr>
        <p:txBody>
          <a:bodyPr wrap="none" rtlCol="0">
            <a:spAutoFit/>
          </a:bodyPr>
          <a:lstStyle/>
          <a:p>
            <a:r>
              <a:rPr lang="en-IN" dirty="0" smtClean="0"/>
              <a:t>Step 1:</a:t>
            </a: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TW" dirty="0" smtClean="0">
                <a:latin typeface="Times New Roman" pitchFamily="18" charset="0"/>
                <a:ea typeface="Arial Unicode MS" pitchFamily="34" charset="-120"/>
                <a:cs typeface="Times New Roman" pitchFamily="18" charset="0"/>
              </a:rPr>
              <a:t>Conversion of FA to RE</a:t>
            </a:r>
            <a:endParaRPr lang="en-IN" dirty="0"/>
          </a:p>
        </p:txBody>
      </p:sp>
      <p:sp>
        <p:nvSpPr>
          <p:cNvPr id="3" name="Content Placeholder 2"/>
          <p:cNvSpPr>
            <a:spLocks noGrp="1"/>
          </p:cNvSpPr>
          <p:nvPr>
            <p:ph idx="1"/>
          </p:nvPr>
        </p:nvSpPr>
        <p:spPr/>
        <p:txBody>
          <a:bodyPr>
            <a:normAutofit fontScale="55000" lnSpcReduction="20000"/>
          </a:bodyPr>
          <a:lstStyle/>
          <a:p>
            <a:pPr>
              <a:buNone/>
            </a:pPr>
            <a:r>
              <a:rPr lang="en-US" b="1" dirty="0" smtClean="0">
                <a:latin typeface="Times New Roman" pitchFamily="18" charset="0"/>
                <a:cs typeface="Times New Roman" pitchFamily="18" charset="0"/>
              </a:rPr>
              <a:t>Arden's Theorem:</a:t>
            </a:r>
          </a:p>
          <a:p>
            <a:pPr>
              <a:buNone/>
            </a:pPr>
            <a:r>
              <a:rPr lang="en-US" dirty="0" smtClean="0">
                <a:latin typeface="Times New Roman" pitchFamily="18" charset="0"/>
                <a:cs typeface="Times New Roman" pitchFamily="18" charset="0"/>
              </a:rPr>
              <a:t>In order to find out a regular expression of a Finite Automaton, we use Arden’s Theorem along with the properties of regular expressions.</a:t>
            </a:r>
          </a:p>
          <a:p>
            <a:r>
              <a:rPr lang="en-US" b="1" i="1" dirty="0" smtClean="0">
                <a:latin typeface="Times New Roman" pitchFamily="18" charset="0"/>
                <a:cs typeface="Times New Roman" pitchFamily="18" charset="0"/>
              </a:rPr>
              <a:t>Statement</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Let </a:t>
            </a:r>
            <a:r>
              <a:rPr lang="en-US" b="1" dirty="0" smtClean="0">
                <a:latin typeface="Times New Roman" pitchFamily="18" charset="0"/>
                <a:cs typeface="Times New Roman" pitchFamily="18" charset="0"/>
              </a:rPr>
              <a:t>P</a:t>
            </a:r>
            <a:r>
              <a:rPr lang="en-US" dirty="0" smtClean="0">
                <a:latin typeface="Times New Roman" pitchFamily="18" charset="0"/>
                <a:cs typeface="Times New Roman" pitchFamily="18" charset="0"/>
              </a:rPr>
              <a:t> and </a:t>
            </a:r>
            <a:r>
              <a:rPr lang="en-US" b="1" dirty="0" smtClean="0">
                <a:latin typeface="Times New Roman" pitchFamily="18" charset="0"/>
                <a:cs typeface="Times New Roman" pitchFamily="18" charset="0"/>
              </a:rPr>
              <a:t>Q</a:t>
            </a:r>
            <a:r>
              <a:rPr lang="en-US" dirty="0" smtClean="0">
                <a:latin typeface="Times New Roman" pitchFamily="18" charset="0"/>
                <a:cs typeface="Times New Roman" pitchFamily="18" charset="0"/>
              </a:rPr>
              <a:t> be two regular expressions.</a:t>
            </a:r>
          </a:p>
          <a:p>
            <a:pPr>
              <a:buNone/>
            </a:pPr>
            <a:r>
              <a:rPr lang="en-US" dirty="0" smtClean="0">
                <a:latin typeface="Times New Roman" pitchFamily="18" charset="0"/>
                <a:cs typeface="Times New Roman" pitchFamily="18" charset="0"/>
              </a:rPr>
              <a:t>If </a:t>
            </a:r>
            <a:r>
              <a:rPr lang="en-US" b="1" dirty="0" smtClean="0">
                <a:latin typeface="Times New Roman" pitchFamily="18" charset="0"/>
                <a:cs typeface="Times New Roman" pitchFamily="18" charset="0"/>
              </a:rPr>
              <a:t>P</a:t>
            </a:r>
            <a:r>
              <a:rPr lang="en-US" dirty="0" smtClean="0">
                <a:latin typeface="Times New Roman" pitchFamily="18" charset="0"/>
                <a:cs typeface="Times New Roman" pitchFamily="18" charset="0"/>
              </a:rPr>
              <a:t> does not contain null string, then </a:t>
            </a:r>
            <a:r>
              <a:rPr lang="en-US" b="1" dirty="0" smtClean="0">
                <a:latin typeface="Times New Roman" pitchFamily="18" charset="0"/>
                <a:cs typeface="Times New Roman" pitchFamily="18" charset="0"/>
              </a:rPr>
              <a:t>R = Q + RP</a:t>
            </a:r>
            <a:r>
              <a:rPr lang="en-US" dirty="0" smtClean="0">
                <a:latin typeface="Times New Roman" pitchFamily="18" charset="0"/>
                <a:cs typeface="Times New Roman" pitchFamily="18" charset="0"/>
              </a:rPr>
              <a:t> has a unique solution that is </a:t>
            </a:r>
            <a:r>
              <a:rPr lang="en-US" b="1" dirty="0" smtClean="0">
                <a:latin typeface="Times New Roman" pitchFamily="18" charset="0"/>
                <a:cs typeface="Times New Roman" pitchFamily="18" charset="0"/>
              </a:rPr>
              <a:t>R = QP*</a:t>
            </a: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Proof</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R = Q + (Q + RP)P [After putting the value R = Q + RP]</a:t>
            </a:r>
          </a:p>
          <a:p>
            <a:pPr>
              <a:buNone/>
            </a:pPr>
            <a:r>
              <a:rPr lang="en-US" dirty="0" smtClean="0">
                <a:latin typeface="Times New Roman" pitchFamily="18" charset="0"/>
                <a:cs typeface="Times New Roman" pitchFamily="18" charset="0"/>
              </a:rPr>
              <a:t>= Q + QP + RPP</a:t>
            </a:r>
          </a:p>
          <a:p>
            <a:pPr>
              <a:buNone/>
            </a:pPr>
            <a:r>
              <a:rPr lang="en-US" dirty="0" smtClean="0">
                <a:latin typeface="Times New Roman" pitchFamily="18" charset="0"/>
                <a:cs typeface="Times New Roman" pitchFamily="18" charset="0"/>
              </a:rPr>
              <a:t>When we put the value of </a:t>
            </a:r>
            <a:r>
              <a:rPr lang="en-US" b="1" dirty="0" smtClean="0">
                <a:latin typeface="Times New Roman" pitchFamily="18" charset="0"/>
                <a:cs typeface="Times New Roman" pitchFamily="18" charset="0"/>
              </a:rPr>
              <a:t>R</a:t>
            </a:r>
            <a:r>
              <a:rPr lang="en-US" dirty="0" smtClean="0">
                <a:latin typeface="Times New Roman" pitchFamily="18" charset="0"/>
                <a:cs typeface="Times New Roman" pitchFamily="18" charset="0"/>
              </a:rPr>
              <a:t> recursively again and again, we get the following equation </a:t>
            </a:r>
          </a:p>
          <a:p>
            <a:pPr>
              <a:buNone/>
            </a:pPr>
            <a:r>
              <a:rPr lang="en-US" dirty="0" smtClean="0">
                <a:latin typeface="Times New Roman" pitchFamily="18" charset="0"/>
                <a:cs typeface="Times New Roman" pitchFamily="18" charset="0"/>
              </a:rPr>
              <a:t>R = Q + QP + QP</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QP</a:t>
            </a:r>
            <a:r>
              <a:rPr lang="en-US" baseline="30000" dirty="0" smtClean="0">
                <a:latin typeface="Times New Roman" pitchFamily="18" charset="0"/>
                <a:cs typeface="Times New Roman" pitchFamily="18" charset="0"/>
              </a:rPr>
              <a:t>3</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R = Q (ε + P + P</a:t>
            </a:r>
            <a:r>
              <a:rPr lang="en-US" baseline="30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P</a:t>
            </a:r>
            <a:r>
              <a:rPr lang="en-US" baseline="30000" dirty="0" smtClean="0">
                <a:latin typeface="Times New Roman" pitchFamily="18" charset="0"/>
                <a:cs typeface="Times New Roman" pitchFamily="18" charset="0"/>
              </a:rPr>
              <a:t>3</a:t>
            </a:r>
            <a:r>
              <a:rPr lang="en-US" dirty="0" smtClean="0">
                <a:latin typeface="Times New Roman" pitchFamily="18" charset="0"/>
                <a:cs typeface="Times New Roman" pitchFamily="18" charset="0"/>
              </a:rPr>
              <a:t> + …. )</a:t>
            </a:r>
          </a:p>
          <a:p>
            <a:pPr>
              <a:buNone/>
            </a:pPr>
            <a:r>
              <a:rPr lang="en-US" dirty="0" smtClean="0">
                <a:latin typeface="Times New Roman" pitchFamily="18" charset="0"/>
                <a:cs typeface="Times New Roman" pitchFamily="18" charset="0"/>
              </a:rPr>
              <a:t>R = QP* [As P* represents (ε + P + P2 + P3 + ….) ]</a:t>
            </a:r>
          </a:p>
          <a:p>
            <a:pPr>
              <a:buNone/>
            </a:pPr>
            <a:r>
              <a:rPr lang="en-US" dirty="0" smtClean="0">
                <a:latin typeface="Times New Roman" pitchFamily="18" charset="0"/>
                <a:cs typeface="Times New Roman" pitchFamily="18" charset="0"/>
              </a:rPr>
              <a:t>Hence, proved.</a:t>
            </a:r>
          </a:p>
          <a:p>
            <a:pPr>
              <a:buNone/>
            </a:pPr>
            <a:endParaRPr lang="en-US" b="1" dirty="0" smtClean="0">
              <a:latin typeface="Times New Roman" pitchFamily="18" charset="0"/>
              <a:cs typeface="Times New Roman" pitchFamily="18" charset="0"/>
            </a:endParaRPr>
          </a:p>
          <a:p>
            <a:endParaRPr lang="en-US" dirty="0" smtClean="0"/>
          </a:p>
          <a:p>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a:bodyPr>
          <a:lstStyle/>
          <a:p>
            <a:r>
              <a:rPr lang="en-US" sz="1800" dirty="0" smtClean="0">
                <a:latin typeface="Times New Roman" pitchFamily="18" charset="0"/>
                <a:cs typeface="Times New Roman" pitchFamily="18" charset="0"/>
              </a:rPr>
              <a:t>Construct a regular expression corresponding to the automata given below </a:t>
            </a:r>
            <a:endParaRPr lang="en-IN" sz="1800" dirty="0"/>
          </a:p>
        </p:txBody>
      </p:sp>
      <p:pic>
        <p:nvPicPr>
          <p:cNvPr id="4" name="Picture 2" descr="C:\Users\snist\Desktop\16.jpg"/>
          <p:cNvPicPr>
            <a:picLocks noGrp="1" noChangeAspect="1" noChangeArrowheads="1"/>
          </p:cNvPicPr>
          <p:nvPr>
            <p:ph idx="1"/>
          </p:nvPr>
        </p:nvPicPr>
        <p:blipFill>
          <a:blip r:embed="rId2" cstate="print"/>
          <a:srcRect/>
          <a:stretch>
            <a:fillRect/>
          </a:stretch>
        </p:blipFill>
        <p:spPr bwMode="auto">
          <a:xfrm>
            <a:off x="533401" y="1219200"/>
            <a:ext cx="3657600" cy="2552700"/>
          </a:xfrm>
          <a:prstGeom prst="rect">
            <a:avLst/>
          </a:prstGeom>
          <a:noFill/>
        </p:spPr>
      </p:pic>
      <p:sp>
        <p:nvSpPr>
          <p:cNvPr id="5" name="Rectangle 4"/>
          <p:cNvSpPr/>
          <p:nvPr/>
        </p:nvSpPr>
        <p:spPr>
          <a:xfrm>
            <a:off x="4343400" y="1066800"/>
            <a:ext cx="4572000" cy="4247317"/>
          </a:xfrm>
          <a:prstGeom prst="rect">
            <a:avLst/>
          </a:prstGeom>
        </p:spPr>
        <p:txBody>
          <a:bodyPr>
            <a:spAutoFit/>
          </a:bodyPr>
          <a:lstStyle/>
          <a:p>
            <a:pPr>
              <a:buNone/>
            </a:pPr>
            <a:r>
              <a:rPr lang="en-US" b="1" dirty="0" smtClean="0">
                <a:latin typeface="Times New Roman" pitchFamily="18" charset="0"/>
                <a:cs typeface="Times New Roman" pitchFamily="18" charset="0"/>
              </a:rPr>
              <a:t>Solution</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Here the initial state is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and the final state is q</a:t>
            </a:r>
            <a:r>
              <a:rPr lang="en-US" baseline="-25000" dirty="0" smtClean="0">
                <a:latin typeface="Times New Roman" pitchFamily="18" charset="0"/>
                <a:cs typeface="Times New Roman" pitchFamily="18" charset="0"/>
              </a:rPr>
              <a:t>2</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Now we write down the equations</a:t>
            </a:r>
          </a:p>
          <a:p>
            <a:pPr>
              <a:buNone/>
            </a:pPr>
            <a:r>
              <a:rPr lang="en-US" dirty="0" smtClean="0">
                <a:latin typeface="Times New Roman" pitchFamily="18" charset="0"/>
                <a:cs typeface="Times New Roman" pitchFamily="18" charset="0"/>
              </a:rPr>
              <a:t>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0 + ε</a:t>
            </a:r>
          </a:p>
          <a:p>
            <a:pPr>
              <a:buNone/>
            </a:pPr>
            <a:r>
              <a:rPr lang="en-US" dirty="0" smtClean="0">
                <a:latin typeface="Times New Roman" pitchFamily="18" charset="0"/>
                <a:cs typeface="Times New Roman" pitchFamily="18" charset="0"/>
              </a:rPr>
              <a:t>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1 +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0</a:t>
            </a:r>
          </a:p>
          <a:p>
            <a:pPr>
              <a:buNone/>
            </a:pPr>
            <a:r>
              <a:rPr lang="en-US" dirty="0" smtClean="0">
                <a:latin typeface="Times New Roman" pitchFamily="18" charset="0"/>
                <a:cs typeface="Times New Roman" pitchFamily="18" charset="0"/>
              </a:rPr>
              <a:t>	q</a:t>
            </a:r>
            <a:r>
              <a:rPr lang="en-US" baseline="-25000" dirty="0" smtClean="0">
                <a:latin typeface="Times New Roman" pitchFamily="18" charset="0"/>
                <a:cs typeface="Times New Roman" pitchFamily="18" charset="0"/>
              </a:rPr>
              <a:t>3</a:t>
            </a:r>
            <a:r>
              <a:rPr lang="en-US" dirty="0" smtClean="0">
                <a:latin typeface="Times New Roman" pitchFamily="18" charset="0"/>
                <a:cs typeface="Times New Roman" pitchFamily="18" charset="0"/>
              </a:rPr>
              <a:t> =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1 + q</a:t>
            </a:r>
            <a:r>
              <a:rPr lang="en-US" baseline="-25000" dirty="0" smtClean="0">
                <a:latin typeface="Times New Roman" pitchFamily="18" charset="0"/>
                <a:cs typeface="Times New Roman" pitchFamily="18" charset="0"/>
              </a:rPr>
              <a:t>3</a:t>
            </a:r>
            <a:r>
              <a:rPr lang="en-US" dirty="0" smtClean="0">
                <a:latin typeface="Times New Roman" pitchFamily="18" charset="0"/>
                <a:cs typeface="Times New Roman" pitchFamily="18" charset="0"/>
              </a:rPr>
              <a:t>0 + q</a:t>
            </a:r>
            <a:r>
              <a:rPr lang="en-US" baseline="-25000" dirty="0" smtClean="0">
                <a:latin typeface="Times New Roman" pitchFamily="18" charset="0"/>
                <a:cs typeface="Times New Roman" pitchFamily="18" charset="0"/>
              </a:rPr>
              <a:t>3</a:t>
            </a:r>
            <a:r>
              <a:rPr lang="en-US" dirty="0" smtClean="0">
                <a:latin typeface="Times New Roman" pitchFamily="18" charset="0"/>
                <a:cs typeface="Times New Roman" pitchFamily="18" charset="0"/>
              </a:rPr>
              <a:t>1</a:t>
            </a:r>
          </a:p>
          <a:p>
            <a:pPr>
              <a:buNone/>
            </a:pPr>
            <a:r>
              <a:rPr lang="en-US" dirty="0" smtClean="0">
                <a:latin typeface="Times New Roman" pitchFamily="18" charset="0"/>
                <a:cs typeface="Times New Roman" pitchFamily="18" charset="0"/>
              </a:rPr>
              <a:t>Now, we will solve these three equations </a:t>
            </a:r>
          </a:p>
          <a:p>
            <a:pPr>
              <a:buNone/>
            </a:pPr>
            <a:r>
              <a:rPr lang="en-US" dirty="0" smtClean="0">
                <a:latin typeface="Times New Roman" pitchFamily="18" charset="0"/>
                <a:cs typeface="Times New Roman" pitchFamily="18" charset="0"/>
              </a:rPr>
              <a:t>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 ε0* [As, </a:t>
            </a:r>
            <a:r>
              <a:rPr lang="en-US" dirty="0" err="1" smtClean="0">
                <a:latin typeface="Times New Roman" pitchFamily="18" charset="0"/>
                <a:cs typeface="Times New Roman" pitchFamily="18" charset="0"/>
              </a:rPr>
              <a:t>εR</a:t>
            </a:r>
            <a:r>
              <a:rPr lang="en-US" dirty="0" smtClean="0">
                <a:latin typeface="Times New Roman" pitchFamily="18" charset="0"/>
                <a:cs typeface="Times New Roman" pitchFamily="18" charset="0"/>
              </a:rPr>
              <a:t> = R]</a:t>
            </a:r>
          </a:p>
          <a:p>
            <a:pPr>
              <a:buNone/>
            </a:pPr>
            <a:r>
              <a:rPr lang="en-US" dirty="0" smtClean="0">
                <a:latin typeface="Times New Roman" pitchFamily="18" charset="0"/>
                <a:cs typeface="Times New Roman" pitchFamily="18" charset="0"/>
              </a:rPr>
              <a:t>	So,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 0*</a:t>
            </a:r>
          </a:p>
          <a:p>
            <a:pPr>
              <a:buNone/>
            </a:pPr>
            <a:r>
              <a:rPr lang="en-US" dirty="0" smtClean="0">
                <a:latin typeface="Times New Roman" pitchFamily="18" charset="0"/>
                <a:cs typeface="Times New Roman" pitchFamily="18" charset="0"/>
              </a:rPr>
              <a:t>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0*1 +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0</a:t>
            </a:r>
          </a:p>
          <a:p>
            <a:pPr>
              <a:buNone/>
            </a:pPr>
            <a:r>
              <a:rPr lang="en-US" dirty="0" smtClean="0">
                <a:latin typeface="Times New Roman" pitchFamily="18" charset="0"/>
                <a:cs typeface="Times New Roman" pitchFamily="18" charset="0"/>
              </a:rPr>
              <a:t>	So,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0*1(0)* [By Arden’s theorem]</a:t>
            </a:r>
          </a:p>
          <a:p>
            <a:pPr>
              <a:buNone/>
            </a:pPr>
            <a:r>
              <a:rPr lang="en-US" dirty="0" smtClean="0">
                <a:latin typeface="Times New Roman" pitchFamily="18" charset="0"/>
                <a:cs typeface="Times New Roman" pitchFamily="18" charset="0"/>
              </a:rPr>
              <a:t>Hence, the regular expression is 0*10*.</a:t>
            </a:r>
          </a:p>
          <a:p>
            <a:endParaRPr lang="en-US" dirty="0">
              <a:latin typeface="Times New Roman" pitchFamily="18" charset="0"/>
              <a:cs typeface="Times New Roman"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2000" dirty="0" smtClean="0">
                <a:latin typeface="Times New Roman" pitchFamily="18" charset="0"/>
                <a:cs typeface="Times New Roman" pitchFamily="18" charset="0"/>
              </a:rPr>
              <a:t>Construct a regular expression corresponding to the automata given below </a:t>
            </a:r>
            <a:br>
              <a:rPr lang="en-US" sz="2000" dirty="0" smtClean="0">
                <a:latin typeface="Times New Roman" pitchFamily="18" charset="0"/>
                <a:cs typeface="Times New Roman" pitchFamily="18" charset="0"/>
              </a:rPr>
            </a:br>
            <a:endParaRPr lang="en-IN" sz="2000" dirty="0"/>
          </a:p>
        </p:txBody>
      </p:sp>
      <p:pic>
        <p:nvPicPr>
          <p:cNvPr id="4" name="Picture 2" descr="C:\Users\snist\Desktop\15.jpg"/>
          <p:cNvPicPr>
            <a:picLocks noGrp="1" noChangeAspect="1" noChangeArrowheads="1"/>
          </p:cNvPicPr>
          <p:nvPr>
            <p:ph idx="1"/>
          </p:nvPr>
        </p:nvPicPr>
        <p:blipFill>
          <a:blip r:embed="rId2" cstate="print"/>
          <a:srcRect/>
          <a:stretch>
            <a:fillRect/>
          </a:stretch>
        </p:blipFill>
        <p:spPr bwMode="auto">
          <a:xfrm>
            <a:off x="533400" y="762000"/>
            <a:ext cx="3810000" cy="2590800"/>
          </a:xfrm>
          <a:prstGeom prst="rect">
            <a:avLst/>
          </a:prstGeom>
          <a:noFill/>
        </p:spPr>
      </p:pic>
      <p:sp>
        <p:nvSpPr>
          <p:cNvPr id="5" name="Rectangle 4"/>
          <p:cNvSpPr/>
          <p:nvPr/>
        </p:nvSpPr>
        <p:spPr>
          <a:xfrm>
            <a:off x="4572000" y="762000"/>
            <a:ext cx="4572000" cy="4832092"/>
          </a:xfrm>
          <a:prstGeom prst="rect">
            <a:avLst/>
          </a:prstGeom>
        </p:spPr>
        <p:txBody>
          <a:bodyPr>
            <a:spAutoFit/>
          </a:bodyPr>
          <a:lstStyle/>
          <a:p>
            <a:pPr>
              <a:buNone/>
            </a:pPr>
            <a:r>
              <a:rPr lang="en-US" b="1" dirty="0" smtClean="0">
                <a:latin typeface="Times New Roman" pitchFamily="18" charset="0"/>
                <a:cs typeface="Times New Roman" pitchFamily="18" charset="0"/>
              </a:rPr>
              <a:t>Solution</a:t>
            </a:r>
            <a:r>
              <a:rPr lang="en-US" dirty="0" smtClean="0">
                <a:latin typeface="Times New Roman" pitchFamily="18" charset="0"/>
                <a:cs typeface="Times New Roman" pitchFamily="18" charset="0"/>
              </a:rPr>
              <a:t> :</a:t>
            </a:r>
          </a:p>
          <a:p>
            <a:r>
              <a:rPr lang="en-US" dirty="0" smtClean="0">
                <a:latin typeface="Times New Roman" pitchFamily="18" charset="0"/>
                <a:cs typeface="Times New Roman" pitchFamily="18" charset="0"/>
              </a:rPr>
              <a:t>Here the initial state is </a:t>
            </a:r>
            <a:r>
              <a:rPr lang="en-US" b="1" dirty="0" smtClean="0">
                <a:latin typeface="Times New Roman" pitchFamily="18" charset="0"/>
                <a:cs typeface="Times New Roman" pitchFamily="18" charset="0"/>
              </a:rPr>
              <a:t>q</a:t>
            </a:r>
            <a:r>
              <a:rPr lang="en-US" b="1"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and the final state is </a:t>
            </a:r>
            <a:r>
              <a:rPr lang="en-US" b="1" dirty="0" smtClean="0">
                <a:latin typeface="Times New Roman" pitchFamily="18" charset="0"/>
                <a:cs typeface="Times New Roman" pitchFamily="18" charset="0"/>
              </a:rPr>
              <a:t>q</a:t>
            </a:r>
            <a:r>
              <a:rPr lang="en-US" b="1"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The equations for the three states q1, q2, and q3 are as follows </a:t>
            </a:r>
          </a:p>
          <a:p>
            <a:pPr>
              <a:buNone/>
            </a:pPr>
            <a:r>
              <a:rPr lang="en-US" dirty="0" smtClean="0">
                <a:latin typeface="Times New Roman" pitchFamily="18" charset="0"/>
                <a:cs typeface="Times New Roman" pitchFamily="18" charset="0"/>
              </a:rPr>
              <a:t>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a + q</a:t>
            </a:r>
            <a:r>
              <a:rPr lang="en-US" baseline="-25000" dirty="0" smtClean="0">
                <a:latin typeface="Times New Roman" pitchFamily="18" charset="0"/>
                <a:cs typeface="Times New Roman" pitchFamily="18" charset="0"/>
              </a:rPr>
              <a:t>3</a:t>
            </a:r>
            <a:r>
              <a:rPr lang="en-US" dirty="0" smtClean="0">
                <a:latin typeface="Times New Roman" pitchFamily="18" charset="0"/>
                <a:cs typeface="Times New Roman" pitchFamily="18" charset="0"/>
              </a:rPr>
              <a:t>a + </a:t>
            </a:r>
            <a:r>
              <a:rPr lang="el-GR" dirty="0" smtClean="0">
                <a:latin typeface="Times New Roman" pitchFamily="18" charset="0"/>
                <a:cs typeface="Times New Roman" pitchFamily="18" charset="0"/>
              </a:rPr>
              <a:t>ε (ε </a:t>
            </a:r>
            <a:r>
              <a:rPr lang="en-US" dirty="0" smtClean="0">
                <a:latin typeface="Times New Roman" pitchFamily="18" charset="0"/>
                <a:cs typeface="Times New Roman" pitchFamily="18" charset="0"/>
              </a:rPr>
              <a:t>move is because q1 is the initial state)</a:t>
            </a:r>
          </a:p>
          <a:p>
            <a:pPr>
              <a:buNone/>
            </a:pPr>
            <a:r>
              <a:rPr lang="en-US" dirty="0" smtClean="0">
                <a:latin typeface="Times New Roman" pitchFamily="18" charset="0"/>
                <a:cs typeface="Times New Roman" pitchFamily="18" charset="0"/>
              </a:rPr>
              <a:t>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b +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b + q</a:t>
            </a:r>
            <a:r>
              <a:rPr lang="en-US" baseline="-25000" dirty="0" smtClean="0">
                <a:latin typeface="Times New Roman" pitchFamily="18" charset="0"/>
                <a:cs typeface="Times New Roman" pitchFamily="18" charset="0"/>
              </a:rPr>
              <a:t>3</a:t>
            </a:r>
            <a:r>
              <a:rPr lang="en-US" dirty="0" smtClean="0">
                <a:latin typeface="Times New Roman" pitchFamily="18" charset="0"/>
                <a:cs typeface="Times New Roman" pitchFamily="18" charset="0"/>
              </a:rPr>
              <a:t>b</a:t>
            </a:r>
          </a:p>
          <a:p>
            <a:pPr>
              <a:buNone/>
            </a:pPr>
            <a:r>
              <a:rPr lang="en-US" dirty="0" smtClean="0">
                <a:latin typeface="Times New Roman" pitchFamily="18" charset="0"/>
                <a:cs typeface="Times New Roman" pitchFamily="18" charset="0"/>
              </a:rPr>
              <a:t>       q</a:t>
            </a:r>
            <a:r>
              <a:rPr lang="en-US" baseline="-25000" dirty="0" smtClean="0">
                <a:latin typeface="Times New Roman" pitchFamily="18" charset="0"/>
                <a:cs typeface="Times New Roman" pitchFamily="18" charset="0"/>
              </a:rPr>
              <a:t>3</a:t>
            </a:r>
            <a:r>
              <a:rPr lang="en-US" dirty="0" smtClean="0">
                <a:latin typeface="Times New Roman" pitchFamily="18" charset="0"/>
                <a:cs typeface="Times New Roman" pitchFamily="18" charset="0"/>
              </a:rPr>
              <a:t> =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a</a:t>
            </a:r>
          </a:p>
          <a:p>
            <a:pPr>
              <a:buNone/>
            </a:pPr>
            <a:r>
              <a:rPr lang="en-US" dirty="0" smtClean="0">
                <a:latin typeface="Times New Roman" pitchFamily="18" charset="0"/>
                <a:cs typeface="Times New Roman" pitchFamily="18" charset="0"/>
              </a:rPr>
              <a:t>Now, we will solve these three equations </a:t>
            </a:r>
          </a:p>
          <a:p>
            <a:pPr>
              <a:buNone/>
            </a:pPr>
            <a:r>
              <a:rPr lang="en-US" dirty="0" smtClean="0">
                <a:latin typeface="Times New Roman" pitchFamily="18" charset="0"/>
                <a:cs typeface="Times New Roman" pitchFamily="18" charset="0"/>
              </a:rPr>
              <a:t>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 =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b +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b + q</a:t>
            </a:r>
            <a:r>
              <a:rPr lang="en-US" baseline="-25000" dirty="0" smtClean="0">
                <a:latin typeface="Times New Roman" pitchFamily="18" charset="0"/>
                <a:cs typeface="Times New Roman" pitchFamily="18" charset="0"/>
              </a:rPr>
              <a:t>3</a:t>
            </a:r>
            <a:r>
              <a:rPr lang="en-US" dirty="0" smtClean="0">
                <a:latin typeface="Times New Roman" pitchFamily="18" charset="0"/>
                <a:cs typeface="Times New Roman" pitchFamily="18" charset="0"/>
              </a:rPr>
              <a:t>b</a:t>
            </a:r>
          </a:p>
          <a:p>
            <a:pPr>
              <a:buNone/>
            </a:pPr>
            <a:r>
              <a:rPr lang="en-US" dirty="0" smtClean="0">
                <a:latin typeface="Times New Roman" pitchFamily="18" charset="0"/>
                <a:cs typeface="Times New Roman" pitchFamily="18" charset="0"/>
              </a:rPr>
              <a:t>	     =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b +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b +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a)b (Substituting value of q</a:t>
            </a:r>
            <a:r>
              <a:rPr lang="en-US" baseline="-25000" dirty="0" smtClean="0">
                <a:latin typeface="Times New Roman" pitchFamily="18" charset="0"/>
                <a:cs typeface="Times New Roman" pitchFamily="18" charset="0"/>
              </a:rPr>
              <a:t>3</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b +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b (b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 (Applying Arden’s Theor</a:t>
            </a:r>
            <a:r>
              <a:rPr lang="en-US" sz="2000" dirty="0" smtClean="0">
                <a:latin typeface="Times New Roman" pitchFamily="18" charset="0"/>
                <a:cs typeface="Times New Roman" pitchFamily="18" charset="0"/>
              </a:rPr>
              <a:t>em)</a:t>
            </a:r>
          </a:p>
          <a:p>
            <a:pPr>
              <a:buNone/>
            </a:pPr>
            <a:endParaRPr lang="en-US" dirty="0"/>
          </a:p>
        </p:txBody>
      </p:sp>
      <p:sp>
        <p:nvSpPr>
          <p:cNvPr id="6" name="Rectangle 5"/>
          <p:cNvSpPr/>
          <p:nvPr/>
        </p:nvSpPr>
        <p:spPr>
          <a:xfrm>
            <a:off x="0" y="3962400"/>
            <a:ext cx="4572000" cy="2585323"/>
          </a:xfrm>
          <a:prstGeom prst="rect">
            <a:avLst/>
          </a:prstGeom>
        </p:spPr>
        <p:txBody>
          <a:bodyPr>
            <a:spAutoFit/>
          </a:bodyPr>
          <a:lstStyle/>
          <a:p>
            <a:pPr>
              <a:buNone/>
            </a:pPr>
            <a:r>
              <a:rPr lang="en-US" dirty="0" smtClean="0">
                <a:latin typeface="Times New Roman" pitchFamily="18" charset="0"/>
                <a:cs typeface="Times New Roman" pitchFamily="18" charset="0"/>
              </a:rPr>
              <a:t>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 =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a + q</a:t>
            </a:r>
            <a:r>
              <a:rPr lang="en-US" baseline="-25000" dirty="0" smtClean="0">
                <a:latin typeface="Times New Roman" pitchFamily="18" charset="0"/>
                <a:cs typeface="Times New Roman" pitchFamily="18" charset="0"/>
              </a:rPr>
              <a:t>3</a:t>
            </a:r>
            <a:r>
              <a:rPr lang="en-US" dirty="0" smtClean="0">
                <a:latin typeface="Times New Roman" pitchFamily="18" charset="0"/>
                <a:cs typeface="Times New Roman" pitchFamily="18" charset="0"/>
              </a:rPr>
              <a:t>a + </a:t>
            </a:r>
            <a:r>
              <a:rPr lang="el-GR" dirty="0" smtClean="0">
                <a:latin typeface="Times New Roman" pitchFamily="18" charset="0"/>
                <a:cs typeface="Times New Roman" pitchFamily="18" charset="0"/>
              </a:rPr>
              <a:t>ε</a:t>
            </a:r>
          </a:p>
          <a:p>
            <a:pPr>
              <a:buNone/>
            </a:pPr>
            <a:r>
              <a:rPr lang="en-US" dirty="0" smtClean="0">
                <a:latin typeface="Times New Roman" pitchFamily="18" charset="0"/>
                <a:cs typeface="Times New Roman" pitchFamily="18" charset="0"/>
              </a:rPr>
              <a:t>          </a:t>
            </a:r>
            <a:r>
              <a:rPr lang="el-GR"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a +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aa + </a:t>
            </a:r>
            <a:r>
              <a:rPr lang="el-GR" dirty="0" smtClean="0">
                <a:latin typeface="Times New Roman" pitchFamily="18" charset="0"/>
                <a:cs typeface="Times New Roman" pitchFamily="18" charset="0"/>
              </a:rPr>
              <a:t>ε (</a:t>
            </a:r>
            <a:r>
              <a:rPr lang="en-US" dirty="0" smtClean="0">
                <a:latin typeface="Times New Roman" pitchFamily="18" charset="0"/>
                <a:cs typeface="Times New Roman" pitchFamily="18" charset="0"/>
              </a:rPr>
              <a:t>Substituting value of q</a:t>
            </a:r>
            <a:r>
              <a:rPr lang="en-US" baseline="-25000" dirty="0" smtClean="0">
                <a:latin typeface="Times New Roman" pitchFamily="18" charset="0"/>
                <a:cs typeface="Times New Roman" pitchFamily="18" charset="0"/>
              </a:rPr>
              <a:t>3</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a +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b(b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aa</a:t>
            </a:r>
            <a:r>
              <a:rPr lang="en-US" dirty="0" smtClean="0">
                <a:latin typeface="Times New Roman" pitchFamily="18" charset="0"/>
                <a:cs typeface="Times New Roman" pitchFamily="18" charset="0"/>
              </a:rPr>
              <a:t> + </a:t>
            </a:r>
            <a:r>
              <a:rPr lang="el-GR" dirty="0" smtClean="0">
                <a:latin typeface="Times New Roman" pitchFamily="18" charset="0"/>
                <a:cs typeface="Times New Roman" pitchFamily="18" charset="0"/>
              </a:rPr>
              <a:t>ε (</a:t>
            </a:r>
            <a:r>
              <a:rPr lang="en-US" dirty="0" smtClean="0">
                <a:latin typeface="Times New Roman" pitchFamily="18" charset="0"/>
                <a:cs typeface="Times New Roman" pitchFamily="18" charset="0"/>
              </a:rPr>
              <a:t>Substituting value of q</a:t>
            </a:r>
            <a:r>
              <a:rPr lang="en-US" baseline="-25000" dirty="0" smtClean="0">
                <a:latin typeface="Times New Roman" pitchFamily="18" charset="0"/>
                <a:cs typeface="Times New Roman" pitchFamily="18" charset="0"/>
              </a:rPr>
              <a:t>2</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 q</a:t>
            </a:r>
            <a:r>
              <a:rPr lang="en-US" baseline="-25000" dirty="0" smtClean="0">
                <a:latin typeface="Times New Roman" pitchFamily="18" charset="0"/>
                <a:cs typeface="Times New Roman" pitchFamily="18" charset="0"/>
              </a:rPr>
              <a:t>1</a:t>
            </a:r>
            <a:r>
              <a:rPr lang="en-US" dirty="0" smtClean="0">
                <a:latin typeface="Times New Roman" pitchFamily="18" charset="0"/>
                <a:cs typeface="Times New Roman" pitchFamily="18" charset="0"/>
              </a:rPr>
              <a:t>(a + b(b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aa</a:t>
            </a:r>
            <a:r>
              <a:rPr lang="en-US" dirty="0" smtClean="0">
                <a:latin typeface="Times New Roman" pitchFamily="18" charset="0"/>
                <a:cs typeface="Times New Roman" pitchFamily="18" charset="0"/>
              </a:rPr>
              <a:t>) + </a:t>
            </a:r>
            <a:r>
              <a:rPr lang="el-GR" dirty="0" smtClean="0">
                <a:latin typeface="Times New Roman" pitchFamily="18" charset="0"/>
                <a:cs typeface="Times New Roman" pitchFamily="18" charset="0"/>
              </a:rPr>
              <a:t>ε</a:t>
            </a:r>
          </a:p>
          <a:p>
            <a:pPr>
              <a:buNone/>
            </a:pPr>
            <a:r>
              <a:rPr lang="en-US" dirty="0" smtClean="0">
                <a:latin typeface="Times New Roman" pitchFamily="18" charset="0"/>
                <a:cs typeface="Times New Roman" pitchFamily="18" charset="0"/>
              </a:rPr>
              <a:t>          </a:t>
            </a:r>
            <a:r>
              <a:rPr lang="el-GR" dirty="0" smtClean="0">
                <a:latin typeface="Times New Roman" pitchFamily="18" charset="0"/>
                <a:cs typeface="Times New Roman" pitchFamily="18" charset="0"/>
              </a:rPr>
              <a:t>= ε (</a:t>
            </a:r>
            <a:r>
              <a:rPr lang="en-US" dirty="0" smtClean="0">
                <a:latin typeface="Times New Roman" pitchFamily="18" charset="0"/>
                <a:cs typeface="Times New Roman" pitchFamily="18" charset="0"/>
              </a:rPr>
              <a:t>a+ b(b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aa</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 (a + b(b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aa</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Hence, the regular expression is (a + b(b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a:t>
            </a:r>
            <a:r>
              <a:rPr lang="en-US" dirty="0" err="1" smtClean="0">
                <a:latin typeface="Times New Roman" pitchFamily="18" charset="0"/>
                <a:cs typeface="Times New Roman" pitchFamily="18" charset="0"/>
              </a:rPr>
              <a:t>aa</a:t>
            </a:r>
            <a:r>
              <a:rPr lang="en-US" dirty="0" smtClean="0">
                <a:latin typeface="Times New Roman" pitchFamily="18" charset="0"/>
                <a:cs typeface="Times New Roman" pitchFamily="18" charset="0"/>
              </a:rPr>
              <a:t>)*.</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3444" y="201295"/>
            <a:ext cx="7567930" cy="443711"/>
          </a:xfrm>
          <a:prstGeom prst="rect">
            <a:avLst/>
          </a:prstGeom>
        </p:spPr>
        <p:txBody>
          <a:bodyPr vert="horz" wrap="square" lIns="0" tIns="12700" rIns="0" bIns="0" rtlCol="0">
            <a:spAutoFit/>
          </a:bodyPr>
          <a:lstStyle/>
          <a:p>
            <a:pPr marL="12700">
              <a:lnSpc>
                <a:spcPct val="100000"/>
              </a:lnSpc>
              <a:spcBef>
                <a:spcPts val="100"/>
              </a:spcBef>
            </a:pPr>
            <a:r>
              <a:rPr sz="2800" b="1" dirty="0">
                <a:solidFill>
                  <a:srgbClr val="FF0000"/>
                </a:solidFill>
                <a:latin typeface="+mn-lt"/>
              </a:rPr>
              <a:t>Regular</a:t>
            </a:r>
            <a:r>
              <a:rPr sz="2800" b="1" spc="-5" dirty="0">
                <a:solidFill>
                  <a:srgbClr val="FF0000"/>
                </a:solidFill>
                <a:latin typeface="+mn-lt"/>
              </a:rPr>
              <a:t> sets </a:t>
            </a:r>
            <a:r>
              <a:rPr sz="2800" b="1" dirty="0">
                <a:solidFill>
                  <a:srgbClr val="FF0000"/>
                </a:solidFill>
                <a:latin typeface="+mn-lt"/>
              </a:rPr>
              <a:t>&amp;</a:t>
            </a:r>
            <a:r>
              <a:rPr sz="2800" b="1" spc="-5" dirty="0">
                <a:solidFill>
                  <a:srgbClr val="FF0000"/>
                </a:solidFill>
                <a:latin typeface="+mn-lt"/>
              </a:rPr>
              <a:t> Properties</a:t>
            </a:r>
            <a:r>
              <a:rPr sz="2800" b="1" spc="5" dirty="0">
                <a:solidFill>
                  <a:srgbClr val="FF0000"/>
                </a:solidFill>
                <a:latin typeface="+mn-lt"/>
              </a:rPr>
              <a:t> </a:t>
            </a:r>
            <a:r>
              <a:rPr sz="2800" b="1" dirty="0">
                <a:solidFill>
                  <a:srgbClr val="FF0000"/>
                </a:solidFill>
                <a:latin typeface="+mn-lt"/>
              </a:rPr>
              <a:t>of</a:t>
            </a:r>
            <a:r>
              <a:rPr sz="2800" b="1" spc="-5" dirty="0">
                <a:solidFill>
                  <a:srgbClr val="FF0000"/>
                </a:solidFill>
                <a:latin typeface="+mn-lt"/>
              </a:rPr>
              <a:t> </a:t>
            </a:r>
            <a:r>
              <a:rPr sz="2800" b="1" dirty="0">
                <a:solidFill>
                  <a:srgbClr val="FF0000"/>
                </a:solidFill>
                <a:latin typeface="+mn-lt"/>
              </a:rPr>
              <a:t>Regular</a:t>
            </a:r>
            <a:r>
              <a:rPr sz="2800" b="1" spc="-5" dirty="0">
                <a:solidFill>
                  <a:srgbClr val="FF0000"/>
                </a:solidFill>
                <a:latin typeface="+mn-lt"/>
              </a:rPr>
              <a:t> sets</a:t>
            </a:r>
          </a:p>
        </p:txBody>
      </p:sp>
      <p:sp>
        <p:nvSpPr>
          <p:cNvPr id="3" name="object 3"/>
          <p:cNvSpPr txBox="1"/>
          <p:nvPr/>
        </p:nvSpPr>
        <p:spPr>
          <a:xfrm>
            <a:off x="523240" y="981202"/>
            <a:ext cx="8087359" cy="4744085"/>
          </a:xfrm>
          <a:prstGeom prst="rect">
            <a:avLst/>
          </a:prstGeom>
        </p:spPr>
        <p:txBody>
          <a:bodyPr vert="horz" wrap="square" lIns="0" tIns="49530" rIns="0" bIns="0" rtlCol="0">
            <a:spAutoFit/>
          </a:bodyPr>
          <a:lstStyle/>
          <a:p>
            <a:pPr marL="299085" marR="174625" indent="-274320">
              <a:lnSpc>
                <a:spcPts val="2380"/>
              </a:lnSpc>
              <a:spcBef>
                <a:spcPts val="390"/>
              </a:spcBef>
              <a:buClr>
                <a:srgbClr val="2CA1BE"/>
              </a:buClr>
              <a:buSzPct val="84090"/>
              <a:tabLst>
                <a:tab pos="299085" algn="l"/>
                <a:tab pos="299720" algn="l"/>
              </a:tabLst>
            </a:pPr>
            <a:r>
              <a:rPr sz="2200" spc="-5" dirty="0">
                <a:latin typeface="Times New Roman"/>
                <a:cs typeface="Times New Roman"/>
              </a:rPr>
              <a:t>Any set</a:t>
            </a:r>
            <a:r>
              <a:rPr sz="2200" spc="5" dirty="0">
                <a:latin typeface="Times New Roman"/>
                <a:cs typeface="Times New Roman"/>
              </a:rPr>
              <a:t> </a:t>
            </a:r>
            <a:r>
              <a:rPr sz="2200" spc="-5" dirty="0">
                <a:latin typeface="Times New Roman"/>
                <a:cs typeface="Times New Roman"/>
              </a:rPr>
              <a:t>that</a:t>
            </a:r>
            <a:r>
              <a:rPr sz="2200" dirty="0">
                <a:latin typeface="Times New Roman"/>
                <a:cs typeface="Times New Roman"/>
              </a:rPr>
              <a:t> </a:t>
            </a:r>
            <a:r>
              <a:rPr sz="2200" spc="-5" dirty="0">
                <a:latin typeface="Times New Roman"/>
                <a:cs typeface="Times New Roman"/>
              </a:rPr>
              <a:t>represents</a:t>
            </a:r>
            <a:r>
              <a:rPr sz="2200" spc="20" dirty="0">
                <a:latin typeface="Times New Roman"/>
                <a:cs typeface="Times New Roman"/>
              </a:rPr>
              <a:t> </a:t>
            </a:r>
            <a:r>
              <a:rPr sz="2200" spc="-5" dirty="0">
                <a:latin typeface="Times New Roman"/>
                <a:cs typeface="Times New Roman"/>
              </a:rPr>
              <a:t>the</a:t>
            </a:r>
            <a:r>
              <a:rPr sz="2200" dirty="0">
                <a:latin typeface="Times New Roman"/>
                <a:cs typeface="Times New Roman"/>
              </a:rPr>
              <a:t> </a:t>
            </a:r>
            <a:r>
              <a:rPr sz="2200" spc="-5" dirty="0">
                <a:latin typeface="Times New Roman"/>
                <a:cs typeface="Times New Roman"/>
              </a:rPr>
              <a:t>value of</a:t>
            </a:r>
            <a:r>
              <a:rPr sz="2200" spc="5" dirty="0">
                <a:latin typeface="Times New Roman"/>
                <a:cs typeface="Times New Roman"/>
              </a:rPr>
              <a:t> </a:t>
            </a:r>
            <a:r>
              <a:rPr sz="2200" dirty="0">
                <a:latin typeface="Times New Roman"/>
                <a:cs typeface="Times New Roman"/>
              </a:rPr>
              <a:t>the</a:t>
            </a:r>
            <a:r>
              <a:rPr sz="2200" spc="5" dirty="0">
                <a:latin typeface="Times New Roman"/>
                <a:cs typeface="Times New Roman"/>
              </a:rPr>
              <a:t> </a:t>
            </a:r>
            <a:r>
              <a:rPr sz="2200" spc="-5" dirty="0">
                <a:latin typeface="Times New Roman"/>
                <a:cs typeface="Times New Roman"/>
              </a:rPr>
              <a:t>Regular</a:t>
            </a:r>
            <a:r>
              <a:rPr sz="2200" dirty="0">
                <a:latin typeface="Times New Roman"/>
                <a:cs typeface="Times New Roman"/>
              </a:rPr>
              <a:t> </a:t>
            </a:r>
            <a:r>
              <a:rPr sz="2200" spc="-5" dirty="0">
                <a:latin typeface="Times New Roman"/>
                <a:cs typeface="Times New Roman"/>
              </a:rPr>
              <a:t>Expression</a:t>
            </a:r>
            <a:r>
              <a:rPr sz="2200" spc="15" dirty="0">
                <a:latin typeface="Times New Roman"/>
                <a:cs typeface="Times New Roman"/>
              </a:rPr>
              <a:t> </a:t>
            </a:r>
            <a:r>
              <a:rPr sz="2200" spc="-5" dirty="0">
                <a:latin typeface="Times New Roman"/>
                <a:cs typeface="Times New Roman"/>
              </a:rPr>
              <a:t>is called </a:t>
            </a:r>
            <a:r>
              <a:rPr sz="2200" spc="-535" dirty="0">
                <a:latin typeface="Times New Roman"/>
                <a:cs typeface="Times New Roman"/>
              </a:rPr>
              <a:t> </a:t>
            </a:r>
            <a:r>
              <a:rPr sz="2200" spc="-5" dirty="0">
                <a:latin typeface="Times New Roman"/>
                <a:cs typeface="Times New Roman"/>
              </a:rPr>
              <a:t>a </a:t>
            </a:r>
            <a:r>
              <a:rPr sz="2200" b="1" spc="-5" dirty="0">
                <a:latin typeface="Times New Roman"/>
                <a:cs typeface="Times New Roman"/>
              </a:rPr>
              <a:t>Regular</a:t>
            </a:r>
            <a:r>
              <a:rPr sz="2200" b="1" spc="-45" dirty="0">
                <a:latin typeface="Times New Roman"/>
                <a:cs typeface="Times New Roman"/>
              </a:rPr>
              <a:t> </a:t>
            </a:r>
            <a:r>
              <a:rPr sz="2200" b="1" spc="-5" dirty="0">
                <a:latin typeface="Times New Roman"/>
                <a:cs typeface="Times New Roman"/>
              </a:rPr>
              <a:t>Set.</a:t>
            </a:r>
            <a:endParaRPr sz="2200" dirty="0">
              <a:latin typeface="Times New Roman"/>
              <a:cs typeface="Times New Roman"/>
            </a:endParaRPr>
          </a:p>
          <a:p>
            <a:pPr marL="299720" indent="-274320">
              <a:lnSpc>
                <a:spcPct val="100000"/>
              </a:lnSpc>
              <a:spcBef>
                <a:spcPts val="295"/>
              </a:spcBef>
              <a:buClr>
                <a:srgbClr val="2CA1BE"/>
              </a:buClr>
              <a:buSzPct val="84090"/>
              <a:tabLst>
                <a:tab pos="299085" algn="l"/>
                <a:tab pos="299720" algn="l"/>
              </a:tabLst>
            </a:pPr>
            <a:r>
              <a:rPr sz="2200" b="1" spc="-10" dirty="0">
                <a:latin typeface="Times New Roman"/>
                <a:cs typeface="Times New Roman"/>
              </a:rPr>
              <a:t>Properties</a:t>
            </a:r>
            <a:r>
              <a:rPr sz="2200" b="1" spc="5" dirty="0">
                <a:latin typeface="Times New Roman"/>
                <a:cs typeface="Times New Roman"/>
              </a:rPr>
              <a:t> </a:t>
            </a:r>
            <a:r>
              <a:rPr sz="2200" b="1" spc="-5" dirty="0">
                <a:latin typeface="Times New Roman"/>
                <a:cs typeface="Times New Roman"/>
              </a:rPr>
              <a:t>of Regular</a:t>
            </a:r>
            <a:r>
              <a:rPr sz="2200" b="1" spc="-50" dirty="0">
                <a:latin typeface="Times New Roman"/>
                <a:cs typeface="Times New Roman"/>
              </a:rPr>
              <a:t> </a:t>
            </a:r>
            <a:r>
              <a:rPr sz="2200" b="1" spc="-5" dirty="0">
                <a:latin typeface="Times New Roman"/>
                <a:cs typeface="Times New Roman"/>
              </a:rPr>
              <a:t>Sets:</a:t>
            </a:r>
            <a:endParaRPr sz="2200" dirty="0">
              <a:latin typeface="Times New Roman"/>
              <a:cs typeface="Times New Roman"/>
            </a:endParaRPr>
          </a:p>
          <a:p>
            <a:pPr marL="25400">
              <a:lnSpc>
                <a:spcPct val="100000"/>
              </a:lnSpc>
              <a:spcBef>
                <a:spcPts val="340"/>
              </a:spcBef>
            </a:pPr>
            <a:r>
              <a:rPr sz="2200" b="1" spc="-10" dirty="0">
                <a:solidFill>
                  <a:srgbClr val="FF0000"/>
                </a:solidFill>
                <a:latin typeface="Times New Roman"/>
                <a:cs typeface="Times New Roman"/>
              </a:rPr>
              <a:t>Property</a:t>
            </a:r>
            <a:r>
              <a:rPr sz="2200" b="1" spc="10" dirty="0">
                <a:solidFill>
                  <a:srgbClr val="FF0000"/>
                </a:solidFill>
                <a:latin typeface="Times New Roman"/>
                <a:cs typeface="Times New Roman"/>
              </a:rPr>
              <a:t> </a:t>
            </a:r>
            <a:r>
              <a:rPr sz="2200" b="1" dirty="0">
                <a:solidFill>
                  <a:srgbClr val="FF0000"/>
                </a:solidFill>
                <a:latin typeface="Times New Roman"/>
                <a:cs typeface="Times New Roman"/>
              </a:rPr>
              <a:t>1</a:t>
            </a:r>
            <a:r>
              <a:rPr sz="2200" dirty="0">
                <a:solidFill>
                  <a:srgbClr val="FF0000"/>
                </a:solidFill>
                <a:latin typeface="Times New Roman"/>
                <a:cs typeface="Times New Roman"/>
              </a:rPr>
              <a:t>.</a:t>
            </a:r>
            <a:r>
              <a:rPr sz="2200" spc="-5" dirty="0">
                <a:solidFill>
                  <a:srgbClr val="FF0000"/>
                </a:solidFill>
                <a:latin typeface="Times New Roman"/>
                <a:cs typeface="Times New Roman"/>
              </a:rPr>
              <a:t> </a:t>
            </a:r>
            <a:r>
              <a:rPr sz="2200" i="1" spc="-5" dirty="0">
                <a:solidFill>
                  <a:srgbClr val="FF0000"/>
                </a:solidFill>
                <a:latin typeface="Times New Roman"/>
                <a:cs typeface="Times New Roman"/>
              </a:rPr>
              <a:t>The union</a:t>
            </a:r>
            <a:r>
              <a:rPr sz="2200" i="1" spc="-15" dirty="0">
                <a:solidFill>
                  <a:srgbClr val="FF0000"/>
                </a:solidFill>
                <a:latin typeface="Times New Roman"/>
                <a:cs typeface="Times New Roman"/>
              </a:rPr>
              <a:t> </a:t>
            </a:r>
            <a:r>
              <a:rPr sz="2200" i="1" spc="-5" dirty="0">
                <a:solidFill>
                  <a:srgbClr val="FF0000"/>
                </a:solidFill>
                <a:latin typeface="Times New Roman"/>
                <a:cs typeface="Times New Roman"/>
              </a:rPr>
              <a:t>of</a:t>
            </a:r>
            <a:r>
              <a:rPr sz="2200" i="1" dirty="0">
                <a:solidFill>
                  <a:srgbClr val="FF0000"/>
                </a:solidFill>
                <a:latin typeface="Times New Roman"/>
                <a:cs typeface="Times New Roman"/>
              </a:rPr>
              <a:t> </a:t>
            </a:r>
            <a:r>
              <a:rPr sz="2200" i="1" spc="-5" dirty="0">
                <a:solidFill>
                  <a:srgbClr val="FF0000"/>
                </a:solidFill>
                <a:latin typeface="Times New Roman"/>
                <a:cs typeface="Times New Roman"/>
              </a:rPr>
              <a:t>two</a:t>
            </a:r>
            <a:r>
              <a:rPr sz="2200" i="1" dirty="0">
                <a:solidFill>
                  <a:srgbClr val="FF0000"/>
                </a:solidFill>
                <a:latin typeface="Times New Roman"/>
                <a:cs typeface="Times New Roman"/>
              </a:rPr>
              <a:t> </a:t>
            </a:r>
            <a:r>
              <a:rPr sz="2200" i="1" spc="-15" dirty="0">
                <a:solidFill>
                  <a:srgbClr val="FF0000"/>
                </a:solidFill>
                <a:latin typeface="Times New Roman"/>
                <a:cs typeface="Times New Roman"/>
              </a:rPr>
              <a:t>regular </a:t>
            </a:r>
            <a:r>
              <a:rPr sz="2200" i="1" spc="-5" dirty="0">
                <a:solidFill>
                  <a:srgbClr val="FF0000"/>
                </a:solidFill>
                <a:latin typeface="Times New Roman"/>
                <a:cs typeface="Times New Roman"/>
              </a:rPr>
              <a:t>set</a:t>
            </a:r>
            <a:r>
              <a:rPr sz="2200" i="1" dirty="0">
                <a:solidFill>
                  <a:srgbClr val="FF0000"/>
                </a:solidFill>
                <a:latin typeface="Times New Roman"/>
                <a:cs typeface="Times New Roman"/>
              </a:rPr>
              <a:t> </a:t>
            </a:r>
            <a:r>
              <a:rPr sz="2200" i="1" spc="-5" dirty="0">
                <a:solidFill>
                  <a:srgbClr val="FF0000"/>
                </a:solidFill>
                <a:latin typeface="Times New Roman"/>
                <a:cs typeface="Times New Roman"/>
              </a:rPr>
              <a:t>is </a:t>
            </a:r>
            <a:r>
              <a:rPr sz="2200" i="1" spc="-45" dirty="0">
                <a:solidFill>
                  <a:srgbClr val="FF0000"/>
                </a:solidFill>
                <a:latin typeface="Times New Roman"/>
                <a:cs typeface="Times New Roman"/>
              </a:rPr>
              <a:t>regular.</a:t>
            </a:r>
            <a:endParaRPr sz="2200" dirty="0">
              <a:latin typeface="Times New Roman"/>
              <a:cs typeface="Times New Roman"/>
            </a:endParaRPr>
          </a:p>
          <a:p>
            <a:pPr marL="25400">
              <a:lnSpc>
                <a:spcPct val="100000"/>
              </a:lnSpc>
              <a:spcBef>
                <a:spcPts val="335"/>
              </a:spcBef>
            </a:pPr>
            <a:r>
              <a:rPr sz="2200" b="1" spc="-10" dirty="0">
                <a:latin typeface="Times New Roman"/>
                <a:cs typeface="Times New Roman"/>
              </a:rPr>
              <a:t>Proof</a:t>
            </a:r>
            <a:r>
              <a:rPr sz="2200" b="1" spc="-35" dirty="0">
                <a:latin typeface="Times New Roman"/>
                <a:cs typeface="Times New Roman"/>
              </a:rPr>
              <a:t> </a:t>
            </a:r>
            <a:r>
              <a:rPr lang="en-US" sz="2200" b="1" spc="-35" dirty="0" smtClean="0">
                <a:latin typeface="Times New Roman"/>
                <a:cs typeface="Times New Roman"/>
              </a:rPr>
              <a:t>:</a:t>
            </a:r>
            <a:endParaRPr sz="2200" dirty="0">
              <a:latin typeface="Times New Roman"/>
              <a:cs typeface="Times New Roman"/>
            </a:endParaRPr>
          </a:p>
          <a:p>
            <a:pPr marL="25400" marR="4107815">
              <a:lnSpc>
                <a:spcPct val="112700"/>
              </a:lnSpc>
            </a:pPr>
            <a:r>
              <a:rPr sz="2200" spc="-5" dirty="0">
                <a:latin typeface="Times New Roman"/>
                <a:cs typeface="Times New Roman"/>
              </a:rPr>
              <a:t>Let</a:t>
            </a:r>
            <a:r>
              <a:rPr sz="2200" spc="5" dirty="0">
                <a:latin typeface="Times New Roman"/>
                <a:cs typeface="Times New Roman"/>
              </a:rPr>
              <a:t> </a:t>
            </a:r>
            <a:r>
              <a:rPr sz="2200" spc="-5" dirty="0">
                <a:latin typeface="Times New Roman"/>
                <a:cs typeface="Times New Roman"/>
              </a:rPr>
              <a:t>us</a:t>
            </a:r>
            <a:r>
              <a:rPr sz="2200" spc="-10" dirty="0">
                <a:latin typeface="Times New Roman"/>
                <a:cs typeface="Times New Roman"/>
              </a:rPr>
              <a:t> </a:t>
            </a:r>
            <a:r>
              <a:rPr sz="2200" spc="-5" dirty="0">
                <a:latin typeface="Times New Roman"/>
                <a:cs typeface="Times New Roman"/>
              </a:rPr>
              <a:t>take two regular expressions </a:t>
            </a:r>
            <a:r>
              <a:rPr sz="2200" spc="-535" dirty="0">
                <a:latin typeface="Times New Roman"/>
                <a:cs typeface="Times New Roman"/>
              </a:rPr>
              <a:t> </a:t>
            </a:r>
            <a:r>
              <a:rPr sz="2200" spc="-5" dirty="0">
                <a:latin typeface="Times New Roman"/>
                <a:cs typeface="Times New Roman"/>
              </a:rPr>
              <a:t>RE</a:t>
            </a:r>
            <a:r>
              <a:rPr sz="2175" spc="-7" baseline="-21072" dirty="0">
                <a:latin typeface="Times New Roman"/>
                <a:cs typeface="Times New Roman"/>
              </a:rPr>
              <a:t>1</a:t>
            </a:r>
            <a:r>
              <a:rPr sz="2175" spc="292" baseline="-21072" dirty="0">
                <a:latin typeface="Times New Roman"/>
                <a:cs typeface="Times New Roman"/>
              </a:rPr>
              <a:t> </a:t>
            </a:r>
            <a:r>
              <a:rPr sz="2200" spc="-5" dirty="0">
                <a:latin typeface="Times New Roman"/>
                <a:cs typeface="Times New Roman"/>
              </a:rPr>
              <a:t>= a(aa)*</a:t>
            </a:r>
            <a:r>
              <a:rPr sz="2200" spc="10" dirty="0">
                <a:latin typeface="Times New Roman"/>
                <a:cs typeface="Times New Roman"/>
              </a:rPr>
              <a:t> </a:t>
            </a:r>
            <a:r>
              <a:rPr sz="2200" spc="-5" dirty="0">
                <a:latin typeface="Times New Roman"/>
                <a:cs typeface="Times New Roman"/>
              </a:rPr>
              <a:t>and</a:t>
            </a:r>
            <a:r>
              <a:rPr sz="2200" spc="-10" dirty="0">
                <a:latin typeface="Times New Roman"/>
                <a:cs typeface="Times New Roman"/>
              </a:rPr>
              <a:t> </a:t>
            </a:r>
            <a:r>
              <a:rPr sz="2200" dirty="0">
                <a:latin typeface="Times New Roman"/>
                <a:cs typeface="Times New Roman"/>
              </a:rPr>
              <a:t>RE</a:t>
            </a:r>
            <a:r>
              <a:rPr sz="2175" baseline="-21072" dirty="0">
                <a:latin typeface="Times New Roman"/>
                <a:cs typeface="Times New Roman"/>
              </a:rPr>
              <a:t>2</a:t>
            </a:r>
            <a:r>
              <a:rPr sz="2175" spc="300" baseline="-21072" dirty="0">
                <a:latin typeface="Times New Roman"/>
                <a:cs typeface="Times New Roman"/>
              </a:rPr>
              <a:t> </a:t>
            </a:r>
            <a:r>
              <a:rPr sz="2200" spc="-5" dirty="0">
                <a:latin typeface="Times New Roman"/>
                <a:cs typeface="Times New Roman"/>
              </a:rPr>
              <a:t>=</a:t>
            </a:r>
            <a:r>
              <a:rPr sz="2200" spc="-10" dirty="0">
                <a:latin typeface="Times New Roman"/>
                <a:cs typeface="Times New Roman"/>
              </a:rPr>
              <a:t> </a:t>
            </a:r>
            <a:r>
              <a:rPr sz="2200" spc="-5" dirty="0">
                <a:latin typeface="Times New Roman"/>
                <a:cs typeface="Times New Roman"/>
              </a:rPr>
              <a:t>(aa)*</a:t>
            </a:r>
            <a:endParaRPr sz="2200" dirty="0">
              <a:latin typeface="Times New Roman"/>
              <a:cs typeface="Times New Roman"/>
            </a:endParaRPr>
          </a:p>
          <a:p>
            <a:pPr marL="25400" marR="417830">
              <a:lnSpc>
                <a:spcPct val="112700"/>
              </a:lnSpc>
              <a:spcBef>
                <a:spcPts val="5"/>
              </a:spcBef>
            </a:pPr>
            <a:r>
              <a:rPr sz="2200" spc="-5" dirty="0">
                <a:latin typeface="Times New Roman"/>
                <a:cs typeface="Times New Roman"/>
              </a:rPr>
              <a:t>So, </a:t>
            </a:r>
            <a:r>
              <a:rPr sz="2200" dirty="0">
                <a:latin typeface="Times New Roman"/>
                <a:cs typeface="Times New Roman"/>
              </a:rPr>
              <a:t>L</a:t>
            </a:r>
            <a:r>
              <a:rPr sz="2175" baseline="-21072" dirty="0">
                <a:latin typeface="Times New Roman"/>
                <a:cs typeface="Times New Roman"/>
              </a:rPr>
              <a:t>1</a:t>
            </a:r>
            <a:r>
              <a:rPr sz="2175" spc="7" baseline="-21072" dirty="0">
                <a:latin typeface="Times New Roman"/>
                <a:cs typeface="Times New Roman"/>
              </a:rPr>
              <a:t> </a:t>
            </a:r>
            <a:r>
              <a:rPr sz="2200" spc="-5" dirty="0">
                <a:latin typeface="Times New Roman"/>
                <a:cs typeface="Times New Roman"/>
              </a:rPr>
              <a:t>= {a, </a:t>
            </a:r>
            <a:r>
              <a:rPr sz="2200" spc="-10" dirty="0">
                <a:latin typeface="Times New Roman"/>
                <a:cs typeface="Times New Roman"/>
              </a:rPr>
              <a:t>aaa, </a:t>
            </a:r>
            <a:r>
              <a:rPr sz="2200" spc="-5" dirty="0">
                <a:latin typeface="Times New Roman"/>
                <a:cs typeface="Times New Roman"/>
              </a:rPr>
              <a:t>aaaaa,.....} (Strings of odd length excluding Null) </a:t>
            </a:r>
            <a:r>
              <a:rPr sz="2200" dirty="0">
                <a:latin typeface="Times New Roman"/>
                <a:cs typeface="Times New Roman"/>
              </a:rPr>
              <a:t> </a:t>
            </a:r>
            <a:r>
              <a:rPr sz="2200" spc="-5" dirty="0">
                <a:latin typeface="Times New Roman"/>
                <a:cs typeface="Times New Roman"/>
              </a:rPr>
              <a:t>and</a:t>
            </a:r>
            <a:r>
              <a:rPr sz="2200" dirty="0">
                <a:latin typeface="Times New Roman"/>
                <a:cs typeface="Times New Roman"/>
              </a:rPr>
              <a:t> L</a:t>
            </a:r>
            <a:r>
              <a:rPr sz="2175" baseline="-21072" dirty="0">
                <a:latin typeface="Times New Roman"/>
                <a:cs typeface="Times New Roman"/>
              </a:rPr>
              <a:t>2</a:t>
            </a:r>
            <a:r>
              <a:rPr sz="2175" spc="300" baseline="-21072" dirty="0">
                <a:latin typeface="Times New Roman"/>
                <a:cs typeface="Times New Roman"/>
              </a:rPr>
              <a:t> </a:t>
            </a:r>
            <a:r>
              <a:rPr sz="2200" spc="-5" dirty="0">
                <a:latin typeface="Times New Roman"/>
                <a:cs typeface="Times New Roman"/>
              </a:rPr>
              <a:t>={</a:t>
            </a:r>
            <a:r>
              <a:rPr sz="2200" spc="5" dirty="0">
                <a:latin typeface="Times New Roman"/>
                <a:cs typeface="Times New Roman"/>
              </a:rPr>
              <a:t> </a:t>
            </a:r>
            <a:r>
              <a:rPr sz="2200" spc="-5" dirty="0">
                <a:latin typeface="Times New Roman"/>
                <a:cs typeface="Times New Roman"/>
              </a:rPr>
              <a:t>ε, aa,</a:t>
            </a:r>
            <a:r>
              <a:rPr sz="2200" spc="15" dirty="0">
                <a:latin typeface="Times New Roman"/>
                <a:cs typeface="Times New Roman"/>
              </a:rPr>
              <a:t> </a:t>
            </a:r>
            <a:r>
              <a:rPr sz="2200" spc="-10" dirty="0">
                <a:latin typeface="Times New Roman"/>
                <a:cs typeface="Times New Roman"/>
              </a:rPr>
              <a:t>aaaa,</a:t>
            </a:r>
            <a:r>
              <a:rPr sz="2200" spc="10" dirty="0">
                <a:latin typeface="Times New Roman"/>
                <a:cs typeface="Times New Roman"/>
              </a:rPr>
              <a:t> </a:t>
            </a:r>
            <a:r>
              <a:rPr sz="2200" spc="-5" dirty="0">
                <a:latin typeface="Times New Roman"/>
                <a:cs typeface="Times New Roman"/>
              </a:rPr>
              <a:t>aaaaaa,.......}</a:t>
            </a:r>
            <a:r>
              <a:rPr sz="2200" spc="10" dirty="0">
                <a:latin typeface="Times New Roman"/>
                <a:cs typeface="Times New Roman"/>
              </a:rPr>
              <a:t> </a:t>
            </a:r>
            <a:r>
              <a:rPr sz="2200" spc="-5" dirty="0">
                <a:latin typeface="Times New Roman"/>
                <a:cs typeface="Times New Roman"/>
              </a:rPr>
              <a:t>(Strings</a:t>
            </a:r>
            <a:r>
              <a:rPr sz="2200" spc="10" dirty="0">
                <a:latin typeface="Times New Roman"/>
                <a:cs typeface="Times New Roman"/>
              </a:rPr>
              <a:t> </a:t>
            </a:r>
            <a:r>
              <a:rPr sz="2200" spc="-5" dirty="0">
                <a:latin typeface="Times New Roman"/>
                <a:cs typeface="Times New Roman"/>
              </a:rPr>
              <a:t>of</a:t>
            </a:r>
            <a:r>
              <a:rPr sz="2200" spc="5" dirty="0">
                <a:latin typeface="Times New Roman"/>
                <a:cs typeface="Times New Roman"/>
              </a:rPr>
              <a:t> </a:t>
            </a:r>
            <a:r>
              <a:rPr sz="2200" spc="-5" dirty="0">
                <a:latin typeface="Times New Roman"/>
                <a:cs typeface="Times New Roman"/>
              </a:rPr>
              <a:t>even</a:t>
            </a:r>
            <a:r>
              <a:rPr sz="2200" dirty="0">
                <a:latin typeface="Times New Roman"/>
                <a:cs typeface="Times New Roman"/>
              </a:rPr>
              <a:t> </a:t>
            </a:r>
            <a:r>
              <a:rPr sz="2200" spc="-5" dirty="0">
                <a:latin typeface="Times New Roman"/>
                <a:cs typeface="Times New Roman"/>
              </a:rPr>
              <a:t>length</a:t>
            </a:r>
            <a:r>
              <a:rPr sz="2200" spc="10" dirty="0">
                <a:latin typeface="Times New Roman"/>
                <a:cs typeface="Times New Roman"/>
              </a:rPr>
              <a:t> </a:t>
            </a:r>
            <a:r>
              <a:rPr sz="2200" spc="-5" dirty="0">
                <a:latin typeface="Times New Roman"/>
                <a:cs typeface="Times New Roman"/>
              </a:rPr>
              <a:t>including</a:t>
            </a:r>
            <a:endParaRPr sz="2200" dirty="0">
              <a:latin typeface="Times New Roman"/>
              <a:cs typeface="Times New Roman"/>
            </a:endParaRPr>
          </a:p>
          <a:p>
            <a:pPr marL="299085">
              <a:lnSpc>
                <a:spcPts val="2375"/>
              </a:lnSpc>
            </a:pPr>
            <a:r>
              <a:rPr sz="2200" spc="-5" dirty="0">
                <a:latin typeface="Times New Roman"/>
                <a:cs typeface="Times New Roman"/>
              </a:rPr>
              <a:t>Null)</a:t>
            </a:r>
            <a:endParaRPr sz="2200" dirty="0">
              <a:latin typeface="Times New Roman"/>
              <a:cs typeface="Times New Roman"/>
            </a:endParaRPr>
          </a:p>
          <a:p>
            <a:pPr marL="25400">
              <a:lnSpc>
                <a:spcPct val="100000"/>
              </a:lnSpc>
              <a:spcBef>
                <a:spcPts val="335"/>
              </a:spcBef>
            </a:pPr>
            <a:r>
              <a:rPr sz="2200" dirty="0">
                <a:latin typeface="Times New Roman"/>
                <a:cs typeface="Times New Roman"/>
              </a:rPr>
              <a:t>L</a:t>
            </a:r>
            <a:r>
              <a:rPr sz="2175" baseline="-21072" dirty="0">
                <a:latin typeface="Times New Roman"/>
                <a:cs typeface="Times New Roman"/>
              </a:rPr>
              <a:t>1</a:t>
            </a:r>
            <a:r>
              <a:rPr sz="2175" spc="292" baseline="-21072" dirty="0">
                <a:latin typeface="Times New Roman"/>
                <a:cs typeface="Times New Roman"/>
              </a:rPr>
              <a:t> </a:t>
            </a:r>
            <a:r>
              <a:rPr sz="2200" spc="90" dirty="0">
                <a:latin typeface="Cambria Math"/>
                <a:cs typeface="Cambria Math"/>
              </a:rPr>
              <a:t>𝖴</a:t>
            </a:r>
            <a:r>
              <a:rPr sz="2200" spc="70" dirty="0">
                <a:latin typeface="Cambria Math"/>
                <a:cs typeface="Cambria Math"/>
              </a:rPr>
              <a:t> </a:t>
            </a:r>
            <a:r>
              <a:rPr sz="2200" dirty="0">
                <a:latin typeface="Times New Roman"/>
                <a:cs typeface="Times New Roman"/>
              </a:rPr>
              <a:t>L</a:t>
            </a:r>
            <a:r>
              <a:rPr sz="2175" baseline="-21072" dirty="0">
                <a:latin typeface="Times New Roman"/>
                <a:cs typeface="Times New Roman"/>
              </a:rPr>
              <a:t>2</a:t>
            </a:r>
            <a:r>
              <a:rPr sz="2175" spc="284" baseline="-21072" dirty="0">
                <a:latin typeface="Times New Roman"/>
                <a:cs typeface="Times New Roman"/>
              </a:rPr>
              <a:t> </a:t>
            </a:r>
            <a:r>
              <a:rPr sz="2200" spc="-5" dirty="0">
                <a:latin typeface="Times New Roman"/>
                <a:cs typeface="Times New Roman"/>
              </a:rPr>
              <a:t>= {</a:t>
            </a:r>
            <a:r>
              <a:rPr sz="2200" spc="5" dirty="0">
                <a:latin typeface="Times New Roman"/>
                <a:cs typeface="Times New Roman"/>
              </a:rPr>
              <a:t> </a:t>
            </a:r>
            <a:r>
              <a:rPr sz="2200" spc="-5" dirty="0">
                <a:latin typeface="Times New Roman"/>
                <a:cs typeface="Times New Roman"/>
              </a:rPr>
              <a:t>ε,</a:t>
            </a:r>
            <a:r>
              <a:rPr sz="2200" spc="-10" dirty="0">
                <a:latin typeface="Times New Roman"/>
                <a:cs typeface="Times New Roman"/>
              </a:rPr>
              <a:t> </a:t>
            </a:r>
            <a:r>
              <a:rPr sz="2200" spc="-5" dirty="0">
                <a:latin typeface="Times New Roman"/>
                <a:cs typeface="Times New Roman"/>
              </a:rPr>
              <a:t>a,</a:t>
            </a:r>
            <a:r>
              <a:rPr sz="2200" dirty="0">
                <a:latin typeface="Times New Roman"/>
                <a:cs typeface="Times New Roman"/>
              </a:rPr>
              <a:t> </a:t>
            </a:r>
            <a:r>
              <a:rPr sz="2200" spc="-5" dirty="0">
                <a:latin typeface="Times New Roman"/>
                <a:cs typeface="Times New Roman"/>
              </a:rPr>
              <a:t>aa,</a:t>
            </a:r>
            <a:r>
              <a:rPr sz="2200" spc="15" dirty="0">
                <a:latin typeface="Times New Roman"/>
                <a:cs typeface="Times New Roman"/>
              </a:rPr>
              <a:t> </a:t>
            </a:r>
            <a:r>
              <a:rPr sz="2200" spc="-5" dirty="0">
                <a:latin typeface="Times New Roman"/>
                <a:cs typeface="Times New Roman"/>
              </a:rPr>
              <a:t>aaa,</a:t>
            </a:r>
            <a:r>
              <a:rPr sz="2200" spc="10" dirty="0">
                <a:latin typeface="Times New Roman"/>
                <a:cs typeface="Times New Roman"/>
              </a:rPr>
              <a:t> </a:t>
            </a:r>
            <a:r>
              <a:rPr sz="2200" spc="-10" dirty="0">
                <a:latin typeface="Times New Roman"/>
                <a:cs typeface="Times New Roman"/>
              </a:rPr>
              <a:t>aaaa,</a:t>
            </a:r>
            <a:r>
              <a:rPr sz="2200" spc="15" dirty="0">
                <a:latin typeface="Times New Roman"/>
                <a:cs typeface="Times New Roman"/>
              </a:rPr>
              <a:t> </a:t>
            </a:r>
            <a:r>
              <a:rPr sz="2200" spc="-10" dirty="0">
                <a:latin typeface="Times New Roman"/>
                <a:cs typeface="Times New Roman"/>
              </a:rPr>
              <a:t>aaaaa,</a:t>
            </a:r>
            <a:r>
              <a:rPr sz="2200" spc="15" dirty="0">
                <a:latin typeface="Times New Roman"/>
                <a:cs typeface="Times New Roman"/>
              </a:rPr>
              <a:t> </a:t>
            </a:r>
            <a:r>
              <a:rPr sz="2200" spc="-5" dirty="0">
                <a:latin typeface="Times New Roman"/>
                <a:cs typeface="Times New Roman"/>
              </a:rPr>
              <a:t>aaaaaa,.......}</a:t>
            </a:r>
            <a:endParaRPr sz="2200" dirty="0">
              <a:latin typeface="Times New Roman"/>
              <a:cs typeface="Times New Roman"/>
            </a:endParaRPr>
          </a:p>
          <a:p>
            <a:pPr marL="25400">
              <a:lnSpc>
                <a:spcPct val="100000"/>
              </a:lnSpc>
              <a:spcBef>
                <a:spcPts val="335"/>
              </a:spcBef>
            </a:pPr>
            <a:r>
              <a:rPr sz="2200" spc="-5" dirty="0">
                <a:latin typeface="Times New Roman"/>
                <a:cs typeface="Times New Roman"/>
              </a:rPr>
              <a:t>(Strings</a:t>
            </a:r>
            <a:r>
              <a:rPr sz="2200" spc="5" dirty="0">
                <a:latin typeface="Times New Roman"/>
                <a:cs typeface="Times New Roman"/>
              </a:rPr>
              <a:t> </a:t>
            </a:r>
            <a:r>
              <a:rPr sz="2200" dirty="0">
                <a:latin typeface="Times New Roman"/>
                <a:cs typeface="Times New Roman"/>
              </a:rPr>
              <a:t>of</a:t>
            </a:r>
            <a:r>
              <a:rPr sz="2200" spc="5" dirty="0">
                <a:latin typeface="Times New Roman"/>
                <a:cs typeface="Times New Roman"/>
              </a:rPr>
              <a:t> </a:t>
            </a:r>
            <a:r>
              <a:rPr sz="2200" spc="-5" dirty="0">
                <a:latin typeface="Times New Roman"/>
                <a:cs typeface="Times New Roman"/>
              </a:rPr>
              <a:t>all</a:t>
            </a:r>
            <a:r>
              <a:rPr sz="2200" spc="5" dirty="0">
                <a:latin typeface="Times New Roman"/>
                <a:cs typeface="Times New Roman"/>
              </a:rPr>
              <a:t> </a:t>
            </a:r>
            <a:r>
              <a:rPr sz="2200" spc="-5" dirty="0">
                <a:latin typeface="Times New Roman"/>
                <a:cs typeface="Times New Roman"/>
              </a:rPr>
              <a:t>possible</a:t>
            </a:r>
            <a:r>
              <a:rPr sz="2200" dirty="0">
                <a:latin typeface="Times New Roman"/>
                <a:cs typeface="Times New Roman"/>
              </a:rPr>
              <a:t> </a:t>
            </a:r>
            <a:r>
              <a:rPr sz="2200" spc="-5" dirty="0">
                <a:latin typeface="Times New Roman"/>
                <a:cs typeface="Times New Roman"/>
              </a:rPr>
              <a:t>lengths</a:t>
            </a:r>
            <a:r>
              <a:rPr sz="2200" dirty="0">
                <a:latin typeface="Times New Roman"/>
                <a:cs typeface="Times New Roman"/>
              </a:rPr>
              <a:t> </a:t>
            </a:r>
            <a:r>
              <a:rPr sz="2200" spc="-5" dirty="0">
                <a:latin typeface="Times New Roman"/>
                <a:cs typeface="Times New Roman"/>
              </a:rPr>
              <a:t>including</a:t>
            </a:r>
            <a:r>
              <a:rPr sz="2200" spc="5" dirty="0">
                <a:latin typeface="Times New Roman"/>
                <a:cs typeface="Times New Roman"/>
              </a:rPr>
              <a:t> </a:t>
            </a:r>
            <a:r>
              <a:rPr sz="2200" spc="-5" dirty="0">
                <a:latin typeface="Times New Roman"/>
                <a:cs typeface="Times New Roman"/>
              </a:rPr>
              <a:t>Null)</a:t>
            </a:r>
            <a:endParaRPr sz="2200" dirty="0">
              <a:latin typeface="Times New Roman"/>
              <a:cs typeface="Times New Roman"/>
            </a:endParaRPr>
          </a:p>
          <a:p>
            <a:pPr marL="25400">
              <a:lnSpc>
                <a:spcPct val="100000"/>
              </a:lnSpc>
              <a:spcBef>
                <a:spcPts val="340"/>
              </a:spcBef>
            </a:pPr>
            <a:r>
              <a:rPr sz="2200" spc="-5" dirty="0">
                <a:latin typeface="Times New Roman"/>
                <a:cs typeface="Times New Roman"/>
              </a:rPr>
              <a:t>RE</a:t>
            </a:r>
            <a:r>
              <a:rPr sz="2200" dirty="0">
                <a:latin typeface="Times New Roman"/>
                <a:cs typeface="Times New Roman"/>
              </a:rPr>
              <a:t> (L</a:t>
            </a:r>
            <a:r>
              <a:rPr sz="2175" baseline="-21072" dirty="0">
                <a:latin typeface="Times New Roman"/>
                <a:cs typeface="Times New Roman"/>
              </a:rPr>
              <a:t>1</a:t>
            </a:r>
            <a:r>
              <a:rPr sz="2175" spc="300" baseline="-21072" dirty="0">
                <a:latin typeface="Times New Roman"/>
                <a:cs typeface="Times New Roman"/>
              </a:rPr>
              <a:t> </a:t>
            </a:r>
            <a:r>
              <a:rPr sz="2200" spc="90" dirty="0">
                <a:latin typeface="Cambria Math"/>
                <a:cs typeface="Cambria Math"/>
              </a:rPr>
              <a:t>𝖴</a:t>
            </a:r>
            <a:r>
              <a:rPr sz="2200" spc="75" dirty="0">
                <a:latin typeface="Cambria Math"/>
                <a:cs typeface="Cambria Math"/>
              </a:rPr>
              <a:t> </a:t>
            </a:r>
            <a:r>
              <a:rPr sz="2200" dirty="0">
                <a:latin typeface="Times New Roman"/>
                <a:cs typeface="Times New Roman"/>
              </a:rPr>
              <a:t>L</a:t>
            </a:r>
            <a:r>
              <a:rPr sz="2175" baseline="-21072" dirty="0">
                <a:latin typeface="Times New Roman"/>
                <a:cs typeface="Times New Roman"/>
              </a:rPr>
              <a:t>2</a:t>
            </a:r>
            <a:r>
              <a:rPr sz="2200" dirty="0">
                <a:latin typeface="Times New Roman"/>
                <a:cs typeface="Times New Roman"/>
              </a:rPr>
              <a:t>)</a:t>
            </a:r>
            <a:r>
              <a:rPr sz="2200" spc="30" dirty="0">
                <a:latin typeface="Times New Roman"/>
                <a:cs typeface="Times New Roman"/>
              </a:rPr>
              <a:t> </a:t>
            </a:r>
            <a:r>
              <a:rPr sz="2200" spc="-5" dirty="0">
                <a:latin typeface="Times New Roman"/>
                <a:cs typeface="Times New Roman"/>
              </a:rPr>
              <a:t>=</a:t>
            </a:r>
            <a:r>
              <a:rPr sz="2200" dirty="0">
                <a:latin typeface="Times New Roman"/>
                <a:cs typeface="Times New Roman"/>
              </a:rPr>
              <a:t> </a:t>
            </a:r>
            <a:r>
              <a:rPr sz="2200" spc="-5" dirty="0">
                <a:latin typeface="Times New Roman"/>
                <a:cs typeface="Times New Roman"/>
              </a:rPr>
              <a:t>a*</a:t>
            </a:r>
            <a:r>
              <a:rPr sz="2200" spc="5" dirty="0">
                <a:latin typeface="Times New Roman"/>
                <a:cs typeface="Times New Roman"/>
              </a:rPr>
              <a:t> </a:t>
            </a:r>
            <a:r>
              <a:rPr sz="2200" spc="-5" dirty="0">
                <a:latin typeface="Times New Roman"/>
                <a:cs typeface="Times New Roman"/>
              </a:rPr>
              <a:t>(which</a:t>
            </a:r>
            <a:r>
              <a:rPr sz="2200"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5" dirty="0">
                <a:latin typeface="Times New Roman"/>
                <a:cs typeface="Times New Roman"/>
              </a:rPr>
              <a:t>a</a:t>
            </a:r>
            <a:r>
              <a:rPr sz="2200" dirty="0">
                <a:latin typeface="Times New Roman"/>
                <a:cs typeface="Times New Roman"/>
              </a:rPr>
              <a:t> </a:t>
            </a:r>
            <a:r>
              <a:rPr sz="2200" spc="-5" dirty="0">
                <a:latin typeface="Times New Roman"/>
                <a:cs typeface="Times New Roman"/>
              </a:rPr>
              <a:t>regular</a:t>
            </a:r>
            <a:r>
              <a:rPr sz="2200" spc="15" dirty="0">
                <a:latin typeface="Times New Roman"/>
                <a:cs typeface="Times New Roman"/>
              </a:rPr>
              <a:t> </a:t>
            </a:r>
            <a:r>
              <a:rPr sz="2200" spc="-5" dirty="0">
                <a:latin typeface="Times New Roman"/>
                <a:cs typeface="Times New Roman"/>
              </a:rPr>
              <a:t>expression</a:t>
            </a:r>
            <a:r>
              <a:rPr sz="2200" dirty="0">
                <a:latin typeface="Times New Roman"/>
                <a:cs typeface="Times New Roman"/>
              </a:rPr>
              <a:t> </a:t>
            </a:r>
            <a:r>
              <a:rPr sz="2200" spc="-5" dirty="0">
                <a:latin typeface="Times New Roman"/>
                <a:cs typeface="Times New Roman"/>
              </a:rPr>
              <a:t>itself)</a:t>
            </a:r>
            <a:r>
              <a:rPr sz="2200" spc="35" dirty="0">
                <a:latin typeface="Times New Roman"/>
                <a:cs typeface="Times New Roman"/>
              </a:rPr>
              <a:t> </a:t>
            </a:r>
            <a:r>
              <a:rPr sz="2200" b="1" spc="-5" dirty="0">
                <a:latin typeface="Times New Roman"/>
                <a:cs typeface="Times New Roman"/>
              </a:rPr>
              <a:t>Hence,</a:t>
            </a:r>
            <a:r>
              <a:rPr sz="2200" b="1" spc="15" dirty="0">
                <a:latin typeface="Times New Roman"/>
                <a:cs typeface="Times New Roman"/>
              </a:rPr>
              <a:t> </a:t>
            </a:r>
            <a:r>
              <a:rPr sz="2200" b="1" spc="-10" dirty="0">
                <a:latin typeface="Times New Roman"/>
                <a:cs typeface="Times New Roman"/>
              </a:rPr>
              <a:t>proved.</a:t>
            </a:r>
            <a:endParaRPr sz="2200" dirty="0">
              <a:latin typeface="Times New Roman"/>
              <a:cs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37540" y="709929"/>
            <a:ext cx="8006080" cy="5131533"/>
          </a:xfrm>
          <a:prstGeom prst="rect">
            <a:avLst/>
          </a:prstGeom>
        </p:spPr>
        <p:txBody>
          <a:bodyPr vert="horz" wrap="square" lIns="0" tIns="12065" rIns="0" bIns="0" rtlCol="0">
            <a:spAutoFit/>
          </a:bodyPr>
          <a:lstStyle/>
          <a:p>
            <a:pPr marL="63500">
              <a:lnSpc>
                <a:spcPct val="100000"/>
              </a:lnSpc>
              <a:spcBef>
                <a:spcPts val="95"/>
              </a:spcBef>
            </a:pPr>
            <a:r>
              <a:rPr sz="2200" b="1" spc="-10" dirty="0">
                <a:solidFill>
                  <a:srgbClr val="FF0000"/>
                </a:solidFill>
                <a:latin typeface="Times New Roman"/>
                <a:cs typeface="Times New Roman"/>
              </a:rPr>
              <a:t>Property</a:t>
            </a:r>
            <a:r>
              <a:rPr sz="2200" b="1" spc="10" dirty="0">
                <a:solidFill>
                  <a:srgbClr val="FF0000"/>
                </a:solidFill>
                <a:latin typeface="Times New Roman"/>
                <a:cs typeface="Times New Roman"/>
              </a:rPr>
              <a:t> </a:t>
            </a:r>
            <a:r>
              <a:rPr sz="2200" b="1" spc="-5" dirty="0">
                <a:solidFill>
                  <a:srgbClr val="FF0000"/>
                </a:solidFill>
                <a:latin typeface="Times New Roman"/>
                <a:cs typeface="Times New Roman"/>
              </a:rPr>
              <a:t>2.</a:t>
            </a:r>
            <a:r>
              <a:rPr sz="2200" b="1" spc="10" dirty="0">
                <a:solidFill>
                  <a:srgbClr val="FF0000"/>
                </a:solidFill>
                <a:latin typeface="Times New Roman"/>
                <a:cs typeface="Times New Roman"/>
              </a:rPr>
              <a:t> </a:t>
            </a:r>
            <a:r>
              <a:rPr sz="2200" i="1" spc="-5" dirty="0">
                <a:solidFill>
                  <a:srgbClr val="FF0000"/>
                </a:solidFill>
                <a:latin typeface="Times New Roman"/>
                <a:cs typeface="Times New Roman"/>
              </a:rPr>
              <a:t>The</a:t>
            </a:r>
            <a:r>
              <a:rPr sz="2200" i="1" dirty="0">
                <a:solidFill>
                  <a:srgbClr val="FF0000"/>
                </a:solidFill>
                <a:latin typeface="Times New Roman"/>
                <a:cs typeface="Times New Roman"/>
              </a:rPr>
              <a:t> </a:t>
            </a:r>
            <a:r>
              <a:rPr sz="2200" i="1" spc="-5" dirty="0">
                <a:solidFill>
                  <a:srgbClr val="FF0000"/>
                </a:solidFill>
                <a:latin typeface="Times New Roman"/>
                <a:cs typeface="Times New Roman"/>
              </a:rPr>
              <a:t>intersection of</a:t>
            </a:r>
            <a:r>
              <a:rPr sz="2200" i="1" spc="5" dirty="0">
                <a:solidFill>
                  <a:srgbClr val="FF0000"/>
                </a:solidFill>
                <a:latin typeface="Times New Roman"/>
                <a:cs typeface="Times New Roman"/>
              </a:rPr>
              <a:t> </a:t>
            </a:r>
            <a:r>
              <a:rPr sz="2200" i="1" spc="-5" dirty="0">
                <a:solidFill>
                  <a:srgbClr val="FF0000"/>
                </a:solidFill>
                <a:latin typeface="Times New Roman"/>
                <a:cs typeface="Times New Roman"/>
              </a:rPr>
              <a:t>two</a:t>
            </a:r>
            <a:r>
              <a:rPr sz="2200" i="1" dirty="0">
                <a:solidFill>
                  <a:srgbClr val="FF0000"/>
                </a:solidFill>
                <a:latin typeface="Times New Roman"/>
                <a:cs typeface="Times New Roman"/>
              </a:rPr>
              <a:t> </a:t>
            </a:r>
            <a:r>
              <a:rPr sz="2200" i="1" spc="-15" dirty="0">
                <a:solidFill>
                  <a:srgbClr val="FF0000"/>
                </a:solidFill>
                <a:latin typeface="Times New Roman"/>
                <a:cs typeface="Times New Roman"/>
              </a:rPr>
              <a:t>regular</a:t>
            </a:r>
            <a:r>
              <a:rPr sz="2200" i="1" spc="-10" dirty="0">
                <a:solidFill>
                  <a:srgbClr val="FF0000"/>
                </a:solidFill>
                <a:latin typeface="Times New Roman"/>
                <a:cs typeface="Times New Roman"/>
              </a:rPr>
              <a:t> </a:t>
            </a:r>
            <a:r>
              <a:rPr sz="2200" i="1" spc="-5" dirty="0">
                <a:solidFill>
                  <a:srgbClr val="FF0000"/>
                </a:solidFill>
                <a:latin typeface="Times New Roman"/>
                <a:cs typeface="Times New Roman"/>
              </a:rPr>
              <a:t>set is</a:t>
            </a:r>
            <a:r>
              <a:rPr sz="2200" i="1" dirty="0">
                <a:solidFill>
                  <a:srgbClr val="FF0000"/>
                </a:solidFill>
                <a:latin typeface="Times New Roman"/>
                <a:cs typeface="Times New Roman"/>
              </a:rPr>
              <a:t> </a:t>
            </a:r>
            <a:r>
              <a:rPr sz="2200" i="1" spc="-45" dirty="0">
                <a:solidFill>
                  <a:srgbClr val="FF0000"/>
                </a:solidFill>
                <a:latin typeface="Times New Roman"/>
                <a:cs typeface="Times New Roman"/>
              </a:rPr>
              <a:t>regular.</a:t>
            </a:r>
            <a:endParaRPr sz="2200" dirty="0">
              <a:latin typeface="Times New Roman"/>
              <a:cs typeface="Times New Roman"/>
            </a:endParaRPr>
          </a:p>
          <a:p>
            <a:pPr>
              <a:lnSpc>
                <a:spcPct val="100000"/>
              </a:lnSpc>
              <a:spcBef>
                <a:spcPts val="50"/>
              </a:spcBef>
            </a:pPr>
            <a:endParaRPr sz="2250" dirty="0">
              <a:latin typeface="Times New Roman"/>
              <a:cs typeface="Times New Roman"/>
            </a:endParaRPr>
          </a:p>
          <a:p>
            <a:pPr marL="63500">
              <a:lnSpc>
                <a:spcPct val="100000"/>
              </a:lnSpc>
            </a:pPr>
            <a:r>
              <a:rPr sz="2200" b="1" spc="-10" dirty="0" smtClean="0">
                <a:latin typeface="Times New Roman"/>
                <a:cs typeface="Times New Roman"/>
              </a:rPr>
              <a:t>Proof</a:t>
            </a:r>
            <a:r>
              <a:rPr lang="en-US" sz="2200" b="1" spc="-10" dirty="0" smtClean="0">
                <a:latin typeface="Times New Roman"/>
                <a:cs typeface="Times New Roman"/>
              </a:rPr>
              <a:t>:</a:t>
            </a:r>
            <a:endParaRPr sz="2200" dirty="0">
              <a:latin typeface="Times New Roman"/>
              <a:cs typeface="Times New Roman"/>
            </a:endParaRPr>
          </a:p>
          <a:p>
            <a:pPr marL="63500" marR="3988435">
              <a:lnSpc>
                <a:spcPct val="200000"/>
              </a:lnSpc>
              <a:spcBef>
                <a:spcPts val="5"/>
              </a:spcBef>
            </a:pPr>
            <a:r>
              <a:rPr sz="2200" spc="-5" dirty="0">
                <a:latin typeface="Times New Roman"/>
                <a:cs typeface="Times New Roman"/>
              </a:rPr>
              <a:t>Let</a:t>
            </a:r>
            <a:r>
              <a:rPr sz="2200" spc="5" dirty="0">
                <a:latin typeface="Times New Roman"/>
                <a:cs typeface="Times New Roman"/>
              </a:rPr>
              <a:t> </a:t>
            </a:r>
            <a:r>
              <a:rPr sz="2200" spc="-5" dirty="0">
                <a:latin typeface="Times New Roman"/>
                <a:cs typeface="Times New Roman"/>
              </a:rPr>
              <a:t>us</a:t>
            </a:r>
            <a:r>
              <a:rPr sz="2200" spc="-10" dirty="0">
                <a:latin typeface="Times New Roman"/>
                <a:cs typeface="Times New Roman"/>
              </a:rPr>
              <a:t> </a:t>
            </a:r>
            <a:r>
              <a:rPr sz="2200" spc="-5" dirty="0">
                <a:latin typeface="Times New Roman"/>
                <a:cs typeface="Times New Roman"/>
              </a:rPr>
              <a:t>take two regular expressions </a:t>
            </a:r>
            <a:r>
              <a:rPr sz="2200" spc="-535" dirty="0">
                <a:latin typeface="Times New Roman"/>
                <a:cs typeface="Times New Roman"/>
              </a:rPr>
              <a:t> </a:t>
            </a:r>
            <a:r>
              <a:rPr sz="2200" dirty="0">
                <a:latin typeface="Times New Roman"/>
                <a:cs typeface="Times New Roman"/>
              </a:rPr>
              <a:t>RE</a:t>
            </a:r>
            <a:r>
              <a:rPr sz="2175" baseline="-21072" dirty="0">
                <a:latin typeface="Times New Roman"/>
                <a:cs typeface="Times New Roman"/>
              </a:rPr>
              <a:t>1</a:t>
            </a:r>
            <a:r>
              <a:rPr sz="2175" spc="284" baseline="-21072" dirty="0">
                <a:latin typeface="Times New Roman"/>
                <a:cs typeface="Times New Roman"/>
              </a:rPr>
              <a:t> </a:t>
            </a:r>
            <a:r>
              <a:rPr sz="2200" spc="-5" dirty="0">
                <a:latin typeface="Times New Roman"/>
                <a:cs typeface="Times New Roman"/>
              </a:rPr>
              <a:t>= a(a*)</a:t>
            </a:r>
            <a:r>
              <a:rPr sz="2200" spc="5" dirty="0">
                <a:latin typeface="Times New Roman"/>
                <a:cs typeface="Times New Roman"/>
              </a:rPr>
              <a:t> </a:t>
            </a:r>
            <a:r>
              <a:rPr sz="2200" spc="-5" dirty="0">
                <a:latin typeface="Times New Roman"/>
                <a:cs typeface="Times New Roman"/>
              </a:rPr>
              <a:t>and</a:t>
            </a:r>
            <a:r>
              <a:rPr sz="2200" spc="-10" dirty="0">
                <a:latin typeface="Times New Roman"/>
                <a:cs typeface="Times New Roman"/>
              </a:rPr>
              <a:t> </a:t>
            </a:r>
            <a:r>
              <a:rPr sz="2200" dirty="0">
                <a:latin typeface="Times New Roman"/>
                <a:cs typeface="Times New Roman"/>
              </a:rPr>
              <a:t>RE</a:t>
            </a:r>
            <a:r>
              <a:rPr sz="2175" baseline="-21072" dirty="0">
                <a:latin typeface="Times New Roman"/>
                <a:cs typeface="Times New Roman"/>
              </a:rPr>
              <a:t>2</a:t>
            </a:r>
            <a:r>
              <a:rPr sz="2175" spc="300" baseline="-21072" dirty="0">
                <a:latin typeface="Times New Roman"/>
                <a:cs typeface="Times New Roman"/>
              </a:rPr>
              <a:t> </a:t>
            </a:r>
            <a:r>
              <a:rPr sz="2200" spc="-5" dirty="0">
                <a:latin typeface="Times New Roman"/>
                <a:cs typeface="Times New Roman"/>
              </a:rPr>
              <a:t>=</a:t>
            </a:r>
            <a:r>
              <a:rPr sz="2200" spc="-10" dirty="0">
                <a:latin typeface="Times New Roman"/>
                <a:cs typeface="Times New Roman"/>
              </a:rPr>
              <a:t> </a:t>
            </a:r>
            <a:r>
              <a:rPr sz="2200" spc="-5" dirty="0">
                <a:latin typeface="Times New Roman"/>
                <a:cs typeface="Times New Roman"/>
              </a:rPr>
              <a:t>(aa)*</a:t>
            </a:r>
            <a:endParaRPr sz="2200" dirty="0">
              <a:latin typeface="Times New Roman"/>
              <a:cs typeface="Times New Roman"/>
            </a:endParaRPr>
          </a:p>
          <a:p>
            <a:pPr>
              <a:lnSpc>
                <a:spcPct val="100000"/>
              </a:lnSpc>
              <a:spcBef>
                <a:spcPts val="50"/>
              </a:spcBef>
            </a:pPr>
            <a:endParaRPr sz="2250" dirty="0">
              <a:latin typeface="Times New Roman"/>
              <a:cs typeface="Times New Roman"/>
            </a:endParaRPr>
          </a:p>
          <a:p>
            <a:pPr marL="63500">
              <a:lnSpc>
                <a:spcPct val="100000"/>
              </a:lnSpc>
              <a:spcBef>
                <a:spcPts val="5"/>
              </a:spcBef>
            </a:pPr>
            <a:r>
              <a:rPr sz="2200" spc="-5" dirty="0">
                <a:latin typeface="Times New Roman"/>
                <a:cs typeface="Times New Roman"/>
              </a:rPr>
              <a:t>So,</a:t>
            </a:r>
            <a:r>
              <a:rPr sz="2200" spc="5" dirty="0">
                <a:latin typeface="Times New Roman"/>
                <a:cs typeface="Times New Roman"/>
              </a:rPr>
              <a:t> </a:t>
            </a:r>
            <a:r>
              <a:rPr sz="2200" dirty="0">
                <a:latin typeface="Times New Roman"/>
                <a:cs typeface="Times New Roman"/>
              </a:rPr>
              <a:t>L</a:t>
            </a:r>
            <a:r>
              <a:rPr sz="2175" baseline="-21072" dirty="0">
                <a:latin typeface="Times New Roman"/>
                <a:cs typeface="Times New Roman"/>
              </a:rPr>
              <a:t>1</a:t>
            </a:r>
            <a:r>
              <a:rPr sz="2175" spc="307" baseline="-21072" dirty="0">
                <a:latin typeface="Times New Roman"/>
                <a:cs typeface="Times New Roman"/>
              </a:rPr>
              <a:t> </a:t>
            </a:r>
            <a:r>
              <a:rPr sz="2200" spc="-5" dirty="0">
                <a:latin typeface="Times New Roman"/>
                <a:cs typeface="Times New Roman"/>
              </a:rPr>
              <a:t>=</a:t>
            </a:r>
            <a:r>
              <a:rPr sz="2200" spc="5" dirty="0">
                <a:latin typeface="Times New Roman"/>
                <a:cs typeface="Times New Roman"/>
              </a:rPr>
              <a:t> </a:t>
            </a:r>
            <a:r>
              <a:rPr sz="2200" spc="-5" dirty="0">
                <a:latin typeface="Times New Roman"/>
                <a:cs typeface="Times New Roman"/>
              </a:rPr>
              <a:t>{</a:t>
            </a:r>
            <a:r>
              <a:rPr sz="2200" spc="-10" dirty="0">
                <a:latin typeface="Times New Roman"/>
                <a:cs typeface="Times New Roman"/>
              </a:rPr>
              <a:t> </a:t>
            </a:r>
            <a:r>
              <a:rPr sz="2200" spc="-5" dirty="0">
                <a:latin typeface="Times New Roman"/>
                <a:cs typeface="Times New Roman"/>
              </a:rPr>
              <a:t>a,aa,</a:t>
            </a:r>
            <a:r>
              <a:rPr sz="2200" spc="25" dirty="0">
                <a:latin typeface="Times New Roman"/>
                <a:cs typeface="Times New Roman"/>
              </a:rPr>
              <a:t> </a:t>
            </a:r>
            <a:r>
              <a:rPr sz="2200" spc="-5" dirty="0">
                <a:latin typeface="Times New Roman"/>
                <a:cs typeface="Times New Roman"/>
              </a:rPr>
              <a:t>aaa,</a:t>
            </a:r>
            <a:r>
              <a:rPr sz="2200" spc="5" dirty="0">
                <a:latin typeface="Times New Roman"/>
                <a:cs typeface="Times New Roman"/>
              </a:rPr>
              <a:t> </a:t>
            </a:r>
            <a:r>
              <a:rPr sz="2200" spc="-10" dirty="0">
                <a:latin typeface="Times New Roman"/>
                <a:cs typeface="Times New Roman"/>
              </a:rPr>
              <a:t>aaaa,</a:t>
            </a:r>
            <a:r>
              <a:rPr sz="2200" spc="25" dirty="0">
                <a:latin typeface="Times New Roman"/>
                <a:cs typeface="Times New Roman"/>
              </a:rPr>
              <a:t> </a:t>
            </a:r>
            <a:r>
              <a:rPr sz="2200" spc="-5" dirty="0">
                <a:latin typeface="Times New Roman"/>
                <a:cs typeface="Times New Roman"/>
              </a:rPr>
              <a:t>....}</a:t>
            </a:r>
            <a:r>
              <a:rPr sz="2200" dirty="0">
                <a:latin typeface="Times New Roman"/>
                <a:cs typeface="Times New Roman"/>
              </a:rPr>
              <a:t> </a:t>
            </a:r>
            <a:r>
              <a:rPr sz="2200" spc="-5" dirty="0">
                <a:latin typeface="Times New Roman"/>
                <a:cs typeface="Times New Roman"/>
              </a:rPr>
              <a:t>(Strings</a:t>
            </a:r>
            <a:r>
              <a:rPr sz="2200" spc="5" dirty="0">
                <a:latin typeface="Times New Roman"/>
                <a:cs typeface="Times New Roman"/>
              </a:rPr>
              <a:t> </a:t>
            </a:r>
            <a:r>
              <a:rPr sz="2200" dirty="0">
                <a:latin typeface="Times New Roman"/>
                <a:cs typeface="Times New Roman"/>
              </a:rPr>
              <a:t>of </a:t>
            </a:r>
            <a:r>
              <a:rPr sz="2200" spc="-5" dirty="0">
                <a:latin typeface="Times New Roman"/>
                <a:cs typeface="Times New Roman"/>
              </a:rPr>
              <a:t>all</a:t>
            </a:r>
            <a:r>
              <a:rPr sz="2200" spc="5" dirty="0">
                <a:latin typeface="Times New Roman"/>
                <a:cs typeface="Times New Roman"/>
              </a:rPr>
              <a:t> </a:t>
            </a:r>
            <a:r>
              <a:rPr sz="2200" spc="-5" dirty="0">
                <a:latin typeface="Times New Roman"/>
                <a:cs typeface="Times New Roman"/>
              </a:rPr>
              <a:t>possible lengths</a:t>
            </a:r>
            <a:endParaRPr sz="2200" dirty="0">
              <a:latin typeface="Times New Roman"/>
              <a:cs typeface="Times New Roman"/>
            </a:endParaRPr>
          </a:p>
          <a:p>
            <a:pPr marL="63500">
              <a:lnSpc>
                <a:spcPct val="100000"/>
              </a:lnSpc>
            </a:pPr>
            <a:r>
              <a:rPr sz="2200" spc="-5" dirty="0">
                <a:latin typeface="Times New Roman"/>
                <a:cs typeface="Times New Roman"/>
              </a:rPr>
              <a:t>excluding</a:t>
            </a:r>
            <a:r>
              <a:rPr sz="2200" spc="-30" dirty="0">
                <a:latin typeface="Times New Roman"/>
                <a:cs typeface="Times New Roman"/>
              </a:rPr>
              <a:t> </a:t>
            </a:r>
            <a:r>
              <a:rPr sz="2200" spc="-5" dirty="0">
                <a:latin typeface="Times New Roman"/>
                <a:cs typeface="Times New Roman"/>
              </a:rPr>
              <a:t>Null)</a:t>
            </a:r>
            <a:endParaRPr sz="2200" dirty="0">
              <a:latin typeface="Times New Roman"/>
              <a:cs typeface="Times New Roman"/>
            </a:endParaRPr>
          </a:p>
          <a:p>
            <a:pPr marL="63500" marR="43180">
              <a:lnSpc>
                <a:spcPct val="100000"/>
              </a:lnSpc>
            </a:pPr>
            <a:r>
              <a:rPr sz="2200" dirty="0">
                <a:latin typeface="Times New Roman"/>
                <a:cs typeface="Times New Roman"/>
              </a:rPr>
              <a:t>L</a:t>
            </a:r>
            <a:r>
              <a:rPr sz="2175" baseline="-21072" dirty="0">
                <a:latin typeface="Times New Roman"/>
                <a:cs typeface="Times New Roman"/>
              </a:rPr>
              <a:t>2</a:t>
            </a:r>
            <a:r>
              <a:rPr sz="2175" spc="7" baseline="-21072" dirty="0">
                <a:latin typeface="Times New Roman"/>
                <a:cs typeface="Times New Roman"/>
              </a:rPr>
              <a:t> </a:t>
            </a:r>
            <a:r>
              <a:rPr sz="2200" spc="-5" dirty="0">
                <a:latin typeface="Times New Roman"/>
                <a:cs typeface="Times New Roman"/>
              </a:rPr>
              <a:t>= { ε, aa, </a:t>
            </a:r>
            <a:r>
              <a:rPr sz="2200" spc="-10" dirty="0">
                <a:latin typeface="Times New Roman"/>
                <a:cs typeface="Times New Roman"/>
              </a:rPr>
              <a:t>aaaa, </a:t>
            </a:r>
            <a:r>
              <a:rPr sz="2200" spc="-5" dirty="0">
                <a:latin typeface="Times New Roman"/>
                <a:cs typeface="Times New Roman"/>
              </a:rPr>
              <a:t>aaaaaa,.......} (Strings of even length including Null) </a:t>
            </a:r>
            <a:r>
              <a:rPr sz="2200" spc="-535" dirty="0">
                <a:latin typeface="Times New Roman"/>
                <a:cs typeface="Times New Roman"/>
              </a:rPr>
              <a:t> </a:t>
            </a:r>
            <a:r>
              <a:rPr sz="2200" dirty="0">
                <a:latin typeface="Times New Roman"/>
                <a:cs typeface="Times New Roman"/>
              </a:rPr>
              <a:t>L</a:t>
            </a:r>
            <a:r>
              <a:rPr sz="2175" baseline="-21072" dirty="0">
                <a:latin typeface="Times New Roman"/>
                <a:cs typeface="Times New Roman"/>
              </a:rPr>
              <a:t>1</a:t>
            </a:r>
            <a:r>
              <a:rPr sz="2175" spc="7" baseline="-21072" dirty="0">
                <a:latin typeface="Times New Roman"/>
                <a:cs typeface="Times New Roman"/>
              </a:rPr>
              <a:t> </a:t>
            </a:r>
            <a:r>
              <a:rPr sz="2200" spc="-5" dirty="0">
                <a:latin typeface="Times New Roman"/>
                <a:cs typeface="Times New Roman"/>
              </a:rPr>
              <a:t>∩ </a:t>
            </a:r>
            <a:r>
              <a:rPr sz="2200" dirty="0">
                <a:latin typeface="Times New Roman"/>
                <a:cs typeface="Times New Roman"/>
              </a:rPr>
              <a:t>L</a:t>
            </a:r>
            <a:r>
              <a:rPr sz="2175" baseline="-21072" dirty="0">
                <a:latin typeface="Times New Roman"/>
                <a:cs typeface="Times New Roman"/>
              </a:rPr>
              <a:t>2</a:t>
            </a:r>
            <a:r>
              <a:rPr sz="2175" spc="7" baseline="-21072" dirty="0">
                <a:latin typeface="Times New Roman"/>
                <a:cs typeface="Times New Roman"/>
              </a:rPr>
              <a:t> </a:t>
            </a:r>
            <a:r>
              <a:rPr sz="2200" spc="-5" dirty="0">
                <a:latin typeface="Times New Roman"/>
                <a:cs typeface="Times New Roman"/>
              </a:rPr>
              <a:t>= { aa, </a:t>
            </a:r>
            <a:r>
              <a:rPr sz="2200" spc="-10" dirty="0">
                <a:latin typeface="Times New Roman"/>
                <a:cs typeface="Times New Roman"/>
              </a:rPr>
              <a:t>aaaa, </a:t>
            </a:r>
            <a:r>
              <a:rPr sz="2200" spc="-5" dirty="0">
                <a:latin typeface="Times New Roman"/>
                <a:cs typeface="Times New Roman"/>
              </a:rPr>
              <a:t>aaaaaa,.......} (Strings of even length excluding </a:t>
            </a:r>
            <a:r>
              <a:rPr sz="2200" dirty="0">
                <a:latin typeface="Times New Roman"/>
                <a:cs typeface="Times New Roman"/>
              </a:rPr>
              <a:t> </a:t>
            </a:r>
            <a:r>
              <a:rPr sz="2200" spc="-5" dirty="0">
                <a:latin typeface="Times New Roman"/>
                <a:cs typeface="Times New Roman"/>
              </a:rPr>
              <a:t>Null)</a:t>
            </a:r>
            <a:endParaRPr sz="2200" dirty="0">
              <a:latin typeface="Times New Roman"/>
              <a:cs typeface="Times New Roman"/>
            </a:endParaRPr>
          </a:p>
          <a:p>
            <a:pPr marL="63500">
              <a:lnSpc>
                <a:spcPct val="100000"/>
              </a:lnSpc>
            </a:pPr>
            <a:r>
              <a:rPr sz="2200" spc="-5" dirty="0">
                <a:latin typeface="Times New Roman"/>
                <a:cs typeface="Times New Roman"/>
              </a:rPr>
              <a:t>RE </a:t>
            </a:r>
            <a:r>
              <a:rPr sz="2200" dirty="0">
                <a:latin typeface="Times New Roman"/>
                <a:cs typeface="Times New Roman"/>
              </a:rPr>
              <a:t>(L</a:t>
            </a:r>
            <a:r>
              <a:rPr sz="2175" baseline="-21072" dirty="0">
                <a:latin typeface="Times New Roman"/>
                <a:cs typeface="Times New Roman"/>
              </a:rPr>
              <a:t>1</a:t>
            </a:r>
            <a:r>
              <a:rPr sz="2175" spc="300" baseline="-21072" dirty="0">
                <a:latin typeface="Times New Roman"/>
                <a:cs typeface="Times New Roman"/>
              </a:rPr>
              <a:t> </a:t>
            </a:r>
            <a:r>
              <a:rPr sz="2200" spc="-5" dirty="0">
                <a:latin typeface="Times New Roman"/>
                <a:cs typeface="Times New Roman"/>
              </a:rPr>
              <a:t>∩</a:t>
            </a:r>
            <a:r>
              <a:rPr sz="2200" spc="10" dirty="0">
                <a:latin typeface="Times New Roman"/>
                <a:cs typeface="Times New Roman"/>
              </a:rPr>
              <a:t> </a:t>
            </a:r>
            <a:r>
              <a:rPr sz="2200" dirty="0">
                <a:latin typeface="Times New Roman"/>
                <a:cs typeface="Times New Roman"/>
              </a:rPr>
              <a:t>L</a:t>
            </a:r>
            <a:r>
              <a:rPr sz="2175" baseline="-21072" dirty="0">
                <a:latin typeface="Times New Roman"/>
                <a:cs typeface="Times New Roman"/>
              </a:rPr>
              <a:t>2</a:t>
            </a:r>
            <a:r>
              <a:rPr sz="2200" dirty="0">
                <a:latin typeface="Times New Roman"/>
                <a:cs typeface="Times New Roman"/>
              </a:rPr>
              <a:t>)</a:t>
            </a:r>
            <a:r>
              <a:rPr sz="2200" spc="15" dirty="0">
                <a:latin typeface="Times New Roman"/>
                <a:cs typeface="Times New Roman"/>
              </a:rPr>
              <a:t> </a:t>
            </a:r>
            <a:r>
              <a:rPr sz="2200" spc="-5" dirty="0">
                <a:latin typeface="Times New Roman"/>
                <a:cs typeface="Times New Roman"/>
              </a:rPr>
              <a:t>= aa(aa)*</a:t>
            </a:r>
            <a:r>
              <a:rPr sz="2200" spc="20" dirty="0">
                <a:latin typeface="Times New Roman"/>
                <a:cs typeface="Times New Roman"/>
              </a:rPr>
              <a:t> </a:t>
            </a:r>
            <a:r>
              <a:rPr sz="2200" spc="-5" dirty="0">
                <a:latin typeface="Times New Roman"/>
                <a:cs typeface="Times New Roman"/>
              </a:rPr>
              <a:t>which</a:t>
            </a:r>
            <a:r>
              <a:rPr sz="2200"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5" dirty="0">
                <a:latin typeface="Times New Roman"/>
                <a:cs typeface="Times New Roman"/>
              </a:rPr>
              <a:t>a</a:t>
            </a:r>
            <a:r>
              <a:rPr sz="2200" dirty="0">
                <a:latin typeface="Times New Roman"/>
                <a:cs typeface="Times New Roman"/>
              </a:rPr>
              <a:t> regular </a:t>
            </a:r>
            <a:r>
              <a:rPr sz="2200" spc="-5" dirty="0">
                <a:latin typeface="Times New Roman"/>
                <a:cs typeface="Times New Roman"/>
              </a:rPr>
              <a:t>expression</a:t>
            </a:r>
            <a:r>
              <a:rPr sz="2200" spc="5" dirty="0">
                <a:latin typeface="Times New Roman"/>
                <a:cs typeface="Times New Roman"/>
              </a:rPr>
              <a:t> </a:t>
            </a:r>
            <a:r>
              <a:rPr sz="2200" spc="-5" dirty="0">
                <a:latin typeface="Times New Roman"/>
                <a:cs typeface="Times New Roman"/>
              </a:rPr>
              <a:t>itself.</a:t>
            </a:r>
            <a:endParaRPr sz="2200" dirty="0">
              <a:latin typeface="Times New Roman"/>
              <a:cs typeface="Times New Roman"/>
            </a:endParaRPr>
          </a:p>
          <a:p>
            <a:pPr marL="63500">
              <a:lnSpc>
                <a:spcPct val="100000"/>
              </a:lnSpc>
              <a:spcBef>
                <a:spcPts val="5"/>
              </a:spcBef>
            </a:pPr>
            <a:r>
              <a:rPr sz="2200" b="1" spc="-5" dirty="0">
                <a:latin typeface="Times New Roman"/>
                <a:cs typeface="Times New Roman"/>
              </a:rPr>
              <a:t>Hence,</a:t>
            </a:r>
            <a:r>
              <a:rPr sz="2200" b="1" spc="-25" dirty="0">
                <a:latin typeface="Times New Roman"/>
                <a:cs typeface="Times New Roman"/>
              </a:rPr>
              <a:t> </a:t>
            </a:r>
            <a:r>
              <a:rPr sz="2200" b="1" spc="-10" dirty="0">
                <a:latin typeface="Times New Roman"/>
                <a:cs typeface="Times New Roman"/>
              </a:rPr>
              <a:t>proved.</a:t>
            </a:r>
            <a:endParaRPr sz="2200" dirty="0">
              <a:latin typeface="Times New Roman"/>
              <a:cs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5940" y="786129"/>
            <a:ext cx="7583170" cy="4828886"/>
          </a:xfrm>
          <a:prstGeom prst="rect">
            <a:avLst/>
          </a:prstGeom>
        </p:spPr>
        <p:txBody>
          <a:bodyPr vert="horz" wrap="square" lIns="0" tIns="12065" rIns="0" bIns="0" rtlCol="0">
            <a:spAutoFit/>
          </a:bodyPr>
          <a:lstStyle/>
          <a:p>
            <a:pPr marL="12700">
              <a:lnSpc>
                <a:spcPct val="100000"/>
              </a:lnSpc>
              <a:spcBef>
                <a:spcPts val="95"/>
              </a:spcBef>
            </a:pPr>
            <a:r>
              <a:rPr sz="2200" b="1" spc="-10" dirty="0">
                <a:solidFill>
                  <a:srgbClr val="FF0000"/>
                </a:solidFill>
                <a:latin typeface="Times New Roman"/>
                <a:cs typeface="Times New Roman"/>
              </a:rPr>
              <a:t>Property</a:t>
            </a:r>
            <a:r>
              <a:rPr sz="2200" b="1" spc="10" dirty="0">
                <a:solidFill>
                  <a:srgbClr val="FF0000"/>
                </a:solidFill>
                <a:latin typeface="Times New Roman"/>
                <a:cs typeface="Times New Roman"/>
              </a:rPr>
              <a:t> </a:t>
            </a:r>
            <a:r>
              <a:rPr sz="2200" b="1" spc="-5" dirty="0">
                <a:solidFill>
                  <a:srgbClr val="FF0000"/>
                </a:solidFill>
                <a:latin typeface="Times New Roman"/>
                <a:cs typeface="Times New Roman"/>
              </a:rPr>
              <a:t>3.</a:t>
            </a:r>
            <a:r>
              <a:rPr sz="2200" b="1" spc="10" dirty="0">
                <a:solidFill>
                  <a:srgbClr val="FF0000"/>
                </a:solidFill>
                <a:latin typeface="Times New Roman"/>
                <a:cs typeface="Times New Roman"/>
              </a:rPr>
              <a:t> </a:t>
            </a:r>
            <a:r>
              <a:rPr sz="2200" i="1" spc="-5" dirty="0">
                <a:solidFill>
                  <a:srgbClr val="FF0000"/>
                </a:solidFill>
                <a:latin typeface="Times New Roman"/>
                <a:cs typeface="Times New Roman"/>
              </a:rPr>
              <a:t>The complement </a:t>
            </a:r>
            <a:r>
              <a:rPr sz="2200" i="1" dirty="0">
                <a:solidFill>
                  <a:srgbClr val="FF0000"/>
                </a:solidFill>
                <a:latin typeface="Times New Roman"/>
                <a:cs typeface="Times New Roman"/>
              </a:rPr>
              <a:t>of </a:t>
            </a:r>
            <a:r>
              <a:rPr sz="2200" i="1" spc="-5" dirty="0">
                <a:solidFill>
                  <a:srgbClr val="FF0000"/>
                </a:solidFill>
                <a:latin typeface="Times New Roman"/>
                <a:cs typeface="Times New Roman"/>
              </a:rPr>
              <a:t>a </a:t>
            </a:r>
            <a:r>
              <a:rPr sz="2200" i="1" spc="-15" dirty="0">
                <a:solidFill>
                  <a:srgbClr val="FF0000"/>
                </a:solidFill>
                <a:latin typeface="Times New Roman"/>
                <a:cs typeface="Times New Roman"/>
              </a:rPr>
              <a:t>regular</a:t>
            </a:r>
            <a:r>
              <a:rPr sz="2200" i="1" spc="-10" dirty="0">
                <a:solidFill>
                  <a:srgbClr val="FF0000"/>
                </a:solidFill>
                <a:latin typeface="Times New Roman"/>
                <a:cs typeface="Times New Roman"/>
              </a:rPr>
              <a:t> </a:t>
            </a:r>
            <a:r>
              <a:rPr sz="2200" i="1" spc="-5" dirty="0">
                <a:solidFill>
                  <a:srgbClr val="FF0000"/>
                </a:solidFill>
                <a:latin typeface="Times New Roman"/>
                <a:cs typeface="Times New Roman"/>
              </a:rPr>
              <a:t>set is</a:t>
            </a:r>
            <a:r>
              <a:rPr sz="2200" i="1" dirty="0">
                <a:solidFill>
                  <a:srgbClr val="FF0000"/>
                </a:solidFill>
                <a:latin typeface="Times New Roman"/>
                <a:cs typeface="Times New Roman"/>
              </a:rPr>
              <a:t> </a:t>
            </a:r>
            <a:r>
              <a:rPr sz="2200" i="1" spc="-45" dirty="0">
                <a:solidFill>
                  <a:srgbClr val="FF0000"/>
                </a:solidFill>
                <a:latin typeface="Times New Roman"/>
                <a:cs typeface="Times New Roman"/>
              </a:rPr>
              <a:t>regular.</a:t>
            </a:r>
            <a:endParaRPr sz="2200" dirty="0">
              <a:latin typeface="Times New Roman"/>
              <a:cs typeface="Times New Roman"/>
            </a:endParaRPr>
          </a:p>
          <a:p>
            <a:pPr marL="12700">
              <a:lnSpc>
                <a:spcPct val="100000"/>
              </a:lnSpc>
            </a:pPr>
            <a:r>
              <a:rPr sz="2200" b="1" spc="-10" dirty="0">
                <a:latin typeface="Times New Roman"/>
                <a:cs typeface="Times New Roman"/>
              </a:rPr>
              <a:t>Proof</a:t>
            </a:r>
            <a:r>
              <a:rPr sz="2200" b="1" spc="-35" dirty="0">
                <a:latin typeface="Times New Roman"/>
                <a:cs typeface="Times New Roman"/>
              </a:rPr>
              <a:t> </a:t>
            </a:r>
            <a:r>
              <a:rPr lang="en-US" sz="2200" b="1" spc="-35" dirty="0" smtClean="0">
                <a:latin typeface="Times New Roman"/>
                <a:cs typeface="Times New Roman"/>
              </a:rPr>
              <a:t>:</a:t>
            </a:r>
            <a:endParaRPr sz="2200" dirty="0">
              <a:latin typeface="Times New Roman"/>
              <a:cs typeface="Times New Roman"/>
            </a:endParaRPr>
          </a:p>
          <a:p>
            <a:pPr>
              <a:lnSpc>
                <a:spcPct val="100000"/>
              </a:lnSpc>
              <a:spcBef>
                <a:spcPts val="50"/>
              </a:spcBef>
            </a:pPr>
            <a:endParaRPr sz="2250" dirty="0">
              <a:latin typeface="Times New Roman"/>
              <a:cs typeface="Times New Roman"/>
            </a:endParaRPr>
          </a:p>
          <a:p>
            <a:pPr marL="12700">
              <a:lnSpc>
                <a:spcPct val="100000"/>
              </a:lnSpc>
            </a:pPr>
            <a:r>
              <a:rPr sz="2200" spc="-5" dirty="0">
                <a:latin typeface="Times New Roman"/>
                <a:cs typeface="Times New Roman"/>
              </a:rPr>
              <a:t>Let</a:t>
            </a:r>
            <a:r>
              <a:rPr sz="2200" spc="5" dirty="0">
                <a:latin typeface="Times New Roman"/>
                <a:cs typeface="Times New Roman"/>
              </a:rPr>
              <a:t> </a:t>
            </a:r>
            <a:r>
              <a:rPr sz="2200" spc="-5" dirty="0">
                <a:latin typeface="Times New Roman"/>
                <a:cs typeface="Times New Roman"/>
              </a:rPr>
              <a:t>us take</a:t>
            </a:r>
            <a:r>
              <a:rPr sz="2200" dirty="0">
                <a:latin typeface="Times New Roman"/>
                <a:cs typeface="Times New Roman"/>
              </a:rPr>
              <a:t> </a:t>
            </a:r>
            <a:r>
              <a:rPr sz="2200" spc="-5" dirty="0">
                <a:latin typeface="Times New Roman"/>
                <a:cs typeface="Times New Roman"/>
              </a:rPr>
              <a:t>a</a:t>
            </a:r>
            <a:r>
              <a:rPr sz="2200" spc="5" dirty="0">
                <a:latin typeface="Times New Roman"/>
                <a:cs typeface="Times New Roman"/>
              </a:rPr>
              <a:t> </a:t>
            </a:r>
            <a:r>
              <a:rPr sz="2200" spc="-5" dirty="0">
                <a:latin typeface="Times New Roman"/>
                <a:cs typeface="Times New Roman"/>
              </a:rPr>
              <a:t>regular</a:t>
            </a:r>
            <a:r>
              <a:rPr sz="2200" spc="10" dirty="0">
                <a:latin typeface="Times New Roman"/>
                <a:cs typeface="Times New Roman"/>
              </a:rPr>
              <a:t> </a:t>
            </a:r>
            <a:r>
              <a:rPr sz="2200" spc="-5" dirty="0" smtClean="0">
                <a:latin typeface="Times New Roman"/>
                <a:cs typeface="Times New Roman"/>
              </a:rPr>
              <a:t>expression</a:t>
            </a:r>
            <a:endParaRPr sz="2200" dirty="0">
              <a:latin typeface="Times New Roman"/>
              <a:cs typeface="Times New Roman"/>
            </a:endParaRPr>
          </a:p>
          <a:p>
            <a:pPr>
              <a:lnSpc>
                <a:spcPct val="100000"/>
              </a:lnSpc>
            </a:pPr>
            <a:endParaRPr sz="2300" dirty="0">
              <a:latin typeface="Times New Roman"/>
              <a:cs typeface="Times New Roman"/>
            </a:endParaRPr>
          </a:p>
          <a:p>
            <a:pPr marL="12700">
              <a:lnSpc>
                <a:spcPct val="100000"/>
              </a:lnSpc>
            </a:pPr>
            <a:r>
              <a:rPr sz="2200" spc="-5" dirty="0">
                <a:latin typeface="Times New Roman"/>
                <a:cs typeface="Times New Roman"/>
              </a:rPr>
              <a:t>RE</a:t>
            </a:r>
            <a:r>
              <a:rPr sz="2200" spc="-30" dirty="0">
                <a:latin typeface="Times New Roman"/>
                <a:cs typeface="Times New Roman"/>
              </a:rPr>
              <a:t> </a:t>
            </a:r>
            <a:r>
              <a:rPr sz="2200" spc="-5" dirty="0">
                <a:latin typeface="Times New Roman"/>
                <a:cs typeface="Times New Roman"/>
              </a:rPr>
              <a:t>=</a:t>
            </a:r>
            <a:r>
              <a:rPr sz="2200" spc="-30" dirty="0">
                <a:latin typeface="Times New Roman"/>
                <a:cs typeface="Times New Roman"/>
              </a:rPr>
              <a:t> </a:t>
            </a:r>
            <a:r>
              <a:rPr sz="2200" spc="-5" dirty="0">
                <a:latin typeface="Times New Roman"/>
                <a:cs typeface="Times New Roman"/>
              </a:rPr>
              <a:t>(aa)*</a:t>
            </a:r>
            <a:endParaRPr sz="2200" dirty="0">
              <a:latin typeface="Times New Roman"/>
              <a:cs typeface="Times New Roman"/>
            </a:endParaRPr>
          </a:p>
          <a:p>
            <a:pPr>
              <a:lnSpc>
                <a:spcPct val="100000"/>
              </a:lnSpc>
              <a:spcBef>
                <a:spcPts val="50"/>
              </a:spcBef>
            </a:pPr>
            <a:endParaRPr sz="2250" dirty="0">
              <a:latin typeface="Times New Roman"/>
              <a:cs typeface="Times New Roman"/>
            </a:endParaRPr>
          </a:p>
          <a:p>
            <a:pPr marL="12700">
              <a:lnSpc>
                <a:spcPct val="100000"/>
              </a:lnSpc>
              <a:spcBef>
                <a:spcPts val="5"/>
              </a:spcBef>
            </a:pPr>
            <a:r>
              <a:rPr sz="2200" spc="-5" dirty="0">
                <a:latin typeface="Times New Roman"/>
                <a:cs typeface="Times New Roman"/>
              </a:rPr>
              <a:t>So,</a:t>
            </a:r>
            <a:r>
              <a:rPr sz="2200" dirty="0">
                <a:latin typeface="Times New Roman"/>
                <a:cs typeface="Times New Roman"/>
              </a:rPr>
              <a:t> </a:t>
            </a:r>
            <a:r>
              <a:rPr sz="2200" spc="-5" dirty="0">
                <a:latin typeface="Times New Roman"/>
                <a:cs typeface="Times New Roman"/>
              </a:rPr>
              <a:t>L</a:t>
            </a:r>
            <a:r>
              <a:rPr sz="2200" spc="-65" dirty="0">
                <a:latin typeface="Times New Roman"/>
                <a:cs typeface="Times New Roman"/>
              </a:rPr>
              <a:t> </a:t>
            </a:r>
            <a:r>
              <a:rPr sz="2200" spc="-5" dirty="0">
                <a:latin typeface="Times New Roman"/>
                <a:cs typeface="Times New Roman"/>
              </a:rPr>
              <a:t>=</a:t>
            </a:r>
            <a:r>
              <a:rPr sz="2200" spc="5" dirty="0">
                <a:latin typeface="Times New Roman"/>
                <a:cs typeface="Times New Roman"/>
              </a:rPr>
              <a:t> </a:t>
            </a:r>
            <a:r>
              <a:rPr sz="2200" spc="-5" dirty="0">
                <a:latin typeface="Times New Roman"/>
                <a:cs typeface="Times New Roman"/>
              </a:rPr>
              <a:t>{ε,</a:t>
            </a:r>
            <a:r>
              <a:rPr sz="2200" spc="5" dirty="0">
                <a:latin typeface="Times New Roman"/>
                <a:cs typeface="Times New Roman"/>
              </a:rPr>
              <a:t> </a:t>
            </a:r>
            <a:r>
              <a:rPr sz="2200" spc="-5" dirty="0">
                <a:latin typeface="Times New Roman"/>
                <a:cs typeface="Times New Roman"/>
              </a:rPr>
              <a:t>aa,</a:t>
            </a:r>
            <a:r>
              <a:rPr sz="2200" spc="10" dirty="0">
                <a:latin typeface="Times New Roman"/>
                <a:cs typeface="Times New Roman"/>
              </a:rPr>
              <a:t> </a:t>
            </a:r>
            <a:r>
              <a:rPr sz="2200" spc="-10" dirty="0">
                <a:latin typeface="Times New Roman"/>
                <a:cs typeface="Times New Roman"/>
              </a:rPr>
              <a:t>aaaa,</a:t>
            </a:r>
            <a:r>
              <a:rPr sz="2200" spc="25" dirty="0">
                <a:latin typeface="Times New Roman"/>
                <a:cs typeface="Times New Roman"/>
              </a:rPr>
              <a:t> </a:t>
            </a:r>
            <a:r>
              <a:rPr sz="2200" spc="-10" dirty="0">
                <a:latin typeface="Times New Roman"/>
                <a:cs typeface="Times New Roman"/>
              </a:rPr>
              <a:t>aaaaaa,</a:t>
            </a:r>
            <a:r>
              <a:rPr sz="2200" spc="20" dirty="0">
                <a:latin typeface="Times New Roman"/>
                <a:cs typeface="Times New Roman"/>
              </a:rPr>
              <a:t> </a:t>
            </a:r>
            <a:r>
              <a:rPr sz="2200" dirty="0">
                <a:latin typeface="Times New Roman"/>
                <a:cs typeface="Times New Roman"/>
              </a:rPr>
              <a:t>.......}</a:t>
            </a:r>
            <a:r>
              <a:rPr sz="2200" spc="-15" dirty="0">
                <a:latin typeface="Times New Roman"/>
                <a:cs typeface="Times New Roman"/>
              </a:rPr>
              <a:t> </a:t>
            </a:r>
            <a:r>
              <a:rPr sz="2200" spc="-5" dirty="0">
                <a:latin typeface="Times New Roman"/>
                <a:cs typeface="Times New Roman"/>
              </a:rPr>
              <a:t>(Strings</a:t>
            </a:r>
            <a:r>
              <a:rPr sz="2200" spc="5" dirty="0">
                <a:latin typeface="Times New Roman"/>
                <a:cs typeface="Times New Roman"/>
              </a:rPr>
              <a:t> </a:t>
            </a:r>
            <a:r>
              <a:rPr sz="2200" spc="-5" dirty="0">
                <a:latin typeface="Times New Roman"/>
                <a:cs typeface="Times New Roman"/>
              </a:rPr>
              <a:t>of</a:t>
            </a:r>
            <a:r>
              <a:rPr sz="2200" dirty="0">
                <a:latin typeface="Times New Roman"/>
                <a:cs typeface="Times New Roman"/>
              </a:rPr>
              <a:t> </a:t>
            </a:r>
            <a:r>
              <a:rPr sz="2200" spc="-5" dirty="0">
                <a:latin typeface="Times New Roman"/>
                <a:cs typeface="Times New Roman"/>
              </a:rPr>
              <a:t>even</a:t>
            </a:r>
            <a:r>
              <a:rPr sz="2200" spc="5" dirty="0">
                <a:latin typeface="Times New Roman"/>
                <a:cs typeface="Times New Roman"/>
              </a:rPr>
              <a:t> </a:t>
            </a:r>
            <a:r>
              <a:rPr sz="2200" spc="-5" dirty="0">
                <a:latin typeface="Times New Roman"/>
                <a:cs typeface="Times New Roman"/>
              </a:rPr>
              <a:t>length including</a:t>
            </a:r>
            <a:endParaRPr sz="2200" dirty="0">
              <a:latin typeface="Times New Roman"/>
              <a:cs typeface="Times New Roman"/>
            </a:endParaRPr>
          </a:p>
          <a:p>
            <a:pPr marL="12700">
              <a:lnSpc>
                <a:spcPct val="100000"/>
              </a:lnSpc>
            </a:pPr>
            <a:r>
              <a:rPr sz="2200" spc="-5" dirty="0">
                <a:latin typeface="Times New Roman"/>
                <a:cs typeface="Times New Roman"/>
              </a:rPr>
              <a:t>Null)</a:t>
            </a:r>
            <a:endParaRPr sz="2200" dirty="0">
              <a:latin typeface="Times New Roman"/>
              <a:cs typeface="Times New Roman"/>
            </a:endParaRPr>
          </a:p>
          <a:p>
            <a:pPr marL="12700">
              <a:lnSpc>
                <a:spcPct val="100000"/>
              </a:lnSpc>
            </a:pPr>
            <a:r>
              <a:rPr sz="2200" spc="-10" dirty="0">
                <a:latin typeface="Times New Roman"/>
                <a:cs typeface="Times New Roman"/>
              </a:rPr>
              <a:t>Complement</a:t>
            </a:r>
            <a:r>
              <a:rPr sz="2200" spc="40" dirty="0">
                <a:latin typeface="Times New Roman"/>
                <a:cs typeface="Times New Roman"/>
              </a:rPr>
              <a:t> </a:t>
            </a:r>
            <a:r>
              <a:rPr sz="2200" spc="-5" dirty="0">
                <a:latin typeface="Times New Roman"/>
                <a:cs typeface="Times New Roman"/>
              </a:rPr>
              <a:t>of</a:t>
            </a:r>
            <a:r>
              <a:rPr sz="2200" spc="20" dirty="0">
                <a:latin typeface="Times New Roman"/>
                <a:cs typeface="Times New Roman"/>
              </a:rPr>
              <a:t> </a:t>
            </a:r>
            <a:r>
              <a:rPr sz="2200" b="1" spc="-5" dirty="0">
                <a:latin typeface="Times New Roman"/>
                <a:cs typeface="Times New Roman"/>
              </a:rPr>
              <a:t>L</a:t>
            </a:r>
            <a:r>
              <a:rPr sz="2200" b="1" spc="-15"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5" dirty="0">
                <a:latin typeface="Times New Roman"/>
                <a:cs typeface="Times New Roman"/>
              </a:rPr>
              <a:t>all</a:t>
            </a:r>
            <a:r>
              <a:rPr sz="2200" dirty="0">
                <a:latin typeface="Times New Roman"/>
                <a:cs typeface="Times New Roman"/>
              </a:rPr>
              <a:t> </a:t>
            </a:r>
            <a:r>
              <a:rPr sz="2200" spc="-5" dirty="0">
                <a:latin typeface="Times New Roman"/>
                <a:cs typeface="Times New Roman"/>
              </a:rPr>
              <a:t>the strings</a:t>
            </a:r>
            <a:r>
              <a:rPr sz="2200" spc="-10" dirty="0">
                <a:latin typeface="Times New Roman"/>
                <a:cs typeface="Times New Roman"/>
              </a:rPr>
              <a:t> </a:t>
            </a:r>
            <a:r>
              <a:rPr sz="2200" spc="-5" dirty="0">
                <a:latin typeface="Times New Roman"/>
                <a:cs typeface="Times New Roman"/>
              </a:rPr>
              <a:t>that</a:t>
            </a:r>
            <a:r>
              <a:rPr sz="2200" dirty="0">
                <a:latin typeface="Times New Roman"/>
                <a:cs typeface="Times New Roman"/>
              </a:rPr>
              <a:t> </a:t>
            </a:r>
            <a:r>
              <a:rPr sz="2200" spc="-5" dirty="0">
                <a:latin typeface="Times New Roman"/>
                <a:cs typeface="Times New Roman"/>
              </a:rPr>
              <a:t>is </a:t>
            </a:r>
            <a:r>
              <a:rPr sz="2200" dirty="0">
                <a:latin typeface="Times New Roman"/>
                <a:cs typeface="Times New Roman"/>
              </a:rPr>
              <a:t>not</a:t>
            </a:r>
            <a:r>
              <a:rPr sz="2200" spc="-5" dirty="0">
                <a:latin typeface="Times New Roman"/>
                <a:cs typeface="Times New Roman"/>
              </a:rPr>
              <a:t> in</a:t>
            </a:r>
            <a:r>
              <a:rPr sz="2200" spc="30" dirty="0">
                <a:latin typeface="Times New Roman"/>
                <a:cs typeface="Times New Roman"/>
              </a:rPr>
              <a:t> </a:t>
            </a:r>
            <a:r>
              <a:rPr sz="2200" b="1" spc="-5" dirty="0">
                <a:latin typeface="Times New Roman"/>
                <a:cs typeface="Times New Roman"/>
              </a:rPr>
              <a:t>L</a:t>
            </a:r>
            <a:r>
              <a:rPr sz="2200" spc="-5" dirty="0">
                <a:latin typeface="Times New Roman"/>
                <a:cs typeface="Times New Roman"/>
              </a:rPr>
              <a:t>.</a:t>
            </a:r>
            <a:endParaRPr sz="2200" dirty="0">
              <a:latin typeface="Times New Roman"/>
              <a:cs typeface="Times New Roman"/>
            </a:endParaRPr>
          </a:p>
          <a:p>
            <a:pPr>
              <a:lnSpc>
                <a:spcPct val="100000"/>
              </a:lnSpc>
              <a:spcBef>
                <a:spcPts val="50"/>
              </a:spcBef>
            </a:pPr>
            <a:endParaRPr sz="2250" dirty="0">
              <a:latin typeface="Times New Roman"/>
              <a:cs typeface="Times New Roman"/>
            </a:endParaRPr>
          </a:p>
          <a:p>
            <a:pPr marL="12700" marR="113664">
              <a:lnSpc>
                <a:spcPct val="100000"/>
              </a:lnSpc>
              <a:spcBef>
                <a:spcPts val="5"/>
              </a:spcBef>
            </a:pPr>
            <a:r>
              <a:rPr sz="2200" spc="-5" dirty="0">
                <a:latin typeface="Times New Roman"/>
                <a:cs typeface="Times New Roman"/>
              </a:rPr>
              <a:t>So,</a:t>
            </a:r>
            <a:r>
              <a:rPr sz="2200" dirty="0">
                <a:latin typeface="Times New Roman"/>
                <a:cs typeface="Times New Roman"/>
              </a:rPr>
              <a:t> </a:t>
            </a:r>
            <a:r>
              <a:rPr sz="2200" spc="-105" dirty="0">
                <a:latin typeface="Times New Roman"/>
                <a:cs typeface="Times New Roman"/>
              </a:rPr>
              <a:t>L’</a:t>
            </a:r>
            <a:r>
              <a:rPr sz="2200" spc="-145" dirty="0">
                <a:latin typeface="Times New Roman"/>
                <a:cs typeface="Times New Roman"/>
              </a:rPr>
              <a:t> </a:t>
            </a:r>
            <a:r>
              <a:rPr sz="2200" spc="-5" dirty="0">
                <a:latin typeface="Times New Roman"/>
                <a:cs typeface="Times New Roman"/>
              </a:rPr>
              <a:t>=</a:t>
            </a:r>
            <a:r>
              <a:rPr sz="2200" dirty="0">
                <a:latin typeface="Times New Roman"/>
                <a:cs typeface="Times New Roman"/>
              </a:rPr>
              <a:t> </a:t>
            </a:r>
            <a:r>
              <a:rPr sz="2200" spc="-5" dirty="0">
                <a:latin typeface="Times New Roman"/>
                <a:cs typeface="Times New Roman"/>
              </a:rPr>
              <a:t>{a, </a:t>
            </a:r>
            <a:r>
              <a:rPr sz="2200" spc="-10" dirty="0">
                <a:latin typeface="Times New Roman"/>
                <a:cs typeface="Times New Roman"/>
              </a:rPr>
              <a:t>aaa,</a:t>
            </a:r>
            <a:r>
              <a:rPr sz="2200" spc="20" dirty="0">
                <a:latin typeface="Times New Roman"/>
                <a:cs typeface="Times New Roman"/>
              </a:rPr>
              <a:t> </a:t>
            </a:r>
            <a:r>
              <a:rPr sz="2200" spc="-5" dirty="0">
                <a:latin typeface="Times New Roman"/>
                <a:cs typeface="Times New Roman"/>
              </a:rPr>
              <a:t>aaaaa,</a:t>
            </a:r>
            <a:r>
              <a:rPr sz="2200" spc="15" dirty="0">
                <a:latin typeface="Times New Roman"/>
                <a:cs typeface="Times New Roman"/>
              </a:rPr>
              <a:t> </a:t>
            </a:r>
            <a:r>
              <a:rPr sz="2200" spc="-5" dirty="0">
                <a:latin typeface="Times New Roman"/>
                <a:cs typeface="Times New Roman"/>
              </a:rPr>
              <a:t>.....} (Strings</a:t>
            </a:r>
            <a:r>
              <a:rPr sz="2200" spc="10" dirty="0">
                <a:latin typeface="Times New Roman"/>
                <a:cs typeface="Times New Roman"/>
              </a:rPr>
              <a:t> </a:t>
            </a:r>
            <a:r>
              <a:rPr sz="2200" spc="-5" dirty="0">
                <a:latin typeface="Times New Roman"/>
                <a:cs typeface="Times New Roman"/>
              </a:rPr>
              <a:t>of</a:t>
            </a:r>
            <a:r>
              <a:rPr sz="2200" spc="10" dirty="0">
                <a:latin typeface="Times New Roman"/>
                <a:cs typeface="Times New Roman"/>
              </a:rPr>
              <a:t> </a:t>
            </a:r>
            <a:r>
              <a:rPr sz="2200" spc="-5" dirty="0">
                <a:latin typeface="Times New Roman"/>
                <a:cs typeface="Times New Roman"/>
              </a:rPr>
              <a:t>odd</a:t>
            </a:r>
            <a:r>
              <a:rPr sz="2200" dirty="0">
                <a:latin typeface="Times New Roman"/>
                <a:cs typeface="Times New Roman"/>
              </a:rPr>
              <a:t> </a:t>
            </a:r>
            <a:r>
              <a:rPr sz="2200" spc="-5" dirty="0">
                <a:latin typeface="Times New Roman"/>
                <a:cs typeface="Times New Roman"/>
              </a:rPr>
              <a:t>length</a:t>
            </a:r>
            <a:r>
              <a:rPr sz="2200" dirty="0">
                <a:latin typeface="Times New Roman"/>
                <a:cs typeface="Times New Roman"/>
              </a:rPr>
              <a:t> </a:t>
            </a:r>
            <a:r>
              <a:rPr sz="2200" spc="-5" dirty="0">
                <a:latin typeface="Times New Roman"/>
                <a:cs typeface="Times New Roman"/>
              </a:rPr>
              <a:t>excluding</a:t>
            </a:r>
            <a:r>
              <a:rPr sz="2200" spc="5" dirty="0">
                <a:latin typeface="Times New Roman"/>
                <a:cs typeface="Times New Roman"/>
              </a:rPr>
              <a:t> </a:t>
            </a:r>
            <a:r>
              <a:rPr sz="2200" spc="-5" dirty="0">
                <a:latin typeface="Times New Roman"/>
                <a:cs typeface="Times New Roman"/>
              </a:rPr>
              <a:t>Null) </a:t>
            </a:r>
            <a:r>
              <a:rPr sz="2200" spc="-535" dirty="0">
                <a:latin typeface="Times New Roman"/>
                <a:cs typeface="Times New Roman"/>
              </a:rPr>
              <a:t> </a:t>
            </a:r>
            <a:r>
              <a:rPr sz="2200" spc="-5" dirty="0">
                <a:latin typeface="Times New Roman"/>
                <a:cs typeface="Times New Roman"/>
              </a:rPr>
              <a:t>RE </a:t>
            </a:r>
            <a:r>
              <a:rPr sz="2200" spc="-50" dirty="0">
                <a:latin typeface="Times New Roman"/>
                <a:cs typeface="Times New Roman"/>
              </a:rPr>
              <a:t>(L’)</a:t>
            </a:r>
            <a:r>
              <a:rPr sz="2200" spc="10" dirty="0">
                <a:latin typeface="Times New Roman"/>
                <a:cs typeface="Times New Roman"/>
              </a:rPr>
              <a:t> </a:t>
            </a:r>
            <a:r>
              <a:rPr sz="2200" spc="-5" dirty="0">
                <a:latin typeface="Times New Roman"/>
                <a:cs typeface="Times New Roman"/>
              </a:rPr>
              <a:t>= a(aa)*</a:t>
            </a:r>
            <a:r>
              <a:rPr sz="2200" spc="15" dirty="0">
                <a:latin typeface="Times New Roman"/>
                <a:cs typeface="Times New Roman"/>
              </a:rPr>
              <a:t> </a:t>
            </a:r>
            <a:r>
              <a:rPr sz="2200" spc="-5" dirty="0">
                <a:latin typeface="Times New Roman"/>
                <a:cs typeface="Times New Roman"/>
              </a:rPr>
              <a:t>which</a:t>
            </a:r>
            <a:r>
              <a:rPr sz="2200" spc="5"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5" dirty="0">
                <a:latin typeface="Times New Roman"/>
                <a:cs typeface="Times New Roman"/>
              </a:rPr>
              <a:t>a regular expression</a:t>
            </a:r>
            <a:r>
              <a:rPr sz="2200" spc="5" dirty="0">
                <a:latin typeface="Times New Roman"/>
                <a:cs typeface="Times New Roman"/>
              </a:rPr>
              <a:t> </a:t>
            </a:r>
            <a:r>
              <a:rPr sz="2200" spc="-5" dirty="0">
                <a:latin typeface="Times New Roman"/>
                <a:cs typeface="Times New Roman"/>
              </a:rPr>
              <a:t>itself.</a:t>
            </a:r>
            <a:endParaRPr sz="2200" dirty="0">
              <a:latin typeface="Times New Roman"/>
              <a:cs typeface="Times New Roman"/>
            </a:endParaRPr>
          </a:p>
          <a:p>
            <a:pPr marL="12700">
              <a:lnSpc>
                <a:spcPct val="100000"/>
              </a:lnSpc>
            </a:pPr>
            <a:r>
              <a:rPr sz="2200" b="1" spc="-5" dirty="0">
                <a:latin typeface="Times New Roman"/>
                <a:cs typeface="Times New Roman"/>
              </a:rPr>
              <a:t>Hence,</a:t>
            </a:r>
            <a:r>
              <a:rPr sz="2200" b="1" spc="-25" dirty="0">
                <a:latin typeface="Times New Roman"/>
                <a:cs typeface="Times New Roman"/>
              </a:rPr>
              <a:t> </a:t>
            </a:r>
            <a:r>
              <a:rPr sz="2200" b="1" spc="-10" dirty="0">
                <a:latin typeface="Times New Roman"/>
                <a:cs typeface="Times New Roman"/>
              </a:rPr>
              <a:t>proved.</a:t>
            </a:r>
            <a:endParaRPr sz="2200" dirty="0">
              <a:latin typeface="Times New Roman"/>
              <a:cs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1340" y="786129"/>
            <a:ext cx="8094345" cy="5131533"/>
          </a:xfrm>
          <a:prstGeom prst="rect">
            <a:avLst/>
          </a:prstGeom>
        </p:spPr>
        <p:txBody>
          <a:bodyPr vert="horz" wrap="square" lIns="0" tIns="12065" rIns="0" bIns="0" rtlCol="0">
            <a:spAutoFit/>
          </a:bodyPr>
          <a:lstStyle/>
          <a:p>
            <a:pPr marL="63500">
              <a:lnSpc>
                <a:spcPct val="100000"/>
              </a:lnSpc>
              <a:spcBef>
                <a:spcPts val="95"/>
              </a:spcBef>
            </a:pPr>
            <a:r>
              <a:rPr sz="2200" b="1" spc="-10" dirty="0">
                <a:solidFill>
                  <a:srgbClr val="FF0000"/>
                </a:solidFill>
                <a:latin typeface="Times New Roman"/>
                <a:cs typeface="Times New Roman"/>
              </a:rPr>
              <a:t>Property</a:t>
            </a:r>
            <a:r>
              <a:rPr sz="2200" b="1" spc="15" dirty="0">
                <a:solidFill>
                  <a:srgbClr val="FF0000"/>
                </a:solidFill>
                <a:latin typeface="Times New Roman"/>
                <a:cs typeface="Times New Roman"/>
              </a:rPr>
              <a:t> </a:t>
            </a:r>
            <a:r>
              <a:rPr sz="2200" b="1" spc="-5" dirty="0">
                <a:solidFill>
                  <a:srgbClr val="FF0000"/>
                </a:solidFill>
                <a:latin typeface="Times New Roman"/>
                <a:cs typeface="Times New Roman"/>
              </a:rPr>
              <a:t>4.</a:t>
            </a:r>
            <a:r>
              <a:rPr sz="2200" b="1" spc="10" dirty="0">
                <a:solidFill>
                  <a:srgbClr val="FF0000"/>
                </a:solidFill>
                <a:latin typeface="Times New Roman"/>
                <a:cs typeface="Times New Roman"/>
              </a:rPr>
              <a:t> </a:t>
            </a:r>
            <a:r>
              <a:rPr sz="2200" i="1" spc="-5" dirty="0">
                <a:solidFill>
                  <a:srgbClr val="FF0000"/>
                </a:solidFill>
                <a:latin typeface="Times New Roman"/>
                <a:cs typeface="Times New Roman"/>
              </a:rPr>
              <a:t>The </a:t>
            </a:r>
            <a:r>
              <a:rPr sz="2200" i="1" spc="-15" dirty="0">
                <a:solidFill>
                  <a:srgbClr val="FF0000"/>
                </a:solidFill>
                <a:latin typeface="Times New Roman"/>
                <a:cs typeface="Times New Roman"/>
              </a:rPr>
              <a:t>difference</a:t>
            </a:r>
            <a:r>
              <a:rPr sz="2200" i="1" dirty="0">
                <a:solidFill>
                  <a:srgbClr val="FF0000"/>
                </a:solidFill>
                <a:latin typeface="Times New Roman"/>
                <a:cs typeface="Times New Roman"/>
              </a:rPr>
              <a:t> </a:t>
            </a:r>
            <a:r>
              <a:rPr sz="2200" i="1" spc="-5" dirty="0">
                <a:solidFill>
                  <a:srgbClr val="FF0000"/>
                </a:solidFill>
                <a:latin typeface="Times New Roman"/>
                <a:cs typeface="Times New Roman"/>
              </a:rPr>
              <a:t>of</a:t>
            </a:r>
            <a:r>
              <a:rPr sz="2200" i="1" spc="5" dirty="0">
                <a:solidFill>
                  <a:srgbClr val="FF0000"/>
                </a:solidFill>
                <a:latin typeface="Times New Roman"/>
                <a:cs typeface="Times New Roman"/>
              </a:rPr>
              <a:t> </a:t>
            </a:r>
            <a:r>
              <a:rPr sz="2200" i="1" spc="-5" dirty="0">
                <a:solidFill>
                  <a:srgbClr val="FF0000"/>
                </a:solidFill>
                <a:latin typeface="Times New Roman"/>
                <a:cs typeface="Times New Roman"/>
              </a:rPr>
              <a:t>two</a:t>
            </a:r>
            <a:r>
              <a:rPr sz="2200" i="1" dirty="0">
                <a:solidFill>
                  <a:srgbClr val="FF0000"/>
                </a:solidFill>
                <a:latin typeface="Times New Roman"/>
                <a:cs typeface="Times New Roman"/>
              </a:rPr>
              <a:t> </a:t>
            </a:r>
            <a:r>
              <a:rPr sz="2200" i="1" spc="-15" dirty="0">
                <a:solidFill>
                  <a:srgbClr val="FF0000"/>
                </a:solidFill>
                <a:latin typeface="Times New Roman"/>
                <a:cs typeface="Times New Roman"/>
              </a:rPr>
              <a:t>regular</a:t>
            </a:r>
            <a:r>
              <a:rPr sz="2200" i="1" spc="-10" dirty="0">
                <a:solidFill>
                  <a:srgbClr val="FF0000"/>
                </a:solidFill>
                <a:latin typeface="Times New Roman"/>
                <a:cs typeface="Times New Roman"/>
              </a:rPr>
              <a:t> </a:t>
            </a:r>
            <a:r>
              <a:rPr sz="2200" i="1" spc="-5" dirty="0">
                <a:solidFill>
                  <a:srgbClr val="FF0000"/>
                </a:solidFill>
                <a:latin typeface="Times New Roman"/>
                <a:cs typeface="Times New Roman"/>
              </a:rPr>
              <a:t>set</a:t>
            </a:r>
            <a:r>
              <a:rPr sz="2200" i="1" dirty="0">
                <a:solidFill>
                  <a:srgbClr val="FF0000"/>
                </a:solidFill>
                <a:latin typeface="Times New Roman"/>
                <a:cs typeface="Times New Roman"/>
              </a:rPr>
              <a:t> </a:t>
            </a:r>
            <a:r>
              <a:rPr sz="2200" i="1" spc="-5" dirty="0">
                <a:solidFill>
                  <a:srgbClr val="FF0000"/>
                </a:solidFill>
                <a:latin typeface="Times New Roman"/>
                <a:cs typeface="Times New Roman"/>
              </a:rPr>
              <a:t>is</a:t>
            </a:r>
            <a:r>
              <a:rPr sz="2200" i="1" dirty="0">
                <a:solidFill>
                  <a:srgbClr val="FF0000"/>
                </a:solidFill>
                <a:latin typeface="Times New Roman"/>
                <a:cs typeface="Times New Roman"/>
              </a:rPr>
              <a:t> </a:t>
            </a:r>
            <a:r>
              <a:rPr sz="2200" i="1" spc="-45" dirty="0">
                <a:solidFill>
                  <a:srgbClr val="FF0000"/>
                </a:solidFill>
                <a:latin typeface="Times New Roman"/>
                <a:cs typeface="Times New Roman"/>
              </a:rPr>
              <a:t>regular.</a:t>
            </a:r>
            <a:endParaRPr sz="2200" dirty="0">
              <a:latin typeface="Times New Roman"/>
              <a:cs typeface="Times New Roman"/>
            </a:endParaRPr>
          </a:p>
          <a:p>
            <a:pPr>
              <a:lnSpc>
                <a:spcPct val="100000"/>
              </a:lnSpc>
              <a:spcBef>
                <a:spcPts val="50"/>
              </a:spcBef>
            </a:pPr>
            <a:endParaRPr sz="2250" dirty="0">
              <a:latin typeface="Times New Roman"/>
              <a:cs typeface="Times New Roman"/>
            </a:endParaRPr>
          </a:p>
          <a:p>
            <a:pPr marL="63500">
              <a:lnSpc>
                <a:spcPct val="100000"/>
              </a:lnSpc>
            </a:pPr>
            <a:r>
              <a:rPr sz="2200" b="1" spc="-10" dirty="0">
                <a:solidFill>
                  <a:srgbClr val="FF0000"/>
                </a:solidFill>
                <a:latin typeface="Times New Roman"/>
                <a:cs typeface="Times New Roman"/>
              </a:rPr>
              <a:t>Proof</a:t>
            </a:r>
            <a:r>
              <a:rPr sz="2200" b="1" spc="-35" dirty="0">
                <a:solidFill>
                  <a:srgbClr val="FF0000"/>
                </a:solidFill>
                <a:latin typeface="Times New Roman"/>
                <a:cs typeface="Times New Roman"/>
              </a:rPr>
              <a:t> </a:t>
            </a:r>
            <a:r>
              <a:rPr lang="en-US" sz="2200" b="1" spc="-35" dirty="0" smtClean="0">
                <a:solidFill>
                  <a:srgbClr val="FF0000"/>
                </a:solidFill>
                <a:latin typeface="Times New Roman"/>
                <a:cs typeface="Times New Roman"/>
              </a:rPr>
              <a:t>:</a:t>
            </a:r>
            <a:endParaRPr sz="2200" dirty="0">
              <a:latin typeface="Times New Roman"/>
              <a:cs typeface="Times New Roman"/>
            </a:endParaRPr>
          </a:p>
          <a:p>
            <a:pPr marL="63500" marR="3849370">
              <a:lnSpc>
                <a:spcPct val="200000"/>
              </a:lnSpc>
              <a:spcBef>
                <a:spcPts val="5"/>
              </a:spcBef>
            </a:pPr>
            <a:r>
              <a:rPr sz="2200" spc="-5" dirty="0">
                <a:latin typeface="Times New Roman"/>
                <a:cs typeface="Times New Roman"/>
              </a:rPr>
              <a:t>Let</a:t>
            </a:r>
            <a:r>
              <a:rPr sz="2200" spc="5" dirty="0">
                <a:latin typeface="Times New Roman"/>
                <a:cs typeface="Times New Roman"/>
              </a:rPr>
              <a:t> </a:t>
            </a:r>
            <a:r>
              <a:rPr sz="2200" spc="-5" dirty="0">
                <a:latin typeface="Times New Roman"/>
                <a:cs typeface="Times New Roman"/>
              </a:rPr>
              <a:t>us take</a:t>
            </a:r>
            <a:r>
              <a:rPr sz="2200" spc="-10" dirty="0">
                <a:latin typeface="Times New Roman"/>
                <a:cs typeface="Times New Roman"/>
              </a:rPr>
              <a:t> </a:t>
            </a:r>
            <a:r>
              <a:rPr sz="2200" spc="-5" dirty="0">
                <a:latin typeface="Times New Roman"/>
                <a:cs typeface="Times New Roman"/>
              </a:rPr>
              <a:t>two</a:t>
            </a:r>
            <a:r>
              <a:rPr sz="2200" dirty="0">
                <a:latin typeface="Times New Roman"/>
                <a:cs typeface="Times New Roman"/>
              </a:rPr>
              <a:t> </a:t>
            </a:r>
            <a:r>
              <a:rPr sz="2200" spc="-5" dirty="0">
                <a:latin typeface="Times New Roman"/>
                <a:cs typeface="Times New Roman"/>
              </a:rPr>
              <a:t>regular</a:t>
            </a:r>
            <a:r>
              <a:rPr sz="2200" spc="-10" dirty="0">
                <a:latin typeface="Times New Roman"/>
                <a:cs typeface="Times New Roman"/>
              </a:rPr>
              <a:t> </a:t>
            </a:r>
            <a:r>
              <a:rPr sz="2200" spc="-5" dirty="0">
                <a:latin typeface="Times New Roman"/>
                <a:cs typeface="Times New Roman"/>
              </a:rPr>
              <a:t>expressions </a:t>
            </a:r>
            <a:r>
              <a:rPr sz="2200" spc="-5" dirty="0" smtClean="0">
                <a:latin typeface="Times New Roman"/>
                <a:cs typeface="Times New Roman"/>
              </a:rPr>
              <a:t> </a:t>
            </a:r>
            <a:r>
              <a:rPr sz="2200" spc="-535" dirty="0" smtClean="0">
                <a:latin typeface="Times New Roman"/>
                <a:cs typeface="Times New Roman"/>
              </a:rPr>
              <a:t> </a:t>
            </a:r>
            <a:r>
              <a:rPr sz="2200" dirty="0">
                <a:latin typeface="Times New Roman"/>
                <a:cs typeface="Times New Roman"/>
              </a:rPr>
              <a:t>RE</a:t>
            </a:r>
            <a:r>
              <a:rPr sz="2175" baseline="-21072" dirty="0">
                <a:latin typeface="Times New Roman"/>
                <a:cs typeface="Times New Roman"/>
              </a:rPr>
              <a:t>1</a:t>
            </a:r>
            <a:r>
              <a:rPr sz="2175" spc="284" baseline="-21072" dirty="0">
                <a:latin typeface="Times New Roman"/>
                <a:cs typeface="Times New Roman"/>
              </a:rPr>
              <a:t> </a:t>
            </a:r>
            <a:r>
              <a:rPr sz="2200" spc="-5" dirty="0">
                <a:latin typeface="Times New Roman"/>
                <a:cs typeface="Times New Roman"/>
              </a:rPr>
              <a:t>= a</a:t>
            </a:r>
            <a:r>
              <a:rPr sz="2200" spc="-10" dirty="0">
                <a:latin typeface="Times New Roman"/>
                <a:cs typeface="Times New Roman"/>
              </a:rPr>
              <a:t> </a:t>
            </a:r>
            <a:r>
              <a:rPr sz="2200" spc="-5" dirty="0">
                <a:latin typeface="Times New Roman"/>
                <a:cs typeface="Times New Roman"/>
              </a:rPr>
              <a:t>(a*)</a:t>
            </a:r>
            <a:r>
              <a:rPr sz="2200" spc="5" dirty="0">
                <a:latin typeface="Times New Roman"/>
                <a:cs typeface="Times New Roman"/>
              </a:rPr>
              <a:t> </a:t>
            </a:r>
            <a:r>
              <a:rPr sz="2200" spc="-5" dirty="0">
                <a:latin typeface="Times New Roman"/>
                <a:cs typeface="Times New Roman"/>
              </a:rPr>
              <a:t>and</a:t>
            </a:r>
            <a:r>
              <a:rPr sz="2200" dirty="0">
                <a:latin typeface="Times New Roman"/>
                <a:cs typeface="Times New Roman"/>
              </a:rPr>
              <a:t> RE</a:t>
            </a:r>
            <a:r>
              <a:rPr sz="2175" baseline="-21072" dirty="0">
                <a:latin typeface="Times New Roman"/>
                <a:cs typeface="Times New Roman"/>
              </a:rPr>
              <a:t>2</a:t>
            </a:r>
            <a:r>
              <a:rPr sz="2175" spc="284" baseline="-21072" dirty="0">
                <a:latin typeface="Times New Roman"/>
                <a:cs typeface="Times New Roman"/>
              </a:rPr>
              <a:t> </a:t>
            </a:r>
            <a:r>
              <a:rPr sz="2200" spc="-5" dirty="0">
                <a:latin typeface="Times New Roman"/>
                <a:cs typeface="Times New Roman"/>
              </a:rPr>
              <a:t>= (aa)*</a:t>
            </a:r>
            <a:endParaRPr sz="2200" dirty="0">
              <a:latin typeface="Times New Roman"/>
              <a:cs typeface="Times New Roman"/>
            </a:endParaRPr>
          </a:p>
          <a:p>
            <a:pPr>
              <a:lnSpc>
                <a:spcPct val="100000"/>
              </a:lnSpc>
              <a:spcBef>
                <a:spcPts val="50"/>
              </a:spcBef>
            </a:pPr>
            <a:endParaRPr sz="2250" dirty="0">
              <a:latin typeface="Times New Roman"/>
              <a:cs typeface="Times New Roman"/>
            </a:endParaRPr>
          </a:p>
          <a:p>
            <a:pPr marL="63500">
              <a:lnSpc>
                <a:spcPct val="100000"/>
              </a:lnSpc>
              <a:spcBef>
                <a:spcPts val="5"/>
              </a:spcBef>
            </a:pPr>
            <a:r>
              <a:rPr sz="2200" spc="-5" dirty="0">
                <a:latin typeface="Times New Roman"/>
                <a:cs typeface="Times New Roman"/>
              </a:rPr>
              <a:t>So,</a:t>
            </a:r>
            <a:r>
              <a:rPr sz="2200" spc="10" dirty="0">
                <a:latin typeface="Times New Roman"/>
                <a:cs typeface="Times New Roman"/>
              </a:rPr>
              <a:t> </a:t>
            </a:r>
            <a:r>
              <a:rPr sz="2200" dirty="0">
                <a:latin typeface="Times New Roman"/>
                <a:cs typeface="Times New Roman"/>
              </a:rPr>
              <a:t>L</a:t>
            </a:r>
            <a:r>
              <a:rPr sz="2175" baseline="-21072" dirty="0">
                <a:latin typeface="Times New Roman"/>
                <a:cs typeface="Times New Roman"/>
              </a:rPr>
              <a:t>1</a:t>
            </a:r>
            <a:r>
              <a:rPr sz="2175" spc="307" baseline="-21072" dirty="0">
                <a:latin typeface="Times New Roman"/>
                <a:cs typeface="Times New Roman"/>
              </a:rPr>
              <a:t> </a:t>
            </a:r>
            <a:r>
              <a:rPr sz="2200" spc="-5" dirty="0">
                <a:latin typeface="Times New Roman"/>
                <a:cs typeface="Times New Roman"/>
              </a:rPr>
              <a:t>=</a:t>
            </a:r>
            <a:r>
              <a:rPr sz="2200" spc="5" dirty="0">
                <a:latin typeface="Times New Roman"/>
                <a:cs typeface="Times New Roman"/>
              </a:rPr>
              <a:t> </a:t>
            </a:r>
            <a:r>
              <a:rPr sz="2200" spc="-5" dirty="0">
                <a:latin typeface="Times New Roman"/>
                <a:cs typeface="Times New Roman"/>
              </a:rPr>
              <a:t>{a,</a:t>
            </a:r>
            <a:r>
              <a:rPr sz="2200" spc="5" dirty="0">
                <a:latin typeface="Times New Roman"/>
                <a:cs typeface="Times New Roman"/>
              </a:rPr>
              <a:t> </a:t>
            </a:r>
            <a:r>
              <a:rPr sz="2200" spc="-5" dirty="0">
                <a:latin typeface="Times New Roman"/>
                <a:cs typeface="Times New Roman"/>
              </a:rPr>
              <a:t>aa,</a:t>
            </a:r>
            <a:r>
              <a:rPr sz="2200" spc="10" dirty="0">
                <a:latin typeface="Times New Roman"/>
                <a:cs typeface="Times New Roman"/>
              </a:rPr>
              <a:t> </a:t>
            </a:r>
            <a:r>
              <a:rPr sz="2200" spc="-5" dirty="0">
                <a:latin typeface="Times New Roman"/>
                <a:cs typeface="Times New Roman"/>
              </a:rPr>
              <a:t>aaa,</a:t>
            </a:r>
            <a:r>
              <a:rPr sz="2200" spc="10" dirty="0">
                <a:latin typeface="Times New Roman"/>
                <a:cs typeface="Times New Roman"/>
              </a:rPr>
              <a:t> </a:t>
            </a:r>
            <a:r>
              <a:rPr sz="2200" spc="-10" dirty="0">
                <a:latin typeface="Times New Roman"/>
                <a:cs typeface="Times New Roman"/>
              </a:rPr>
              <a:t>aaaa,</a:t>
            </a:r>
            <a:r>
              <a:rPr sz="2200" spc="25" dirty="0">
                <a:latin typeface="Times New Roman"/>
                <a:cs typeface="Times New Roman"/>
              </a:rPr>
              <a:t> </a:t>
            </a:r>
            <a:r>
              <a:rPr sz="2200" spc="-5" dirty="0">
                <a:latin typeface="Times New Roman"/>
                <a:cs typeface="Times New Roman"/>
              </a:rPr>
              <a:t>....}</a:t>
            </a:r>
            <a:r>
              <a:rPr sz="2200" spc="5" dirty="0">
                <a:latin typeface="Times New Roman"/>
                <a:cs typeface="Times New Roman"/>
              </a:rPr>
              <a:t> </a:t>
            </a:r>
            <a:r>
              <a:rPr sz="2200" spc="-5" dirty="0">
                <a:latin typeface="Times New Roman"/>
                <a:cs typeface="Times New Roman"/>
              </a:rPr>
              <a:t>(Strings</a:t>
            </a:r>
            <a:r>
              <a:rPr sz="2200" spc="5" dirty="0">
                <a:latin typeface="Times New Roman"/>
                <a:cs typeface="Times New Roman"/>
              </a:rPr>
              <a:t> </a:t>
            </a:r>
            <a:r>
              <a:rPr sz="2200" dirty="0">
                <a:latin typeface="Times New Roman"/>
                <a:cs typeface="Times New Roman"/>
              </a:rPr>
              <a:t>of</a:t>
            </a:r>
            <a:r>
              <a:rPr sz="2200" spc="5" dirty="0">
                <a:latin typeface="Times New Roman"/>
                <a:cs typeface="Times New Roman"/>
              </a:rPr>
              <a:t> </a:t>
            </a:r>
            <a:r>
              <a:rPr sz="2200" spc="-5" dirty="0">
                <a:latin typeface="Times New Roman"/>
                <a:cs typeface="Times New Roman"/>
              </a:rPr>
              <a:t>all</a:t>
            </a:r>
            <a:r>
              <a:rPr sz="2200" spc="5" dirty="0">
                <a:latin typeface="Times New Roman"/>
                <a:cs typeface="Times New Roman"/>
              </a:rPr>
              <a:t> </a:t>
            </a:r>
            <a:r>
              <a:rPr sz="2200" spc="-5" dirty="0">
                <a:latin typeface="Times New Roman"/>
                <a:cs typeface="Times New Roman"/>
              </a:rPr>
              <a:t>possible</a:t>
            </a:r>
            <a:r>
              <a:rPr sz="2200" dirty="0">
                <a:latin typeface="Times New Roman"/>
                <a:cs typeface="Times New Roman"/>
              </a:rPr>
              <a:t> </a:t>
            </a:r>
            <a:r>
              <a:rPr sz="2200" spc="-5" dirty="0">
                <a:latin typeface="Times New Roman"/>
                <a:cs typeface="Times New Roman"/>
              </a:rPr>
              <a:t>lengths</a:t>
            </a:r>
            <a:r>
              <a:rPr sz="2200" dirty="0">
                <a:latin typeface="Times New Roman"/>
                <a:cs typeface="Times New Roman"/>
              </a:rPr>
              <a:t> </a:t>
            </a:r>
            <a:r>
              <a:rPr sz="2200" spc="-5" dirty="0">
                <a:latin typeface="Times New Roman"/>
                <a:cs typeface="Times New Roman"/>
              </a:rPr>
              <a:t>excluding</a:t>
            </a:r>
            <a:endParaRPr sz="2200" dirty="0">
              <a:latin typeface="Times New Roman"/>
              <a:cs typeface="Times New Roman"/>
            </a:endParaRPr>
          </a:p>
          <a:p>
            <a:pPr marL="63500">
              <a:lnSpc>
                <a:spcPct val="100000"/>
              </a:lnSpc>
            </a:pPr>
            <a:r>
              <a:rPr sz="2200" spc="-5" dirty="0">
                <a:latin typeface="Times New Roman"/>
                <a:cs typeface="Times New Roman"/>
              </a:rPr>
              <a:t>Null)</a:t>
            </a:r>
            <a:endParaRPr sz="2200" dirty="0">
              <a:latin typeface="Times New Roman"/>
              <a:cs typeface="Times New Roman"/>
            </a:endParaRPr>
          </a:p>
          <a:p>
            <a:pPr marL="63500" marR="130810">
              <a:lnSpc>
                <a:spcPct val="100000"/>
              </a:lnSpc>
            </a:pPr>
            <a:r>
              <a:rPr sz="2200" dirty="0">
                <a:latin typeface="Times New Roman"/>
                <a:cs typeface="Times New Roman"/>
              </a:rPr>
              <a:t>L</a:t>
            </a:r>
            <a:r>
              <a:rPr sz="2175" baseline="-21072" dirty="0">
                <a:latin typeface="Times New Roman"/>
                <a:cs typeface="Times New Roman"/>
              </a:rPr>
              <a:t>2</a:t>
            </a:r>
            <a:r>
              <a:rPr sz="2175" spc="7" baseline="-21072" dirty="0">
                <a:latin typeface="Times New Roman"/>
                <a:cs typeface="Times New Roman"/>
              </a:rPr>
              <a:t> </a:t>
            </a:r>
            <a:r>
              <a:rPr sz="2200" spc="-5" dirty="0">
                <a:latin typeface="Times New Roman"/>
                <a:cs typeface="Times New Roman"/>
              </a:rPr>
              <a:t>= { ε, aa, </a:t>
            </a:r>
            <a:r>
              <a:rPr sz="2200" spc="-10" dirty="0">
                <a:latin typeface="Times New Roman"/>
                <a:cs typeface="Times New Roman"/>
              </a:rPr>
              <a:t>aaaa, </a:t>
            </a:r>
            <a:r>
              <a:rPr sz="2200" spc="-5" dirty="0">
                <a:latin typeface="Times New Roman"/>
                <a:cs typeface="Times New Roman"/>
              </a:rPr>
              <a:t>aaaaaa,.......} (Strings of even length including Null) </a:t>
            </a:r>
            <a:r>
              <a:rPr sz="2200" spc="-535" dirty="0">
                <a:latin typeface="Times New Roman"/>
                <a:cs typeface="Times New Roman"/>
              </a:rPr>
              <a:t> </a:t>
            </a:r>
            <a:r>
              <a:rPr sz="2200" dirty="0">
                <a:latin typeface="Times New Roman"/>
                <a:cs typeface="Times New Roman"/>
              </a:rPr>
              <a:t>L</a:t>
            </a:r>
            <a:r>
              <a:rPr sz="2175" baseline="-21072" dirty="0">
                <a:latin typeface="Times New Roman"/>
                <a:cs typeface="Times New Roman"/>
              </a:rPr>
              <a:t>1</a:t>
            </a:r>
            <a:r>
              <a:rPr sz="2175" spc="292" baseline="-21072" dirty="0">
                <a:latin typeface="Times New Roman"/>
                <a:cs typeface="Times New Roman"/>
              </a:rPr>
              <a:t> </a:t>
            </a:r>
            <a:r>
              <a:rPr sz="2200" spc="-5" dirty="0">
                <a:latin typeface="Times New Roman"/>
                <a:cs typeface="Times New Roman"/>
              </a:rPr>
              <a:t>– </a:t>
            </a:r>
            <a:r>
              <a:rPr sz="2200" dirty="0">
                <a:latin typeface="Times New Roman"/>
                <a:cs typeface="Times New Roman"/>
              </a:rPr>
              <a:t>L</a:t>
            </a:r>
            <a:r>
              <a:rPr sz="2175" baseline="-21072" dirty="0">
                <a:latin typeface="Times New Roman"/>
                <a:cs typeface="Times New Roman"/>
              </a:rPr>
              <a:t>2</a:t>
            </a:r>
            <a:r>
              <a:rPr sz="2175" spc="300" baseline="-21072" dirty="0">
                <a:latin typeface="Times New Roman"/>
                <a:cs typeface="Times New Roman"/>
              </a:rPr>
              <a:t> </a:t>
            </a:r>
            <a:r>
              <a:rPr sz="2200" spc="-5" dirty="0">
                <a:latin typeface="Times New Roman"/>
                <a:cs typeface="Times New Roman"/>
              </a:rPr>
              <a:t>= {a,</a:t>
            </a:r>
            <a:r>
              <a:rPr sz="2200" spc="-10" dirty="0">
                <a:latin typeface="Times New Roman"/>
                <a:cs typeface="Times New Roman"/>
              </a:rPr>
              <a:t> aaa,</a:t>
            </a:r>
            <a:r>
              <a:rPr sz="2200" spc="10" dirty="0">
                <a:latin typeface="Times New Roman"/>
                <a:cs typeface="Times New Roman"/>
              </a:rPr>
              <a:t> </a:t>
            </a:r>
            <a:r>
              <a:rPr sz="2200" spc="-5" dirty="0">
                <a:latin typeface="Times New Roman"/>
                <a:cs typeface="Times New Roman"/>
              </a:rPr>
              <a:t>aaaaa,</a:t>
            </a:r>
            <a:r>
              <a:rPr sz="2200" spc="15" dirty="0">
                <a:latin typeface="Times New Roman"/>
                <a:cs typeface="Times New Roman"/>
              </a:rPr>
              <a:t> </a:t>
            </a:r>
            <a:r>
              <a:rPr sz="2200" spc="-10" dirty="0">
                <a:latin typeface="Times New Roman"/>
                <a:cs typeface="Times New Roman"/>
              </a:rPr>
              <a:t>aaaaaaa,</a:t>
            </a:r>
            <a:r>
              <a:rPr sz="2200" spc="10" dirty="0">
                <a:latin typeface="Times New Roman"/>
                <a:cs typeface="Times New Roman"/>
              </a:rPr>
              <a:t> </a:t>
            </a:r>
            <a:r>
              <a:rPr sz="2200" spc="-5" dirty="0">
                <a:latin typeface="Times New Roman"/>
                <a:cs typeface="Times New Roman"/>
              </a:rPr>
              <a:t>....}</a:t>
            </a:r>
            <a:endParaRPr sz="2200" dirty="0">
              <a:latin typeface="Times New Roman"/>
              <a:cs typeface="Times New Roman"/>
            </a:endParaRPr>
          </a:p>
          <a:p>
            <a:pPr marL="63500">
              <a:lnSpc>
                <a:spcPct val="100000"/>
              </a:lnSpc>
            </a:pPr>
            <a:r>
              <a:rPr sz="2200" spc="-5" dirty="0">
                <a:latin typeface="Times New Roman"/>
                <a:cs typeface="Times New Roman"/>
              </a:rPr>
              <a:t>(Strings of</a:t>
            </a:r>
            <a:r>
              <a:rPr sz="2200" dirty="0">
                <a:latin typeface="Times New Roman"/>
                <a:cs typeface="Times New Roman"/>
              </a:rPr>
              <a:t> </a:t>
            </a:r>
            <a:r>
              <a:rPr sz="2200" spc="-5" dirty="0">
                <a:latin typeface="Times New Roman"/>
                <a:cs typeface="Times New Roman"/>
              </a:rPr>
              <a:t>all</a:t>
            </a:r>
            <a:r>
              <a:rPr sz="2200" spc="5" dirty="0">
                <a:latin typeface="Times New Roman"/>
                <a:cs typeface="Times New Roman"/>
              </a:rPr>
              <a:t> </a:t>
            </a:r>
            <a:r>
              <a:rPr sz="2200" spc="-5" dirty="0">
                <a:latin typeface="Times New Roman"/>
                <a:cs typeface="Times New Roman"/>
              </a:rPr>
              <a:t>odd</a:t>
            </a:r>
            <a:r>
              <a:rPr sz="2200" dirty="0">
                <a:latin typeface="Times New Roman"/>
                <a:cs typeface="Times New Roman"/>
              </a:rPr>
              <a:t> </a:t>
            </a:r>
            <a:r>
              <a:rPr sz="2200" spc="-5" dirty="0">
                <a:latin typeface="Times New Roman"/>
                <a:cs typeface="Times New Roman"/>
              </a:rPr>
              <a:t>lengths</a:t>
            </a:r>
            <a:r>
              <a:rPr sz="2200" spc="-10" dirty="0">
                <a:latin typeface="Times New Roman"/>
                <a:cs typeface="Times New Roman"/>
              </a:rPr>
              <a:t> </a:t>
            </a:r>
            <a:r>
              <a:rPr sz="2200" spc="-5" dirty="0">
                <a:latin typeface="Times New Roman"/>
                <a:cs typeface="Times New Roman"/>
              </a:rPr>
              <a:t>excluding</a:t>
            </a:r>
            <a:r>
              <a:rPr sz="2200" dirty="0">
                <a:latin typeface="Times New Roman"/>
                <a:cs typeface="Times New Roman"/>
              </a:rPr>
              <a:t> </a:t>
            </a:r>
            <a:r>
              <a:rPr sz="2200" spc="-5" dirty="0">
                <a:latin typeface="Times New Roman"/>
                <a:cs typeface="Times New Roman"/>
              </a:rPr>
              <a:t>Null)</a:t>
            </a:r>
            <a:endParaRPr sz="2200" dirty="0">
              <a:latin typeface="Times New Roman"/>
              <a:cs typeface="Times New Roman"/>
            </a:endParaRPr>
          </a:p>
          <a:p>
            <a:pPr marL="63500">
              <a:lnSpc>
                <a:spcPct val="100000"/>
              </a:lnSpc>
              <a:spcBef>
                <a:spcPts val="5"/>
              </a:spcBef>
            </a:pPr>
            <a:r>
              <a:rPr sz="2200" spc="-5" dirty="0">
                <a:latin typeface="Times New Roman"/>
                <a:cs typeface="Times New Roman"/>
              </a:rPr>
              <a:t>RE </a:t>
            </a:r>
            <a:r>
              <a:rPr sz="2200" dirty="0">
                <a:latin typeface="Times New Roman"/>
                <a:cs typeface="Times New Roman"/>
              </a:rPr>
              <a:t>(L</a:t>
            </a:r>
            <a:r>
              <a:rPr sz="2175" baseline="-21072" dirty="0">
                <a:latin typeface="Times New Roman"/>
                <a:cs typeface="Times New Roman"/>
              </a:rPr>
              <a:t>1</a:t>
            </a:r>
            <a:r>
              <a:rPr sz="2175" spc="300" baseline="-21072" dirty="0">
                <a:latin typeface="Times New Roman"/>
                <a:cs typeface="Times New Roman"/>
              </a:rPr>
              <a:t> </a:t>
            </a:r>
            <a:r>
              <a:rPr sz="2200" spc="-5" dirty="0">
                <a:latin typeface="Times New Roman"/>
                <a:cs typeface="Times New Roman"/>
              </a:rPr>
              <a:t>–</a:t>
            </a:r>
            <a:r>
              <a:rPr sz="2200" spc="5" dirty="0">
                <a:latin typeface="Times New Roman"/>
                <a:cs typeface="Times New Roman"/>
              </a:rPr>
              <a:t> </a:t>
            </a:r>
            <a:r>
              <a:rPr sz="2200" dirty="0">
                <a:latin typeface="Times New Roman"/>
                <a:cs typeface="Times New Roman"/>
              </a:rPr>
              <a:t>L</a:t>
            </a:r>
            <a:r>
              <a:rPr sz="2175" baseline="-21072" dirty="0">
                <a:latin typeface="Times New Roman"/>
                <a:cs typeface="Times New Roman"/>
              </a:rPr>
              <a:t>2</a:t>
            </a:r>
            <a:r>
              <a:rPr sz="2200" dirty="0">
                <a:latin typeface="Times New Roman"/>
                <a:cs typeface="Times New Roman"/>
              </a:rPr>
              <a:t>)</a:t>
            </a:r>
            <a:r>
              <a:rPr sz="2200" spc="10" dirty="0">
                <a:latin typeface="Times New Roman"/>
                <a:cs typeface="Times New Roman"/>
              </a:rPr>
              <a:t> </a:t>
            </a:r>
            <a:r>
              <a:rPr sz="2200" spc="-5" dirty="0">
                <a:latin typeface="Times New Roman"/>
                <a:cs typeface="Times New Roman"/>
              </a:rPr>
              <a:t>=</a:t>
            </a:r>
            <a:r>
              <a:rPr sz="2200" dirty="0">
                <a:latin typeface="Times New Roman"/>
                <a:cs typeface="Times New Roman"/>
              </a:rPr>
              <a:t> </a:t>
            </a:r>
            <a:r>
              <a:rPr sz="2200" spc="-5" dirty="0">
                <a:latin typeface="Times New Roman"/>
                <a:cs typeface="Times New Roman"/>
              </a:rPr>
              <a:t>a (aa)*</a:t>
            </a:r>
            <a:r>
              <a:rPr sz="2200" spc="15" dirty="0">
                <a:latin typeface="Times New Roman"/>
                <a:cs typeface="Times New Roman"/>
              </a:rPr>
              <a:t> </a:t>
            </a:r>
            <a:r>
              <a:rPr sz="2200" spc="-5" dirty="0">
                <a:latin typeface="Times New Roman"/>
                <a:cs typeface="Times New Roman"/>
              </a:rPr>
              <a:t>which</a:t>
            </a:r>
            <a:r>
              <a:rPr sz="2200" spc="5" dirty="0">
                <a:latin typeface="Times New Roman"/>
                <a:cs typeface="Times New Roman"/>
              </a:rPr>
              <a:t> </a:t>
            </a:r>
            <a:r>
              <a:rPr sz="2200" spc="-5" dirty="0">
                <a:latin typeface="Times New Roman"/>
                <a:cs typeface="Times New Roman"/>
              </a:rPr>
              <a:t>is a</a:t>
            </a:r>
            <a:r>
              <a:rPr sz="2200" dirty="0">
                <a:latin typeface="Times New Roman"/>
                <a:cs typeface="Times New Roman"/>
              </a:rPr>
              <a:t> </a:t>
            </a:r>
            <a:r>
              <a:rPr sz="2200" spc="-5" dirty="0">
                <a:latin typeface="Times New Roman"/>
                <a:cs typeface="Times New Roman"/>
              </a:rPr>
              <a:t>regular expression.</a:t>
            </a:r>
            <a:endParaRPr sz="2200" dirty="0">
              <a:latin typeface="Times New Roman"/>
              <a:cs typeface="Times New Roman"/>
            </a:endParaRPr>
          </a:p>
          <a:p>
            <a:pPr marL="63500">
              <a:lnSpc>
                <a:spcPct val="100000"/>
              </a:lnSpc>
            </a:pPr>
            <a:r>
              <a:rPr sz="2200" b="1" spc="-5" dirty="0">
                <a:latin typeface="Times New Roman"/>
                <a:cs typeface="Times New Roman"/>
              </a:rPr>
              <a:t>Hence,</a:t>
            </a:r>
            <a:r>
              <a:rPr sz="2200" b="1" spc="-25" dirty="0">
                <a:latin typeface="Times New Roman"/>
                <a:cs typeface="Times New Roman"/>
              </a:rPr>
              <a:t> </a:t>
            </a:r>
            <a:r>
              <a:rPr sz="2200" b="1" spc="-10" dirty="0">
                <a:latin typeface="Times New Roman"/>
                <a:cs typeface="Times New Roman"/>
              </a:rPr>
              <a:t>proved.</a:t>
            </a:r>
            <a:endParaRPr sz="2200" dirty="0">
              <a:latin typeface="Times New Roman"/>
              <a:cs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9240" y="633729"/>
            <a:ext cx="7424420" cy="5420360"/>
          </a:xfrm>
          <a:prstGeom prst="rect">
            <a:avLst/>
          </a:prstGeom>
        </p:spPr>
        <p:txBody>
          <a:bodyPr vert="horz" wrap="square" lIns="0" tIns="12065" rIns="0" bIns="0" rtlCol="0">
            <a:spAutoFit/>
          </a:bodyPr>
          <a:lstStyle/>
          <a:p>
            <a:pPr marL="50800">
              <a:lnSpc>
                <a:spcPct val="100000"/>
              </a:lnSpc>
              <a:spcBef>
                <a:spcPts val="95"/>
              </a:spcBef>
            </a:pPr>
            <a:r>
              <a:rPr sz="2200" b="1" spc="-10" dirty="0">
                <a:solidFill>
                  <a:srgbClr val="FF0000"/>
                </a:solidFill>
                <a:latin typeface="Times New Roman"/>
                <a:cs typeface="Times New Roman"/>
              </a:rPr>
              <a:t>Property</a:t>
            </a:r>
            <a:r>
              <a:rPr sz="2200" b="1" spc="5" dirty="0">
                <a:solidFill>
                  <a:srgbClr val="FF0000"/>
                </a:solidFill>
                <a:latin typeface="Times New Roman"/>
                <a:cs typeface="Times New Roman"/>
              </a:rPr>
              <a:t> </a:t>
            </a:r>
            <a:r>
              <a:rPr sz="2200" b="1" spc="-5" dirty="0">
                <a:solidFill>
                  <a:srgbClr val="FF0000"/>
                </a:solidFill>
                <a:latin typeface="Times New Roman"/>
                <a:cs typeface="Times New Roman"/>
              </a:rPr>
              <a:t>5.</a:t>
            </a:r>
            <a:r>
              <a:rPr sz="2200" b="1" spc="5" dirty="0">
                <a:solidFill>
                  <a:srgbClr val="FF0000"/>
                </a:solidFill>
                <a:latin typeface="Times New Roman"/>
                <a:cs typeface="Times New Roman"/>
              </a:rPr>
              <a:t> </a:t>
            </a:r>
            <a:r>
              <a:rPr sz="2200" i="1" spc="-5" dirty="0">
                <a:solidFill>
                  <a:srgbClr val="FF0000"/>
                </a:solidFill>
                <a:latin typeface="Times New Roman"/>
                <a:cs typeface="Times New Roman"/>
              </a:rPr>
              <a:t>The </a:t>
            </a:r>
            <a:r>
              <a:rPr sz="2200" i="1" spc="-15" dirty="0">
                <a:solidFill>
                  <a:srgbClr val="FF0000"/>
                </a:solidFill>
                <a:latin typeface="Times New Roman"/>
                <a:cs typeface="Times New Roman"/>
              </a:rPr>
              <a:t>reversal</a:t>
            </a:r>
            <a:r>
              <a:rPr sz="2200" i="1" spc="-10" dirty="0">
                <a:solidFill>
                  <a:srgbClr val="FF0000"/>
                </a:solidFill>
                <a:latin typeface="Times New Roman"/>
                <a:cs typeface="Times New Roman"/>
              </a:rPr>
              <a:t> </a:t>
            </a:r>
            <a:r>
              <a:rPr sz="2200" i="1" dirty="0">
                <a:solidFill>
                  <a:srgbClr val="FF0000"/>
                </a:solidFill>
                <a:latin typeface="Times New Roman"/>
                <a:cs typeface="Times New Roman"/>
              </a:rPr>
              <a:t>of</a:t>
            </a:r>
            <a:r>
              <a:rPr sz="2200" i="1" spc="-10" dirty="0">
                <a:solidFill>
                  <a:srgbClr val="FF0000"/>
                </a:solidFill>
                <a:latin typeface="Times New Roman"/>
                <a:cs typeface="Times New Roman"/>
              </a:rPr>
              <a:t> </a:t>
            </a:r>
            <a:r>
              <a:rPr sz="2200" i="1" spc="-5" dirty="0">
                <a:solidFill>
                  <a:srgbClr val="FF0000"/>
                </a:solidFill>
                <a:latin typeface="Times New Roman"/>
                <a:cs typeface="Times New Roman"/>
              </a:rPr>
              <a:t>a</a:t>
            </a:r>
            <a:r>
              <a:rPr sz="2200" i="1" spc="5" dirty="0">
                <a:solidFill>
                  <a:srgbClr val="FF0000"/>
                </a:solidFill>
                <a:latin typeface="Times New Roman"/>
                <a:cs typeface="Times New Roman"/>
              </a:rPr>
              <a:t> </a:t>
            </a:r>
            <a:r>
              <a:rPr sz="2200" i="1" spc="-15" dirty="0">
                <a:solidFill>
                  <a:srgbClr val="FF0000"/>
                </a:solidFill>
                <a:latin typeface="Times New Roman"/>
                <a:cs typeface="Times New Roman"/>
              </a:rPr>
              <a:t>regular </a:t>
            </a:r>
            <a:r>
              <a:rPr sz="2200" i="1" spc="-5" dirty="0">
                <a:solidFill>
                  <a:srgbClr val="FF0000"/>
                </a:solidFill>
                <a:latin typeface="Times New Roman"/>
                <a:cs typeface="Times New Roman"/>
              </a:rPr>
              <a:t>set</a:t>
            </a:r>
            <a:r>
              <a:rPr sz="2200" i="1" spc="-10" dirty="0">
                <a:solidFill>
                  <a:srgbClr val="FF0000"/>
                </a:solidFill>
                <a:latin typeface="Times New Roman"/>
                <a:cs typeface="Times New Roman"/>
              </a:rPr>
              <a:t> </a:t>
            </a:r>
            <a:r>
              <a:rPr sz="2200" i="1" spc="-5" dirty="0">
                <a:solidFill>
                  <a:srgbClr val="FF0000"/>
                </a:solidFill>
                <a:latin typeface="Times New Roman"/>
                <a:cs typeface="Times New Roman"/>
              </a:rPr>
              <a:t>is </a:t>
            </a:r>
            <a:r>
              <a:rPr sz="2200" i="1" spc="-40" dirty="0">
                <a:solidFill>
                  <a:srgbClr val="FF0000"/>
                </a:solidFill>
                <a:latin typeface="Times New Roman"/>
                <a:cs typeface="Times New Roman"/>
              </a:rPr>
              <a:t>regular</a:t>
            </a:r>
            <a:r>
              <a:rPr sz="2200" i="1" spc="-40" dirty="0">
                <a:latin typeface="Times New Roman"/>
                <a:cs typeface="Times New Roman"/>
              </a:rPr>
              <a:t>.</a:t>
            </a:r>
            <a:endParaRPr sz="2200" dirty="0">
              <a:latin typeface="Times New Roman"/>
              <a:cs typeface="Times New Roman"/>
            </a:endParaRPr>
          </a:p>
          <a:p>
            <a:pPr marL="50800">
              <a:lnSpc>
                <a:spcPct val="100000"/>
              </a:lnSpc>
            </a:pPr>
            <a:r>
              <a:rPr sz="2200" b="1" spc="-10" dirty="0">
                <a:latin typeface="Times New Roman"/>
                <a:cs typeface="Times New Roman"/>
              </a:rPr>
              <a:t>Proof</a:t>
            </a:r>
            <a:r>
              <a:rPr sz="2200" b="1" spc="-35" dirty="0">
                <a:latin typeface="Times New Roman"/>
                <a:cs typeface="Times New Roman"/>
              </a:rPr>
              <a:t> </a:t>
            </a:r>
            <a:endParaRPr sz="2200" dirty="0">
              <a:latin typeface="Times New Roman"/>
              <a:cs typeface="Times New Roman"/>
            </a:endParaRPr>
          </a:p>
          <a:p>
            <a:pPr marL="50800" marR="1124585">
              <a:lnSpc>
                <a:spcPct val="100000"/>
              </a:lnSpc>
            </a:pPr>
            <a:r>
              <a:rPr sz="2200" spc="-95" dirty="0">
                <a:latin typeface="Times New Roman"/>
                <a:cs typeface="Times New Roman"/>
              </a:rPr>
              <a:t>We</a:t>
            </a:r>
            <a:r>
              <a:rPr sz="2200" spc="-5" dirty="0">
                <a:latin typeface="Times New Roman"/>
                <a:cs typeface="Times New Roman"/>
              </a:rPr>
              <a:t> have</a:t>
            </a:r>
            <a:r>
              <a:rPr sz="2200" dirty="0">
                <a:latin typeface="Times New Roman"/>
                <a:cs typeface="Times New Roman"/>
              </a:rPr>
              <a:t> </a:t>
            </a:r>
            <a:r>
              <a:rPr sz="2200" spc="-5" dirty="0">
                <a:latin typeface="Times New Roman"/>
                <a:cs typeface="Times New Roman"/>
              </a:rPr>
              <a:t>to</a:t>
            </a:r>
            <a:r>
              <a:rPr sz="2200" spc="5" dirty="0">
                <a:latin typeface="Times New Roman"/>
                <a:cs typeface="Times New Roman"/>
              </a:rPr>
              <a:t> </a:t>
            </a:r>
            <a:r>
              <a:rPr sz="2200" spc="-5" dirty="0">
                <a:latin typeface="Times New Roman"/>
                <a:cs typeface="Times New Roman"/>
              </a:rPr>
              <a:t>prove</a:t>
            </a:r>
            <a:r>
              <a:rPr sz="2200" spc="10" dirty="0">
                <a:latin typeface="Times New Roman"/>
                <a:cs typeface="Times New Roman"/>
              </a:rPr>
              <a:t> </a:t>
            </a:r>
            <a:r>
              <a:rPr sz="2200" b="1" dirty="0">
                <a:latin typeface="Times New Roman"/>
                <a:cs typeface="Times New Roman"/>
              </a:rPr>
              <a:t>L</a:t>
            </a:r>
            <a:r>
              <a:rPr sz="2175" b="1" baseline="24904" dirty="0">
                <a:latin typeface="Times New Roman"/>
                <a:cs typeface="Times New Roman"/>
              </a:rPr>
              <a:t>R</a:t>
            </a:r>
            <a:r>
              <a:rPr sz="2175" b="1" spc="292" baseline="24904"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5" dirty="0">
                <a:latin typeface="Times New Roman"/>
                <a:cs typeface="Times New Roman"/>
              </a:rPr>
              <a:t>also</a:t>
            </a:r>
            <a:r>
              <a:rPr sz="2200" spc="5" dirty="0">
                <a:latin typeface="Times New Roman"/>
                <a:cs typeface="Times New Roman"/>
              </a:rPr>
              <a:t> </a:t>
            </a:r>
            <a:r>
              <a:rPr sz="2200" spc="-5" dirty="0">
                <a:latin typeface="Times New Roman"/>
                <a:cs typeface="Times New Roman"/>
              </a:rPr>
              <a:t>regular</a:t>
            </a:r>
            <a:r>
              <a:rPr sz="2200" dirty="0">
                <a:latin typeface="Times New Roman"/>
                <a:cs typeface="Times New Roman"/>
              </a:rPr>
              <a:t> </a:t>
            </a:r>
            <a:r>
              <a:rPr sz="2200" spc="-5" dirty="0">
                <a:latin typeface="Times New Roman"/>
                <a:cs typeface="Times New Roman"/>
              </a:rPr>
              <a:t>if</a:t>
            </a:r>
            <a:r>
              <a:rPr sz="2200" spc="30" dirty="0">
                <a:latin typeface="Times New Roman"/>
                <a:cs typeface="Times New Roman"/>
              </a:rPr>
              <a:t> </a:t>
            </a:r>
            <a:r>
              <a:rPr sz="2200" b="1" spc="-5" dirty="0">
                <a:latin typeface="Times New Roman"/>
                <a:cs typeface="Times New Roman"/>
              </a:rPr>
              <a:t>L</a:t>
            </a:r>
            <a:r>
              <a:rPr sz="2200" b="1" spc="-10" dirty="0">
                <a:latin typeface="Times New Roman"/>
                <a:cs typeface="Times New Roman"/>
              </a:rPr>
              <a:t> </a:t>
            </a:r>
            <a:r>
              <a:rPr sz="2200" spc="-5" dirty="0">
                <a:latin typeface="Times New Roman"/>
                <a:cs typeface="Times New Roman"/>
              </a:rPr>
              <a:t>is</a:t>
            </a:r>
            <a:r>
              <a:rPr sz="2200" dirty="0">
                <a:latin typeface="Times New Roman"/>
                <a:cs typeface="Times New Roman"/>
              </a:rPr>
              <a:t> </a:t>
            </a:r>
            <a:r>
              <a:rPr sz="2200" spc="-5" dirty="0">
                <a:latin typeface="Times New Roman"/>
                <a:cs typeface="Times New Roman"/>
              </a:rPr>
              <a:t>a</a:t>
            </a:r>
            <a:r>
              <a:rPr sz="2200" dirty="0">
                <a:latin typeface="Times New Roman"/>
                <a:cs typeface="Times New Roman"/>
              </a:rPr>
              <a:t> </a:t>
            </a:r>
            <a:r>
              <a:rPr sz="2200" spc="-5" dirty="0">
                <a:latin typeface="Times New Roman"/>
                <a:cs typeface="Times New Roman"/>
              </a:rPr>
              <a:t>regular</a:t>
            </a:r>
            <a:r>
              <a:rPr sz="2200" spc="15" dirty="0">
                <a:latin typeface="Times New Roman"/>
                <a:cs typeface="Times New Roman"/>
              </a:rPr>
              <a:t> </a:t>
            </a:r>
            <a:r>
              <a:rPr sz="2200" spc="-5" dirty="0">
                <a:latin typeface="Times New Roman"/>
                <a:cs typeface="Times New Roman"/>
              </a:rPr>
              <a:t>set. </a:t>
            </a:r>
            <a:r>
              <a:rPr sz="2200" spc="-535" dirty="0">
                <a:latin typeface="Times New Roman"/>
                <a:cs typeface="Times New Roman"/>
              </a:rPr>
              <a:t> </a:t>
            </a:r>
            <a:r>
              <a:rPr sz="2200" spc="-5" dirty="0">
                <a:latin typeface="Times New Roman"/>
                <a:cs typeface="Times New Roman"/>
              </a:rPr>
              <a:t>Let,</a:t>
            </a:r>
            <a:r>
              <a:rPr sz="2200" dirty="0">
                <a:latin typeface="Times New Roman"/>
                <a:cs typeface="Times New Roman"/>
              </a:rPr>
              <a:t> </a:t>
            </a:r>
            <a:r>
              <a:rPr sz="2200" spc="-5" dirty="0">
                <a:latin typeface="Times New Roman"/>
                <a:cs typeface="Times New Roman"/>
              </a:rPr>
              <a:t>L</a:t>
            </a:r>
            <a:r>
              <a:rPr sz="2200" spc="-70" dirty="0">
                <a:latin typeface="Times New Roman"/>
                <a:cs typeface="Times New Roman"/>
              </a:rPr>
              <a:t> </a:t>
            </a:r>
            <a:r>
              <a:rPr sz="2200" spc="-5" dirty="0">
                <a:latin typeface="Times New Roman"/>
                <a:cs typeface="Times New Roman"/>
              </a:rPr>
              <a:t>= {01,</a:t>
            </a:r>
            <a:r>
              <a:rPr sz="2200" spc="-20" dirty="0">
                <a:latin typeface="Times New Roman"/>
                <a:cs typeface="Times New Roman"/>
              </a:rPr>
              <a:t> </a:t>
            </a:r>
            <a:r>
              <a:rPr sz="2200" dirty="0">
                <a:latin typeface="Times New Roman"/>
                <a:cs typeface="Times New Roman"/>
              </a:rPr>
              <a:t>10,</a:t>
            </a:r>
            <a:r>
              <a:rPr sz="2200" spc="-5" dirty="0">
                <a:latin typeface="Times New Roman"/>
                <a:cs typeface="Times New Roman"/>
              </a:rPr>
              <a:t> </a:t>
            </a:r>
            <a:r>
              <a:rPr sz="2200" spc="-30" dirty="0">
                <a:latin typeface="Times New Roman"/>
                <a:cs typeface="Times New Roman"/>
              </a:rPr>
              <a:t>11,</a:t>
            </a:r>
            <a:r>
              <a:rPr sz="2200" dirty="0">
                <a:latin typeface="Times New Roman"/>
                <a:cs typeface="Times New Roman"/>
              </a:rPr>
              <a:t> </a:t>
            </a:r>
            <a:r>
              <a:rPr sz="2200" spc="-5" dirty="0">
                <a:latin typeface="Times New Roman"/>
                <a:cs typeface="Times New Roman"/>
              </a:rPr>
              <a:t>10}</a:t>
            </a:r>
            <a:endParaRPr sz="2200" dirty="0">
              <a:latin typeface="Times New Roman"/>
              <a:cs typeface="Times New Roman"/>
            </a:endParaRPr>
          </a:p>
          <a:p>
            <a:pPr marL="50800">
              <a:lnSpc>
                <a:spcPct val="100000"/>
              </a:lnSpc>
            </a:pPr>
            <a:r>
              <a:rPr sz="2200" spc="-5" dirty="0">
                <a:latin typeface="Times New Roman"/>
                <a:cs typeface="Times New Roman"/>
              </a:rPr>
              <a:t>RE</a:t>
            </a:r>
            <a:r>
              <a:rPr sz="2200" spc="-10" dirty="0">
                <a:latin typeface="Times New Roman"/>
                <a:cs typeface="Times New Roman"/>
              </a:rPr>
              <a:t> </a:t>
            </a:r>
            <a:r>
              <a:rPr sz="2200" spc="-5" dirty="0">
                <a:latin typeface="Times New Roman"/>
                <a:cs typeface="Times New Roman"/>
              </a:rPr>
              <a:t>(L)</a:t>
            </a:r>
            <a:r>
              <a:rPr sz="2200" spc="5" dirty="0">
                <a:latin typeface="Times New Roman"/>
                <a:cs typeface="Times New Roman"/>
              </a:rPr>
              <a:t> </a:t>
            </a:r>
            <a:r>
              <a:rPr sz="2200" spc="-5" dirty="0">
                <a:latin typeface="Times New Roman"/>
                <a:cs typeface="Times New Roman"/>
              </a:rPr>
              <a:t>= 01</a:t>
            </a:r>
            <a:r>
              <a:rPr sz="2200" dirty="0">
                <a:latin typeface="Times New Roman"/>
                <a:cs typeface="Times New Roman"/>
              </a:rPr>
              <a:t> </a:t>
            </a:r>
            <a:r>
              <a:rPr sz="2200" spc="-5" dirty="0">
                <a:latin typeface="Times New Roman"/>
                <a:cs typeface="Times New Roman"/>
              </a:rPr>
              <a:t>+</a:t>
            </a:r>
            <a:r>
              <a:rPr sz="2200" spc="-10" dirty="0">
                <a:latin typeface="Times New Roman"/>
                <a:cs typeface="Times New Roman"/>
              </a:rPr>
              <a:t> </a:t>
            </a:r>
            <a:r>
              <a:rPr sz="2200" spc="-5" dirty="0">
                <a:latin typeface="Times New Roman"/>
                <a:cs typeface="Times New Roman"/>
              </a:rPr>
              <a:t>10 +</a:t>
            </a:r>
            <a:r>
              <a:rPr sz="2200" spc="-10" dirty="0">
                <a:latin typeface="Times New Roman"/>
                <a:cs typeface="Times New Roman"/>
              </a:rPr>
              <a:t> </a:t>
            </a:r>
            <a:r>
              <a:rPr sz="2200" spc="-45" dirty="0">
                <a:latin typeface="Times New Roman"/>
                <a:cs typeface="Times New Roman"/>
              </a:rPr>
              <a:t>11</a:t>
            </a:r>
            <a:r>
              <a:rPr sz="2200" spc="-10" dirty="0">
                <a:latin typeface="Times New Roman"/>
                <a:cs typeface="Times New Roman"/>
              </a:rPr>
              <a:t> </a:t>
            </a:r>
            <a:r>
              <a:rPr sz="2200" spc="-5" dirty="0">
                <a:latin typeface="Times New Roman"/>
                <a:cs typeface="Times New Roman"/>
              </a:rPr>
              <a:t>+</a:t>
            </a:r>
            <a:r>
              <a:rPr sz="2200" spc="-10" dirty="0">
                <a:latin typeface="Times New Roman"/>
                <a:cs typeface="Times New Roman"/>
              </a:rPr>
              <a:t> </a:t>
            </a:r>
            <a:r>
              <a:rPr sz="2200" spc="-5" dirty="0">
                <a:latin typeface="Times New Roman"/>
                <a:cs typeface="Times New Roman"/>
              </a:rPr>
              <a:t>10</a:t>
            </a:r>
            <a:endParaRPr sz="2200" dirty="0">
              <a:latin typeface="Times New Roman"/>
              <a:cs typeface="Times New Roman"/>
            </a:endParaRPr>
          </a:p>
          <a:p>
            <a:pPr marL="50800">
              <a:lnSpc>
                <a:spcPct val="100000"/>
              </a:lnSpc>
              <a:spcBef>
                <a:spcPts val="5"/>
              </a:spcBef>
            </a:pPr>
            <a:r>
              <a:rPr sz="2200" dirty="0">
                <a:latin typeface="Times New Roman"/>
                <a:cs typeface="Times New Roman"/>
              </a:rPr>
              <a:t>L</a:t>
            </a:r>
            <a:r>
              <a:rPr sz="2175" baseline="24904" dirty="0">
                <a:latin typeface="Times New Roman"/>
                <a:cs typeface="Times New Roman"/>
              </a:rPr>
              <a:t>R</a:t>
            </a:r>
            <a:r>
              <a:rPr sz="2175" spc="270" baseline="24904" dirty="0">
                <a:latin typeface="Times New Roman"/>
                <a:cs typeface="Times New Roman"/>
              </a:rPr>
              <a:t> </a:t>
            </a:r>
            <a:r>
              <a:rPr sz="2200" spc="-5" dirty="0">
                <a:latin typeface="Times New Roman"/>
                <a:cs typeface="Times New Roman"/>
              </a:rPr>
              <a:t>=</a:t>
            </a:r>
            <a:r>
              <a:rPr sz="2200" spc="-15" dirty="0">
                <a:latin typeface="Times New Roman"/>
                <a:cs typeface="Times New Roman"/>
              </a:rPr>
              <a:t> </a:t>
            </a:r>
            <a:r>
              <a:rPr sz="2200" spc="-5" dirty="0">
                <a:latin typeface="Times New Roman"/>
                <a:cs typeface="Times New Roman"/>
              </a:rPr>
              <a:t>{10,</a:t>
            </a:r>
            <a:r>
              <a:rPr sz="2200" spc="-25" dirty="0">
                <a:latin typeface="Times New Roman"/>
                <a:cs typeface="Times New Roman"/>
              </a:rPr>
              <a:t> </a:t>
            </a:r>
            <a:r>
              <a:rPr sz="2200" dirty="0">
                <a:latin typeface="Times New Roman"/>
                <a:cs typeface="Times New Roman"/>
              </a:rPr>
              <a:t>01,</a:t>
            </a:r>
            <a:r>
              <a:rPr sz="2200" spc="-15" dirty="0">
                <a:latin typeface="Times New Roman"/>
                <a:cs typeface="Times New Roman"/>
              </a:rPr>
              <a:t> </a:t>
            </a:r>
            <a:r>
              <a:rPr sz="2200" spc="-30" dirty="0">
                <a:latin typeface="Times New Roman"/>
                <a:cs typeface="Times New Roman"/>
              </a:rPr>
              <a:t>11,</a:t>
            </a:r>
            <a:r>
              <a:rPr sz="2200" spc="-15" dirty="0">
                <a:latin typeface="Times New Roman"/>
                <a:cs typeface="Times New Roman"/>
              </a:rPr>
              <a:t> </a:t>
            </a:r>
            <a:r>
              <a:rPr sz="2200" spc="-5" dirty="0">
                <a:latin typeface="Times New Roman"/>
                <a:cs typeface="Times New Roman"/>
              </a:rPr>
              <a:t>01}</a:t>
            </a:r>
            <a:endParaRPr sz="2200" dirty="0">
              <a:latin typeface="Times New Roman"/>
              <a:cs typeface="Times New Roman"/>
            </a:endParaRPr>
          </a:p>
          <a:p>
            <a:pPr marL="50800">
              <a:lnSpc>
                <a:spcPct val="100000"/>
              </a:lnSpc>
            </a:pPr>
            <a:r>
              <a:rPr sz="2200" spc="-5" dirty="0">
                <a:latin typeface="Times New Roman"/>
                <a:cs typeface="Times New Roman"/>
              </a:rPr>
              <a:t>RE </a:t>
            </a:r>
            <a:r>
              <a:rPr sz="2200" dirty="0">
                <a:latin typeface="Times New Roman"/>
                <a:cs typeface="Times New Roman"/>
              </a:rPr>
              <a:t>(L</a:t>
            </a:r>
            <a:r>
              <a:rPr sz="2175" baseline="24904" dirty="0">
                <a:latin typeface="Times New Roman"/>
                <a:cs typeface="Times New Roman"/>
              </a:rPr>
              <a:t>R</a:t>
            </a:r>
            <a:r>
              <a:rPr sz="2200" dirty="0">
                <a:latin typeface="Times New Roman"/>
                <a:cs typeface="Times New Roman"/>
              </a:rPr>
              <a:t>)</a:t>
            </a:r>
            <a:r>
              <a:rPr sz="2200" spc="20" dirty="0">
                <a:latin typeface="Times New Roman"/>
                <a:cs typeface="Times New Roman"/>
              </a:rPr>
              <a:t> </a:t>
            </a:r>
            <a:r>
              <a:rPr sz="2200" spc="-5" dirty="0">
                <a:latin typeface="Times New Roman"/>
                <a:cs typeface="Times New Roman"/>
              </a:rPr>
              <a:t>= 01</a:t>
            </a:r>
            <a:r>
              <a:rPr sz="2200" dirty="0">
                <a:latin typeface="Times New Roman"/>
                <a:cs typeface="Times New Roman"/>
              </a:rPr>
              <a:t> </a:t>
            </a:r>
            <a:r>
              <a:rPr sz="2200" spc="-5" dirty="0">
                <a:latin typeface="Times New Roman"/>
                <a:cs typeface="Times New Roman"/>
              </a:rPr>
              <a:t>+ 10</a:t>
            </a:r>
            <a:r>
              <a:rPr sz="2200" dirty="0">
                <a:latin typeface="Times New Roman"/>
                <a:cs typeface="Times New Roman"/>
              </a:rPr>
              <a:t> </a:t>
            </a:r>
            <a:r>
              <a:rPr sz="2200" spc="-5" dirty="0">
                <a:latin typeface="Times New Roman"/>
                <a:cs typeface="Times New Roman"/>
              </a:rPr>
              <a:t>+ </a:t>
            </a:r>
            <a:r>
              <a:rPr sz="2200" spc="-45" dirty="0">
                <a:latin typeface="Times New Roman"/>
                <a:cs typeface="Times New Roman"/>
              </a:rPr>
              <a:t>11</a:t>
            </a:r>
            <a:r>
              <a:rPr sz="2200" spc="-5" dirty="0">
                <a:latin typeface="Times New Roman"/>
                <a:cs typeface="Times New Roman"/>
              </a:rPr>
              <a:t> + 10 which</a:t>
            </a:r>
            <a:r>
              <a:rPr sz="2200" spc="5" dirty="0">
                <a:latin typeface="Times New Roman"/>
                <a:cs typeface="Times New Roman"/>
              </a:rPr>
              <a:t> </a:t>
            </a:r>
            <a:r>
              <a:rPr sz="2200" spc="-5" dirty="0">
                <a:latin typeface="Times New Roman"/>
                <a:cs typeface="Times New Roman"/>
              </a:rPr>
              <a:t>is regular</a:t>
            </a:r>
            <a:endParaRPr sz="2200" dirty="0">
              <a:latin typeface="Times New Roman"/>
              <a:cs typeface="Times New Roman"/>
            </a:endParaRPr>
          </a:p>
          <a:p>
            <a:pPr marL="50800">
              <a:lnSpc>
                <a:spcPct val="100000"/>
              </a:lnSpc>
            </a:pPr>
            <a:r>
              <a:rPr sz="2200" b="1" spc="-5" dirty="0">
                <a:latin typeface="Times New Roman"/>
                <a:cs typeface="Times New Roman"/>
              </a:rPr>
              <a:t>Hence,</a:t>
            </a:r>
            <a:r>
              <a:rPr sz="2200" b="1" spc="-25" dirty="0">
                <a:latin typeface="Times New Roman"/>
                <a:cs typeface="Times New Roman"/>
              </a:rPr>
              <a:t> </a:t>
            </a:r>
            <a:r>
              <a:rPr sz="2200" b="1" spc="-10" dirty="0">
                <a:latin typeface="Times New Roman"/>
                <a:cs typeface="Times New Roman"/>
              </a:rPr>
              <a:t>proved.</a:t>
            </a:r>
            <a:endParaRPr sz="2200" dirty="0">
              <a:latin typeface="Times New Roman"/>
              <a:cs typeface="Times New Roman"/>
            </a:endParaRPr>
          </a:p>
          <a:p>
            <a:pPr>
              <a:lnSpc>
                <a:spcPct val="100000"/>
              </a:lnSpc>
              <a:spcBef>
                <a:spcPts val="50"/>
              </a:spcBef>
            </a:pPr>
            <a:endParaRPr sz="2250" dirty="0">
              <a:latin typeface="Times New Roman"/>
              <a:cs typeface="Times New Roman"/>
            </a:endParaRPr>
          </a:p>
          <a:p>
            <a:pPr marL="50800">
              <a:lnSpc>
                <a:spcPct val="100000"/>
              </a:lnSpc>
            </a:pPr>
            <a:r>
              <a:rPr sz="2200" b="1" spc="-10" dirty="0">
                <a:solidFill>
                  <a:srgbClr val="FF0000"/>
                </a:solidFill>
                <a:latin typeface="Times New Roman"/>
                <a:cs typeface="Times New Roman"/>
              </a:rPr>
              <a:t>Property</a:t>
            </a:r>
            <a:r>
              <a:rPr sz="2200" b="1" spc="10" dirty="0">
                <a:solidFill>
                  <a:srgbClr val="FF0000"/>
                </a:solidFill>
                <a:latin typeface="Times New Roman"/>
                <a:cs typeface="Times New Roman"/>
              </a:rPr>
              <a:t> </a:t>
            </a:r>
            <a:r>
              <a:rPr sz="2200" b="1" spc="-5" dirty="0">
                <a:solidFill>
                  <a:srgbClr val="FF0000"/>
                </a:solidFill>
                <a:latin typeface="Times New Roman"/>
                <a:cs typeface="Times New Roman"/>
              </a:rPr>
              <a:t>6.</a:t>
            </a:r>
            <a:r>
              <a:rPr sz="2200" b="1" spc="5" dirty="0">
                <a:solidFill>
                  <a:srgbClr val="FF0000"/>
                </a:solidFill>
                <a:latin typeface="Times New Roman"/>
                <a:cs typeface="Times New Roman"/>
              </a:rPr>
              <a:t> </a:t>
            </a:r>
            <a:r>
              <a:rPr sz="2200" i="1" spc="-5" dirty="0">
                <a:solidFill>
                  <a:srgbClr val="FF0000"/>
                </a:solidFill>
                <a:latin typeface="Times New Roman"/>
                <a:cs typeface="Times New Roman"/>
              </a:rPr>
              <a:t>The </a:t>
            </a:r>
            <a:r>
              <a:rPr sz="2200" i="1" spc="-15" dirty="0">
                <a:solidFill>
                  <a:srgbClr val="FF0000"/>
                </a:solidFill>
                <a:latin typeface="Times New Roman"/>
                <a:cs typeface="Times New Roman"/>
              </a:rPr>
              <a:t>closure </a:t>
            </a:r>
            <a:r>
              <a:rPr sz="2200" i="1" spc="-5" dirty="0">
                <a:solidFill>
                  <a:srgbClr val="FF0000"/>
                </a:solidFill>
                <a:latin typeface="Times New Roman"/>
                <a:cs typeface="Times New Roman"/>
              </a:rPr>
              <a:t>of</a:t>
            </a:r>
            <a:r>
              <a:rPr sz="2200" i="1" dirty="0">
                <a:solidFill>
                  <a:srgbClr val="FF0000"/>
                </a:solidFill>
                <a:latin typeface="Times New Roman"/>
                <a:cs typeface="Times New Roman"/>
              </a:rPr>
              <a:t> </a:t>
            </a:r>
            <a:r>
              <a:rPr sz="2200" i="1" spc="-5" dirty="0">
                <a:solidFill>
                  <a:srgbClr val="FF0000"/>
                </a:solidFill>
                <a:latin typeface="Times New Roman"/>
                <a:cs typeface="Times New Roman"/>
              </a:rPr>
              <a:t>a </a:t>
            </a:r>
            <a:r>
              <a:rPr sz="2200" i="1" spc="-15" dirty="0">
                <a:solidFill>
                  <a:srgbClr val="FF0000"/>
                </a:solidFill>
                <a:latin typeface="Times New Roman"/>
                <a:cs typeface="Times New Roman"/>
              </a:rPr>
              <a:t>regular</a:t>
            </a:r>
            <a:r>
              <a:rPr sz="2200" i="1" spc="-10" dirty="0">
                <a:solidFill>
                  <a:srgbClr val="FF0000"/>
                </a:solidFill>
                <a:latin typeface="Times New Roman"/>
                <a:cs typeface="Times New Roman"/>
              </a:rPr>
              <a:t> </a:t>
            </a:r>
            <a:r>
              <a:rPr sz="2200" i="1" spc="-5" dirty="0">
                <a:solidFill>
                  <a:srgbClr val="FF0000"/>
                </a:solidFill>
                <a:latin typeface="Times New Roman"/>
                <a:cs typeface="Times New Roman"/>
              </a:rPr>
              <a:t>set is </a:t>
            </a:r>
            <a:r>
              <a:rPr sz="2200" i="1" spc="-45" dirty="0">
                <a:solidFill>
                  <a:srgbClr val="FF0000"/>
                </a:solidFill>
                <a:latin typeface="Times New Roman"/>
                <a:cs typeface="Times New Roman"/>
              </a:rPr>
              <a:t>regular.</a:t>
            </a:r>
            <a:endParaRPr sz="2200" dirty="0">
              <a:latin typeface="Times New Roman"/>
              <a:cs typeface="Times New Roman"/>
            </a:endParaRPr>
          </a:p>
          <a:p>
            <a:pPr marL="50800">
              <a:lnSpc>
                <a:spcPct val="100000"/>
              </a:lnSpc>
            </a:pPr>
            <a:r>
              <a:rPr sz="2200" b="1" spc="-10" dirty="0">
                <a:latin typeface="Times New Roman"/>
                <a:cs typeface="Times New Roman"/>
              </a:rPr>
              <a:t>Proof</a:t>
            </a:r>
            <a:r>
              <a:rPr sz="2200" b="1" spc="-35" dirty="0">
                <a:latin typeface="Times New Roman"/>
                <a:cs typeface="Times New Roman"/>
              </a:rPr>
              <a:t> </a:t>
            </a:r>
            <a:endParaRPr sz="2200" dirty="0">
              <a:latin typeface="Times New Roman"/>
              <a:cs typeface="Times New Roman"/>
            </a:endParaRPr>
          </a:p>
          <a:p>
            <a:pPr marL="50800" marR="17780">
              <a:lnSpc>
                <a:spcPct val="100000"/>
              </a:lnSpc>
            </a:pPr>
            <a:r>
              <a:rPr sz="2200" spc="-5" dirty="0">
                <a:latin typeface="Times New Roman"/>
                <a:cs typeface="Times New Roman"/>
              </a:rPr>
              <a:t>If</a:t>
            </a:r>
            <a:r>
              <a:rPr sz="2200" spc="15" dirty="0">
                <a:latin typeface="Times New Roman"/>
                <a:cs typeface="Times New Roman"/>
              </a:rPr>
              <a:t> </a:t>
            </a:r>
            <a:r>
              <a:rPr sz="2200" spc="-5" dirty="0">
                <a:latin typeface="Times New Roman"/>
                <a:cs typeface="Times New Roman"/>
              </a:rPr>
              <a:t>L</a:t>
            </a:r>
            <a:r>
              <a:rPr sz="2200" spc="-80" dirty="0">
                <a:latin typeface="Times New Roman"/>
                <a:cs typeface="Times New Roman"/>
              </a:rPr>
              <a:t> </a:t>
            </a:r>
            <a:r>
              <a:rPr sz="2200" spc="-5" dirty="0">
                <a:latin typeface="Times New Roman"/>
                <a:cs typeface="Times New Roman"/>
              </a:rPr>
              <a:t>=</a:t>
            </a:r>
            <a:r>
              <a:rPr sz="2200" spc="5" dirty="0">
                <a:latin typeface="Times New Roman"/>
                <a:cs typeface="Times New Roman"/>
              </a:rPr>
              <a:t> </a:t>
            </a:r>
            <a:r>
              <a:rPr sz="2200" spc="-5" dirty="0">
                <a:latin typeface="Times New Roman"/>
                <a:cs typeface="Times New Roman"/>
              </a:rPr>
              <a:t>{a,</a:t>
            </a:r>
            <a:r>
              <a:rPr sz="2200" spc="15" dirty="0">
                <a:latin typeface="Times New Roman"/>
                <a:cs typeface="Times New Roman"/>
              </a:rPr>
              <a:t> </a:t>
            </a:r>
            <a:r>
              <a:rPr sz="2200" spc="-10" dirty="0">
                <a:latin typeface="Times New Roman"/>
                <a:cs typeface="Times New Roman"/>
              </a:rPr>
              <a:t>aaa,</a:t>
            </a:r>
            <a:r>
              <a:rPr sz="2200" spc="15" dirty="0">
                <a:latin typeface="Times New Roman"/>
                <a:cs typeface="Times New Roman"/>
              </a:rPr>
              <a:t> </a:t>
            </a:r>
            <a:r>
              <a:rPr sz="2200" spc="-10" dirty="0">
                <a:latin typeface="Times New Roman"/>
                <a:cs typeface="Times New Roman"/>
              </a:rPr>
              <a:t>aaaaa,</a:t>
            </a:r>
            <a:r>
              <a:rPr sz="2200" spc="15" dirty="0">
                <a:latin typeface="Times New Roman"/>
                <a:cs typeface="Times New Roman"/>
              </a:rPr>
              <a:t> </a:t>
            </a:r>
            <a:r>
              <a:rPr sz="2200" dirty="0">
                <a:latin typeface="Times New Roman"/>
                <a:cs typeface="Times New Roman"/>
              </a:rPr>
              <a:t>.......} </a:t>
            </a:r>
            <a:r>
              <a:rPr sz="2200" spc="-5" dirty="0">
                <a:latin typeface="Times New Roman"/>
                <a:cs typeface="Times New Roman"/>
              </a:rPr>
              <a:t>(Strings</a:t>
            </a:r>
            <a:r>
              <a:rPr sz="2200" dirty="0">
                <a:latin typeface="Times New Roman"/>
                <a:cs typeface="Times New Roman"/>
              </a:rPr>
              <a:t> </a:t>
            </a:r>
            <a:r>
              <a:rPr sz="2200" spc="-5" dirty="0">
                <a:latin typeface="Times New Roman"/>
                <a:cs typeface="Times New Roman"/>
              </a:rPr>
              <a:t>of</a:t>
            </a:r>
            <a:r>
              <a:rPr sz="2200" spc="5" dirty="0">
                <a:latin typeface="Times New Roman"/>
                <a:cs typeface="Times New Roman"/>
              </a:rPr>
              <a:t> </a:t>
            </a:r>
            <a:r>
              <a:rPr sz="2200" spc="-5" dirty="0">
                <a:latin typeface="Times New Roman"/>
                <a:cs typeface="Times New Roman"/>
              </a:rPr>
              <a:t>odd</a:t>
            </a:r>
            <a:r>
              <a:rPr sz="2200" dirty="0">
                <a:latin typeface="Times New Roman"/>
                <a:cs typeface="Times New Roman"/>
              </a:rPr>
              <a:t> </a:t>
            </a:r>
            <a:r>
              <a:rPr sz="2200" spc="-5" dirty="0">
                <a:latin typeface="Times New Roman"/>
                <a:cs typeface="Times New Roman"/>
              </a:rPr>
              <a:t>length</a:t>
            </a:r>
            <a:r>
              <a:rPr sz="2200" dirty="0">
                <a:latin typeface="Times New Roman"/>
                <a:cs typeface="Times New Roman"/>
              </a:rPr>
              <a:t> </a:t>
            </a:r>
            <a:r>
              <a:rPr sz="2200" spc="-5" dirty="0">
                <a:latin typeface="Times New Roman"/>
                <a:cs typeface="Times New Roman"/>
              </a:rPr>
              <a:t>excluding</a:t>
            </a:r>
            <a:r>
              <a:rPr sz="2200" dirty="0">
                <a:latin typeface="Times New Roman"/>
                <a:cs typeface="Times New Roman"/>
              </a:rPr>
              <a:t> </a:t>
            </a:r>
            <a:r>
              <a:rPr sz="2200" spc="-5" dirty="0">
                <a:latin typeface="Times New Roman"/>
                <a:cs typeface="Times New Roman"/>
              </a:rPr>
              <a:t>Null) </a:t>
            </a:r>
            <a:r>
              <a:rPr sz="2200" spc="-535" dirty="0">
                <a:latin typeface="Times New Roman"/>
                <a:cs typeface="Times New Roman"/>
              </a:rPr>
              <a:t> </a:t>
            </a:r>
            <a:r>
              <a:rPr sz="2200" spc="-5" dirty="0">
                <a:latin typeface="Times New Roman"/>
                <a:cs typeface="Times New Roman"/>
              </a:rPr>
              <a:t>i.e.,</a:t>
            </a:r>
            <a:r>
              <a:rPr sz="2200" dirty="0">
                <a:latin typeface="Times New Roman"/>
                <a:cs typeface="Times New Roman"/>
              </a:rPr>
              <a:t> </a:t>
            </a:r>
            <a:r>
              <a:rPr sz="2200" spc="-5" dirty="0">
                <a:latin typeface="Times New Roman"/>
                <a:cs typeface="Times New Roman"/>
              </a:rPr>
              <a:t>RE (L)</a:t>
            </a:r>
            <a:r>
              <a:rPr sz="2200" spc="10" dirty="0">
                <a:latin typeface="Times New Roman"/>
                <a:cs typeface="Times New Roman"/>
              </a:rPr>
              <a:t> </a:t>
            </a:r>
            <a:r>
              <a:rPr sz="2200" spc="-5" dirty="0">
                <a:latin typeface="Times New Roman"/>
                <a:cs typeface="Times New Roman"/>
              </a:rPr>
              <a:t>= a (aa)*</a:t>
            </a:r>
            <a:endParaRPr sz="2200" dirty="0">
              <a:latin typeface="Times New Roman"/>
              <a:cs typeface="Times New Roman"/>
            </a:endParaRPr>
          </a:p>
          <a:p>
            <a:pPr marL="50800">
              <a:lnSpc>
                <a:spcPct val="100000"/>
              </a:lnSpc>
            </a:pPr>
            <a:r>
              <a:rPr sz="2200" spc="-5" dirty="0">
                <a:latin typeface="Times New Roman"/>
                <a:cs typeface="Times New Roman"/>
              </a:rPr>
              <a:t>L*</a:t>
            </a:r>
            <a:r>
              <a:rPr sz="2200" spc="5" dirty="0">
                <a:latin typeface="Times New Roman"/>
                <a:cs typeface="Times New Roman"/>
              </a:rPr>
              <a:t> </a:t>
            </a:r>
            <a:r>
              <a:rPr sz="2200" spc="-5" dirty="0">
                <a:latin typeface="Times New Roman"/>
                <a:cs typeface="Times New Roman"/>
              </a:rPr>
              <a:t>= {a,</a:t>
            </a:r>
            <a:r>
              <a:rPr sz="2200" spc="-10" dirty="0">
                <a:latin typeface="Times New Roman"/>
                <a:cs typeface="Times New Roman"/>
              </a:rPr>
              <a:t> </a:t>
            </a:r>
            <a:r>
              <a:rPr sz="2200" spc="-5" dirty="0">
                <a:latin typeface="Times New Roman"/>
                <a:cs typeface="Times New Roman"/>
              </a:rPr>
              <a:t>aa,</a:t>
            </a:r>
            <a:r>
              <a:rPr sz="2200" spc="15" dirty="0">
                <a:latin typeface="Times New Roman"/>
                <a:cs typeface="Times New Roman"/>
              </a:rPr>
              <a:t> </a:t>
            </a:r>
            <a:r>
              <a:rPr sz="2200" spc="-5" dirty="0">
                <a:latin typeface="Times New Roman"/>
                <a:cs typeface="Times New Roman"/>
              </a:rPr>
              <a:t>aaa,</a:t>
            </a:r>
            <a:r>
              <a:rPr sz="2200" dirty="0">
                <a:latin typeface="Times New Roman"/>
                <a:cs typeface="Times New Roman"/>
              </a:rPr>
              <a:t> </a:t>
            </a:r>
            <a:r>
              <a:rPr sz="2200" spc="-5" dirty="0">
                <a:latin typeface="Times New Roman"/>
                <a:cs typeface="Times New Roman"/>
              </a:rPr>
              <a:t>aaaa</a:t>
            </a:r>
            <a:r>
              <a:rPr sz="2200" spc="10" dirty="0">
                <a:latin typeface="Times New Roman"/>
                <a:cs typeface="Times New Roman"/>
              </a:rPr>
              <a:t> </a:t>
            </a:r>
            <a:r>
              <a:rPr sz="2200" spc="-5" dirty="0">
                <a:latin typeface="Times New Roman"/>
                <a:cs typeface="Times New Roman"/>
              </a:rPr>
              <a:t>,</a:t>
            </a:r>
            <a:r>
              <a:rPr sz="2200" spc="-10" dirty="0">
                <a:latin typeface="Times New Roman"/>
                <a:cs typeface="Times New Roman"/>
              </a:rPr>
              <a:t> </a:t>
            </a:r>
            <a:r>
              <a:rPr sz="2200" spc="-5" dirty="0">
                <a:latin typeface="Times New Roman"/>
                <a:cs typeface="Times New Roman"/>
              </a:rPr>
              <a:t>aaaaa,……………}</a:t>
            </a:r>
            <a:r>
              <a:rPr sz="2200" spc="35" dirty="0">
                <a:latin typeface="Times New Roman"/>
                <a:cs typeface="Times New Roman"/>
              </a:rPr>
              <a:t> </a:t>
            </a:r>
            <a:r>
              <a:rPr sz="2200" spc="-5" dirty="0">
                <a:latin typeface="Times New Roman"/>
                <a:cs typeface="Times New Roman"/>
              </a:rPr>
              <a:t>(Strings </a:t>
            </a:r>
            <a:r>
              <a:rPr sz="2200" dirty="0">
                <a:latin typeface="Times New Roman"/>
                <a:cs typeface="Times New Roman"/>
              </a:rPr>
              <a:t>of</a:t>
            </a:r>
            <a:r>
              <a:rPr sz="2200" spc="-5" dirty="0">
                <a:latin typeface="Times New Roman"/>
                <a:cs typeface="Times New Roman"/>
              </a:rPr>
              <a:t> all </a:t>
            </a:r>
            <a:r>
              <a:rPr sz="2200" dirty="0">
                <a:latin typeface="Times New Roman"/>
                <a:cs typeface="Times New Roman"/>
              </a:rPr>
              <a:t>lengths</a:t>
            </a:r>
          </a:p>
          <a:p>
            <a:pPr marL="50800">
              <a:lnSpc>
                <a:spcPts val="2635"/>
              </a:lnSpc>
              <a:spcBef>
                <a:spcPts val="5"/>
              </a:spcBef>
            </a:pPr>
            <a:r>
              <a:rPr sz="2200" spc="-5" dirty="0">
                <a:latin typeface="Times New Roman"/>
                <a:cs typeface="Times New Roman"/>
              </a:rPr>
              <a:t>excluding</a:t>
            </a:r>
            <a:r>
              <a:rPr sz="2200" spc="-30" dirty="0">
                <a:latin typeface="Times New Roman"/>
                <a:cs typeface="Times New Roman"/>
              </a:rPr>
              <a:t> </a:t>
            </a:r>
            <a:r>
              <a:rPr sz="2200" spc="-5" dirty="0">
                <a:latin typeface="Times New Roman"/>
                <a:cs typeface="Times New Roman"/>
              </a:rPr>
              <a:t>Null)</a:t>
            </a:r>
            <a:endParaRPr sz="2200" dirty="0">
              <a:latin typeface="Times New Roman"/>
              <a:cs typeface="Times New Roman"/>
            </a:endParaRPr>
          </a:p>
          <a:p>
            <a:pPr marL="50800">
              <a:lnSpc>
                <a:spcPts val="2875"/>
              </a:lnSpc>
              <a:tabLst>
                <a:tab pos="2058035" algn="l"/>
              </a:tabLst>
            </a:pPr>
            <a:r>
              <a:rPr sz="2200" spc="-5" dirty="0">
                <a:latin typeface="Times New Roman"/>
                <a:cs typeface="Times New Roman"/>
              </a:rPr>
              <a:t>RE</a:t>
            </a:r>
            <a:r>
              <a:rPr sz="2200" dirty="0">
                <a:latin typeface="Times New Roman"/>
                <a:cs typeface="Times New Roman"/>
              </a:rPr>
              <a:t> </a:t>
            </a:r>
            <a:r>
              <a:rPr sz="2200" spc="-5" dirty="0">
                <a:latin typeface="Times New Roman"/>
                <a:cs typeface="Times New Roman"/>
              </a:rPr>
              <a:t>(L*)</a:t>
            </a:r>
            <a:r>
              <a:rPr sz="2200" spc="20" dirty="0">
                <a:latin typeface="Times New Roman"/>
                <a:cs typeface="Times New Roman"/>
              </a:rPr>
              <a:t> </a:t>
            </a:r>
            <a:r>
              <a:rPr sz="2200" spc="-5" dirty="0">
                <a:latin typeface="Times New Roman"/>
                <a:cs typeface="Times New Roman"/>
              </a:rPr>
              <a:t>=</a:t>
            </a:r>
            <a:r>
              <a:rPr sz="2200" dirty="0">
                <a:latin typeface="Times New Roman"/>
                <a:cs typeface="Times New Roman"/>
              </a:rPr>
              <a:t> </a:t>
            </a:r>
            <a:r>
              <a:rPr sz="2200" spc="-5" dirty="0">
                <a:latin typeface="Times New Roman"/>
                <a:cs typeface="Times New Roman"/>
              </a:rPr>
              <a:t>a</a:t>
            </a:r>
            <a:r>
              <a:rPr sz="2200" dirty="0">
                <a:latin typeface="Times New Roman"/>
                <a:cs typeface="Times New Roman"/>
              </a:rPr>
              <a:t> </a:t>
            </a:r>
            <a:r>
              <a:rPr sz="2200" spc="-5" dirty="0">
                <a:latin typeface="Times New Roman"/>
                <a:cs typeface="Times New Roman"/>
              </a:rPr>
              <a:t>(a)*	</a:t>
            </a:r>
            <a:r>
              <a:rPr sz="2400" b="1" dirty="0">
                <a:latin typeface="Times New Roman"/>
                <a:cs typeface="Times New Roman"/>
              </a:rPr>
              <a:t>Hence,</a:t>
            </a:r>
            <a:r>
              <a:rPr sz="2400" b="1" spc="-55" dirty="0">
                <a:latin typeface="Times New Roman"/>
                <a:cs typeface="Times New Roman"/>
              </a:rPr>
              <a:t> </a:t>
            </a:r>
            <a:r>
              <a:rPr sz="2400" b="1" spc="-10" dirty="0">
                <a:latin typeface="Times New Roman"/>
                <a:cs typeface="Times New Roman"/>
              </a:rPr>
              <a:t>proved.</a:t>
            </a:r>
            <a:endParaRPr sz="2400" dirty="0">
              <a:latin typeface="Times New Roman"/>
              <a:cs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89940" y="862329"/>
            <a:ext cx="7827645" cy="4469813"/>
          </a:xfrm>
          <a:prstGeom prst="rect">
            <a:avLst/>
          </a:prstGeom>
        </p:spPr>
        <p:txBody>
          <a:bodyPr vert="horz" wrap="square" lIns="0" tIns="12065" rIns="0" bIns="0" rtlCol="0">
            <a:spAutoFit/>
          </a:bodyPr>
          <a:lstStyle/>
          <a:p>
            <a:pPr marL="63500">
              <a:lnSpc>
                <a:spcPct val="100000"/>
              </a:lnSpc>
              <a:spcBef>
                <a:spcPts val="95"/>
              </a:spcBef>
            </a:pPr>
            <a:r>
              <a:rPr sz="2200" b="1" spc="-10" dirty="0">
                <a:solidFill>
                  <a:srgbClr val="FF0000"/>
                </a:solidFill>
                <a:latin typeface="Times New Roman"/>
                <a:cs typeface="Times New Roman"/>
              </a:rPr>
              <a:t>Property</a:t>
            </a:r>
            <a:r>
              <a:rPr sz="2200" b="1" spc="25" dirty="0">
                <a:solidFill>
                  <a:srgbClr val="FF0000"/>
                </a:solidFill>
                <a:latin typeface="Times New Roman"/>
                <a:cs typeface="Times New Roman"/>
              </a:rPr>
              <a:t> </a:t>
            </a:r>
            <a:r>
              <a:rPr sz="2200" b="1" dirty="0">
                <a:solidFill>
                  <a:srgbClr val="FF0000"/>
                </a:solidFill>
                <a:latin typeface="Times New Roman"/>
                <a:cs typeface="Times New Roman"/>
              </a:rPr>
              <a:t>7.</a:t>
            </a:r>
            <a:r>
              <a:rPr sz="2200" b="1" spc="-15" dirty="0">
                <a:solidFill>
                  <a:srgbClr val="FF0000"/>
                </a:solidFill>
                <a:latin typeface="Times New Roman"/>
                <a:cs typeface="Times New Roman"/>
              </a:rPr>
              <a:t> </a:t>
            </a:r>
            <a:r>
              <a:rPr sz="2200" i="1" spc="-5" dirty="0">
                <a:solidFill>
                  <a:srgbClr val="FF0000"/>
                </a:solidFill>
                <a:latin typeface="Times New Roman"/>
                <a:cs typeface="Times New Roman"/>
              </a:rPr>
              <a:t>The</a:t>
            </a:r>
            <a:r>
              <a:rPr sz="2200" i="1" dirty="0">
                <a:solidFill>
                  <a:srgbClr val="FF0000"/>
                </a:solidFill>
                <a:latin typeface="Times New Roman"/>
                <a:cs typeface="Times New Roman"/>
              </a:rPr>
              <a:t> </a:t>
            </a:r>
            <a:r>
              <a:rPr sz="2200" i="1" spc="-5" dirty="0">
                <a:solidFill>
                  <a:srgbClr val="FF0000"/>
                </a:solidFill>
                <a:latin typeface="Times New Roman"/>
                <a:cs typeface="Times New Roman"/>
              </a:rPr>
              <a:t>concatenation</a:t>
            </a:r>
            <a:r>
              <a:rPr sz="2200" i="1" spc="-15" dirty="0">
                <a:solidFill>
                  <a:srgbClr val="FF0000"/>
                </a:solidFill>
                <a:latin typeface="Times New Roman"/>
                <a:cs typeface="Times New Roman"/>
              </a:rPr>
              <a:t> </a:t>
            </a:r>
            <a:r>
              <a:rPr sz="2200" i="1" spc="-5" dirty="0">
                <a:solidFill>
                  <a:srgbClr val="FF0000"/>
                </a:solidFill>
                <a:latin typeface="Times New Roman"/>
                <a:cs typeface="Times New Roman"/>
              </a:rPr>
              <a:t>of</a:t>
            </a:r>
            <a:r>
              <a:rPr sz="2200" i="1" spc="5" dirty="0">
                <a:solidFill>
                  <a:srgbClr val="FF0000"/>
                </a:solidFill>
                <a:latin typeface="Times New Roman"/>
                <a:cs typeface="Times New Roman"/>
              </a:rPr>
              <a:t> </a:t>
            </a:r>
            <a:r>
              <a:rPr sz="2200" i="1" spc="-5" dirty="0">
                <a:solidFill>
                  <a:srgbClr val="FF0000"/>
                </a:solidFill>
                <a:latin typeface="Times New Roman"/>
                <a:cs typeface="Times New Roman"/>
              </a:rPr>
              <a:t>two</a:t>
            </a:r>
            <a:r>
              <a:rPr sz="2200" i="1" dirty="0">
                <a:solidFill>
                  <a:srgbClr val="FF0000"/>
                </a:solidFill>
                <a:latin typeface="Times New Roman"/>
                <a:cs typeface="Times New Roman"/>
              </a:rPr>
              <a:t> </a:t>
            </a:r>
            <a:r>
              <a:rPr sz="2200" i="1" spc="-15" dirty="0">
                <a:solidFill>
                  <a:srgbClr val="FF0000"/>
                </a:solidFill>
                <a:latin typeface="Times New Roman"/>
                <a:cs typeface="Times New Roman"/>
              </a:rPr>
              <a:t>regular</a:t>
            </a:r>
            <a:r>
              <a:rPr sz="2200" i="1" spc="-10" dirty="0">
                <a:solidFill>
                  <a:srgbClr val="FF0000"/>
                </a:solidFill>
                <a:latin typeface="Times New Roman"/>
                <a:cs typeface="Times New Roman"/>
              </a:rPr>
              <a:t> </a:t>
            </a:r>
            <a:r>
              <a:rPr sz="2200" i="1" spc="-5" dirty="0">
                <a:solidFill>
                  <a:srgbClr val="FF0000"/>
                </a:solidFill>
                <a:latin typeface="Times New Roman"/>
                <a:cs typeface="Times New Roman"/>
              </a:rPr>
              <a:t>sets</a:t>
            </a:r>
            <a:r>
              <a:rPr sz="2200" i="1" dirty="0">
                <a:solidFill>
                  <a:srgbClr val="FF0000"/>
                </a:solidFill>
                <a:latin typeface="Times New Roman"/>
                <a:cs typeface="Times New Roman"/>
              </a:rPr>
              <a:t> </a:t>
            </a:r>
            <a:r>
              <a:rPr sz="2200" i="1" spc="-5" dirty="0">
                <a:solidFill>
                  <a:srgbClr val="FF0000"/>
                </a:solidFill>
                <a:latin typeface="Times New Roman"/>
                <a:cs typeface="Times New Roman"/>
              </a:rPr>
              <a:t>is</a:t>
            </a:r>
            <a:r>
              <a:rPr sz="2200" i="1" spc="5" dirty="0">
                <a:solidFill>
                  <a:srgbClr val="FF0000"/>
                </a:solidFill>
                <a:latin typeface="Times New Roman"/>
                <a:cs typeface="Times New Roman"/>
              </a:rPr>
              <a:t> </a:t>
            </a:r>
            <a:r>
              <a:rPr sz="2200" i="1" spc="-45" dirty="0">
                <a:solidFill>
                  <a:srgbClr val="FF0000"/>
                </a:solidFill>
                <a:latin typeface="Times New Roman"/>
                <a:cs typeface="Times New Roman"/>
              </a:rPr>
              <a:t>regular.</a:t>
            </a:r>
            <a:endParaRPr sz="2200" dirty="0">
              <a:latin typeface="Times New Roman"/>
              <a:cs typeface="Times New Roman"/>
            </a:endParaRPr>
          </a:p>
          <a:p>
            <a:pPr>
              <a:lnSpc>
                <a:spcPct val="100000"/>
              </a:lnSpc>
              <a:spcBef>
                <a:spcPts val="50"/>
              </a:spcBef>
            </a:pPr>
            <a:endParaRPr sz="2250" dirty="0">
              <a:latin typeface="Times New Roman"/>
              <a:cs typeface="Times New Roman"/>
            </a:endParaRPr>
          </a:p>
          <a:p>
            <a:pPr marL="63500">
              <a:lnSpc>
                <a:spcPct val="100000"/>
              </a:lnSpc>
            </a:pPr>
            <a:r>
              <a:rPr sz="2200" b="1" spc="-10" dirty="0">
                <a:latin typeface="Times New Roman"/>
                <a:cs typeface="Times New Roman"/>
              </a:rPr>
              <a:t>Proof</a:t>
            </a:r>
            <a:r>
              <a:rPr sz="2200" b="1" spc="-35" dirty="0">
                <a:latin typeface="Times New Roman"/>
                <a:cs typeface="Times New Roman"/>
              </a:rPr>
              <a:t> </a:t>
            </a:r>
            <a:endParaRPr sz="2200" dirty="0">
              <a:latin typeface="Times New Roman"/>
              <a:cs typeface="Times New Roman"/>
            </a:endParaRPr>
          </a:p>
          <a:p>
            <a:pPr>
              <a:lnSpc>
                <a:spcPct val="100000"/>
              </a:lnSpc>
            </a:pPr>
            <a:endParaRPr sz="2300" dirty="0">
              <a:latin typeface="Times New Roman"/>
              <a:cs typeface="Times New Roman"/>
            </a:endParaRPr>
          </a:p>
          <a:p>
            <a:pPr marL="63500">
              <a:lnSpc>
                <a:spcPct val="100000"/>
              </a:lnSpc>
            </a:pPr>
            <a:r>
              <a:rPr sz="2200" spc="-5" dirty="0">
                <a:latin typeface="Times New Roman"/>
                <a:cs typeface="Times New Roman"/>
              </a:rPr>
              <a:t>Let</a:t>
            </a:r>
            <a:r>
              <a:rPr sz="2200" spc="15" dirty="0">
                <a:latin typeface="Times New Roman"/>
                <a:cs typeface="Times New Roman"/>
              </a:rPr>
              <a:t> </a:t>
            </a:r>
            <a:r>
              <a:rPr sz="2200" spc="-5" dirty="0">
                <a:latin typeface="Times New Roman"/>
                <a:cs typeface="Times New Roman"/>
              </a:rPr>
              <a:t>RE</a:t>
            </a:r>
            <a:r>
              <a:rPr sz="2175" spc="-7" baseline="-21072" dirty="0">
                <a:latin typeface="Times New Roman"/>
                <a:cs typeface="Times New Roman"/>
              </a:rPr>
              <a:t>1</a:t>
            </a:r>
            <a:r>
              <a:rPr sz="2175" spc="284" baseline="-21072" dirty="0">
                <a:latin typeface="Times New Roman"/>
                <a:cs typeface="Times New Roman"/>
              </a:rPr>
              <a:t> </a:t>
            </a:r>
            <a:r>
              <a:rPr sz="2200" spc="-5" dirty="0">
                <a:latin typeface="Times New Roman"/>
                <a:cs typeface="Times New Roman"/>
              </a:rPr>
              <a:t>= (0+1)*0</a:t>
            </a:r>
            <a:r>
              <a:rPr sz="2200" spc="5" dirty="0">
                <a:latin typeface="Times New Roman"/>
                <a:cs typeface="Times New Roman"/>
              </a:rPr>
              <a:t> </a:t>
            </a:r>
            <a:r>
              <a:rPr sz="2200" spc="-5" dirty="0">
                <a:latin typeface="Times New Roman"/>
                <a:cs typeface="Times New Roman"/>
              </a:rPr>
              <a:t>and </a:t>
            </a:r>
            <a:r>
              <a:rPr sz="2200" dirty="0">
                <a:latin typeface="Times New Roman"/>
                <a:cs typeface="Times New Roman"/>
              </a:rPr>
              <a:t>RE</a:t>
            </a:r>
            <a:r>
              <a:rPr sz="2175" baseline="-21072" dirty="0">
                <a:latin typeface="Times New Roman"/>
                <a:cs typeface="Times New Roman"/>
              </a:rPr>
              <a:t>2</a:t>
            </a:r>
            <a:r>
              <a:rPr sz="2175" spc="300" baseline="-21072" dirty="0">
                <a:latin typeface="Times New Roman"/>
                <a:cs typeface="Times New Roman"/>
              </a:rPr>
              <a:t> </a:t>
            </a:r>
            <a:r>
              <a:rPr sz="2200" spc="-5" dirty="0">
                <a:latin typeface="Times New Roman"/>
                <a:cs typeface="Times New Roman"/>
              </a:rPr>
              <a:t>= 01(0+1)*</a:t>
            </a:r>
            <a:endParaRPr sz="2200" dirty="0">
              <a:latin typeface="Times New Roman"/>
              <a:cs typeface="Times New Roman"/>
            </a:endParaRPr>
          </a:p>
          <a:p>
            <a:pPr>
              <a:lnSpc>
                <a:spcPct val="100000"/>
              </a:lnSpc>
              <a:spcBef>
                <a:spcPts val="50"/>
              </a:spcBef>
            </a:pPr>
            <a:endParaRPr sz="2250" dirty="0">
              <a:latin typeface="Times New Roman"/>
              <a:cs typeface="Times New Roman"/>
            </a:endParaRPr>
          </a:p>
          <a:p>
            <a:pPr marL="63500" marR="532765">
              <a:lnSpc>
                <a:spcPct val="100000"/>
              </a:lnSpc>
              <a:spcBef>
                <a:spcPts val="5"/>
              </a:spcBef>
            </a:pPr>
            <a:r>
              <a:rPr sz="2200" spc="-5" dirty="0">
                <a:latin typeface="Times New Roman"/>
                <a:cs typeface="Times New Roman"/>
              </a:rPr>
              <a:t>Here,</a:t>
            </a:r>
            <a:r>
              <a:rPr sz="2200" spc="10" dirty="0">
                <a:latin typeface="Times New Roman"/>
                <a:cs typeface="Times New Roman"/>
              </a:rPr>
              <a:t> </a:t>
            </a:r>
            <a:r>
              <a:rPr sz="2200" dirty="0">
                <a:latin typeface="Times New Roman"/>
                <a:cs typeface="Times New Roman"/>
              </a:rPr>
              <a:t>L</a:t>
            </a:r>
            <a:r>
              <a:rPr sz="2175" baseline="-21072" dirty="0">
                <a:latin typeface="Times New Roman"/>
                <a:cs typeface="Times New Roman"/>
              </a:rPr>
              <a:t>1</a:t>
            </a:r>
            <a:r>
              <a:rPr sz="2175" spc="300" baseline="-21072" dirty="0">
                <a:latin typeface="Times New Roman"/>
                <a:cs typeface="Times New Roman"/>
              </a:rPr>
              <a:t> </a:t>
            </a:r>
            <a:r>
              <a:rPr sz="2200" spc="-5" dirty="0">
                <a:latin typeface="Times New Roman"/>
                <a:cs typeface="Times New Roman"/>
              </a:rPr>
              <a:t>=</a:t>
            </a:r>
            <a:r>
              <a:rPr sz="2200" dirty="0">
                <a:latin typeface="Times New Roman"/>
                <a:cs typeface="Times New Roman"/>
              </a:rPr>
              <a:t> {0, </a:t>
            </a:r>
            <a:r>
              <a:rPr sz="2200" spc="-5" dirty="0">
                <a:latin typeface="Times New Roman"/>
                <a:cs typeface="Times New Roman"/>
              </a:rPr>
              <a:t>00, </a:t>
            </a:r>
            <a:r>
              <a:rPr sz="2200" dirty="0">
                <a:latin typeface="Times New Roman"/>
                <a:cs typeface="Times New Roman"/>
              </a:rPr>
              <a:t>10, </a:t>
            </a:r>
            <a:r>
              <a:rPr sz="2200" spc="-5" dirty="0">
                <a:latin typeface="Times New Roman"/>
                <a:cs typeface="Times New Roman"/>
              </a:rPr>
              <a:t>000,</a:t>
            </a:r>
            <a:r>
              <a:rPr sz="2200" spc="-15" dirty="0">
                <a:latin typeface="Times New Roman"/>
                <a:cs typeface="Times New Roman"/>
              </a:rPr>
              <a:t> </a:t>
            </a:r>
            <a:r>
              <a:rPr sz="2200" spc="-5" dirty="0">
                <a:latin typeface="Times New Roman"/>
                <a:cs typeface="Times New Roman"/>
              </a:rPr>
              <a:t>010, </a:t>
            </a:r>
            <a:r>
              <a:rPr sz="2200" dirty="0">
                <a:latin typeface="Times New Roman"/>
                <a:cs typeface="Times New Roman"/>
              </a:rPr>
              <a:t>......}</a:t>
            </a:r>
            <a:r>
              <a:rPr sz="2200" spc="10" dirty="0">
                <a:latin typeface="Times New Roman"/>
                <a:cs typeface="Times New Roman"/>
              </a:rPr>
              <a:t> </a:t>
            </a:r>
            <a:r>
              <a:rPr sz="2200" spc="-5" dirty="0">
                <a:latin typeface="Times New Roman"/>
                <a:cs typeface="Times New Roman"/>
              </a:rPr>
              <a:t>(Set</a:t>
            </a:r>
            <a:r>
              <a:rPr sz="2200" spc="15" dirty="0">
                <a:latin typeface="Times New Roman"/>
                <a:cs typeface="Times New Roman"/>
              </a:rPr>
              <a:t> </a:t>
            </a:r>
            <a:r>
              <a:rPr sz="2200" spc="-5" dirty="0">
                <a:latin typeface="Times New Roman"/>
                <a:cs typeface="Times New Roman"/>
              </a:rPr>
              <a:t>of</a:t>
            </a:r>
            <a:r>
              <a:rPr sz="2200" dirty="0">
                <a:latin typeface="Times New Roman"/>
                <a:cs typeface="Times New Roman"/>
              </a:rPr>
              <a:t> </a:t>
            </a:r>
            <a:r>
              <a:rPr sz="2200" spc="-5" dirty="0">
                <a:latin typeface="Times New Roman"/>
                <a:cs typeface="Times New Roman"/>
              </a:rPr>
              <a:t>strings</a:t>
            </a:r>
            <a:r>
              <a:rPr sz="2200" dirty="0">
                <a:latin typeface="Times New Roman"/>
                <a:cs typeface="Times New Roman"/>
              </a:rPr>
              <a:t> </a:t>
            </a:r>
            <a:r>
              <a:rPr sz="2200" spc="-5" dirty="0">
                <a:latin typeface="Times New Roman"/>
                <a:cs typeface="Times New Roman"/>
              </a:rPr>
              <a:t>ending</a:t>
            </a:r>
            <a:r>
              <a:rPr sz="2200" dirty="0">
                <a:latin typeface="Times New Roman"/>
                <a:cs typeface="Times New Roman"/>
              </a:rPr>
              <a:t> </a:t>
            </a:r>
            <a:r>
              <a:rPr sz="2200" spc="-5" dirty="0">
                <a:latin typeface="Times New Roman"/>
                <a:cs typeface="Times New Roman"/>
              </a:rPr>
              <a:t>in</a:t>
            </a:r>
            <a:r>
              <a:rPr sz="2200" dirty="0">
                <a:latin typeface="Times New Roman"/>
                <a:cs typeface="Times New Roman"/>
              </a:rPr>
              <a:t> </a:t>
            </a:r>
            <a:r>
              <a:rPr sz="2200" spc="-5" dirty="0">
                <a:latin typeface="Times New Roman"/>
                <a:cs typeface="Times New Roman"/>
              </a:rPr>
              <a:t>0) </a:t>
            </a:r>
            <a:r>
              <a:rPr sz="2200" spc="-535" dirty="0">
                <a:latin typeface="Times New Roman"/>
                <a:cs typeface="Times New Roman"/>
              </a:rPr>
              <a:t> </a:t>
            </a:r>
            <a:r>
              <a:rPr sz="2200" spc="-5" dirty="0">
                <a:latin typeface="Times New Roman"/>
                <a:cs typeface="Times New Roman"/>
              </a:rPr>
              <a:t>and </a:t>
            </a:r>
            <a:r>
              <a:rPr sz="2200" dirty="0">
                <a:latin typeface="Times New Roman"/>
                <a:cs typeface="Times New Roman"/>
              </a:rPr>
              <a:t>L</a:t>
            </a:r>
            <a:r>
              <a:rPr sz="2175" baseline="-21072" dirty="0">
                <a:latin typeface="Times New Roman"/>
                <a:cs typeface="Times New Roman"/>
              </a:rPr>
              <a:t>2</a:t>
            </a:r>
            <a:r>
              <a:rPr sz="2175" spc="7" baseline="-21072" dirty="0">
                <a:latin typeface="Times New Roman"/>
                <a:cs typeface="Times New Roman"/>
              </a:rPr>
              <a:t> </a:t>
            </a:r>
            <a:r>
              <a:rPr sz="2200" spc="-5" dirty="0">
                <a:latin typeface="Times New Roman"/>
                <a:cs typeface="Times New Roman"/>
              </a:rPr>
              <a:t>= {01, </a:t>
            </a:r>
            <a:r>
              <a:rPr sz="2200" spc="-10" dirty="0">
                <a:latin typeface="Times New Roman"/>
                <a:cs typeface="Times New Roman"/>
              </a:rPr>
              <a:t>010,011,.....} </a:t>
            </a:r>
            <a:r>
              <a:rPr sz="2200" spc="-5" dirty="0">
                <a:latin typeface="Times New Roman"/>
                <a:cs typeface="Times New Roman"/>
              </a:rPr>
              <a:t>(Set of strings beginning with 01) </a:t>
            </a:r>
            <a:r>
              <a:rPr sz="2200" dirty="0">
                <a:latin typeface="Times New Roman"/>
                <a:cs typeface="Times New Roman"/>
              </a:rPr>
              <a:t> Then,</a:t>
            </a:r>
            <a:r>
              <a:rPr sz="2200" spc="-5" dirty="0">
                <a:latin typeface="Times New Roman"/>
                <a:cs typeface="Times New Roman"/>
              </a:rPr>
              <a:t> </a:t>
            </a:r>
            <a:r>
              <a:rPr sz="2200" dirty="0">
                <a:latin typeface="Times New Roman"/>
                <a:cs typeface="Times New Roman"/>
              </a:rPr>
              <a:t>L</a:t>
            </a:r>
            <a:r>
              <a:rPr sz="2175" baseline="-21072" dirty="0">
                <a:latin typeface="Times New Roman"/>
                <a:cs typeface="Times New Roman"/>
              </a:rPr>
              <a:t>1</a:t>
            </a:r>
            <a:r>
              <a:rPr sz="2175" spc="300" baseline="-21072" dirty="0">
                <a:latin typeface="Times New Roman"/>
                <a:cs typeface="Times New Roman"/>
              </a:rPr>
              <a:t> </a:t>
            </a:r>
            <a:r>
              <a:rPr sz="2200" dirty="0">
                <a:latin typeface="Times New Roman"/>
                <a:cs typeface="Times New Roman"/>
              </a:rPr>
              <a:t>L</a:t>
            </a:r>
            <a:r>
              <a:rPr sz="2175" baseline="-21072" dirty="0">
                <a:latin typeface="Times New Roman"/>
                <a:cs typeface="Times New Roman"/>
              </a:rPr>
              <a:t>2</a:t>
            </a:r>
            <a:r>
              <a:rPr sz="2175" spc="277" baseline="-21072" dirty="0">
                <a:latin typeface="Times New Roman"/>
                <a:cs typeface="Times New Roman"/>
              </a:rPr>
              <a:t> </a:t>
            </a:r>
            <a:r>
              <a:rPr sz="2200" spc="-5" dirty="0">
                <a:latin typeface="Times New Roman"/>
                <a:cs typeface="Times New Roman"/>
              </a:rPr>
              <a:t>=</a:t>
            </a:r>
            <a:endParaRPr sz="2200" dirty="0">
              <a:latin typeface="Times New Roman"/>
              <a:cs typeface="Times New Roman"/>
            </a:endParaRPr>
          </a:p>
          <a:p>
            <a:pPr marL="63500">
              <a:lnSpc>
                <a:spcPct val="100000"/>
              </a:lnSpc>
            </a:pPr>
            <a:r>
              <a:rPr sz="2200" spc="-5" dirty="0">
                <a:latin typeface="Times New Roman"/>
                <a:cs typeface="Times New Roman"/>
              </a:rPr>
              <a:t>{001,0010,0011,0001,00010,00011,1001,10010,.............}</a:t>
            </a:r>
            <a:endParaRPr sz="2200" dirty="0">
              <a:latin typeface="Times New Roman"/>
              <a:cs typeface="Times New Roman"/>
            </a:endParaRPr>
          </a:p>
          <a:p>
            <a:pPr marL="63500" marR="43180">
              <a:lnSpc>
                <a:spcPct val="100000"/>
              </a:lnSpc>
            </a:pPr>
            <a:r>
              <a:rPr sz="2200" spc="-5" dirty="0">
                <a:latin typeface="Times New Roman"/>
                <a:cs typeface="Times New Roman"/>
              </a:rPr>
              <a:t>Set</a:t>
            </a:r>
            <a:r>
              <a:rPr sz="2200" spc="5" dirty="0">
                <a:latin typeface="Times New Roman"/>
                <a:cs typeface="Times New Roman"/>
              </a:rPr>
              <a:t> </a:t>
            </a:r>
            <a:r>
              <a:rPr sz="2200" dirty="0">
                <a:latin typeface="Times New Roman"/>
                <a:cs typeface="Times New Roman"/>
              </a:rPr>
              <a:t>of</a:t>
            </a:r>
            <a:r>
              <a:rPr sz="2200" spc="10" dirty="0">
                <a:latin typeface="Times New Roman"/>
                <a:cs typeface="Times New Roman"/>
              </a:rPr>
              <a:t> </a:t>
            </a:r>
            <a:r>
              <a:rPr sz="2200" dirty="0">
                <a:latin typeface="Times New Roman"/>
                <a:cs typeface="Times New Roman"/>
              </a:rPr>
              <a:t>strings</a:t>
            </a:r>
            <a:r>
              <a:rPr sz="2200" spc="-5" dirty="0">
                <a:latin typeface="Times New Roman"/>
                <a:cs typeface="Times New Roman"/>
              </a:rPr>
              <a:t> </a:t>
            </a:r>
            <a:r>
              <a:rPr sz="2200" dirty="0">
                <a:latin typeface="Times New Roman"/>
                <a:cs typeface="Times New Roman"/>
              </a:rPr>
              <a:t>containing</a:t>
            </a:r>
            <a:r>
              <a:rPr sz="2200" spc="-10" dirty="0">
                <a:latin typeface="Times New Roman"/>
                <a:cs typeface="Times New Roman"/>
              </a:rPr>
              <a:t> </a:t>
            </a:r>
            <a:r>
              <a:rPr sz="2200" dirty="0">
                <a:latin typeface="Times New Roman"/>
                <a:cs typeface="Times New Roman"/>
              </a:rPr>
              <a:t>001</a:t>
            </a:r>
            <a:r>
              <a:rPr sz="2200" spc="-5" dirty="0">
                <a:latin typeface="Times New Roman"/>
                <a:cs typeface="Times New Roman"/>
              </a:rPr>
              <a:t> as</a:t>
            </a:r>
            <a:r>
              <a:rPr sz="2200" dirty="0">
                <a:latin typeface="Times New Roman"/>
                <a:cs typeface="Times New Roman"/>
              </a:rPr>
              <a:t> </a:t>
            </a:r>
            <a:r>
              <a:rPr sz="2200" spc="-5" dirty="0">
                <a:latin typeface="Times New Roman"/>
                <a:cs typeface="Times New Roman"/>
              </a:rPr>
              <a:t>a</a:t>
            </a:r>
            <a:r>
              <a:rPr sz="2200" spc="10" dirty="0">
                <a:latin typeface="Times New Roman"/>
                <a:cs typeface="Times New Roman"/>
              </a:rPr>
              <a:t> </a:t>
            </a:r>
            <a:r>
              <a:rPr sz="2200" dirty="0">
                <a:latin typeface="Times New Roman"/>
                <a:cs typeface="Times New Roman"/>
              </a:rPr>
              <a:t>substring</a:t>
            </a:r>
            <a:r>
              <a:rPr sz="2200" spc="-5" dirty="0">
                <a:latin typeface="Times New Roman"/>
                <a:cs typeface="Times New Roman"/>
              </a:rPr>
              <a:t> which</a:t>
            </a:r>
            <a:r>
              <a:rPr sz="2200" spc="10" dirty="0">
                <a:latin typeface="Times New Roman"/>
                <a:cs typeface="Times New Roman"/>
              </a:rPr>
              <a:t> </a:t>
            </a:r>
            <a:r>
              <a:rPr sz="2200" spc="-5" dirty="0">
                <a:latin typeface="Times New Roman"/>
                <a:cs typeface="Times New Roman"/>
              </a:rPr>
              <a:t>can</a:t>
            </a:r>
            <a:r>
              <a:rPr sz="2200" spc="10" dirty="0">
                <a:latin typeface="Times New Roman"/>
                <a:cs typeface="Times New Roman"/>
              </a:rPr>
              <a:t> </a:t>
            </a:r>
            <a:r>
              <a:rPr sz="2200" dirty="0">
                <a:latin typeface="Times New Roman"/>
                <a:cs typeface="Times New Roman"/>
              </a:rPr>
              <a:t>be</a:t>
            </a:r>
            <a:r>
              <a:rPr sz="2200" spc="-5" dirty="0">
                <a:latin typeface="Times New Roman"/>
                <a:cs typeface="Times New Roman"/>
              </a:rPr>
              <a:t> represented </a:t>
            </a:r>
            <a:r>
              <a:rPr sz="2200" spc="-535" dirty="0">
                <a:latin typeface="Times New Roman"/>
                <a:cs typeface="Times New Roman"/>
              </a:rPr>
              <a:t> </a:t>
            </a:r>
            <a:r>
              <a:rPr sz="2200" dirty="0">
                <a:latin typeface="Times New Roman"/>
                <a:cs typeface="Times New Roman"/>
              </a:rPr>
              <a:t>by</a:t>
            </a:r>
            <a:r>
              <a:rPr sz="2200" spc="-10" dirty="0">
                <a:latin typeface="Times New Roman"/>
                <a:cs typeface="Times New Roman"/>
              </a:rPr>
              <a:t> </a:t>
            </a:r>
            <a:r>
              <a:rPr sz="2200" spc="-5" dirty="0">
                <a:latin typeface="Times New Roman"/>
                <a:cs typeface="Times New Roman"/>
              </a:rPr>
              <a:t>an</a:t>
            </a:r>
            <a:r>
              <a:rPr sz="2200" spc="5" dirty="0">
                <a:latin typeface="Times New Roman"/>
                <a:cs typeface="Times New Roman"/>
              </a:rPr>
              <a:t> </a:t>
            </a:r>
            <a:r>
              <a:rPr sz="2200" spc="-5" dirty="0">
                <a:latin typeface="Times New Roman"/>
                <a:cs typeface="Times New Roman"/>
              </a:rPr>
              <a:t>RE</a:t>
            </a:r>
            <a:r>
              <a:rPr sz="2200" spc="5" dirty="0">
                <a:latin typeface="Times New Roman"/>
                <a:cs typeface="Times New Roman"/>
              </a:rPr>
              <a:t> </a:t>
            </a:r>
            <a:r>
              <a:rPr sz="2200" spc="-5" dirty="0">
                <a:latin typeface="Times New Roman"/>
                <a:cs typeface="Times New Roman"/>
              </a:rPr>
              <a:t>− </a:t>
            </a:r>
            <a:r>
              <a:rPr sz="2200" dirty="0">
                <a:latin typeface="Times New Roman"/>
                <a:cs typeface="Times New Roman"/>
              </a:rPr>
              <a:t>(0</a:t>
            </a:r>
            <a:r>
              <a:rPr sz="2200" spc="5" dirty="0">
                <a:latin typeface="Times New Roman"/>
                <a:cs typeface="Times New Roman"/>
              </a:rPr>
              <a:t> </a:t>
            </a:r>
            <a:r>
              <a:rPr sz="2200" spc="-5" dirty="0">
                <a:latin typeface="Times New Roman"/>
                <a:cs typeface="Times New Roman"/>
              </a:rPr>
              <a:t>+</a:t>
            </a:r>
            <a:r>
              <a:rPr sz="2200" dirty="0">
                <a:latin typeface="Times New Roman"/>
                <a:cs typeface="Times New Roman"/>
              </a:rPr>
              <a:t> 1)*001(0 </a:t>
            </a:r>
            <a:r>
              <a:rPr sz="2200" spc="-5" dirty="0">
                <a:latin typeface="Times New Roman"/>
                <a:cs typeface="Times New Roman"/>
              </a:rPr>
              <a:t>+ </a:t>
            </a:r>
            <a:r>
              <a:rPr sz="2200" dirty="0">
                <a:latin typeface="Times New Roman"/>
                <a:cs typeface="Times New Roman"/>
              </a:rPr>
              <a:t>1)*</a:t>
            </a:r>
          </a:p>
          <a:p>
            <a:pPr marL="63500">
              <a:lnSpc>
                <a:spcPct val="100000"/>
              </a:lnSpc>
            </a:pPr>
            <a:r>
              <a:rPr sz="2200" spc="-5" dirty="0">
                <a:latin typeface="Times New Roman"/>
                <a:cs typeface="Times New Roman"/>
              </a:rPr>
              <a:t>Hence,</a:t>
            </a:r>
            <a:r>
              <a:rPr sz="2200" spc="-30" dirty="0">
                <a:latin typeface="Times New Roman"/>
                <a:cs typeface="Times New Roman"/>
              </a:rPr>
              <a:t> </a:t>
            </a:r>
            <a:r>
              <a:rPr sz="2200" dirty="0">
                <a:latin typeface="Times New Roman"/>
                <a:cs typeface="Times New Roman"/>
              </a:rPr>
              <a:t>proved.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Context Free Grammar(CFG)</a:t>
            </a:r>
            <a:endParaRPr lang="en-IN" dirty="0"/>
          </a:p>
        </p:txBody>
      </p:sp>
      <p:sp>
        <p:nvSpPr>
          <p:cNvPr id="3" name="Content Placeholder 2"/>
          <p:cNvSpPr>
            <a:spLocks noGrp="1"/>
          </p:cNvSpPr>
          <p:nvPr>
            <p:ph idx="1"/>
          </p:nvPr>
        </p:nvSpPr>
        <p:spPr/>
        <p:txBody>
          <a:bodyPr>
            <a:normAutofit fontScale="70000" lnSpcReduction="20000"/>
          </a:bodyPr>
          <a:lstStyle/>
          <a:p>
            <a:pPr>
              <a:buNone/>
            </a:pPr>
            <a:r>
              <a:rPr lang="en-US" b="1" i="1" dirty="0" smtClean="0"/>
              <a:t> </a:t>
            </a:r>
            <a:r>
              <a:rPr lang="en-US" b="1" i="1" dirty="0" smtClean="0">
                <a:latin typeface="Times New Roman" pitchFamily="18" charset="0"/>
                <a:cs typeface="Times New Roman" pitchFamily="18" charset="0"/>
              </a:rPr>
              <a:t>Definition</a:t>
            </a:r>
            <a:r>
              <a:rPr lang="en-US" dirty="0" smtClean="0">
                <a:latin typeface="Times New Roman" pitchFamily="18" charset="0"/>
                <a:cs typeface="Times New Roman" pitchFamily="18" charset="0"/>
              </a:rPr>
              <a:t> : A context-free grammar (CFG) consisting of a finite set of grammar rules is a quadruple </a:t>
            </a:r>
            <a:r>
              <a:rPr lang="en-US" b="1" dirty="0" smtClean="0">
                <a:latin typeface="Times New Roman" pitchFamily="18" charset="0"/>
                <a:cs typeface="Times New Roman" pitchFamily="18" charset="0"/>
              </a:rPr>
              <a:t>(V, T, P, S)</a:t>
            </a:r>
            <a:r>
              <a:rPr lang="en-US" dirty="0" smtClean="0">
                <a:latin typeface="Times New Roman" pitchFamily="18" charset="0"/>
                <a:cs typeface="Times New Roman" pitchFamily="18" charset="0"/>
              </a:rPr>
              <a:t> where</a:t>
            </a:r>
          </a:p>
          <a:p>
            <a:r>
              <a:rPr lang="en-US" b="1" dirty="0" smtClean="0">
                <a:latin typeface="Times New Roman" pitchFamily="18" charset="0"/>
                <a:cs typeface="Times New Roman" pitchFamily="18" charset="0"/>
              </a:rPr>
              <a:t>V</a:t>
            </a:r>
            <a:r>
              <a:rPr lang="en-US" dirty="0" smtClean="0">
                <a:latin typeface="Times New Roman" pitchFamily="18" charset="0"/>
                <a:cs typeface="Times New Roman" pitchFamily="18" charset="0"/>
              </a:rPr>
              <a:t> is a set of non-terminal symbols./ Variables</a:t>
            </a:r>
          </a:p>
          <a:p>
            <a:pPr lvl="1"/>
            <a:r>
              <a:rPr lang="en-US" dirty="0" smtClean="0">
                <a:latin typeface="Times New Roman" pitchFamily="18" charset="0"/>
                <a:cs typeface="Times New Roman" pitchFamily="18" charset="0"/>
              </a:rPr>
              <a:t>Represented in uppercase</a:t>
            </a:r>
          </a:p>
          <a:p>
            <a:r>
              <a:rPr lang="en-US" b="1" dirty="0" smtClean="0">
                <a:latin typeface="Times New Roman" pitchFamily="18" charset="0"/>
                <a:cs typeface="Times New Roman" pitchFamily="18" charset="0"/>
              </a:rPr>
              <a:t>T</a:t>
            </a:r>
            <a:r>
              <a:rPr lang="en-US" dirty="0" smtClean="0">
                <a:latin typeface="Times New Roman" pitchFamily="18" charset="0"/>
                <a:cs typeface="Times New Roman" pitchFamily="18" charset="0"/>
              </a:rPr>
              <a:t> is a set of terminals where </a:t>
            </a:r>
            <a:r>
              <a:rPr lang="en-US" b="1" dirty="0" smtClean="0">
                <a:latin typeface="Times New Roman" pitchFamily="18" charset="0"/>
                <a:cs typeface="Times New Roman" pitchFamily="18" charset="0"/>
              </a:rPr>
              <a:t>N ∩ T = NULL./Symbols</a:t>
            </a:r>
          </a:p>
          <a:p>
            <a:pPr lvl="1"/>
            <a:r>
              <a:rPr lang="en-US" b="1" dirty="0" smtClean="0">
                <a:latin typeface="Times New Roman" pitchFamily="18" charset="0"/>
                <a:cs typeface="Times New Roman" pitchFamily="18" charset="0"/>
              </a:rPr>
              <a:t>Represented in lowercase</a:t>
            </a:r>
            <a:endParaRPr lang="en-US"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P</a:t>
            </a:r>
            <a:r>
              <a:rPr lang="en-US" dirty="0" smtClean="0">
                <a:latin typeface="Times New Roman" pitchFamily="18" charset="0"/>
                <a:cs typeface="Times New Roman" pitchFamily="18" charset="0"/>
              </a:rPr>
              <a:t> is a set of rules, </a:t>
            </a:r>
            <a:r>
              <a:rPr lang="en-US" b="1" dirty="0" smtClean="0">
                <a:latin typeface="Times New Roman" pitchFamily="18" charset="0"/>
                <a:cs typeface="Times New Roman" pitchFamily="18" charset="0"/>
              </a:rPr>
              <a:t>P: N → (N ∪ T)*</a:t>
            </a:r>
            <a:r>
              <a:rPr lang="en-US" dirty="0" smtClean="0">
                <a:latin typeface="Times New Roman" pitchFamily="18" charset="0"/>
                <a:cs typeface="Times New Roman" pitchFamily="18" charset="0"/>
              </a:rPr>
              <a:t>, i.e., the left-hand side of the production rule </a:t>
            </a:r>
            <a:r>
              <a:rPr lang="en-US" b="1" dirty="0" smtClean="0">
                <a:latin typeface="Times New Roman" pitchFamily="18" charset="0"/>
                <a:cs typeface="Times New Roman" pitchFamily="18" charset="0"/>
              </a:rPr>
              <a:t>P</a:t>
            </a:r>
            <a:r>
              <a:rPr lang="en-US" dirty="0" smtClean="0">
                <a:latin typeface="Times New Roman" pitchFamily="18" charset="0"/>
                <a:cs typeface="Times New Roman" pitchFamily="18" charset="0"/>
              </a:rPr>
              <a:t> does have any right context or left context.</a:t>
            </a:r>
          </a:p>
          <a:p>
            <a:r>
              <a:rPr lang="en-US" b="1" dirty="0" smtClean="0">
                <a:latin typeface="Times New Roman" pitchFamily="18" charset="0"/>
                <a:cs typeface="Times New Roman" pitchFamily="18" charset="0"/>
              </a:rPr>
              <a:t>S</a:t>
            </a:r>
            <a:r>
              <a:rPr lang="en-US" dirty="0" smtClean="0">
                <a:latin typeface="Times New Roman" pitchFamily="18" charset="0"/>
                <a:cs typeface="Times New Roman" pitchFamily="18" charset="0"/>
              </a:rPr>
              <a:t> is the start symbol.</a:t>
            </a:r>
          </a:p>
          <a:p>
            <a:pPr>
              <a:buNone/>
            </a:pPr>
            <a:r>
              <a:rPr lang="en-US" b="1" dirty="0" smtClean="0">
                <a:latin typeface="Times New Roman" pitchFamily="18" charset="0"/>
                <a:cs typeface="Times New Roman" pitchFamily="18" charset="0"/>
              </a:rPr>
              <a:t>Example</a:t>
            </a:r>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The grammar ({A}, {a, b, c}, P, A), P : A → </a:t>
            </a:r>
            <a:r>
              <a:rPr lang="en-US" dirty="0" err="1" smtClean="0">
                <a:latin typeface="Times New Roman" pitchFamily="18" charset="0"/>
                <a:cs typeface="Times New Roman" pitchFamily="18" charset="0"/>
              </a:rPr>
              <a:t>aA</a:t>
            </a:r>
            <a:r>
              <a:rPr lang="en-US" dirty="0" smtClean="0">
                <a:latin typeface="Times New Roman" pitchFamily="18" charset="0"/>
                <a:cs typeface="Times New Roman" pitchFamily="18" charset="0"/>
              </a:rPr>
              <a:t>, A → </a:t>
            </a:r>
            <a:r>
              <a:rPr lang="en-US" dirty="0" err="1" smtClean="0">
                <a:latin typeface="Times New Roman" pitchFamily="18" charset="0"/>
                <a:cs typeface="Times New Roman" pitchFamily="18" charset="0"/>
              </a:rPr>
              <a:t>abc</a:t>
            </a:r>
            <a:r>
              <a:rPr lang="en-US" dirty="0" smtClean="0">
                <a:latin typeface="Times New Roman" pitchFamily="18" charset="0"/>
                <a:cs typeface="Times New Roman" pitchFamily="18" charset="0"/>
              </a:rPr>
              <a:t>.</a:t>
            </a:r>
          </a:p>
          <a:p>
            <a:r>
              <a:rPr lang="en-US" dirty="0" smtClean="0">
                <a:latin typeface="Times New Roman" pitchFamily="18" charset="0"/>
                <a:cs typeface="Times New Roman" pitchFamily="18" charset="0"/>
              </a:rPr>
              <a:t>The grammar ({S}, {a, b}, P, S), P: S → </a:t>
            </a:r>
            <a:r>
              <a:rPr lang="en-US" dirty="0" err="1" smtClean="0">
                <a:latin typeface="Times New Roman" pitchFamily="18" charset="0"/>
                <a:cs typeface="Times New Roman" pitchFamily="18" charset="0"/>
              </a:rPr>
              <a:t>aSa</a:t>
            </a:r>
            <a:r>
              <a:rPr lang="en-US" dirty="0" smtClean="0">
                <a:latin typeface="Times New Roman" pitchFamily="18" charset="0"/>
                <a:cs typeface="Times New Roman" pitchFamily="18" charset="0"/>
              </a:rPr>
              <a:t>, S → </a:t>
            </a:r>
            <a:r>
              <a:rPr lang="en-US" dirty="0" err="1" smtClean="0">
                <a:latin typeface="Times New Roman" pitchFamily="18" charset="0"/>
                <a:cs typeface="Times New Roman" pitchFamily="18" charset="0"/>
              </a:rPr>
              <a:t>bSb</a:t>
            </a:r>
            <a:r>
              <a:rPr lang="en-US" dirty="0" smtClean="0">
                <a:latin typeface="Times New Roman" pitchFamily="18" charset="0"/>
                <a:cs typeface="Times New Roman" pitchFamily="18" charset="0"/>
              </a:rPr>
              <a:t>, S → </a:t>
            </a:r>
            <a:r>
              <a:rPr lang="el-GR" dirty="0" smtClean="0">
                <a:latin typeface="Times New Roman" pitchFamily="18" charset="0"/>
                <a:cs typeface="Times New Roman" pitchFamily="18" charset="0"/>
              </a:rPr>
              <a:t>ε</a:t>
            </a:r>
          </a:p>
          <a:p>
            <a:r>
              <a:rPr lang="en-US" dirty="0" smtClean="0">
                <a:latin typeface="Times New Roman" pitchFamily="18" charset="0"/>
                <a:cs typeface="Times New Roman" pitchFamily="18" charset="0"/>
              </a:rPr>
              <a:t>The grammar ({S, F}, {0, 1}, P, S), P: S → 00S | 11F, F → 00F | </a:t>
            </a:r>
            <a:r>
              <a:rPr lang="el-GR" dirty="0" smtClean="0">
                <a:latin typeface="Times New Roman" pitchFamily="18" charset="0"/>
                <a:cs typeface="Times New Roman" pitchFamily="18" charset="0"/>
              </a:rPr>
              <a:t>ε</a:t>
            </a:r>
          </a:p>
          <a:p>
            <a:endParaRPr lang="en-US" dirty="0" smtClean="0">
              <a:latin typeface="Times New Roman" pitchFamily="18" charset="0"/>
              <a:cs typeface="Times New Roman" pitchFamily="18" charset="0"/>
            </a:endParaRPr>
          </a:p>
          <a:p>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sz="3000" dirty="0" smtClean="0">
                <a:latin typeface="Times New Roman" pitchFamily="18" charset="0"/>
                <a:cs typeface="Times New Roman" pitchFamily="18" charset="0"/>
              </a:rPr>
              <a:t>Derivation Tree/Parse Tree</a:t>
            </a:r>
            <a:endParaRPr lang="en-IN" sz="3000" dirty="0"/>
          </a:p>
        </p:txBody>
      </p:sp>
      <p:sp>
        <p:nvSpPr>
          <p:cNvPr id="3" name="Content Placeholder 2"/>
          <p:cNvSpPr>
            <a:spLocks noGrp="1"/>
          </p:cNvSpPr>
          <p:nvPr>
            <p:ph idx="1"/>
          </p:nvPr>
        </p:nvSpPr>
        <p:spPr>
          <a:xfrm>
            <a:off x="457200" y="1066800"/>
            <a:ext cx="8229600" cy="5486400"/>
          </a:xfrm>
        </p:spPr>
        <p:txBody>
          <a:bodyPr>
            <a:normAutofit fontScale="92500" lnSpcReduction="20000"/>
          </a:bodyPr>
          <a:lstStyle/>
          <a:p>
            <a:pPr>
              <a:buNone/>
            </a:pPr>
            <a:r>
              <a:rPr lang="en-US" sz="1800" dirty="0" smtClean="0">
                <a:latin typeface="Times New Roman" pitchFamily="18" charset="0"/>
                <a:cs typeface="Times New Roman" pitchFamily="18" charset="0"/>
              </a:rPr>
              <a:t>	A derivation tree or parse tree is an ordered rooted tree that graphically represents the semantic information a string derived from a context-free grammar.</a:t>
            </a:r>
          </a:p>
          <a:p>
            <a:pPr>
              <a:buNone/>
            </a:pPr>
            <a:r>
              <a:rPr lang="en-US" sz="1800" dirty="0" smtClean="0">
                <a:latin typeface="Times New Roman" pitchFamily="18" charset="0"/>
                <a:cs typeface="Times New Roman" pitchFamily="18" charset="0"/>
              </a:rPr>
              <a:t>Representation Technique:</a:t>
            </a:r>
          </a:p>
          <a:p>
            <a:r>
              <a:rPr lang="en-US" sz="1800" b="1" dirty="0" smtClean="0">
                <a:latin typeface="Times New Roman" pitchFamily="18" charset="0"/>
                <a:cs typeface="Times New Roman" pitchFamily="18" charset="0"/>
              </a:rPr>
              <a:t>Root vertex</a:t>
            </a:r>
            <a:r>
              <a:rPr lang="en-US" sz="1800" dirty="0" smtClean="0">
                <a:latin typeface="Times New Roman" pitchFamily="18" charset="0"/>
                <a:cs typeface="Times New Roman" pitchFamily="18" charset="0"/>
              </a:rPr>
              <a:t> − Must be labeled by the start symbol.</a:t>
            </a:r>
          </a:p>
          <a:p>
            <a:r>
              <a:rPr lang="en-US" sz="1800" b="1" dirty="0" smtClean="0">
                <a:latin typeface="Times New Roman" pitchFamily="18" charset="0"/>
                <a:cs typeface="Times New Roman" pitchFamily="18" charset="0"/>
              </a:rPr>
              <a:t>Vertex/Intermediate Node</a:t>
            </a:r>
            <a:r>
              <a:rPr lang="en-US" sz="1800" dirty="0" smtClean="0">
                <a:latin typeface="Times New Roman" pitchFamily="18" charset="0"/>
                <a:cs typeface="Times New Roman" pitchFamily="18" charset="0"/>
              </a:rPr>
              <a:t> − Labeled by a non-terminal symbol.</a:t>
            </a:r>
          </a:p>
          <a:p>
            <a:r>
              <a:rPr lang="en-US" sz="1800" b="1" dirty="0" smtClean="0">
                <a:latin typeface="Times New Roman" pitchFamily="18" charset="0"/>
                <a:cs typeface="Times New Roman" pitchFamily="18" charset="0"/>
              </a:rPr>
              <a:t>Leaves</a:t>
            </a:r>
            <a:r>
              <a:rPr lang="en-US" sz="1800" dirty="0" smtClean="0">
                <a:latin typeface="Times New Roman" pitchFamily="18" charset="0"/>
                <a:cs typeface="Times New Roman" pitchFamily="18" charset="0"/>
              </a:rPr>
              <a:t> − Labeled by a terminal symbol or ε.</a:t>
            </a:r>
          </a:p>
          <a:p>
            <a:r>
              <a:rPr lang="en-US" sz="1800" dirty="0" smtClean="0">
                <a:latin typeface="Times New Roman" pitchFamily="18" charset="0"/>
                <a:cs typeface="Times New Roman" pitchFamily="18" charset="0"/>
              </a:rPr>
              <a:t>If S → x</a:t>
            </a:r>
            <a:r>
              <a:rPr lang="en-US" sz="1800" baseline="-25000" dirty="0" smtClean="0">
                <a:latin typeface="Times New Roman" pitchFamily="18" charset="0"/>
                <a:cs typeface="Times New Roman" pitchFamily="18" charset="0"/>
              </a:rPr>
              <a:t>1</a:t>
            </a:r>
            <a:r>
              <a:rPr lang="en-US" sz="1800" dirty="0" smtClean="0">
                <a:latin typeface="Times New Roman" pitchFamily="18" charset="0"/>
                <a:cs typeface="Times New Roman" pitchFamily="18" charset="0"/>
              </a:rPr>
              <a:t>x</a:t>
            </a:r>
            <a:r>
              <a:rPr lang="en-US" sz="1800" baseline="-25000" dirty="0" smtClean="0">
                <a:latin typeface="Times New Roman" pitchFamily="18" charset="0"/>
                <a:cs typeface="Times New Roman" pitchFamily="18" charset="0"/>
              </a:rPr>
              <a:t>2</a:t>
            </a:r>
            <a:r>
              <a:rPr lang="en-US" sz="1800" dirty="0" smtClean="0">
                <a:latin typeface="Times New Roman" pitchFamily="18" charset="0"/>
                <a:cs typeface="Times New Roman" pitchFamily="18" charset="0"/>
              </a:rPr>
              <a:t> …… </a:t>
            </a:r>
            <a:r>
              <a:rPr lang="en-US" sz="1800" dirty="0" err="1" smtClean="0">
                <a:latin typeface="Times New Roman" pitchFamily="18" charset="0"/>
                <a:cs typeface="Times New Roman" pitchFamily="18" charset="0"/>
              </a:rPr>
              <a:t>x</a:t>
            </a:r>
            <a:r>
              <a:rPr lang="en-US" sz="1800" baseline="-25000" dirty="0" err="1" smtClean="0">
                <a:latin typeface="Times New Roman" pitchFamily="18" charset="0"/>
                <a:cs typeface="Times New Roman" pitchFamily="18" charset="0"/>
              </a:rPr>
              <a:t>n</a:t>
            </a:r>
            <a:r>
              <a:rPr lang="en-US" sz="1800" dirty="0" smtClean="0">
                <a:latin typeface="Times New Roman" pitchFamily="18" charset="0"/>
                <a:cs typeface="Times New Roman" pitchFamily="18" charset="0"/>
              </a:rPr>
              <a:t> is a production rule in a CFG, then the parse tree / derivation tree will be as follows</a:t>
            </a:r>
          </a:p>
          <a:p>
            <a:pPr>
              <a:buNone/>
            </a:pPr>
            <a:endParaRPr lang="en-US" sz="1800" dirty="0" smtClean="0">
              <a:latin typeface="Times New Roman" pitchFamily="18" charset="0"/>
              <a:cs typeface="Times New Roman" pitchFamily="18" charset="0"/>
            </a:endParaRPr>
          </a:p>
          <a:p>
            <a:pPr>
              <a:buNone/>
            </a:pPr>
            <a:endParaRPr lang="en-US" sz="1800" dirty="0" smtClean="0">
              <a:latin typeface="Times New Roman" pitchFamily="18" charset="0"/>
              <a:cs typeface="Times New Roman" pitchFamily="18" charset="0"/>
            </a:endParaRPr>
          </a:p>
          <a:p>
            <a:pPr>
              <a:buNone/>
            </a:pPr>
            <a:endParaRPr lang="en-US" sz="1800" dirty="0" smtClean="0">
              <a:latin typeface="Times New Roman" pitchFamily="18" charset="0"/>
              <a:cs typeface="Times New Roman" pitchFamily="18" charset="0"/>
            </a:endParaRPr>
          </a:p>
          <a:p>
            <a:pPr>
              <a:buNone/>
            </a:pPr>
            <a:endParaRPr lang="en-US" sz="1800" dirty="0" smtClean="0">
              <a:latin typeface="Times New Roman" pitchFamily="18" charset="0"/>
              <a:cs typeface="Times New Roman" pitchFamily="18" charset="0"/>
            </a:endParaRPr>
          </a:p>
          <a:p>
            <a:pPr>
              <a:buNone/>
            </a:pPr>
            <a:endParaRPr lang="en-US" sz="18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There are two different approaches to draw a derivation tree </a:t>
            </a:r>
          </a:p>
          <a:p>
            <a:pPr>
              <a:buNone/>
            </a:pPr>
            <a:r>
              <a:rPr lang="en-US" sz="1800" b="1" dirty="0" smtClean="0">
                <a:latin typeface="Times New Roman" pitchFamily="18" charset="0"/>
                <a:cs typeface="Times New Roman" pitchFamily="18" charset="0"/>
              </a:rPr>
              <a:t>Top-down Approach </a:t>
            </a:r>
            <a:endParaRPr lang="en-US" sz="1800" dirty="0" smtClean="0">
              <a:latin typeface="Times New Roman" pitchFamily="18" charset="0"/>
              <a:cs typeface="Times New Roman" pitchFamily="18" charset="0"/>
            </a:endParaRPr>
          </a:p>
          <a:p>
            <a:r>
              <a:rPr lang="en-US" sz="1800" dirty="0" smtClean="0">
                <a:latin typeface="Times New Roman" pitchFamily="18" charset="0"/>
                <a:cs typeface="Times New Roman" pitchFamily="18" charset="0"/>
              </a:rPr>
              <a:t>Starts with the starting symbol </a:t>
            </a:r>
            <a:r>
              <a:rPr lang="en-US" sz="1800" b="1" dirty="0" smtClean="0">
                <a:latin typeface="Times New Roman" pitchFamily="18" charset="0"/>
                <a:cs typeface="Times New Roman" pitchFamily="18" charset="0"/>
              </a:rPr>
              <a:t>S</a:t>
            </a:r>
            <a:endParaRPr lang="en-US" sz="1800" dirty="0" smtClean="0">
              <a:latin typeface="Times New Roman" pitchFamily="18" charset="0"/>
              <a:cs typeface="Times New Roman" pitchFamily="18" charset="0"/>
            </a:endParaRPr>
          </a:p>
          <a:p>
            <a:r>
              <a:rPr lang="en-US" sz="1800" dirty="0" smtClean="0">
                <a:latin typeface="Times New Roman" pitchFamily="18" charset="0"/>
                <a:cs typeface="Times New Roman" pitchFamily="18" charset="0"/>
              </a:rPr>
              <a:t>Goes down to tree leaves using productions</a:t>
            </a:r>
          </a:p>
          <a:p>
            <a:pPr>
              <a:buNone/>
            </a:pPr>
            <a:r>
              <a:rPr lang="en-US" sz="1800" b="1" dirty="0" smtClean="0">
                <a:latin typeface="Times New Roman" pitchFamily="18" charset="0"/>
                <a:cs typeface="Times New Roman" pitchFamily="18" charset="0"/>
              </a:rPr>
              <a:t>Bottom-up Approach </a:t>
            </a:r>
            <a:endParaRPr lang="en-US" sz="1800" dirty="0" smtClean="0">
              <a:latin typeface="Times New Roman" pitchFamily="18" charset="0"/>
              <a:cs typeface="Times New Roman" pitchFamily="18" charset="0"/>
            </a:endParaRPr>
          </a:p>
          <a:p>
            <a:r>
              <a:rPr lang="en-US" sz="1800" dirty="0" smtClean="0">
                <a:latin typeface="Times New Roman" pitchFamily="18" charset="0"/>
                <a:cs typeface="Times New Roman" pitchFamily="18" charset="0"/>
              </a:rPr>
              <a:t>Starts from tree leaves</a:t>
            </a:r>
          </a:p>
          <a:p>
            <a:r>
              <a:rPr lang="en-US" sz="1800" dirty="0" smtClean="0">
                <a:latin typeface="Times New Roman" pitchFamily="18" charset="0"/>
                <a:cs typeface="Times New Roman" pitchFamily="18" charset="0"/>
              </a:rPr>
              <a:t>Proceeds upward to the root which is the starting symbol </a:t>
            </a:r>
            <a:r>
              <a:rPr lang="en-US" sz="1800" b="1" dirty="0" smtClean="0">
                <a:latin typeface="Times New Roman" pitchFamily="18" charset="0"/>
                <a:cs typeface="Times New Roman" pitchFamily="18" charset="0"/>
              </a:rPr>
              <a:t>S</a:t>
            </a:r>
            <a:endParaRPr lang="en-US" sz="1800" dirty="0" smtClean="0">
              <a:latin typeface="Times New Roman" pitchFamily="18" charset="0"/>
              <a:cs typeface="Times New Roman" pitchFamily="18" charset="0"/>
            </a:endParaRPr>
          </a:p>
          <a:p>
            <a:pPr>
              <a:buNone/>
            </a:pPr>
            <a:endParaRPr lang="en-US" sz="1800" dirty="0" smtClean="0"/>
          </a:p>
        </p:txBody>
      </p:sp>
      <p:pic>
        <p:nvPicPr>
          <p:cNvPr id="4" name="Picture 2" descr="C:\Users\snist\Desktop\r3.jpg"/>
          <p:cNvPicPr>
            <a:picLocks noChangeAspect="1" noChangeArrowheads="1"/>
          </p:cNvPicPr>
          <p:nvPr/>
        </p:nvPicPr>
        <p:blipFill>
          <a:blip r:embed="rId2" cstate="print"/>
          <a:srcRect/>
          <a:stretch>
            <a:fillRect/>
          </a:stretch>
        </p:blipFill>
        <p:spPr bwMode="auto">
          <a:xfrm>
            <a:off x="2057400" y="3048000"/>
            <a:ext cx="3557729" cy="12192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Derivation Tree/Parse Tree</a:t>
            </a:r>
            <a:endParaRPr lang="en-IN" dirty="0"/>
          </a:p>
        </p:txBody>
      </p:sp>
      <p:sp>
        <p:nvSpPr>
          <p:cNvPr id="3" name="Content Placeholder 2"/>
          <p:cNvSpPr>
            <a:spLocks noGrp="1"/>
          </p:cNvSpPr>
          <p:nvPr>
            <p:ph idx="1"/>
          </p:nvPr>
        </p:nvSpPr>
        <p:spPr/>
        <p:txBody>
          <a:bodyPr>
            <a:normAutofit fontScale="62500" lnSpcReduction="20000"/>
          </a:bodyPr>
          <a:lstStyle/>
          <a:p>
            <a:pPr>
              <a:buNone/>
            </a:pPr>
            <a:r>
              <a:rPr lang="en-US" b="1" dirty="0" smtClean="0">
                <a:latin typeface="Times New Roman" pitchFamily="18" charset="0"/>
                <a:cs typeface="Times New Roman" pitchFamily="18" charset="0"/>
              </a:rPr>
              <a:t>Derivation or Yield of a Tree</a:t>
            </a:r>
          </a:p>
          <a:p>
            <a:pPr>
              <a:buNone/>
            </a:pPr>
            <a:r>
              <a:rPr lang="en-US" dirty="0" smtClean="0">
                <a:latin typeface="Times New Roman" pitchFamily="18" charset="0"/>
                <a:cs typeface="Times New Roman" pitchFamily="18" charset="0"/>
              </a:rPr>
              <a:t>	The derivation or the yield of a parse tree is the final string obtained by concatenating the labels of the leaves of the tree from left to right, ignoring the Nulls. However, if all the leaves are Null, derivation is Null.</a:t>
            </a:r>
          </a:p>
          <a:p>
            <a:r>
              <a:rPr lang="en-US" b="1" dirty="0" smtClean="0">
                <a:latin typeface="Times New Roman" pitchFamily="18" charset="0"/>
                <a:cs typeface="Times New Roman" pitchFamily="18" charset="0"/>
              </a:rPr>
              <a:t>Example</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Let a CFG {N,T,P,S} be</a:t>
            </a:r>
          </a:p>
          <a:p>
            <a:pPr>
              <a:buNone/>
            </a:pPr>
            <a:r>
              <a:rPr lang="en-US" dirty="0" smtClean="0">
                <a:latin typeface="Times New Roman" pitchFamily="18" charset="0"/>
                <a:cs typeface="Times New Roman" pitchFamily="18" charset="0"/>
              </a:rPr>
              <a:t>	N = {S}, T = {a, b}, Starting symbol = S, P = S → SS | </a:t>
            </a:r>
            <a:r>
              <a:rPr lang="en-US" dirty="0" err="1" smtClean="0">
                <a:latin typeface="Times New Roman" pitchFamily="18" charset="0"/>
                <a:cs typeface="Times New Roman" pitchFamily="18" charset="0"/>
              </a:rPr>
              <a:t>aSb</a:t>
            </a:r>
            <a:r>
              <a:rPr lang="en-US" dirty="0" smtClean="0">
                <a:latin typeface="Times New Roman" pitchFamily="18" charset="0"/>
                <a:cs typeface="Times New Roman" pitchFamily="18" charset="0"/>
              </a:rPr>
              <a:t> | ε</a:t>
            </a:r>
          </a:p>
          <a:p>
            <a:pPr>
              <a:buNone/>
            </a:pPr>
            <a:r>
              <a:rPr lang="en-US" dirty="0" smtClean="0">
                <a:latin typeface="Times New Roman" pitchFamily="18" charset="0"/>
                <a:cs typeface="Times New Roman" pitchFamily="18" charset="0"/>
              </a:rPr>
              <a:t>	One derivation from the above CFG is “</a:t>
            </a:r>
            <a:r>
              <a:rPr lang="en-US" dirty="0" err="1" smtClean="0">
                <a:latin typeface="Times New Roman" pitchFamily="18" charset="0"/>
                <a:cs typeface="Times New Roman" pitchFamily="18" charset="0"/>
              </a:rPr>
              <a:t>abaabb</a:t>
            </a:r>
            <a:r>
              <a:rPr lang="en-US" dirty="0" smtClean="0">
                <a:latin typeface="Times New Roman" pitchFamily="18" charset="0"/>
                <a:cs typeface="Times New Roman" pitchFamily="18" charset="0"/>
              </a:rPr>
              <a:t>”</a:t>
            </a:r>
          </a:p>
          <a:p>
            <a:pPr>
              <a:buNone/>
            </a:pPr>
            <a:r>
              <a:rPr lang="en-US" dirty="0" smtClean="0">
                <a:latin typeface="Times New Roman" pitchFamily="18" charset="0"/>
                <a:cs typeface="Times New Roman" pitchFamily="18" charset="0"/>
              </a:rPr>
              <a:t>			S  → SS</a:t>
            </a:r>
          </a:p>
          <a:p>
            <a:pPr>
              <a:buNone/>
            </a:pP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aSbS</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abS</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abaSb</a:t>
            </a:r>
            <a:r>
              <a:rPr lang="en-US" dirty="0" smtClean="0">
                <a:latin typeface="Times New Roman" pitchFamily="18" charset="0"/>
                <a:cs typeface="Times New Roman" pitchFamily="18" charset="0"/>
              </a:rPr>
              <a:t> </a:t>
            </a:r>
          </a:p>
          <a:p>
            <a:pPr>
              <a:buNone/>
            </a:pP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abaaSbb</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 </a:t>
            </a:r>
            <a:r>
              <a:rPr lang="en-US" dirty="0" err="1" smtClean="0">
                <a:latin typeface="Times New Roman" pitchFamily="18" charset="0"/>
                <a:cs typeface="Times New Roman" pitchFamily="18" charset="0"/>
              </a:rPr>
              <a:t>abaabb</a:t>
            </a:r>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Generation of Derivation Tree:</a:t>
            </a:r>
            <a:endParaRPr lang="en-IN" dirty="0"/>
          </a:p>
        </p:txBody>
      </p:sp>
      <p:pic>
        <p:nvPicPr>
          <p:cNvPr id="4" name="Picture 2" descr="C:\Users\snist\Desktop\yield_of_a_tree.jpg"/>
          <p:cNvPicPr>
            <a:picLocks noChangeAspect="1" noChangeArrowheads="1"/>
          </p:cNvPicPr>
          <p:nvPr/>
        </p:nvPicPr>
        <p:blipFill>
          <a:blip r:embed="rId2" cstate="print"/>
          <a:srcRect/>
          <a:stretch>
            <a:fillRect/>
          </a:stretch>
        </p:blipFill>
        <p:spPr bwMode="auto">
          <a:xfrm>
            <a:off x="1828800" y="1828800"/>
            <a:ext cx="4562475" cy="4371975"/>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pPr algn="l"/>
            <a:r>
              <a:rPr lang="en-US" sz="3200" dirty="0" smtClean="0">
                <a:latin typeface="Times New Roman" pitchFamily="18" charset="0"/>
                <a:cs typeface="Times New Roman" pitchFamily="18" charset="0"/>
              </a:rPr>
              <a:t>Leftmost and Rightmost Derivation of a String</a:t>
            </a:r>
            <a:endParaRPr lang="en-US" sz="3200" dirty="0">
              <a:latin typeface="Times New Roman" pitchFamily="18" charset="0"/>
              <a:cs typeface="Times New Roman" pitchFamily="18" charset="0"/>
            </a:endParaRPr>
          </a:p>
        </p:txBody>
      </p:sp>
      <p:sp>
        <p:nvSpPr>
          <p:cNvPr id="5" name="Content Placeholder 4"/>
          <p:cNvSpPr>
            <a:spLocks noGrp="1"/>
          </p:cNvSpPr>
          <p:nvPr>
            <p:ph idx="1"/>
          </p:nvPr>
        </p:nvSpPr>
        <p:spPr>
          <a:xfrm>
            <a:off x="457200" y="1219200"/>
            <a:ext cx="8229600" cy="4906963"/>
          </a:xfrm>
        </p:spPr>
        <p:txBody>
          <a:bodyPr>
            <a:normAutofit fontScale="92500" lnSpcReduction="10000"/>
          </a:bodyPr>
          <a:lstStyle/>
          <a:p>
            <a:r>
              <a:rPr lang="en-US" sz="2200" b="1" dirty="0" smtClean="0">
                <a:latin typeface="Times New Roman" pitchFamily="18" charset="0"/>
                <a:cs typeface="Times New Roman" pitchFamily="18" charset="0"/>
              </a:rPr>
              <a:t>Leftmost derivation</a:t>
            </a:r>
            <a:r>
              <a:rPr lang="en-US" sz="2200" dirty="0" smtClean="0">
                <a:latin typeface="Times New Roman" pitchFamily="18" charset="0"/>
                <a:cs typeface="Times New Roman" pitchFamily="18" charset="0"/>
              </a:rPr>
              <a:t>:  A leftmost derivation is obtained by applying production to the leftmost variable in each step.</a:t>
            </a:r>
          </a:p>
          <a:p>
            <a:r>
              <a:rPr lang="en-US" sz="2200" b="1" dirty="0" smtClean="0">
                <a:latin typeface="Times New Roman" pitchFamily="18" charset="0"/>
                <a:cs typeface="Times New Roman" pitchFamily="18" charset="0"/>
              </a:rPr>
              <a:t>Rightmost derivation:</a:t>
            </a:r>
            <a:r>
              <a:rPr lang="en-US" sz="2200" dirty="0" smtClean="0">
                <a:latin typeface="Times New Roman" pitchFamily="18" charset="0"/>
                <a:cs typeface="Times New Roman" pitchFamily="18" charset="0"/>
              </a:rPr>
              <a:t>  A rightmost derivation is obtained by applying production to the rightmost variable in each step.</a:t>
            </a:r>
          </a:p>
          <a:p>
            <a:pPr>
              <a:buNone/>
            </a:pPr>
            <a:r>
              <a:rPr lang="en-US" sz="2200" b="1" dirty="0" smtClean="0">
                <a:latin typeface="Times New Roman" pitchFamily="18" charset="0"/>
                <a:cs typeface="Times New Roman" pitchFamily="18" charset="0"/>
              </a:rPr>
              <a:t>	Leftmost Derivation: Example</a:t>
            </a:r>
            <a:endParaRPr lang="en-US" sz="2200" dirty="0" smtClean="0">
              <a:latin typeface="Times New Roman" pitchFamily="18" charset="0"/>
              <a:cs typeface="Times New Roman" pitchFamily="18" charset="0"/>
            </a:endParaRPr>
          </a:p>
          <a:p>
            <a:pPr>
              <a:buNone/>
            </a:pPr>
            <a:r>
              <a:rPr lang="en-US" sz="2200" dirty="0" smtClean="0">
                <a:latin typeface="Times New Roman" pitchFamily="18" charset="0"/>
                <a:cs typeface="Times New Roman" pitchFamily="18" charset="0"/>
              </a:rPr>
              <a:t>	Let any set of production rules in a CFG be</a:t>
            </a:r>
          </a:p>
          <a:p>
            <a:pPr>
              <a:buNone/>
            </a:pPr>
            <a:r>
              <a:rPr lang="en-US" sz="2200" dirty="0" smtClean="0">
                <a:latin typeface="Times New Roman" pitchFamily="18" charset="0"/>
                <a:cs typeface="Times New Roman" pitchFamily="18" charset="0"/>
              </a:rPr>
              <a:t>	X → X+X | X*X |X| a</a:t>
            </a:r>
          </a:p>
          <a:p>
            <a:pPr>
              <a:buNone/>
            </a:pPr>
            <a:r>
              <a:rPr lang="en-US" sz="2200" dirty="0" smtClean="0">
                <a:latin typeface="Times New Roman" pitchFamily="18" charset="0"/>
                <a:cs typeface="Times New Roman" pitchFamily="18" charset="0"/>
              </a:rPr>
              <a:t>	over an alphabet {a}.</a:t>
            </a:r>
          </a:p>
          <a:p>
            <a:pPr>
              <a:buNone/>
            </a:pPr>
            <a:r>
              <a:rPr lang="en-US" sz="2200" dirty="0" smtClean="0">
                <a:latin typeface="Times New Roman" pitchFamily="18" charset="0"/>
                <a:cs typeface="Times New Roman" pitchFamily="18" charset="0"/>
              </a:rPr>
              <a:t>	The leftmost derivation for the string </a:t>
            </a:r>
            <a:r>
              <a:rPr lang="en-US" sz="2200" b="1" dirty="0" smtClean="0">
                <a:latin typeface="Times New Roman" pitchFamily="18" charset="0"/>
                <a:cs typeface="Times New Roman" pitchFamily="18" charset="0"/>
              </a:rPr>
              <a:t>"</a:t>
            </a:r>
            <a:r>
              <a:rPr lang="en-US" sz="2200" b="1" dirty="0" err="1" smtClean="0">
                <a:latin typeface="Times New Roman" pitchFamily="18" charset="0"/>
                <a:cs typeface="Times New Roman" pitchFamily="18" charset="0"/>
              </a:rPr>
              <a:t>a+a</a:t>
            </a:r>
            <a:r>
              <a:rPr lang="en-US" sz="2200" b="1" dirty="0" smtClean="0">
                <a:latin typeface="Times New Roman" pitchFamily="18" charset="0"/>
                <a:cs typeface="Times New Roman" pitchFamily="18" charset="0"/>
              </a:rPr>
              <a:t>*a"</a:t>
            </a:r>
            <a:r>
              <a:rPr lang="en-US" sz="2200" dirty="0" smtClean="0">
                <a:latin typeface="Times New Roman" pitchFamily="18" charset="0"/>
                <a:cs typeface="Times New Roman" pitchFamily="18" charset="0"/>
              </a:rPr>
              <a:t> may be </a:t>
            </a:r>
          </a:p>
          <a:p>
            <a:pPr>
              <a:buNone/>
            </a:pPr>
            <a:r>
              <a:rPr lang="en-US" sz="2200" dirty="0" smtClean="0">
                <a:latin typeface="Times New Roman" pitchFamily="18" charset="0"/>
                <a:cs typeface="Times New Roman" pitchFamily="18" charset="0"/>
              </a:rPr>
              <a:t>                             	X → X+X </a:t>
            </a:r>
          </a:p>
          <a:p>
            <a:pPr>
              <a:buNone/>
            </a:pPr>
            <a:r>
              <a:rPr lang="en-US" sz="2200" dirty="0" smtClean="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a+X</a:t>
            </a:r>
            <a:r>
              <a:rPr lang="en-US" sz="2200" dirty="0" smtClean="0">
                <a:latin typeface="Times New Roman" pitchFamily="18" charset="0"/>
                <a:cs typeface="Times New Roman" pitchFamily="18" charset="0"/>
              </a:rPr>
              <a:t> </a:t>
            </a:r>
          </a:p>
          <a:p>
            <a:pPr>
              <a:buNone/>
            </a:pPr>
            <a:r>
              <a:rPr lang="en-US" sz="2200" dirty="0" smtClean="0">
                <a:latin typeface="Times New Roman" pitchFamily="18" charset="0"/>
                <a:cs typeface="Times New Roman" pitchFamily="18" charset="0"/>
              </a:rPr>
              <a:t>                                               → a + X*X</a:t>
            </a:r>
          </a:p>
          <a:p>
            <a:pPr>
              <a:buNone/>
            </a:pPr>
            <a:r>
              <a:rPr lang="en-US" sz="2200" dirty="0" smtClean="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a+a</a:t>
            </a:r>
            <a:r>
              <a:rPr lang="en-US" sz="2200" dirty="0" smtClean="0">
                <a:latin typeface="Times New Roman" pitchFamily="18" charset="0"/>
                <a:cs typeface="Times New Roman" pitchFamily="18" charset="0"/>
              </a:rPr>
              <a:t>*X </a:t>
            </a:r>
          </a:p>
          <a:p>
            <a:pPr>
              <a:buNone/>
            </a:pPr>
            <a:r>
              <a:rPr lang="en-US" sz="2200" dirty="0" smtClean="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a+a</a:t>
            </a:r>
            <a:r>
              <a:rPr lang="en-US" sz="2200" dirty="0" smtClean="0">
                <a:latin typeface="Times New Roman" pitchFamily="18" charset="0"/>
                <a:cs typeface="Times New Roman" pitchFamily="18" charset="0"/>
              </a:rPr>
              <a:t>*a</a:t>
            </a:r>
          </a:p>
          <a:p>
            <a:pPr>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pPr algn="l"/>
            <a:r>
              <a:rPr lang="en-US" sz="3200" dirty="0" smtClean="0">
                <a:latin typeface="Times New Roman" pitchFamily="18" charset="0"/>
                <a:cs typeface="Times New Roman" pitchFamily="18" charset="0"/>
              </a:rPr>
              <a:t>Leftmost  Derivation Tree of a String</a:t>
            </a:r>
            <a:endParaRPr lang="en-US" sz="3200" dirty="0"/>
          </a:p>
        </p:txBody>
      </p:sp>
      <p:sp>
        <p:nvSpPr>
          <p:cNvPr id="3" name="Content Placeholder 2"/>
          <p:cNvSpPr>
            <a:spLocks noGrp="1"/>
          </p:cNvSpPr>
          <p:nvPr>
            <p:ph idx="1"/>
          </p:nvPr>
        </p:nvSpPr>
        <p:spPr>
          <a:xfrm>
            <a:off x="457200" y="914400"/>
            <a:ext cx="8229600" cy="5211763"/>
          </a:xfrm>
        </p:spPr>
        <p:txBody>
          <a:bodyPr>
            <a:normAutofit/>
          </a:bodyPr>
          <a:lstStyle/>
          <a:p>
            <a:pPr>
              <a:buNone/>
            </a:pPr>
            <a:r>
              <a:rPr lang="en-US" sz="2200" dirty="0" smtClean="0">
                <a:latin typeface="Times New Roman" pitchFamily="18" charset="0"/>
                <a:cs typeface="Times New Roman" pitchFamily="18" charset="0"/>
              </a:rPr>
              <a:t>The stepwise derivation of the above string is shown as below </a:t>
            </a:r>
          </a:p>
          <a:p>
            <a:pPr>
              <a:buNone/>
            </a:pPr>
            <a:endParaRPr lang="en-US" sz="2200" dirty="0">
              <a:latin typeface="Times New Roman" pitchFamily="18" charset="0"/>
              <a:cs typeface="Times New Roman" pitchFamily="18" charset="0"/>
            </a:endParaRPr>
          </a:p>
        </p:txBody>
      </p:sp>
      <p:pic>
        <p:nvPicPr>
          <p:cNvPr id="4" name="Picture 2" descr="C:\Users\snist\Desktop\leftmost.jpg"/>
          <p:cNvPicPr>
            <a:picLocks noChangeAspect="1" noChangeArrowheads="1"/>
          </p:cNvPicPr>
          <p:nvPr/>
        </p:nvPicPr>
        <p:blipFill>
          <a:blip r:embed="rId2" cstate="print"/>
          <a:srcRect/>
          <a:stretch>
            <a:fillRect/>
          </a:stretch>
        </p:blipFill>
        <p:spPr bwMode="auto">
          <a:xfrm>
            <a:off x="1447800" y="1600200"/>
            <a:ext cx="6172199" cy="4888039"/>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pPr algn="l"/>
            <a:r>
              <a:rPr lang="en-US" sz="3200" dirty="0" smtClean="0">
                <a:latin typeface="Times New Roman" pitchFamily="18" charset="0"/>
                <a:cs typeface="Times New Roman" pitchFamily="18" charset="0"/>
              </a:rPr>
              <a:t> Rightmost Derivation of a String</a:t>
            </a:r>
            <a:endParaRPr lang="en-US" sz="3200" dirty="0">
              <a:latin typeface="Times New Roman" pitchFamily="18" charset="0"/>
              <a:cs typeface="Times New Roman" pitchFamily="18" charset="0"/>
            </a:endParaRPr>
          </a:p>
        </p:txBody>
      </p:sp>
      <p:sp>
        <p:nvSpPr>
          <p:cNvPr id="5" name="Content Placeholder 4"/>
          <p:cNvSpPr>
            <a:spLocks noGrp="1"/>
          </p:cNvSpPr>
          <p:nvPr>
            <p:ph idx="1"/>
          </p:nvPr>
        </p:nvSpPr>
        <p:spPr>
          <a:xfrm>
            <a:off x="457200" y="1143000"/>
            <a:ext cx="8229600" cy="4983163"/>
          </a:xfrm>
        </p:spPr>
        <p:txBody>
          <a:bodyPr>
            <a:normAutofit/>
          </a:bodyPr>
          <a:lstStyle/>
          <a:p>
            <a:pPr>
              <a:buNone/>
            </a:pPr>
            <a:r>
              <a:rPr lang="en-US" sz="2200" dirty="0" smtClean="0">
                <a:latin typeface="Times New Roman" pitchFamily="18" charset="0"/>
                <a:cs typeface="Times New Roman" pitchFamily="18" charset="0"/>
              </a:rPr>
              <a:t>	Let any set of production rules in a CFG be</a:t>
            </a:r>
          </a:p>
          <a:p>
            <a:pPr>
              <a:buNone/>
            </a:pPr>
            <a:r>
              <a:rPr lang="en-US" sz="2200" dirty="0" smtClean="0">
                <a:latin typeface="Times New Roman" pitchFamily="18" charset="0"/>
                <a:cs typeface="Times New Roman" pitchFamily="18" charset="0"/>
              </a:rPr>
              <a:t>	X → X+X | X*X |X| a</a:t>
            </a:r>
          </a:p>
          <a:p>
            <a:pPr>
              <a:buNone/>
            </a:pPr>
            <a:r>
              <a:rPr lang="en-US" sz="2200" dirty="0" smtClean="0">
                <a:latin typeface="Times New Roman" pitchFamily="18" charset="0"/>
                <a:cs typeface="Times New Roman" pitchFamily="18" charset="0"/>
              </a:rPr>
              <a:t>	over an alphabet {a}.</a:t>
            </a:r>
          </a:p>
          <a:p>
            <a:pPr>
              <a:buNone/>
            </a:pPr>
            <a:r>
              <a:rPr lang="en-US" sz="2200" dirty="0" smtClean="0">
                <a:latin typeface="Times New Roman" pitchFamily="18" charset="0"/>
                <a:cs typeface="Times New Roman" pitchFamily="18" charset="0"/>
              </a:rPr>
              <a:t>	The rightmost derivation for the above string </a:t>
            </a:r>
            <a:r>
              <a:rPr lang="en-US" sz="2200" b="1" dirty="0" smtClean="0">
                <a:latin typeface="Times New Roman" pitchFamily="18" charset="0"/>
                <a:cs typeface="Times New Roman" pitchFamily="18" charset="0"/>
              </a:rPr>
              <a:t>"</a:t>
            </a:r>
            <a:r>
              <a:rPr lang="en-US" sz="2200" b="1" dirty="0" err="1" smtClean="0">
                <a:latin typeface="Times New Roman" pitchFamily="18" charset="0"/>
                <a:cs typeface="Times New Roman" pitchFamily="18" charset="0"/>
              </a:rPr>
              <a:t>a+a</a:t>
            </a:r>
            <a:r>
              <a:rPr lang="en-US" sz="2200" b="1" dirty="0" smtClean="0">
                <a:latin typeface="Times New Roman" pitchFamily="18" charset="0"/>
                <a:cs typeface="Times New Roman" pitchFamily="18" charset="0"/>
              </a:rPr>
              <a:t>*a"</a:t>
            </a:r>
            <a:r>
              <a:rPr lang="en-US" sz="2200" dirty="0" smtClean="0">
                <a:latin typeface="Times New Roman" pitchFamily="18" charset="0"/>
                <a:cs typeface="Times New Roman" pitchFamily="18" charset="0"/>
              </a:rPr>
              <a:t> may be</a:t>
            </a:r>
          </a:p>
          <a:p>
            <a:pPr>
              <a:buNone/>
            </a:pPr>
            <a:r>
              <a:rPr lang="en-US" sz="2200" dirty="0" smtClean="0">
                <a:latin typeface="Times New Roman" pitchFamily="18" charset="0"/>
                <a:cs typeface="Times New Roman" pitchFamily="18" charset="0"/>
              </a:rPr>
              <a:t>                           </a:t>
            </a:r>
          </a:p>
          <a:p>
            <a:pPr>
              <a:buNone/>
            </a:pPr>
            <a:r>
              <a:rPr lang="en-US" sz="2200" dirty="0" smtClean="0">
                <a:latin typeface="Times New Roman" pitchFamily="18" charset="0"/>
                <a:cs typeface="Times New Roman" pitchFamily="18" charset="0"/>
              </a:rPr>
              <a:t>                             X → X*X</a:t>
            </a:r>
          </a:p>
          <a:p>
            <a:pPr>
              <a:buNone/>
            </a:pPr>
            <a:r>
              <a:rPr lang="en-US" sz="2200" dirty="0" smtClean="0">
                <a:latin typeface="Times New Roman" pitchFamily="18" charset="0"/>
                <a:cs typeface="Times New Roman" pitchFamily="18" charset="0"/>
              </a:rPr>
              <a:t>                                 → X*a </a:t>
            </a:r>
          </a:p>
          <a:p>
            <a:pPr>
              <a:buNone/>
            </a:pPr>
            <a:r>
              <a:rPr lang="en-US" sz="2200" dirty="0" smtClean="0">
                <a:latin typeface="Times New Roman" pitchFamily="18" charset="0"/>
                <a:cs typeface="Times New Roman" pitchFamily="18" charset="0"/>
              </a:rPr>
              <a:t>                                 → X+X*a </a:t>
            </a:r>
          </a:p>
          <a:p>
            <a:pPr>
              <a:buNone/>
            </a:pPr>
            <a:r>
              <a:rPr lang="en-US" sz="2200" dirty="0" smtClean="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X+a</a:t>
            </a:r>
            <a:r>
              <a:rPr lang="en-US" sz="2200" dirty="0" smtClean="0">
                <a:latin typeface="Times New Roman" pitchFamily="18" charset="0"/>
                <a:cs typeface="Times New Roman" pitchFamily="18" charset="0"/>
              </a:rPr>
              <a:t>*a </a:t>
            </a:r>
          </a:p>
          <a:p>
            <a:pPr>
              <a:buNone/>
            </a:pPr>
            <a:r>
              <a:rPr lang="en-US" sz="2200" dirty="0" smtClean="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a+a</a:t>
            </a:r>
            <a:r>
              <a:rPr lang="en-US" sz="2200" dirty="0" smtClean="0">
                <a:latin typeface="Times New Roman" pitchFamily="18" charset="0"/>
                <a:cs typeface="Times New Roman" pitchFamily="18" charset="0"/>
              </a:rPr>
              <a:t>*a</a:t>
            </a:r>
          </a:p>
          <a:p>
            <a:pPr>
              <a:buNone/>
            </a:pPr>
            <a:r>
              <a:rPr lang="en-US" sz="2200" dirty="0" smtClean="0">
                <a:latin typeface="Times New Roman" pitchFamily="18" charset="0"/>
                <a:cs typeface="Times New Roman" pitchFamily="18" charset="0"/>
              </a:rPr>
              <a:t>	</a:t>
            </a:r>
          </a:p>
          <a:p>
            <a:endParaRPr lang="en-US" sz="2200" dirty="0">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pPr algn="l"/>
            <a:r>
              <a:rPr lang="en-US" sz="3200" dirty="0" smtClean="0">
                <a:latin typeface="Times New Roman" pitchFamily="18" charset="0"/>
                <a:cs typeface="Times New Roman" pitchFamily="18" charset="0"/>
              </a:rPr>
              <a:t> Rightmost Derivation Tree of a String</a:t>
            </a:r>
            <a:endParaRPr lang="en-US" sz="3200" dirty="0">
              <a:latin typeface="Times New Roman" pitchFamily="18" charset="0"/>
              <a:cs typeface="Times New Roman" pitchFamily="18" charset="0"/>
            </a:endParaRPr>
          </a:p>
        </p:txBody>
      </p:sp>
      <p:sp>
        <p:nvSpPr>
          <p:cNvPr id="5" name="Content Placeholder 4"/>
          <p:cNvSpPr>
            <a:spLocks noGrp="1"/>
          </p:cNvSpPr>
          <p:nvPr>
            <p:ph idx="1"/>
          </p:nvPr>
        </p:nvSpPr>
        <p:spPr>
          <a:xfrm>
            <a:off x="457200" y="838200"/>
            <a:ext cx="8229600" cy="5287963"/>
          </a:xfrm>
        </p:spPr>
        <p:txBody>
          <a:bodyPr>
            <a:normAutofit/>
          </a:bodyPr>
          <a:lstStyle/>
          <a:p>
            <a:r>
              <a:rPr lang="en-US" sz="2200" dirty="0" smtClean="0">
                <a:latin typeface="Times New Roman" pitchFamily="18" charset="0"/>
                <a:cs typeface="Times New Roman" pitchFamily="18" charset="0"/>
              </a:rPr>
              <a:t>The stepwise derivation of the above string is shown as below </a:t>
            </a:r>
            <a:endParaRPr lang="en-US" sz="2200" dirty="0"/>
          </a:p>
        </p:txBody>
      </p:sp>
      <p:pic>
        <p:nvPicPr>
          <p:cNvPr id="4" name="Picture 2" descr="C:\Users\snist\Desktop\rightmost.jpg"/>
          <p:cNvPicPr>
            <a:picLocks noChangeAspect="1" noChangeArrowheads="1"/>
          </p:cNvPicPr>
          <p:nvPr/>
        </p:nvPicPr>
        <p:blipFill>
          <a:blip r:embed="rId2" cstate="print"/>
          <a:srcRect/>
          <a:stretch>
            <a:fillRect/>
          </a:stretch>
        </p:blipFill>
        <p:spPr bwMode="auto">
          <a:xfrm>
            <a:off x="1143000" y="1219200"/>
            <a:ext cx="6934200" cy="5291165"/>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pPr algn="l"/>
            <a:r>
              <a:rPr lang="en-US" altLang="zh-TW" sz="4000" dirty="0" smtClean="0">
                <a:latin typeface="Times New Roman" pitchFamily="18" charset="0"/>
                <a:ea typeface="Arial Unicode MS" pitchFamily="34" charset="-120"/>
                <a:cs typeface="Times New Roman" pitchFamily="18" charset="0"/>
              </a:rPr>
              <a:t>Ambiguity in context free grammar</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1143000"/>
            <a:ext cx="8229600" cy="4983163"/>
          </a:xfrm>
        </p:spPr>
        <p:txBody>
          <a:bodyPr>
            <a:normAutofit fontScale="92500" lnSpcReduction="10000"/>
          </a:bodyPr>
          <a:lstStyle/>
          <a:p>
            <a:pPr>
              <a:buNone/>
            </a:pPr>
            <a:r>
              <a:rPr lang="en-US" dirty="0" smtClean="0"/>
              <a:t>	</a:t>
            </a:r>
            <a:r>
              <a:rPr lang="en-US" sz="2200" dirty="0" smtClean="0">
                <a:latin typeface="Times New Roman" pitchFamily="18" charset="0"/>
                <a:cs typeface="Times New Roman" pitchFamily="18" charset="0"/>
              </a:rPr>
              <a:t>If a context free grammar </a:t>
            </a:r>
            <a:r>
              <a:rPr lang="en-US" sz="2200" b="1" dirty="0" smtClean="0">
                <a:latin typeface="Times New Roman" pitchFamily="18" charset="0"/>
                <a:cs typeface="Times New Roman" pitchFamily="18" charset="0"/>
              </a:rPr>
              <a:t>G</a:t>
            </a:r>
            <a:r>
              <a:rPr lang="en-US" sz="2200" dirty="0" smtClean="0">
                <a:latin typeface="Times New Roman" pitchFamily="18" charset="0"/>
                <a:cs typeface="Times New Roman" pitchFamily="18" charset="0"/>
              </a:rPr>
              <a:t> has more than one derivation tree for some string </a:t>
            </a:r>
            <a:r>
              <a:rPr lang="en-US" sz="2200" b="1" dirty="0" smtClean="0">
                <a:latin typeface="Times New Roman" pitchFamily="18" charset="0"/>
                <a:cs typeface="Times New Roman" pitchFamily="18" charset="0"/>
              </a:rPr>
              <a:t>w ∈ L(G)</a:t>
            </a:r>
            <a:r>
              <a:rPr lang="en-US" sz="2200" dirty="0" smtClean="0">
                <a:latin typeface="Times New Roman" pitchFamily="18" charset="0"/>
                <a:cs typeface="Times New Roman" pitchFamily="18" charset="0"/>
              </a:rPr>
              <a:t>, it is called an </a:t>
            </a:r>
            <a:r>
              <a:rPr lang="en-US" sz="2200" b="1" dirty="0" smtClean="0">
                <a:latin typeface="Times New Roman" pitchFamily="18" charset="0"/>
                <a:cs typeface="Times New Roman" pitchFamily="18" charset="0"/>
              </a:rPr>
              <a:t>ambiguous grammar</a:t>
            </a:r>
            <a:r>
              <a:rPr lang="en-US" sz="2200" dirty="0" smtClean="0">
                <a:latin typeface="Times New Roman" pitchFamily="18" charset="0"/>
                <a:cs typeface="Times New Roman" pitchFamily="18" charset="0"/>
              </a:rPr>
              <a:t>. There exist multiple right-most or left-most derivations for some string generated from that grammar.</a:t>
            </a:r>
          </a:p>
          <a:p>
            <a:pPr>
              <a:buNone/>
            </a:pPr>
            <a:r>
              <a:rPr lang="en-US" sz="2200" b="1" dirty="0" smtClean="0">
                <a:latin typeface="Times New Roman" pitchFamily="18" charset="0"/>
                <a:cs typeface="Times New Roman" pitchFamily="18" charset="0"/>
              </a:rPr>
              <a:t>Problem:</a:t>
            </a:r>
          </a:p>
          <a:p>
            <a:pPr>
              <a:buNone/>
            </a:pPr>
            <a:r>
              <a:rPr lang="en-US" sz="2200" dirty="0" smtClean="0">
                <a:latin typeface="Times New Roman" pitchFamily="18" charset="0"/>
                <a:cs typeface="Times New Roman" pitchFamily="18" charset="0"/>
              </a:rPr>
              <a:t>Check whether the grammar G with production rules </a:t>
            </a:r>
          </a:p>
          <a:p>
            <a:pPr>
              <a:buNone/>
            </a:pPr>
            <a:r>
              <a:rPr lang="en-US" sz="2200" dirty="0" smtClean="0">
                <a:latin typeface="Times New Roman" pitchFamily="18" charset="0"/>
                <a:cs typeface="Times New Roman" pitchFamily="18" charset="0"/>
              </a:rPr>
              <a:t>	X → X+X | X*X |X| a    is ambiguous or not.</a:t>
            </a:r>
          </a:p>
          <a:p>
            <a:pPr>
              <a:buNone/>
            </a:pPr>
            <a:r>
              <a:rPr lang="en-US" sz="2200" b="1" dirty="0" smtClean="0">
                <a:latin typeface="Times New Roman" pitchFamily="18" charset="0"/>
                <a:cs typeface="Times New Roman" pitchFamily="18" charset="0"/>
              </a:rPr>
              <a:t>Solution:</a:t>
            </a:r>
          </a:p>
          <a:p>
            <a:pPr>
              <a:buNone/>
            </a:pPr>
            <a:r>
              <a:rPr lang="en-US" sz="2200" dirty="0" smtClean="0">
                <a:latin typeface="Times New Roman" pitchFamily="18" charset="0"/>
                <a:cs typeface="Times New Roman" pitchFamily="18" charset="0"/>
              </a:rPr>
              <a:t>Let’s find out the derivation tree for the string "</a:t>
            </a:r>
            <a:r>
              <a:rPr lang="en-US" sz="2200" dirty="0" err="1" smtClean="0">
                <a:latin typeface="Times New Roman" pitchFamily="18" charset="0"/>
                <a:cs typeface="Times New Roman" pitchFamily="18" charset="0"/>
              </a:rPr>
              <a:t>a+a</a:t>
            </a:r>
            <a:r>
              <a:rPr lang="en-US" sz="2200" dirty="0" smtClean="0">
                <a:latin typeface="Times New Roman" pitchFamily="18" charset="0"/>
                <a:cs typeface="Times New Roman" pitchFamily="18" charset="0"/>
              </a:rPr>
              <a:t>*a". It has two leftmost derivations.</a:t>
            </a:r>
          </a:p>
          <a:p>
            <a:pPr>
              <a:buNone/>
            </a:pPr>
            <a:r>
              <a:rPr lang="en-US" sz="2200" b="1" dirty="0" smtClean="0">
                <a:latin typeface="Times New Roman" pitchFamily="18" charset="0"/>
                <a:cs typeface="Times New Roman" pitchFamily="18" charset="0"/>
              </a:rPr>
              <a:t>Derivation 1</a:t>
            </a:r>
            <a:r>
              <a:rPr lang="en-US" sz="2200" dirty="0" smtClean="0">
                <a:latin typeface="Times New Roman" pitchFamily="18" charset="0"/>
                <a:cs typeface="Times New Roman" pitchFamily="18" charset="0"/>
              </a:rPr>
              <a:t> − X → X+X </a:t>
            </a:r>
          </a:p>
          <a:p>
            <a:pPr>
              <a:buNone/>
            </a:pPr>
            <a:r>
              <a:rPr lang="en-US" sz="2200" dirty="0" smtClean="0">
                <a:latin typeface="Times New Roman" pitchFamily="18" charset="0"/>
                <a:cs typeface="Times New Roman" pitchFamily="18" charset="0"/>
              </a:rPr>
              <a:t>                             → a +X </a:t>
            </a:r>
          </a:p>
          <a:p>
            <a:pPr>
              <a:buNone/>
            </a:pPr>
            <a:r>
              <a:rPr lang="en-US" sz="2200" dirty="0" smtClean="0">
                <a:latin typeface="Times New Roman" pitchFamily="18" charset="0"/>
                <a:cs typeface="Times New Roman" pitchFamily="18" charset="0"/>
              </a:rPr>
              <a:t>                             → a+ X*X</a:t>
            </a:r>
          </a:p>
          <a:p>
            <a:pPr>
              <a:buNone/>
            </a:pPr>
            <a:r>
              <a:rPr lang="en-US" sz="2200" dirty="0" smtClean="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a+a</a:t>
            </a:r>
            <a:r>
              <a:rPr lang="en-US" sz="2200" dirty="0" smtClean="0">
                <a:latin typeface="Times New Roman" pitchFamily="18" charset="0"/>
                <a:cs typeface="Times New Roman" pitchFamily="18" charset="0"/>
              </a:rPr>
              <a:t>*X</a:t>
            </a:r>
          </a:p>
          <a:p>
            <a:pPr>
              <a:buNone/>
            </a:pPr>
            <a:r>
              <a:rPr lang="en-US" sz="2200" dirty="0" smtClean="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a+a</a:t>
            </a:r>
            <a:r>
              <a:rPr lang="en-US" sz="2200" dirty="0" smtClean="0">
                <a:latin typeface="Times New Roman" pitchFamily="18" charset="0"/>
                <a:cs typeface="Times New Roman" pitchFamily="18" charset="0"/>
              </a:rPr>
              <a:t>*a</a:t>
            </a:r>
          </a:p>
          <a:p>
            <a:pPr>
              <a:buNone/>
            </a:pPr>
            <a:endParaRPr lang="en-US" sz="2400" dirty="0" smtClean="0"/>
          </a:p>
          <a:p>
            <a:pPr>
              <a:buNone/>
            </a:pPr>
            <a:endParaRPr lang="en-US"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algn="l"/>
            <a:r>
              <a:rPr lang="en-US" altLang="zh-TW" sz="4000" dirty="0" smtClean="0">
                <a:latin typeface="Times New Roman" pitchFamily="18" charset="0"/>
                <a:ea typeface="Arial Unicode MS" pitchFamily="34" charset="-120"/>
                <a:cs typeface="Times New Roman" pitchFamily="18" charset="0"/>
              </a:rPr>
              <a:t>Ambiguity in context free grammar</a:t>
            </a:r>
            <a:endParaRPr lang="en-US" sz="4000" dirty="0"/>
          </a:p>
        </p:txBody>
      </p:sp>
      <p:sp>
        <p:nvSpPr>
          <p:cNvPr id="3" name="Content Placeholder 2"/>
          <p:cNvSpPr>
            <a:spLocks noGrp="1"/>
          </p:cNvSpPr>
          <p:nvPr>
            <p:ph idx="1"/>
          </p:nvPr>
        </p:nvSpPr>
        <p:spPr>
          <a:xfrm>
            <a:off x="457200" y="1066800"/>
            <a:ext cx="8229600" cy="5059363"/>
          </a:xfrm>
        </p:spPr>
        <p:txBody>
          <a:bodyPr>
            <a:normAutofit/>
          </a:bodyPr>
          <a:lstStyle/>
          <a:p>
            <a:pPr>
              <a:buNone/>
            </a:pPr>
            <a:r>
              <a:rPr lang="en-US" sz="2200" b="1" dirty="0" smtClean="0">
                <a:latin typeface="Times New Roman" pitchFamily="18" charset="0"/>
                <a:cs typeface="Times New Roman" pitchFamily="18" charset="0"/>
              </a:rPr>
              <a:t>Parse tree 1:</a:t>
            </a:r>
            <a:r>
              <a:rPr lang="en-US" sz="2200" dirty="0" smtClean="0">
                <a:latin typeface="Times New Roman" pitchFamily="18" charset="0"/>
                <a:cs typeface="Times New Roman" pitchFamily="18" charset="0"/>
              </a:rPr>
              <a:t> </a:t>
            </a:r>
          </a:p>
          <a:p>
            <a:pPr>
              <a:buNone/>
            </a:pPr>
            <a:endParaRPr lang="en-US" sz="2200" dirty="0">
              <a:latin typeface="Times New Roman" pitchFamily="18" charset="0"/>
              <a:cs typeface="Times New Roman" pitchFamily="18" charset="0"/>
            </a:endParaRPr>
          </a:p>
        </p:txBody>
      </p:sp>
      <p:pic>
        <p:nvPicPr>
          <p:cNvPr id="1026" name="Picture 2" descr="C:\Users\snist\Desktop\parse_tree1.jpg"/>
          <p:cNvPicPr>
            <a:picLocks noChangeAspect="1" noChangeArrowheads="1"/>
          </p:cNvPicPr>
          <p:nvPr/>
        </p:nvPicPr>
        <p:blipFill>
          <a:blip r:embed="rId2" cstate="print"/>
          <a:srcRect/>
          <a:stretch>
            <a:fillRect/>
          </a:stretch>
        </p:blipFill>
        <p:spPr bwMode="auto">
          <a:xfrm>
            <a:off x="2209800" y="1640564"/>
            <a:ext cx="5482238" cy="4150635"/>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algn="l"/>
            <a:r>
              <a:rPr lang="en-US" altLang="zh-TW" sz="4000" dirty="0" smtClean="0">
                <a:latin typeface="Times New Roman" pitchFamily="18" charset="0"/>
                <a:ea typeface="Arial Unicode MS" pitchFamily="34" charset="-120"/>
                <a:cs typeface="Times New Roman" pitchFamily="18" charset="0"/>
              </a:rPr>
              <a:t>Ambiguity in context free grammar</a:t>
            </a:r>
            <a:endParaRPr lang="en-US" sz="4000" dirty="0"/>
          </a:p>
        </p:txBody>
      </p:sp>
      <p:sp>
        <p:nvSpPr>
          <p:cNvPr id="3" name="Content Placeholder 2"/>
          <p:cNvSpPr>
            <a:spLocks noGrp="1"/>
          </p:cNvSpPr>
          <p:nvPr>
            <p:ph idx="1"/>
          </p:nvPr>
        </p:nvSpPr>
        <p:spPr>
          <a:xfrm>
            <a:off x="457200" y="1066800"/>
            <a:ext cx="8229600" cy="5059363"/>
          </a:xfrm>
        </p:spPr>
        <p:txBody>
          <a:bodyPr>
            <a:normAutofit/>
          </a:bodyPr>
          <a:lstStyle/>
          <a:p>
            <a:pPr>
              <a:buNone/>
            </a:pPr>
            <a:r>
              <a:rPr lang="en-US" sz="2200" b="1" dirty="0" smtClean="0">
                <a:latin typeface="Times New Roman" pitchFamily="18" charset="0"/>
                <a:cs typeface="Times New Roman" pitchFamily="18" charset="0"/>
              </a:rPr>
              <a:t>Derivation 2</a:t>
            </a:r>
            <a:r>
              <a:rPr lang="en-US" sz="2200" dirty="0" smtClean="0">
                <a:latin typeface="Times New Roman" pitchFamily="18" charset="0"/>
                <a:cs typeface="Times New Roman" pitchFamily="18" charset="0"/>
              </a:rPr>
              <a:t> </a:t>
            </a:r>
          </a:p>
          <a:p>
            <a:pPr>
              <a:buNone/>
            </a:pPr>
            <a:endParaRPr lang="en-US" sz="2200" dirty="0" smtClean="0">
              <a:latin typeface="Times New Roman" pitchFamily="18" charset="0"/>
              <a:cs typeface="Times New Roman" pitchFamily="18" charset="0"/>
            </a:endParaRPr>
          </a:p>
          <a:p>
            <a:pPr>
              <a:buNone/>
            </a:pPr>
            <a:r>
              <a:rPr lang="en-US" sz="2200" dirty="0" smtClean="0">
                <a:latin typeface="Times New Roman" pitchFamily="18" charset="0"/>
                <a:cs typeface="Times New Roman" pitchFamily="18" charset="0"/>
              </a:rPr>
              <a:t>			 X → X*X </a:t>
            </a:r>
          </a:p>
          <a:p>
            <a:pPr>
              <a:buNone/>
            </a:pPr>
            <a:r>
              <a:rPr lang="en-US" sz="2200" dirty="0" smtClean="0">
                <a:latin typeface="Times New Roman" pitchFamily="18" charset="0"/>
                <a:cs typeface="Times New Roman" pitchFamily="18" charset="0"/>
              </a:rPr>
              <a:t>			     → X+X*X</a:t>
            </a:r>
          </a:p>
          <a:p>
            <a:pPr>
              <a:buNone/>
            </a:pPr>
            <a:r>
              <a:rPr lang="en-US" sz="2200" dirty="0" smtClean="0">
                <a:latin typeface="Times New Roman" pitchFamily="18" charset="0"/>
                <a:cs typeface="Times New Roman" pitchFamily="18" charset="0"/>
              </a:rPr>
              <a:t>			     → a+ X*X </a:t>
            </a:r>
          </a:p>
          <a:p>
            <a:pPr>
              <a:buNone/>
            </a:pPr>
            <a:r>
              <a:rPr lang="en-US" sz="2200" dirty="0" smtClean="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a+a</a:t>
            </a:r>
            <a:r>
              <a:rPr lang="en-US" sz="2200" dirty="0" smtClean="0">
                <a:latin typeface="Times New Roman" pitchFamily="18" charset="0"/>
                <a:cs typeface="Times New Roman" pitchFamily="18" charset="0"/>
              </a:rPr>
              <a:t>*X </a:t>
            </a:r>
          </a:p>
          <a:p>
            <a:pPr>
              <a:buNone/>
            </a:pPr>
            <a:r>
              <a:rPr lang="en-US" sz="2200" dirty="0" smtClean="0">
                <a:latin typeface="Times New Roman" pitchFamily="18" charset="0"/>
                <a:cs typeface="Times New Roman" pitchFamily="18" charset="0"/>
              </a:rPr>
              <a:t>			     → </a:t>
            </a:r>
            <a:r>
              <a:rPr lang="en-US" sz="2200" dirty="0" err="1" smtClean="0">
                <a:latin typeface="Times New Roman" pitchFamily="18" charset="0"/>
                <a:cs typeface="Times New Roman" pitchFamily="18" charset="0"/>
              </a:rPr>
              <a:t>a+a</a:t>
            </a:r>
            <a:r>
              <a:rPr lang="en-US" sz="2200" dirty="0" smtClean="0">
                <a:latin typeface="Times New Roman" pitchFamily="18" charset="0"/>
                <a:cs typeface="Times New Roman" pitchFamily="18" charset="0"/>
              </a:rPr>
              <a:t>*a</a:t>
            </a:r>
            <a:endParaRPr lang="en-US" sz="2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algn="l"/>
            <a:r>
              <a:rPr lang="en-US" altLang="zh-TW" sz="4000" dirty="0" smtClean="0">
                <a:latin typeface="Times New Roman" pitchFamily="18" charset="0"/>
                <a:ea typeface="Arial Unicode MS" pitchFamily="34" charset="-120"/>
                <a:cs typeface="Times New Roman" pitchFamily="18" charset="0"/>
              </a:rPr>
              <a:t>Ambiguity in context free grammar</a:t>
            </a:r>
            <a:endParaRPr lang="en-US" sz="4000" dirty="0"/>
          </a:p>
        </p:txBody>
      </p:sp>
      <p:sp>
        <p:nvSpPr>
          <p:cNvPr id="3" name="Content Placeholder 2"/>
          <p:cNvSpPr>
            <a:spLocks noGrp="1"/>
          </p:cNvSpPr>
          <p:nvPr>
            <p:ph idx="1"/>
          </p:nvPr>
        </p:nvSpPr>
        <p:spPr>
          <a:xfrm>
            <a:off x="457200" y="1066800"/>
            <a:ext cx="8229600" cy="5257800"/>
          </a:xfrm>
        </p:spPr>
        <p:txBody>
          <a:bodyPr>
            <a:normAutofit lnSpcReduction="10000"/>
          </a:bodyPr>
          <a:lstStyle/>
          <a:p>
            <a:pPr>
              <a:buNone/>
            </a:pPr>
            <a:r>
              <a:rPr lang="en-US" sz="2200" b="1" dirty="0" smtClean="0">
                <a:latin typeface="Times New Roman" pitchFamily="18" charset="0"/>
                <a:cs typeface="Times New Roman" pitchFamily="18" charset="0"/>
              </a:rPr>
              <a:t>Parse tree 2</a:t>
            </a:r>
            <a:r>
              <a:rPr lang="en-US" sz="2200" dirty="0" smtClean="0">
                <a:latin typeface="Times New Roman" pitchFamily="18" charset="0"/>
                <a:cs typeface="Times New Roman" pitchFamily="18" charset="0"/>
              </a:rPr>
              <a:t> </a:t>
            </a:r>
            <a:r>
              <a:rPr lang="en-US" sz="2400" dirty="0" smtClean="0"/>
              <a:t> </a:t>
            </a:r>
          </a:p>
          <a:p>
            <a:pPr>
              <a:buNone/>
            </a:pPr>
            <a:endParaRPr lang="en-US" sz="2400" dirty="0" smtClean="0"/>
          </a:p>
          <a:p>
            <a:pPr>
              <a:buNone/>
            </a:pPr>
            <a:endParaRPr lang="en-US" sz="2400" dirty="0" smtClean="0"/>
          </a:p>
          <a:p>
            <a:pPr>
              <a:buNone/>
            </a:pPr>
            <a:endParaRPr lang="en-US" sz="2400" dirty="0" smtClean="0"/>
          </a:p>
          <a:p>
            <a:pPr>
              <a:buNone/>
            </a:pPr>
            <a:endParaRPr lang="en-US" sz="2400" dirty="0" smtClean="0"/>
          </a:p>
          <a:p>
            <a:pPr>
              <a:buNone/>
            </a:pPr>
            <a:endParaRPr lang="en-US" sz="2400" dirty="0" smtClean="0"/>
          </a:p>
          <a:p>
            <a:pPr>
              <a:buNone/>
            </a:pPr>
            <a:endParaRPr lang="en-US" sz="2400" dirty="0" smtClean="0"/>
          </a:p>
          <a:p>
            <a:pPr>
              <a:buNone/>
            </a:pPr>
            <a:endParaRPr lang="en-US" sz="2400" dirty="0" smtClean="0"/>
          </a:p>
          <a:p>
            <a:pPr>
              <a:buNone/>
            </a:pPr>
            <a:endParaRPr lang="en-US" sz="2400" dirty="0" smtClean="0"/>
          </a:p>
          <a:p>
            <a:pPr>
              <a:buNone/>
            </a:pPr>
            <a:endParaRPr lang="en-US" sz="2400" dirty="0" smtClean="0"/>
          </a:p>
          <a:p>
            <a:pPr>
              <a:buNone/>
            </a:pPr>
            <a:endParaRPr lang="en-US" sz="2400" dirty="0" smtClean="0"/>
          </a:p>
          <a:p>
            <a:pPr>
              <a:buNone/>
            </a:pPr>
            <a:r>
              <a:rPr lang="en-US" sz="2200" dirty="0" smtClean="0">
                <a:latin typeface="Times New Roman" pitchFamily="18" charset="0"/>
                <a:cs typeface="Times New Roman" pitchFamily="18" charset="0"/>
              </a:rPr>
              <a:t>Since there are two parse trees for a single string "</a:t>
            </a:r>
            <a:r>
              <a:rPr lang="en-US" sz="2200" dirty="0" err="1" smtClean="0">
                <a:latin typeface="Times New Roman" pitchFamily="18" charset="0"/>
                <a:cs typeface="Times New Roman" pitchFamily="18" charset="0"/>
              </a:rPr>
              <a:t>a+a</a:t>
            </a:r>
            <a:r>
              <a:rPr lang="en-US" sz="2200" dirty="0" smtClean="0">
                <a:latin typeface="Times New Roman" pitchFamily="18" charset="0"/>
                <a:cs typeface="Times New Roman" pitchFamily="18" charset="0"/>
              </a:rPr>
              <a:t>*a", the grammar </a:t>
            </a:r>
            <a:r>
              <a:rPr lang="en-US" sz="2200" b="1" dirty="0" smtClean="0">
                <a:latin typeface="Times New Roman" pitchFamily="18" charset="0"/>
                <a:cs typeface="Times New Roman" pitchFamily="18" charset="0"/>
              </a:rPr>
              <a:t>G</a:t>
            </a:r>
            <a:r>
              <a:rPr lang="en-US" sz="2200" dirty="0" smtClean="0">
                <a:latin typeface="Times New Roman" pitchFamily="18" charset="0"/>
                <a:cs typeface="Times New Roman" pitchFamily="18" charset="0"/>
              </a:rPr>
              <a:t> is ambiguous.</a:t>
            </a:r>
            <a:endParaRPr lang="en-US" sz="2200" dirty="0">
              <a:latin typeface="Times New Roman" pitchFamily="18" charset="0"/>
              <a:cs typeface="Times New Roman" pitchFamily="18" charset="0"/>
            </a:endParaRPr>
          </a:p>
        </p:txBody>
      </p:sp>
      <p:pic>
        <p:nvPicPr>
          <p:cNvPr id="2050" name="Picture 2" descr="C:\Users\snist\Desktop\parse_tree2.jpg"/>
          <p:cNvPicPr>
            <a:picLocks noChangeAspect="1" noChangeArrowheads="1"/>
          </p:cNvPicPr>
          <p:nvPr/>
        </p:nvPicPr>
        <p:blipFill>
          <a:blip r:embed="rId2" cstate="print"/>
          <a:srcRect/>
          <a:stretch>
            <a:fillRect/>
          </a:stretch>
        </p:blipFill>
        <p:spPr bwMode="auto">
          <a:xfrm>
            <a:off x="1676401" y="1637389"/>
            <a:ext cx="5209521" cy="3620411"/>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algn="l">
              <a:lnSpc>
                <a:spcPct val="150000"/>
              </a:lnSpc>
            </a:pPr>
            <a:r>
              <a:rPr lang="en-US" altLang="zh-TW" sz="4000" dirty="0" smtClean="0">
                <a:latin typeface="Times New Roman" pitchFamily="18" charset="0"/>
                <a:ea typeface="Arial Unicode MS" pitchFamily="34" charset="-120"/>
                <a:cs typeface="Times New Roman" pitchFamily="18" charset="0"/>
              </a:rPr>
              <a:t>Minimization of Context free grammar </a:t>
            </a:r>
          </a:p>
        </p:txBody>
      </p:sp>
      <p:sp>
        <p:nvSpPr>
          <p:cNvPr id="3" name="Content Placeholder 2"/>
          <p:cNvSpPr>
            <a:spLocks noGrp="1"/>
          </p:cNvSpPr>
          <p:nvPr>
            <p:ph idx="1"/>
          </p:nvPr>
        </p:nvSpPr>
        <p:spPr>
          <a:xfrm>
            <a:off x="457200" y="1066800"/>
            <a:ext cx="8229600" cy="5059363"/>
          </a:xfrm>
        </p:spPr>
        <p:txBody>
          <a:bodyPr/>
          <a:lstStyle/>
          <a:p>
            <a:pPr>
              <a:buNone/>
            </a:pPr>
            <a:r>
              <a:rPr lang="en-US" dirty="0" smtClean="0"/>
              <a:t>	</a:t>
            </a:r>
            <a:r>
              <a:rPr lang="en-US" sz="2400" dirty="0" smtClean="0">
                <a:latin typeface="Times New Roman" pitchFamily="18" charset="0"/>
                <a:cs typeface="Times New Roman" pitchFamily="18" charset="0"/>
              </a:rPr>
              <a:t>In a CFG, it is not necessary to use all the symbols in V or all the productions in P for driving sentences. We get the simplified grammar by the following methods:</a:t>
            </a:r>
          </a:p>
          <a:p>
            <a:pPr>
              <a:buNone/>
            </a:pP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Eliminating useless symbols</a:t>
            </a:r>
          </a:p>
          <a:p>
            <a:r>
              <a:rPr lang="en-US" sz="2400" dirty="0" smtClean="0">
                <a:latin typeface="Times New Roman" pitchFamily="18" charset="0"/>
                <a:cs typeface="Times New Roman" pitchFamily="18" charset="0"/>
              </a:rPr>
              <a:t>Elimination of unit productions</a:t>
            </a:r>
          </a:p>
          <a:p>
            <a:r>
              <a:rPr lang="en-US" sz="2400" dirty="0" smtClean="0">
                <a:latin typeface="Times New Roman" pitchFamily="18" charset="0"/>
                <a:cs typeface="Times New Roman" pitchFamily="18" charset="0"/>
              </a:rPr>
              <a:t>Removal of ∈ productions or </a:t>
            </a:r>
            <a:r>
              <a:rPr lang="en-US" sz="2400" dirty="0" err="1" smtClean="0">
                <a:latin typeface="Times New Roman" pitchFamily="18" charset="0"/>
                <a:cs typeface="Times New Roman" pitchFamily="18" charset="0"/>
              </a:rPr>
              <a:t>nullable</a:t>
            </a:r>
            <a:r>
              <a:rPr lang="en-US" sz="2400" dirty="0" smtClean="0">
                <a:latin typeface="Times New Roman" pitchFamily="18" charset="0"/>
                <a:cs typeface="Times New Roman" pitchFamily="18" charset="0"/>
              </a:rPr>
              <a:t> non-terminals.</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algn="l"/>
            <a:r>
              <a:rPr lang="en-US" sz="4000" dirty="0" smtClean="0">
                <a:latin typeface="Times New Roman" pitchFamily="18" charset="0"/>
                <a:cs typeface="Times New Roman" pitchFamily="18" charset="0"/>
              </a:rPr>
              <a:t>Eliminating useless symbols</a:t>
            </a:r>
          </a:p>
        </p:txBody>
      </p:sp>
      <p:sp>
        <p:nvSpPr>
          <p:cNvPr id="3" name="Content Placeholder 2"/>
          <p:cNvSpPr>
            <a:spLocks noGrp="1"/>
          </p:cNvSpPr>
          <p:nvPr>
            <p:ph idx="1"/>
          </p:nvPr>
        </p:nvSpPr>
        <p:spPr>
          <a:xfrm>
            <a:off x="457200" y="838200"/>
            <a:ext cx="8305800" cy="5486400"/>
          </a:xfrm>
        </p:spPr>
        <p:txBody>
          <a:bodyPr>
            <a:normAutofit fontScale="77500" lnSpcReduction="20000"/>
          </a:bodyPr>
          <a:lstStyle/>
          <a:p>
            <a:pPr>
              <a:buNone/>
            </a:pPr>
            <a:endParaRPr lang="en-US" sz="2400" dirty="0" smtClean="0">
              <a:latin typeface="Times New Roman" pitchFamily="18" charset="0"/>
              <a:cs typeface="Times New Roman" pitchFamily="18" charset="0"/>
            </a:endParaRPr>
          </a:p>
          <a:p>
            <a:pPr>
              <a:buFont typeface="Wingdings" pitchFamily="2" charset="2"/>
              <a:buChar char="Ø"/>
            </a:pPr>
            <a:r>
              <a:rPr lang="en-US" sz="2800" dirty="0" smtClean="0"/>
              <a:t>A Variable which is not involved in derivation of any string</a:t>
            </a:r>
          </a:p>
          <a:p>
            <a:pPr>
              <a:buFont typeface="Wingdings" pitchFamily="2" charset="2"/>
              <a:buChar char="Ø"/>
            </a:pPr>
            <a:r>
              <a:rPr lang="en-US" sz="2800" dirty="0" smtClean="0"/>
              <a:t>A Variable that can’t be reached from start symbol of grammar</a:t>
            </a:r>
          </a:p>
          <a:p>
            <a:pPr>
              <a:buFont typeface="Wingdings" pitchFamily="2" charset="2"/>
              <a:buChar char="Ø"/>
            </a:pPr>
            <a:r>
              <a:rPr lang="en-US" sz="2800" dirty="0" smtClean="0"/>
              <a:t>If a Variable is reachable from start symbol but does not derive any terminal</a:t>
            </a:r>
          </a:p>
          <a:p>
            <a:pPr>
              <a:buNone/>
            </a:pPr>
            <a:r>
              <a:rPr lang="en-US" sz="2800" dirty="0" smtClean="0">
                <a:latin typeface="Times New Roman" pitchFamily="18" charset="0"/>
                <a:cs typeface="Times New Roman" pitchFamily="18" charset="0"/>
              </a:rPr>
              <a:t>Remove useless symbols to reduce CFG</a:t>
            </a:r>
          </a:p>
          <a:p>
            <a:pPr>
              <a:buNone/>
            </a:pPr>
            <a:r>
              <a:rPr lang="en-US" sz="2800" dirty="0" smtClean="0">
                <a:latin typeface="Times New Roman" pitchFamily="18" charset="0"/>
                <a:cs typeface="Times New Roman" pitchFamily="18" charset="0"/>
              </a:rPr>
              <a:t>Eliminate the useless symbols for the given CFG,</a:t>
            </a:r>
          </a:p>
          <a:p>
            <a:pPr>
              <a:buNone/>
            </a:pPr>
            <a:r>
              <a:rPr lang="en-US" sz="2800" dirty="0" smtClean="0">
                <a:latin typeface="Times New Roman" pitchFamily="18" charset="0"/>
                <a:cs typeface="Times New Roman" pitchFamily="18" charset="0"/>
              </a:rPr>
              <a:t>			S → </a:t>
            </a:r>
            <a:r>
              <a:rPr lang="en-US" sz="2800" dirty="0" err="1" smtClean="0">
                <a:latin typeface="Times New Roman" pitchFamily="18" charset="0"/>
                <a:cs typeface="Times New Roman" pitchFamily="18" charset="0"/>
              </a:rPr>
              <a:t>aB</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bX</a:t>
            </a:r>
            <a:endParaRPr lang="en-US" sz="2800" dirty="0" smtClean="0">
              <a:latin typeface="Times New Roman" pitchFamily="18" charset="0"/>
              <a:cs typeface="Times New Roman" pitchFamily="18" charset="0"/>
            </a:endParaRPr>
          </a:p>
          <a:p>
            <a:pPr>
              <a:buNone/>
            </a:pPr>
            <a:r>
              <a:rPr lang="en-US" sz="2800" dirty="0" smtClean="0">
                <a:latin typeface="Times New Roman" pitchFamily="18" charset="0"/>
                <a:cs typeface="Times New Roman" pitchFamily="18" charset="0"/>
              </a:rPr>
              <a:t>			A → </a:t>
            </a:r>
            <a:r>
              <a:rPr lang="en-US" sz="2800" dirty="0" err="1" smtClean="0">
                <a:latin typeface="Times New Roman" pitchFamily="18" charset="0"/>
                <a:cs typeface="Times New Roman" pitchFamily="18" charset="0"/>
              </a:rPr>
              <a:t>BAd</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bSX</a:t>
            </a:r>
            <a:r>
              <a:rPr lang="en-US" sz="2800" dirty="0" smtClean="0">
                <a:latin typeface="Times New Roman" pitchFamily="18" charset="0"/>
                <a:cs typeface="Times New Roman" pitchFamily="18" charset="0"/>
              </a:rPr>
              <a:t>/ a</a:t>
            </a:r>
          </a:p>
          <a:p>
            <a:pPr>
              <a:buNone/>
            </a:pPr>
            <a:r>
              <a:rPr lang="en-US" sz="2800" dirty="0" smtClean="0">
                <a:latin typeface="Times New Roman" pitchFamily="18" charset="0"/>
                <a:cs typeface="Times New Roman" pitchFamily="18" charset="0"/>
              </a:rPr>
              <a:t>			B → </a:t>
            </a:r>
            <a:r>
              <a:rPr lang="en-US" sz="2800" dirty="0" err="1" smtClean="0">
                <a:latin typeface="Times New Roman" pitchFamily="18" charset="0"/>
                <a:cs typeface="Times New Roman" pitchFamily="18" charset="0"/>
              </a:rPr>
              <a:t>asB</a:t>
            </a:r>
            <a:r>
              <a:rPr lang="en-US" sz="2800" dirty="0" smtClean="0">
                <a:latin typeface="Times New Roman" pitchFamily="18" charset="0"/>
                <a:cs typeface="Times New Roman" pitchFamily="18" charset="0"/>
              </a:rPr>
              <a:t>/ </a:t>
            </a:r>
            <a:r>
              <a:rPr lang="en-US" sz="2800" dirty="0" err="1" smtClean="0">
                <a:latin typeface="Times New Roman" pitchFamily="18" charset="0"/>
                <a:cs typeface="Times New Roman" pitchFamily="18" charset="0"/>
              </a:rPr>
              <a:t>bBX</a:t>
            </a:r>
            <a:endParaRPr lang="en-US" sz="2800" dirty="0" smtClean="0">
              <a:latin typeface="Times New Roman" pitchFamily="18" charset="0"/>
              <a:cs typeface="Times New Roman" pitchFamily="18" charset="0"/>
            </a:endParaRPr>
          </a:p>
          <a:p>
            <a:pPr>
              <a:buNone/>
            </a:pPr>
            <a:r>
              <a:rPr lang="en-US" sz="2800" dirty="0" smtClean="0">
                <a:latin typeface="Times New Roman" pitchFamily="18" charset="0"/>
                <a:cs typeface="Times New Roman" pitchFamily="18" charset="0"/>
              </a:rPr>
              <a:t>			X → SBD/ </a:t>
            </a:r>
            <a:r>
              <a:rPr lang="en-US" sz="2800" dirty="0" err="1" smtClean="0">
                <a:latin typeface="Times New Roman" pitchFamily="18" charset="0"/>
                <a:cs typeface="Times New Roman" pitchFamily="18" charset="0"/>
              </a:rPr>
              <a:t>aBX</a:t>
            </a:r>
            <a:r>
              <a:rPr lang="en-US" sz="2800" dirty="0" smtClean="0">
                <a:latin typeface="Times New Roman" pitchFamily="18" charset="0"/>
                <a:cs typeface="Times New Roman" pitchFamily="18" charset="0"/>
              </a:rPr>
              <a:t>/ ad</a:t>
            </a:r>
          </a:p>
          <a:p>
            <a:pPr>
              <a:buNone/>
            </a:pPr>
            <a:r>
              <a:rPr lang="en-US" sz="2800" u="sng" dirty="0" smtClean="0">
                <a:latin typeface="Times New Roman" pitchFamily="18" charset="0"/>
                <a:cs typeface="Times New Roman" pitchFamily="18" charset="0"/>
              </a:rPr>
              <a:t>Solution:</a:t>
            </a:r>
            <a:endParaRPr lang="en-US" sz="2800" dirty="0" smtClean="0">
              <a:latin typeface="Times New Roman" pitchFamily="18" charset="0"/>
              <a:cs typeface="Times New Roman" pitchFamily="18" charset="0"/>
            </a:endParaRPr>
          </a:p>
          <a:p>
            <a:pPr>
              <a:buNone/>
            </a:pPr>
            <a:r>
              <a:rPr lang="en-US" sz="2800" dirty="0" smtClean="0">
                <a:latin typeface="Times New Roman" pitchFamily="18" charset="0"/>
                <a:cs typeface="Times New Roman" pitchFamily="18" charset="0"/>
              </a:rPr>
              <a:t>	Here, A and X are useful as they derive a and ad as A → a and X → </a:t>
            </a:r>
            <a:r>
              <a:rPr lang="en-US" sz="2800" dirty="0" err="1" smtClean="0">
                <a:latin typeface="Times New Roman" pitchFamily="18" charset="0"/>
                <a:cs typeface="Times New Roman" pitchFamily="18" charset="0"/>
              </a:rPr>
              <a:t>ad.</a:t>
            </a:r>
            <a:r>
              <a:rPr lang="en-US" sz="2800" dirty="0" smtClean="0">
                <a:latin typeface="Times New Roman" pitchFamily="18" charset="0"/>
                <a:cs typeface="Times New Roman" pitchFamily="18" charset="0"/>
              </a:rPr>
              <a:t> Also, S → </a:t>
            </a:r>
            <a:r>
              <a:rPr lang="en-US" sz="2800" dirty="0" err="1" smtClean="0">
                <a:latin typeface="Times New Roman" pitchFamily="18" charset="0"/>
                <a:cs typeface="Times New Roman" pitchFamily="18" charset="0"/>
              </a:rPr>
              <a:t>bX</a:t>
            </a:r>
            <a:r>
              <a:rPr lang="en-US" sz="2800" dirty="0" smtClean="0">
                <a:latin typeface="Times New Roman" pitchFamily="18" charset="0"/>
                <a:cs typeface="Times New Roman" pitchFamily="18" charset="0"/>
              </a:rPr>
              <a:t> and S ⇒ bad, so S is also useful and generating. But B doesn’t derive anything, so it is a useless symbol. So, we eliminate those productions that consist of B.</a:t>
            </a:r>
          </a:p>
          <a:p>
            <a:pPr>
              <a:buNone/>
            </a:pPr>
            <a:r>
              <a:rPr lang="en-US" sz="2600" dirty="0" smtClean="0">
                <a:latin typeface="Times New Roman" pitchFamily="18" charset="0"/>
                <a:cs typeface="Times New Roman" pitchFamily="18" charset="0"/>
              </a:rPr>
              <a:t>	</a:t>
            </a:r>
            <a:endParaRPr lang="en-US" sz="4000" dirty="0">
              <a:latin typeface="Times New Roman" pitchFamily="18" charset="0"/>
              <a:cs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pPr algn="l">
              <a:lnSpc>
                <a:spcPct val="150000"/>
              </a:lnSpc>
            </a:pPr>
            <a:r>
              <a:rPr lang="en-US" sz="4000" dirty="0" smtClean="0">
                <a:latin typeface="Times New Roman" pitchFamily="18" charset="0"/>
                <a:cs typeface="Times New Roman" pitchFamily="18" charset="0"/>
              </a:rPr>
              <a:t>Eliminating useless symbols</a:t>
            </a:r>
            <a:endParaRPr lang="en-US" altLang="zh-TW" sz="4000" dirty="0" smtClean="0">
              <a:latin typeface="Times New Roman" pitchFamily="18" charset="0"/>
              <a:ea typeface="Arial Unicode MS" pitchFamily="34" charset="-120"/>
              <a:cs typeface="Times New Roman" pitchFamily="18" charset="0"/>
            </a:endParaRPr>
          </a:p>
        </p:txBody>
      </p:sp>
      <p:sp>
        <p:nvSpPr>
          <p:cNvPr id="3" name="Content Placeholder 2"/>
          <p:cNvSpPr>
            <a:spLocks noGrp="1"/>
          </p:cNvSpPr>
          <p:nvPr>
            <p:ph idx="1"/>
          </p:nvPr>
        </p:nvSpPr>
        <p:spPr>
          <a:xfrm>
            <a:off x="457200" y="1066800"/>
            <a:ext cx="8229600" cy="5059363"/>
          </a:xfrm>
        </p:spPr>
        <p:txBody>
          <a:bodyPr>
            <a:normAutofit/>
          </a:bodyPr>
          <a:lstStyle/>
          <a:p>
            <a:pPr>
              <a:buNone/>
            </a:pPr>
            <a:r>
              <a:rPr lang="en-US" sz="2400" dirty="0" smtClean="0">
                <a:latin typeface="Times New Roman" pitchFamily="18" charset="0"/>
                <a:cs typeface="Times New Roman" pitchFamily="18" charset="0"/>
              </a:rPr>
              <a:t>	Then, the grammar becomes,		</a:t>
            </a:r>
          </a:p>
          <a:p>
            <a:pPr>
              <a:buNone/>
            </a:pPr>
            <a:r>
              <a:rPr lang="en-US" sz="2400" dirty="0" smtClean="0">
                <a:latin typeface="Times New Roman" pitchFamily="18" charset="0"/>
                <a:cs typeface="Times New Roman" pitchFamily="18" charset="0"/>
              </a:rPr>
              <a:t>			S → </a:t>
            </a:r>
            <a:r>
              <a:rPr lang="en-US" sz="2400" dirty="0" err="1" smtClean="0">
                <a:latin typeface="Times New Roman" pitchFamily="18" charset="0"/>
                <a:cs typeface="Times New Roman" pitchFamily="18" charset="0"/>
              </a:rPr>
              <a:t>bX</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A → </a:t>
            </a:r>
            <a:r>
              <a:rPr lang="en-US" sz="2400" dirty="0" err="1" smtClean="0">
                <a:latin typeface="Times New Roman" pitchFamily="18" charset="0"/>
                <a:cs typeface="Times New Roman" pitchFamily="18" charset="0"/>
              </a:rPr>
              <a:t>bSX</a:t>
            </a:r>
            <a:r>
              <a:rPr lang="en-US" sz="2400" dirty="0" smtClean="0">
                <a:latin typeface="Times New Roman" pitchFamily="18" charset="0"/>
                <a:cs typeface="Times New Roman" pitchFamily="18" charset="0"/>
              </a:rPr>
              <a:t>/ a</a:t>
            </a:r>
          </a:p>
          <a:p>
            <a:pPr>
              <a:buNone/>
            </a:pPr>
            <a:r>
              <a:rPr lang="en-US" sz="2400" dirty="0" smtClean="0">
                <a:latin typeface="Times New Roman" pitchFamily="18" charset="0"/>
                <a:cs typeface="Times New Roman" pitchFamily="18" charset="0"/>
              </a:rPr>
              <a:t>			X → ad</a:t>
            </a:r>
          </a:p>
          <a:p>
            <a:pPr>
              <a:buNone/>
            </a:pPr>
            <a:r>
              <a:rPr lang="en-US" sz="2400" dirty="0" smtClean="0">
                <a:latin typeface="Times New Roman" pitchFamily="18" charset="0"/>
                <a:cs typeface="Times New Roman" pitchFamily="18" charset="0"/>
              </a:rPr>
              <a:t>	Again, we see that A cannot be reached from the starting non-terminal S, so we eliminate the productions consisting of A. Then, we get,</a:t>
            </a:r>
          </a:p>
          <a:p>
            <a:pPr>
              <a:buNone/>
            </a:pPr>
            <a:r>
              <a:rPr lang="en-US" sz="2400" dirty="0" smtClean="0">
                <a:latin typeface="Times New Roman" pitchFamily="18" charset="0"/>
                <a:cs typeface="Times New Roman" pitchFamily="18" charset="0"/>
              </a:rPr>
              <a:t>			S → </a:t>
            </a:r>
            <a:r>
              <a:rPr lang="en-US" sz="2400" dirty="0" err="1" smtClean="0">
                <a:latin typeface="Times New Roman" pitchFamily="18" charset="0"/>
                <a:cs typeface="Times New Roman" pitchFamily="18" charset="0"/>
              </a:rPr>
              <a:t>bX</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X → ad</a:t>
            </a:r>
          </a:p>
          <a:p>
            <a:pPr>
              <a:buNone/>
            </a:pPr>
            <a:r>
              <a:rPr lang="en-US" sz="2400" dirty="0" smtClean="0">
                <a:latin typeface="Times New Roman" pitchFamily="18" charset="0"/>
                <a:cs typeface="Times New Roman" pitchFamily="18" charset="0"/>
              </a:rPr>
              <a:t>	This is the required grammar.</a:t>
            </a:r>
          </a:p>
          <a:p>
            <a:pPr>
              <a:buNone/>
            </a:pP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fontScale="90000"/>
          </a:bodyPr>
          <a:lstStyle/>
          <a:p>
            <a:r>
              <a:rPr lang="en-US" dirty="0" smtClean="0">
                <a:latin typeface="Times New Roman" pitchFamily="18" charset="0"/>
                <a:cs typeface="Times New Roman" pitchFamily="18" charset="0"/>
              </a:rPr>
              <a:t>Elimination of unit productions</a:t>
            </a:r>
            <a:endParaRPr lang="en-US" dirty="0"/>
          </a:p>
        </p:txBody>
      </p:sp>
      <p:sp>
        <p:nvSpPr>
          <p:cNvPr id="3" name="Content Placeholder 2"/>
          <p:cNvSpPr>
            <a:spLocks noGrp="1"/>
          </p:cNvSpPr>
          <p:nvPr>
            <p:ph idx="1"/>
          </p:nvPr>
        </p:nvSpPr>
        <p:spPr>
          <a:xfrm>
            <a:off x="457200" y="1066800"/>
            <a:ext cx="8229600" cy="5211763"/>
          </a:xfrm>
        </p:spPr>
        <p:txBody>
          <a:bodyPr>
            <a:normAutofit fontScale="92500" lnSpcReduction="20000"/>
          </a:bodyPr>
          <a:lstStyle/>
          <a:p>
            <a:r>
              <a:rPr lang="en-US" sz="2400" dirty="0" smtClean="0">
                <a:latin typeface="Times New Roman" pitchFamily="18" charset="0"/>
                <a:cs typeface="Times New Roman" pitchFamily="18" charset="0"/>
              </a:rPr>
              <a:t>If any production is in the form A→B, then it is called unit production.</a:t>
            </a:r>
          </a:p>
          <a:p>
            <a:r>
              <a:rPr lang="en-US" sz="2400" dirty="0" smtClean="0">
                <a:latin typeface="Times New Roman" pitchFamily="18" charset="0"/>
                <a:cs typeface="Times New Roman" pitchFamily="18" charset="0"/>
              </a:rPr>
              <a:t>To eliminate unit productions, use following rule</a:t>
            </a:r>
          </a:p>
          <a:p>
            <a:r>
              <a:rPr lang="en-US" sz="2400" dirty="0" smtClean="0">
                <a:latin typeface="Times New Roman" pitchFamily="18" charset="0"/>
                <a:cs typeface="Times New Roman" pitchFamily="18" charset="0"/>
              </a:rPr>
              <a:t>If a production is in the form A→B and B→ x</a:t>
            </a:r>
            <a:r>
              <a:rPr lang="en-US" sz="1100" dirty="0" smtClean="0">
                <a:latin typeface="Times New Roman" pitchFamily="18" charset="0"/>
                <a:cs typeface="Times New Roman" pitchFamily="18" charset="0"/>
              </a:rPr>
              <a:t>1</a:t>
            </a:r>
            <a:r>
              <a:rPr lang="en-US" sz="2400" dirty="0" smtClean="0">
                <a:latin typeface="Times New Roman" pitchFamily="18" charset="0"/>
                <a:cs typeface="Times New Roman" pitchFamily="18" charset="0"/>
              </a:rPr>
              <a:t>,x</a:t>
            </a:r>
            <a:r>
              <a:rPr lang="en-US" sz="12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x</a:t>
            </a:r>
            <a:r>
              <a:rPr lang="en-US" sz="1500" dirty="0" err="1"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 then write the productions as A→ x</a:t>
            </a:r>
            <a:r>
              <a:rPr lang="en-US" sz="1100" dirty="0" smtClean="0">
                <a:latin typeface="Times New Roman" pitchFamily="18" charset="0"/>
                <a:cs typeface="Times New Roman" pitchFamily="18" charset="0"/>
              </a:rPr>
              <a:t>1</a:t>
            </a:r>
            <a:r>
              <a:rPr lang="en-US" sz="2400" dirty="0" smtClean="0">
                <a:latin typeface="Times New Roman" pitchFamily="18" charset="0"/>
                <a:cs typeface="Times New Roman" pitchFamily="18" charset="0"/>
              </a:rPr>
              <a:t>,x</a:t>
            </a:r>
            <a:r>
              <a:rPr lang="en-US" sz="12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a:t>
            </a:r>
            <a:r>
              <a:rPr lang="en-US" sz="2400" dirty="0" err="1" smtClean="0">
                <a:latin typeface="Times New Roman" pitchFamily="18" charset="0"/>
                <a:cs typeface="Times New Roman" pitchFamily="18" charset="0"/>
              </a:rPr>
              <a:t>x</a:t>
            </a:r>
            <a:r>
              <a:rPr lang="en-US" sz="1500" dirty="0" err="1" smtClean="0">
                <a:latin typeface="Times New Roman" pitchFamily="18" charset="0"/>
                <a:cs typeface="Times New Roman" pitchFamily="18" charset="0"/>
              </a:rPr>
              <a:t>n</a:t>
            </a:r>
            <a:r>
              <a:rPr lang="en-US" sz="2400" dirty="0" smtClean="0">
                <a:latin typeface="Times New Roman" pitchFamily="18" charset="0"/>
                <a:cs typeface="Times New Roman" pitchFamily="18" charset="0"/>
              </a:rPr>
              <a:t> </a:t>
            </a:r>
          </a:p>
          <a:p>
            <a:pPr>
              <a:buNone/>
            </a:pPr>
            <a:r>
              <a:rPr lang="en-US" sz="2400" dirty="0" smtClean="0">
                <a:latin typeface="Times New Roman" pitchFamily="18" charset="0"/>
                <a:cs typeface="Times New Roman" pitchFamily="18" charset="0"/>
              </a:rPr>
              <a:t>Example:</a:t>
            </a:r>
          </a:p>
          <a:p>
            <a:pPr>
              <a:buNone/>
            </a:pPr>
            <a:r>
              <a:rPr lang="en-US" sz="2400" dirty="0" smtClean="0">
                <a:latin typeface="Times New Roman" pitchFamily="18" charset="0"/>
                <a:cs typeface="Times New Roman" pitchFamily="18" charset="0"/>
              </a:rPr>
              <a:t> Eliminate the unit productions for the given CFG,</a:t>
            </a:r>
          </a:p>
          <a:p>
            <a:pPr>
              <a:buNone/>
            </a:pPr>
            <a:r>
              <a:rPr lang="en-US" sz="2400" dirty="0" smtClean="0">
                <a:latin typeface="Times New Roman" pitchFamily="18" charset="0"/>
                <a:cs typeface="Times New Roman" pitchFamily="18" charset="0"/>
              </a:rPr>
              <a:t>			S → A/ bb</a:t>
            </a:r>
          </a:p>
          <a:p>
            <a:pPr>
              <a:buNone/>
            </a:pPr>
            <a:r>
              <a:rPr lang="en-US" sz="2400" dirty="0" smtClean="0">
                <a:latin typeface="Times New Roman" pitchFamily="18" charset="0"/>
                <a:cs typeface="Times New Roman" pitchFamily="18" charset="0"/>
              </a:rPr>
              <a:t>			A → B/ b</a:t>
            </a:r>
          </a:p>
          <a:p>
            <a:pPr>
              <a:buNone/>
            </a:pPr>
            <a:r>
              <a:rPr lang="en-US" sz="2400" dirty="0" smtClean="0">
                <a:latin typeface="Times New Roman" pitchFamily="18" charset="0"/>
                <a:cs typeface="Times New Roman" pitchFamily="18" charset="0"/>
              </a:rPr>
              <a:t>			B → S/ a</a:t>
            </a:r>
          </a:p>
          <a:p>
            <a:pPr>
              <a:buNone/>
            </a:pPr>
            <a:endParaRPr lang="en-US" sz="2400" dirty="0" smtClean="0">
              <a:latin typeface="Times New Roman" pitchFamily="18" charset="0"/>
              <a:cs typeface="Times New Roman" pitchFamily="18" charset="0"/>
            </a:endParaRPr>
          </a:p>
          <a:p>
            <a:pPr>
              <a:buNone/>
            </a:pPr>
            <a:r>
              <a:rPr lang="en-US" sz="2400" u="sng" dirty="0" smtClean="0">
                <a:latin typeface="Times New Roman" pitchFamily="18" charset="0"/>
                <a:cs typeface="Times New Roman" pitchFamily="18" charset="0"/>
              </a:rPr>
              <a:t>Solution:</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We have,     S → A</a:t>
            </a:r>
          </a:p>
          <a:p>
            <a:pPr>
              <a:buNone/>
            </a:pPr>
            <a:r>
              <a:rPr lang="en-US" sz="2400" dirty="0" smtClean="0">
                <a:latin typeface="Times New Roman" pitchFamily="18" charset="0"/>
                <a:cs typeface="Times New Roman" pitchFamily="18" charset="0"/>
              </a:rPr>
              <a:t>			A → B</a:t>
            </a:r>
          </a:p>
          <a:p>
            <a:pPr>
              <a:buNone/>
            </a:pPr>
            <a:r>
              <a:rPr lang="en-US" sz="2400" dirty="0" smtClean="0">
                <a:latin typeface="Times New Roman" pitchFamily="18" charset="0"/>
                <a:cs typeface="Times New Roman" pitchFamily="18" charset="0"/>
              </a:rPr>
              <a:t>			B → S are the three unit productions.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381000"/>
          </a:xfrm>
        </p:spPr>
        <p:txBody>
          <a:bodyPr>
            <a:normAutofit fontScale="90000"/>
          </a:bodyPr>
          <a:lstStyle/>
          <a:p>
            <a:pPr algn="l"/>
            <a:r>
              <a:rPr lang="en-US" dirty="0" smtClean="0">
                <a:latin typeface="Times New Roman" pitchFamily="18" charset="0"/>
                <a:cs typeface="Times New Roman" pitchFamily="18" charset="0"/>
              </a:rPr>
              <a:t>Elimination of unit productions</a:t>
            </a:r>
            <a:endParaRPr lang="en-US" dirty="0"/>
          </a:p>
        </p:txBody>
      </p:sp>
      <p:sp>
        <p:nvSpPr>
          <p:cNvPr id="3" name="Content Placeholder 2"/>
          <p:cNvSpPr>
            <a:spLocks noGrp="1"/>
          </p:cNvSpPr>
          <p:nvPr>
            <p:ph idx="1"/>
          </p:nvPr>
        </p:nvSpPr>
        <p:spPr>
          <a:xfrm>
            <a:off x="457200" y="1143000"/>
            <a:ext cx="8229600" cy="4983163"/>
          </a:xfrm>
        </p:spPr>
        <p:txBody>
          <a:bodyPr>
            <a:normAutofit/>
          </a:bodyPr>
          <a:lstStyle/>
          <a:p>
            <a:pPr>
              <a:buNone/>
            </a:pPr>
            <a:r>
              <a:rPr lang="en-US" sz="2600" dirty="0" smtClean="0">
                <a:latin typeface="Times New Roman" pitchFamily="18" charset="0"/>
                <a:cs typeface="Times New Roman" pitchFamily="18" charset="0"/>
              </a:rPr>
              <a:t>We can eliminate these unit productions as follows,</a:t>
            </a:r>
          </a:p>
          <a:p>
            <a:pPr>
              <a:buNone/>
            </a:pPr>
            <a:r>
              <a:rPr lang="en-US" sz="2600" dirty="0" smtClean="0">
                <a:latin typeface="Times New Roman" pitchFamily="18" charset="0"/>
                <a:cs typeface="Times New Roman" pitchFamily="18" charset="0"/>
              </a:rPr>
              <a:t>	S → A generates S → b</a:t>
            </a:r>
          </a:p>
          <a:p>
            <a:pPr>
              <a:buNone/>
            </a:pPr>
            <a:r>
              <a:rPr lang="en-US" sz="2600" dirty="0" smtClean="0">
                <a:latin typeface="Times New Roman" pitchFamily="18" charset="0"/>
                <a:cs typeface="Times New Roman" pitchFamily="18" charset="0"/>
              </a:rPr>
              <a:t>	S → A → B generates S → a</a:t>
            </a:r>
          </a:p>
          <a:p>
            <a:pPr>
              <a:buNone/>
            </a:pPr>
            <a:r>
              <a:rPr lang="en-US" sz="2600" dirty="0" smtClean="0">
                <a:latin typeface="Times New Roman" pitchFamily="18" charset="0"/>
                <a:cs typeface="Times New Roman" pitchFamily="18" charset="0"/>
              </a:rPr>
              <a:t>	A → B generates A → a</a:t>
            </a:r>
          </a:p>
          <a:p>
            <a:pPr>
              <a:buNone/>
            </a:pPr>
            <a:r>
              <a:rPr lang="en-US" sz="2600" dirty="0" smtClean="0">
                <a:latin typeface="Times New Roman" pitchFamily="18" charset="0"/>
                <a:cs typeface="Times New Roman" pitchFamily="18" charset="0"/>
              </a:rPr>
              <a:t>	A → B → S generates A → bb</a:t>
            </a:r>
          </a:p>
          <a:p>
            <a:pPr>
              <a:buNone/>
            </a:pPr>
            <a:r>
              <a:rPr lang="en-US" sz="2600" dirty="0" smtClean="0">
                <a:latin typeface="Times New Roman" pitchFamily="18" charset="0"/>
                <a:cs typeface="Times New Roman" pitchFamily="18" charset="0"/>
              </a:rPr>
              <a:t>	B → S generates B → bb</a:t>
            </a:r>
          </a:p>
          <a:p>
            <a:pPr>
              <a:buNone/>
            </a:pPr>
            <a:r>
              <a:rPr lang="en-US" sz="2600" dirty="0" smtClean="0">
                <a:latin typeface="Times New Roman" pitchFamily="18" charset="0"/>
                <a:cs typeface="Times New Roman" pitchFamily="18" charset="0"/>
              </a:rPr>
              <a:t>	B→ S → A generates B → b</a:t>
            </a:r>
          </a:p>
          <a:p>
            <a:pPr>
              <a:buNone/>
            </a:pPr>
            <a:r>
              <a:rPr lang="en-US" sz="2600" dirty="0" smtClean="0">
                <a:latin typeface="Times New Roman" pitchFamily="18" charset="0"/>
                <a:cs typeface="Times New Roman" pitchFamily="18" charset="0"/>
              </a:rPr>
              <a:t>Then, the reduced grammar is,</a:t>
            </a:r>
          </a:p>
          <a:p>
            <a:pPr>
              <a:buNone/>
            </a:pPr>
            <a:r>
              <a:rPr lang="en-US" sz="2600" dirty="0" smtClean="0">
                <a:latin typeface="Times New Roman" pitchFamily="18" charset="0"/>
                <a:cs typeface="Times New Roman" pitchFamily="18" charset="0"/>
              </a:rPr>
              <a:t>	S → bb/ b/ a</a:t>
            </a:r>
          </a:p>
          <a:p>
            <a:pPr>
              <a:buNone/>
            </a:pPr>
            <a:r>
              <a:rPr lang="en-US" sz="2600" dirty="0" smtClean="0">
                <a:latin typeface="Times New Roman" pitchFamily="18" charset="0"/>
                <a:cs typeface="Times New Roman" pitchFamily="18" charset="0"/>
              </a:rPr>
              <a:t>	This is the required grammar.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dirty="0" smtClean="0">
                <a:latin typeface="Times New Roman" pitchFamily="18" charset="0"/>
                <a:cs typeface="Times New Roman" pitchFamily="18" charset="0"/>
              </a:rPr>
              <a:t> Removal of ∈ productions</a:t>
            </a:r>
            <a:endParaRPr lang="en-US" sz="4000" dirty="0">
              <a:latin typeface="Times New Roman" pitchFamily="18" charset="0"/>
              <a:cs typeface="Times New Roman" pitchFamily="18" charset="0"/>
            </a:endParaRPr>
          </a:p>
        </p:txBody>
      </p:sp>
      <p:sp>
        <p:nvSpPr>
          <p:cNvPr id="3" name="Content Placeholder 2"/>
          <p:cNvSpPr>
            <a:spLocks noGrp="1"/>
          </p:cNvSpPr>
          <p:nvPr>
            <p:ph idx="1"/>
          </p:nvPr>
        </p:nvSpPr>
        <p:spPr>
          <a:xfrm>
            <a:off x="457200" y="990600"/>
            <a:ext cx="8229600" cy="5135563"/>
          </a:xfrm>
        </p:spPr>
        <p:txBody>
          <a:bodyPr>
            <a:normAutofit fontScale="92500" lnSpcReduction="10000"/>
          </a:bodyPr>
          <a:lstStyle/>
          <a:p>
            <a:pPr>
              <a:buNone/>
            </a:pPr>
            <a:r>
              <a:rPr lang="en-US" sz="2600" dirty="0" smtClean="0">
                <a:latin typeface="Times New Roman" pitchFamily="18" charset="0"/>
                <a:cs typeface="Times New Roman" pitchFamily="18" charset="0"/>
              </a:rPr>
              <a:t>Remove ∈ symbols to reduce CFG</a:t>
            </a:r>
          </a:p>
          <a:p>
            <a:pPr>
              <a:buNone/>
            </a:pPr>
            <a:r>
              <a:rPr lang="en-US" sz="2600" dirty="0" smtClean="0">
                <a:latin typeface="Times New Roman" pitchFamily="18" charset="0"/>
                <a:cs typeface="Times New Roman" pitchFamily="18" charset="0"/>
              </a:rPr>
              <a:t>Eliminate the ∈ productions for the given CFG,</a:t>
            </a:r>
          </a:p>
          <a:p>
            <a:pPr>
              <a:buNone/>
            </a:pPr>
            <a:r>
              <a:rPr lang="en-US" sz="2600" dirty="0" smtClean="0">
                <a:latin typeface="Times New Roman" pitchFamily="18" charset="0"/>
                <a:cs typeface="Times New Roman" pitchFamily="18" charset="0"/>
              </a:rPr>
              <a:t>			S → </a:t>
            </a:r>
            <a:r>
              <a:rPr lang="en-US" sz="2600" dirty="0" err="1" smtClean="0">
                <a:latin typeface="Times New Roman" pitchFamily="18" charset="0"/>
                <a:cs typeface="Times New Roman" pitchFamily="18" charset="0"/>
              </a:rPr>
              <a:t>aA</a:t>
            </a:r>
            <a:endParaRPr lang="en-US" sz="2600" dirty="0" smtClean="0">
              <a:latin typeface="Times New Roman" pitchFamily="18" charset="0"/>
              <a:cs typeface="Times New Roman" pitchFamily="18" charset="0"/>
            </a:endParaRPr>
          </a:p>
          <a:p>
            <a:pPr>
              <a:buNone/>
            </a:pPr>
            <a:r>
              <a:rPr lang="en-US" sz="2600" dirty="0" smtClean="0">
                <a:latin typeface="Times New Roman" pitchFamily="18" charset="0"/>
                <a:cs typeface="Times New Roman" pitchFamily="18" charset="0"/>
              </a:rPr>
              <a:t>			A → b/ ∈</a:t>
            </a:r>
          </a:p>
          <a:p>
            <a:pPr>
              <a:buNone/>
            </a:pPr>
            <a:r>
              <a:rPr lang="en-US" sz="2600" u="sng" dirty="0" smtClean="0">
                <a:latin typeface="Times New Roman" pitchFamily="18" charset="0"/>
                <a:cs typeface="Times New Roman" pitchFamily="18" charset="0"/>
              </a:rPr>
              <a:t>Solution:</a:t>
            </a:r>
            <a:endParaRPr lang="en-US" sz="2600" dirty="0" smtClean="0">
              <a:latin typeface="Times New Roman" pitchFamily="18" charset="0"/>
              <a:cs typeface="Times New Roman" pitchFamily="18" charset="0"/>
            </a:endParaRPr>
          </a:p>
          <a:p>
            <a:pPr>
              <a:buNone/>
            </a:pPr>
            <a:r>
              <a:rPr lang="en-US" sz="2600" dirty="0" smtClean="0">
                <a:latin typeface="Times New Roman" pitchFamily="18" charset="0"/>
                <a:cs typeface="Times New Roman" pitchFamily="18" charset="0"/>
              </a:rPr>
              <a:t>		We have, S → </a:t>
            </a:r>
            <a:r>
              <a:rPr lang="en-US" sz="2600" dirty="0" err="1" smtClean="0">
                <a:latin typeface="Times New Roman" pitchFamily="18" charset="0"/>
                <a:cs typeface="Times New Roman" pitchFamily="18" charset="0"/>
              </a:rPr>
              <a:t>aA</a:t>
            </a:r>
            <a:endParaRPr lang="en-US" sz="2600" dirty="0" smtClean="0">
              <a:latin typeface="Times New Roman" pitchFamily="18" charset="0"/>
              <a:cs typeface="Times New Roman" pitchFamily="18" charset="0"/>
            </a:endParaRPr>
          </a:p>
          <a:p>
            <a:pPr>
              <a:buNone/>
            </a:pPr>
            <a:r>
              <a:rPr lang="en-US" sz="2600" dirty="0" smtClean="0">
                <a:latin typeface="Times New Roman" pitchFamily="18" charset="0"/>
                <a:cs typeface="Times New Roman" pitchFamily="18" charset="0"/>
              </a:rPr>
              <a:t>			    A → b/ ∈</a:t>
            </a:r>
          </a:p>
          <a:p>
            <a:pPr>
              <a:buNone/>
            </a:pPr>
            <a:r>
              <a:rPr lang="en-US" sz="2600" dirty="0" smtClean="0">
                <a:latin typeface="Times New Roman" pitchFamily="18" charset="0"/>
                <a:cs typeface="Times New Roman" pitchFamily="18" charset="0"/>
              </a:rPr>
              <a:t>	Here, as A → ∈ is clearly an empty production, we eliminate the ∈ productions as follows,</a:t>
            </a:r>
          </a:p>
          <a:p>
            <a:pPr>
              <a:buNone/>
            </a:pPr>
            <a:r>
              <a:rPr lang="en-US" sz="2600" dirty="0" smtClean="0">
                <a:latin typeface="Times New Roman" pitchFamily="18" charset="0"/>
                <a:cs typeface="Times New Roman" pitchFamily="18" charset="0"/>
              </a:rPr>
              <a:t>			S → </a:t>
            </a:r>
            <a:r>
              <a:rPr lang="en-US" sz="2600" dirty="0" err="1" smtClean="0">
                <a:latin typeface="Times New Roman" pitchFamily="18" charset="0"/>
                <a:cs typeface="Times New Roman" pitchFamily="18" charset="0"/>
              </a:rPr>
              <a:t>aA</a:t>
            </a:r>
            <a:r>
              <a:rPr lang="en-US" sz="2600" dirty="0" smtClean="0">
                <a:latin typeface="Times New Roman" pitchFamily="18" charset="0"/>
                <a:cs typeface="Times New Roman" pitchFamily="18" charset="0"/>
              </a:rPr>
              <a:t>/ a</a:t>
            </a:r>
          </a:p>
          <a:p>
            <a:pPr>
              <a:buNone/>
            </a:pPr>
            <a:r>
              <a:rPr lang="en-US" sz="2600" dirty="0" smtClean="0">
                <a:latin typeface="Times New Roman" pitchFamily="18" charset="0"/>
                <a:cs typeface="Times New Roman" pitchFamily="18" charset="0"/>
              </a:rPr>
              <a:t>			A → b</a:t>
            </a:r>
          </a:p>
          <a:p>
            <a:pPr>
              <a:buNone/>
            </a:pPr>
            <a:r>
              <a:rPr lang="en-US" sz="2600" dirty="0" smtClean="0">
                <a:latin typeface="Times New Roman" pitchFamily="18" charset="0"/>
                <a:cs typeface="Times New Roman" pitchFamily="18" charset="0"/>
              </a:rPr>
              <a:t>	This is the required CFG.</a:t>
            </a:r>
          </a:p>
          <a:p>
            <a:pPr>
              <a:buNone/>
            </a:pP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Chomsky Normal Form(CNF)</a:t>
            </a:r>
            <a:endParaRPr lang="en-IN" dirty="0"/>
          </a:p>
        </p:txBody>
      </p:sp>
      <p:sp>
        <p:nvSpPr>
          <p:cNvPr id="3" name="Content Placeholder 2"/>
          <p:cNvSpPr>
            <a:spLocks noGrp="1"/>
          </p:cNvSpPr>
          <p:nvPr>
            <p:ph idx="1"/>
          </p:nvPr>
        </p:nvSpPr>
        <p:spPr/>
        <p:txBody>
          <a:bodyPr>
            <a:normAutofit fontScale="85000" lnSpcReduction="20000"/>
          </a:bodyPr>
          <a:lstStyle/>
          <a:p>
            <a:r>
              <a:rPr lang="en-IN" dirty="0" smtClean="0"/>
              <a:t>The given CFG is known as CNF if it is in CNF it follows:</a:t>
            </a:r>
          </a:p>
          <a:p>
            <a:pPr lvl="1"/>
            <a:r>
              <a:rPr lang="en-IN" dirty="0" smtClean="0"/>
              <a:t>If the start symbol can have </a:t>
            </a:r>
            <a:r>
              <a:rPr lang="en-US" dirty="0" smtClean="0">
                <a:latin typeface="Times New Roman" pitchFamily="18" charset="0"/>
                <a:cs typeface="Times New Roman" pitchFamily="18" charset="0"/>
              </a:rPr>
              <a:t>∈-production then that production is in the form of CNF.</a:t>
            </a:r>
          </a:p>
          <a:p>
            <a:pPr lvl="2"/>
            <a:r>
              <a:rPr lang="en-US" dirty="0" smtClean="0">
                <a:latin typeface="Times New Roman" pitchFamily="18" charset="0"/>
                <a:cs typeface="Times New Roman" pitchFamily="18" charset="0"/>
              </a:rPr>
              <a:t>Ex: S → ∈</a:t>
            </a:r>
          </a:p>
          <a:p>
            <a:pPr lvl="1"/>
            <a:r>
              <a:rPr lang="en-US" dirty="0" smtClean="0">
                <a:latin typeface="Times New Roman" pitchFamily="18" charset="0"/>
                <a:cs typeface="Times New Roman" pitchFamily="18" charset="0"/>
              </a:rPr>
              <a:t>If the non terminal generating single terminal them it is in form of CNF</a:t>
            </a:r>
          </a:p>
          <a:p>
            <a:pPr lvl="2"/>
            <a:r>
              <a:rPr lang="en-US" dirty="0" smtClean="0">
                <a:latin typeface="Times New Roman" pitchFamily="18" charset="0"/>
                <a:cs typeface="Times New Roman" pitchFamily="18" charset="0"/>
              </a:rPr>
              <a:t>Ex: A → a this is in form of CNF</a:t>
            </a:r>
          </a:p>
          <a:p>
            <a:pPr lvl="2"/>
            <a:r>
              <a:rPr lang="en-US" dirty="0" smtClean="0">
                <a:latin typeface="Times New Roman" pitchFamily="18" charset="0"/>
                <a:cs typeface="Times New Roman" pitchFamily="18" charset="0"/>
              </a:rPr>
              <a:t>A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 this is not in form of CNF</a:t>
            </a:r>
          </a:p>
          <a:p>
            <a:pPr lvl="1"/>
            <a:r>
              <a:rPr lang="en-US" dirty="0" smtClean="0">
                <a:latin typeface="Times New Roman" pitchFamily="18" charset="0"/>
                <a:cs typeface="Times New Roman" pitchFamily="18" charset="0"/>
              </a:rPr>
              <a:t>If the non terminal generating two non terminals them it is in form of CNF</a:t>
            </a:r>
          </a:p>
          <a:p>
            <a:pPr lvl="2"/>
            <a:r>
              <a:rPr lang="en-US" dirty="0" smtClean="0">
                <a:latin typeface="Times New Roman" pitchFamily="18" charset="0"/>
                <a:cs typeface="Times New Roman" pitchFamily="18" charset="0"/>
              </a:rPr>
              <a:t>Ex:- A → BC this is in form of CNF</a:t>
            </a:r>
          </a:p>
          <a:p>
            <a:pPr lvl="2"/>
            <a:r>
              <a:rPr lang="en-US" dirty="0" smtClean="0">
                <a:latin typeface="Times New Roman" pitchFamily="18" charset="0"/>
                <a:cs typeface="Times New Roman" pitchFamily="18" charset="0"/>
              </a:rPr>
              <a:t>A → BCD this is not in form of CNF</a:t>
            </a:r>
          </a:p>
          <a:p>
            <a:pPr lvl="2"/>
            <a:r>
              <a:rPr lang="en-US" dirty="0" smtClean="0">
                <a:latin typeface="Times New Roman" pitchFamily="18" charset="0"/>
                <a:cs typeface="Times New Roman" pitchFamily="18" charset="0"/>
              </a:rPr>
              <a:t>A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 this is not in form of CNF</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60438"/>
          </a:xfrm>
        </p:spPr>
        <p:txBody>
          <a:bodyPr>
            <a:normAutofit/>
          </a:bodyPr>
          <a:lstStyle/>
          <a:p>
            <a:r>
              <a:rPr lang="en-US" sz="3200" b="1" dirty="0" smtClean="0">
                <a:latin typeface="Times New Roman" pitchFamily="18" charset="0"/>
                <a:cs typeface="Times New Roman" pitchFamily="18" charset="0"/>
              </a:rPr>
              <a:t>Converting CFG into Chomsky Normal Form </a:t>
            </a:r>
            <a:endParaRPr lang="en-IN" sz="3200" dirty="0"/>
          </a:p>
        </p:txBody>
      </p:sp>
      <p:sp>
        <p:nvSpPr>
          <p:cNvPr id="3" name="Content Placeholder 2"/>
          <p:cNvSpPr>
            <a:spLocks noGrp="1"/>
          </p:cNvSpPr>
          <p:nvPr>
            <p:ph idx="1"/>
          </p:nvPr>
        </p:nvSpPr>
        <p:spPr/>
        <p:txBody>
          <a:bodyPr>
            <a:normAutofit fontScale="92500" lnSpcReduction="10000"/>
          </a:bodyPr>
          <a:lstStyle/>
          <a:p>
            <a:r>
              <a:rPr lang="en-US" sz="1800" b="1" dirty="0" smtClean="0">
                <a:latin typeface="Times New Roman" pitchFamily="18" charset="0"/>
                <a:cs typeface="Times New Roman" pitchFamily="18" charset="0"/>
              </a:rPr>
              <a:t>Step 1</a:t>
            </a:r>
            <a:r>
              <a:rPr lang="en-US" sz="1800" dirty="0" smtClean="0">
                <a:latin typeface="Times New Roman" pitchFamily="18" charset="0"/>
                <a:cs typeface="Times New Roman" pitchFamily="18" charset="0"/>
              </a:rPr>
              <a:t>: If the start symbol </a:t>
            </a:r>
            <a:r>
              <a:rPr lang="en-US" sz="1800" b="1" dirty="0" smtClean="0">
                <a:latin typeface="Times New Roman" pitchFamily="18" charset="0"/>
                <a:cs typeface="Times New Roman" pitchFamily="18" charset="0"/>
              </a:rPr>
              <a:t>S</a:t>
            </a:r>
            <a:r>
              <a:rPr lang="en-US" sz="1800" dirty="0" smtClean="0">
                <a:latin typeface="Times New Roman" pitchFamily="18" charset="0"/>
                <a:cs typeface="Times New Roman" pitchFamily="18" charset="0"/>
              </a:rPr>
              <a:t> it occurs on some right side, create a new start symbol </a:t>
            </a:r>
            <a:r>
              <a:rPr lang="en-US" sz="1800" b="1" dirty="0" smtClean="0">
                <a:latin typeface="Times New Roman" pitchFamily="18" charset="0"/>
                <a:cs typeface="Times New Roman" pitchFamily="18" charset="0"/>
              </a:rPr>
              <a:t>S1</a:t>
            </a:r>
            <a:r>
              <a:rPr lang="en-US" sz="1800" dirty="0" smtClean="0">
                <a:latin typeface="Times New Roman" pitchFamily="18" charset="0"/>
                <a:cs typeface="Times New Roman" pitchFamily="18" charset="0"/>
              </a:rPr>
              <a:t> and a new production </a:t>
            </a:r>
            <a:r>
              <a:rPr lang="en-US" sz="1800" b="1" dirty="0" smtClean="0">
                <a:latin typeface="Times New Roman" pitchFamily="18" charset="0"/>
                <a:cs typeface="Times New Roman" pitchFamily="18" charset="0"/>
              </a:rPr>
              <a:t>S1→ S</a:t>
            </a:r>
            <a:r>
              <a:rPr lang="en-US" sz="1800" dirty="0" smtClean="0">
                <a:latin typeface="Times New Roman" pitchFamily="18" charset="0"/>
                <a:cs typeface="Times New Roman" pitchFamily="18" charset="0"/>
              </a:rPr>
              <a:t>.</a:t>
            </a:r>
          </a:p>
          <a:p>
            <a:pPr lvl="2"/>
            <a:r>
              <a:rPr lang="en-US" sz="1800" dirty="0" smtClean="0">
                <a:latin typeface="Times New Roman" pitchFamily="18" charset="0"/>
                <a:cs typeface="Times New Roman" pitchFamily="18" charset="0"/>
              </a:rPr>
              <a:t>Ex:- S → ASB</a:t>
            </a:r>
          </a:p>
          <a:p>
            <a:pPr lvl="2"/>
            <a:r>
              <a:rPr lang="en-US" sz="1800" dirty="0" smtClean="0">
                <a:latin typeface="Times New Roman" pitchFamily="18" charset="0"/>
                <a:cs typeface="Times New Roman" pitchFamily="18" charset="0"/>
              </a:rPr>
              <a:t>S1 → S</a:t>
            </a:r>
          </a:p>
          <a:p>
            <a:pPr lvl="2"/>
            <a:r>
              <a:rPr lang="en-US" sz="1800" dirty="0" smtClean="0">
                <a:latin typeface="Times New Roman" pitchFamily="18" charset="0"/>
                <a:cs typeface="Times New Roman" pitchFamily="18" charset="0"/>
              </a:rPr>
              <a:t>S → ASB</a:t>
            </a:r>
          </a:p>
          <a:p>
            <a:r>
              <a:rPr lang="en-US" sz="1800" b="1" dirty="0" smtClean="0">
                <a:latin typeface="Times New Roman" pitchFamily="18" charset="0"/>
                <a:cs typeface="Times New Roman" pitchFamily="18" charset="0"/>
              </a:rPr>
              <a:t>Step 2:</a:t>
            </a:r>
            <a:r>
              <a:rPr lang="en-US" sz="1800" dirty="0" smtClean="0">
                <a:latin typeface="Times New Roman" pitchFamily="18" charset="0"/>
                <a:cs typeface="Times New Roman" pitchFamily="18" charset="0"/>
              </a:rPr>
              <a:t> Remove Null productions. (Using the Null production removal algorithm discussed earlier)</a:t>
            </a:r>
          </a:p>
          <a:p>
            <a:r>
              <a:rPr lang="en-US" sz="1800" b="1" dirty="0" smtClean="0">
                <a:latin typeface="Times New Roman" pitchFamily="18" charset="0"/>
                <a:cs typeface="Times New Roman" pitchFamily="18" charset="0"/>
              </a:rPr>
              <a:t>Step 3:</a:t>
            </a:r>
            <a:r>
              <a:rPr lang="en-US" sz="1800" dirty="0" smtClean="0">
                <a:latin typeface="Times New Roman" pitchFamily="18" charset="0"/>
                <a:cs typeface="Times New Roman" pitchFamily="18" charset="0"/>
              </a:rPr>
              <a:t>  If the right side of any production is in the form </a:t>
            </a:r>
          </a:p>
          <a:p>
            <a:pPr algn="just">
              <a:buNone/>
            </a:pPr>
            <a:r>
              <a:rPr lang="en-US" sz="1800" b="1" dirty="0" smtClean="0">
                <a:latin typeface="Times New Roman" pitchFamily="18" charset="0"/>
                <a:cs typeface="Times New Roman" pitchFamily="18" charset="0"/>
              </a:rPr>
              <a:t>    	A → </a:t>
            </a:r>
            <a:r>
              <a:rPr lang="en-US" sz="1800" b="1" dirty="0" err="1" smtClean="0">
                <a:latin typeface="Times New Roman" pitchFamily="18" charset="0"/>
                <a:cs typeface="Times New Roman" pitchFamily="18" charset="0"/>
              </a:rPr>
              <a:t>aB</a:t>
            </a:r>
            <a:r>
              <a:rPr lang="en-US" sz="1800" dirty="0" smtClean="0">
                <a:latin typeface="Times New Roman" pitchFamily="18" charset="0"/>
                <a:cs typeface="Times New Roman" pitchFamily="18" charset="0"/>
              </a:rPr>
              <a:t> where a is a terminal and </a:t>
            </a:r>
            <a:r>
              <a:rPr lang="en-US" sz="1800" b="1" dirty="0" smtClean="0">
                <a:latin typeface="Times New Roman" pitchFamily="18" charset="0"/>
                <a:cs typeface="Times New Roman" pitchFamily="18" charset="0"/>
              </a:rPr>
              <a:t>A, B</a:t>
            </a:r>
            <a:r>
              <a:rPr lang="en-US" sz="1800" dirty="0" smtClean="0">
                <a:latin typeface="Times New Roman" pitchFamily="18" charset="0"/>
                <a:cs typeface="Times New Roman" pitchFamily="18" charset="0"/>
              </a:rPr>
              <a:t> are non-terminal, then the production is replaced by </a:t>
            </a:r>
            <a:r>
              <a:rPr lang="en-US" sz="1800" b="1" dirty="0" smtClean="0">
                <a:latin typeface="Times New Roman" pitchFamily="18" charset="0"/>
                <a:cs typeface="Times New Roman" pitchFamily="18" charset="0"/>
              </a:rPr>
              <a:t>A → XB</a:t>
            </a:r>
            <a:r>
              <a:rPr lang="en-US" sz="1800" dirty="0" smtClean="0">
                <a:latin typeface="Times New Roman" pitchFamily="18" charset="0"/>
                <a:cs typeface="Times New Roman" pitchFamily="18" charset="0"/>
              </a:rPr>
              <a:t> and </a:t>
            </a:r>
            <a:r>
              <a:rPr lang="en-US" sz="1800" b="1" dirty="0" smtClean="0">
                <a:latin typeface="Times New Roman" pitchFamily="18" charset="0"/>
                <a:cs typeface="Times New Roman" pitchFamily="18" charset="0"/>
              </a:rPr>
              <a:t>X → a</a:t>
            </a:r>
            <a:r>
              <a:rPr lang="en-US" sz="1800" dirty="0" smtClean="0">
                <a:latin typeface="Times New Roman" pitchFamily="18" charset="0"/>
                <a:cs typeface="Times New Roman" pitchFamily="18" charset="0"/>
              </a:rPr>
              <a:t>. Repeat this step for every production which is in the form </a:t>
            </a:r>
            <a:r>
              <a:rPr lang="en-US" sz="1800" b="1" dirty="0" smtClean="0">
                <a:latin typeface="Times New Roman" pitchFamily="18" charset="0"/>
                <a:cs typeface="Times New Roman" pitchFamily="18" charset="0"/>
              </a:rPr>
              <a:t>A → </a:t>
            </a:r>
            <a:r>
              <a:rPr lang="en-US" sz="1800" b="1" dirty="0" err="1" smtClean="0">
                <a:latin typeface="Times New Roman" pitchFamily="18" charset="0"/>
                <a:cs typeface="Times New Roman" pitchFamily="18" charset="0"/>
              </a:rPr>
              <a:t>aB</a:t>
            </a:r>
            <a:r>
              <a:rPr lang="en-US" sz="1800" dirty="0" err="1" smtClean="0">
                <a:latin typeface="Times New Roman" pitchFamily="18" charset="0"/>
                <a:cs typeface="Times New Roman" pitchFamily="18" charset="0"/>
              </a:rPr>
              <a:t>.</a:t>
            </a:r>
            <a:endParaRPr lang="en-US" sz="1800" dirty="0" smtClean="0">
              <a:latin typeface="Times New Roman" pitchFamily="18" charset="0"/>
              <a:cs typeface="Times New Roman" pitchFamily="18" charset="0"/>
            </a:endParaRPr>
          </a:p>
          <a:p>
            <a:r>
              <a:rPr lang="en-US" sz="1800" b="1" dirty="0" smtClean="0">
                <a:latin typeface="Times New Roman" pitchFamily="18" charset="0"/>
                <a:cs typeface="Times New Roman" pitchFamily="18" charset="0"/>
              </a:rPr>
              <a:t>Step 4:</a:t>
            </a:r>
            <a:r>
              <a:rPr lang="en-US" sz="1800" dirty="0" smtClean="0">
                <a:latin typeface="Times New Roman" pitchFamily="18" charset="0"/>
                <a:cs typeface="Times New Roman" pitchFamily="18" charset="0"/>
              </a:rPr>
              <a:t> Replace each production </a:t>
            </a:r>
            <a:r>
              <a:rPr lang="en-US" sz="1800" b="1" dirty="0" smtClean="0">
                <a:latin typeface="Times New Roman" pitchFamily="18" charset="0"/>
                <a:cs typeface="Times New Roman" pitchFamily="18" charset="0"/>
              </a:rPr>
              <a:t>A → B</a:t>
            </a:r>
            <a:r>
              <a:rPr lang="en-US" sz="1800" b="1" baseline="-25000" dirty="0" smtClean="0">
                <a:latin typeface="Times New Roman" pitchFamily="18" charset="0"/>
                <a:cs typeface="Times New Roman" pitchFamily="18" charset="0"/>
              </a:rPr>
              <a:t>1</a:t>
            </a:r>
            <a:r>
              <a:rPr lang="en-US" sz="1800" b="1" dirty="0" smtClean="0">
                <a:latin typeface="Times New Roman" pitchFamily="18" charset="0"/>
                <a:cs typeface="Times New Roman" pitchFamily="18" charset="0"/>
              </a:rPr>
              <a:t>…</a:t>
            </a:r>
            <a:r>
              <a:rPr lang="en-US" sz="1800" b="1" dirty="0" err="1" smtClean="0">
                <a:latin typeface="Times New Roman" pitchFamily="18" charset="0"/>
                <a:cs typeface="Times New Roman" pitchFamily="18" charset="0"/>
              </a:rPr>
              <a:t>B</a:t>
            </a:r>
            <a:r>
              <a:rPr lang="en-US" sz="1800" b="1" baseline="-25000" dirty="0" err="1" smtClean="0">
                <a:latin typeface="Times New Roman" pitchFamily="18" charset="0"/>
                <a:cs typeface="Times New Roman" pitchFamily="18" charset="0"/>
              </a:rPr>
              <a:t>n</a:t>
            </a:r>
            <a:r>
              <a:rPr lang="en-US" sz="1800" dirty="0" smtClean="0">
                <a:latin typeface="Times New Roman" pitchFamily="18" charset="0"/>
                <a:cs typeface="Times New Roman" pitchFamily="18" charset="0"/>
              </a:rPr>
              <a:t> where </a:t>
            </a:r>
            <a:r>
              <a:rPr lang="en-US" sz="1800" b="1" dirty="0" smtClean="0">
                <a:latin typeface="Times New Roman" pitchFamily="18" charset="0"/>
                <a:cs typeface="Times New Roman" pitchFamily="18" charset="0"/>
              </a:rPr>
              <a:t>n &gt; 2  </a:t>
            </a:r>
          </a:p>
          <a:p>
            <a:r>
              <a:rPr lang="en-US" sz="1800" dirty="0" smtClean="0">
                <a:latin typeface="Times New Roman" pitchFamily="18" charset="0"/>
                <a:cs typeface="Times New Roman" pitchFamily="18" charset="0"/>
              </a:rPr>
              <a:t>Reduce the number of non terminals on right hand side by creating new production</a:t>
            </a:r>
          </a:p>
          <a:p>
            <a:pPr lvl="2"/>
            <a:r>
              <a:rPr lang="en-US" sz="1800" dirty="0" smtClean="0">
                <a:latin typeface="Times New Roman" pitchFamily="18" charset="0"/>
                <a:cs typeface="Times New Roman" pitchFamily="18" charset="0"/>
              </a:rPr>
              <a:t>Ex:- S → ABC</a:t>
            </a:r>
          </a:p>
          <a:p>
            <a:pPr lvl="2"/>
            <a:r>
              <a:rPr lang="en-US" sz="1800" dirty="0" smtClean="0">
                <a:latin typeface="Times New Roman" pitchFamily="18" charset="0"/>
                <a:cs typeface="Times New Roman" pitchFamily="18" charset="0"/>
              </a:rPr>
              <a:t>S → XC</a:t>
            </a:r>
          </a:p>
          <a:p>
            <a:pPr lvl="2"/>
            <a:r>
              <a:rPr lang="en-US" sz="1800" dirty="0" smtClean="0">
                <a:latin typeface="Times New Roman" pitchFamily="18" charset="0"/>
                <a:cs typeface="Times New Roman" pitchFamily="18" charset="0"/>
              </a:rPr>
              <a:t>X → AB</a:t>
            </a:r>
          </a:p>
          <a:p>
            <a:endParaRPr lang="en-IN"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5973763"/>
          </a:xfrm>
        </p:spPr>
        <p:txBody>
          <a:bodyPr>
            <a:normAutofit fontScale="47500" lnSpcReduction="20000"/>
          </a:bodyPr>
          <a:lstStyle/>
          <a:p>
            <a:pPr>
              <a:buNone/>
            </a:pPr>
            <a:r>
              <a:rPr lang="en-US" b="1" dirty="0" smtClean="0">
                <a:latin typeface="Times New Roman" pitchFamily="18" charset="0"/>
                <a:cs typeface="Times New Roman" pitchFamily="18" charset="0"/>
              </a:rPr>
              <a:t>Problem</a:t>
            </a:r>
          </a:p>
          <a:p>
            <a:pPr>
              <a:buNone/>
            </a:pPr>
            <a:r>
              <a:rPr lang="en-US" dirty="0" smtClean="0">
                <a:latin typeface="Times New Roman" pitchFamily="18" charset="0"/>
                <a:cs typeface="Times New Roman" pitchFamily="18" charset="0"/>
              </a:rPr>
              <a:t>Convert the following CFG into CNF</a:t>
            </a:r>
          </a:p>
          <a:p>
            <a:pPr>
              <a:buNone/>
            </a:pPr>
            <a:r>
              <a:rPr lang="en-US" dirty="0" smtClean="0">
                <a:latin typeface="Times New Roman" pitchFamily="18" charset="0"/>
                <a:cs typeface="Times New Roman" pitchFamily="18" charset="0"/>
              </a:rPr>
              <a:t>			S → ASB | </a:t>
            </a:r>
            <a:r>
              <a:rPr lang="en-US" dirty="0" err="1" smtClean="0">
                <a:latin typeface="Times New Roman" pitchFamily="18" charset="0"/>
                <a:cs typeface="Times New Roman" pitchFamily="18" charset="0"/>
              </a:rPr>
              <a:t>aB</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 → B | S</a:t>
            </a:r>
          </a:p>
          <a:p>
            <a:pPr>
              <a:buNone/>
            </a:pPr>
            <a:r>
              <a:rPr lang="en-US" dirty="0" smtClean="0">
                <a:latin typeface="Times New Roman" pitchFamily="18" charset="0"/>
                <a:cs typeface="Times New Roman" pitchFamily="18" charset="0"/>
              </a:rPr>
              <a:t>			 B → b | ε</a:t>
            </a:r>
          </a:p>
          <a:p>
            <a:pPr>
              <a:buNone/>
            </a:pPr>
            <a:r>
              <a:rPr lang="en-US" b="1" dirty="0" smtClean="0">
                <a:latin typeface="Times New Roman" pitchFamily="18" charset="0"/>
                <a:cs typeface="Times New Roman" pitchFamily="18" charset="0"/>
              </a:rPr>
              <a:t>Solution</a:t>
            </a:r>
          </a:p>
          <a:p>
            <a:pPr>
              <a:buNone/>
            </a:pPr>
            <a:r>
              <a:rPr lang="en-US" b="1" dirty="0" smtClean="0">
                <a:latin typeface="Times New Roman" pitchFamily="18" charset="0"/>
                <a:cs typeface="Times New Roman" pitchFamily="18" charset="0"/>
              </a:rPr>
              <a:t>(Step 1)</a:t>
            </a:r>
            <a:r>
              <a:rPr lang="en-US" dirty="0" smtClean="0">
                <a:latin typeface="Times New Roman" pitchFamily="18" charset="0"/>
                <a:cs typeface="Times New Roman" pitchFamily="18" charset="0"/>
              </a:rPr>
              <a:t> Since </a:t>
            </a:r>
            <a:r>
              <a:rPr lang="en-US" b="1" dirty="0" smtClean="0">
                <a:latin typeface="Times New Roman" pitchFamily="18" charset="0"/>
                <a:cs typeface="Times New Roman" pitchFamily="18" charset="0"/>
              </a:rPr>
              <a:t>S</a:t>
            </a:r>
            <a:r>
              <a:rPr lang="en-US" dirty="0" smtClean="0">
                <a:latin typeface="Times New Roman" pitchFamily="18" charset="0"/>
                <a:cs typeface="Times New Roman" pitchFamily="18" charset="0"/>
              </a:rPr>
              <a:t> appears in R.H.S, we add a new state </a:t>
            </a:r>
            <a:r>
              <a:rPr lang="en-US" b="1" dirty="0" smtClean="0">
                <a:latin typeface="Times New Roman" pitchFamily="18" charset="0"/>
                <a:cs typeface="Times New Roman" pitchFamily="18" charset="0"/>
              </a:rPr>
              <a:t>S</a:t>
            </a:r>
            <a:r>
              <a:rPr lang="en-US" b="1" baseline="-25000" dirty="0" smtClean="0">
                <a:latin typeface="Times New Roman" pitchFamily="18" charset="0"/>
                <a:cs typeface="Times New Roman" pitchFamily="18" charset="0"/>
              </a:rPr>
              <a:t>0</a:t>
            </a:r>
            <a:r>
              <a:rPr lang="en-US" dirty="0" smtClean="0">
                <a:latin typeface="Times New Roman" pitchFamily="18" charset="0"/>
                <a:cs typeface="Times New Roman" pitchFamily="18" charset="0"/>
              </a:rPr>
              <a:t> and </a:t>
            </a:r>
            <a:r>
              <a:rPr lang="en-US" b="1" dirty="0" smtClean="0">
                <a:latin typeface="Times New Roman" pitchFamily="18" charset="0"/>
                <a:cs typeface="Times New Roman" pitchFamily="18" charset="0"/>
              </a:rPr>
              <a:t>S</a:t>
            </a:r>
            <a:r>
              <a:rPr lang="en-US" b="1" baseline="-25000" dirty="0" smtClean="0">
                <a:latin typeface="Times New Roman" pitchFamily="18" charset="0"/>
                <a:cs typeface="Times New Roman" pitchFamily="18" charset="0"/>
              </a:rPr>
              <a:t>0</a:t>
            </a:r>
            <a:r>
              <a:rPr lang="en-US" b="1" dirty="0" smtClean="0">
                <a:latin typeface="Times New Roman" pitchFamily="18" charset="0"/>
                <a:cs typeface="Times New Roman" pitchFamily="18" charset="0"/>
              </a:rPr>
              <a:t>→S </a:t>
            </a:r>
            <a:r>
              <a:rPr lang="en-US" dirty="0" smtClean="0">
                <a:latin typeface="Times New Roman" pitchFamily="18" charset="0"/>
                <a:cs typeface="Times New Roman" pitchFamily="18" charset="0"/>
              </a:rPr>
              <a:t>is added to the production set and it becomes </a:t>
            </a:r>
          </a:p>
          <a:p>
            <a:pPr>
              <a:buNone/>
            </a:pPr>
            <a:r>
              <a:rPr lang="en-US" dirty="0" smtClean="0">
                <a:latin typeface="Times New Roman" pitchFamily="18" charset="0"/>
                <a:cs typeface="Times New Roman" pitchFamily="18" charset="0"/>
              </a:rPr>
              <a:t>			S</a:t>
            </a:r>
            <a:r>
              <a:rPr lang="en-US" baseline="-25000" dirty="0" smtClean="0">
                <a:latin typeface="Times New Roman" pitchFamily="18" charset="0"/>
                <a:cs typeface="Times New Roman" pitchFamily="18" charset="0"/>
              </a:rPr>
              <a:t>0</a:t>
            </a:r>
            <a:r>
              <a:rPr lang="en-US" dirty="0" smtClean="0">
                <a:latin typeface="Times New Roman" pitchFamily="18" charset="0"/>
                <a:cs typeface="Times New Roman" pitchFamily="18" charset="0"/>
              </a:rPr>
              <a:t>→S</a:t>
            </a:r>
          </a:p>
          <a:p>
            <a:pPr>
              <a:buNone/>
            </a:pPr>
            <a:r>
              <a:rPr lang="en-US" dirty="0" smtClean="0">
                <a:latin typeface="Times New Roman" pitchFamily="18" charset="0"/>
                <a:cs typeface="Times New Roman" pitchFamily="18" charset="0"/>
              </a:rPr>
              <a:t>			S→ ASB | </a:t>
            </a:r>
            <a:r>
              <a:rPr lang="en-US" dirty="0" err="1" smtClean="0">
                <a:latin typeface="Times New Roman" pitchFamily="18" charset="0"/>
                <a:cs typeface="Times New Roman" pitchFamily="18" charset="0"/>
              </a:rPr>
              <a:t>aB</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 → B | S</a:t>
            </a:r>
          </a:p>
          <a:p>
            <a:pPr>
              <a:buNone/>
            </a:pPr>
            <a:r>
              <a:rPr lang="en-US" dirty="0" smtClean="0">
                <a:latin typeface="Times New Roman" pitchFamily="18" charset="0"/>
                <a:cs typeface="Times New Roman" pitchFamily="18" charset="0"/>
              </a:rPr>
              <a:t>			B → b | ∈</a:t>
            </a:r>
          </a:p>
          <a:p>
            <a:pPr>
              <a:buNone/>
            </a:pPr>
            <a:r>
              <a:rPr lang="en-US" b="1" dirty="0" smtClean="0">
                <a:latin typeface="Times New Roman" pitchFamily="18" charset="0"/>
                <a:cs typeface="Times New Roman" pitchFamily="18" charset="0"/>
              </a:rPr>
              <a:t>(Step 2)</a:t>
            </a:r>
            <a:r>
              <a:rPr lang="en-US" dirty="0" smtClean="0">
                <a:latin typeface="Times New Roman" pitchFamily="18" charset="0"/>
                <a:cs typeface="Times New Roman" pitchFamily="18" charset="0"/>
              </a:rPr>
              <a:t> Now we will remove the null productions </a:t>
            </a:r>
          </a:p>
          <a:p>
            <a:pPr>
              <a:buNone/>
            </a:pPr>
            <a:r>
              <a:rPr lang="en-US" dirty="0" smtClean="0">
                <a:latin typeface="Times New Roman" pitchFamily="18" charset="0"/>
                <a:cs typeface="Times New Roman" pitchFamily="18" charset="0"/>
              </a:rPr>
              <a:t>		B → ∈ and A → ∈</a:t>
            </a:r>
          </a:p>
          <a:p>
            <a:pPr>
              <a:buNone/>
            </a:pPr>
            <a:r>
              <a:rPr lang="en-US" dirty="0" smtClean="0">
                <a:latin typeface="Times New Roman" pitchFamily="18" charset="0"/>
                <a:cs typeface="Times New Roman" pitchFamily="18" charset="0"/>
              </a:rPr>
              <a:t>After removing B → </a:t>
            </a:r>
            <a:r>
              <a:rPr lang="el-GR" dirty="0" smtClean="0">
                <a:latin typeface="Times New Roman" pitchFamily="18" charset="0"/>
                <a:cs typeface="Times New Roman" pitchFamily="18" charset="0"/>
              </a:rPr>
              <a:t>ε, </a:t>
            </a:r>
            <a:r>
              <a:rPr lang="en-US" dirty="0" smtClean="0">
                <a:latin typeface="Times New Roman" pitchFamily="18" charset="0"/>
                <a:cs typeface="Times New Roman" pitchFamily="18" charset="0"/>
              </a:rPr>
              <a:t>the production set becomes </a:t>
            </a:r>
          </a:p>
          <a:p>
            <a:pPr>
              <a:buNone/>
            </a:pPr>
            <a:r>
              <a:rPr lang="en-US" dirty="0" smtClean="0">
                <a:latin typeface="Times New Roman" pitchFamily="18" charset="0"/>
                <a:cs typeface="Times New Roman" pitchFamily="18" charset="0"/>
              </a:rPr>
              <a:t>			S</a:t>
            </a:r>
            <a:r>
              <a:rPr lang="en-US" baseline="-25000" dirty="0" smtClean="0">
                <a:latin typeface="Times New Roman" pitchFamily="18" charset="0"/>
                <a:cs typeface="Times New Roman" pitchFamily="18" charset="0"/>
              </a:rPr>
              <a:t>0</a:t>
            </a:r>
            <a:r>
              <a:rPr lang="en-US" dirty="0" smtClean="0">
                <a:latin typeface="Times New Roman" pitchFamily="18" charset="0"/>
                <a:cs typeface="Times New Roman" pitchFamily="18" charset="0"/>
              </a:rPr>
              <a:t>→S</a:t>
            </a:r>
          </a:p>
          <a:p>
            <a:pPr>
              <a:buNone/>
            </a:pPr>
            <a:r>
              <a:rPr lang="en-US" dirty="0" smtClean="0">
                <a:latin typeface="Times New Roman" pitchFamily="18" charset="0"/>
                <a:cs typeface="Times New Roman" pitchFamily="18" charset="0"/>
              </a:rPr>
              <a:t>			S→ ASB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 | AS | a</a:t>
            </a:r>
          </a:p>
          <a:p>
            <a:pPr>
              <a:buNone/>
            </a:pPr>
            <a:r>
              <a:rPr lang="en-US" dirty="0" smtClean="0">
                <a:latin typeface="Times New Roman" pitchFamily="18" charset="0"/>
                <a:cs typeface="Times New Roman" pitchFamily="18" charset="0"/>
              </a:rPr>
              <a:t>			A → B | S | ∈</a:t>
            </a:r>
          </a:p>
          <a:p>
            <a:pPr>
              <a:buNone/>
            </a:pPr>
            <a:r>
              <a:rPr lang="en-US" dirty="0" smtClean="0">
                <a:latin typeface="Times New Roman" pitchFamily="18" charset="0"/>
                <a:cs typeface="Times New Roman" pitchFamily="18" charset="0"/>
              </a:rPr>
              <a:t>			B → b</a:t>
            </a:r>
          </a:p>
          <a:p>
            <a:pPr>
              <a:buNone/>
            </a:pPr>
            <a:r>
              <a:rPr lang="en-US" dirty="0" smtClean="0">
                <a:latin typeface="Times New Roman" pitchFamily="18" charset="0"/>
                <a:cs typeface="Times New Roman" pitchFamily="18" charset="0"/>
              </a:rPr>
              <a:t>After removing A → ∈, the production set becomes</a:t>
            </a:r>
          </a:p>
          <a:p>
            <a:pPr>
              <a:buNone/>
            </a:pPr>
            <a:r>
              <a:rPr lang="en-US" dirty="0" smtClean="0">
                <a:latin typeface="Times New Roman" pitchFamily="18" charset="0"/>
                <a:cs typeface="Times New Roman" pitchFamily="18" charset="0"/>
              </a:rPr>
              <a:t>			S</a:t>
            </a:r>
            <a:r>
              <a:rPr lang="en-US" baseline="-25000" dirty="0" smtClean="0">
                <a:latin typeface="Times New Roman" pitchFamily="18" charset="0"/>
                <a:cs typeface="Times New Roman" pitchFamily="18" charset="0"/>
              </a:rPr>
              <a:t>0</a:t>
            </a:r>
            <a:r>
              <a:rPr lang="en-US" dirty="0" smtClean="0">
                <a:latin typeface="Times New Roman" pitchFamily="18" charset="0"/>
                <a:cs typeface="Times New Roman" pitchFamily="18" charset="0"/>
              </a:rPr>
              <a:t>→S</a:t>
            </a:r>
          </a:p>
          <a:p>
            <a:pPr>
              <a:buNone/>
            </a:pPr>
            <a:r>
              <a:rPr lang="en-US" dirty="0" smtClean="0">
                <a:latin typeface="Times New Roman" pitchFamily="18" charset="0"/>
                <a:cs typeface="Times New Roman" pitchFamily="18" charset="0"/>
              </a:rPr>
              <a:t>			 S→ ASB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 | AS | a |SB | S</a:t>
            </a:r>
          </a:p>
          <a:p>
            <a:pPr>
              <a:buNone/>
            </a:pPr>
            <a:r>
              <a:rPr lang="en-US" dirty="0" smtClean="0">
                <a:latin typeface="Times New Roman" pitchFamily="18" charset="0"/>
                <a:cs typeface="Times New Roman" pitchFamily="18" charset="0"/>
              </a:rPr>
              <a:t>			A → B | S</a:t>
            </a:r>
          </a:p>
          <a:p>
            <a:pPr>
              <a:buNone/>
            </a:pPr>
            <a:r>
              <a:rPr lang="en-US" dirty="0" smtClean="0">
                <a:latin typeface="Times New Roman" pitchFamily="18" charset="0"/>
                <a:cs typeface="Times New Roman" pitchFamily="18" charset="0"/>
              </a:rPr>
              <a:t>			B → b</a:t>
            </a:r>
          </a:p>
          <a:p>
            <a:pPr>
              <a:buNone/>
            </a:pPr>
            <a:endParaRPr lang="en-US" dirty="0" smtClean="0">
              <a:latin typeface="Times New Roman" pitchFamily="18" charset="0"/>
              <a:cs typeface="Times New Roman" pitchFamily="18" charset="0"/>
            </a:endParaRPr>
          </a:p>
          <a:p>
            <a:endParaRPr lang="en-IN"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55000" lnSpcReduction="20000"/>
          </a:bodyPr>
          <a:lstStyle/>
          <a:p>
            <a:pPr>
              <a:buNone/>
            </a:pPr>
            <a:r>
              <a:rPr lang="en-US" b="1" dirty="0" smtClean="0">
                <a:latin typeface="Times New Roman" pitchFamily="18" charset="0"/>
                <a:cs typeface="Times New Roman" pitchFamily="18" charset="0"/>
              </a:rPr>
              <a:t>(Step 2)</a:t>
            </a:r>
            <a:r>
              <a:rPr lang="en-US" dirty="0" smtClean="0">
                <a:latin typeface="Times New Roman" pitchFamily="18" charset="0"/>
                <a:cs typeface="Times New Roman" pitchFamily="18" charset="0"/>
              </a:rPr>
              <a:t> Now we will remove the unit productions.</a:t>
            </a:r>
          </a:p>
          <a:p>
            <a:pPr>
              <a:buNone/>
            </a:pPr>
            <a:r>
              <a:rPr lang="en-US" dirty="0" smtClean="0">
                <a:latin typeface="Times New Roman" pitchFamily="18" charset="0"/>
                <a:cs typeface="Times New Roman" pitchFamily="18" charset="0"/>
              </a:rPr>
              <a:t>	After removing S → S, the production set becomes </a:t>
            </a:r>
          </a:p>
          <a:p>
            <a:pPr>
              <a:buNone/>
            </a:pPr>
            <a:r>
              <a:rPr lang="en-US" dirty="0" smtClean="0">
                <a:latin typeface="Times New Roman" pitchFamily="18" charset="0"/>
                <a:cs typeface="Times New Roman" pitchFamily="18" charset="0"/>
              </a:rPr>
              <a:t>			S</a:t>
            </a:r>
            <a:r>
              <a:rPr lang="en-US" baseline="-25000" dirty="0" smtClean="0">
                <a:latin typeface="Times New Roman" pitchFamily="18" charset="0"/>
                <a:cs typeface="Times New Roman" pitchFamily="18" charset="0"/>
              </a:rPr>
              <a:t>0</a:t>
            </a:r>
            <a:r>
              <a:rPr lang="en-US" dirty="0" smtClean="0">
                <a:latin typeface="Times New Roman" pitchFamily="18" charset="0"/>
                <a:cs typeface="Times New Roman" pitchFamily="18" charset="0"/>
              </a:rPr>
              <a:t>→S</a:t>
            </a:r>
          </a:p>
          <a:p>
            <a:pPr>
              <a:buNone/>
            </a:pPr>
            <a:r>
              <a:rPr lang="en-US" dirty="0" smtClean="0">
                <a:latin typeface="Times New Roman" pitchFamily="18" charset="0"/>
                <a:cs typeface="Times New Roman" pitchFamily="18" charset="0"/>
              </a:rPr>
              <a:t>			 S→ ASB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 | AS | a |SB </a:t>
            </a:r>
          </a:p>
          <a:p>
            <a:pPr>
              <a:buNone/>
            </a:pPr>
            <a:r>
              <a:rPr lang="en-US" dirty="0" smtClean="0">
                <a:latin typeface="Times New Roman" pitchFamily="18" charset="0"/>
                <a:cs typeface="Times New Roman" pitchFamily="18" charset="0"/>
              </a:rPr>
              <a:t>			A → B | S</a:t>
            </a:r>
          </a:p>
          <a:p>
            <a:pPr>
              <a:buNone/>
            </a:pPr>
            <a:r>
              <a:rPr lang="en-US" dirty="0" smtClean="0">
                <a:latin typeface="Times New Roman" pitchFamily="18" charset="0"/>
                <a:cs typeface="Times New Roman" pitchFamily="18" charset="0"/>
              </a:rPr>
              <a:t>			B → b</a:t>
            </a:r>
          </a:p>
          <a:p>
            <a:pPr>
              <a:buNone/>
            </a:pPr>
            <a:r>
              <a:rPr lang="en-US" dirty="0" smtClean="0">
                <a:latin typeface="Times New Roman" pitchFamily="18" charset="0"/>
                <a:cs typeface="Times New Roman" pitchFamily="18" charset="0"/>
              </a:rPr>
              <a:t>	After removing S</a:t>
            </a:r>
            <a:r>
              <a:rPr lang="en-US" baseline="-25000" dirty="0" smtClean="0">
                <a:latin typeface="Times New Roman" pitchFamily="18" charset="0"/>
                <a:cs typeface="Times New Roman" pitchFamily="18" charset="0"/>
              </a:rPr>
              <a:t>0</a:t>
            </a:r>
            <a:r>
              <a:rPr lang="en-US" dirty="0" smtClean="0">
                <a:latin typeface="Times New Roman" pitchFamily="18" charset="0"/>
                <a:cs typeface="Times New Roman" pitchFamily="18" charset="0"/>
              </a:rPr>
              <a:t>→ S, the production set becomes </a:t>
            </a:r>
          </a:p>
          <a:p>
            <a:pPr>
              <a:buNone/>
            </a:pPr>
            <a:r>
              <a:rPr lang="en-US" dirty="0" smtClean="0">
                <a:latin typeface="Times New Roman" pitchFamily="18" charset="0"/>
                <a:cs typeface="Times New Roman" pitchFamily="18" charset="0"/>
              </a:rPr>
              <a:t>			S</a:t>
            </a:r>
            <a:r>
              <a:rPr lang="en-US" baseline="-25000" dirty="0" smtClean="0">
                <a:latin typeface="Times New Roman" pitchFamily="18" charset="0"/>
                <a:cs typeface="Times New Roman" pitchFamily="18" charset="0"/>
              </a:rPr>
              <a:t>0</a:t>
            </a:r>
            <a:r>
              <a:rPr lang="en-US" dirty="0" smtClean="0">
                <a:latin typeface="Times New Roman" pitchFamily="18" charset="0"/>
                <a:cs typeface="Times New Roman" pitchFamily="18" charset="0"/>
              </a:rPr>
              <a:t>→ ASB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 | AS | a |SB </a:t>
            </a:r>
          </a:p>
          <a:p>
            <a:pPr>
              <a:buNone/>
            </a:pPr>
            <a:r>
              <a:rPr lang="en-US" dirty="0" smtClean="0">
                <a:latin typeface="Times New Roman" pitchFamily="18" charset="0"/>
                <a:cs typeface="Times New Roman" pitchFamily="18" charset="0"/>
              </a:rPr>
              <a:t>			S→ ASB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 | AS | a |SB </a:t>
            </a:r>
          </a:p>
          <a:p>
            <a:pPr>
              <a:buNone/>
            </a:pPr>
            <a:r>
              <a:rPr lang="en-US" dirty="0" smtClean="0">
                <a:latin typeface="Times New Roman" pitchFamily="18" charset="0"/>
                <a:cs typeface="Times New Roman" pitchFamily="18" charset="0"/>
              </a:rPr>
              <a:t>			A → B | S</a:t>
            </a:r>
          </a:p>
          <a:p>
            <a:pPr>
              <a:buNone/>
            </a:pPr>
            <a:r>
              <a:rPr lang="en-US" dirty="0" smtClean="0">
                <a:latin typeface="Times New Roman" pitchFamily="18" charset="0"/>
                <a:cs typeface="Times New Roman" pitchFamily="18" charset="0"/>
              </a:rPr>
              <a:t>			B → b</a:t>
            </a:r>
          </a:p>
          <a:p>
            <a:pPr>
              <a:buNone/>
            </a:pPr>
            <a:r>
              <a:rPr lang="en-US" dirty="0" smtClean="0">
                <a:latin typeface="Times New Roman" pitchFamily="18" charset="0"/>
                <a:cs typeface="Times New Roman" pitchFamily="18" charset="0"/>
              </a:rPr>
              <a:t>After removing A→ B, the production set becomes </a:t>
            </a:r>
          </a:p>
          <a:p>
            <a:pPr>
              <a:buNone/>
            </a:pPr>
            <a:r>
              <a:rPr lang="en-US" dirty="0" smtClean="0">
                <a:latin typeface="Times New Roman" pitchFamily="18" charset="0"/>
                <a:cs typeface="Times New Roman" pitchFamily="18" charset="0"/>
              </a:rPr>
              <a:t>			S</a:t>
            </a:r>
            <a:r>
              <a:rPr lang="en-US" baseline="-25000" dirty="0" smtClean="0">
                <a:latin typeface="Times New Roman" pitchFamily="18" charset="0"/>
                <a:cs typeface="Times New Roman" pitchFamily="18" charset="0"/>
              </a:rPr>
              <a:t>0</a:t>
            </a:r>
            <a:r>
              <a:rPr lang="en-US" dirty="0" smtClean="0">
                <a:latin typeface="Times New Roman" pitchFamily="18" charset="0"/>
                <a:cs typeface="Times New Roman" pitchFamily="18" charset="0"/>
              </a:rPr>
              <a:t> → ASB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 | AS | a |SB </a:t>
            </a:r>
          </a:p>
          <a:p>
            <a:pPr>
              <a:buNone/>
            </a:pPr>
            <a:r>
              <a:rPr lang="en-US" dirty="0" smtClean="0">
                <a:latin typeface="Times New Roman" pitchFamily="18" charset="0"/>
                <a:cs typeface="Times New Roman" pitchFamily="18" charset="0"/>
              </a:rPr>
              <a:t>			S→ ASB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 | AS | a |SB </a:t>
            </a:r>
          </a:p>
          <a:p>
            <a:pPr>
              <a:buNone/>
            </a:pPr>
            <a:r>
              <a:rPr lang="en-US" dirty="0" smtClean="0">
                <a:latin typeface="Times New Roman" pitchFamily="18" charset="0"/>
                <a:cs typeface="Times New Roman" pitchFamily="18" charset="0"/>
              </a:rPr>
              <a:t>			 A → B | S</a:t>
            </a:r>
          </a:p>
          <a:p>
            <a:pPr>
              <a:buNone/>
            </a:pPr>
            <a:r>
              <a:rPr lang="en-US" dirty="0" smtClean="0">
                <a:latin typeface="Times New Roman" pitchFamily="18" charset="0"/>
                <a:cs typeface="Times New Roman" pitchFamily="18" charset="0"/>
              </a:rPr>
              <a:t>			B → b</a:t>
            </a:r>
          </a:p>
          <a:p>
            <a:pPr>
              <a:buNone/>
            </a:pPr>
            <a:r>
              <a:rPr lang="en-US" dirty="0" smtClean="0">
                <a:latin typeface="Times New Roman" pitchFamily="18" charset="0"/>
                <a:cs typeface="Times New Roman" pitchFamily="18" charset="0"/>
              </a:rPr>
              <a:t>After removing A→ S, the production set becomes</a:t>
            </a:r>
          </a:p>
          <a:p>
            <a:pPr>
              <a:buNone/>
            </a:pPr>
            <a:r>
              <a:rPr lang="en-US" dirty="0" smtClean="0">
                <a:latin typeface="Times New Roman" pitchFamily="18" charset="0"/>
                <a:cs typeface="Times New Roman" pitchFamily="18" charset="0"/>
              </a:rPr>
              <a:t>			 S</a:t>
            </a:r>
            <a:r>
              <a:rPr lang="en-US" baseline="-25000" dirty="0" smtClean="0">
                <a:latin typeface="Times New Roman" pitchFamily="18" charset="0"/>
                <a:cs typeface="Times New Roman" pitchFamily="18" charset="0"/>
              </a:rPr>
              <a:t>0</a:t>
            </a:r>
            <a:r>
              <a:rPr lang="en-US" dirty="0" smtClean="0">
                <a:latin typeface="Times New Roman" pitchFamily="18" charset="0"/>
                <a:cs typeface="Times New Roman" pitchFamily="18" charset="0"/>
              </a:rPr>
              <a:t> → ASB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 | AS | a |SB </a:t>
            </a:r>
          </a:p>
          <a:p>
            <a:pPr>
              <a:buNone/>
            </a:pPr>
            <a:r>
              <a:rPr lang="en-US" dirty="0" smtClean="0">
                <a:latin typeface="Times New Roman" pitchFamily="18" charset="0"/>
                <a:cs typeface="Times New Roman" pitchFamily="18" charset="0"/>
              </a:rPr>
              <a:t>			S→ ASB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 | AS | a |SB </a:t>
            </a:r>
          </a:p>
          <a:p>
            <a:pPr>
              <a:buNone/>
            </a:pPr>
            <a:r>
              <a:rPr lang="en-US" dirty="0" smtClean="0">
                <a:latin typeface="Times New Roman" pitchFamily="18" charset="0"/>
                <a:cs typeface="Times New Roman" pitchFamily="18" charset="0"/>
              </a:rPr>
              <a:t>			A → b | ASB | </a:t>
            </a:r>
            <a:r>
              <a:rPr lang="en-US" dirty="0" err="1" smtClean="0">
                <a:latin typeface="Times New Roman" pitchFamily="18" charset="0"/>
                <a:cs typeface="Times New Roman" pitchFamily="18" charset="0"/>
              </a:rPr>
              <a:t>aB</a:t>
            </a:r>
            <a:r>
              <a:rPr lang="en-US" dirty="0" smtClean="0">
                <a:latin typeface="Times New Roman" pitchFamily="18" charset="0"/>
                <a:cs typeface="Times New Roman" pitchFamily="18" charset="0"/>
              </a:rPr>
              <a:t> | AS | a |SB </a:t>
            </a:r>
          </a:p>
          <a:p>
            <a:pPr>
              <a:buNone/>
            </a:pPr>
            <a:r>
              <a:rPr lang="en-US" dirty="0" smtClean="0">
                <a:latin typeface="Times New Roman" pitchFamily="18" charset="0"/>
                <a:cs typeface="Times New Roman" pitchFamily="18" charset="0"/>
              </a:rPr>
              <a:t>			B → b</a:t>
            </a:r>
          </a:p>
          <a:p>
            <a:pPr>
              <a:buNone/>
            </a:pPr>
            <a:endParaRPr lang="en-US" dirty="0" smtClean="0">
              <a:latin typeface="Times New Roman" pitchFamily="18" charset="0"/>
              <a:cs typeface="Times New Roman" pitchFamily="18" charset="0"/>
            </a:endParaRPr>
          </a:p>
          <a:p>
            <a:endParaRPr lang="en-IN"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70000" lnSpcReduction="20000"/>
          </a:bodyPr>
          <a:lstStyle/>
          <a:p>
            <a:pPr>
              <a:buNone/>
            </a:pPr>
            <a:r>
              <a:rPr lang="en-US" b="1" dirty="0" smtClean="0">
                <a:latin typeface="Times New Roman" pitchFamily="18" charset="0"/>
                <a:cs typeface="Times New Roman" pitchFamily="18" charset="0"/>
              </a:rPr>
              <a:t>(Step 3)</a:t>
            </a:r>
            <a:r>
              <a:rPr lang="en-US" dirty="0" smtClean="0">
                <a:latin typeface="Times New Roman" pitchFamily="18" charset="0"/>
                <a:cs typeface="Times New Roman" pitchFamily="18" charset="0"/>
              </a:rPr>
              <a:t> Now replace terminal with non terminals</a:t>
            </a:r>
          </a:p>
          <a:p>
            <a:pPr>
              <a:buNone/>
            </a:pPr>
            <a:r>
              <a:rPr lang="en-US" dirty="0" smtClean="0">
                <a:latin typeface="Times New Roman" pitchFamily="18" charset="0"/>
                <a:cs typeface="Times New Roman" pitchFamily="18" charset="0"/>
              </a:rPr>
              <a:t>			S</a:t>
            </a:r>
            <a:r>
              <a:rPr lang="en-US" baseline="-25000" dirty="0" smtClean="0">
                <a:latin typeface="Times New Roman" pitchFamily="18" charset="0"/>
                <a:cs typeface="Times New Roman" pitchFamily="18" charset="0"/>
              </a:rPr>
              <a:t>0</a:t>
            </a:r>
            <a:r>
              <a:rPr lang="en-US" dirty="0" smtClean="0">
                <a:latin typeface="Times New Roman" pitchFamily="18" charset="0"/>
                <a:cs typeface="Times New Roman" pitchFamily="18" charset="0"/>
              </a:rPr>
              <a:t> → ASB | XB | AS | a |SB </a:t>
            </a:r>
          </a:p>
          <a:p>
            <a:pPr>
              <a:buNone/>
            </a:pPr>
            <a:r>
              <a:rPr lang="en-US" dirty="0" smtClean="0">
                <a:latin typeface="Times New Roman" pitchFamily="18" charset="0"/>
                <a:cs typeface="Times New Roman" pitchFamily="18" charset="0"/>
              </a:rPr>
              <a:t>			S→ ASB | XB | AS | a |SB </a:t>
            </a:r>
          </a:p>
          <a:p>
            <a:pPr>
              <a:buNone/>
            </a:pPr>
            <a:r>
              <a:rPr lang="en-US" dirty="0" smtClean="0">
                <a:latin typeface="Times New Roman" pitchFamily="18" charset="0"/>
                <a:cs typeface="Times New Roman" pitchFamily="18" charset="0"/>
              </a:rPr>
              <a:t>			A → b | ASB | XB | AS | a |SB </a:t>
            </a:r>
          </a:p>
          <a:p>
            <a:pPr>
              <a:buNone/>
            </a:pPr>
            <a:r>
              <a:rPr lang="en-US" dirty="0" smtClean="0">
                <a:latin typeface="Times New Roman" pitchFamily="18" charset="0"/>
                <a:cs typeface="Times New Roman" pitchFamily="18" charset="0"/>
              </a:rPr>
              <a:t>			B → b</a:t>
            </a:r>
          </a:p>
          <a:p>
            <a:pPr>
              <a:buNone/>
            </a:pPr>
            <a:r>
              <a:rPr lang="en-US" dirty="0" smtClean="0">
                <a:latin typeface="Times New Roman" pitchFamily="18" charset="0"/>
                <a:cs typeface="Times New Roman" pitchFamily="18" charset="0"/>
              </a:rPr>
              <a:t>			X → a</a:t>
            </a:r>
          </a:p>
          <a:p>
            <a:pPr>
              <a:buNone/>
            </a:pPr>
            <a:r>
              <a:rPr lang="en-US" b="1" dirty="0" smtClean="0">
                <a:latin typeface="Times New Roman" pitchFamily="18" charset="0"/>
                <a:cs typeface="Times New Roman" pitchFamily="18" charset="0"/>
              </a:rPr>
              <a:t>(Step 4)</a:t>
            </a:r>
            <a:r>
              <a:rPr lang="en-US" dirty="0" smtClean="0">
                <a:latin typeface="Times New Roman" pitchFamily="18" charset="0"/>
                <a:cs typeface="Times New Roman" pitchFamily="18" charset="0"/>
              </a:rPr>
              <a:t> Now we will find out more than two variables in the R.H.S</a:t>
            </a:r>
          </a:p>
          <a:p>
            <a:pPr>
              <a:buNone/>
            </a:pPr>
            <a:r>
              <a:rPr lang="en-US" dirty="0" smtClean="0">
                <a:latin typeface="Times New Roman" pitchFamily="18" charset="0"/>
                <a:cs typeface="Times New Roman" pitchFamily="18" charset="0"/>
              </a:rPr>
              <a:t>Here, </a:t>
            </a:r>
          </a:p>
          <a:p>
            <a:pPr>
              <a:buNone/>
            </a:pPr>
            <a:r>
              <a:rPr lang="en-US" dirty="0" smtClean="0">
                <a:latin typeface="Times New Roman" pitchFamily="18" charset="0"/>
                <a:cs typeface="Times New Roman" pitchFamily="18" charset="0"/>
              </a:rPr>
              <a:t>			S</a:t>
            </a:r>
            <a:r>
              <a:rPr lang="en-US" baseline="-25000" dirty="0" smtClean="0">
                <a:latin typeface="Times New Roman" pitchFamily="18" charset="0"/>
                <a:cs typeface="Times New Roman" pitchFamily="18" charset="0"/>
              </a:rPr>
              <a:t>0</a:t>
            </a:r>
            <a:r>
              <a:rPr lang="en-US" dirty="0" smtClean="0">
                <a:latin typeface="Times New Roman" pitchFamily="18" charset="0"/>
                <a:cs typeface="Times New Roman" pitchFamily="18" charset="0"/>
              </a:rPr>
              <a:t> → YB | XB | AS | a |SB </a:t>
            </a:r>
          </a:p>
          <a:p>
            <a:pPr>
              <a:buNone/>
            </a:pPr>
            <a:r>
              <a:rPr lang="en-US" dirty="0" smtClean="0">
                <a:latin typeface="Times New Roman" pitchFamily="18" charset="0"/>
                <a:cs typeface="Times New Roman" pitchFamily="18" charset="0"/>
              </a:rPr>
              <a:t>			S→ YB | XB | AS | a |SB </a:t>
            </a:r>
          </a:p>
          <a:p>
            <a:pPr>
              <a:buNone/>
            </a:pPr>
            <a:r>
              <a:rPr lang="en-US" dirty="0" smtClean="0">
                <a:latin typeface="Times New Roman" pitchFamily="18" charset="0"/>
                <a:cs typeface="Times New Roman" pitchFamily="18" charset="0"/>
              </a:rPr>
              <a:t>			A → b | YB | XB | AS | a |SB </a:t>
            </a:r>
          </a:p>
          <a:p>
            <a:pPr>
              <a:buNone/>
            </a:pPr>
            <a:r>
              <a:rPr lang="en-US" dirty="0" smtClean="0">
                <a:latin typeface="Times New Roman" pitchFamily="18" charset="0"/>
                <a:cs typeface="Times New Roman" pitchFamily="18" charset="0"/>
              </a:rPr>
              <a:t>			B → b</a:t>
            </a:r>
          </a:p>
          <a:p>
            <a:pPr>
              <a:buNone/>
            </a:pPr>
            <a:r>
              <a:rPr lang="en-US" dirty="0" smtClean="0">
                <a:latin typeface="Times New Roman" pitchFamily="18" charset="0"/>
                <a:cs typeface="Times New Roman" pitchFamily="18" charset="0"/>
              </a:rPr>
              <a:t>			X → a</a:t>
            </a:r>
          </a:p>
          <a:p>
            <a:pPr>
              <a:buNone/>
            </a:pPr>
            <a:r>
              <a:rPr lang="en-US" dirty="0" smtClean="0">
                <a:latin typeface="Times New Roman" pitchFamily="18" charset="0"/>
                <a:cs typeface="Times New Roman" pitchFamily="18" charset="0"/>
              </a:rPr>
              <a:t>			Y → AS</a:t>
            </a:r>
          </a:p>
          <a:p>
            <a:pPr>
              <a:buNone/>
            </a:pPr>
            <a:r>
              <a:rPr lang="en-US" dirty="0" smtClean="0">
                <a:latin typeface="Times New Roman" pitchFamily="18" charset="0"/>
                <a:cs typeface="Times New Roman" pitchFamily="18" charset="0"/>
              </a:rPr>
              <a:t>The above production rules are in the form of CNF</a:t>
            </a:r>
          </a:p>
          <a:p>
            <a:pPr>
              <a:buNone/>
            </a:pP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			</a:t>
            </a:r>
          </a:p>
          <a:p>
            <a:pPr>
              <a:buNone/>
            </a:pPr>
            <a:endParaRPr lang="en-US" dirty="0" smtClean="0">
              <a:latin typeface="Times New Roman" pitchFamily="18" charset="0"/>
              <a:cs typeface="Times New Roman" pitchFamily="18" charset="0"/>
            </a:endParaRPr>
          </a:p>
          <a:p>
            <a:endParaRPr lang="en-IN"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IN" dirty="0" smtClean="0"/>
              <a:t>Recursion</a:t>
            </a:r>
            <a:endParaRPr lang="en-IN" dirty="0"/>
          </a:p>
        </p:txBody>
      </p:sp>
      <p:sp>
        <p:nvSpPr>
          <p:cNvPr id="3" name="Content Placeholder 2"/>
          <p:cNvSpPr>
            <a:spLocks noGrp="1"/>
          </p:cNvSpPr>
          <p:nvPr>
            <p:ph idx="1"/>
          </p:nvPr>
        </p:nvSpPr>
        <p:spPr>
          <a:xfrm>
            <a:off x="457200" y="990600"/>
            <a:ext cx="8229600" cy="5135563"/>
          </a:xfrm>
        </p:spPr>
        <p:txBody>
          <a:bodyPr>
            <a:normAutofit fontScale="85000" lnSpcReduction="20000"/>
          </a:bodyPr>
          <a:lstStyle/>
          <a:p>
            <a:r>
              <a:rPr lang="en-IN" dirty="0" smtClean="0"/>
              <a:t>Recursion: a function which is calling by itself is called recursion.</a:t>
            </a:r>
          </a:p>
          <a:p>
            <a:r>
              <a:rPr lang="en-IN" dirty="0" smtClean="0"/>
              <a:t>It has two types</a:t>
            </a:r>
          </a:p>
          <a:p>
            <a:pPr lvl="1"/>
            <a:r>
              <a:rPr lang="en-IN" dirty="0" smtClean="0"/>
              <a:t>Left recursion</a:t>
            </a:r>
          </a:p>
          <a:p>
            <a:pPr lvl="1"/>
            <a:r>
              <a:rPr lang="en-IN" dirty="0" smtClean="0"/>
              <a:t>Right recursion</a:t>
            </a:r>
          </a:p>
          <a:p>
            <a:r>
              <a:rPr lang="en-IN" dirty="0" smtClean="0"/>
              <a:t>Left </a:t>
            </a:r>
            <a:r>
              <a:rPr lang="en-IN" dirty="0" smtClean="0"/>
              <a:t>recursion: if the production rule is in the form        </a:t>
            </a:r>
            <a:r>
              <a:rPr lang="en-US" dirty="0" smtClean="0">
                <a:cs typeface="Times New Roman" pitchFamily="18" charset="0"/>
                <a:sym typeface="Symbol" pitchFamily="18" charset="2"/>
              </a:rPr>
              <a:t>A </a:t>
            </a:r>
            <a:r>
              <a:rPr lang="en-US" dirty="0" smtClean="0">
                <a:cs typeface="Times New Roman" pitchFamily="18" charset="0"/>
                <a:sym typeface="Symbol" pitchFamily="18" charset="2"/>
              </a:rPr>
              <a:t> A |  </a:t>
            </a:r>
            <a:r>
              <a:rPr lang="en-US" dirty="0" smtClean="0">
                <a:cs typeface="Times New Roman" pitchFamily="18" charset="0"/>
                <a:sym typeface="Symbol" pitchFamily="18" charset="2"/>
              </a:rPr>
              <a:t> then this grammar contain left recursion.</a:t>
            </a:r>
          </a:p>
          <a:p>
            <a:pPr lvl="1"/>
            <a:r>
              <a:rPr lang="en-US" dirty="0" smtClean="0">
                <a:cs typeface="Times New Roman" pitchFamily="18" charset="0"/>
                <a:sym typeface="Symbol" pitchFamily="18" charset="2"/>
              </a:rPr>
              <a:t>Here problem with left recursion is </a:t>
            </a:r>
            <a:r>
              <a:rPr lang="en-US" dirty="0" smtClean="0">
                <a:cs typeface="Times New Roman" pitchFamily="18" charset="0"/>
                <a:sym typeface="Symbol" pitchFamily="18" charset="2"/>
              </a:rPr>
              <a:t>A </a:t>
            </a:r>
            <a:r>
              <a:rPr lang="en-US" dirty="0" smtClean="0">
                <a:cs typeface="Times New Roman" pitchFamily="18" charset="0"/>
                <a:sym typeface="Symbol" pitchFamily="18" charset="2"/>
              </a:rPr>
              <a:t> is calling A only it doesn’t go to , then  doesn’t executing</a:t>
            </a:r>
          </a:p>
          <a:p>
            <a:pPr lvl="1"/>
            <a:r>
              <a:rPr lang="en-US" dirty="0" smtClean="0">
                <a:cs typeface="Times New Roman" pitchFamily="18" charset="0"/>
                <a:sym typeface="Symbol" pitchFamily="18" charset="2"/>
              </a:rPr>
              <a:t>It is not suitable for Top down parsing then we have to remove left recursion</a:t>
            </a:r>
          </a:p>
          <a:p>
            <a:r>
              <a:rPr lang="en-IN" dirty="0" smtClean="0"/>
              <a:t>Right </a:t>
            </a:r>
            <a:r>
              <a:rPr lang="en-IN" dirty="0" smtClean="0"/>
              <a:t>recursion: </a:t>
            </a:r>
            <a:r>
              <a:rPr lang="en-IN" dirty="0" smtClean="0"/>
              <a:t>if the production rule is in the form </a:t>
            </a:r>
            <a:r>
              <a:rPr lang="en-IN" dirty="0" smtClean="0"/>
              <a:t>    </a:t>
            </a:r>
            <a:r>
              <a:rPr lang="en-US" dirty="0" smtClean="0">
                <a:cs typeface="Times New Roman" pitchFamily="18" charset="0"/>
                <a:sym typeface="Symbol" pitchFamily="18" charset="2"/>
              </a:rPr>
              <a:t>A </a:t>
            </a:r>
            <a:r>
              <a:rPr lang="en-US" dirty="0" smtClean="0">
                <a:cs typeface="Times New Roman" pitchFamily="18" charset="0"/>
                <a:sym typeface="Symbol" pitchFamily="18" charset="2"/>
              </a:rPr>
              <a:t> </a:t>
            </a:r>
            <a:r>
              <a:rPr lang="en-US" dirty="0" smtClean="0">
                <a:cs typeface="Times New Roman" pitchFamily="18" charset="0"/>
                <a:sym typeface="Symbol" pitchFamily="18" charset="2"/>
              </a:rPr>
              <a:t>A| </a:t>
            </a:r>
            <a:r>
              <a:rPr lang="en-US" dirty="0" smtClean="0">
                <a:cs typeface="Times New Roman" pitchFamily="18" charset="0"/>
                <a:sym typeface="Symbol" pitchFamily="18" charset="2"/>
              </a:rPr>
              <a:t>  then this grammar contain left recursion.</a:t>
            </a:r>
            <a:endParaRPr lang="en-IN" dirty="0" smtClean="0"/>
          </a:p>
          <a:p>
            <a:endParaRPr lang="en-IN" dirty="0" smtClean="0"/>
          </a:p>
          <a:p>
            <a:endParaRPr lang="en-IN"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Left Recursion</a:t>
            </a:r>
            <a:endParaRPr lang="en-IN" dirty="0"/>
          </a:p>
        </p:txBody>
      </p:sp>
      <p:sp>
        <p:nvSpPr>
          <p:cNvPr id="3" name="Content Placeholder 2"/>
          <p:cNvSpPr>
            <a:spLocks noGrp="1"/>
          </p:cNvSpPr>
          <p:nvPr>
            <p:ph idx="1"/>
          </p:nvPr>
        </p:nvSpPr>
        <p:spPr/>
        <p:txBody>
          <a:bodyPr>
            <a:normAutofit/>
          </a:bodyPr>
          <a:lstStyle/>
          <a:p>
            <a:r>
              <a:rPr lang="en-IN" sz="1800" dirty="0" smtClean="0"/>
              <a:t>Removal of left recursion:</a:t>
            </a:r>
          </a:p>
          <a:p>
            <a:r>
              <a:rPr lang="en-US" sz="1800" dirty="0" smtClean="0">
                <a:cs typeface="Times New Roman" pitchFamily="18" charset="0"/>
                <a:sym typeface="Symbol" pitchFamily="18" charset="2"/>
              </a:rPr>
              <a:t>To eliminate direct left recursion replace</a:t>
            </a:r>
          </a:p>
          <a:p>
            <a:pPr>
              <a:buNone/>
            </a:pPr>
            <a:r>
              <a:rPr lang="en-US" sz="1800" dirty="0" smtClean="0">
                <a:cs typeface="Times New Roman" pitchFamily="18" charset="0"/>
                <a:sym typeface="Symbol" pitchFamily="18" charset="2"/>
              </a:rPr>
              <a:t> 		A  A |   </a:t>
            </a:r>
          </a:p>
          <a:p>
            <a:pPr>
              <a:buNone/>
            </a:pPr>
            <a:r>
              <a:rPr lang="en-US" sz="1800" dirty="0" smtClean="0">
                <a:cs typeface="Times New Roman" pitchFamily="18" charset="0"/>
                <a:sym typeface="Symbol" pitchFamily="18" charset="2"/>
              </a:rPr>
              <a:t>		Replace with </a:t>
            </a:r>
            <a:r>
              <a:rPr lang="en-US" sz="1800" dirty="0" smtClean="0">
                <a:cs typeface="Times New Roman" pitchFamily="18" charset="0"/>
                <a:sym typeface="Symbol" pitchFamily="18" charset="2"/>
              </a:rPr>
              <a:t>A </a:t>
            </a:r>
            <a:r>
              <a:rPr lang="en-US" sz="1800" dirty="0" smtClean="0">
                <a:cs typeface="Times New Roman" pitchFamily="18" charset="0"/>
                <a:sym typeface="Symbol" pitchFamily="18" charset="2"/>
              </a:rPr>
              <a:t> A’ </a:t>
            </a:r>
          </a:p>
          <a:p>
            <a:pPr>
              <a:buNone/>
            </a:pPr>
            <a:r>
              <a:rPr lang="en-US" sz="1800" dirty="0" smtClean="0">
                <a:cs typeface="Times New Roman" pitchFamily="18" charset="0"/>
                <a:sym typeface="Symbol" pitchFamily="18" charset="2"/>
              </a:rPr>
              <a:t>			 </a:t>
            </a:r>
            <a:r>
              <a:rPr lang="en-US" sz="1800" dirty="0" smtClean="0">
                <a:cs typeface="Times New Roman" pitchFamily="18" charset="0"/>
                <a:sym typeface="Symbol" pitchFamily="18" charset="2"/>
              </a:rPr>
              <a:t>      </a:t>
            </a:r>
            <a:r>
              <a:rPr lang="en-US" sz="1800" dirty="0" smtClean="0">
                <a:cs typeface="Times New Roman" pitchFamily="18" charset="0"/>
                <a:sym typeface="Symbol" pitchFamily="18" charset="2"/>
              </a:rPr>
              <a:t>A’  A’| </a:t>
            </a:r>
          </a:p>
          <a:p>
            <a:r>
              <a:rPr lang="en-US" sz="1800" dirty="0" smtClean="0">
                <a:cs typeface="Times New Roman" pitchFamily="18" charset="0"/>
                <a:sym typeface="Symbol" pitchFamily="18" charset="2"/>
              </a:rPr>
              <a:t>In generalized form </a:t>
            </a:r>
          </a:p>
          <a:p>
            <a:pPr>
              <a:buFont typeface="Wingdings" pitchFamily="2" charset="2"/>
              <a:buNone/>
            </a:pPr>
            <a:r>
              <a:rPr lang="en-US" sz="1800" dirty="0" smtClean="0">
                <a:cs typeface="Times New Roman" pitchFamily="18" charset="0"/>
                <a:sym typeface="Symbol" pitchFamily="18" charset="2"/>
              </a:rPr>
              <a:t>   </a:t>
            </a:r>
            <a:r>
              <a:rPr lang="en-US" sz="1800" dirty="0" smtClean="0">
                <a:cs typeface="Times New Roman" pitchFamily="18" charset="0"/>
                <a:sym typeface="Symbol" pitchFamily="18" charset="2"/>
              </a:rPr>
              <a:t>A  A</a:t>
            </a:r>
            <a:r>
              <a:rPr lang="en-US" sz="1800" baseline="-25000" dirty="0" smtClean="0">
                <a:cs typeface="Times New Roman" pitchFamily="18" charset="0"/>
                <a:sym typeface="Symbol" pitchFamily="18" charset="2"/>
              </a:rPr>
              <a:t>1 </a:t>
            </a:r>
            <a:r>
              <a:rPr lang="en-US" sz="1800" dirty="0" smtClean="0">
                <a:cs typeface="Times New Roman" pitchFamily="18" charset="0"/>
                <a:sym typeface="Symbol" pitchFamily="18" charset="2"/>
              </a:rPr>
              <a:t>| A</a:t>
            </a:r>
            <a:r>
              <a:rPr lang="en-US" sz="1800" baseline="-25000" dirty="0" smtClean="0">
                <a:cs typeface="Times New Roman" pitchFamily="18" charset="0"/>
                <a:sym typeface="Symbol" pitchFamily="18" charset="2"/>
              </a:rPr>
              <a:t>2 </a:t>
            </a:r>
            <a:r>
              <a:rPr lang="en-US" sz="1800" dirty="0" smtClean="0">
                <a:cs typeface="Times New Roman" pitchFamily="18" charset="0"/>
                <a:sym typeface="Symbol" pitchFamily="18" charset="2"/>
              </a:rPr>
              <a:t>| ... | </a:t>
            </a:r>
            <a:r>
              <a:rPr lang="en-US" sz="1800" dirty="0" err="1" smtClean="0">
                <a:cs typeface="Times New Roman" pitchFamily="18" charset="0"/>
                <a:sym typeface="Symbol" pitchFamily="18" charset="2"/>
              </a:rPr>
              <a:t>A</a:t>
            </a:r>
            <a:r>
              <a:rPr lang="en-US" sz="1800" baseline="-25000" dirty="0" err="1" smtClean="0">
                <a:cs typeface="Times New Roman" pitchFamily="18" charset="0"/>
                <a:sym typeface="Symbol" pitchFamily="18" charset="2"/>
              </a:rPr>
              <a:t>m</a:t>
            </a:r>
            <a:r>
              <a:rPr lang="en-US" sz="1800" baseline="-25000" dirty="0" smtClean="0">
                <a:cs typeface="Times New Roman" pitchFamily="18" charset="0"/>
                <a:sym typeface="Symbol" pitchFamily="18" charset="2"/>
              </a:rPr>
              <a:t> </a:t>
            </a:r>
            <a:r>
              <a:rPr lang="en-US" sz="1800" dirty="0" smtClean="0">
                <a:cs typeface="Times New Roman" pitchFamily="18" charset="0"/>
                <a:sym typeface="Symbol" pitchFamily="18" charset="2"/>
              </a:rPr>
              <a:t>| </a:t>
            </a:r>
            <a:r>
              <a:rPr lang="en-US" sz="1800" baseline="-25000" dirty="0" smtClean="0">
                <a:cs typeface="Times New Roman" pitchFamily="18" charset="0"/>
                <a:sym typeface="Symbol" pitchFamily="18" charset="2"/>
              </a:rPr>
              <a:t>1 </a:t>
            </a:r>
            <a:r>
              <a:rPr lang="en-US" sz="1800" dirty="0" smtClean="0">
                <a:cs typeface="Times New Roman" pitchFamily="18" charset="0"/>
                <a:sym typeface="Symbol" pitchFamily="18" charset="2"/>
              </a:rPr>
              <a:t>| </a:t>
            </a:r>
            <a:r>
              <a:rPr lang="en-US" sz="1800" baseline="-25000" dirty="0" smtClean="0">
                <a:cs typeface="Times New Roman" pitchFamily="18" charset="0"/>
                <a:sym typeface="Symbol" pitchFamily="18" charset="2"/>
              </a:rPr>
              <a:t>2 </a:t>
            </a:r>
            <a:r>
              <a:rPr lang="en-US" sz="1800" dirty="0" smtClean="0">
                <a:cs typeface="Times New Roman" pitchFamily="18" charset="0"/>
                <a:sym typeface="Symbol" pitchFamily="18" charset="2"/>
              </a:rPr>
              <a:t>| ... | </a:t>
            </a:r>
            <a:r>
              <a:rPr lang="en-US" sz="1800" baseline="-25000" dirty="0" smtClean="0">
                <a:cs typeface="Times New Roman" pitchFamily="18" charset="0"/>
                <a:sym typeface="Symbol" pitchFamily="18" charset="2"/>
              </a:rPr>
              <a:t>n</a:t>
            </a:r>
            <a:r>
              <a:rPr lang="en-US" sz="1800" dirty="0" smtClean="0">
                <a:cs typeface="Times New Roman" pitchFamily="18" charset="0"/>
                <a:sym typeface="Symbol" pitchFamily="18" charset="2"/>
              </a:rPr>
              <a:t> </a:t>
            </a:r>
          </a:p>
          <a:p>
            <a:pPr>
              <a:buFont typeface="Wingdings" pitchFamily="2" charset="2"/>
              <a:buNone/>
            </a:pPr>
            <a:r>
              <a:rPr lang="en-US" sz="1800" dirty="0" smtClean="0">
                <a:cs typeface="Times New Roman" pitchFamily="18" charset="0"/>
                <a:sym typeface="Symbol" pitchFamily="18" charset="2"/>
              </a:rPr>
              <a:t>     </a:t>
            </a:r>
            <a:r>
              <a:rPr lang="en-US" sz="1800" dirty="0" smtClean="0">
                <a:cs typeface="Times New Roman" pitchFamily="18" charset="0"/>
                <a:sym typeface="Symbol" pitchFamily="18" charset="2"/>
              </a:rPr>
              <a:t>with</a:t>
            </a:r>
          </a:p>
          <a:p>
            <a:pPr>
              <a:buFont typeface="Wingdings" pitchFamily="2" charset="2"/>
              <a:buNone/>
            </a:pPr>
            <a:r>
              <a:rPr lang="en-US" sz="1800" dirty="0" smtClean="0">
                <a:cs typeface="Times New Roman" pitchFamily="18" charset="0"/>
                <a:sym typeface="Symbol" pitchFamily="18" charset="2"/>
              </a:rPr>
              <a:t>            </a:t>
            </a:r>
            <a:r>
              <a:rPr lang="en-US" sz="1800" dirty="0" smtClean="0">
                <a:cs typeface="Times New Roman" pitchFamily="18" charset="0"/>
                <a:sym typeface="Symbol" pitchFamily="18" charset="2"/>
              </a:rPr>
              <a:t>A  </a:t>
            </a:r>
            <a:r>
              <a:rPr lang="en-US" sz="1800" baseline="-25000" dirty="0" smtClean="0">
                <a:cs typeface="Times New Roman" pitchFamily="18" charset="0"/>
                <a:sym typeface="Symbol" pitchFamily="18" charset="2"/>
              </a:rPr>
              <a:t>1</a:t>
            </a:r>
            <a:r>
              <a:rPr lang="en-US" sz="1800" dirty="0" smtClean="0">
                <a:cs typeface="Times New Roman" pitchFamily="18" charset="0"/>
                <a:sym typeface="Symbol" pitchFamily="18" charset="2"/>
              </a:rPr>
              <a:t>A’ | </a:t>
            </a:r>
            <a:r>
              <a:rPr lang="en-US" sz="1800" baseline="-25000" dirty="0" smtClean="0">
                <a:cs typeface="Times New Roman" pitchFamily="18" charset="0"/>
                <a:sym typeface="Symbol" pitchFamily="18" charset="2"/>
              </a:rPr>
              <a:t>2</a:t>
            </a:r>
            <a:r>
              <a:rPr lang="en-US" sz="1800" dirty="0" smtClean="0">
                <a:cs typeface="Times New Roman" pitchFamily="18" charset="0"/>
                <a:sym typeface="Symbol" pitchFamily="18" charset="2"/>
              </a:rPr>
              <a:t>A’ | ... | </a:t>
            </a:r>
            <a:r>
              <a:rPr lang="en-US" sz="1800" baseline="-25000" dirty="0" err="1" smtClean="0">
                <a:cs typeface="Times New Roman" pitchFamily="18" charset="0"/>
                <a:sym typeface="Symbol" pitchFamily="18" charset="2"/>
              </a:rPr>
              <a:t>n</a:t>
            </a:r>
            <a:r>
              <a:rPr lang="en-US" sz="1800" dirty="0" err="1" smtClean="0">
                <a:cs typeface="Times New Roman" pitchFamily="18" charset="0"/>
                <a:sym typeface="Symbol" pitchFamily="18" charset="2"/>
              </a:rPr>
              <a:t>A</a:t>
            </a:r>
            <a:r>
              <a:rPr lang="en-US" sz="1800" dirty="0" smtClean="0">
                <a:cs typeface="Times New Roman" pitchFamily="18" charset="0"/>
                <a:sym typeface="Symbol" pitchFamily="18" charset="2"/>
              </a:rPr>
              <a:t>’</a:t>
            </a:r>
          </a:p>
          <a:p>
            <a:pPr>
              <a:buFont typeface="Wingdings" pitchFamily="2" charset="2"/>
              <a:buNone/>
            </a:pPr>
            <a:r>
              <a:rPr lang="en-US" sz="1800" dirty="0" smtClean="0">
                <a:cs typeface="Times New Roman" pitchFamily="18" charset="0"/>
                <a:sym typeface="Symbol" pitchFamily="18" charset="2"/>
              </a:rPr>
              <a:t>            A’  </a:t>
            </a:r>
            <a:r>
              <a:rPr lang="en-US" sz="1800" baseline="-25000" dirty="0" smtClean="0">
                <a:cs typeface="Times New Roman" pitchFamily="18" charset="0"/>
                <a:sym typeface="Symbol" pitchFamily="18" charset="2"/>
              </a:rPr>
              <a:t>1</a:t>
            </a:r>
            <a:r>
              <a:rPr lang="en-US" sz="1800" dirty="0" smtClean="0">
                <a:cs typeface="Times New Roman" pitchFamily="18" charset="0"/>
                <a:sym typeface="Symbol" pitchFamily="18" charset="2"/>
              </a:rPr>
              <a:t>A’ | </a:t>
            </a:r>
            <a:r>
              <a:rPr lang="en-US" sz="1800" baseline="-25000" dirty="0" smtClean="0">
                <a:cs typeface="Times New Roman" pitchFamily="18" charset="0"/>
                <a:sym typeface="Symbol" pitchFamily="18" charset="2"/>
              </a:rPr>
              <a:t>2</a:t>
            </a:r>
            <a:r>
              <a:rPr lang="en-US" sz="1800" dirty="0" smtClean="0">
                <a:cs typeface="Times New Roman" pitchFamily="18" charset="0"/>
                <a:sym typeface="Symbol" pitchFamily="18" charset="2"/>
              </a:rPr>
              <a:t>A’ | ... | </a:t>
            </a:r>
            <a:r>
              <a:rPr lang="en-US" sz="1800" baseline="-25000" dirty="0" err="1" smtClean="0">
                <a:cs typeface="Times New Roman" pitchFamily="18" charset="0"/>
                <a:sym typeface="Symbol" pitchFamily="18" charset="2"/>
              </a:rPr>
              <a:t>m</a:t>
            </a:r>
            <a:r>
              <a:rPr lang="en-US" sz="1800" dirty="0" err="1" smtClean="0">
                <a:cs typeface="Times New Roman" pitchFamily="18" charset="0"/>
                <a:sym typeface="Symbol" pitchFamily="18" charset="2"/>
              </a:rPr>
              <a:t>A</a:t>
            </a:r>
            <a:r>
              <a:rPr lang="en-US" sz="1800" dirty="0" smtClean="0">
                <a:cs typeface="Times New Roman" pitchFamily="18" charset="0"/>
                <a:sym typeface="Symbol" pitchFamily="18" charset="2"/>
              </a:rPr>
              <a:t>’ | </a:t>
            </a:r>
          </a:p>
          <a:p>
            <a:endParaRPr lang="en-IN"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Raju\Desktop\WhatsApp Image 2025-03-13 at 11.53.06.jpeg"/>
          <p:cNvPicPr>
            <a:picLocks noChangeAspect="1" noChangeArrowheads="1"/>
          </p:cNvPicPr>
          <p:nvPr/>
        </p:nvPicPr>
        <p:blipFill>
          <a:blip r:embed="rId2"/>
          <a:srcRect/>
          <a:stretch>
            <a:fillRect/>
          </a:stretch>
        </p:blipFill>
        <p:spPr bwMode="auto">
          <a:xfrm>
            <a:off x="304800" y="990600"/>
            <a:ext cx="8458200" cy="5562600"/>
          </a:xfrm>
          <a:prstGeom prst="rect">
            <a:avLst/>
          </a:prstGeom>
          <a:noFill/>
        </p:spPr>
      </p:pic>
      <p:sp>
        <p:nvSpPr>
          <p:cNvPr id="5" name="TextBox 4"/>
          <p:cNvSpPr txBox="1"/>
          <p:nvPr/>
        </p:nvSpPr>
        <p:spPr>
          <a:xfrm>
            <a:off x="381000" y="533400"/>
            <a:ext cx="1066959" cy="369332"/>
          </a:xfrm>
          <a:prstGeom prst="rect">
            <a:avLst/>
          </a:prstGeom>
          <a:noFill/>
        </p:spPr>
        <p:txBody>
          <a:bodyPr wrap="none" rtlCol="0">
            <a:spAutoFit/>
          </a:bodyPr>
          <a:lstStyle/>
          <a:p>
            <a:r>
              <a:rPr lang="en-IN" dirty="0" smtClean="0"/>
              <a:t>Examples</a:t>
            </a:r>
            <a:endParaRPr lang="en-I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p:txBody>
          <a:bodyPr>
            <a:normAutofit fontScale="85000" lnSpcReduction="20000"/>
          </a:bodyPr>
          <a:lstStyle/>
          <a:p>
            <a:r>
              <a:rPr lang="en-US" dirty="0" smtClean="0"/>
              <a:t>Consider the left recursive grammar</a:t>
            </a:r>
          </a:p>
          <a:p>
            <a:pPr>
              <a:buFont typeface="Wingdings" pitchFamily="2" charset="2"/>
              <a:buNone/>
            </a:pPr>
            <a:r>
              <a:rPr lang="en-US" dirty="0" smtClean="0"/>
              <a:t>			</a:t>
            </a:r>
            <a:r>
              <a:rPr lang="en-US" i="1" dirty="0" smtClean="0"/>
              <a:t>E</a:t>
            </a:r>
            <a:r>
              <a:rPr lang="en-US" dirty="0" smtClean="0"/>
              <a:t> </a:t>
            </a:r>
            <a:r>
              <a:rPr lang="en-US" dirty="0" smtClean="0">
                <a:sym typeface="Symbol" pitchFamily="18" charset="2"/>
              </a:rPr>
              <a:t></a:t>
            </a:r>
            <a:r>
              <a:rPr lang="en-US" dirty="0" smtClean="0"/>
              <a:t> </a:t>
            </a:r>
            <a:r>
              <a:rPr lang="en-US" i="1" dirty="0" smtClean="0"/>
              <a:t>E</a:t>
            </a:r>
            <a:r>
              <a:rPr lang="en-US" dirty="0" smtClean="0"/>
              <a:t> + </a:t>
            </a:r>
            <a:r>
              <a:rPr lang="en-US" i="1" dirty="0" smtClean="0"/>
              <a:t>T</a:t>
            </a:r>
            <a:r>
              <a:rPr lang="en-US" dirty="0" smtClean="0"/>
              <a:t> | </a:t>
            </a:r>
            <a:r>
              <a:rPr lang="en-US" i="1" dirty="0" smtClean="0"/>
              <a:t>T</a:t>
            </a:r>
          </a:p>
          <a:p>
            <a:pPr>
              <a:buFont typeface="Wingdings" pitchFamily="2" charset="2"/>
              <a:buNone/>
            </a:pPr>
            <a:r>
              <a:rPr lang="en-US" dirty="0" smtClean="0"/>
              <a:t>			</a:t>
            </a:r>
            <a:r>
              <a:rPr lang="en-US" i="1" dirty="0" smtClean="0"/>
              <a:t>T</a:t>
            </a:r>
            <a:r>
              <a:rPr lang="en-US" dirty="0" smtClean="0"/>
              <a:t> </a:t>
            </a:r>
            <a:r>
              <a:rPr lang="en-US" dirty="0" smtClean="0">
                <a:sym typeface="Symbol" pitchFamily="18" charset="2"/>
              </a:rPr>
              <a:t></a:t>
            </a:r>
            <a:r>
              <a:rPr lang="en-US" dirty="0" smtClean="0"/>
              <a:t> </a:t>
            </a:r>
            <a:r>
              <a:rPr lang="en-US" i="1" dirty="0" smtClean="0"/>
              <a:t>T</a:t>
            </a:r>
            <a:r>
              <a:rPr lang="en-US" dirty="0" smtClean="0"/>
              <a:t> * </a:t>
            </a:r>
            <a:r>
              <a:rPr lang="en-US" i="1" dirty="0" smtClean="0"/>
              <a:t>F</a:t>
            </a:r>
            <a:r>
              <a:rPr lang="en-US" dirty="0" smtClean="0"/>
              <a:t> | </a:t>
            </a:r>
            <a:r>
              <a:rPr lang="en-US" i="1" dirty="0" smtClean="0"/>
              <a:t>F</a:t>
            </a:r>
          </a:p>
          <a:p>
            <a:pPr>
              <a:buFont typeface="Wingdings" pitchFamily="2" charset="2"/>
              <a:buNone/>
            </a:pPr>
            <a:r>
              <a:rPr lang="en-US" dirty="0" smtClean="0"/>
              <a:t>			</a:t>
            </a:r>
            <a:r>
              <a:rPr lang="en-US" i="1" dirty="0" smtClean="0"/>
              <a:t>F</a:t>
            </a:r>
            <a:r>
              <a:rPr lang="en-US" dirty="0" smtClean="0"/>
              <a:t> </a:t>
            </a:r>
            <a:r>
              <a:rPr lang="en-US" dirty="0" smtClean="0">
                <a:sym typeface="Symbol" pitchFamily="18" charset="2"/>
              </a:rPr>
              <a:t></a:t>
            </a:r>
            <a:r>
              <a:rPr lang="en-US" dirty="0" smtClean="0"/>
              <a:t> (</a:t>
            </a:r>
            <a:r>
              <a:rPr lang="en-US" i="1" dirty="0" smtClean="0"/>
              <a:t>E</a:t>
            </a:r>
            <a:r>
              <a:rPr lang="en-US" dirty="0" smtClean="0"/>
              <a:t>) | </a:t>
            </a:r>
            <a:r>
              <a:rPr lang="en-US" b="1" dirty="0" smtClean="0"/>
              <a:t>id</a:t>
            </a:r>
          </a:p>
          <a:p>
            <a:r>
              <a:rPr lang="en-US" dirty="0" smtClean="0"/>
              <a:t>Apply the transformation to </a:t>
            </a:r>
            <a:r>
              <a:rPr lang="en-US" i="1" dirty="0" smtClean="0"/>
              <a:t>E</a:t>
            </a:r>
            <a:r>
              <a:rPr lang="en-US" dirty="0" smtClean="0"/>
              <a:t>:</a:t>
            </a:r>
          </a:p>
          <a:p>
            <a:pPr>
              <a:buFont typeface="Wingdings" pitchFamily="2" charset="2"/>
              <a:buNone/>
            </a:pPr>
            <a:r>
              <a:rPr lang="en-US" dirty="0" smtClean="0"/>
              <a:t>			</a:t>
            </a:r>
            <a:r>
              <a:rPr lang="en-US" i="1" dirty="0" smtClean="0"/>
              <a:t>E</a:t>
            </a:r>
            <a:r>
              <a:rPr lang="en-US" dirty="0" smtClean="0"/>
              <a:t> </a:t>
            </a:r>
            <a:r>
              <a:rPr lang="en-US" dirty="0" smtClean="0">
                <a:sym typeface="Symbol" pitchFamily="18" charset="2"/>
              </a:rPr>
              <a:t></a:t>
            </a:r>
            <a:r>
              <a:rPr lang="en-US" dirty="0" smtClean="0"/>
              <a:t> </a:t>
            </a:r>
            <a:r>
              <a:rPr lang="en-US" i="1" dirty="0" smtClean="0"/>
              <a:t>T</a:t>
            </a:r>
            <a:r>
              <a:rPr lang="en-US" dirty="0" smtClean="0"/>
              <a:t> </a:t>
            </a:r>
            <a:r>
              <a:rPr lang="en-US" i="1" dirty="0" smtClean="0"/>
              <a:t>E'</a:t>
            </a:r>
          </a:p>
          <a:p>
            <a:pPr>
              <a:buFont typeface="Wingdings" pitchFamily="2" charset="2"/>
              <a:buNone/>
            </a:pPr>
            <a:r>
              <a:rPr lang="en-US" dirty="0" smtClean="0"/>
              <a:t>			</a:t>
            </a:r>
            <a:r>
              <a:rPr lang="en-US" i="1" dirty="0" smtClean="0"/>
              <a:t>E'</a:t>
            </a:r>
            <a:r>
              <a:rPr lang="en-US" dirty="0" smtClean="0"/>
              <a:t> </a:t>
            </a:r>
            <a:r>
              <a:rPr lang="en-US" dirty="0" smtClean="0">
                <a:sym typeface="Symbol" pitchFamily="18" charset="2"/>
              </a:rPr>
              <a:t></a:t>
            </a:r>
            <a:r>
              <a:rPr lang="en-US" dirty="0" smtClean="0"/>
              <a:t> + </a:t>
            </a:r>
            <a:r>
              <a:rPr lang="en-US" i="1" dirty="0" smtClean="0"/>
              <a:t>T</a:t>
            </a:r>
            <a:r>
              <a:rPr lang="en-US" dirty="0" smtClean="0"/>
              <a:t> </a:t>
            </a:r>
            <a:r>
              <a:rPr lang="en-US" i="1" dirty="0" smtClean="0"/>
              <a:t>E'</a:t>
            </a:r>
            <a:r>
              <a:rPr lang="en-US" dirty="0" smtClean="0"/>
              <a:t> | </a:t>
            </a:r>
            <a:r>
              <a:rPr lang="en-US" dirty="0" smtClean="0">
                <a:sym typeface="Symbol" pitchFamily="18" charset="2"/>
              </a:rPr>
              <a:t></a:t>
            </a:r>
            <a:r>
              <a:rPr lang="en-US" dirty="0" smtClean="0"/>
              <a:t>.</a:t>
            </a:r>
          </a:p>
          <a:p>
            <a:r>
              <a:rPr lang="en-US" dirty="0" smtClean="0"/>
              <a:t>Then apply the transformation to T:</a:t>
            </a:r>
          </a:p>
          <a:p>
            <a:pPr>
              <a:buFont typeface="Wingdings" pitchFamily="2" charset="2"/>
              <a:buNone/>
            </a:pPr>
            <a:r>
              <a:rPr lang="en-US" dirty="0" smtClean="0"/>
              <a:t>			</a:t>
            </a:r>
            <a:r>
              <a:rPr lang="en-US" i="1" dirty="0" smtClean="0"/>
              <a:t>T</a:t>
            </a:r>
            <a:r>
              <a:rPr lang="en-US" dirty="0" smtClean="0"/>
              <a:t> </a:t>
            </a:r>
            <a:r>
              <a:rPr lang="en-US" dirty="0" smtClean="0">
                <a:sym typeface="Symbol" pitchFamily="18" charset="2"/>
              </a:rPr>
              <a:t></a:t>
            </a:r>
            <a:r>
              <a:rPr lang="en-US" dirty="0" smtClean="0"/>
              <a:t> </a:t>
            </a:r>
            <a:r>
              <a:rPr lang="en-US" i="1" dirty="0" smtClean="0"/>
              <a:t>F T'</a:t>
            </a:r>
          </a:p>
          <a:p>
            <a:pPr>
              <a:buFont typeface="Wingdings" pitchFamily="2" charset="2"/>
              <a:buNone/>
            </a:pPr>
            <a:r>
              <a:rPr lang="en-US" dirty="0" smtClean="0"/>
              <a:t>			</a:t>
            </a:r>
            <a:r>
              <a:rPr lang="en-US" i="1" dirty="0" smtClean="0"/>
              <a:t>T'</a:t>
            </a:r>
            <a:r>
              <a:rPr lang="en-US" dirty="0" smtClean="0"/>
              <a:t> </a:t>
            </a:r>
            <a:r>
              <a:rPr lang="en-US" dirty="0" smtClean="0">
                <a:sym typeface="Symbol" pitchFamily="18" charset="2"/>
              </a:rPr>
              <a:t></a:t>
            </a:r>
            <a:r>
              <a:rPr lang="en-US" dirty="0" smtClean="0"/>
              <a:t> * </a:t>
            </a:r>
            <a:r>
              <a:rPr lang="en-US" i="1" dirty="0" smtClean="0"/>
              <a:t>F T'</a:t>
            </a:r>
            <a:r>
              <a:rPr lang="en-US" dirty="0" smtClean="0"/>
              <a:t> | </a:t>
            </a:r>
            <a:r>
              <a:rPr lang="en-US" dirty="0" smtClean="0">
                <a:sym typeface="Symbol" pitchFamily="18" charset="2"/>
              </a:rPr>
              <a:t></a:t>
            </a:r>
            <a:r>
              <a:rPr lang="en-US" dirty="0" smtClean="0"/>
              <a:t>.</a:t>
            </a:r>
          </a:p>
          <a:p>
            <a:endParaRPr lang="en-IN"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Elimination of Left Recursion cond..</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066801" y="1496498"/>
            <a:ext cx="8066215" cy="4447102"/>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8324088" cy="1143000"/>
          </a:xfrm>
        </p:spPr>
        <p:txBody>
          <a:bodyPr>
            <a:normAutofit fontScale="90000"/>
          </a:bodyPr>
          <a:lstStyle/>
          <a:p>
            <a:r>
              <a:rPr lang="en-US" dirty="0" smtClean="0"/>
              <a:t>Elimination of Indirect Left Recursion</a:t>
            </a:r>
            <a:endParaRPr lang="en-US" dirty="0"/>
          </a:p>
        </p:txBody>
      </p:sp>
      <p:sp>
        <p:nvSpPr>
          <p:cNvPr id="14" name="Text Box 7"/>
          <p:cNvSpPr txBox="1">
            <a:spLocks noChangeArrowheads="1"/>
          </p:cNvSpPr>
          <p:nvPr/>
        </p:nvSpPr>
        <p:spPr bwMode="auto">
          <a:xfrm>
            <a:off x="1104900" y="1828800"/>
            <a:ext cx="1257300" cy="2235200"/>
          </a:xfrm>
          <a:prstGeom prst="rect">
            <a:avLst/>
          </a:prstGeom>
          <a:noFill/>
          <a:ln w="9525">
            <a:solidFill>
              <a:schemeClr val="hlink"/>
            </a:solidFill>
            <a:miter lim="800000"/>
            <a:headEnd/>
            <a:tailEnd/>
          </a:ln>
          <a:effectLst/>
        </p:spPr>
        <p:txBody>
          <a:bodyPr wrap="none">
            <a:spAutoFit/>
          </a:bodyPr>
          <a:lstStyle/>
          <a:p>
            <a:r>
              <a:rPr lang="en-US" sz="2000" dirty="0">
                <a:latin typeface="Comic Sans MS" pitchFamily="66" charset="0"/>
                <a:cs typeface="Times New Roman" pitchFamily="18" charset="0"/>
                <a:sym typeface="Symbol" pitchFamily="18" charset="2"/>
              </a:rPr>
              <a:t>S  E</a:t>
            </a:r>
            <a:br>
              <a:rPr lang="en-US" sz="2000" dirty="0">
                <a:latin typeface="Comic Sans MS" pitchFamily="66" charset="0"/>
                <a:cs typeface="Times New Roman" pitchFamily="18" charset="0"/>
                <a:sym typeface="Symbol" pitchFamily="18" charset="2"/>
              </a:rPr>
            </a:br>
            <a:r>
              <a:rPr lang="en-US" sz="2000" dirty="0">
                <a:latin typeface="Comic Sans MS" pitchFamily="66" charset="0"/>
                <a:cs typeface="Times New Roman" pitchFamily="18" charset="0"/>
                <a:sym typeface="Symbol" pitchFamily="18" charset="2"/>
              </a:rPr>
              <a:t>E  E</a:t>
            </a:r>
            <a:r>
              <a:rPr lang="en-US" sz="2000" b="1" dirty="0">
                <a:latin typeface="Comic Sans MS" pitchFamily="66" charset="0"/>
                <a:cs typeface="Times New Roman" pitchFamily="18" charset="0"/>
                <a:sym typeface="Symbol" pitchFamily="18" charset="2"/>
              </a:rPr>
              <a:t>+</a:t>
            </a:r>
            <a:r>
              <a:rPr lang="en-US" sz="2000" dirty="0">
                <a:latin typeface="Comic Sans MS" pitchFamily="66" charset="0"/>
                <a:cs typeface="Times New Roman" pitchFamily="18" charset="0"/>
                <a:sym typeface="Symbol" pitchFamily="18" charset="2"/>
              </a:rPr>
              <a:t>T</a:t>
            </a:r>
          </a:p>
          <a:p>
            <a:r>
              <a:rPr lang="en-US" sz="2000" dirty="0">
                <a:latin typeface="Comic Sans MS" pitchFamily="66" charset="0"/>
                <a:cs typeface="Times New Roman" pitchFamily="18" charset="0"/>
                <a:sym typeface="Symbol" pitchFamily="18" charset="2"/>
              </a:rPr>
              <a:t>E  T</a:t>
            </a:r>
          </a:p>
          <a:p>
            <a:r>
              <a:rPr lang="en-US" sz="2000" dirty="0">
                <a:latin typeface="Comic Sans MS" pitchFamily="66" charset="0"/>
                <a:cs typeface="Times New Roman" pitchFamily="18" charset="0"/>
                <a:sym typeface="Symbol" pitchFamily="18" charset="2"/>
              </a:rPr>
              <a:t>T  E</a:t>
            </a:r>
            <a:r>
              <a:rPr lang="en-US" sz="2000" b="1" dirty="0">
                <a:latin typeface="Comic Sans MS" pitchFamily="66" charset="0"/>
                <a:cs typeface="Times New Roman" pitchFamily="18" charset="0"/>
                <a:sym typeface="Symbol" pitchFamily="18" charset="2"/>
              </a:rPr>
              <a:t>-</a:t>
            </a:r>
            <a:r>
              <a:rPr lang="en-US" sz="2000" dirty="0">
                <a:latin typeface="Comic Sans MS" pitchFamily="66" charset="0"/>
                <a:cs typeface="Times New Roman" pitchFamily="18" charset="0"/>
                <a:sym typeface="Symbol" pitchFamily="18" charset="2"/>
              </a:rPr>
              <a:t>T</a:t>
            </a:r>
          </a:p>
          <a:p>
            <a:r>
              <a:rPr lang="en-US" sz="2000" dirty="0">
                <a:latin typeface="Comic Sans MS" pitchFamily="66" charset="0"/>
                <a:cs typeface="Times New Roman" pitchFamily="18" charset="0"/>
                <a:sym typeface="Symbol" pitchFamily="18" charset="2"/>
              </a:rPr>
              <a:t>T  F</a:t>
            </a:r>
          </a:p>
          <a:p>
            <a:r>
              <a:rPr lang="en-US" sz="2000" dirty="0">
                <a:latin typeface="Comic Sans MS" pitchFamily="66" charset="0"/>
                <a:cs typeface="Times New Roman" pitchFamily="18" charset="0"/>
                <a:sym typeface="Symbol" pitchFamily="18" charset="2"/>
              </a:rPr>
              <a:t>F  E*F</a:t>
            </a:r>
          </a:p>
          <a:p>
            <a:r>
              <a:rPr lang="en-US" sz="2000" dirty="0">
                <a:latin typeface="Comic Sans MS" pitchFamily="66" charset="0"/>
                <a:cs typeface="Times New Roman" pitchFamily="18" charset="0"/>
                <a:sym typeface="Symbol" pitchFamily="18" charset="2"/>
              </a:rPr>
              <a:t>F  </a:t>
            </a:r>
            <a:r>
              <a:rPr lang="en-US" sz="2000" b="1" dirty="0">
                <a:latin typeface="Comic Sans MS" pitchFamily="66" charset="0"/>
                <a:cs typeface="Times New Roman" pitchFamily="18" charset="0"/>
                <a:sym typeface="Symbol" pitchFamily="18" charset="2"/>
              </a:rPr>
              <a:t>id</a:t>
            </a:r>
          </a:p>
        </p:txBody>
      </p:sp>
      <p:sp>
        <p:nvSpPr>
          <p:cNvPr id="15" name="Text Box 8"/>
          <p:cNvSpPr txBox="1">
            <a:spLocks noChangeArrowheads="1"/>
          </p:cNvSpPr>
          <p:nvPr/>
        </p:nvSpPr>
        <p:spPr bwMode="auto">
          <a:xfrm>
            <a:off x="3238500" y="1371600"/>
            <a:ext cx="561975" cy="396875"/>
          </a:xfrm>
          <a:prstGeom prst="rect">
            <a:avLst/>
          </a:prstGeom>
          <a:noFill/>
          <a:ln w="9525">
            <a:noFill/>
            <a:miter lim="800000"/>
            <a:headEnd/>
            <a:tailEnd/>
          </a:ln>
          <a:effectLst/>
        </p:spPr>
        <p:txBody>
          <a:bodyPr wrap="none">
            <a:spAutoFit/>
          </a:bodyPr>
          <a:lstStyle/>
          <a:p>
            <a:r>
              <a:rPr lang="en-US" sz="2000">
                <a:latin typeface="Comic Sans MS" pitchFamily="66" charset="0"/>
              </a:rPr>
              <a:t>i=S</a:t>
            </a:r>
          </a:p>
        </p:txBody>
      </p:sp>
      <p:sp>
        <p:nvSpPr>
          <p:cNvPr id="16" name="Text Box 9"/>
          <p:cNvSpPr txBox="1">
            <a:spLocks noChangeArrowheads="1"/>
          </p:cNvSpPr>
          <p:nvPr/>
        </p:nvSpPr>
        <p:spPr bwMode="auto">
          <a:xfrm>
            <a:off x="419100" y="1371600"/>
            <a:ext cx="2443163" cy="396875"/>
          </a:xfrm>
          <a:prstGeom prst="rect">
            <a:avLst/>
          </a:prstGeom>
          <a:noFill/>
          <a:ln w="9525">
            <a:noFill/>
            <a:miter lim="800000"/>
            <a:headEnd/>
            <a:tailEnd/>
          </a:ln>
          <a:effectLst/>
        </p:spPr>
        <p:txBody>
          <a:bodyPr wrap="none">
            <a:spAutoFit/>
          </a:bodyPr>
          <a:lstStyle/>
          <a:p>
            <a:r>
              <a:rPr lang="en-US" sz="2000">
                <a:latin typeface="Comic Sans MS" pitchFamily="66" charset="0"/>
              </a:rPr>
              <a:t>ordering: S, E, T, F</a:t>
            </a:r>
          </a:p>
        </p:txBody>
      </p:sp>
      <p:sp>
        <p:nvSpPr>
          <p:cNvPr id="17" name="Text Box 10"/>
          <p:cNvSpPr txBox="1">
            <a:spLocks noChangeArrowheads="1"/>
          </p:cNvSpPr>
          <p:nvPr/>
        </p:nvSpPr>
        <p:spPr bwMode="auto">
          <a:xfrm>
            <a:off x="2857500" y="1828800"/>
            <a:ext cx="1257300" cy="2235200"/>
          </a:xfrm>
          <a:prstGeom prst="rect">
            <a:avLst/>
          </a:prstGeom>
          <a:noFill/>
          <a:ln w="9525">
            <a:solidFill>
              <a:schemeClr val="hlink"/>
            </a:solidFill>
            <a:miter lim="800000"/>
            <a:headEnd/>
            <a:tailEnd/>
          </a:ln>
          <a:effectLst/>
        </p:spPr>
        <p:txBody>
          <a:bodyPr wrap="none">
            <a:spAutoFit/>
          </a:bodyPr>
          <a:lstStyle/>
          <a:p>
            <a:r>
              <a:rPr lang="en-US" sz="2000" dirty="0">
                <a:latin typeface="Comic Sans MS" pitchFamily="66" charset="0"/>
                <a:cs typeface="Times New Roman" pitchFamily="18" charset="0"/>
                <a:sym typeface="Symbol" pitchFamily="18" charset="2"/>
              </a:rPr>
              <a:t>S  E</a:t>
            </a:r>
            <a:br>
              <a:rPr lang="en-US" sz="2000" dirty="0">
                <a:latin typeface="Comic Sans MS" pitchFamily="66" charset="0"/>
                <a:cs typeface="Times New Roman" pitchFamily="18" charset="0"/>
                <a:sym typeface="Symbol" pitchFamily="18" charset="2"/>
              </a:rPr>
            </a:br>
            <a:r>
              <a:rPr lang="en-US" sz="2000" dirty="0">
                <a:latin typeface="Comic Sans MS" pitchFamily="66" charset="0"/>
                <a:cs typeface="Times New Roman" pitchFamily="18" charset="0"/>
                <a:sym typeface="Symbol" pitchFamily="18" charset="2"/>
              </a:rPr>
              <a:t>E  E</a:t>
            </a:r>
            <a:r>
              <a:rPr lang="en-US" sz="2000" b="1" dirty="0">
                <a:latin typeface="Comic Sans MS" pitchFamily="66" charset="0"/>
                <a:cs typeface="Times New Roman" pitchFamily="18" charset="0"/>
                <a:sym typeface="Symbol" pitchFamily="18" charset="2"/>
              </a:rPr>
              <a:t>+</a:t>
            </a:r>
            <a:r>
              <a:rPr lang="en-US" sz="2000" dirty="0">
                <a:latin typeface="Comic Sans MS" pitchFamily="66" charset="0"/>
                <a:cs typeface="Times New Roman" pitchFamily="18" charset="0"/>
                <a:sym typeface="Symbol" pitchFamily="18" charset="2"/>
              </a:rPr>
              <a:t>T</a:t>
            </a:r>
          </a:p>
          <a:p>
            <a:r>
              <a:rPr lang="en-US" sz="2000" dirty="0">
                <a:latin typeface="Comic Sans MS" pitchFamily="66" charset="0"/>
                <a:cs typeface="Times New Roman" pitchFamily="18" charset="0"/>
                <a:sym typeface="Symbol" pitchFamily="18" charset="2"/>
              </a:rPr>
              <a:t>E  T</a:t>
            </a:r>
          </a:p>
          <a:p>
            <a:r>
              <a:rPr lang="en-US" sz="2000" dirty="0">
                <a:latin typeface="Comic Sans MS" pitchFamily="66" charset="0"/>
                <a:cs typeface="Times New Roman" pitchFamily="18" charset="0"/>
                <a:sym typeface="Symbol" pitchFamily="18" charset="2"/>
              </a:rPr>
              <a:t>T  E</a:t>
            </a:r>
            <a:r>
              <a:rPr lang="en-US" sz="2000" b="1" dirty="0">
                <a:latin typeface="Comic Sans MS" pitchFamily="66" charset="0"/>
                <a:cs typeface="Times New Roman" pitchFamily="18" charset="0"/>
                <a:sym typeface="Symbol" pitchFamily="18" charset="2"/>
              </a:rPr>
              <a:t>-</a:t>
            </a:r>
            <a:r>
              <a:rPr lang="en-US" sz="2000" dirty="0">
                <a:latin typeface="Comic Sans MS" pitchFamily="66" charset="0"/>
                <a:cs typeface="Times New Roman" pitchFamily="18" charset="0"/>
                <a:sym typeface="Symbol" pitchFamily="18" charset="2"/>
              </a:rPr>
              <a:t>T</a:t>
            </a:r>
          </a:p>
          <a:p>
            <a:r>
              <a:rPr lang="en-US" sz="2000" dirty="0">
                <a:latin typeface="Comic Sans MS" pitchFamily="66" charset="0"/>
                <a:cs typeface="Times New Roman" pitchFamily="18" charset="0"/>
                <a:sym typeface="Symbol" pitchFamily="18" charset="2"/>
              </a:rPr>
              <a:t>T  F</a:t>
            </a:r>
          </a:p>
          <a:p>
            <a:r>
              <a:rPr lang="en-US" sz="2000" dirty="0">
                <a:latin typeface="Comic Sans MS" pitchFamily="66" charset="0"/>
                <a:cs typeface="Times New Roman" pitchFamily="18" charset="0"/>
                <a:sym typeface="Symbol" pitchFamily="18" charset="2"/>
              </a:rPr>
              <a:t>F  E*F</a:t>
            </a:r>
          </a:p>
          <a:p>
            <a:r>
              <a:rPr lang="en-US" sz="2000" dirty="0">
                <a:latin typeface="Comic Sans MS" pitchFamily="66" charset="0"/>
                <a:cs typeface="Times New Roman" pitchFamily="18" charset="0"/>
                <a:sym typeface="Symbol" pitchFamily="18" charset="2"/>
              </a:rPr>
              <a:t>F  </a:t>
            </a:r>
            <a:r>
              <a:rPr lang="en-US" sz="2000" b="1" dirty="0">
                <a:latin typeface="Comic Sans MS" pitchFamily="66" charset="0"/>
                <a:cs typeface="Times New Roman" pitchFamily="18" charset="0"/>
                <a:sym typeface="Symbol" pitchFamily="18" charset="2"/>
              </a:rPr>
              <a:t>id</a:t>
            </a:r>
          </a:p>
        </p:txBody>
      </p:sp>
      <p:sp>
        <p:nvSpPr>
          <p:cNvPr id="18" name="Text Box 11"/>
          <p:cNvSpPr txBox="1">
            <a:spLocks noChangeArrowheads="1"/>
          </p:cNvSpPr>
          <p:nvPr/>
        </p:nvSpPr>
        <p:spPr bwMode="auto">
          <a:xfrm>
            <a:off x="5067300" y="1371600"/>
            <a:ext cx="544513" cy="396875"/>
          </a:xfrm>
          <a:prstGeom prst="rect">
            <a:avLst/>
          </a:prstGeom>
          <a:noFill/>
          <a:ln w="9525">
            <a:noFill/>
            <a:miter lim="800000"/>
            <a:headEnd/>
            <a:tailEnd/>
          </a:ln>
          <a:effectLst/>
        </p:spPr>
        <p:txBody>
          <a:bodyPr wrap="none">
            <a:spAutoFit/>
          </a:bodyPr>
          <a:lstStyle/>
          <a:p>
            <a:r>
              <a:rPr lang="en-US" sz="2000" dirty="0" err="1">
                <a:latin typeface="Comic Sans MS" pitchFamily="66" charset="0"/>
              </a:rPr>
              <a:t>i</a:t>
            </a:r>
            <a:r>
              <a:rPr lang="en-US" sz="2000" dirty="0">
                <a:latin typeface="Comic Sans MS" pitchFamily="66" charset="0"/>
              </a:rPr>
              <a:t>=E</a:t>
            </a:r>
          </a:p>
        </p:txBody>
      </p:sp>
      <p:sp>
        <p:nvSpPr>
          <p:cNvPr id="19" name="Text Box 12"/>
          <p:cNvSpPr txBox="1">
            <a:spLocks noChangeArrowheads="1"/>
          </p:cNvSpPr>
          <p:nvPr/>
        </p:nvSpPr>
        <p:spPr bwMode="auto">
          <a:xfrm>
            <a:off x="4686300" y="1828800"/>
            <a:ext cx="1471613" cy="2235200"/>
          </a:xfrm>
          <a:prstGeom prst="rect">
            <a:avLst/>
          </a:prstGeom>
          <a:noFill/>
          <a:ln w="9525">
            <a:solidFill>
              <a:schemeClr val="hlink"/>
            </a:solidFill>
            <a:miter lim="800000"/>
            <a:headEnd/>
            <a:tailEnd/>
          </a:ln>
          <a:effectLst/>
        </p:spPr>
        <p:txBody>
          <a:bodyPr wrap="none">
            <a:spAutoFit/>
          </a:bodyPr>
          <a:lstStyle/>
          <a:p>
            <a:r>
              <a:rPr lang="en-US" sz="2000" dirty="0">
                <a:latin typeface="Comic Sans MS" pitchFamily="66" charset="0"/>
                <a:cs typeface="Times New Roman" pitchFamily="18" charset="0"/>
                <a:sym typeface="Symbol" pitchFamily="18" charset="2"/>
              </a:rPr>
              <a:t>S  E</a:t>
            </a:r>
            <a:br>
              <a:rPr lang="en-US" sz="2000" dirty="0">
                <a:latin typeface="Comic Sans MS" pitchFamily="66" charset="0"/>
                <a:cs typeface="Times New Roman" pitchFamily="18" charset="0"/>
                <a:sym typeface="Symbol" pitchFamily="18" charset="2"/>
              </a:rPr>
            </a:br>
            <a:r>
              <a:rPr lang="en-US" sz="2000" dirty="0">
                <a:latin typeface="Comic Sans MS" pitchFamily="66" charset="0"/>
                <a:cs typeface="Times New Roman" pitchFamily="18" charset="0"/>
                <a:sym typeface="Symbol" pitchFamily="18" charset="2"/>
              </a:rPr>
              <a:t>E  TE'</a:t>
            </a:r>
          </a:p>
          <a:p>
            <a:r>
              <a:rPr lang="en-US" sz="2000" dirty="0">
                <a:latin typeface="Comic Sans MS" pitchFamily="66" charset="0"/>
                <a:cs typeface="Times New Roman" pitchFamily="18" charset="0"/>
                <a:sym typeface="Symbol" pitchFamily="18" charset="2"/>
              </a:rPr>
              <a:t>E'+TE'|</a:t>
            </a:r>
          </a:p>
          <a:p>
            <a:r>
              <a:rPr lang="en-US" sz="2000" dirty="0">
                <a:latin typeface="Comic Sans MS" pitchFamily="66" charset="0"/>
                <a:cs typeface="Times New Roman" pitchFamily="18" charset="0"/>
                <a:sym typeface="Symbol" pitchFamily="18" charset="2"/>
              </a:rPr>
              <a:t>T  E</a:t>
            </a:r>
            <a:r>
              <a:rPr lang="en-US" sz="2000" b="1" dirty="0">
                <a:latin typeface="Comic Sans MS" pitchFamily="66" charset="0"/>
                <a:cs typeface="Times New Roman" pitchFamily="18" charset="0"/>
                <a:sym typeface="Symbol" pitchFamily="18" charset="2"/>
              </a:rPr>
              <a:t>-</a:t>
            </a:r>
            <a:r>
              <a:rPr lang="en-US" sz="2000" dirty="0">
                <a:latin typeface="Comic Sans MS" pitchFamily="66" charset="0"/>
                <a:cs typeface="Times New Roman" pitchFamily="18" charset="0"/>
                <a:sym typeface="Symbol" pitchFamily="18" charset="2"/>
              </a:rPr>
              <a:t>T</a:t>
            </a:r>
          </a:p>
          <a:p>
            <a:r>
              <a:rPr lang="en-US" sz="2000" dirty="0">
                <a:latin typeface="Comic Sans MS" pitchFamily="66" charset="0"/>
                <a:cs typeface="Times New Roman" pitchFamily="18" charset="0"/>
                <a:sym typeface="Symbol" pitchFamily="18" charset="2"/>
              </a:rPr>
              <a:t>T  F</a:t>
            </a:r>
          </a:p>
          <a:p>
            <a:r>
              <a:rPr lang="en-US" sz="2000" dirty="0">
                <a:latin typeface="Comic Sans MS" pitchFamily="66" charset="0"/>
                <a:cs typeface="Times New Roman" pitchFamily="18" charset="0"/>
                <a:sym typeface="Symbol" pitchFamily="18" charset="2"/>
              </a:rPr>
              <a:t>F  E*F</a:t>
            </a:r>
          </a:p>
          <a:p>
            <a:r>
              <a:rPr lang="en-US" sz="2000" dirty="0">
                <a:latin typeface="Comic Sans MS" pitchFamily="66" charset="0"/>
                <a:cs typeface="Times New Roman" pitchFamily="18" charset="0"/>
                <a:sym typeface="Symbol" pitchFamily="18" charset="2"/>
              </a:rPr>
              <a:t>F  </a:t>
            </a:r>
            <a:r>
              <a:rPr lang="en-US" sz="2000" b="1" dirty="0">
                <a:latin typeface="Comic Sans MS" pitchFamily="66" charset="0"/>
                <a:cs typeface="Times New Roman" pitchFamily="18" charset="0"/>
                <a:sym typeface="Symbol" pitchFamily="18" charset="2"/>
              </a:rPr>
              <a:t>id</a:t>
            </a:r>
          </a:p>
        </p:txBody>
      </p:sp>
      <p:sp>
        <p:nvSpPr>
          <p:cNvPr id="20" name="Text Box 13"/>
          <p:cNvSpPr txBox="1">
            <a:spLocks noChangeArrowheads="1"/>
          </p:cNvSpPr>
          <p:nvPr/>
        </p:nvSpPr>
        <p:spPr bwMode="auto">
          <a:xfrm>
            <a:off x="7277100" y="1371600"/>
            <a:ext cx="1096963" cy="396875"/>
          </a:xfrm>
          <a:prstGeom prst="rect">
            <a:avLst/>
          </a:prstGeom>
          <a:noFill/>
          <a:ln w="9525">
            <a:noFill/>
            <a:miter lim="800000"/>
            <a:headEnd/>
            <a:tailEnd/>
          </a:ln>
          <a:effectLst/>
        </p:spPr>
        <p:txBody>
          <a:bodyPr wrap="none">
            <a:spAutoFit/>
          </a:bodyPr>
          <a:lstStyle/>
          <a:p>
            <a:r>
              <a:rPr lang="en-US" sz="2000" dirty="0" err="1">
                <a:latin typeface="Comic Sans MS" pitchFamily="66" charset="0"/>
              </a:rPr>
              <a:t>i</a:t>
            </a:r>
            <a:r>
              <a:rPr lang="en-US" sz="2000" dirty="0">
                <a:latin typeface="Comic Sans MS" pitchFamily="66" charset="0"/>
              </a:rPr>
              <a:t>=T, j=E</a:t>
            </a:r>
          </a:p>
        </p:txBody>
      </p:sp>
      <p:sp>
        <p:nvSpPr>
          <p:cNvPr id="21" name="Text Box 14"/>
          <p:cNvSpPr txBox="1">
            <a:spLocks noChangeArrowheads="1"/>
          </p:cNvSpPr>
          <p:nvPr/>
        </p:nvSpPr>
        <p:spPr bwMode="auto">
          <a:xfrm>
            <a:off x="6896100" y="1828800"/>
            <a:ext cx="1528763" cy="2235200"/>
          </a:xfrm>
          <a:prstGeom prst="rect">
            <a:avLst/>
          </a:prstGeom>
          <a:noFill/>
          <a:ln w="9525">
            <a:solidFill>
              <a:schemeClr val="hlink"/>
            </a:solidFill>
            <a:miter lim="800000"/>
            <a:headEnd/>
            <a:tailEnd/>
          </a:ln>
          <a:effectLst/>
        </p:spPr>
        <p:txBody>
          <a:bodyPr wrap="none">
            <a:spAutoFit/>
          </a:bodyPr>
          <a:lstStyle/>
          <a:p>
            <a:r>
              <a:rPr lang="en-US" sz="2000" dirty="0">
                <a:latin typeface="Comic Sans MS" pitchFamily="66" charset="0"/>
                <a:cs typeface="Times New Roman" pitchFamily="18" charset="0"/>
                <a:sym typeface="Symbol" pitchFamily="18" charset="2"/>
              </a:rPr>
              <a:t>S  E</a:t>
            </a:r>
            <a:br>
              <a:rPr lang="en-US" sz="2000" dirty="0">
                <a:latin typeface="Comic Sans MS" pitchFamily="66" charset="0"/>
                <a:cs typeface="Times New Roman" pitchFamily="18" charset="0"/>
                <a:sym typeface="Symbol" pitchFamily="18" charset="2"/>
              </a:rPr>
            </a:br>
            <a:r>
              <a:rPr lang="en-US" sz="2000" dirty="0">
                <a:latin typeface="Comic Sans MS" pitchFamily="66" charset="0"/>
                <a:cs typeface="Times New Roman" pitchFamily="18" charset="0"/>
                <a:sym typeface="Symbol" pitchFamily="18" charset="2"/>
              </a:rPr>
              <a:t>E  TE'</a:t>
            </a:r>
          </a:p>
          <a:p>
            <a:r>
              <a:rPr lang="en-US" sz="2000" dirty="0">
                <a:latin typeface="Comic Sans MS" pitchFamily="66" charset="0"/>
                <a:cs typeface="Times New Roman" pitchFamily="18" charset="0"/>
                <a:sym typeface="Symbol" pitchFamily="18" charset="2"/>
              </a:rPr>
              <a:t>E'+TE'|</a:t>
            </a:r>
          </a:p>
          <a:p>
            <a:r>
              <a:rPr lang="en-US" sz="2000" dirty="0">
                <a:latin typeface="Comic Sans MS" pitchFamily="66" charset="0"/>
                <a:cs typeface="Times New Roman" pitchFamily="18" charset="0"/>
                <a:sym typeface="Symbol" pitchFamily="18" charset="2"/>
              </a:rPr>
              <a:t>T  TE'</a:t>
            </a:r>
            <a:r>
              <a:rPr lang="en-US" sz="2000" b="1" dirty="0">
                <a:latin typeface="Comic Sans MS" pitchFamily="66" charset="0"/>
                <a:cs typeface="Times New Roman" pitchFamily="18" charset="0"/>
                <a:sym typeface="Symbol" pitchFamily="18" charset="2"/>
              </a:rPr>
              <a:t>-</a:t>
            </a:r>
            <a:r>
              <a:rPr lang="en-US" sz="2000" dirty="0">
                <a:latin typeface="Comic Sans MS" pitchFamily="66" charset="0"/>
                <a:cs typeface="Times New Roman" pitchFamily="18" charset="0"/>
                <a:sym typeface="Symbol" pitchFamily="18" charset="2"/>
              </a:rPr>
              <a:t>T</a:t>
            </a:r>
          </a:p>
          <a:p>
            <a:r>
              <a:rPr lang="en-US" sz="2000" dirty="0">
                <a:latin typeface="Comic Sans MS" pitchFamily="66" charset="0"/>
                <a:cs typeface="Times New Roman" pitchFamily="18" charset="0"/>
                <a:sym typeface="Symbol" pitchFamily="18" charset="2"/>
              </a:rPr>
              <a:t>T  F</a:t>
            </a:r>
          </a:p>
          <a:p>
            <a:r>
              <a:rPr lang="en-US" sz="2000" dirty="0">
                <a:latin typeface="Comic Sans MS" pitchFamily="66" charset="0"/>
                <a:cs typeface="Times New Roman" pitchFamily="18" charset="0"/>
                <a:sym typeface="Symbol" pitchFamily="18" charset="2"/>
              </a:rPr>
              <a:t>F  E*F</a:t>
            </a:r>
          </a:p>
          <a:p>
            <a:r>
              <a:rPr lang="en-US" sz="2000" dirty="0">
                <a:latin typeface="Comic Sans MS" pitchFamily="66" charset="0"/>
                <a:cs typeface="Times New Roman" pitchFamily="18" charset="0"/>
                <a:sym typeface="Symbol" pitchFamily="18" charset="2"/>
              </a:rPr>
              <a:t>F  </a:t>
            </a:r>
            <a:r>
              <a:rPr lang="en-US" sz="2000" b="1" dirty="0">
                <a:latin typeface="Comic Sans MS" pitchFamily="66" charset="0"/>
                <a:cs typeface="Times New Roman" pitchFamily="18" charset="0"/>
                <a:sym typeface="Symbol" pitchFamily="18" charset="2"/>
              </a:rPr>
              <a:t>id</a:t>
            </a:r>
          </a:p>
        </p:txBody>
      </p:sp>
      <p:sp>
        <p:nvSpPr>
          <p:cNvPr id="22" name="Text Box 15"/>
          <p:cNvSpPr txBox="1">
            <a:spLocks noChangeArrowheads="1"/>
          </p:cNvSpPr>
          <p:nvPr/>
        </p:nvSpPr>
        <p:spPr bwMode="auto">
          <a:xfrm>
            <a:off x="6819900" y="4419600"/>
            <a:ext cx="1943100" cy="2235200"/>
          </a:xfrm>
          <a:prstGeom prst="rect">
            <a:avLst/>
          </a:prstGeom>
          <a:noFill/>
          <a:ln w="9525">
            <a:solidFill>
              <a:schemeClr val="hlink"/>
            </a:solidFill>
            <a:miter lim="800000"/>
            <a:headEnd/>
            <a:tailEnd/>
          </a:ln>
          <a:effectLst/>
        </p:spPr>
        <p:txBody>
          <a:bodyPr wrap="none">
            <a:spAutoFit/>
          </a:bodyPr>
          <a:lstStyle/>
          <a:p>
            <a:r>
              <a:rPr lang="en-US" sz="2000" dirty="0">
                <a:latin typeface="Comic Sans MS" pitchFamily="66" charset="0"/>
                <a:cs typeface="Times New Roman" pitchFamily="18" charset="0"/>
                <a:sym typeface="Symbol" pitchFamily="18" charset="2"/>
              </a:rPr>
              <a:t>S  E</a:t>
            </a:r>
            <a:br>
              <a:rPr lang="en-US" sz="2000" dirty="0">
                <a:latin typeface="Comic Sans MS" pitchFamily="66" charset="0"/>
                <a:cs typeface="Times New Roman" pitchFamily="18" charset="0"/>
                <a:sym typeface="Symbol" pitchFamily="18" charset="2"/>
              </a:rPr>
            </a:br>
            <a:r>
              <a:rPr lang="en-US" sz="2000" dirty="0">
                <a:latin typeface="Comic Sans MS" pitchFamily="66" charset="0"/>
                <a:cs typeface="Times New Roman" pitchFamily="18" charset="0"/>
                <a:sym typeface="Symbol" pitchFamily="18" charset="2"/>
              </a:rPr>
              <a:t>E  TE'</a:t>
            </a:r>
          </a:p>
          <a:p>
            <a:r>
              <a:rPr lang="en-US" sz="2000" dirty="0">
                <a:latin typeface="Comic Sans MS" pitchFamily="66" charset="0"/>
                <a:cs typeface="Times New Roman" pitchFamily="18" charset="0"/>
                <a:sym typeface="Symbol" pitchFamily="18" charset="2"/>
              </a:rPr>
              <a:t>E'+TE'|</a:t>
            </a:r>
          </a:p>
          <a:p>
            <a:r>
              <a:rPr lang="en-US" sz="2000" dirty="0">
                <a:latin typeface="Comic Sans MS" pitchFamily="66" charset="0"/>
                <a:cs typeface="Times New Roman" pitchFamily="18" charset="0"/>
                <a:sym typeface="Symbol" pitchFamily="18" charset="2"/>
              </a:rPr>
              <a:t>T  FT'</a:t>
            </a:r>
          </a:p>
          <a:p>
            <a:r>
              <a:rPr lang="en-US" sz="2000" dirty="0">
                <a:latin typeface="Comic Sans MS" pitchFamily="66" charset="0"/>
                <a:cs typeface="Times New Roman" pitchFamily="18" charset="0"/>
                <a:sym typeface="Symbol" pitchFamily="18" charset="2"/>
              </a:rPr>
              <a:t>T'  E'</a:t>
            </a:r>
            <a:r>
              <a:rPr lang="en-US" sz="2000" b="1" dirty="0">
                <a:latin typeface="Comic Sans MS" pitchFamily="66" charset="0"/>
                <a:cs typeface="Times New Roman" pitchFamily="18" charset="0"/>
                <a:sym typeface="Symbol" pitchFamily="18" charset="2"/>
              </a:rPr>
              <a:t>-</a:t>
            </a:r>
            <a:r>
              <a:rPr lang="en-US" sz="2000" dirty="0">
                <a:latin typeface="Comic Sans MS" pitchFamily="66" charset="0"/>
                <a:cs typeface="Times New Roman" pitchFamily="18" charset="0"/>
                <a:sym typeface="Symbol" pitchFamily="18" charset="2"/>
              </a:rPr>
              <a:t>TT'|</a:t>
            </a:r>
          </a:p>
          <a:p>
            <a:r>
              <a:rPr lang="en-US" sz="2000" dirty="0">
                <a:latin typeface="Comic Sans MS" pitchFamily="66" charset="0"/>
                <a:cs typeface="Times New Roman" pitchFamily="18" charset="0"/>
                <a:sym typeface="Symbol" pitchFamily="18" charset="2"/>
              </a:rPr>
              <a:t>F  E*F</a:t>
            </a:r>
          </a:p>
          <a:p>
            <a:r>
              <a:rPr lang="en-US" sz="2000" dirty="0">
                <a:latin typeface="Comic Sans MS" pitchFamily="66" charset="0"/>
                <a:cs typeface="Times New Roman" pitchFamily="18" charset="0"/>
                <a:sym typeface="Symbol" pitchFamily="18" charset="2"/>
              </a:rPr>
              <a:t>F  </a:t>
            </a:r>
            <a:r>
              <a:rPr lang="en-US" sz="2000" b="1" dirty="0">
                <a:latin typeface="Comic Sans MS" pitchFamily="66" charset="0"/>
                <a:cs typeface="Times New Roman" pitchFamily="18" charset="0"/>
                <a:sym typeface="Symbol" pitchFamily="18" charset="2"/>
              </a:rPr>
              <a:t>id</a:t>
            </a:r>
          </a:p>
        </p:txBody>
      </p:sp>
      <p:sp>
        <p:nvSpPr>
          <p:cNvPr id="23" name="Line 16"/>
          <p:cNvSpPr>
            <a:spLocks noChangeShapeType="1"/>
          </p:cNvSpPr>
          <p:nvPr/>
        </p:nvSpPr>
        <p:spPr bwMode="auto">
          <a:xfrm>
            <a:off x="7581900" y="4114800"/>
            <a:ext cx="0" cy="304800"/>
          </a:xfrm>
          <a:prstGeom prst="line">
            <a:avLst/>
          </a:prstGeom>
          <a:noFill/>
          <a:ln w="38100">
            <a:solidFill>
              <a:schemeClr val="hlink"/>
            </a:solidFill>
            <a:round/>
            <a:headEnd/>
            <a:tailEnd type="triangle" w="med" len="med"/>
          </a:ln>
          <a:effectLst/>
        </p:spPr>
        <p:txBody>
          <a:bodyPr wrap="none" anchor="ctr"/>
          <a:lstStyle/>
          <a:p>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274638"/>
            <a:ext cx="8171688" cy="1143000"/>
          </a:xfrm>
        </p:spPr>
        <p:txBody>
          <a:bodyPr>
            <a:normAutofit fontScale="90000"/>
          </a:bodyPr>
          <a:lstStyle/>
          <a:p>
            <a:r>
              <a:rPr lang="en-US" dirty="0" smtClean="0"/>
              <a:t>Elimination of Indirect Left Recursion</a:t>
            </a:r>
            <a:endParaRPr lang="en-US" dirty="0"/>
          </a:p>
        </p:txBody>
      </p:sp>
      <p:sp>
        <p:nvSpPr>
          <p:cNvPr id="4" name="Text Box 9"/>
          <p:cNvSpPr txBox="1">
            <a:spLocks noChangeArrowheads="1"/>
          </p:cNvSpPr>
          <p:nvPr/>
        </p:nvSpPr>
        <p:spPr bwMode="auto">
          <a:xfrm>
            <a:off x="1749425" y="1727200"/>
            <a:ext cx="1077913" cy="396875"/>
          </a:xfrm>
          <a:prstGeom prst="rect">
            <a:avLst/>
          </a:prstGeom>
          <a:noFill/>
          <a:ln w="9525">
            <a:noFill/>
            <a:miter lim="800000"/>
            <a:headEnd/>
            <a:tailEnd/>
          </a:ln>
          <a:effectLst/>
        </p:spPr>
        <p:txBody>
          <a:bodyPr wrap="none">
            <a:spAutoFit/>
          </a:bodyPr>
          <a:lstStyle/>
          <a:p>
            <a:r>
              <a:rPr lang="en-US" sz="2000">
                <a:latin typeface="Comic Sans MS" pitchFamily="66" charset="0"/>
              </a:rPr>
              <a:t>i=F, j=E</a:t>
            </a:r>
          </a:p>
        </p:txBody>
      </p:sp>
      <p:sp>
        <p:nvSpPr>
          <p:cNvPr id="5" name="Text Box 11"/>
          <p:cNvSpPr txBox="1">
            <a:spLocks noChangeArrowheads="1"/>
          </p:cNvSpPr>
          <p:nvPr/>
        </p:nvSpPr>
        <p:spPr bwMode="auto">
          <a:xfrm>
            <a:off x="1216025" y="2260600"/>
            <a:ext cx="1943100" cy="2235200"/>
          </a:xfrm>
          <a:prstGeom prst="rect">
            <a:avLst/>
          </a:prstGeom>
          <a:noFill/>
          <a:ln w="9525">
            <a:solidFill>
              <a:schemeClr val="hlink"/>
            </a:solidFill>
            <a:miter lim="800000"/>
            <a:headEnd/>
            <a:tailEnd/>
          </a:ln>
          <a:effectLst/>
        </p:spPr>
        <p:txBody>
          <a:bodyPr wrap="none">
            <a:spAutoFit/>
          </a:bodyPr>
          <a:lstStyle/>
          <a:p>
            <a:r>
              <a:rPr lang="en-US" sz="2000" dirty="0">
                <a:latin typeface="Comic Sans MS" pitchFamily="66" charset="0"/>
                <a:cs typeface="Times New Roman" pitchFamily="18" charset="0"/>
                <a:sym typeface="Symbol" pitchFamily="18" charset="2"/>
              </a:rPr>
              <a:t>S  E</a:t>
            </a:r>
            <a:br>
              <a:rPr lang="en-US" sz="2000" dirty="0">
                <a:latin typeface="Comic Sans MS" pitchFamily="66" charset="0"/>
                <a:cs typeface="Times New Roman" pitchFamily="18" charset="0"/>
                <a:sym typeface="Symbol" pitchFamily="18" charset="2"/>
              </a:rPr>
            </a:br>
            <a:r>
              <a:rPr lang="en-US" sz="2000" dirty="0">
                <a:latin typeface="Comic Sans MS" pitchFamily="66" charset="0"/>
                <a:cs typeface="Times New Roman" pitchFamily="18" charset="0"/>
                <a:sym typeface="Symbol" pitchFamily="18" charset="2"/>
              </a:rPr>
              <a:t>E  TE'</a:t>
            </a:r>
          </a:p>
          <a:p>
            <a:r>
              <a:rPr lang="en-US" sz="2000" dirty="0">
                <a:latin typeface="Comic Sans MS" pitchFamily="66" charset="0"/>
                <a:cs typeface="Times New Roman" pitchFamily="18" charset="0"/>
                <a:sym typeface="Symbol" pitchFamily="18" charset="2"/>
              </a:rPr>
              <a:t>E'+TE'|</a:t>
            </a:r>
          </a:p>
          <a:p>
            <a:r>
              <a:rPr lang="en-US" sz="2000" dirty="0">
                <a:latin typeface="Comic Sans MS" pitchFamily="66" charset="0"/>
                <a:cs typeface="Times New Roman" pitchFamily="18" charset="0"/>
                <a:sym typeface="Symbol" pitchFamily="18" charset="2"/>
              </a:rPr>
              <a:t>T  FT'</a:t>
            </a:r>
          </a:p>
          <a:p>
            <a:r>
              <a:rPr lang="en-US" sz="2000" dirty="0">
                <a:latin typeface="Comic Sans MS" pitchFamily="66" charset="0"/>
                <a:cs typeface="Times New Roman" pitchFamily="18" charset="0"/>
                <a:sym typeface="Symbol" pitchFamily="18" charset="2"/>
              </a:rPr>
              <a:t>T'  E'</a:t>
            </a:r>
            <a:r>
              <a:rPr lang="en-US" sz="2000" b="1" dirty="0">
                <a:latin typeface="Comic Sans MS" pitchFamily="66" charset="0"/>
                <a:cs typeface="Times New Roman" pitchFamily="18" charset="0"/>
                <a:sym typeface="Symbol" pitchFamily="18" charset="2"/>
              </a:rPr>
              <a:t>-</a:t>
            </a:r>
            <a:r>
              <a:rPr lang="en-US" sz="2000" dirty="0">
                <a:latin typeface="Comic Sans MS" pitchFamily="66" charset="0"/>
                <a:cs typeface="Times New Roman" pitchFamily="18" charset="0"/>
                <a:sym typeface="Symbol" pitchFamily="18" charset="2"/>
              </a:rPr>
              <a:t>TT'|</a:t>
            </a:r>
          </a:p>
          <a:p>
            <a:r>
              <a:rPr lang="en-US" sz="2000" dirty="0">
                <a:latin typeface="Comic Sans MS" pitchFamily="66" charset="0"/>
                <a:cs typeface="Times New Roman" pitchFamily="18" charset="0"/>
                <a:sym typeface="Symbol" pitchFamily="18" charset="2"/>
              </a:rPr>
              <a:t>F  TE'*F</a:t>
            </a:r>
          </a:p>
          <a:p>
            <a:r>
              <a:rPr lang="en-US" sz="2000" dirty="0">
                <a:latin typeface="Comic Sans MS" pitchFamily="66" charset="0"/>
                <a:cs typeface="Times New Roman" pitchFamily="18" charset="0"/>
                <a:sym typeface="Symbol" pitchFamily="18" charset="2"/>
              </a:rPr>
              <a:t>F  </a:t>
            </a:r>
            <a:r>
              <a:rPr lang="en-US" sz="2000" b="1" dirty="0">
                <a:latin typeface="Comic Sans MS" pitchFamily="66" charset="0"/>
                <a:cs typeface="Times New Roman" pitchFamily="18" charset="0"/>
                <a:sym typeface="Symbol" pitchFamily="18" charset="2"/>
              </a:rPr>
              <a:t>id</a:t>
            </a:r>
          </a:p>
        </p:txBody>
      </p:sp>
      <p:sp>
        <p:nvSpPr>
          <p:cNvPr id="6" name="Text Box 13"/>
          <p:cNvSpPr txBox="1">
            <a:spLocks noChangeArrowheads="1"/>
          </p:cNvSpPr>
          <p:nvPr/>
        </p:nvSpPr>
        <p:spPr bwMode="auto">
          <a:xfrm>
            <a:off x="3959225" y="1727200"/>
            <a:ext cx="1092200" cy="396875"/>
          </a:xfrm>
          <a:prstGeom prst="rect">
            <a:avLst/>
          </a:prstGeom>
          <a:noFill/>
          <a:ln w="9525">
            <a:noFill/>
            <a:miter lim="800000"/>
            <a:headEnd/>
            <a:tailEnd/>
          </a:ln>
          <a:effectLst/>
        </p:spPr>
        <p:txBody>
          <a:bodyPr wrap="none">
            <a:spAutoFit/>
          </a:bodyPr>
          <a:lstStyle/>
          <a:p>
            <a:r>
              <a:rPr lang="en-US" sz="2000">
                <a:latin typeface="Comic Sans MS" pitchFamily="66" charset="0"/>
              </a:rPr>
              <a:t>i=F, j=T</a:t>
            </a:r>
          </a:p>
        </p:txBody>
      </p:sp>
      <p:sp>
        <p:nvSpPr>
          <p:cNvPr id="7" name="Text Box 14"/>
          <p:cNvSpPr txBox="1">
            <a:spLocks noChangeArrowheads="1"/>
          </p:cNvSpPr>
          <p:nvPr/>
        </p:nvSpPr>
        <p:spPr bwMode="auto">
          <a:xfrm>
            <a:off x="3425825" y="2260600"/>
            <a:ext cx="1943100" cy="2235200"/>
          </a:xfrm>
          <a:prstGeom prst="rect">
            <a:avLst/>
          </a:prstGeom>
          <a:noFill/>
          <a:ln w="9525">
            <a:solidFill>
              <a:schemeClr val="hlink"/>
            </a:solidFill>
            <a:miter lim="800000"/>
            <a:headEnd/>
            <a:tailEnd/>
          </a:ln>
          <a:effectLst/>
        </p:spPr>
        <p:txBody>
          <a:bodyPr wrap="none">
            <a:spAutoFit/>
          </a:bodyPr>
          <a:lstStyle/>
          <a:p>
            <a:r>
              <a:rPr lang="en-US" sz="2000" dirty="0">
                <a:latin typeface="Comic Sans MS" pitchFamily="66" charset="0"/>
                <a:cs typeface="Times New Roman" pitchFamily="18" charset="0"/>
                <a:sym typeface="Symbol" pitchFamily="18" charset="2"/>
              </a:rPr>
              <a:t>S  E</a:t>
            </a:r>
            <a:br>
              <a:rPr lang="en-US" sz="2000" dirty="0">
                <a:latin typeface="Comic Sans MS" pitchFamily="66" charset="0"/>
                <a:cs typeface="Times New Roman" pitchFamily="18" charset="0"/>
                <a:sym typeface="Symbol" pitchFamily="18" charset="2"/>
              </a:rPr>
            </a:br>
            <a:r>
              <a:rPr lang="en-US" sz="2000" dirty="0">
                <a:latin typeface="Comic Sans MS" pitchFamily="66" charset="0"/>
                <a:cs typeface="Times New Roman" pitchFamily="18" charset="0"/>
                <a:sym typeface="Symbol" pitchFamily="18" charset="2"/>
              </a:rPr>
              <a:t>E  TE'</a:t>
            </a:r>
          </a:p>
          <a:p>
            <a:r>
              <a:rPr lang="en-US" sz="2000" dirty="0">
                <a:latin typeface="Comic Sans MS" pitchFamily="66" charset="0"/>
                <a:cs typeface="Times New Roman" pitchFamily="18" charset="0"/>
                <a:sym typeface="Symbol" pitchFamily="18" charset="2"/>
              </a:rPr>
              <a:t>E'+TE'|</a:t>
            </a:r>
          </a:p>
          <a:p>
            <a:r>
              <a:rPr lang="en-US" sz="2000" dirty="0">
                <a:latin typeface="Comic Sans MS" pitchFamily="66" charset="0"/>
                <a:cs typeface="Times New Roman" pitchFamily="18" charset="0"/>
                <a:sym typeface="Symbol" pitchFamily="18" charset="2"/>
              </a:rPr>
              <a:t>T  FT'</a:t>
            </a:r>
          </a:p>
          <a:p>
            <a:r>
              <a:rPr lang="en-US" sz="2000" dirty="0">
                <a:latin typeface="Comic Sans MS" pitchFamily="66" charset="0"/>
                <a:cs typeface="Times New Roman" pitchFamily="18" charset="0"/>
                <a:sym typeface="Symbol" pitchFamily="18" charset="2"/>
              </a:rPr>
              <a:t>T'  E'</a:t>
            </a:r>
            <a:r>
              <a:rPr lang="en-US" sz="2000" b="1" dirty="0">
                <a:latin typeface="Comic Sans MS" pitchFamily="66" charset="0"/>
                <a:cs typeface="Times New Roman" pitchFamily="18" charset="0"/>
                <a:sym typeface="Symbol" pitchFamily="18" charset="2"/>
              </a:rPr>
              <a:t>-</a:t>
            </a:r>
            <a:r>
              <a:rPr lang="en-US" sz="2000" dirty="0">
                <a:latin typeface="Comic Sans MS" pitchFamily="66" charset="0"/>
                <a:cs typeface="Times New Roman" pitchFamily="18" charset="0"/>
                <a:sym typeface="Symbol" pitchFamily="18" charset="2"/>
              </a:rPr>
              <a:t>TT'|</a:t>
            </a:r>
          </a:p>
          <a:p>
            <a:r>
              <a:rPr lang="en-US" sz="2000" dirty="0">
                <a:latin typeface="Comic Sans MS" pitchFamily="66" charset="0"/>
                <a:cs typeface="Times New Roman" pitchFamily="18" charset="0"/>
                <a:sym typeface="Symbol" pitchFamily="18" charset="2"/>
              </a:rPr>
              <a:t>F  FT'E'*F</a:t>
            </a:r>
          </a:p>
          <a:p>
            <a:r>
              <a:rPr lang="en-US" sz="2000" dirty="0">
                <a:latin typeface="Comic Sans MS" pitchFamily="66" charset="0"/>
                <a:cs typeface="Times New Roman" pitchFamily="18" charset="0"/>
                <a:sym typeface="Symbol" pitchFamily="18" charset="2"/>
              </a:rPr>
              <a:t>F  </a:t>
            </a:r>
            <a:r>
              <a:rPr lang="en-US" sz="2000" b="1" dirty="0">
                <a:latin typeface="Comic Sans MS" pitchFamily="66" charset="0"/>
                <a:cs typeface="Times New Roman" pitchFamily="18" charset="0"/>
                <a:sym typeface="Symbol" pitchFamily="18" charset="2"/>
              </a:rPr>
              <a:t>id</a:t>
            </a:r>
          </a:p>
        </p:txBody>
      </p:sp>
      <p:sp>
        <p:nvSpPr>
          <p:cNvPr id="8" name="Text Box 15"/>
          <p:cNvSpPr txBox="1">
            <a:spLocks noChangeArrowheads="1"/>
          </p:cNvSpPr>
          <p:nvPr/>
        </p:nvSpPr>
        <p:spPr bwMode="auto">
          <a:xfrm>
            <a:off x="6016625" y="2260600"/>
            <a:ext cx="2136775" cy="2235200"/>
          </a:xfrm>
          <a:prstGeom prst="rect">
            <a:avLst/>
          </a:prstGeom>
          <a:noFill/>
          <a:ln w="9525">
            <a:solidFill>
              <a:schemeClr val="hlink"/>
            </a:solidFill>
            <a:miter lim="800000"/>
            <a:headEnd/>
            <a:tailEnd/>
          </a:ln>
          <a:effectLst/>
        </p:spPr>
        <p:txBody>
          <a:bodyPr wrap="none">
            <a:spAutoFit/>
          </a:bodyPr>
          <a:lstStyle/>
          <a:p>
            <a:r>
              <a:rPr lang="en-US" sz="2000">
                <a:latin typeface="Comic Sans MS" pitchFamily="66" charset="0"/>
                <a:cs typeface="Times New Roman" pitchFamily="18" charset="0"/>
                <a:sym typeface="Symbol" pitchFamily="18" charset="2"/>
              </a:rPr>
              <a:t>S  E</a:t>
            </a:r>
            <a:br>
              <a:rPr lang="en-US" sz="2000">
                <a:latin typeface="Comic Sans MS" pitchFamily="66" charset="0"/>
                <a:cs typeface="Times New Roman" pitchFamily="18" charset="0"/>
                <a:sym typeface="Symbol" pitchFamily="18" charset="2"/>
              </a:rPr>
            </a:br>
            <a:r>
              <a:rPr lang="en-US" sz="2000">
                <a:latin typeface="Comic Sans MS" pitchFamily="66" charset="0"/>
                <a:cs typeface="Times New Roman" pitchFamily="18" charset="0"/>
                <a:sym typeface="Symbol" pitchFamily="18" charset="2"/>
              </a:rPr>
              <a:t>E  TE'</a:t>
            </a:r>
          </a:p>
          <a:p>
            <a:r>
              <a:rPr lang="en-US" sz="2000">
                <a:latin typeface="Comic Sans MS" pitchFamily="66" charset="0"/>
                <a:cs typeface="Times New Roman" pitchFamily="18" charset="0"/>
                <a:sym typeface="Symbol" pitchFamily="18" charset="2"/>
              </a:rPr>
              <a:t>E'+TE'|</a:t>
            </a:r>
          </a:p>
          <a:p>
            <a:r>
              <a:rPr lang="en-US" sz="2000">
                <a:latin typeface="Comic Sans MS" pitchFamily="66" charset="0"/>
                <a:cs typeface="Times New Roman" pitchFamily="18" charset="0"/>
                <a:sym typeface="Symbol" pitchFamily="18" charset="2"/>
              </a:rPr>
              <a:t>T  FT'</a:t>
            </a:r>
          </a:p>
          <a:p>
            <a:r>
              <a:rPr lang="en-US" sz="2000">
                <a:latin typeface="Comic Sans MS" pitchFamily="66" charset="0"/>
                <a:cs typeface="Times New Roman" pitchFamily="18" charset="0"/>
                <a:sym typeface="Symbol" pitchFamily="18" charset="2"/>
              </a:rPr>
              <a:t>T'  E'</a:t>
            </a:r>
            <a:r>
              <a:rPr lang="en-US" sz="2000" b="1">
                <a:latin typeface="Comic Sans MS" pitchFamily="66" charset="0"/>
                <a:cs typeface="Times New Roman" pitchFamily="18" charset="0"/>
                <a:sym typeface="Symbol" pitchFamily="18" charset="2"/>
              </a:rPr>
              <a:t>-</a:t>
            </a:r>
            <a:r>
              <a:rPr lang="en-US" sz="2000">
                <a:latin typeface="Comic Sans MS" pitchFamily="66" charset="0"/>
                <a:cs typeface="Times New Roman" pitchFamily="18" charset="0"/>
                <a:sym typeface="Symbol" pitchFamily="18" charset="2"/>
              </a:rPr>
              <a:t>TT'|</a:t>
            </a:r>
          </a:p>
          <a:p>
            <a:r>
              <a:rPr lang="en-US" sz="2000">
                <a:latin typeface="Comic Sans MS" pitchFamily="66" charset="0"/>
                <a:cs typeface="Times New Roman" pitchFamily="18" charset="0"/>
                <a:sym typeface="Symbol" pitchFamily="18" charset="2"/>
              </a:rPr>
              <a:t>F  </a:t>
            </a:r>
            <a:r>
              <a:rPr lang="en-US" sz="2000" b="1">
                <a:latin typeface="Comic Sans MS" pitchFamily="66" charset="0"/>
                <a:cs typeface="Times New Roman" pitchFamily="18" charset="0"/>
                <a:sym typeface="Symbol" pitchFamily="18" charset="2"/>
              </a:rPr>
              <a:t>id</a:t>
            </a:r>
            <a:r>
              <a:rPr lang="en-US" sz="2000">
                <a:latin typeface="Comic Sans MS" pitchFamily="66" charset="0"/>
                <a:cs typeface="Times New Roman" pitchFamily="18" charset="0"/>
                <a:sym typeface="Symbol" pitchFamily="18" charset="2"/>
              </a:rPr>
              <a:t>F'</a:t>
            </a:r>
          </a:p>
          <a:p>
            <a:r>
              <a:rPr lang="en-US" sz="2000">
                <a:latin typeface="Comic Sans MS" pitchFamily="66" charset="0"/>
                <a:cs typeface="Times New Roman" pitchFamily="18" charset="0"/>
                <a:sym typeface="Symbol" pitchFamily="18" charset="2"/>
              </a:rPr>
              <a:t>F'  T'E'*FF'|</a:t>
            </a:r>
          </a:p>
        </p:txBody>
      </p:sp>
      <p:sp>
        <p:nvSpPr>
          <p:cNvPr id="9" name="Line 16"/>
          <p:cNvSpPr>
            <a:spLocks noChangeShapeType="1"/>
          </p:cNvSpPr>
          <p:nvPr/>
        </p:nvSpPr>
        <p:spPr bwMode="auto">
          <a:xfrm>
            <a:off x="5407025" y="3327400"/>
            <a:ext cx="609600" cy="0"/>
          </a:xfrm>
          <a:prstGeom prst="line">
            <a:avLst/>
          </a:prstGeom>
          <a:noFill/>
          <a:ln w="38100">
            <a:solidFill>
              <a:schemeClr val="hlink"/>
            </a:solidFill>
            <a:round/>
            <a:headEnd/>
            <a:tailEnd type="triangle" w="med" len="med"/>
          </a:ln>
          <a:effectLst/>
        </p:spPr>
        <p:txBody>
          <a:bodyPr wrap="none" anchor="ctr"/>
          <a:lstStyle/>
          <a:p>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Greibach</a:t>
            </a:r>
            <a:r>
              <a:rPr lang="en-IN" dirty="0" smtClean="0"/>
              <a:t> Normal Form(GNF)</a:t>
            </a:r>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t>The given CFG is known as </a:t>
            </a:r>
            <a:r>
              <a:rPr lang="en-IN" dirty="0" smtClean="0"/>
              <a:t>GNF </a:t>
            </a:r>
            <a:r>
              <a:rPr lang="en-IN" dirty="0" smtClean="0"/>
              <a:t>if it is in </a:t>
            </a:r>
            <a:r>
              <a:rPr lang="en-IN" dirty="0" smtClean="0"/>
              <a:t>GNF </a:t>
            </a:r>
            <a:r>
              <a:rPr lang="en-IN" dirty="0" smtClean="0"/>
              <a:t>it follows</a:t>
            </a:r>
            <a:r>
              <a:rPr lang="en-IN" dirty="0" smtClean="0"/>
              <a:t>:</a:t>
            </a:r>
          </a:p>
          <a:p>
            <a:r>
              <a:rPr lang="en-IN" dirty="0" smtClean="0"/>
              <a:t>Start symbol can generate </a:t>
            </a:r>
            <a:r>
              <a:rPr lang="en-US" dirty="0" smtClean="0">
                <a:latin typeface="Times New Roman" pitchFamily="18" charset="0"/>
                <a:cs typeface="Times New Roman" pitchFamily="18" charset="0"/>
              </a:rPr>
              <a:t>ε</a:t>
            </a:r>
          </a:p>
          <a:p>
            <a:pPr lvl="1"/>
            <a:r>
              <a:rPr lang="en-US" dirty="0" smtClean="0">
                <a:latin typeface="Times New Roman" pitchFamily="18" charset="0"/>
                <a:cs typeface="Times New Roman" pitchFamily="18" charset="0"/>
              </a:rPr>
              <a:t>Ex:- </a:t>
            </a:r>
            <a:r>
              <a:rPr lang="en-US" dirty="0" smtClean="0">
                <a:latin typeface="Times New Roman" pitchFamily="18" charset="0"/>
                <a:cs typeface="Times New Roman" pitchFamily="18" charset="0"/>
              </a:rPr>
              <a:t>S</a:t>
            </a:r>
            <a:r>
              <a:rPr lang="en-US" dirty="0" smtClean="0">
                <a:latin typeface="Times New Roman" pitchFamily="18" charset="0"/>
                <a:cs typeface="Times New Roman" pitchFamily="18" charset="0"/>
              </a:rPr>
              <a:t>→ ε</a:t>
            </a:r>
          </a:p>
          <a:p>
            <a:r>
              <a:rPr lang="en-US" dirty="0" smtClean="0">
                <a:latin typeface="Times New Roman" pitchFamily="18" charset="0"/>
                <a:cs typeface="Times New Roman" pitchFamily="18" charset="0"/>
              </a:rPr>
              <a:t>If non terminal generating single terminal then this is in the form of GNF</a:t>
            </a:r>
          </a:p>
          <a:p>
            <a:pPr lvl="1"/>
            <a:r>
              <a:rPr lang="en-US" dirty="0" smtClean="0">
                <a:latin typeface="Times New Roman" pitchFamily="18" charset="0"/>
                <a:cs typeface="Times New Roman" pitchFamily="18" charset="0"/>
              </a:rPr>
              <a:t>Ex:- S→ </a:t>
            </a:r>
            <a:r>
              <a:rPr lang="en-US" dirty="0" smtClean="0">
                <a:latin typeface="Times New Roman" pitchFamily="18" charset="0"/>
                <a:cs typeface="Times New Roman" pitchFamily="18" charset="0"/>
              </a:rPr>
              <a:t>a</a:t>
            </a:r>
          </a:p>
          <a:p>
            <a:r>
              <a:rPr lang="en-US" dirty="0" smtClean="0">
                <a:latin typeface="Times New Roman" pitchFamily="18" charset="0"/>
                <a:cs typeface="Times New Roman" pitchFamily="18" charset="0"/>
              </a:rPr>
              <a:t>If non terminal generating </a:t>
            </a:r>
            <a:r>
              <a:rPr lang="en-US" dirty="0" smtClean="0">
                <a:latin typeface="Times New Roman" pitchFamily="18" charset="0"/>
                <a:cs typeface="Times New Roman" pitchFamily="18" charset="0"/>
              </a:rPr>
              <a:t>terminal followed by any number of terminals or non terminals then </a:t>
            </a:r>
            <a:r>
              <a:rPr lang="en-US" dirty="0" smtClean="0">
                <a:latin typeface="Times New Roman" pitchFamily="18" charset="0"/>
                <a:cs typeface="Times New Roman" pitchFamily="18" charset="0"/>
              </a:rPr>
              <a:t>this is in the form of </a:t>
            </a:r>
            <a:r>
              <a:rPr lang="en-US" dirty="0" smtClean="0">
                <a:latin typeface="Times New Roman" pitchFamily="18" charset="0"/>
                <a:cs typeface="Times New Roman" pitchFamily="18" charset="0"/>
              </a:rPr>
              <a:t>GNF</a:t>
            </a:r>
          </a:p>
          <a:p>
            <a:pPr lvl="1"/>
            <a:r>
              <a:rPr lang="en-US" dirty="0" smtClean="0">
                <a:latin typeface="Times New Roman" pitchFamily="18" charset="0"/>
                <a:cs typeface="Times New Roman" pitchFamily="18" charset="0"/>
              </a:rPr>
              <a:t>Ex:- S→ </a:t>
            </a:r>
            <a:r>
              <a:rPr lang="en-US" dirty="0" err="1" smtClean="0">
                <a:latin typeface="Times New Roman" pitchFamily="18" charset="0"/>
                <a:cs typeface="Times New Roman" pitchFamily="18" charset="0"/>
              </a:rPr>
              <a:t>aBbCc</a:t>
            </a:r>
            <a:endParaRPr lang="en-US" dirty="0" smtClean="0">
              <a:latin typeface="Times New Roman" pitchFamily="18" charset="0"/>
              <a:cs typeface="Times New Roman"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IN" dirty="0" err="1" smtClean="0"/>
              <a:t>Greibach</a:t>
            </a:r>
            <a:r>
              <a:rPr lang="en-IN" dirty="0" smtClean="0"/>
              <a:t> Normal Form(GNF)</a:t>
            </a:r>
            <a:endParaRPr lang="en-IN" dirty="0"/>
          </a:p>
        </p:txBody>
      </p:sp>
      <p:sp>
        <p:nvSpPr>
          <p:cNvPr id="3" name="Content Placeholder 2"/>
          <p:cNvSpPr>
            <a:spLocks noGrp="1"/>
          </p:cNvSpPr>
          <p:nvPr>
            <p:ph idx="1"/>
          </p:nvPr>
        </p:nvSpPr>
        <p:spPr/>
        <p:txBody>
          <a:bodyPr>
            <a:normAutofit fontScale="70000" lnSpcReduction="20000"/>
          </a:bodyPr>
          <a:lstStyle/>
          <a:p>
            <a:pPr>
              <a:buNone/>
            </a:pPr>
            <a:r>
              <a:rPr lang="en-IN" dirty="0" smtClean="0"/>
              <a:t>Steps to convert CFG to GNF:-</a:t>
            </a:r>
          </a:p>
          <a:p>
            <a:pPr>
              <a:buNone/>
            </a:pPr>
            <a:r>
              <a:rPr lang="en-IN" dirty="0" smtClean="0"/>
              <a:t>1. If the </a:t>
            </a:r>
            <a:r>
              <a:rPr lang="en-IN" dirty="0" smtClean="0"/>
              <a:t>given grammar is not in CNF, convert it to </a:t>
            </a:r>
            <a:r>
              <a:rPr lang="en-IN" dirty="0" smtClean="0"/>
              <a:t>CNF.</a:t>
            </a:r>
          </a:p>
          <a:p>
            <a:pPr>
              <a:buNone/>
            </a:pPr>
            <a:r>
              <a:rPr lang="en-IN" dirty="0" smtClean="0"/>
              <a:t>2. Change the names of the non terminals in some ascending order.</a:t>
            </a:r>
          </a:p>
          <a:p>
            <a:pPr>
              <a:buNone/>
            </a:pPr>
            <a:r>
              <a:rPr lang="en-IN" dirty="0" smtClean="0"/>
              <a:t>Ex:-</a:t>
            </a:r>
            <a:r>
              <a:rPr lang="en-US" dirty="0" smtClean="0">
                <a:latin typeface="Times New Roman" pitchFamily="18" charset="0"/>
                <a:cs typeface="Times New Roman" pitchFamily="18" charset="0"/>
              </a:rPr>
              <a:t> S→ </a:t>
            </a:r>
            <a:r>
              <a:rPr lang="en-US" dirty="0" smtClean="0">
                <a:latin typeface="Times New Roman" pitchFamily="18" charset="0"/>
                <a:cs typeface="Times New Roman" pitchFamily="18" charset="0"/>
              </a:rPr>
              <a:t>AB </a:t>
            </a:r>
          </a:p>
          <a:p>
            <a:pPr>
              <a:buNone/>
            </a:pP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	 S with A1 and A </a:t>
            </a:r>
            <a:r>
              <a:rPr lang="en-US" dirty="0" smtClean="0">
                <a:latin typeface="Times New Roman" pitchFamily="18" charset="0"/>
                <a:cs typeface="Times New Roman" pitchFamily="18" charset="0"/>
              </a:rPr>
              <a:t>with A2, </a:t>
            </a:r>
            <a:r>
              <a:rPr lang="en-US" dirty="0" smtClean="0">
                <a:latin typeface="Times New Roman" pitchFamily="18" charset="0"/>
                <a:cs typeface="Times New Roman" pitchFamily="18" charset="0"/>
              </a:rPr>
              <a:t>B with A3</a:t>
            </a:r>
            <a:endParaRPr lang="en-US" dirty="0" smtClean="0">
              <a:latin typeface="Times New Roman" pitchFamily="18" charset="0"/>
              <a:cs typeface="Times New Roman" pitchFamily="18" charset="0"/>
            </a:endParaRPr>
          </a:p>
          <a:p>
            <a:pPr>
              <a:buNone/>
            </a:pPr>
            <a:r>
              <a:rPr lang="en-US" dirty="0" smtClean="0">
                <a:latin typeface="Times New Roman" pitchFamily="18" charset="0"/>
                <a:cs typeface="Times New Roman" pitchFamily="18" charset="0"/>
              </a:rPr>
              <a:t>After rename productions are</a:t>
            </a:r>
          </a:p>
          <a:p>
            <a:pPr>
              <a:buNone/>
            </a:pPr>
            <a:r>
              <a:rPr lang="en-US" dirty="0" smtClean="0">
                <a:latin typeface="Times New Roman" pitchFamily="18" charset="0"/>
                <a:cs typeface="Times New Roman" pitchFamily="18" charset="0"/>
              </a:rPr>
              <a:t>		A1→ A2</a:t>
            </a:r>
            <a:r>
              <a:rPr lang="en-US" dirty="0" smtClean="0">
                <a:latin typeface="Times New Roman" pitchFamily="18" charset="0"/>
                <a:cs typeface="Times New Roman" pitchFamily="18" charset="0"/>
              </a:rPr>
              <a:t> A3</a:t>
            </a:r>
            <a:endParaRPr lang="en-IN" dirty="0" smtClean="0"/>
          </a:p>
          <a:p>
            <a:pPr>
              <a:buNone/>
            </a:pPr>
            <a:r>
              <a:rPr lang="en-IN" dirty="0" smtClean="0"/>
              <a:t>3. For each production check following rules</a:t>
            </a:r>
          </a:p>
          <a:p>
            <a:pPr lvl="1"/>
            <a:r>
              <a:rPr lang="en-IN" dirty="0" smtClean="0"/>
              <a:t>If </a:t>
            </a:r>
            <a:r>
              <a:rPr lang="en-IN" dirty="0" err="1" smtClean="0"/>
              <a:t>i</a:t>
            </a:r>
            <a:r>
              <a:rPr lang="en-IN" dirty="0" smtClean="0"/>
              <a:t>&lt;j don’t change the production.</a:t>
            </a:r>
          </a:p>
          <a:p>
            <a:pPr lvl="1"/>
            <a:r>
              <a:rPr lang="en-IN" dirty="0" smtClean="0"/>
              <a:t>If </a:t>
            </a:r>
            <a:r>
              <a:rPr lang="en-IN" dirty="0" err="1" smtClean="0"/>
              <a:t>i</a:t>
            </a:r>
            <a:r>
              <a:rPr lang="en-IN" dirty="0" smtClean="0"/>
              <a:t>&gt;j replace </a:t>
            </a:r>
            <a:r>
              <a:rPr lang="en-IN" dirty="0" err="1" smtClean="0"/>
              <a:t>Aj</a:t>
            </a:r>
            <a:r>
              <a:rPr lang="en-IN" dirty="0" smtClean="0"/>
              <a:t> with it productions.</a:t>
            </a:r>
          </a:p>
          <a:p>
            <a:pPr lvl="1"/>
            <a:r>
              <a:rPr lang="en-IN" dirty="0" smtClean="0"/>
              <a:t>If </a:t>
            </a:r>
            <a:r>
              <a:rPr lang="en-IN" dirty="0" err="1" smtClean="0"/>
              <a:t>i</a:t>
            </a:r>
            <a:r>
              <a:rPr lang="en-IN" dirty="0" smtClean="0"/>
              <a:t>==j eliminate the left recursion.</a:t>
            </a:r>
          </a:p>
          <a:p>
            <a:pPr>
              <a:buNone/>
            </a:pPr>
            <a:r>
              <a:rPr lang="en-IN" dirty="0" smtClean="0"/>
              <a:t>4. Remove left recursion</a:t>
            </a:r>
          </a:p>
          <a:p>
            <a:pPr>
              <a:buNone/>
            </a:pPr>
            <a:r>
              <a:rPr lang="en-IN" dirty="0" smtClean="0"/>
              <a:t>5. Make the productions following GNF Rules.</a:t>
            </a:r>
            <a:endParaRPr lang="en-IN" dirty="0" smtClean="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Raju\Desktop\WhatsApp Image 2025-03-13 at 11.56.02.jpeg"/>
          <p:cNvPicPr>
            <a:picLocks noChangeAspect="1" noChangeArrowheads="1"/>
          </p:cNvPicPr>
          <p:nvPr/>
        </p:nvPicPr>
        <p:blipFill>
          <a:blip r:embed="rId2"/>
          <a:srcRect/>
          <a:stretch>
            <a:fillRect/>
          </a:stretch>
        </p:blipFill>
        <p:spPr bwMode="auto">
          <a:xfrm>
            <a:off x="0" y="0"/>
            <a:ext cx="5943600" cy="6858000"/>
          </a:xfrm>
          <a:prstGeom prst="rect">
            <a:avLst/>
          </a:prstGeom>
          <a:noFill/>
        </p:spPr>
      </p:pic>
      <p:pic>
        <p:nvPicPr>
          <p:cNvPr id="2051" name="Picture 3" descr="C:\Users\Raju\Desktop\WhatsApp Image 2025-03-13 at 11.59.11.jpeg"/>
          <p:cNvPicPr>
            <a:picLocks noChangeAspect="1" noChangeArrowheads="1"/>
          </p:cNvPicPr>
          <p:nvPr/>
        </p:nvPicPr>
        <p:blipFill>
          <a:blip r:embed="rId3"/>
          <a:srcRect/>
          <a:stretch>
            <a:fillRect/>
          </a:stretch>
        </p:blipFill>
        <p:spPr bwMode="auto">
          <a:xfrm>
            <a:off x="5543550" y="0"/>
            <a:ext cx="3600450" cy="1624012"/>
          </a:xfrm>
          <a:prstGeom prst="rect">
            <a:avLst/>
          </a:prstGeom>
          <a:noFill/>
        </p:spPr>
      </p:pic>
      <p:sp>
        <p:nvSpPr>
          <p:cNvPr id="6" name="TextBox 5"/>
          <p:cNvSpPr txBox="1"/>
          <p:nvPr/>
        </p:nvSpPr>
        <p:spPr>
          <a:xfrm>
            <a:off x="5181600" y="1905000"/>
            <a:ext cx="3429000" cy="2831544"/>
          </a:xfrm>
          <a:prstGeom prst="rect">
            <a:avLst/>
          </a:prstGeom>
          <a:noFill/>
        </p:spPr>
        <p:txBody>
          <a:bodyPr wrap="square" rtlCol="0">
            <a:spAutoFit/>
          </a:bodyPr>
          <a:lstStyle/>
          <a:p>
            <a:r>
              <a:rPr lang="en-IN" dirty="0" smtClean="0">
                <a:solidFill>
                  <a:schemeClr val="accent6">
                    <a:lumMod val="75000"/>
                  </a:schemeClr>
                </a:solidFill>
              </a:rPr>
              <a:t>Final Productions are</a:t>
            </a:r>
          </a:p>
          <a:p>
            <a:r>
              <a:rPr lang="en-IN" dirty="0" smtClean="0">
                <a:solidFill>
                  <a:schemeClr val="accent6">
                    <a:lumMod val="75000"/>
                  </a:schemeClr>
                </a:solidFill>
              </a:rPr>
              <a:t>A</a:t>
            </a:r>
            <a:r>
              <a:rPr lang="en-IN" sz="1100" dirty="0" smtClean="0">
                <a:solidFill>
                  <a:schemeClr val="accent6">
                    <a:lumMod val="75000"/>
                  </a:schemeClr>
                </a:solidFill>
              </a:rPr>
              <a:t>1</a:t>
            </a:r>
            <a:r>
              <a:rPr lang="en-IN" dirty="0" smtClean="0">
                <a:solidFill>
                  <a:schemeClr val="accent6">
                    <a:lumMod val="75000"/>
                  </a:schemeClr>
                </a:solidFill>
              </a:rPr>
              <a:t> </a:t>
            </a:r>
            <a:r>
              <a:rPr lang="en-IN" dirty="0" smtClean="0">
                <a:solidFill>
                  <a:schemeClr val="accent6">
                    <a:lumMod val="75000"/>
                  </a:schemeClr>
                </a:solidFill>
              </a:rPr>
              <a:t>→ </a:t>
            </a:r>
            <a:r>
              <a:rPr lang="en-IN" dirty="0" smtClean="0">
                <a:solidFill>
                  <a:schemeClr val="accent6">
                    <a:lumMod val="75000"/>
                  </a:schemeClr>
                </a:solidFill>
              </a:rPr>
              <a:t>0A</a:t>
            </a:r>
            <a:r>
              <a:rPr lang="en-IN" sz="1100" dirty="0" smtClean="0">
                <a:solidFill>
                  <a:schemeClr val="accent6">
                    <a:lumMod val="75000"/>
                  </a:schemeClr>
                </a:solidFill>
              </a:rPr>
              <a:t>1</a:t>
            </a:r>
            <a:r>
              <a:rPr lang="en-IN" dirty="0" smtClean="0">
                <a:solidFill>
                  <a:schemeClr val="accent6">
                    <a:lumMod val="75000"/>
                  </a:schemeClr>
                </a:solidFill>
              </a:rPr>
              <a:t>B</a:t>
            </a:r>
            <a:r>
              <a:rPr lang="en-IN" sz="1100" dirty="0" smtClean="0">
                <a:solidFill>
                  <a:schemeClr val="accent6">
                    <a:lumMod val="75000"/>
                  </a:schemeClr>
                </a:solidFill>
              </a:rPr>
              <a:t>2</a:t>
            </a:r>
            <a:r>
              <a:rPr lang="en-IN" dirty="0" smtClean="0">
                <a:solidFill>
                  <a:schemeClr val="accent6">
                    <a:lumMod val="75000"/>
                  </a:schemeClr>
                </a:solidFill>
              </a:rPr>
              <a:t>A</a:t>
            </a:r>
            <a:r>
              <a:rPr lang="en-IN" sz="1100" dirty="0" smtClean="0">
                <a:solidFill>
                  <a:schemeClr val="accent6">
                    <a:lumMod val="75000"/>
                  </a:schemeClr>
                </a:solidFill>
              </a:rPr>
              <a:t>2 </a:t>
            </a:r>
            <a:r>
              <a:rPr lang="en-IN" dirty="0" smtClean="0">
                <a:solidFill>
                  <a:schemeClr val="accent6">
                    <a:lumMod val="75000"/>
                  </a:schemeClr>
                </a:solidFill>
              </a:rPr>
              <a:t>/ 1B</a:t>
            </a:r>
            <a:r>
              <a:rPr lang="en-IN" sz="1100" dirty="0" smtClean="0">
                <a:solidFill>
                  <a:schemeClr val="accent6">
                    <a:lumMod val="75000"/>
                  </a:schemeClr>
                </a:solidFill>
              </a:rPr>
              <a:t>2</a:t>
            </a:r>
            <a:r>
              <a:rPr lang="en-IN" dirty="0" smtClean="0">
                <a:solidFill>
                  <a:schemeClr val="accent6">
                    <a:lumMod val="75000"/>
                  </a:schemeClr>
                </a:solidFill>
              </a:rPr>
              <a:t>A</a:t>
            </a:r>
            <a:r>
              <a:rPr lang="en-IN" sz="1100" dirty="0" smtClean="0">
                <a:solidFill>
                  <a:schemeClr val="accent6">
                    <a:lumMod val="75000"/>
                  </a:schemeClr>
                </a:solidFill>
              </a:rPr>
              <a:t>2</a:t>
            </a:r>
            <a:r>
              <a:rPr lang="en-IN" dirty="0" smtClean="0">
                <a:solidFill>
                  <a:schemeClr val="accent6">
                    <a:lumMod val="75000"/>
                  </a:schemeClr>
                </a:solidFill>
              </a:rPr>
              <a:t> </a:t>
            </a:r>
            <a:r>
              <a:rPr lang="en-IN" dirty="0" smtClean="0">
                <a:solidFill>
                  <a:schemeClr val="accent6">
                    <a:lumMod val="75000"/>
                  </a:schemeClr>
                </a:solidFill>
              </a:rPr>
              <a:t>/0A</a:t>
            </a:r>
            <a:r>
              <a:rPr lang="en-IN" sz="1100" dirty="0" smtClean="0">
                <a:solidFill>
                  <a:schemeClr val="accent6">
                    <a:lumMod val="75000"/>
                  </a:schemeClr>
                </a:solidFill>
              </a:rPr>
              <a:t>1</a:t>
            </a:r>
            <a:r>
              <a:rPr lang="en-IN" dirty="0" smtClean="0">
                <a:solidFill>
                  <a:schemeClr val="accent6">
                    <a:lumMod val="75000"/>
                  </a:schemeClr>
                </a:solidFill>
              </a:rPr>
              <a:t> / </a:t>
            </a:r>
            <a:r>
              <a:rPr lang="en-IN" dirty="0" smtClean="0">
                <a:solidFill>
                  <a:schemeClr val="accent6">
                    <a:lumMod val="75000"/>
                  </a:schemeClr>
                </a:solidFill>
              </a:rPr>
              <a:t>1A</a:t>
            </a:r>
            <a:r>
              <a:rPr lang="en-IN" sz="1100" dirty="0" smtClean="0">
                <a:solidFill>
                  <a:schemeClr val="accent6">
                    <a:lumMod val="75000"/>
                  </a:schemeClr>
                </a:solidFill>
              </a:rPr>
              <a:t>2 </a:t>
            </a:r>
            <a:r>
              <a:rPr lang="en-IN" dirty="0" smtClean="0">
                <a:solidFill>
                  <a:schemeClr val="accent6">
                    <a:lumMod val="75000"/>
                  </a:schemeClr>
                </a:solidFill>
              </a:rPr>
              <a:t>/ </a:t>
            </a:r>
            <a:r>
              <a:rPr lang="en-IN" dirty="0" smtClean="0">
                <a:solidFill>
                  <a:schemeClr val="accent6">
                    <a:lumMod val="75000"/>
                  </a:schemeClr>
                </a:solidFill>
              </a:rPr>
              <a:t>0</a:t>
            </a:r>
          </a:p>
          <a:p>
            <a:r>
              <a:rPr lang="en-IN" dirty="0" smtClean="0">
                <a:solidFill>
                  <a:schemeClr val="accent6">
                    <a:lumMod val="75000"/>
                  </a:schemeClr>
                </a:solidFill>
              </a:rPr>
              <a:t>A</a:t>
            </a:r>
            <a:r>
              <a:rPr lang="en-IN" sz="1100" dirty="0" smtClean="0">
                <a:solidFill>
                  <a:schemeClr val="accent6">
                    <a:lumMod val="75000"/>
                  </a:schemeClr>
                </a:solidFill>
              </a:rPr>
              <a:t>2</a:t>
            </a:r>
            <a:r>
              <a:rPr lang="en-IN" dirty="0" smtClean="0">
                <a:solidFill>
                  <a:schemeClr val="accent6">
                    <a:lumMod val="75000"/>
                  </a:schemeClr>
                </a:solidFill>
              </a:rPr>
              <a:t> </a:t>
            </a:r>
            <a:r>
              <a:rPr lang="en-IN" dirty="0" smtClean="0">
                <a:solidFill>
                  <a:schemeClr val="accent6">
                    <a:lumMod val="75000"/>
                  </a:schemeClr>
                </a:solidFill>
              </a:rPr>
              <a:t>→ </a:t>
            </a:r>
            <a:r>
              <a:rPr lang="en-IN" dirty="0" smtClean="0">
                <a:solidFill>
                  <a:schemeClr val="accent6">
                    <a:lumMod val="75000"/>
                  </a:schemeClr>
                </a:solidFill>
              </a:rPr>
              <a:t>0A</a:t>
            </a:r>
            <a:r>
              <a:rPr lang="en-IN" sz="1100" dirty="0" smtClean="0">
                <a:solidFill>
                  <a:schemeClr val="accent6">
                    <a:lumMod val="75000"/>
                  </a:schemeClr>
                </a:solidFill>
              </a:rPr>
              <a:t>1</a:t>
            </a:r>
            <a:r>
              <a:rPr lang="en-IN" dirty="0" smtClean="0">
                <a:solidFill>
                  <a:schemeClr val="accent6">
                    <a:lumMod val="75000"/>
                  </a:schemeClr>
                </a:solidFill>
              </a:rPr>
              <a:t>B</a:t>
            </a:r>
            <a:r>
              <a:rPr lang="en-IN" sz="1100" dirty="0" smtClean="0">
                <a:solidFill>
                  <a:schemeClr val="accent6">
                    <a:lumMod val="75000"/>
                  </a:schemeClr>
                </a:solidFill>
              </a:rPr>
              <a:t>2 </a:t>
            </a:r>
            <a:r>
              <a:rPr lang="en-IN" dirty="0" smtClean="0">
                <a:solidFill>
                  <a:schemeClr val="accent6">
                    <a:lumMod val="75000"/>
                  </a:schemeClr>
                </a:solidFill>
              </a:rPr>
              <a:t>/ </a:t>
            </a:r>
            <a:r>
              <a:rPr lang="en-IN" dirty="0" smtClean="0">
                <a:solidFill>
                  <a:schemeClr val="accent6">
                    <a:lumMod val="75000"/>
                  </a:schemeClr>
                </a:solidFill>
              </a:rPr>
              <a:t>1B</a:t>
            </a:r>
            <a:r>
              <a:rPr lang="en-IN" sz="1100" dirty="0" smtClean="0">
                <a:solidFill>
                  <a:schemeClr val="accent6">
                    <a:lumMod val="75000"/>
                  </a:schemeClr>
                </a:solidFill>
              </a:rPr>
              <a:t>2</a:t>
            </a:r>
            <a:r>
              <a:rPr lang="en-IN" dirty="0" smtClean="0">
                <a:solidFill>
                  <a:schemeClr val="accent6">
                    <a:lumMod val="75000"/>
                  </a:schemeClr>
                </a:solidFill>
              </a:rPr>
              <a:t> </a:t>
            </a:r>
            <a:r>
              <a:rPr lang="en-IN" dirty="0" smtClean="0">
                <a:solidFill>
                  <a:schemeClr val="accent6">
                    <a:lumMod val="75000"/>
                  </a:schemeClr>
                </a:solidFill>
              </a:rPr>
              <a:t>/0A</a:t>
            </a:r>
            <a:r>
              <a:rPr lang="en-IN" sz="1100" dirty="0" smtClean="0">
                <a:solidFill>
                  <a:schemeClr val="accent6">
                    <a:lumMod val="75000"/>
                  </a:schemeClr>
                </a:solidFill>
              </a:rPr>
              <a:t>1</a:t>
            </a:r>
            <a:r>
              <a:rPr lang="en-IN" dirty="0" smtClean="0">
                <a:solidFill>
                  <a:schemeClr val="accent6">
                    <a:lumMod val="75000"/>
                  </a:schemeClr>
                </a:solidFill>
              </a:rPr>
              <a:t> </a:t>
            </a:r>
            <a:r>
              <a:rPr lang="en-IN" dirty="0" smtClean="0">
                <a:solidFill>
                  <a:schemeClr val="accent6">
                    <a:lumMod val="75000"/>
                  </a:schemeClr>
                </a:solidFill>
              </a:rPr>
              <a:t>/1</a:t>
            </a:r>
          </a:p>
          <a:p>
            <a:r>
              <a:rPr lang="en-IN" dirty="0" smtClean="0">
                <a:solidFill>
                  <a:schemeClr val="accent6">
                    <a:lumMod val="75000"/>
                  </a:schemeClr>
                </a:solidFill>
              </a:rPr>
              <a:t>B</a:t>
            </a:r>
            <a:r>
              <a:rPr lang="en-IN" sz="1100" dirty="0" smtClean="0">
                <a:solidFill>
                  <a:schemeClr val="accent6">
                    <a:lumMod val="75000"/>
                  </a:schemeClr>
                </a:solidFill>
              </a:rPr>
              <a:t>2</a:t>
            </a:r>
            <a:r>
              <a:rPr lang="en-IN" dirty="0" smtClean="0">
                <a:solidFill>
                  <a:schemeClr val="accent6">
                    <a:lumMod val="75000"/>
                  </a:schemeClr>
                </a:solidFill>
              </a:rPr>
              <a:t> </a:t>
            </a:r>
            <a:r>
              <a:rPr lang="en-IN" dirty="0" smtClean="0">
                <a:solidFill>
                  <a:schemeClr val="accent6">
                    <a:lumMod val="75000"/>
                  </a:schemeClr>
                </a:solidFill>
              </a:rPr>
              <a:t>→ </a:t>
            </a:r>
            <a:r>
              <a:rPr lang="en-IN" dirty="0" smtClean="0">
                <a:solidFill>
                  <a:schemeClr val="accent6">
                    <a:lumMod val="75000"/>
                  </a:schemeClr>
                </a:solidFill>
              </a:rPr>
              <a:t>0A</a:t>
            </a:r>
            <a:r>
              <a:rPr lang="en-IN" sz="1100" dirty="0" smtClean="0">
                <a:solidFill>
                  <a:schemeClr val="accent6">
                    <a:lumMod val="75000"/>
                  </a:schemeClr>
                </a:solidFill>
              </a:rPr>
              <a:t>1</a:t>
            </a:r>
            <a:r>
              <a:rPr lang="en-IN" dirty="0" smtClean="0">
                <a:solidFill>
                  <a:schemeClr val="accent6">
                    <a:lumMod val="75000"/>
                  </a:schemeClr>
                </a:solidFill>
              </a:rPr>
              <a:t>B</a:t>
            </a:r>
            <a:r>
              <a:rPr lang="en-IN" sz="1100" dirty="0" smtClean="0">
                <a:solidFill>
                  <a:schemeClr val="accent6">
                    <a:lumMod val="75000"/>
                  </a:schemeClr>
                </a:solidFill>
              </a:rPr>
              <a:t>2</a:t>
            </a:r>
            <a:r>
              <a:rPr lang="en-IN" dirty="0" smtClean="0">
                <a:solidFill>
                  <a:schemeClr val="accent6">
                    <a:lumMod val="75000"/>
                  </a:schemeClr>
                </a:solidFill>
              </a:rPr>
              <a:t>A</a:t>
            </a:r>
            <a:r>
              <a:rPr lang="en-IN" sz="1100" dirty="0" smtClean="0">
                <a:solidFill>
                  <a:schemeClr val="accent6">
                    <a:lumMod val="75000"/>
                  </a:schemeClr>
                </a:solidFill>
              </a:rPr>
              <a:t>1</a:t>
            </a:r>
            <a:r>
              <a:rPr lang="en-IN" dirty="0" smtClean="0">
                <a:solidFill>
                  <a:schemeClr val="accent6">
                    <a:lumMod val="75000"/>
                  </a:schemeClr>
                </a:solidFill>
              </a:rPr>
              <a:t>B</a:t>
            </a:r>
            <a:r>
              <a:rPr lang="en-IN" sz="1100" dirty="0" smtClean="0">
                <a:solidFill>
                  <a:schemeClr val="accent6">
                    <a:lumMod val="75000"/>
                  </a:schemeClr>
                </a:solidFill>
              </a:rPr>
              <a:t>2</a:t>
            </a:r>
            <a:r>
              <a:rPr lang="en-IN" sz="1100" dirty="0" smtClean="0">
                <a:solidFill>
                  <a:schemeClr val="accent6">
                    <a:lumMod val="75000"/>
                  </a:schemeClr>
                </a:solidFill>
              </a:rPr>
              <a:t> </a:t>
            </a:r>
            <a:r>
              <a:rPr lang="en-IN" dirty="0" smtClean="0">
                <a:solidFill>
                  <a:schemeClr val="accent6">
                    <a:lumMod val="75000"/>
                  </a:schemeClr>
                </a:solidFill>
              </a:rPr>
              <a:t>/ </a:t>
            </a:r>
            <a:r>
              <a:rPr lang="en-IN" dirty="0" smtClean="0">
                <a:solidFill>
                  <a:schemeClr val="accent6">
                    <a:lumMod val="75000"/>
                  </a:schemeClr>
                </a:solidFill>
              </a:rPr>
              <a:t>0A</a:t>
            </a:r>
            <a:r>
              <a:rPr lang="en-IN" sz="1100" dirty="0" smtClean="0">
                <a:solidFill>
                  <a:schemeClr val="accent6">
                    <a:lumMod val="75000"/>
                  </a:schemeClr>
                </a:solidFill>
              </a:rPr>
              <a:t>1</a:t>
            </a:r>
            <a:r>
              <a:rPr lang="en-IN" dirty="0" smtClean="0">
                <a:solidFill>
                  <a:schemeClr val="accent6">
                    <a:lumMod val="75000"/>
                  </a:schemeClr>
                </a:solidFill>
              </a:rPr>
              <a:t>B</a:t>
            </a:r>
            <a:r>
              <a:rPr lang="en-IN" sz="1100" dirty="0" smtClean="0">
                <a:solidFill>
                  <a:schemeClr val="accent6">
                    <a:lumMod val="75000"/>
                  </a:schemeClr>
                </a:solidFill>
              </a:rPr>
              <a:t>2</a:t>
            </a:r>
            <a:r>
              <a:rPr lang="en-IN" dirty="0" smtClean="0">
                <a:solidFill>
                  <a:schemeClr val="accent6">
                    <a:lumMod val="75000"/>
                  </a:schemeClr>
                </a:solidFill>
              </a:rPr>
              <a:t>A</a:t>
            </a:r>
            <a:r>
              <a:rPr lang="en-IN" sz="1100" dirty="0" smtClean="0">
                <a:solidFill>
                  <a:schemeClr val="accent6">
                    <a:lumMod val="75000"/>
                  </a:schemeClr>
                </a:solidFill>
              </a:rPr>
              <a:t>1</a:t>
            </a:r>
            <a:r>
              <a:rPr lang="en-IN" dirty="0" smtClean="0">
                <a:solidFill>
                  <a:schemeClr val="accent6">
                    <a:lumMod val="75000"/>
                  </a:schemeClr>
                </a:solidFill>
              </a:rPr>
              <a:t> /1B</a:t>
            </a:r>
            <a:r>
              <a:rPr lang="en-IN" sz="1100" dirty="0" smtClean="0">
                <a:solidFill>
                  <a:schemeClr val="accent6">
                    <a:lumMod val="75000"/>
                  </a:schemeClr>
                </a:solidFill>
              </a:rPr>
              <a:t>2</a:t>
            </a:r>
            <a:r>
              <a:rPr lang="en-IN" dirty="0" smtClean="0">
                <a:solidFill>
                  <a:schemeClr val="accent6">
                    <a:lumMod val="75000"/>
                  </a:schemeClr>
                </a:solidFill>
              </a:rPr>
              <a:t>A</a:t>
            </a:r>
            <a:r>
              <a:rPr lang="en-IN" sz="1100" dirty="0" smtClean="0">
                <a:solidFill>
                  <a:schemeClr val="accent6">
                    <a:lumMod val="75000"/>
                  </a:schemeClr>
                </a:solidFill>
              </a:rPr>
              <a:t>1</a:t>
            </a:r>
            <a:r>
              <a:rPr lang="en-IN" dirty="0" smtClean="0">
                <a:solidFill>
                  <a:schemeClr val="accent6">
                    <a:lumMod val="75000"/>
                  </a:schemeClr>
                </a:solidFill>
              </a:rPr>
              <a:t>B</a:t>
            </a:r>
            <a:r>
              <a:rPr lang="en-IN" sz="1100" dirty="0" smtClean="0">
                <a:solidFill>
                  <a:schemeClr val="accent6">
                    <a:lumMod val="75000"/>
                  </a:schemeClr>
                </a:solidFill>
              </a:rPr>
              <a:t>2</a:t>
            </a:r>
            <a:r>
              <a:rPr lang="en-IN" dirty="0" smtClean="0">
                <a:solidFill>
                  <a:schemeClr val="accent6">
                    <a:lumMod val="75000"/>
                  </a:schemeClr>
                </a:solidFill>
              </a:rPr>
              <a:t> </a:t>
            </a:r>
            <a:r>
              <a:rPr lang="en-IN" dirty="0" smtClean="0">
                <a:solidFill>
                  <a:schemeClr val="accent6">
                    <a:lumMod val="75000"/>
                  </a:schemeClr>
                </a:solidFill>
              </a:rPr>
              <a:t>/ </a:t>
            </a:r>
            <a:r>
              <a:rPr lang="en-IN" dirty="0" smtClean="0">
                <a:solidFill>
                  <a:schemeClr val="accent6">
                    <a:lumMod val="75000"/>
                  </a:schemeClr>
                </a:solidFill>
              </a:rPr>
              <a:t>1B</a:t>
            </a:r>
            <a:r>
              <a:rPr lang="en-IN" sz="1100" dirty="0" smtClean="0">
                <a:solidFill>
                  <a:schemeClr val="accent6">
                    <a:lumMod val="75000"/>
                  </a:schemeClr>
                </a:solidFill>
              </a:rPr>
              <a:t>2</a:t>
            </a:r>
            <a:r>
              <a:rPr lang="en-IN" dirty="0" smtClean="0">
                <a:solidFill>
                  <a:schemeClr val="accent6">
                    <a:lumMod val="75000"/>
                  </a:schemeClr>
                </a:solidFill>
              </a:rPr>
              <a:t>A</a:t>
            </a:r>
            <a:r>
              <a:rPr lang="en-IN" sz="1100" dirty="0" smtClean="0">
                <a:solidFill>
                  <a:schemeClr val="accent6">
                    <a:lumMod val="75000"/>
                  </a:schemeClr>
                </a:solidFill>
              </a:rPr>
              <a:t>1</a:t>
            </a:r>
            <a:r>
              <a:rPr lang="en-IN" dirty="0" smtClean="0">
                <a:solidFill>
                  <a:schemeClr val="accent6">
                    <a:lumMod val="75000"/>
                  </a:schemeClr>
                </a:solidFill>
              </a:rPr>
              <a:t>/ 0A</a:t>
            </a:r>
            <a:r>
              <a:rPr lang="en-IN" sz="1100" dirty="0" smtClean="0">
                <a:solidFill>
                  <a:schemeClr val="accent6">
                    <a:lumMod val="75000"/>
                  </a:schemeClr>
                </a:solidFill>
              </a:rPr>
              <a:t>1</a:t>
            </a:r>
            <a:r>
              <a:rPr lang="en-IN" dirty="0" smtClean="0">
                <a:solidFill>
                  <a:schemeClr val="accent6">
                    <a:lumMod val="75000"/>
                  </a:schemeClr>
                </a:solidFill>
              </a:rPr>
              <a:t>A</a:t>
            </a:r>
            <a:r>
              <a:rPr lang="en-IN" sz="1100" dirty="0" smtClean="0">
                <a:solidFill>
                  <a:schemeClr val="accent6">
                    <a:lumMod val="75000"/>
                  </a:schemeClr>
                </a:solidFill>
              </a:rPr>
              <a:t>1</a:t>
            </a:r>
            <a:r>
              <a:rPr lang="en-IN" dirty="0" smtClean="0">
                <a:solidFill>
                  <a:schemeClr val="accent6">
                    <a:lumMod val="75000"/>
                  </a:schemeClr>
                </a:solidFill>
              </a:rPr>
              <a:t>B</a:t>
            </a:r>
            <a:r>
              <a:rPr lang="en-IN" sz="1100" dirty="0" smtClean="0">
                <a:solidFill>
                  <a:schemeClr val="accent6">
                    <a:lumMod val="75000"/>
                  </a:schemeClr>
                </a:solidFill>
              </a:rPr>
              <a:t>2</a:t>
            </a:r>
            <a:r>
              <a:rPr lang="en-IN" dirty="0" smtClean="0">
                <a:solidFill>
                  <a:schemeClr val="accent6">
                    <a:lumMod val="75000"/>
                  </a:schemeClr>
                </a:solidFill>
              </a:rPr>
              <a:t> / </a:t>
            </a:r>
            <a:r>
              <a:rPr lang="en-IN" dirty="0" smtClean="0">
                <a:solidFill>
                  <a:schemeClr val="accent6">
                    <a:lumMod val="75000"/>
                  </a:schemeClr>
                </a:solidFill>
              </a:rPr>
              <a:t>0A</a:t>
            </a:r>
            <a:r>
              <a:rPr lang="en-IN" sz="1100" dirty="0" smtClean="0">
                <a:solidFill>
                  <a:schemeClr val="accent6">
                    <a:lumMod val="75000"/>
                  </a:schemeClr>
                </a:solidFill>
              </a:rPr>
              <a:t>1</a:t>
            </a:r>
            <a:r>
              <a:rPr lang="en-IN" dirty="0" smtClean="0">
                <a:solidFill>
                  <a:schemeClr val="accent6">
                    <a:lumMod val="75000"/>
                  </a:schemeClr>
                </a:solidFill>
              </a:rPr>
              <a:t>A</a:t>
            </a:r>
            <a:r>
              <a:rPr lang="en-IN" sz="1100" dirty="0" smtClean="0">
                <a:solidFill>
                  <a:schemeClr val="accent6">
                    <a:lumMod val="75000"/>
                  </a:schemeClr>
                </a:solidFill>
              </a:rPr>
              <a:t>2</a:t>
            </a:r>
            <a:r>
              <a:rPr lang="en-IN" dirty="0" smtClean="0">
                <a:solidFill>
                  <a:schemeClr val="accent6">
                    <a:lumMod val="75000"/>
                  </a:schemeClr>
                </a:solidFill>
              </a:rPr>
              <a:t>A</a:t>
            </a:r>
            <a:r>
              <a:rPr lang="en-IN" sz="1100" dirty="0" smtClean="0">
                <a:solidFill>
                  <a:schemeClr val="accent6">
                    <a:lumMod val="75000"/>
                  </a:schemeClr>
                </a:solidFill>
              </a:rPr>
              <a:t>1</a:t>
            </a:r>
            <a:r>
              <a:rPr lang="en-IN" dirty="0" smtClean="0">
                <a:solidFill>
                  <a:schemeClr val="accent6">
                    <a:lumMod val="75000"/>
                  </a:schemeClr>
                </a:solidFill>
              </a:rPr>
              <a:t> </a:t>
            </a:r>
            <a:r>
              <a:rPr lang="en-IN" dirty="0" smtClean="0">
                <a:solidFill>
                  <a:schemeClr val="accent6">
                    <a:lumMod val="75000"/>
                  </a:schemeClr>
                </a:solidFill>
              </a:rPr>
              <a:t>/1A</a:t>
            </a:r>
            <a:r>
              <a:rPr lang="en-IN" sz="1100" dirty="0" smtClean="0">
                <a:solidFill>
                  <a:schemeClr val="accent6">
                    <a:lumMod val="75000"/>
                  </a:schemeClr>
                </a:solidFill>
              </a:rPr>
              <a:t>1</a:t>
            </a:r>
            <a:r>
              <a:rPr lang="en-IN" dirty="0" smtClean="0">
                <a:solidFill>
                  <a:schemeClr val="accent6">
                    <a:lumMod val="75000"/>
                  </a:schemeClr>
                </a:solidFill>
              </a:rPr>
              <a:t>B</a:t>
            </a:r>
            <a:r>
              <a:rPr lang="en-IN" sz="1100" dirty="0" smtClean="0">
                <a:solidFill>
                  <a:schemeClr val="accent6">
                    <a:lumMod val="75000"/>
                  </a:schemeClr>
                </a:solidFill>
              </a:rPr>
              <a:t>2</a:t>
            </a:r>
            <a:r>
              <a:rPr lang="en-IN" dirty="0" smtClean="0">
                <a:solidFill>
                  <a:schemeClr val="accent6">
                    <a:lumMod val="75000"/>
                  </a:schemeClr>
                </a:solidFill>
              </a:rPr>
              <a:t> /1A</a:t>
            </a:r>
            <a:r>
              <a:rPr lang="en-IN" sz="1100" dirty="0" smtClean="0">
                <a:solidFill>
                  <a:schemeClr val="accent6">
                    <a:lumMod val="75000"/>
                  </a:schemeClr>
                </a:solidFill>
              </a:rPr>
              <a:t>2</a:t>
            </a:r>
            <a:r>
              <a:rPr lang="en-IN" dirty="0" smtClean="0">
                <a:solidFill>
                  <a:schemeClr val="accent6">
                    <a:lumMod val="75000"/>
                  </a:schemeClr>
                </a:solidFill>
              </a:rPr>
              <a:t>A</a:t>
            </a:r>
            <a:r>
              <a:rPr lang="en-IN" sz="1100" dirty="0" smtClean="0">
                <a:solidFill>
                  <a:schemeClr val="accent6">
                    <a:lumMod val="75000"/>
                  </a:schemeClr>
                </a:solidFill>
              </a:rPr>
              <a:t>1</a:t>
            </a:r>
            <a:endParaRPr lang="en-IN" sz="1100" dirty="0" smtClean="0">
              <a:solidFill>
                <a:schemeClr val="accent6">
                  <a:lumMod val="75000"/>
                </a:schemeClr>
              </a:solidFill>
            </a:endParaRPr>
          </a:p>
          <a:p>
            <a:r>
              <a:rPr lang="en-IN" sz="1600" dirty="0" smtClean="0">
                <a:solidFill>
                  <a:schemeClr val="accent6">
                    <a:lumMod val="75000"/>
                  </a:schemeClr>
                </a:solidFill>
              </a:rPr>
              <a:t>Above all production are in GNF</a:t>
            </a:r>
            <a:endParaRPr lang="en-IN" sz="1600" dirty="0" smtClean="0">
              <a:solidFill>
                <a:schemeClr val="accent6">
                  <a:lumMod val="75000"/>
                </a:schemeClr>
              </a:solidFill>
            </a:endParaRPr>
          </a:p>
          <a:p>
            <a:endParaRPr lang="en-IN" dirty="0" smtClean="0"/>
          </a:p>
          <a:p>
            <a:endParaRPr lang="en-IN" dirty="0" smtClean="0"/>
          </a:p>
          <a:p>
            <a:endParaRPr lang="en-I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p:txBody>
          <a:bodyPr>
            <a:normAutofit fontScale="70000" lnSpcReduction="20000"/>
          </a:bodyPr>
          <a:lstStyle/>
          <a:p>
            <a:pPr>
              <a:buNone/>
            </a:pPr>
            <a:r>
              <a:rPr lang="en-IN" dirty="0" smtClean="0"/>
              <a:t>S → XA|BB </a:t>
            </a:r>
            <a:br>
              <a:rPr lang="en-IN" dirty="0" smtClean="0"/>
            </a:br>
            <a:r>
              <a:rPr lang="en-IN" dirty="0" smtClean="0"/>
              <a:t>B → </a:t>
            </a:r>
            <a:r>
              <a:rPr lang="en-IN" dirty="0" err="1" smtClean="0"/>
              <a:t>b|SB</a:t>
            </a:r>
            <a:r>
              <a:rPr lang="en-IN" dirty="0" smtClean="0"/>
              <a:t> </a:t>
            </a:r>
            <a:br>
              <a:rPr lang="en-IN" dirty="0" smtClean="0"/>
            </a:br>
            <a:r>
              <a:rPr lang="en-IN" dirty="0" smtClean="0"/>
              <a:t>X → b </a:t>
            </a:r>
            <a:br>
              <a:rPr lang="en-IN" dirty="0" smtClean="0"/>
            </a:br>
            <a:r>
              <a:rPr lang="en-IN" dirty="0" smtClean="0"/>
              <a:t>A → </a:t>
            </a:r>
            <a:r>
              <a:rPr lang="en-IN" dirty="0" smtClean="0"/>
              <a:t>a</a:t>
            </a:r>
          </a:p>
          <a:p>
            <a:pPr fontAlgn="base"/>
            <a:r>
              <a:rPr lang="en-IN" dirty="0" smtClean="0"/>
              <a:t>For converting a CNF to GNF first rename the non terminal symbols to A</a:t>
            </a:r>
            <a:r>
              <a:rPr lang="en-IN" baseline="-25000" dirty="0" smtClean="0"/>
              <a:t>1</a:t>
            </a:r>
            <a:r>
              <a:rPr lang="en-IN" dirty="0" smtClean="0"/>
              <a:t>,A</a:t>
            </a:r>
            <a:r>
              <a:rPr lang="en-IN" baseline="-25000" dirty="0" smtClean="0"/>
              <a:t>2</a:t>
            </a:r>
            <a:r>
              <a:rPr lang="en-IN" dirty="0" smtClean="0"/>
              <a:t> till A</a:t>
            </a:r>
            <a:r>
              <a:rPr lang="en-IN" baseline="-25000" dirty="0" smtClean="0"/>
              <a:t>N </a:t>
            </a:r>
            <a:r>
              <a:rPr lang="en-IN" dirty="0" smtClean="0"/>
              <a:t>in same sequence as they are used. </a:t>
            </a:r>
          </a:p>
          <a:p>
            <a:r>
              <a:rPr lang="en-IN" dirty="0" smtClean="0"/>
              <a:t>A</a:t>
            </a:r>
            <a:r>
              <a:rPr lang="en-IN" baseline="-25000" dirty="0" smtClean="0"/>
              <a:t>1</a:t>
            </a:r>
            <a:r>
              <a:rPr lang="en-IN" dirty="0" smtClean="0"/>
              <a:t> = S</a:t>
            </a:r>
            <a:br>
              <a:rPr lang="en-IN" dirty="0" smtClean="0"/>
            </a:br>
            <a:r>
              <a:rPr lang="en-IN" dirty="0" smtClean="0"/>
              <a:t>A</a:t>
            </a:r>
            <a:r>
              <a:rPr lang="en-IN" baseline="-25000" dirty="0" smtClean="0"/>
              <a:t>2</a:t>
            </a:r>
            <a:r>
              <a:rPr lang="en-IN" dirty="0" smtClean="0"/>
              <a:t> = X</a:t>
            </a:r>
            <a:br>
              <a:rPr lang="en-IN" dirty="0" smtClean="0"/>
            </a:br>
            <a:r>
              <a:rPr lang="en-IN" dirty="0" smtClean="0"/>
              <a:t>A</a:t>
            </a:r>
            <a:r>
              <a:rPr lang="en-IN" baseline="-25000" dirty="0" smtClean="0"/>
              <a:t>3</a:t>
            </a:r>
            <a:r>
              <a:rPr lang="en-IN" dirty="0" smtClean="0"/>
              <a:t> = A</a:t>
            </a:r>
            <a:br>
              <a:rPr lang="en-IN" dirty="0" smtClean="0"/>
            </a:br>
            <a:r>
              <a:rPr lang="en-IN" dirty="0" smtClean="0"/>
              <a:t>A</a:t>
            </a:r>
            <a:r>
              <a:rPr lang="en-IN" baseline="-25000" dirty="0" smtClean="0"/>
              <a:t>4</a:t>
            </a:r>
            <a:r>
              <a:rPr lang="en-IN" dirty="0" smtClean="0"/>
              <a:t> = </a:t>
            </a:r>
            <a:r>
              <a:rPr lang="en-IN" dirty="0" smtClean="0"/>
              <a:t>B</a:t>
            </a:r>
          </a:p>
          <a:p>
            <a:pPr fontAlgn="base"/>
            <a:r>
              <a:rPr lang="en-IN" dirty="0" smtClean="0"/>
              <a:t>Therefore, now the new production rule is, </a:t>
            </a:r>
          </a:p>
          <a:p>
            <a:r>
              <a:rPr lang="en-IN" dirty="0" smtClean="0"/>
              <a:t>A</a:t>
            </a:r>
            <a:r>
              <a:rPr lang="en-IN" baseline="-25000" dirty="0" smtClean="0"/>
              <a:t>1</a:t>
            </a:r>
            <a:r>
              <a:rPr lang="en-IN" dirty="0" smtClean="0"/>
              <a:t> → A</a:t>
            </a:r>
            <a:r>
              <a:rPr lang="en-IN" baseline="-25000" dirty="0" smtClean="0"/>
              <a:t>2</a:t>
            </a:r>
            <a:r>
              <a:rPr lang="en-IN" dirty="0" smtClean="0"/>
              <a:t>A</a:t>
            </a:r>
            <a:r>
              <a:rPr lang="en-IN" baseline="-25000" dirty="0" smtClean="0"/>
              <a:t>3</a:t>
            </a:r>
            <a:r>
              <a:rPr lang="en-IN" dirty="0" smtClean="0"/>
              <a:t> | A</a:t>
            </a:r>
            <a:r>
              <a:rPr lang="en-IN" baseline="-25000" dirty="0" smtClean="0"/>
              <a:t>4</a:t>
            </a:r>
            <a:r>
              <a:rPr lang="en-IN" dirty="0" smtClean="0"/>
              <a:t>A</a:t>
            </a:r>
            <a:r>
              <a:rPr lang="en-IN" baseline="-25000" dirty="0" smtClean="0"/>
              <a:t>4</a:t>
            </a:r>
            <a:r>
              <a:rPr lang="en-IN" dirty="0" smtClean="0"/>
              <a:t/>
            </a:r>
            <a:br>
              <a:rPr lang="en-IN" dirty="0" smtClean="0"/>
            </a:br>
            <a:r>
              <a:rPr lang="en-IN" dirty="0" smtClean="0"/>
              <a:t>A</a:t>
            </a:r>
            <a:r>
              <a:rPr lang="en-IN" baseline="-25000" dirty="0" smtClean="0"/>
              <a:t>2</a:t>
            </a:r>
            <a:r>
              <a:rPr lang="en-IN" dirty="0" smtClean="0"/>
              <a:t> → b</a:t>
            </a:r>
            <a:br>
              <a:rPr lang="en-IN" dirty="0" smtClean="0"/>
            </a:br>
            <a:r>
              <a:rPr lang="en-IN" dirty="0" smtClean="0"/>
              <a:t>A</a:t>
            </a:r>
            <a:r>
              <a:rPr lang="en-IN" baseline="-25000" dirty="0" smtClean="0"/>
              <a:t>3</a:t>
            </a:r>
            <a:r>
              <a:rPr lang="en-IN" dirty="0" smtClean="0"/>
              <a:t> → a</a:t>
            </a:r>
            <a:br>
              <a:rPr lang="en-IN" dirty="0" smtClean="0"/>
            </a:br>
            <a:r>
              <a:rPr lang="en-IN" dirty="0" smtClean="0"/>
              <a:t>A</a:t>
            </a:r>
            <a:r>
              <a:rPr lang="en-IN" baseline="-25000" dirty="0" smtClean="0"/>
              <a:t>4</a:t>
            </a:r>
            <a:r>
              <a:rPr lang="en-IN" dirty="0" smtClean="0"/>
              <a:t> → b | A</a:t>
            </a:r>
            <a:r>
              <a:rPr lang="en-IN" baseline="-25000" dirty="0" smtClean="0"/>
              <a:t>1</a:t>
            </a:r>
            <a:r>
              <a:rPr lang="en-IN" dirty="0" smtClean="0"/>
              <a:t>A</a:t>
            </a:r>
            <a:r>
              <a:rPr lang="en-IN" baseline="-25000" dirty="0" smtClean="0"/>
              <a:t>4</a:t>
            </a:r>
            <a:endParaRPr lang="en-I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70000" lnSpcReduction="20000"/>
          </a:bodyPr>
          <a:lstStyle/>
          <a:p>
            <a:pPr fontAlgn="base"/>
            <a:r>
              <a:rPr lang="en-IN" dirty="0" smtClean="0"/>
              <a:t>Now, check for every production A</a:t>
            </a:r>
            <a:r>
              <a:rPr lang="en-IN" baseline="-25000" dirty="0" smtClean="0"/>
              <a:t>i</a:t>
            </a:r>
            <a:r>
              <a:rPr lang="en-IN" dirty="0" smtClean="0"/>
              <a:t> → </a:t>
            </a:r>
            <a:r>
              <a:rPr lang="en-IN" dirty="0" err="1" smtClean="0"/>
              <a:t>A</a:t>
            </a:r>
            <a:r>
              <a:rPr lang="en-IN" baseline="-25000" dirty="0" err="1" smtClean="0"/>
              <a:t>j</a:t>
            </a:r>
            <a:r>
              <a:rPr lang="en-IN" baseline="-25000" dirty="0" smtClean="0"/>
              <a:t> </a:t>
            </a:r>
            <a:r>
              <a:rPr lang="en-IN" dirty="0" smtClean="0"/>
              <a:t>X, where  X can be any number of terminal symbols. If </a:t>
            </a:r>
            <a:r>
              <a:rPr lang="en-IN" dirty="0" err="1" smtClean="0"/>
              <a:t>i</a:t>
            </a:r>
            <a:r>
              <a:rPr lang="en-IN" dirty="0" smtClean="0"/>
              <a:t>&lt;j in the production then it is good to go to the next step but if </a:t>
            </a:r>
            <a:r>
              <a:rPr lang="en-IN" dirty="0" err="1" smtClean="0"/>
              <a:t>i</a:t>
            </a:r>
            <a:r>
              <a:rPr lang="en-IN" dirty="0" smtClean="0"/>
              <a:t>&gt;=j then change the production by replacing it with that terminal symbol’s production. if </a:t>
            </a:r>
            <a:r>
              <a:rPr lang="en-IN" dirty="0" err="1" smtClean="0"/>
              <a:t>i</a:t>
            </a:r>
            <a:r>
              <a:rPr lang="en-IN" dirty="0" smtClean="0"/>
              <a:t>=j then it is a left recursion and you need to remove left recursion.</a:t>
            </a:r>
          </a:p>
          <a:p>
            <a:pPr fontAlgn="base"/>
            <a:r>
              <a:rPr lang="en-IN" dirty="0" smtClean="0"/>
              <a:t>Here for A</a:t>
            </a:r>
            <a:r>
              <a:rPr lang="en-IN" baseline="-25000" dirty="0" smtClean="0"/>
              <a:t>4</a:t>
            </a:r>
            <a:r>
              <a:rPr lang="en-IN" dirty="0" smtClean="0"/>
              <a:t>, 4 !&lt; 1, so now replace it with A</a:t>
            </a:r>
            <a:r>
              <a:rPr lang="en-IN" baseline="-25000" dirty="0" smtClean="0"/>
              <a:t>1</a:t>
            </a:r>
            <a:r>
              <a:rPr lang="en-IN" dirty="0" smtClean="0"/>
              <a:t>‘s production rule.</a:t>
            </a:r>
          </a:p>
          <a:p>
            <a:r>
              <a:rPr lang="en-IN" b="1" dirty="0" smtClean="0"/>
              <a:t>1.</a:t>
            </a:r>
            <a:r>
              <a:rPr lang="en-IN" dirty="0" smtClean="0"/>
              <a:t/>
            </a:r>
            <a:br>
              <a:rPr lang="en-IN" dirty="0" smtClean="0"/>
            </a:br>
            <a:r>
              <a:rPr lang="en-IN" dirty="0" smtClean="0"/>
              <a:t>A</a:t>
            </a:r>
            <a:r>
              <a:rPr lang="en-IN" baseline="-25000" dirty="0" smtClean="0"/>
              <a:t>1</a:t>
            </a:r>
            <a:r>
              <a:rPr lang="en-IN" dirty="0" smtClean="0"/>
              <a:t> → A</a:t>
            </a:r>
            <a:r>
              <a:rPr lang="en-IN" baseline="-25000" dirty="0" smtClean="0"/>
              <a:t>2</a:t>
            </a:r>
            <a:r>
              <a:rPr lang="en-IN" dirty="0" smtClean="0"/>
              <a:t>A</a:t>
            </a:r>
            <a:r>
              <a:rPr lang="en-IN" baseline="-25000" dirty="0" smtClean="0"/>
              <a:t>3</a:t>
            </a:r>
            <a:r>
              <a:rPr lang="en-IN" dirty="0" smtClean="0"/>
              <a:t> | A</a:t>
            </a:r>
            <a:r>
              <a:rPr lang="en-IN" baseline="-25000" dirty="0" smtClean="0"/>
              <a:t>4</a:t>
            </a:r>
            <a:r>
              <a:rPr lang="en-IN" dirty="0" smtClean="0"/>
              <a:t>A</a:t>
            </a:r>
            <a:r>
              <a:rPr lang="en-IN" baseline="-25000" dirty="0" smtClean="0"/>
              <a:t>4</a:t>
            </a:r>
            <a:r>
              <a:rPr lang="en-IN" dirty="0" smtClean="0"/>
              <a:t/>
            </a:r>
            <a:br>
              <a:rPr lang="en-IN" dirty="0" smtClean="0"/>
            </a:br>
            <a:r>
              <a:rPr lang="en-IN" dirty="0" smtClean="0"/>
              <a:t>A</a:t>
            </a:r>
            <a:r>
              <a:rPr lang="en-IN" baseline="-25000" dirty="0" smtClean="0"/>
              <a:t>2</a:t>
            </a:r>
            <a:r>
              <a:rPr lang="en-IN" dirty="0" smtClean="0"/>
              <a:t> → b</a:t>
            </a:r>
            <a:br>
              <a:rPr lang="en-IN" dirty="0" smtClean="0"/>
            </a:br>
            <a:r>
              <a:rPr lang="en-IN" dirty="0" smtClean="0"/>
              <a:t>A</a:t>
            </a:r>
            <a:r>
              <a:rPr lang="en-IN" baseline="-25000" dirty="0" smtClean="0"/>
              <a:t>3</a:t>
            </a:r>
            <a:r>
              <a:rPr lang="en-IN" dirty="0" smtClean="0"/>
              <a:t> → a</a:t>
            </a:r>
            <a:br>
              <a:rPr lang="en-IN" dirty="0" smtClean="0"/>
            </a:br>
            <a:r>
              <a:rPr lang="en-IN" dirty="0" smtClean="0"/>
              <a:t>A</a:t>
            </a:r>
            <a:r>
              <a:rPr lang="en-IN" baseline="-25000" dirty="0" smtClean="0"/>
              <a:t>4</a:t>
            </a:r>
            <a:r>
              <a:rPr lang="en-IN" dirty="0" smtClean="0"/>
              <a:t> → b | A</a:t>
            </a:r>
            <a:r>
              <a:rPr lang="en-IN" baseline="-25000" dirty="0" smtClean="0"/>
              <a:t>2</a:t>
            </a:r>
            <a:r>
              <a:rPr lang="en-IN" dirty="0" smtClean="0"/>
              <a:t>A</a:t>
            </a:r>
            <a:r>
              <a:rPr lang="en-IN" baseline="-25000" dirty="0" smtClean="0"/>
              <a:t>3</a:t>
            </a:r>
            <a:r>
              <a:rPr lang="en-IN" dirty="0" smtClean="0"/>
              <a:t>A</a:t>
            </a:r>
            <a:r>
              <a:rPr lang="en-IN" baseline="-25000" dirty="0" smtClean="0"/>
              <a:t>4</a:t>
            </a:r>
            <a:r>
              <a:rPr lang="en-IN" dirty="0" smtClean="0"/>
              <a:t> | A</a:t>
            </a:r>
            <a:r>
              <a:rPr lang="en-IN" baseline="-25000" dirty="0" smtClean="0"/>
              <a:t>4</a:t>
            </a:r>
            <a:r>
              <a:rPr lang="en-IN" dirty="0" smtClean="0"/>
              <a:t>A</a:t>
            </a:r>
            <a:r>
              <a:rPr lang="en-IN" baseline="-25000" dirty="0" smtClean="0"/>
              <a:t>4</a:t>
            </a:r>
            <a:r>
              <a:rPr lang="en-IN" dirty="0" smtClean="0"/>
              <a:t>A</a:t>
            </a:r>
            <a:r>
              <a:rPr lang="en-IN" baseline="-25000" dirty="0" smtClean="0"/>
              <a:t>4</a:t>
            </a:r>
            <a:r>
              <a:rPr lang="en-IN" dirty="0" smtClean="0"/>
              <a:t/>
            </a:r>
            <a:br>
              <a:rPr lang="en-IN" dirty="0" smtClean="0"/>
            </a:br>
            <a:r>
              <a:rPr lang="en-IN" dirty="0" smtClean="0"/>
              <a:t>----------------------</a:t>
            </a:r>
            <a:br>
              <a:rPr lang="en-IN" dirty="0" smtClean="0"/>
            </a:br>
            <a:r>
              <a:rPr lang="en-IN" b="1" dirty="0" smtClean="0"/>
              <a:t>2.</a:t>
            </a:r>
            <a:r>
              <a:rPr lang="en-IN" dirty="0" smtClean="0"/>
              <a:t/>
            </a:r>
            <a:br>
              <a:rPr lang="en-IN" dirty="0" smtClean="0"/>
            </a:br>
            <a:r>
              <a:rPr lang="en-IN" dirty="0" smtClean="0"/>
              <a:t>A</a:t>
            </a:r>
            <a:r>
              <a:rPr lang="en-IN" baseline="-25000" dirty="0" smtClean="0"/>
              <a:t>1</a:t>
            </a:r>
            <a:r>
              <a:rPr lang="en-IN" dirty="0" smtClean="0"/>
              <a:t> → A</a:t>
            </a:r>
            <a:r>
              <a:rPr lang="en-IN" baseline="-25000" dirty="0" smtClean="0"/>
              <a:t>2</a:t>
            </a:r>
            <a:r>
              <a:rPr lang="en-IN" dirty="0" smtClean="0"/>
              <a:t>A</a:t>
            </a:r>
            <a:r>
              <a:rPr lang="en-IN" baseline="-25000" dirty="0" smtClean="0"/>
              <a:t>3</a:t>
            </a:r>
            <a:r>
              <a:rPr lang="en-IN" dirty="0" smtClean="0"/>
              <a:t> | A</a:t>
            </a:r>
            <a:r>
              <a:rPr lang="en-IN" baseline="-25000" dirty="0" smtClean="0"/>
              <a:t>4</a:t>
            </a:r>
            <a:r>
              <a:rPr lang="en-IN" dirty="0" smtClean="0"/>
              <a:t>A</a:t>
            </a:r>
            <a:r>
              <a:rPr lang="en-IN" baseline="-25000" dirty="0" smtClean="0"/>
              <a:t>4</a:t>
            </a:r>
            <a:r>
              <a:rPr lang="en-IN" dirty="0" smtClean="0"/>
              <a:t/>
            </a:r>
            <a:br>
              <a:rPr lang="en-IN" dirty="0" smtClean="0"/>
            </a:br>
            <a:r>
              <a:rPr lang="en-IN" dirty="0" smtClean="0"/>
              <a:t>A</a:t>
            </a:r>
            <a:r>
              <a:rPr lang="en-IN" baseline="-25000" dirty="0" smtClean="0"/>
              <a:t>2</a:t>
            </a:r>
            <a:r>
              <a:rPr lang="en-IN" dirty="0" smtClean="0"/>
              <a:t> → b</a:t>
            </a:r>
            <a:br>
              <a:rPr lang="en-IN" dirty="0" smtClean="0"/>
            </a:br>
            <a:r>
              <a:rPr lang="en-IN" dirty="0" smtClean="0"/>
              <a:t>A</a:t>
            </a:r>
            <a:r>
              <a:rPr lang="en-IN" baseline="-25000" dirty="0" smtClean="0"/>
              <a:t>3</a:t>
            </a:r>
            <a:r>
              <a:rPr lang="en-IN" dirty="0" smtClean="0"/>
              <a:t> → a</a:t>
            </a:r>
            <a:br>
              <a:rPr lang="en-IN" dirty="0" smtClean="0"/>
            </a:br>
            <a:r>
              <a:rPr lang="en-IN" dirty="0" smtClean="0"/>
              <a:t>A</a:t>
            </a:r>
            <a:r>
              <a:rPr lang="en-IN" baseline="-25000" dirty="0" smtClean="0"/>
              <a:t>4</a:t>
            </a:r>
            <a:r>
              <a:rPr lang="en-IN" dirty="0" smtClean="0"/>
              <a:t> → b | bA</a:t>
            </a:r>
            <a:r>
              <a:rPr lang="en-IN" baseline="-25000" dirty="0" smtClean="0"/>
              <a:t>3</a:t>
            </a:r>
            <a:r>
              <a:rPr lang="en-IN" dirty="0" smtClean="0"/>
              <a:t>A</a:t>
            </a:r>
            <a:r>
              <a:rPr lang="en-IN" baseline="-25000" dirty="0" smtClean="0"/>
              <a:t>4</a:t>
            </a:r>
            <a:r>
              <a:rPr lang="en-IN" dirty="0" smtClean="0"/>
              <a:t> | A</a:t>
            </a:r>
            <a:r>
              <a:rPr lang="en-IN" baseline="-25000" dirty="0" smtClean="0"/>
              <a:t>4</a:t>
            </a:r>
            <a:r>
              <a:rPr lang="en-IN" dirty="0" smtClean="0"/>
              <a:t>A</a:t>
            </a:r>
            <a:r>
              <a:rPr lang="en-IN" baseline="-25000" dirty="0" smtClean="0"/>
              <a:t>4</a:t>
            </a:r>
            <a:r>
              <a:rPr lang="en-IN" dirty="0" smtClean="0"/>
              <a:t>A</a:t>
            </a:r>
            <a:r>
              <a:rPr lang="en-IN" baseline="-25000" dirty="0" smtClean="0"/>
              <a:t>4</a:t>
            </a:r>
            <a:endParaRPr lang="en-I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55000" lnSpcReduction="20000"/>
          </a:bodyPr>
          <a:lstStyle/>
          <a:p>
            <a:pPr fontAlgn="base"/>
            <a:r>
              <a:rPr lang="en-IN" dirty="0" smtClean="0"/>
              <a:t>Here A</a:t>
            </a:r>
            <a:r>
              <a:rPr lang="en-IN" baseline="-25000" dirty="0" smtClean="0"/>
              <a:t>4</a:t>
            </a:r>
            <a:r>
              <a:rPr lang="en-IN" dirty="0" smtClean="0"/>
              <a:t>A</a:t>
            </a:r>
            <a:r>
              <a:rPr lang="en-IN" baseline="-25000" dirty="0" smtClean="0"/>
              <a:t>4</a:t>
            </a:r>
            <a:r>
              <a:rPr lang="en-IN" dirty="0" smtClean="0"/>
              <a:t>A</a:t>
            </a:r>
            <a:r>
              <a:rPr lang="en-IN" baseline="-25000" dirty="0" smtClean="0"/>
              <a:t>4</a:t>
            </a:r>
            <a:r>
              <a:rPr lang="en-IN" dirty="0" smtClean="0"/>
              <a:t> in production rule of A</a:t>
            </a:r>
            <a:r>
              <a:rPr lang="en-IN" baseline="-25000" dirty="0" smtClean="0"/>
              <a:t>4</a:t>
            </a:r>
            <a:r>
              <a:rPr lang="en-IN" dirty="0" smtClean="0"/>
              <a:t> is the example of left recursion. </a:t>
            </a:r>
          </a:p>
          <a:p>
            <a:pPr fontAlgn="base"/>
            <a:r>
              <a:rPr lang="en-IN" dirty="0" smtClean="0"/>
              <a:t>To replace the left most recursion take a new Non terminal symbol Z, which has the X part or the trailing part of the left most recursive production once followed by Z and once without Z. Here in A</a:t>
            </a:r>
            <a:r>
              <a:rPr lang="en-IN" baseline="-25000" dirty="0" smtClean="0"/>
              <a:t>4</a:t>
            </a:r>
            <a:r>
              <a:rPr lang="en-IN" dirty="0" smtClean="0"/>
              <a:t>A</a:t>
            </a:r>
            <a:r>
              <a:rPr lang="en-IN" baseline="-25000" dirty="0" smtClean="0"/>
              <a:t>4</a:t>
            </a:r>
            <a:r>
              <a:rPr lang="en-IN" dirty="0" smtClean="0"/>
              <a:t>A</a:t>
            </a:r>
            <a:r>
              <a:rPr lang="en-IN" baseline="-25000" dirty="0" smtClean="0"/>
              <a:t>4</a:t>
            </a:r>
            <a:r>
              <a:rPr lang="en-IN" dirty="0" smtClean="0"/>
              <a:t>, the part after the first A</a:t>
            </a:r>
            <a:r>
              <a:rPr lang="en-IN" baseline="-25000" dirty="0" smtClean="0"/>
              <a:t>4</a:t>
            </a:r>
            <a:r>
              <a:rPr lang="en-IN" dirty="0" smtClean="0"/>
              <a:t> is A</a:t>
            </a:r>
            <a:r>
              <a:rPr lang="en-IN" baseline="-25000" dirty="0" smtClean="0"/>
              <a:t>4</a:t>
            </a:r>
            <a:r>
              <a:rPr lang="en-IN" dirty="0" smtClean="0"/>
              <a:t>A</a:t>
            </a:r>
            <a:r>
              <a:rPr lang="en-IN" baseline="-25000" dirty="0" smtClean="0"/>
              <a:t>4</a:t>
            </a:r>
            <a:r>
              <a:rPr lang="en-IN" dirty="0" smtClean="0"/>
              <a:t>, therefore  </a:t>
            </a:r>
          </a:p>
          <a:p>
            <a:pPr fontAlgn="base"/>
            <a:r>
              <a:rPr lang="en-IN" dirty="0" smtClean="0"/>
              <a:t>Z → A</a:t>
            </a:r>
            <a:r>
              <a:rPr lang="en-IN" baseline="-25000" dirty="0" smtClean="0"/>
              <a:t>4</a:t>
            </a:r>
            <a:r>
              <a:rPr lang="en-IN" dirty="0" smtClean="0"/>
              <a:t>A</a:t>
            </a:r>
            <a:r>
              <a:rPr lang="en-IN" baseline="-25000" dirty="0" smtClean="0"/>
              <a:t>4</a:t>
            </a:r>
            <a:r>
              <a:rPr lang="en-IN" dirty="0" smtClean="0"/>
              <a:t> | A</a:t>
            </a:r>
            <a:r>
              <a:rPr lang="en-IN" baseline="-25000" dirty="0" smtClean="0"/>
              <a:t>4</a:t>
            </a:r>
            <a:r>
              <a:rPr lang="en-IN" dirty="0" smtClean="0"/>
              <a:t>A</a:t>
            </a:r>
            <a:r>
              <a:rPr lang="en-IN" baseline="-25000" dirty="0" smtClean="0"/>
              <a:t>4</a:t>
            </a:r>
            <a:r>
              <a:rPr lang="en-IN" dirty="0" smtClean="0"/>
              <a:t>ZNow change the above production rule by putting Z after every previous production of that A</a:t>
            </a:r>
            <a:r>
              <a:rPr lang="en-IN" baseline="-25000" dirty="0" smtClean="0"/>
              <a:t>i</a:t>
            </a:r>
            <a:r>
              <a:rPr lang="en-IN" dirty="0" smtClean="0"/>
              <a:t>, and remove the left recursive production.</a:t>
            </a:r>
          </a:p>
          <a:p>
            <a:pPr fontAlgn="base"/>
            <a:r>
              <a:rPr lang="en-IN" dirty="0" smtClean="0"/>
              <a:t>A</a:t>
            </a:r>
            <a:r>
              <a:rPr lang="en-IN" baseline="-25000" dirty="0" smtClean="0"/>
              <a:t>1</a:t>
            </a:r>
            <a:r>
              <a:rPr lang="en-IN" dirty="0" smtClean="0"/>
              <a:t> → A</a:t>
            </a:r>
            <a:r>
              <a:rPr lang="en-IN" baseline="-25000" dirty="0" smtClean="0"/>
              <a:t>2</a:t>
            </a:r>
            <a:r>
              <a:rPr lang="en-IN" dirty="0" smtClean="0"/>
              <a:t>A</a:t>
            </a:r>
            <a:r>
              <a:rPr lang="en-IN" baseline="-25000" dirty="0" smtClean="0"/>
              <a:t>3</a:t>
            </a:r>
            <a:r>
              <a:rPr lang="en-IN" dirty="0" smtClean="0"/>
              <a:t> | A</a:t>
            </a:r>
            <a:r>
              <a:rPr lang="en-IN" baseline="-25000" dirty="0" smtClean="0"/>
              <a:t>4</a:t>
            </a:r>
            <a:r>
              <a:rPr lang="en-IN" dirty="0" smtClean="0"/>
              <a:t>A</a:t>
            </a:r>
            <a:r>
              <a:rPr lang="en-IN" baseline="-25000" dirty="0" smtClean="0"/>
              <a:t>4</a:t>
            </a:r>
            <a:r>
              <a:rPr lang="en-IN" dirty="0" smtClean="0"/>
              <a:t/>
            </a:r>
            <a:br>
              <a:rPr lang="en-IN" dirty="0" smtClean="0"/>
            </a:br>
            <a:r>
              <a:rPr lang="en-IN" dirty="0" smtClean="0"/>
              <a:t>A</a:t>
            </a:r>
            <a:r>
              <a:rPr lang="en-IN" baseline="-25000" dirty="0" smtClean="0"/>
              <a:t>2</a:t>
            </a:r>
            <a:r>
              <a:rPr lang="en-IN" dirty="0" smtClean="0"/>
              <a:t> → b</a:t>
            </a:r>
            <a:br>
              <a:rPr lang="en-IN" dirty="0" smtClean="0"/>
            </a:br>
            <a:r>
              <a:rPr lang="en-IN" dirty="0" smtClean="0"/>
              <a:t>A</a:t>
            </a:r>
            <a:r>
              <a:rPr lang="en-IN" baseline="-25000" dirty="0" smtClean="0"/>
              <a:t>3</a:t>
            </a:r>
            <a:r>
              <a:rPr lang="en-IN" dirty="0" smtClean="0"/>
              <a:t> → a</a:t>
            </a:r>
            <a:br>
              <a:rPr lang="en-IN" dirty="0" smtClean="0"/>
            </a:br>
            <a:r>
              <a:rPr lang="en-IN" dirty="0" smtClean="0"/>
              <a:t>A</a:t>
            </a:r>
            <a:r>
              <a:rPr lang="en-IN" baseline="-25000" dirty="0" smtClean="0"/>
              <a:t>4</a:t>
            </a:r>
            <a:r>
              <a:rPr lang="en-IN" dirty="0" smtClean="0"/>
              <a:t> → b | bA</a:t>
            </a:r>
            <a:r>
              <a:rPr lang="en-IN" baseline="-25000" dirty="0" smtClean="0"/>
              <a:t>3</a:t>
            </a:r>
            <a:r>
              <a:rPr lang="en-IN" dirty="0" smtClean="0"/>
              <a:t>A</a:t>
            </a:r>
            <a:r>
              <a:rPr lang="en-IN" baseline="-25000" dirty="0" smtClean="0"/>
              <a:t>4</a:t>
            </a:r>
            <a:r>
              <a:rPr lang="en-IN" dirty="0" smtClean="0"/>
              <a:t> | </a:t>
            </a:r>
            <a:r>
              <a:rPr lang="en-IN" dirty="0" err="1" smtClean="0"/>
              <a:t>bZ</a:t>
            </a:r>
            <a:r>
              <a:rPr lang="en-IN" dirty="0" smtClean="0"/>
              <a:t> | bA</a:t>
            </a:r>
            <a:r>
              <a:rPr lang="en-IN" baseline="-25000" dirty="0" smtClean="0"/>
              <a:t>3</a:t>
            </a:r>
            <a:r>
              <a:rPr lang="en-IN" dirty="0" smtClean="0"/>
              <a:t>A</a:t>
            </a:r>
            <a:r>
              <a:rPr lang="en-IN" baseline="-25000" dirty="0" smtClean="0"/>
              <a:t>4</a:t>
            </a:r>
            <a:r>
              <a:rPr lang="en-IN" dirty="0" smtClean="0"/>
              <a:t>Z</a:t>
            </a:r>
            <a:br>
              <a:rPr lang="en-IN" dirty="0" smtClean="0"/>
            </a:br>
            <a:r>
              <a:rPr lang="en-IN" dirty="0" smtClean="0"/>
              <a:t>Z → A</a:t>
            </a:r>
            <a:r>
              <a:rPr lang="en-IN" baseline="-25000" dirty="0" smtClean="0"/>
              <a:t>4</a:t>
            </a:r>
            <a:r>
              <a:rPr lang="en-IN" dirty="0" smtClean="0"/>
              <a:t>A</a:t>
            </a:r>
            <a:r>
              <a:rPr lang="en-IN" baseline="-25000" dirty="0" smtClean="0"/>
              <a:t>4</a:t>
            </a:r>
            <a:r>
              <a:rPr lang="en-IN" dirty="0" smtClean="0"/>
              <a:t> | A</a:t>
            </a:r>
            <a:r>
              <a:rPr lang="en-IN" baseline="-25000" dirty="0" smtClean="0"/>
              <a:t>4</a:t>
            </a:r>
            <a:r>
              <a:rPr lang="en-IN" dirty="0" smtClean="0"/>
              <a:t>A</a:t>
            </a:r>
            <a:r>
              <a:rPr lang="en-IN" baseline="-25000" dirty="0" smtClean="0"/>
              <a:t>4</a:t>
            </a:r>
            <a:r>
              <a:rPr lang="en-IN" dirty="0" smtClean="0"/>
              <a:t>ZThe Last step is to replace the production to the form of either </a:t>
            </a:r>
          </a:p>
          <a:p>
            <a:pPr fontAlgn="base"/>
            <a:r>
              <a:rPr lang="en-IN" dirty="0" smtClean="0"/>
              <a:t>A</a:t>
            </a:r>
            <a:r>
              <a:rPr lang="en-IN" baseline="-25000" dirty="0" smtClean="0"/>
              <a:t>i</a:t>
            </a:r>
            <a:r>
              <a:rPr lang="en-IN" dirty="0" smtClean="0"/>
              <a:t> → x (any single terminal symbol)</a:t>
            </a:r>
          </a:p>
          <a:p>
            <a:pPr fontAlgn="base"/>
            <a:r>
              <a:rPr lang="en-IN" dirty="0" smtClean="0"/>
              <a:t>OR </a:t>
            </a:r>
          </a:p>
          <a:p>
            <a:pPr fontAlgn="base"/>
            <a:r>
              <a:rPr lang="en-IN" dirty="0" smtClean="0"/>
              <a:t>A</a:t>
            </a:r>
            <a:r>
              <a:rPr lang="en-IN" baseline="-25000" dirty="0" smtClean="0"/>
              <a:t>i</a:t>
            </a:r>
            <a:r>
              <a:rPr lang="en-IN" dirty="0" smtClean="0"/>
              <a:t> → </a:t>
            </a:r>
            <a:r>
              <a:rPr lang="en-IN" dirty="0" err="1" smtClean="0"/>
              <a:t>xX</a:t>
            </a:r>
            <a:r>
              <a:rPr lang="en-IN" dirty="0" smtClean="0"/>
              <a:t> (any single terminal followed by any number of non terminals)</a:t>
            </a:r>
          </a:p>
          <a:p>
            <a:pPr fontAlgn="base"/>
            <a:r>
              <a:rPr lang="en-IN" dirty="0" smtClean="0"/>
              <a:t>So here we need to replace A</a:t>
            </a:r>
            <a:r>
              <a:rPr lang="en-IN" baseline="-25000" dirty="0" smtClean="0"/>
              <a:t>2</a:t>
            </a:r>
            <a:r>
              <a:rPr lang="en-IN" dirty="0" smtClean="0"/>
              <a:t> in production rule of A</a:t>
            </a:r>
            <a:r>
              <a:rPr lang="en-IN" baseline="-25000" dirty="0" smtClean="0"/>
              <a:t>1</a:t>
            </a:r>
            <a:r>
              <a:rPr lang="en-IN" dirty="0" smtClean="0"/>
              <a:t> and so on.</a:t>
            </a:r>
          </a:p>
          <a:p>
            <a:pPr fontAlgn="base"/>
            <a:r>
              <a:rPr lang="en-IN" dirty="0" smtClean="0"/>
              <a:t>A</a:t>
            </a:r>
            <a:r>
              <a:rPr lang="en-IN" baseline="-25000" dirty="0" smtClean="0"/>
              <a:t>1</a:t>
            </a:r>
            <a:r>
              <a:rPr lang="en-IN" dirty="0" smtClean="0"/>
              <a:t> → bA</a:t>
            </a:r>
            <a:r>
              <a:rPr lang="en-IN" baseline="-25000" dirty="0" smtClean="0"/>
              <a:t>3</a:t>
            </a:r>
            <a:r>
              <a:rPr lang="en-IN" dirty="0" smtClean="0"/>
              <a:t> | bA</a:t>
            </a:r>
            <a:r>
              <a:rPr lang="en-IN" baseline="-25000" dirty="0" smtClean="0"/>
              <a:t>4</a:t>
            </a:r>
            <a:r>
              <a:rPr lang="en-IN" dirty="0" smtClean="0"/>
              <a:t> | bA</a:t>
            </a:r>
            <a:r>
              <a:rPr lang="en-IN" baseline="-25000" dirty="0" smtClean="0"/>
              <a:t>3</a:t>
            </a:r>
            <a:r>
              <a:rPr lang="en-IN" dirty="0" smtClean="0"/>
              <a:t>A</a:t>
            </a:r>
            <a:r>
              <a:rPr lang="en-IN" baseline="-25000" dirty="0" smtClean="0"/>
              <a:t>4</a:t>
            </a:r>
            <a:r>
              <a:rPr lang="en-IN" dirty="0" smtClean="0"/>
              <a:t>A</a:t>
            </a:r>
            <a:r>
              <a:rPr lang="en-IN" baseline="-25000" dirty="0" smtClean="0"/>
              <a:t>4</a:t>
            </a:r>
            <a:r>
              <a:rPr lang="en-IN" dirty="0" smtClean="0"/>
              <a:t> | bZA</a:t>
            </a:r>
            <a:r>
              <a:rPr lang="en-IN" baseline="-25000" dirty="0" smtClean="0"/>
              <a:t>4</a:t>
            </a:r>
            <a:r>
              <a:rPr lang="en-IN" dirty="0" smtClean="0"/>
              <a:t> | bA</a:t>
            </a:r>
            <a:r>
              <a:rPr lang="en-IN" baseline="-25000" dirty="0" smtClean="0"/>
              <a:t>3</a:t>
            </a:r>
            <a:r>
              <a:rPr lang="en-IN" dirty="0" smtClean="0"/>
              <a:t>A</a:t>
            </a:r>
            <a:r>
              <a:rPr lang="en-IN" baseline="-25000" dirty="0" smtClean="0"/>
              <a:t>4</a:t>
            </a:r>
            <a:r>
              <a:rPr lang="en-IN" dirty="0" smtClean="0"/>
              <a:t>ZA</a:t>
            </a:r>
            <a:r>
              <a:rPr lang="en-IN" baseline="-25000" dirty="0" smtClean="0"/>
              <a:t>4</a:t>
            </a:r>
            <a:r>
              <a:rPr lang="en-IN" dirty="0" smtClean="0"/>
              <a:t/>
            </a:r>
            <a:br>
              <a:rPr lang="en-IN" dirty="0" smtClean="0"/>
            </a:br>
            <a:r>
              <a:rPr lang="en-IN" dirty="0" smtClean="0"/>
              <a:t>A</a:t>
            </a:r>
            <a:r>
              <a:rPr lang="en-IN" baseline="-25000" dirty="0" smtClean="0"/>
              <a:t>2</a:t>
            </a:r>
            <a:r>
              <a:rPr lang="en-IN" dirty="0" smtClean="0"/>
              <a:t> → b</a:t>
            </a:r>
            <a:br>
              <a:rPr lang="en-IN" dirty="0" smtClean="0"/>
            </a:br>
            <a:r>
              <a:rPr lang="en-IN" dirty="0" smtClean="0"/>
              <a:t>A</a:t>
            </a:r>
            <a:r>
              <a:rPr lang="en-IN" baseline="-25000" dirty="0" smtClean="0"/>
              <a:t>3</a:t>
            </a:r>
            <a:r>
              <a:rPr lang="en-IN" dirty="0" smtClean="0"/>
              <a:t> → a</a:t>
            </a:r>
            <a:br>
              <a:rPr lang="en-IN" dirty="0" smtClean="0"/>
            </a:br>
            <a:r>
              <a:rPr lang="en-IN" dirty="0" smtClean="0"/>
              <a:t>A</a:t>
            </a:r>
            <a:r>
              <a:rPr lang="en-IN" baseline="-25000" dirty="0" smtClean="0"/>
              <a:t>4</a:t>
            </a:r>
            <a:r>
              <a:rPr lang="en-IN" dirty="0" smtClean="0"/>
              <a:t> → b | bA</a:t>
            </a:r>
            <a:r>
              <a:rPr lang="en-IN" baseline="-25000" dirty="0" smtClean="0"/>
              <a:t>3</a:t>
            </a:r>
            <a:r>
              <a:rPr lang="en-IN" dirty="0" smtClean="0"/>
              <a:t>A</a:t>
            </a:r>
            <a:r>
              <a:rPr lang="en-IN" baseline="-25000" dirty="0" smtClean="0"/>
              <a:t>4</a:t>
            </a:r>
            <a:r>
              <a:rPr lang="en-IN" dirty="0" smtClean="0"/>
              <a:t> | </a:t>
            </a:r>
            <a:r>
              <a:rPr lang="en-IN" dirty="0" err="1" smtClean="0"/>
              <a:t>bZ</a:t>
            </a:r>
            <a:r>
              <a:rPr lang="en-IN" dirty="0" smtClean="0"/>
              <a:t> | bA</a:t>
            </a:r>
            <a:r>
              <a:rPr lang="en-IN" baseline="-25000" dirty="0" smtClean="0"/>
              <a:t>3</a:t>
            </a:r>
            <a:r>
              <a:rPr lang="en-IN" dirty="0" smtClean="0"/>
              <a:t>A</a:t>
            </a:r>
            <a:r>
              <a:rPr lang="en-IN" baseline="-25000" dirty="0" smtClean="0"/>
              <a:t>4</a:t>
            </a:r>
            <a:r>
              <a:rPr lang="en-IN" dirty="0" smtClean="0"/>
              <a:t>Z</a:t>
            </a:r>
            <a:br>
              <a:rPr lang="en-IN" dirty="0" smtClean="0"/>
            </a:br>
            <a:r>
              <a:rPr lang="en-IN" dirty="0" smtClean="0"/>
              <a:t>Z → bA</a:t>
            </a:r>
            <a:r>
              <a:rPr lang="en-IN" baseline="-25000" dirty="0" smtClean="0"/>
              <a:t>4</a:t>
            </a:r>
            <a:r>
              <a:rPr lang="en-IN" dirty="0" smtClean="0"/>
              <a:t> | bA</a:t>
            </a:r>
            <a:r>
              <a:rPr lang="en-IN" baseline="-25000" dirty="0" smtClean="0"/>
              <a:t>3</a:t>
            </a:r>
            <a:r>
              <a:rPr lang="en-IN" dirty="0" smtClean="0"/>
              <a:t>A</a:t>
            </a:r>
            <a:r>
              <a:rPr lang="en-IN" baseline="-25000" dirty="0" smtClean="0"/>
              <a:t>4</a:t>
            </a:r>
            <a:r>
              <a:rPr lang="en-IN" dirty="0" smtClean="0"/>
              <a:t>A</a:t>
            </a:r>
            <a:r>
              <a:rPr lang="en-IN" baseline="-25000" dirty="0" smtClean="0"/>
              <a:t>4</a:t>
            </a:r>
            <a:r>
              <a:rPr lang="en-IN" dirty="0" smtClean="0"/>
              <a:t> | bZA</a:t>
            </a:r>
            <a:r>
              <a:rPr lang="en-IN" baseline="-25000" dirty="0" smtClean="0"/>
              <a:t>4</a:t>
            </a:r>
            <a:r>
              <a:rPr lang="en-IN" dirty="0" smtClean="0"/>
              <a:t> | bA</a:t>
            </a:r>
            <a:r>
              <a:rPr lang="en-IN" baseline="-25000" dirty="0" smtClean="0"/>
              <a:t>3</a:t>
            </a:r>
            <a:r>
              <a:rPr lang="en-IN" dirty="0" smtClean="0"/>
              <a:t>A</a:t>
            </a:r>
            <a:r>
              <a:rPr lang="en-IN" baseline="-25000" dirty="0" smtClean="0"/>
              <a:t>4</a:t>
            </a:r>
            <a:r>
              <a:rPr lang="en-IN" dirty="0" smtClean="0"/>
              <a:t>ZA</a:t>
            </a:r>
            <a:r>
              <a:rPr lang="en-IN" baseline="-25000" dirty="0" smtClean="0"/>
              <a:t>4</a:t>
            </a:r>
            <a:r>
              <a:rPr lang="en-IN" dirty="0" smtClean="0"/>
              <a:t> | bA</a:t>
            </a:r>
            <a:r>
              <a:rPr lang="en-IN" baseline="-25000" dirty="0" smtClean="0"/>
              <a:t>4</a:t>
            </a:r>
            <a:r>
              <a:rPr lang="en-IN" dirty="0" smtClean="0"/>
              <a:t>Z | bA</a:t>
            </a:r>
            <a:r>
              <a:rPr lang="en-IN" baseline="-25000" dirty="0" smtClean="0"/>
              <a:t>3</a:t>
            </a:r>
            <a:r>
              <a:rPr lang="en-IN" dirty="0" smtClean="0"/>
              <a:t>A</a:t>
            </a:r>
            <a:r>
              <a:rPr lang="en-IN" baseline="-25000" dirty="0" smtClean="0"/>
              <a:t>4</a:t>
            </a:r>
            <a:r>
              <a:rPr lang="en-IN" dirty="0" smtClean="0"/>
              <a:t>A</a:t>
            </a:r>
            <a:r>
              <a:rPr lang="en-IN" baseline="-25000" dirty="0" smtClean="0"/>
              <a:t>4</a:t>
            </a:r>
            <a:r>
              <a:rPr lang="en-IN" dirty="0" smtClean="0"/>
              <a:t>Z | bZA</a:t>
            </a:r>
            <a:r>
              <a:rPr lang="en-IN" baseline="-25000" dirty="0" smtClean="0"/>
              <a:t>4</a:t>
            </a:r>
            <a:r>
              <a:rPr lang="en-IN" dirty="0" smtClean="0"/>
              <a:t>Z | bA</a:t>
            </a:r>
            <a:r>
              <a:rPr lang="en-IN" baseline="-25000" dirty="0" smtClean="0"/>
              <a:t>3</a:t>
            </a:r>
            <a:r>
              <a:rPr lang="en-IN" dirty="0" smtClean="0"/>
              <a:t>A</a:t>
            </a:r>
            <a:r>
              <a:rPr lang="en-IN" baseline="-25000" dirty="0" smtClean="0"/>
              <a:t>4</a:t>
            </a:r>
            <a:r>
              <a:rPr lang="en-IN" dirty="0" smtClean="0"/>
              <a:t>ZA</a:t>
            </a:r>
            <a:r>
              <a:rPr lang="en-IN" baseline="-25000" dirty="0" smtClean="0"/>
              <a:t>4</a:t>
            </a:r>
            <a:r>
              <a:rPr lang="en-IN" dirty="0" smtClean="0"/>
              <a:t>ZThe respective grammar is non in GNF form.</a:t>
            </a:r>
          </a:p>
          <a:p>
            <a:endParaRPr lang="en-IN"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696200" cy="639762"/>
          </a:xfrm>
        </p:spPr>
        <p:txBody>
          <a:bodyPr>
            <a:normAutofit fontScale="90000"/>
          </a:bodyPr>
          <a:lstStyle/>
          <a:p>
            <a:r>
              <a:rPr lang="en-US" dirty="0" smtClean="0"/>
              <a:t>Example 2</a:t>
            </a:r>
            <a:endParaRPr lang="en-US" dirty="0"/>
          </a:p>
        </p:txBody>
      </p:sp>
      <p:sp>
        <p:nvSpPr>
          <p:cNvPr id="4" name="Content Placeholder 3"/>
          <p:cNvSpPr>
            <a:spLocks noGrp="1"/>
          </p:cNvSpPr>
          <p:nvPr>
            <p:ph sz="quarter" idx="1"/>
          </p:nvPr>
        </p:nvSpPr>
        <p:spPr>
          <a:xfrm>
            <a:off x="762000" y="990600"/>
            <a:ext cx="7924800" cy="5029200"/>
          </a:xfrm>
        </p:spPr>
        <p:txBody>
          <a:bodyPr>
            <a:normAutofit fontScale="85000" lnSpcReduction="20000"/>
          </a:bodyPr>
          <a:lstStyle/>
          <a:p>
            <a:pPr>
              <a:buNone/>
            </a:pPr>
            <a:r>
              <a:rPr lang="en-US" sz="2000" dirty="0" smtClean="0">
                <a:latin typeface="Times New Roman" pitchFamily="18" charset="0"/>
                <a:cs typeface="Times New Roman" pitchFamily="18" charset="0"/>
              </a:rPr>
              <a:t>Problem</a:t>
            </a:r>
          </a:p>
          <a:p>
            <a:pPr>
              <a:buNone/>
            </a:pPr>
            <a:r>
              <a:rPr lang="en-US" sz="2000" dirty="0" smtClean="0">
                <a:latin typeface="Times New Roman" pitchFamily="18" charset="0"/>
                <a:cs typeface="Times New Roman" pitchFamily="18" charset="0"/>
              </a:rPr>
              <a:t>Convert the following CFG into CNF</a:t>
            </a:r>
          </a:p>
          <a:p>
            <a:pPr>
              <a:buNone/>
            </a:pPr>
            <a:r>
              <a:rPr lang="en-US" sz="2000" dirty="0" smtClean="0"/>
              <a:t>S → XA|BB </a:t>
            </a:r>
          </a:p>
          <a:p>
            <a:pPr>
              <a:buNone/>
            </a:pPr>
            <a:r>
              <a:rPr lang="en-US" sz="2000" dirty="0" smtClean="0"/>
              <a:t>B → </a:t>
            </a:r>
            <a:r>
              <a:rPr lang="en-US" sz="2000" dirty="0" err="1" smtClean="0"/>
              <a:t>b|SB</a:t>
            </a:r>
            <a:endParaRPr lang="en-US" sz="2000" dirty="0" smtClean="0"/>
          </a:p>
          <a:p>
            <a:pPr>
              <a:buNone/>
            </a:pPr>
            <a:r>
              <a:rPr lang="en-US" sz="2000" dirty="0" smtClean="0"/>
              <a:t> X → b </a:t>
            </a:r>
          </a:p>
          <a:p>
            <a:pPr>
              <a:buNone/>
            </a:pPr>
            <a:r>
              <a:rPr lang="en-US" sz="2000" dirty="0" smtClean="0"/>
              <a:t>A → a</a:t>
            </a:r>
          </a:p>
          <a:p>
            <a:pPr>
              <a:buNone/>
            </a:pPr>
            <a:r>
              <a:rPr lang="en-US" sz="2000" dirty="0" smtClean="0"/>
              <a:t>	As G1 is already in CNF and there is not left recursion, we can skip step 1and 2 and directly move to step 3.</a:t>
            </a:r>
            <a:br>
              <a:rPr lang="en-US" sz="2000" dirty="0" smtClean="0"/>
            </a:br>
            <a:r>
              <a:rPr lang="en-US" sz="2000" dirty="0" smtClean="0"/>
              <a:t>The production rule B-&gt;SB is not in GNF, therefore, we substitute S -&gt; XA|BB in production rule B-&gt;SB as</a:t>
            </a:r>
            <a:r>
              <a:rPr lang="en-US" sz="2000" dirty="0" smtClean="0"/>
              <a:t>:</a:t>
            </a:r>
          </a:p>
          <a:p>
            <a:pPr fontAlgn="base">
              <a:buNone/>
            </a:pPr>
            <a:r>
              <a:rPr lang="en-US" sz="2000" dirty="0" smtClean="0"/>
              <a:t>		S → XA|BB </a:t>
            </a:r>
          </a:p>
          <a:p>
            <a:pPr fontAlgn="base">
              <a:buNone/>
            </a:pPr>
            <a:r>
              <a:rPr lang="en-US" sz="2000" dirty="0" smtClean="0"/>
              <a:t>		B → </a:t>
            </a:r>
            <a:r>
              <a:rPr lang="en-US" sz="2000" dirty="0" err="1" smtClean="0"/>
              <a:t>b|XAB|BBB</a:t>
            </a:r>
            <a:r>
              <a:rPr lang="en-US" sz="2000" dirty="0" smtClean="0"/>
              <a:t> </a:t>
            </a:r>
          </a:p>
          <a:p>
            <a:pPr fontAlgn="base">
              <a:buNone/>
            </a:pPr>
            <a:r>
              <a:rPr lang="en-US" sz="2000" dirty="0" smtClean="0"/>
              <a:t>		X → b </a:t>
            </a:r>
          </a:p>
          <a:p>
            <a:pPr fontAlgn="base">
              <a:buNone/>
            </a:pPr>
            <a:r>
              <a:rPr lang="en-US" sz="2000" dirty="0" smtClean="0"/>
              <a:t>		A → a</a:t>
            </a:r>
          </a:p>
          <a:p>
            <a:pPr fontAlgn="base">
              <a:buNone/>
            </a:pPr>
            <a:r>
              <a:rPr lang="en-US" sz="2000" dirty="0" smtClean="0"/>
              <a:t>	The production rules S-&gt;XA and B-&gt;XAB is not in GNF, therefore, we substitute X-&gt;b in production rules S-&gt;XA and B-&gt;XAB as:</a:t>
            </a:r>
          </a:p>
          <a:p>
            <a:pPr>
              <a:buNone/>
            </a:pPr>
            <a:r>
              <a:rPr lang="en-US" sz="2000" dirty="0" smtClean="0"/>
              <a:t>		S → </a:t>
            </a:r>
            <a:r>
              <a:rPr lang="en-US" sz="2000" dirty="0" err="1" smtClean="0"/>
              <a:t>bA|BB</a:t>
            </a:r>
            <a:r>
              <a:rPr lang="en-US" sz="2000" dirty="0" smtClean="0"/>
              <a:t> </a:t>
            </a:r>
          </a:p>
          <a:p>
            <a:pPr>
              <a:buNone/>
            </a:pPr>
            <a:r>
              <a:rPr lang="en-US" sz="2000" dirty="0" smtClean="0"/>
              <a:t>		B → </a:t>
            </a:r>
            <a:r>
              <a:rPr lang="en-US" sz="2000" dirty="0" err="1" smtClean="0"/>
              <a:t>b|bAB|BBB</a:t>
            </a:r>
            <a:r>
              <a:rPr lang="en-US" sz="2000" dirty="0" smtClean="0"/>
              <a:t> </a:t>
            </a:r>
          </a:p>
          <a:p>
            <a:pPr>
              <a:buNone/>
            </a:pPr>
            <a:r>
              <a:rPr lang="en-US" sz="2000" dirty="0" smtClean="0"/>
              <a:t>		X → b </a:t>
            </a:r>
          </a:p>
          <a:p>
            <a:pPr>
              <a:buNone/>
            </a:pPr>
            <a:r>
              <a:rPr lang="en-US" sz="2000" dirty="0" smtClean="0"/>
              <a:t>		A → a</a:t>
            </a:r>
          </a:p>
          <a:p>
            <a:pPr>
              <a:buNone/>
            </a:pPr>
            <a:endParaRPr lang="en-US" sz="2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620000" cy="639762"/>
          </a:xfrm>
        </p:spPr>
        <p:txBody>
          <a:bodyPr>
            <a:normAutofit fontScale="90000"/>
          </a:bodyPr>
          <a:lstStyle/>
          <a:p>
            <a:r>
              <a:rPr lang="en-US" dirty="0" err="1" smtClean="0"/>
              <a:t>Greiback</a:t>
            </a:r>
            <a:r>
              <a:rPr lang="en-US" altLang="zh-TW" dirty="0" smtClean="0">
                <a:latin typeface="Times New Roman" pitchFamily="18" charset="0"/>
                <a:ea typeface="Arial Unicode MS" pitchFamily="34" charset="-120"/>
                <a:cs typeface="Times New Roman" pitchFamily="18" charset="0"/>
              </a:rPr>
              <a:t> normal form</a:t>
            </a:r>
            <a:endParaRPr lang="en-US" dirty="0"/>
          </a:p>
        </p:txBody>
      </p:sp>
      <p:sp>
        <p:nvSpPr>
          <p:cNvPr id="4" name="Content Placeholder 3"/>
          <p:cNvSpPr>
            <a:spLocks noGrp="1"/>
          </p:cNvSpPr>
          <p:nvPr>
            <p:ph sz="quarter" idx="1"/>
          </p:nvPr>
        </p:nvSpPr>
        <p:spPr>
          <a:xfrm>
            <a:off x="838200" y="990600"/>
            <a:ext cx="7848600" cy="5029200"/>
          </a:xfrm>
        </p:spPr>
        <p:txBody>
          <a:bodyPr>
            <a:normAutofit/>
          </a:bodyPr>
          <a:lstStyle/>
          <a:p>
            <a:pPr fontAlgn="base">
              <a:buNone/>
            </a:pPr>
            <a:r>
              <a:rPr lang="en-US" sz="1800" dirty="0" smtClean="0"/>
              <a:t>Removing left recursion (B-&gt;BBB), we get:</a:t>
            </a:r>
          </a:p>
          <a:p>
            <a:pPr fontAlgn="base">
              <a:buNone/>
            </a:pPr>
            <a:r>
              <a:rPr lang="en-US" sz="1800" dirty="0" smtClean="0"/>
              <a:t>		S → </a:t>
            </a:r>
            <a:r>
              <a:rPr lang="en-US" sz="1800" dirty="0" err="1" smtClean="0"/>
              <a:t>bA|BB</a:t>
            </a:r>
            <a:r>
              <a:rPr lang="en-US" sz="1800" dirty="0" smtClean="0"/>
              <a:t> </a:t>
            </a:r>
          </a:p>
          <a:p>
            <a:pPr fontAlgn="base">
              <a:buNone/>
            </a:pPr>
            <a:r>
              <a:rPr lang="en-US" sz="1800" dirty="0" smtClean="0"/>
              <a:t>		B → </a:t>
            </a:r>
            <a:r>
              <a:rPr lang="en-US" sz="1800" dirty="0" err="1" smtClean="0"/>
              <a:t>bC|bABC</a:t>
            </a:r>
            <a:r>
              <a:rPr lang="en-US" sz="1800" dirty="0" smtClean="0"/>
              <a:t> </a:t>
            </a:r>
          </a:p>
          <a:p>
            <a:pPr fontAlgn="base">
              <a:buNone/>
            </a:pPr>
            <a:r>
              <a:rPr lang="en-US" sz="1800" dirty="0" smtClean="0"/>
              <a:t>		C → BBC| </a:t>
            </a:r>
            <a:r>
              <a:rPr lang="el-GR" sz="1800" dirty="0" smtClean="0"/>
              <a:t>ε </a:t>
            </a:r>
            <a:endParaRPr lang="en-US" sz="1800" dirty="0" smtClean="0"/>
          </a:p>
          <a:p>
            <a:pPr fontAlgn="base">
              <a:buNone/>
            </a:pPr>
            <a:r>
              <a:rPr lang="en-US" sz="1800" dirty="0" smtClean="0"/>
              <a:t>		X → b </a:t>
            </a:r>
          </a:p>
          <a:p>
            <a:pPr fontAlgn="base">
              <a:buNone/>
            </a:pPr>
            <a:r>
              <a:rPr lang="en-US" sz="1800" dirty="0" smtClean="0"/>
              <a:t>		A → a</a:t>
            </a:r>
          </a:p>
          <a:p>
            <a:pPr fontAlgn="base">
              <a:buNone/>
            </a:pPr>
            <a:r>
              <a:rPr lang="en-US" sz="1800" dirty="0" smtClean="0"/>
              <a:t>Removing null production (C-&gt; </a:t>
            </a:r>
            <a:r>
              <a:rPr lang="el-GR" sz="1800" dirty="0" smtClean="0"/>
              <a:t>ε), </a:t>
            </a:r>
            <a:r>
              <a:rPr lang="en-US" sz="1800" dirty="0" smtClean="0"/>
              <a:t>we get:</a:t>
            </a:r>
          </a:p>
          <a:p>
            <a:pPr>
              <a:buNone/>
            </a:pPr>
            <a:r>
              <a:rPr lang="en-US" sz="1800" dirty="0" smtClean="0"/>
              <a:t>		S → </a:t>
            </a:r>
            <a:r>
              <a:rPr lang="en-US" sz="1800" dirty="0" err="1" smtClean="0"/>
              <a:t>bA|BB</a:t>
            </a:r>
            <a:r>
              <a:rPr lang="en-US" sz="1800" dirty="0" smtClean="0"/>
              <a:t> </a:t>
            </a:r>
          </a:p>
          <a:p>
            <a:pPr>
              <a:buNone/>
            </a:pPr>
            <a:r>
              <a:rPr lang="en-US" sz="1800" dirty="0" smtClean="0"/>
              <a:t>		B → </a:t>
            </a:r>
            <a:r>
              <a:rPr lang="en-US" sz="1800" dirty="0" err="1" smtClean="0"/>
              <a:t>bC|bABC|b|bAB</a:t>
            </a:r>
            <a:r>
              <a:rPr lang="en-US" sz="1800" dirty="0" smtClean="0"/>
              <a:t> </a:t>
            </a:r>
          </a:p>
          <a:p>
            <a:pPr>
              <a:buNone/>
            </a:pPr>
            <a:r>
              <a:rPr lang="en-US" sz="1800" dirty="0" smtClean="0"/>
              <a:t>		C → BBC|BB </a:t>
            </a:r>
          </a:p>
          <a:p>
            <a:pPr>
              <a:buNone/>
            </a:pPr>
            <a:r>
              <a:rPr lang="en-US" sz="1800" dirty="0" smtClean="0"/>
              <a:t>		X → b </a:t>
            </a:r>
          </a:p>
          <a:p>
            <a:pPr>
              <a:buNone/>
            </a:pPr>
            <a:r>
              <a:rPr lang="en-US" sz="1800" dirty="0" smtClean="0"/>
              <a:t>		A → a</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696200" cy="715962"/>
          </a:xfrm>
        </p:spPr>
        <p:txBody>
          <a:bodyPr>
            <a:normAutofit fontScale="90000"/>
          </a:bodyPr>
          <a:lstStyle/>
          <a:p>
            <a:r>
              <a:rPr lang="en-US" dirty="0" err="1" smtClean="0"/>
              <a:t>Greiback</a:t>
            </a:r>
            <a:r>
              <a:rPr lang="en-US" altLang="zh-TW" dirty="0" smtClean="0">
                <a:latin typeface="Times New Roman" pitchFamily="18" charset="0"/>
                <a:ea typeface="Arial Unicode MS" pitchFamily="34" charset="-120"/>
                <a:cs typeface="Times New Roman" pitchFamily="18" charset="0"/>
              </a:rPr>
              <a:t> normal form</a:t>
            </a:r>
            <a:endParaRPr lang="en-US" dirty="0"/>
          </a:p>
        </p:txBody>
      </p:sp>
      <p:sp>
        <p:nvSpPr>
          <p:cNvPr id="4" name="Content Placeholder 3"/>
          <p:cNvSpPr>
            <a:spLocks noGrp="1"/>
          </p:cNvSpPr>
          <p:nvPr>
            <p:ph sz="quarter" idx="1"/>
          </p:nvPr>
        </p:nvSpPr>
        <p:spPr>
          <a:xfrm>
            <a:off x="762000" y="990600"/>
            <a:ext cx="7924800" cy="5029200"/>
          </a:xfrm>
        </p:spPr>
        <p:txBody>
          <a:bodyPr>
            <a:normAutofit/>
          </a:bodyPr>
          <a:lstStyle/>
          <a:p>
            <a:pPr fontAlgn="base">
              <a:buNone/>
            </a:pPr>
            <a:r>
              <a:rPr lang="en-US" sz="2400" dirty="0" smtClean="0"/>
              <a:t>	The production rules S-&gt;BB is not in GNF, therefore, we substitute B → </a:t>
            </a:r>
            <a:r>
              <a:rPr lang="en-US" sz="2400" dirty="0" err="1" smtClean="0"/>
              <a:t>bC|bABC|b|bAB</a:t>
            </a:r>
            <a:r>
              <a:rPr lang="en-US" sz="2400" dirty="0" smtClean="0"/>
              <a:t> in production rules S-&gt;BB as:</a:t>
            </a:r>
          </a:p>
          <a:p>
            <a:pPr fontAlgn="base">
              <a:buNone/>
            </a:pPr>
            <a:r>
              <a:rPr lang="en-US" sz="2400" dirty="0" smtClean="0"/>
              <a:t>S → </a:t>
            </a:r>
            <a:r>
              <a:rPr lang="en-US" sz="2400" dirty="0" err="1" smtClean="0"/>
              <a:t>bA</a:t>
            </a:r>
            <a:r>
              <a:rPr lang="en-US" sz="2400" dirty="0" smtClean="0"/>
              <a:t>| </a:t>
            </a:r>
            <a:r>
              <a:rPr lang="en-US" sz="2400" dirty="0" err="1" smtClean="0"/>
              <a:t>bCB|bABCB|bB|bABB</a:t>
            </a:r>
            <a:r>
              <a:rPr lang="en-US" sz="2400" dirty="0" smtClean="0"/>
              <a:t> </a:t>
            </a:r>
          </a:p>
          <a:p>
            <a:pPr fontAlgn="base">
              <a:buNone/>
            </a:pPr>
            <a:r>
              <a:rPr lang="en-US" sz="2400" dirty="0" smtClean="0"/>
              <a:t>B → </a:t>
            </a:r>
            <a:r>
              <a:rPr lang="en-US" sz="2400" dirty="0" err="1" smtClean="0"/>
              <a:t>bC|bABC|b|bAB</a:t>
            </a:r>
            <a:r>
              <a:rPr lang="en-US" sz="2400" dirty="0" smtClean="0"/>
              <a:t> </a:t>
            </a:r>
          </a:p>
          <a:p>
            <a:pPr fontAlgn="base">
              <a:buNone/>
            </a:pPr>
            <a:r>
              <a:rPr lang="en-US" sz="2400" dirty="0" smtClean="0"/>
              <a:t>C → BBC|BB </a:t>
            </a:r>
          </a:p>
          <a:p>
            <a:pPr fontAlgn="base">
              <a:buNone/>
            </a:pPr>
            <a:r>
              <a:rPr lang="en-US" sz="2400" dirty="0" smtClean="0"/>
              <a:t>X → b </a:t>
            </a:r>
          </a:p>
          <a:p>
            <a:pPr fontAlgn="base">
              <a:buNone/>
            </a:pPr>
            <a:r>
              <a:rPr lang="en-US" sz="2400" dirty="0" smtClean="0"/>
              <a:t>A → a</a:t>
            </a:r>
          </a:p>
          <a:p>
            <a:pPr fontAlgn="base">
              <a:buNone/>
            </a:pPr>
            <a:r>
              <a:rPr lang="en-US" sz="2400" dirty="0" smtClean="0"/>
              <a:t>	The production rules C-&gt;BB is not in GNF, therefore, we substitute B → </a:t>
            </a:r>
            <a:r>
              <a:rPr lang="en-US" sz="2400" dirty="0" err="1" smtClean="0"/>
              <a:t>bC|bABC|b|bAB</a:t>
            </a:r>
            <a:r>
              <a:rPr lang="en-US" sz="2400" dirty="0" smtClean="0"/>
              <a:t> in production rules C-&gt;BB as:</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620000" cy="639762"/>
          </a:xfrm>
        </p:spPr>
        <p:txBody>
          <a:bodyPr>
            <a:normAutofit fontScale="90000"/>
          </a:bodyPr>
          <a:lstStyle/>
          <a:p>
            <a:r>
              <a:rPr lang="en-US" dirty="0" err="1" smtClean="0"/>
              <a:t>Greiback</a:t>
            </a:r>
            <a:r>
              <a:rPr lang="en-US" altLang="zh-TW" dirty="0" smtClean="0">
                <a:latin typeface="Times New Roman" pitchFamily="18" charset="0"/>
                <a:ea typeface="Arial Unicode MS" pitchFamily="34" charset="-120"/>
                <a:cs typeface="Times New Roman" pitchFamily="18" charset="0"/>
              </a:rPr>
              <a:t> normal form</a:t>
            </a:r>
            <a:endParaRPr lang="en-US" dirty="0"/>
          </a:p>
        </p:txBody>
      </p:sp>
      <p:sp>
        <p:nvSpPr>
          <p:cNvPr id="4" name="Content Placeholder 3"/>
          <p:cNvSpPr>
            <a:spLocks noGrp="1"/>
          </p:cNvSpPr>
          <p:nvPr>
            <p:ph sz="quarter" idx="1"/>
          </p:nvPr>
        </p:nvSpPr>
        <p:spPr>
          <a:xfrm>
            <a:off x="762000" y="1066800"/>
            <a:ext cx="7924800" cy="4953000"/>
          </a:xfrm>
        </p:spPr>
        <p:txBody>
          <a:bodyPr>
            <a:normAutofit/>
          </a:bodyPr>
          <a:lstStyle/>
          <a:p>
            <a:pPr>
              <a:buNone/>
            </a:pPr>
            <a:r>
              <a:rPr lang="en-US" sz="1800" dirty="0" smtClean="0"/>
              <a:t>		S → </a:t>
            </a:r>
            <a:r>
              <a:rPr lang="en-US" sz="1800" dirty="0" err="1" smtClean="0"/>
              <a:t>bA</a:t>
            </a:r>
            <a:r>
              <a:rPr lang="en-US" sz="1800" dirty="0" smtClean="0"/>
              <a:t>| </a:t>
            </a:r>
            <a:r>
              <a:rPr lang="en-US" sz="1800" dirty="0" err="1" smtClean="0"/>
              <a:t>bCB|bABCB|bB|bABB</a:t>
            </a:r>
            <a:r>
              <a:rPr lang="en-US" sz="1800" dirty="0" smtClean="0"/>
              <a:t> </a:t>
            </a:r>
          </a:p>
          <a:p>
            <a:pPr>
              <a:buNone/>
            </a:pPr>
            <a:r>
              <a:rPr lang="en-US" sz="1800" dirty="0" smtClean="0"/>
              <a:t>		B → </a:t>
            </a:r>
            <a:r>
              <a:rPr lang="en-US" sz="1800" dirty="0" err="1" smtClean="0"/>
              <a:t>bC|bABC|b|bAB</a:t>
            </a:r>
            <a:r>
              <a:rPr lang="en-US" sz="1800" dirty="0" smtClean="0"/>
              <a:t> </a:t>
            </a:r>
          </a:p>
          <a:p>
            <a:pPr>
              <a:buNone/>
            </a:pPr>
            <a:r>
              <a:rPr lang="en-US" sz="1800" dirty="0" smtClean="0"/>
              <a:t>		C → BBC </a:t>
            </a:r>
          </a:p>
          <a:p>
            <a:pPr>
              <a:buNone/>
            </a:pPr>
            <a:r>
              <a:rPr lang="en-US" sz="1800" dirty="0" smtClean="0"/>
              <a:t>		C → </a:t>
            </a:r>
            <a:r>
              <a:rPr lang="en-US" sz="1800" dirty="0" err="1" smtClean="0"/>
              <a:t>bCB|bABCB|bB|bABB</a:t>
            </a:r>
            <a:r>
              <a:rPr lang="en-US" sz="1800" dirty="0" smtClean="0"/>
              <a:t> </a:t>
            </a:r>
          </a:p>
          <a:p>
            <a:pPr>
              <a:buNone/>
            </a:pPr>
            <a:r>
              <a:rPr lang="en-US" sz="1800" dirty="0" smtClean="0"/>
              <a:t>		X → b </a:t>
            </a:r>
          </a:p>
          <a:p>
            <a:pPr>
              <a:buNone/>
            </a:pPr>
            <a:r>
              <a:rPr lang="en-US" sz="1800" dirty="0" smtClean="0"/>
              <a:t>		A → a</a:t>
            </a:r>
          </a:p>
          <a:p>
            <a:pPr>
              <a:buNone/>
            </a:pPr>
            <a:r>
              <a:rPr lang="en-US" sz="1800" dirty="0" smtClean="0"/>
              <a:t>	The production rules C-&gt;BBC is not in GNF, therefore, we substitute B → </a:t>
            </a:r>
            <a:r>
              <a:rPr lang="en-US" sz="1800" dirty="0" err="1" smtClean="0"/>
              <a:t>bC|bABC|b|bAB</a:t>
            </a:r>
            <a:r>
              <a:rPr lang="en-US" sz="1800" dirty="0" smtClean="0"/>
              <a:t> in production rules C-&gt;BBC as</a:t>
            </a:r>
            <a:r>
              <a:rPr lang="en-US" sz="1800" dirty="0" smtClean="0"/>
              <a:t>:</a:t>
            </a:r>
          </a:p>
          <a:p>
            <a:pPr>
              <a:buNone/>
            </a:pPr>
            <a:r>
              <a:rPr lang="en-US" sz="1800" dirty="0" smtClean="0"/>
              <a:t>		S → </a:t>
            </a:r>
            <a:r>
              <a:rPr lang="en-US" sz="1800" dirty="0" err="1" smtClean="0"/>
              <a:t>bA</a:t>
            </a:r>
            <a:r>
              <a:rPr lang="en-US" sz="1800" dirty="0" smtClean="0"/>
              <a:t>| </a:t>
            </a:r>
            <a:r>
              <a:rPr lang="en-US" sz="1800" dirty="0" err="1" smtClean="0"/>
              <a:t>bCB|bABCB|bB|bABB</a:t>
            </a:r>
            <a:r>
              <a:rPr lang="en-US" sz="1800" dirty="0" smtClean="0"/>
              <a:t> </a:t>
            </a:r>
          </a:p>
          <a:p>
            <a:pPr>
              <a:buNone/>
            </a:pPr>
            <a:r>
              <a:rPr lang="en-US" sz="1800" dirty="0" smtClean="0"/>
              <a:t>		B → </a:t>
            </a:r>
            <a:r>
              <a:rPr lang="en-US" sz="1800" dirty="0" err="1" smtClean="0"/>
              <a:t>bC|bABC|b|bAB</a:t>
            </a:r>
            <a:r>
              <a:rPr lang="en-US" sz="1800" dirty="0" smtClean="0"/>
              <a:t> </a:t>
            </a:r>
          </a:p>
          <a:p>
            <a:pPr>
              <a:buNone/>
            </a:pPr>
            <a:r>
              <a:rPr lang="en-US" sz="1800" dirty="0" smtClean="0"/>
              <a:t>		C → </a:t>
            </a:r>
            <a:r>
              <a:rPr lang="en-US" sz="1800" dirty="0" err="1" smtClean="0"/>
              <a:t>bCBC|bABCBC|bBC|bABBC</a:t>
            </a:r>
            <a:r>
              <a:rPr lang="en-US" sz="1800" dirty="0" smtClean="0"/>
              <a:t> </a:t>
            </a:r>
          </a:p>
          <a:p>
            <a:pPr>
              <a:buNone/>
            </a:pPr>
            <a:r>
              <a:rPr lang="en-US" sz="1800" dirty="0" smtClean="0"/>
              <a:t>		C → </a:t>
            </a:r>
            <a:r>
              <a:rPr lang="en-US" sz="1800" dirty="0" err="1" smtClean="0"/>
              <a:t>bCB|bABCB|bB|bABB</a:t>
            </a:r>
            <a:r>
              <a:rPr lang="en-US" sz="1800" dirty="0" smtClean="0"/>
              <a:t> </a:t>
            </a:r>
          </a:p>
          <a:p>
            <a:pPr>
              <a:buNone/>
            </a:pPr>
            <a:r>
              <a:rPr lang="en-US" sz="1800" dirty="0" smtClean="0"/>
              <a:t>		X → b </a:t>
            </a:r>
          </a:p>
          <a:p>
            <a:pPr>
              <a:buNone/>
            </a:pPr>
            <a:r>
              <a:rPr lang="en-US" sz="1800" dirty="0" smtClean="0"/>
              <a:t>		A → a</a:t>
            </a:r>
          </a:p>
          <a:p>
            <a:pPr>
              <a:buNone/>
            </a:pPr>
            <a:r>
              <a:rPr lang="en-US" sz="1800" dirty="0" smtClean="0"/>
              <a:t>This is the GNF form for the grammar G1.</a:t>
            </a:r>
          </a:p>
          <a:p>
            <a:pPr>
              <a:buNone/>
            </a:pPr>
            <a:endParaRPr lang="en-US" sz="1800" dirty="0" smtClean="0"/>
          </a:p>
          <a:p>
            <a:pPr>
              <a:buNone/>
            </a:pP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866</TotalTime>
  <Words>2566</Words>
  <Application>Microsoft Office PowerPoint</Application>
  <PresentationFormat>On-screen Show (4:3)</PresentationFormat>
  <Paragraphs>672</Paragraphs>
  <Slides>65</Slides>
  <Notes>0</Notes>
  <HiddenSlides>0</HiddenSlides>
  <MMClips>0</MMClips>
  <ScaleCrop>false</ScaleCrop>
  <HeadingPairs>
    <vt:vector size="4" baseType="variant">
      <vt:variant>
        <vt:lpstr>Theme</vt:lpstr>
      </vt:variant>
      <vt:variant>
        <vt:i4>1</vt:i4>
      </vt:variant>
      <vt:variant>
        <vt:lpstr>Slide Titles</vt:lpstr>
      </vt:variant>
      <vt:variant>
        <vt:i4>65</vt:i4>
      </vt:variant>
    </vt:vector>
  </HeadingPairs>
  <TitlesOfParts>
    <vt:vector size="66" baseType="lpstr">
      <vt:lpstr>Office Theme</vt:lpstr>
      <vt:lpstr>UNIT-II</vt:lpstr>
      <vt:lpstr>Contents</vt:lpstr>
      <vt:lpstr>Regular Set</vt:lpstr>
      <vt:lpstr>Regular Expressions</vt:lpstr>
      <vt:lpstr>Regular Expressions Examples</vt:lpstr>
      <vt:lpstr>Construction FA for given RE</vt:lpstr>
      <vt:lpstr>Slide 7</vt:lpstr>
      <vt:lpstr>Slide 8</vt:lpstr>
      <vt:lpstr>Slide 9</vt:lpstr>
      <vt:lpstr>Examples</vt:lpstr>
      <vt:lpstr>Slide 11</vt:lpstr>
      <vt:lpstr>Slide 12</vt:lpstr>
      <vt:lpstr>Identities Related to Regular Expressions</vt:lpstr>
      <vt:lpstr>Slide 14</vt:lpstr>
      <vt:lpstr>Construction FA for given RE Using Subset Method</vt:lpstr>
      <vt:lpstr>Examples</vt:lpstr>
      <vt:lpstr>Conversion of FA to RE</vt:lpstr>
      <vt:lpstr>Construct a regular expression corresponding to the automata given below </vt:lpstr>
      <vt:lpstr>Construct a regular expression corresponding to the automata given below  </vt:lpstr>
      <vt:lpstr>Regular sets &amp; Properties of Regular sets</vt:lpstr>
      <vt:lpstr>Slide 21</vt:lpstr>
      <vt:lpstr>Slide 22</vt:lpstr>
      <vt:lpstr>Slide 23</vt:lpstr>
      <vt:lpstr>Slide 24</vt:lpstr>
      <vt:lpstr>Slide 25</vt:lpstr>
      <vt:lpstr>Context Free Grammar(CFG)</vt:lpstr>
      <vt:lpstr>Derivation Tree/Parse Tree</vt:lpstr>
      <vt:lpstr>Derivation Tree/Parse Tree</vt:lpstr>
      <vt:lpstr>Generation of Derivation Tree:</vt:lpstr>
      <vt:lpstr>Leftmost and Rightmost Derivation of a String</vt:lpstr>
      <vt:lpstr>Leftmost  Derivation Tree of a String</vt:lpstr>
      <vt:lpstr> Rightmost Derivation of a String</vt:lpstr>
      <vt:lpstr> Rightmost Derivation Tree of a String</vt:lpstr>
      <vt:lpstr>Ambiguity in context free grammar</vt:lpstr>
      <vt:lpstr>Ambiguity in context free grammar</vt:lpstr>
      <vt:lpstr>Ambiguity in context free grammar</vt:lpstr>
      <vt:lpstr>Ambiguity in context free grammar</vt:lpstr>
      <vt:lpstr>Minimization of Context free grammar </vt:lpstr>
      <vt:lpstr>Eliminating useless symbols</vt:lpstr>
      <vt:lpstr>Eliminating useless symbols</vt:lpstr>
      <vt:lpstr>Elimination of unit productions</vt:lpstr>
      <vt:lpstr>Elimination of unit productions</vt:lpstr>
      <vt:lpstr> Removal of ∈ productions</vt:lpstr>
      <vt:lpstr>Chomsky Normal Form(CNF)</vt:lpstr>
      <vt:lpstr>Converting CFG into Chomsky Normal Form </vt:lpstr>
      <vt:lpstr>Slide 46</vt:lpstr>
      <vt:lpstr>Slide 47</vt:lpstr>
      <vt:lpstr>Slide 48</vt:lpstr>
      <vt:lpstr>Recursion</vt:lpstr>
      <vt:lpstr>Left Recursion</vt:lpstr>
      <vt:lpstr>Slide 51</vt:lpstr>
      <vt:lpstr>Example</vt:lpstr>
      <vt:lpstr>Elimination of Left Recursion cond..</vt:lpstr>
      <vt:lpstr>Elimination of Indirect Left Recursion</vt:lpstr>
      <vt:lpstr>Elimination of Indirect Left Recursion</vt:lpstr>
      <vt:lpstr>Greibach Normal Form(GNF)</vt:lpstr>
      <vt:lpstr>Greibach Normal Form(GNF)</vt:lpstr>
      <vt:lpstr>Slide 58</vt:lpstr>
      <vt:lpstr>Example</vt:lpstr>
      <vt:lpstr>Slide 60</vt:lpstr>
      <vt:lpstr>Slide 61</vt:lpstr>
      <vt:lpstr>Example 2</vt:lpstr>
      <vt:lpstr>Greiback normal form</vt:lpstr>
      <vt:lpstr>Greiback normal form</vt:lpstr>
      <vt:lpstr>Greiback normal form</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UNIT-II</dc:title>
  <dc:creator>Admin</dc:creator>
  <cp:lastModifiedBy>Raju</cp:lastModifiedBy>
  <cp:revision>215</cp:revision>
  <dcterms:created xsi:type="dcterms:W3CDTF">2025-01-31T04:13:19Z</dcterms:created>
  <dcterms:modified xsi:type="dcterms:W3CDTF">2025-03-13T06:41:42Z</dcterms:modified>
</cp:coreProperties>
</file>