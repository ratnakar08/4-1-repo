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68"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8" r:id="rId30"/>
    <p:sldId id="289" r:id="rId31"/>
    <p:sldId id="290" r:id="rId32"/>
    <p:sldId id="291" r:id="rId33"/>
    <p:sldId id="292" r:id="rId34"/>
    <p:sldId id="284" r:id="rId35"/>
    <p:sldId id="285" r:id="rId36"/>
    <p:sldId id="286" r:id="rId37"/>
    <p:sldId id="28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3" d="100"/>
          <a:sy n="103" d="100"/>
        </p:scale>
        <p:origin x="-20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4B04926-583E-4076-A676-6C7830C0FA46}" type="datetimeFigureOut">
              <a:rPr lang="en-US" smtClean="0"/>
              <a:pPr/>
              <a:t>3/26/2025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B04926-583E-4076-A676-6C7830C0FA46}" type="datetimeFigureOut">
              <a:rPr lang="en-US" smtClean="0"/>
              <a:pPr/>
              <a:t>3/26/2025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04926-583E-4076-A676-6C7830C0FA46}" type="datetimeFigureOut">
              <a:rPr lang="en-US" smtClean="0"/>
              <a:pPr/>
              <a:t>3/26/2025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4B04926-583E-4076-A676-6C7830C0FA46}" type="datetimeFigureOut">
              <a:rPr lang="en-US" smtClean="0"/>
              <a:pPr/>
              <a:t>3/26/2025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4B04926-583E-4076-A676-6C7830C0FA46}" type="datetimeFigureOut">
              <a:rPr lang="en-US" smtClean="0"/>
              <a:pPr/>
              <a:t>3/26/2025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4B04926-583E-4076-A676-6C7830C0FA46}" type="datetimeFigureOut">
              <a:rPr lang="en-US" smtClean="0"/>
              <a:pPr/>
              <a:t>3/26/2025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B04926-583E-4076-A676-6C7830C0FA46}" type="datetimeFigureOut">
              <a:rPr lang="en-US" smtClean="0"/>
              <a:pPr/>
              <a:t>3/26/2025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04926-583E-4076-A676-6C7830C0FA46}" type="datetimeFigureOut">
              <a:rPr lang="en-US" smtClean="0"/>
              <a:pPr/>
              <a:t>3/26/2025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04926-583E-4076-A676-6C7830C0FA46}" type="datetimeFigureOut">
              <a:rPr lang="en-US" smtClean="0"/>
              <a:pPr/>
              <a:t>3/26/2025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B04926-583E-4076-A676-6C7830C0FA46}" type="datetimeFigureOut">
              <a:rPr lang="en-US" smtClean="0"/>
              <a:pPr/>
              <a:t>3/26/2025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B04926-583E-4076-A676-6C7830C0FA46}" type="datetimeFigureOut">
              <a:rPr lang="en-US" smtClean="0"/>
              <a:pPr/>
              <a:t>3/26/2025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A33858-344D-4A7C-92A6-046C382DD759}"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B04926-583E-4076-A676-6C7830C0FA46}" type="datetimeFigureOut">
              <a:rPr lang="en-US" smtClean="0"/>
              <a:pPr/>
              <a:t>3/26/2025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33858-344D-4A7C-92A6-046C382DD759}"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tutorialspoint.com/automata_theory/pushdown_automata_introduction.htm" TargetMode="External"/><Relationship Id="rId2" Type="http://schemas.openxmlformats.org/officeDocument/2006/relationships/hyperlink" Target="https://www.tutorialspoint.com/what-is-finite-automata"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Unit-3</a:t>
            </a:r>
            <a:endParaRPr lang="en-IN" dirty="0"/>
          </a:p>
        </p:txBody>
      </p:sp>
      <p:sp>
        <p:nvSpPr>
          <p:cNvPr id="3" name="Subtitle 2"/>
          <p:cNvSpPr>
            <a:spLocks noGrp="1"/>
          </p:cNvSpPr>
          <p:nvPr>
            <p:ph type="subTitle" idx="1"/>
          </p:nvPr>
        </p:nvSpPr>
        <p:spPr/>
        <p:txBody>
          <a:bodyPr/>
          <a:lstStyle/>
          <a:p>
            <a:r>
              <a:rPr lang="en-US" b="1" dirty="0"/>
              <a:t>Pushdown </a:t>
            </a:r>
            <a:r>
              <a:rPr lang="en-US" b="1" dirty="0" smtClean="0"/>
              <a:t>automata</a:t>
            </a:r>
          </a:p>
          <a:p>
            <a:r>
              <a:rPr lang="en-US" b="1" dirty="0"/>
              <a:t>Turing Machine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Contents</a:t>
            </a:r>
            <a:endParaRPr lang="en-IN" dirty="0"/>
          </a:p>
        </p:txBody>
      </p:sp>
      <p:sp>
        <p:nvSpPr>
          <p:cNvPr id="3" name="Content Placeholder 2"/>
          <p:cNvSpPr>
            <a:spLocks noGrp="1"/>
          </p:cNvSpPr>
          <p:nvPr>
            <p:ph idx="1"/>
          </p:nvPr>
        </p:nvSpPr>
        <p:spPr/>
        <p:txBody>
          <a:bodyPr/>
          <a:lstStyle/>
          <a:p>
            <a:r>
              <a:rPr lang="en-US" b="1" dirty="0"/>
              <a:t>Pushdown automata: </a:t>
            </a:r>
            <a:r>
              <a:rPr lang="en-US" dirty="0"/>
              <a:t>Definition, model, acceptance of CFL, introduction to Deterministic PDA and Non-Deterministic PDA, design of PDA.</a:t>
            </a:r>
            <a:endParaRPr lang="en-IN" dirty="0"/>
          </a:p>
          <a:p>
            <a:r>
              <a:rPr lang="en-US" b="1" dirty="0"/>
              <a:t>Turing Machine: </a:t>
            </a:r>
            <a:r>
              <a:rPr lang="en-US" dirty="0"/>
              <a:t>Turing Machine, definition, model, design of TM, recursively enumerable languages.</a:t>
            </a:r>
            <a:endParaRPr lang="en-IN"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Pushdown automata: </a:t>
            </a:r>
            <a:r>
              <a:rPr lang="en-US" dirty="0" smtClean="0"/>
              <a:t>Definition</a:t>
            </a:r>
            <a:endParaRPr lang="en-IN" dirty="0"/>
          </a:p>
        </p:txBody>
      </p:sp>
      <p:sp>
        <p:nvSpPr>
          <p:cNvPr id="3" name="Content Placeholder 2"/>
          <p:cNvSpPr>
            <a:spLocks noGrp="1"/>
          </p:cNvSpPr>
          <p:nvPr>
            <p:ph idx="1"/>
          </p:nvPr>
        </p:nvSpPr>
        <p:spPr/>
        <p:txBody>
          <a:bodyPr>
            <a:normAutofit fontScale="62500" lnSpcReduction="20000"/>
          </a:bodyPr>
          <a:lstStyle/>
          <a:p>
            <a:r>
              <a:rPr lang="en-IN" dirty="0"/>
              <a:t>Pushdown automata is a way to implement a CFG in the same way we design DFA for a regular grammar. </a:t>
            </a:r>
            <a:endParaRPr lang="en-IN" dirty="0" smtClean="0"/>
          </a:p>
          <a:p>
            <a:r>
              <a:rPr lang="en-IN" dirty="0"/>
              <a:t>A DFA can remember a finite amount of information, but a PDA can remember an infinite amount of information</a:t>
            </a:r>
            <a:r>
              <a:rPr lang="en-IN" dirty="0" smtClean="0"/>
              <a:t>.</a:t>
            </a:r>
          </a:p>
          <a:p>
            <a:r>
              <a:rPr lang="en-IN" dirty="0"/>
              <a:t>A pushdown automaton (PDA) is a computational model that recognizes context-free languages</a:t>
            </a:r>
            <a:r>
              <a:rPr lang="en-IN" dirty="0" smtClean="0"/>
              <a:t>.</a:t>
            </a:r>
          </a:p>
          <a:p>
            <a:r>
              <a:rPr lang="en-IN" dirty="0"/>
              <a:t>It consists of an input tape, a stack, and a finite set of states</a:t>
            </a:r>
            <a:r>
              <a:rPr lang="en-IN" dirty="0" smtClean="0"/>
              <a:t>.</a:t>
            </a:r>
          </a:p>
          <a:p>
            <a:r>
              <a:rPr lang="en-IN" dirty="0" smtClean="0"/>
              <a:t>A pushdown automaton (PDA) is a finite automaton equipped with a stack-based memory.</a:t>
            </a:r>
          </a:p>
          <a:p>
            <a:r>
              <a:rPr lang="en-IN" dirty="0" smtClean="0"/>
              <a:t>Each transition</a:t>
            </a:r>
          </a:p>
          <a:p>
            <a:pPr lvl="1"/>
            <a:r>
              <a:rPr lang="en-IN" dirty="0" smtClean="0"/>
              <a:t>is based on the current input symbol and the top of the stack,</a:t>
            </a:r>
          </a:p>
          <a:p>
            <a:pPr lvl="1"/>
            <a:r>
              <a:rPr lang="en-IN" dirty="0" smtClean="0"/>
              <a:t>optionally pops the top of the stack, and</a:t>
            </a:r>
          </a:p>
          <a:p>
            <a:pPr lvl="1"/>
            <a:r>
              <a:rPr lang="en-IN" dirty="0" smtClean="0"/>
              <a:t>optionally pushes new symbols onto the stack.</a:t>
            </a:r>
          </a:p>
          <a:p>
            <a:r>
              <a:rPr lang="en-IN" dirty="0" smtClean="0"/>
              <a:t>Initially, the stack holds a special symbol Z</a:t>
            </a:r>
            <a:r>
              <a:rPr lang="en-IN" sz="2200" dirty="0" smtClean="0"/>
              <a:t>0</a:t>
            </a:r>
            <a:r>
              <a:rPr lang="en-IN" dirty="0" smtClean="0"/>
              <a:t> that indicates the bottom of the stack.</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Instantaneous Description (ID) </a:t>
            </a:r>
            <a:endParaRPr lang="en-IN" dirty="0"/>
          </a:p>
        </p:txBody>
      </p:sp>
      <p:sp>
        <p:nvSpPr>
          <p:cNvPr id="3" name="Content Placeholder 2"/>
          <p:cNvSpPr>
            <a:spLocks noGrp="1"/>
          </p:cNvSpPr>
          <p:nvPr>
            <p:ph idx="1"/>
          </p:nvPr>
        </p:nvSpPr>
        <p:spPr/>
        <p:txBody>
          <a:bodyPr>
            <a:normAutofit fontScale="70000" lnSpcReduction="20000"/>
          </a:bodyPr>
          <a:lstStyle/>
          <a:p>
            <a:pPr fontAlgn="base"/>
            <a:r>
              <a:rPr lang="en-IN" dirty="0" smtClean="0"/>
              <a:t>Instantaneous </a:t>
            </a:r>
            <a:r>
              <a:rPr lang="en-IN" dirty="0"/>
              <a:t>Description (ID) is an informal notation of how a PDA “computes” an input string and makes a decision whether that string is accepted or rejected. </a:t>
            </a:r>
          </a:p>
          <a:p>
            <a:pPr fontAlgn="base"/>
            <a:r>
              <a:rPr lang="en-IN" dirty="0"/>
              <a:t>An ID is a triple (q, w, α), where: </a:t>
            </a:r>
            <a:br>
              <a:rPr lang="en-IN" dirty="0"/>
            </a:br>
            <a:r>
              <a:rPr lang="en-IN" dirty="0"/>
              <a:t>1. q is the current state. </a:t>
            </a:r>
            <a:br>
              <a:rPr lang="en-IN" dirty="0"/>
            </a:br>
            <a:r>
              <a:rPr lang="en-IN" dirty="0"/>
              <a:t>2. w is the remaining input. </a:t>
            </a:r>
            <a:br>
              <a:rPr lang="en-IN" dirty="0"/>
            </a:br>
            <a:r>
              <a:rPr lang="en-IN" dirty="0"/>
              <a:t>3.α is the stack contents, top at the left. </a:t>
            </a:r>
          </a:p>
          <a:p>
            <a:pPr fontAlgn="base"/>
            <a:r>
              <a:rPr lang="en-IN" b="1" dirty="0"/>
              <a:t>Turnstile Notation </a:t>
            </a:r>
          </a:p>
          <a:p>
            <a:pPr fontAlgn="base"/>
            <a:r>
              <a:rPr lang="en-IN" dirty="0"/>
              <a:t>⊢ sign is called a “turnstile notation” and represents </a:t>
            </a:r>
            <a:br>
              <a:rPr lang="en-IN" dirty="0"/>
            </a:br>
            <a:r>
              <a:rPr lang="en-IN" dirty="0"/>
              <a:t>one move. </a:t>
            </a:r>
            <a:br>
              <a:rPr lang="en-IN" dirty="0"/>
            </a:br>
            <a:r>
              <a:rPr lang="en-IN" dirty="0"/>
              <a:t>⊢* sign represents a sequence of moves. </a:t>
            </a:r>
            <a:br>
              <a:rPr lang="en-IN" dirty="0"/>
            </a:br>
            <a:r>
              <a:rPr lang="en-IN" dirty="0" err="1"/>
              <a:t>Eg</a:t>
            </a:r>
            <a:r>
              <a:rPr lang="en-IN" dirty="0"/>
              <a:t>- (p, b, T) ⊢ (q, w, α) </a:t>
            </a:r>
            <a:br>
              <a:rPr lang="en-IN" dirty="0"/>
            </a:br>
            <a:r>
              <a:rPr lang="en-IN" dirty="0"/>
              <a:t>This implies that while taking a transition from state p to state q, the input symbol ‘b’ is consumed, and the top of the stack ‘T’ is replaced by a new string ‘α’ </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IN" dirty="0" smtClean="0"/>
              <a:t>Model</a:t>
            </a:r>
            <a:endParaRPr lang="en-IN" dirty="0"/>
          </a:p>
        </p:txBody>
      </p:sp>
      <p:sp>
        <p:nvSpPr>
          <p:cNvPr id="3" name="Content Placeholder 2"/>
          <p:cNvSpPr>
            <a:spLocks noGrp="1"/>
          </p:cNvSpPr>
          <p:nvPr>
            <p:ph idx="1"/>
          </p:nvPr>
        </p:nvSpPr>
        <p:spPr>
          <a:xfrm>
            <a:off x="457200" y="1142984"/>
            <a:ext cx="8229600" cy="4983179"/>
          </a:xfrm>
        </p:spPr>
        <p:txBody>
          <a:bodyPr>
            <a:normAutofit/>
          </a:bodyPr>
          <a:lstStyle/>
          <a:p>
            <a:r>
              <a:rPr lang="en-US" sz="1600" dirty="0"/>
              <a:t>A PDA may or may not read an input symbol, but it has to read the top of the stack in every transition.</a:t>
            </a:r>
            <a:endParaRPr lang="en-IN" sz="1600" dirty="0"/>
          </a:p>
          <a:p>
            <a:r>
              <a:rPr lang="en-US" sz="1600" b="1" dirty="0"/>
              <a:t>PDA Components:</a:t>
            </a:r>
            <a:endParaRPr lang="en-IN" sz="1600" dirty="0"/>
          </a:p>
          <a:p>
            <a:r>
              <a:rPr lang="en-US" sz="1600" b="1" dirty="0"/>
              <a:t>1.Input tape:</a:t>
            </a:r>
            <a:r>
              <a:rPr lang="en-US" sz="1600" dirty="0"/>
              <a:t> The input tape is divided in many cells or symbols. The input head is read-only and may only move from left to right, one symbol at a time.</a:t>
            </a:r>
            <a:endParaRPr lang="en-IN" sz="1600" dirty="0"/>
          </a:p>
          <a:p>
            <a:r>
              <a:rPr lang="en-US" sz="1600" b="1" dirty="0"/>
              <a:t>2.Finite control:</a:t>
            </a:r>
            <a:r>
              <a:rPr lang="en-US" sz="1600" dirty="0"/>
              <a:t> The finite control has some pointer which points the current symbol which is to be read.</a:t>
            </a:r>
            <a:endParaRPr lang="en-IN" sz="1600" dirty="0"/>
          </a:p>
          <a:p>
            <a:r>
              <a:rPr lang="en-US" sz="1600" b="1" dirty="0"/>
              <a:t>3. Stack:</a:t>
            </a:r>
            <a:r>
              <a:rPr lang="en-US" sz="1600" dirty="0"/>
              <a:t> The stack is a structure in which we can push and remove the items from one end only. It has an infinite size. In PDA, the stack is used to store the items temporarily.</a:t>
            </a:r>
            <a:endParaRPr lang="en-IN" sz="1600" dirty="0"/>
          </a:p>
          <a:p>
            <a:endParaRPr lang="en-IN" sz="1600" dirty="0"/>
          </a:p>
        </p:txBody>
      </p:sp>
      <p:pic>
        <p:nvPicPr>
          <p:cNvPr id="1026" name="Picture 2" descr="C:\Users\Raju\Desktop\Capture.PNG"/>
          <p:cNvPicPr>
            <a:picLocks noChangeAspect="1" noChangeArrowheads="1"/>
          </p:cNvPicPr>
          <p:nvPr/>
        </p:nvPicPr>
        <p:blipFill>
          <a:blip r:embed="rId2"/>
          <a:srcRect/>
          <a:stretch>
            <a:fillRect/>
          </a:stretch>
        </p:blipFill>
        <p:spPr bwMode="auto">
          <a:xfrm>
            <a:off x="1500166" y="3714752"/>
            <a:ext cx="5697538" cy="276225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b="1" dirty="0" smtClean="0"/>
              <a:t>Pushdown automata: </a:t>
            </a:r>
            <a:r>
              <a:rPr lang="en-US" dirty="0" smtClean="0"/>
              <a:t>Definition</a:t>
            </a:r>
            <a:endParaRPr lang="en-IN" dirty="0"/>
          </a:p>
        </p:txBody>
      </p:sp>
      <p:sp>
        <p:nvSpPr>
          <p:cNvPr id="3" name="Content Placeholder 2"/>
          <p:cNvSpPr>
            <a:spLocks noGrp="1"/>
          </p:cNvSpPr>
          <p:nvPr>
            <p:ph idx="1"/>
          </p:nvPr>
        </p:nvSpPr>
        <p:spPr>
          <a:xfrm>
            <a:off x="457200" y="1071546"/>
            <a:ext cx="8229600" cy="5500726"/>
          </a:xfrm>
        </p:spPr>
        <p:txBody>
          <a:bodyPr>
            <a:normAutofit fontScale="92500" lnSpcReduction="10000"/>
          </a:bodyPr>
          <a:lstStyle/>
          <a:p>
            <a:pPr>
              <a:buNone/>
            </a:pPr>
            <a:r>
              <a:rPr lang="en-IN" sz="1800" dirty="0"/>
              <a:t>A PDA can be formally described as a 7-tuple (Q, ∑</a:t>
            </a:r>
            <a:r>
              <a:rPr lang="en-IN" sz="1800" dirty="0" smtClean="0"/>
              <a:t>,</a:t>
            </a:r>
            <a:r>
              <a:rPr lang="en-US" sz="1800" dirty="0" smtClean="0"/>
              <a:t> Γ,</a:t>
            </a:r>
            <a:r>
              <a:rPr lang="en-IN" sz="1800" dirty="0" smtClean="0"/>
              <a:t>δ</a:t>
            </a:r>
            <a:r>
              <a:rPr lang="en-IN" sz="1800" dirty="0"/>
              <a:t>, q</a:t>
            </a:r>
            <a:r>
              <a:rPr lang="en-IN" sz="1800" baseline="-25000" dirty="0"/>
              <a:t>0</a:t>
            </a:r>
            <a:r>
              <a:rPr lang="en-IN" sz="1800" dirty="0" smtClean="0"/>
              <a:t>, Z0,F</a:t>
            </a:r>
            <a:r>
              <a:rPr lang="en-IN" sz="1800" dirty="0"/>
              <a:t>) −</a:t>
            </a:r>
          </a:p>
          <a:p>
            <a:pPr lvl="0" fontAlgn="base"/>
            <a:r>
              <a:rPr lang="en-US" sz="1800" b="1" dirty="0"/>
              <a:t>Q </a:t>
            </a:r>
            <a:r>
              <a:rPr lang="en-US" sz="1800" dirty="0"/>
              <a:t>is the finite number of states</a:t>
            </a:r>
            <a:endParaRPr lang="en-IN" sz="1800" dirty="0"/>
          </a:p>
          <a:p>
            <a:pPr lvl="0" fontAlgn="base"/>
            <a:r>
              <a:rPr lang="en-US" sz="1800" b="1" dirty="0"/>
              <a:t>∑ </a:t>
            </a:r>
            <a:r>
              <a:rPr lang="en-US" sz="1800" dirty="0"/>
              <a:t>is input alphabet</a:t>
            </a:r>
            <a:endParaRPr lang="en-IN" sz="1800" dirty="0"/>
          </a:p>
          <a:p>
            <a:pPr lvl="0" fontAlgn="base"/>
            <a:r>
              <a:rPr lang="en-US" sz="1800" b="1" dirty="0"/>
              <a:t>Γ  </a:t>
            </a:r>
            <a:r>
              <a:rPr lang="en-US" sz="1800" dirty="0"/>
              <a:t>is stack symbols</a:t>
            </a:r>
            <a:endParaRPr lang="en-IN" sz="1800" dirty="0"/>
          </a:p>
          <a:p>
            <a:pPr lvl="0" fontAlgn="base"/>
            <a:r>
              <a:rPr lang="en-US" sz="1800" b="1" dirty="0"/>
              <a:t>δ </a:t>
            </a:r>
            <a:r>
              <a:rPr lang="en-US" sz="1800" dirty="0"/>
              <a:t>is the transition function: Q × (∑ ∪ {ε}) × Γ</a:t>
            </a:r>
            <a:r>
              <a:rPr lang="en-US" sz="1800" dirty="0">
                <a:sym typeface="Wingdings"/>
              </a:rPr>
              <a:t></a:t>
            </a:r>
            <a:r>
              <a:rPr lang="en-US" sz="1800" dirty="0"/>
              <a:t> Q × Γ*</a:t>
            </a:r>
            <a:endParaRPr lang="en-IN" sz="1800" dirty="0"/>
          </a:p>
          <a:p>
            <a:pPr lvl="0" fontAlgn="base"/>
            <a:r>
              <a:rPr lang="en-US" sz="1800" b="1" dirty="0"/>
              <a:t>q</a:t>
            </a:r>
            <a:r>
              <a:rPr lang="en-US" sz="1800" b="1" baseline="-25000" dirty="0"/>
              <a:t>0 </a:t>
            </a:r>
            <a:r>
              <a:rPr lang="en-US" sz="1800" dirty="0"/>
              <a:t>is the initial state (q</a:t>
            </a:r>
            <a:r>
              <a:rPr lang="en-US" sz="1800" baseline="-25000" dirty="0"/>
              <a:t>0 </a:t>
            </a:r>
            <a:r>
              <a:rPr lang="en-US" sz="1800" dirty="0"/>
              <a:t>∈ Q)</a:t>
            </a:r>
            <a:endParaRPr lang="en-IN" sz="1800" dirty="0"/>
          </a:p>
          <a:p>
            <a:pPr lvl="0" fontAlgn="base"/>
            <a:r>
              <a:rPr lang="en-US" sz="1800" b="1" dirty="0"/>
              <a:t>Z0 </a:t>
            </a:r>
            <a:r>
              <a:rPr lang="en-US" sz="1800" dirty="0"/>
              <a:t>is the initial stack top symbol </a:t>
            </a:r>
            <a:r>
              <a:rPr lang="en-US" sz="1800" dirty="0" smtClean="0"/>
              <a:t>(Γ </a:t>
            </a:r>
            <a:r>
              <a:rPr lang="en-US" sz="1800" dirty="0"/>
              <a:t>∈ S)</a:t>
            </a:r>
            <a:endParaRPr lang="en-IN" sz="1800" dirty="0"/>
          </a:p>
          <a:p>
            <a:pPr lvl="0" fontAlgn="base"/>
            <a:r>
              <a:rPr lang="en-US" sz="1800" b="1" dirty="0"/>
              <a:t>F </a:t>
            </a:r>
            <a:r>
              <a:rPr lang="en-US" sz="1800" dirty="0"/>
              <a:t>is a set of accepting states (F ∈ Q</a:t>
            </a:r>
            <a:r>
              <a:rPr lang="en-US" sz="1800" dirty="0" smtClean="0"/>
              <a:t>)</a:t>
            </a:r>
          </a:p>
          <a:p>
            <a:r>
              <a:rPr lang="en-US" sz="1800" dirty="0"/>
              <a:t>The following diagram shows a transition in a PDA from a state q</a:t>
            </a:r>
            <a:r>
              <a:rPr lang="en-US" sz="1800" baseline="-25000" dirty="0"/>
              <a:t>1 </a:t>
            </a:r>
            <a:r>
              <a:rPr lang="en-US" sz="1800" dirty="0"/>
              <a:t>to state q</a:t>
            </a:r>
            <a:r>
              <a:rPr lang="en-US" sz="1800" baseline="-25000" dirty="0"/>
              <a:t>2</a:t>
            </a:r>
            <a:r>
              <a:rPr lang="en-US" sz="1800" dirty="0"/>
              <a:t>, labeled as </a:t>
            </a:r>
            <a:r>
              <a:rPr lang="en-US" sz="1800" dirty="0" err="1"/>
              <a:t>a,b</a:t>
            </a:r>
            <a:r>
              <a:rPr lang="en-US" sz="1800" dirty="0"/>
              <a:t> → c </a:t>
            </a:r>
            <a:r>
              <a:rPr lang="en-US" sz="1800" dirty="0" smtClean="0"/>
              <a:t>−</a:t>
            </a:r>
          </a:p>
          <a:p>
            <a:endParaRPr lang="en-US" sz="1800" dirty="0"/>
          </a:p>
          <a:p>
            <a:endParaRPr lang="en-US" sz="1800" dirty="0" smtClean="0"/>
          </a:p>
          <a:p>
            <a:endParaRPr lang="en-US" sz="1800" dirty="0"/>
          </a:p>
          <a:p>
            <a:endParaRPr lang="en-IN" sz="1800" dirty="0" smtClean="0"/>
          </a:p>
          <a:p>
            <a:endParaRPr lang="en-IN" sz="1800" dirty="0"/>
          </a:p>
          <a:p>
            <a:endParaRPr lang="en-IN" sz="1800" dirty="0"/>
          </a:p>
          <a:p>
            <a:r>
              <a:rPr lang="en-US" sz="1800" dirty="0"/>
              <a:t>This means at state </a:t>
            </a:r>
            <a:r>
              <a:rPr lang="en-US" sz="1800" b="1" dirty="0"/>
              <a:t>q</a:t>
            </a:r>
            <a:r>
              <a:rPr lang="en-US" sz="1800" b="1" baseline="-25000" dirty="0"/>
              <a:t>1</a:t>
            </a:r>
            <a:r>
              <a:rPr lang="en-US" sz="1800" dirty="0"/>
              <a:t>, if we encounter an input string </a:t>
            </a:r>
            <a:r>
              <a:rPr lang="en-US" sz="1800" b="1" dirty="0"/>
              <a:t>‘a’ </a:t>
            </a:r>
            <a:r>
              <a:rPr lang="en-US" sz="1800" dirty="0"/>
              <a:t>and top symbol of the stack is </a:t>
            </a:r>
            <a:r>
              <a:rPr lang="en-US" sz="1800" b="1" dirty="0"/>
              <a:t>‘b’</a:t>
            </a:r>
            <a:r>
              <a:rPr lang="en-US" sz="1800" dirty="0"/>
              <a:t>, then we pop </a:t>
            </a:r>
            <a:r>
              <a:rPr lang="en-US" sz="1800" b="1" dirty="0"/>
              <a:t>‘b’</a:t>
            </a:r>
            <a:r>
              <a:rPr lang="en-US" sz="1800" dirty="0"/>
              <a:t>, push </a:t>
            </a:r>
            <a:r>
              <a:rPr lang="en-US" sz="1800" b="1" dirty="0"/>
              <a:t>‘c’ </a:t>
            </a:r>
            <a:r>
              <a:rPr lang="en-US" sz="1800" dirty="0"/>
              <a:t>on top of the stack and move to state </a:t>
            </a:r>
            <a:r>
              <a:rPr lang="en-US" sz="1800" b="1" dirty="0"/>
              <a:t>q</a:t>
            </a:r>
            <a:r>
              <a:rPr lang="en-US" sz="1800" b="1" baseline="-25000" dirty="0"/>
              <a:t>2</a:t>
            </a:r>
            <a:r>
              <a:rPr lang="en-US" sz="1800" dirty="0"/>
              <a:t>.</a:t>
            </a:r>
            <a:endParaRPr lang="en-IN" sz="1800" dirty="0"/>
          </a:p>
          <a:p>
            <a:pPr lvl="0" fontAlgn="base">
              <a:buNone/>
            </a:pPr>
            <a:endParaRPr lang="en-IN" sz="1800" dirty="0"/>
          </a:p>
        </p:txBody>
      </p:sp>
      <p:pic>
        <p:nvPicPr>
          <p:cNvPr id="2050" name="Picture 2" descr="C:\Users\Raju\Desktop\Capture.PNG"/>
          <p:cNvPicPr>
            <a:picLocks noChangeAspect="1" noChangeArrowheads="1"/>
          </p:cNvPicPr>
          <p:nvPr/>
        </p:nvPicPr>
        <p:blipFill>
          <a:blip r:embed="rId2"/>
          <a:srcRect/>
          <a:stretch>
            <a:fillRect/>
          </a:stretch>
        </p:blipFill>
        <p:spPr bwMode="auto">
          <a:xfrm>
            <a:off x="2500298" y="4071942"/>
            <a:ext cx="2981325" cy="1357322"/>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Acceptance </a:t>
            </a:r>
            <a:r>
              <a:rPr lang="en-US" dirty="0"/>
              <a:t>of CFL</a:t>
            </a:r>
            <a:endParaRPr lang="en-IN" dirty="0"/>
          </a:p>
        </p:txBody>
      </p:sp>
      <p:sp>
        <p:nvSpPr>
          <p:cNvPr id="3" name="Content Placeholder 2"/>
          <p:cNvSpPr>
            <a:spLocks noGrp="1"/>
          </p:cNvSpPr>
          <p:nvPr>
            <p:ph idx="1"/>
          </p:nvPr>
        </p:nvSpPr>
        <p:spPr/>
        <p:txBody>
          <a:bodyPr>
            <a:normAutofit fontScale="62500" lnSpcReduction="20000"/>
          </a:bodyPr>
          <a:lstStyle/>
          <a:p>
            <a:r>
              <a:rPr lang="en-US" dirty="0"/>
              <a:t>There are two different ways to define PDA acceptability.</a:t>
            </a:r>
            <a:endParaRPr lang="en-IN" dirty="0"/>
          </a:p>
          <a:p>
            <a:pPr>
              <a:buNone/>
            </a:pPr>
            <a:r>
              <a:rPr lang="en-US" b="1" dirty="0"/>
              <a:t>Final State Acceptability</a:t>
            </a:r>
            <a:endParaRPr lang="en-IN" dirty="0"/>
          </a:p>
          <a:p>
            <a:r>
              <a:rPr lang="en-US" dirty="0"/>
              <a:t>In final state acceptability, a PDA accepts a string when, after reading the entire string, the PDA is in a final state. From the starting state, we can make moves that end up in a final state with any stack values. The stack values are irrelevant as long as we end up in a final state</a:t>
            </a:r>
            <a:r>
              <a:rPr lang="en-US" dirty="0" smtClean="0"/>
              <a:t>.</a:t>
            </a:r>
          </a:p>
          <a:p>
            <a:r>
              <a:rPr lang="en-US" dirty="0"/>
              <a:t>For a PDA (Q, ∑, Γ, δ, q</a:t>
            </a:r>
            <a:r>
              <a:rPr lang="en-US" baseline="-25000" dirty="0"/>
              <a:t>0</a:t>
            </a:r>
            <a:r>
              <a:rPr lang="en-US" dirty="0"/>
              <a:t>, Z0, F), the language accepted by the set of final states F is −</a:t>
            </a:r>
            <a:endParaRPr lang="en-IN" dirty="0"/>
          </a:p>
          <a:p>
            <a:r>
              <a:rPr lang="en-US" dirty="0"/>
              <a:t>L(PDA) = {w | (q</a:t>
            </a:r>
            <a:r>
              <a:rPr lang="en-US" baseline="-25000" dirty="0"/>
              <a:t>0</a:t>
            </a:r>
            <a:r>
              <a:rPr lang="en-US" dirty="0"/>
              <a:t>, w, Z0) ⊢* (q, ε, x), q ∈ F} for any input stack string </a:t>
            </a:r>
            <a:r>
              <a:rPr lang="en-US" b="1" dirty="0"/>
              <a:t>x</a:t>
            </a:r>
            <a:r>
              <a:rPr lang="en-US" dirty="0"/>
              <a:t>.</a:t>
            </a:r>
            <a:endParaRPr lang="en-IN" dirty="0"/>
          </a:p>
          <a:p>
            <a:pPr>
              <a:buNone/>
            </a:pPr>
            <a:r>
              <a:rPr lang="en-US" b="1" dirty="0"/>
              <a:t>Empty Stack Acceptability</a:t>
            </a:r>
            <a:endParaRPr lang="en-IN" dirty="0"/>
          </a:p>
          <a:p>
            <a:r>
              <a:rPr lang="en-US" dirty="0"/>
              <a:t>Here a PDA accepts a string when, after reading the entire string, the PDA has emptied its stack.</a:t>
            </a:r>
            <a:endParaRPr lang="en-IN" dirty="0"/>
          </a:p>
          <a:p>
            <a:r>
              <a:rPr lang="en-US" dirty="0"/>
              <a:t>For a PDA (Q, ∑, S, δ, q</a:t>
            </a:r>
            <a:r>
              <a:rPr lang="en-US" baseline="-25000" dirty="0"/>
              <a:t>0</a:t>
            </a:r>
            <a:r>
              <a:rPr lang="en-US" dirty="0"/>
              <a:t>, Z0, F), the language accepted by the empty stack is −</a:t>
            </a:r>
            <a:endParaRPr lang="en-IN" dirty="0"/>
          </a:p>
          <a:p>
            <a:r>
              <a:rPr lang="en-US" dirty="0"/>
              <a:t>L(PDA) = {w | (q</a:t>
            </a:r>
            <a:r>
              <a:rPr lang="en-US" baseline="-25000" dirty="0"/>
              <a:t>0</a:t>
            </a:r>
            <a:r>
              <a:rPr lang="en-US" dirty="0"/>
              <a:t>, w, I) ⊢* (q, ε, ε), q ∈ Q}</a:t>
            </a:r>
            <a:endParaRPr lang="en-IN"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a:bodyPr>
          <a:lstStyle/>
          <a:p>
            <a:r>
              <a:rPr lang="en-US" b="1" dirty="0" smtClean="0"/>
              <a:t>Example</a:t>
            </a:r>
            <a:endParaRPr lang="en-IN" dirty="0"/>
          </a:p>
        </p:txBody>
      </p:sp>
      <p:sp>
        <p:nvSpPr>
          <p:cNvPr id="3" name="Content Placeholder 2"/>
          <p:cNvSpPr>
            <a:spLocks noGrp="1"/>
          </p:cNvSpPr>
          <p:nvPr>
            <p:ph idx="1"/>
          </p:nvPr>
        </p:nvSpPr>
        <p:spPr>
          <a:xfrm>
            <a:off x="457200" y="1071546"/>
            <a:ext cx="8229600" cy="5054617"/>
          </a:xfrm>
        </p:spPr>
        <p:txBody>
          <a:bodyPr>
            <a:normAutofit/>
          </a:bodyPr>
          <a:lstStyle/>
          <a:p>
            <a:r>
              <a:rPr lang="en-US" sz="1600" dirty="0" smtClean="0"/>
              <a:t>Construct a PDA that accepts </a:t>
            </a:r>
            <a:r>
              <a:rPr lang="en-US" sz="1600" b="1" dirty="0" smtClean="0"/>
              <a:t>L = {0</a:t>
            </a:r>
            <a:r>
              <a:rPr lang="en-US" sz="1600" b="1" baseline="30000" dirty="0" smtClean="0"/>
              <a:t>n </a:t>
            </a:r>
            <a:r>
              <a:rPr lang="en-US" sz="1600" b="1" dirty="0" smtClean="0"/>
              <a:t>1</a:t>
            </a:r>
            <a:r>
              <a:rPr lang="en-US" sz="1600" b="1" baseline="30000" dirty="0" smtClean="0"/>
              <a:t>n </a:t>
            </a:r>
            <a:r>
              <a:rPr lang="en-US" sz="1600" b="1" dirty="0" smtClean="0"/>
              <a:t>| n ≥ 0}</a:t>
            </a:r>
            <a:endParaRPr lang="en-IN" sz="1600" dirty="0" smtClean="0"/>
          </a:p>
          <a:p>
            <a:pPr>
              <a:buNone/>
            </a:pPr>
            <a:r>
              <a:rPr lang="en-US" sz="1600" b="1" dirty="0" smtClean="0"/>
              <a:t>Solution</a:t>
            </a:r>
            <a:endParaRPr lang="en-IN" sz="1600" dirty="0" smtClean="0"/>
          </a:p>
          <a:p>
            <a:r>
              <a:rPr lang="en-US" sz="1600" b="1" dirty="0" smtClean="0"/>
              <a:t>Final State Acceptability:</a:t>
            </a:r>
          </a:p>
          <a:p>
            <a:endParaRPr lang="en-US" sz="1600" b="1" dirty="0" smtClean="0"/>
          </a:p>
          <a:p>
            <a:endParaRPr lang="en-US" sz="1600" b="1" dirty="0" smtClean="0"/>
          </a:p>
          <a:p>
            <a:endParaRPr lang="en-US" sz="1600" b="1" dirty="0" smtClean="0"/>
          </a:p>
          <a:p>
            <a:endParaRPr lang="en-US" sz="1600" b="1" dirty="0" smtClean="0"/>
          </a:p>
          <a:p>
            <a:endParaRPr lang="en-US" sz="1600" b="1" dirty="0" smtClean="0"/>
          </a:p>
          <a:p>
            <a:r>
              <a:rPr lang="en-US" sz="1600" b="1" dirty="0" smtClean="0"/>
              <a:t>Empty Stack Acceptability:</a:t>
            </a:r>
          </a:p>
          <a:p>
            <a:endParaRPr lang="en-US" sz="1600" b="1" dirty="0" smtClean="0"/>
          </a:p>
          <a:p>
            <a:endParaRPr lang="en-US" sz="1600" b="1" dirty="0" smtClean="0"/>
          </a:p>
          <a:p>
            <a:endParaRPr lang="en-US" sz="1600" b="1" dirty="0" smtClean="0"/>
          </a:p>
          <a:p>
            <a:endParaRPr lang="en-US" sz="1600" b="1" dirty="0" smtClean="0"/>
          </a:p>
          <a:p>
            <a:endParaRPr lang="en-US" sz="1600" b="1" dirty="0" smtClean="0"/>
          </a:p>
          <a:p>
            <a:endParaRPr lang="en-US" sz="1600" b="1" dirty="0" smtClean="0"/>
          </a:p>
          <a:p>
            <a:r>
              <a:rPr lang="en-US" sz="1600" dirty="0" smtClean="0"/>
              <a:t>This language accepts L = {ε, 01, 0011, 000111, ............................. } Here, in this example, the number of </a:t>
            </a:r>
            <a:r>
              <a:rPr lang="en-US" sz="1600" b="1" dirty="0" smtClean="0"/>
              <a:t>‘a’ </a:t>
            </a:r>
            <a:r>
              <a:rPr lang="en-US" sz="1600" dirty="0" smtClean="0"/>
              <a:t>and </a:t>
            </a:r>
            <a:r>
              <a:rPr lang="en-US" sz="1600" b="1" dirty="0" smtClean="0"/>
              <a:t>‘b’ </a:t>
            </a:r>
            <a:r>
              <a:rPr lang="en-US" sz="1600" dirty="0" smtClean="0"/>
              <a:t>have to be same.</a:t>
            </a:r>
            <a:endParaRPr lang="en-IN" sz="1600" dirty="0" smtClean="0"/>
          </a:p>
          <a:p>
            <a:endParaRPr lang="en-IN" sz="1600" dirty="0"/>
          </a:p>
        </p:txBody>
      </p:sp>
      <p:pic>
        <p:nvPicPr>
          <p:cNvPr id="1026" name="Picture 2" descr="C:\Users\Raju\Desktop\Capture.PNG"/>
          <p:cNvPicPr>
            <a:picLocks noChangeAspect="1" noChangeArrowheads="1"/>
          </p:cNvPicPr>
          <p:nvPr/>
        </p:nvPicPr>
        <p:blipFill>
          <a:blip r:embed="rId2"/>
          <a:srcRect/>
          <a:stretch>
            <a:fillRect/>
          </a:stretch>
        </p:blipFill>
        <p:spPr bwMode="auto">
          <a:xfrm>
            <a:off x="1500166" y="1928802"/>
            <a:ext cx="5745162" cy="1357322"/>
          </a:xfrm>
          <a:prstGeom prst="rect">
            <a:avLst/>
          </a:prstGeom>
          <a:noFill/>
        </p:spPr>
      </p:pic>
      <p:pic>
        <p:nvPicPr>
          <p:cNvPr id="1027" name="Picture 3" descr="C:\Users\Raju\Desktop\Capture.PNG"/>
          <p:cNvPicPr>
            <a:picLocks noChangeAspect="1" noChangeArrowheads="1"/>
          </p:cNvPicPr>
          <p:nvPr/>
        </p:nvPicPr>
        <p:blipFill>
          <a:blip r:embed="rId3"/>
          <a:srcRect/>
          <a:stretch>
            <a:fillRect/>
          </a:stretch>
        </p:blipFill>
        <p:spPr bwMode="auto">
          <a:xfrm>
            <a:off x="2000232" y="4000505"/>
            <a:ext cx="3467100" cy="1285884"/>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fontScale="92500" lnSpcReduction="20000"/>
          </a:bodyPr>
          <a:lstStyle/>
          <a:p>
            <a:pPr lvl="0" fontAlgn="base"/>
            <a:r>
              <a:rPr lang="en-US" dirty="0" smtClean="0"/>
              <a:t>Initially we put a special symbol </a:t>
            </a:r>
            <a:r>
              <a:rPr lang="en-US" b="1" dirty="0" smtClean="0"/>
              <a:t>‘$’ </a:t>
            </a:r>
            <a:r>
              <a:rPr lang="en-US" dirty="0" smtClean="0"/>
              <a:t>into the empty stack.</a:t>
            </a:r>
            <a:endParaRPr lang="en-IN" dirty="0" smtClean="0"/>
          </a:p>
          <a:p>
            <a:pPr lvl="0" fontAlgn="base"/>
            <a:r>
              <a:rPr lang="en-US" dirty="0" smtClean="0"/>
              <a:t>Then at state </a:t>
            </a:r>
            <a:r>
              <a:rPr lang="en-US" b="1" dirty="0" smtClean="0"/>
              <a:t>q</a:t>
            </a:r>
            <a:r>
              <a:rPr lang="en-US" b="1" baseline="-25000" dirty="0" smtClean="0"/>
              <a:t>2</a:t>
            </a:r>
            <a:r>
              <a:rPr lang="en-US" dirty="0" smtClean="0"/>
              <a:t>, if we encounter input 0 and top is Null, we push 0 into stack. This may iterate. And if we encounter input 1 and top is 0, we pop this 0.</a:t>
            </a:r>
            <a:endParaRPr lang="en-IN" dirty="0" smtClean="0"/>
          </a:p>
          <a:p>
            <a:pPr lvl="0" fontAlgn="base"/>
            <a:r>
              <a:rPr lang="en-US" dirty="0" smtClean="0"/>
              <a:t>Then at state </a:t>
            </a:r>
            <a:r>
              <a:rPr lang="en-US" b="1" dirty="0" smtClean="0"/>
              <a:t>q</a:t>
            </a:r>
            <a:r>
              <a:rPr lang="en-US" b="1" baseline="-25000" dirty="0" smtClean="0"/>
              <a:t>3</a:t>
            </a:r>
            <a:r>
              <a:rPr lang="en-US" dirty="0" smtClean="0"/>
              <a:t>, if we encounter input 1 and top is 0, we pop this 0. This may also iterate. And if we encounter input 1 and top is 0, we pop the top element.</a:t>
            </a:r>
            <a:endParaRPr lang="en-IN" dirty="0" smtClean="0"/>
          </a:p>
          <a:p>
            <a:pPr lvl="0" fontAlgn="base"/>
            <a:r>
              <a:rPr lang="en-US" dirty="0" smtClean="0"/>
              <a:t>If the special symbol ‘$’ is encountered at top of the stack, it is popped out and it finally goes to the accepting state q</a:t>
            </a:r>
            <a:r>
              <a:rPr lang="en-US" baseline="-25000" dirty="0" smtClean="0"/>
              <a:t>4</a:t>
            </a:r>
            <a:r>
              <a:rPr lang="en-US" dirty="0" smtClean="0"/>
              <a:t>.</a:t>
            </a:r>
            <a:endParaRPr lang="en-IN" dirty="0" smtClean="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b="1" dirty="0" smtClean="0"/>
              <a:t>Example</a:t>
            </a:r>
            <a:endParaRPr lang="en-IN" dirty="0"/>
          </a:p>
        </p:txBody>
      </p:sp>
      <p:sp>
        <p:nvSpPr>
          <p:cNvPr id="3" name="Content Placeholder 2"/>
          <p:cNvSpPr>
            <a:spLocks noGrp="1"/>
          </p:cNvSpPr>
          <p:nvPr>
            <p:ph idx="1"/>
          </p:nvPr>
        </p:nvSpPr>
        <p:spPr>
          <a:xfrm>
            <a:off x="457200" y="928670"/>
            <a:ext cx="8229600" cy="5197493"/>
          </a:xfrm>
        </p:spPr>
        <p:txBody>
          <a:bodyPr>
            <a:normAutofit/>
          </a:bodyPr>
          <a:lstStyle/>
          <a:p>
            <a:pPr fontAlgn="base"/>
            <a:r>
              <a:rPr lang="en-IN" sz="2000" dirty="0" smtClean="0"/>
              <a:t>Define the pushdown automata for language {</a:t>
            </a:r>
            <a:r>
              <a:rPr lang="en-IN" sz="2000" dirty="0" err="1" smtClean="0"/>
              <a:t>a</a:t>
            </a:r>
            <a:r>
              <a:rPr lang="en-IN" sz="2000" baseline="30000" dirty="0" err="1" smtClean="0"/>
              <a:t>n</a:t>
            </a:r>
            <a:r>
              <a:rPr lang="en-IN" sz="2000" dirty="0" err="1" smtClean="0"/>
              <a:t>b</a:t>
            </a:r>
            <a:r>
              <a:rPr lang="en-IN" sz="2000" baseline="30000" dirty="0" err="1" smtClean="0"/>
              <a:t>n</a:t>
            </a:r>
            <a:r>
              <a:rPr lang="en-IN" sz="2000" dirty="0" smtClean="0"/>
              <a:t> | n&gt;=1} </a:t>
            </a:r>
            <a:br>
              <a:rPr lang="en-IN" sz="2000" dirty="0" smtClean="0"/>
            </a:br>
            <a:r>
              <a:rPr lang="en-IN" sz="2000" b="1" dirty="0" smtClean="0"/>
              <a:t>Solution : </a:t>
            </a:r>
            <a:r>
              <a:rPr lang="en-IN" sz="2000" dirty="0" smtClean="0"/>
              <a:t>M = where Q = {q</a:t>
            </a:r>
            <a:r>
              <a:rPr lang="en-IN" sz="1200" dirty="0" smtClean="0"/>
              <a:t>0</a:t>
            </a:r>
            <a:r>
              <a:rPr lang="en-IN" sz="2000" dirty="0" smtClean="0"/>
              <a:t>, q</a:t>
            </a:r>
            <a:r>
              <a:rPr lang="en-IN" sz="1400" dirty="0" smtClean="0"/>
              <a:t>1,</a:t>
            </a:r>
            <a:r>
              <a:rPr lang="en-IN" sz="2000" dirty="0" smtClean="0"/>
              <a:t> q</a:t>
            </a:r>
            <a:r>
              <a:rPr lang="en-IN" sz="1200" dirty="0" smtClean="0"/>
              <a:t>2</a:t>
            </a:r>
            <a:r>
              <a:rPr lang="en-IN" sz="2000" dirty="0" smtClean="0"/>
              <a:t> } and </a:t>
            </a:r>
            <a:r>
              <a:rPr lang="el-GR" sz="2000" dirty="0" smtClean="0"/>
              <a:t>Σ = { </a:t>
            </a:r>
            <a:r>
              <a:rPr lang="en-IN" sz="2000" dirty="0" smtClean="0"/>
              <a:t>a, b } and </a:t>
            </a:r>
            <a:r>
              <a:rPr lang="el-GR" sz="2000" dirty="0" smtClean="0"/>
              <a:t>Γ = {</a:t>
            </a:r>
            <a:r>
              <a:rPr lang="en-IN" sz="2000" dirty="0" smtClean="0"/>
              <a:t>a ,Z</a:t>
            </a:r>
            <a:r>
              <a:rPr lang="en-IN" sz="1400" dirty="0" smtClean="0"/>
              <a:t>0</a:t>
            </a:r>
            <a:r>
              <a:rPr lang="en-IN" sz="2000" dirty="0" smtClean="0"/>
              <a:t> } and </a:t>
            </a:r>
            <a:r>
              <a:rPr lang="el-GR" sz="2000" dirty="0" smtClean="0"/>
              <a:t>δ </a:t>
            </a:r>
            <a:r>
              <a:rPr lang="en-IN" sz="2000" dirty="0" smtClean="0"/>
              <a:t>is given by : </a:t>
            </a:r>
          </a:p>
          <a:p>
            <a:pPr fontAlgn="base"/>
            <a:r>
              <a:rPr lang="el-GR" sz="2000" dirty="0" smtClean="0"/>
              <a:t>δ(</a:t>
            </a:r>
            <a:r>
              <a:rPr lang="en-IN" sz="2000" dirty="0" smtClean="0"/>
              <a:t>q</a:t>
            </a:r>
            <a:r>
              <a:rPr lang="en-IN" sz="1200" dirty="0" smtClean="0"/>
              <a:t>0</a:t>
            </a:r>
            <a:r>
              <a:rPr lang="en-IN" sz="2000" dirty="0" smtClean="0"/>
              <a:t>, a, Z</a:t>
            </a:r>
            <a:r>
              <a:rPr lang="en-IN" sz="1400" dirty="0" smtClean="0"/>
              <a:t>0</a:t>
            </a:r>
            <a:r>
              <a:rPr lang="en-IN" sz="2000" dirty="0" smtClean="0"/>
              <a:t> ) = { (q</a:t>
            </a:r>
            <a:r>
              <a:rPr lang="en-IN" sz="1200" dirty="0" smtClean="0"/>
              <a:t>0</a:t>
            </a:r>
            <a:r>
              <a:rPr lang="en-IN" sz="2000" dirty="0" smtClean="0"/>
              <a:t>, a Z</a:t>
            </a:r>
            <a:r>
              <a:rPr lang="en-IN" sz="1400" dirty="0" smtClean="0"/>
              <a:t>0</a:t>
            </a:r>
            <a:r>
              <a:rPr lang="en-IN" sz="2000" dirty="0" smtClean="0"/>
              <a:t> ) } </a:t>
            </a:r>
            <a:br>
              <a:rPr lang="en-IN" sz="2000" dirty="0" smtClean="0"/>
            </a:br>
            <a:r>
              <a:rPr lang="el-GR" sz="2000" dirty="0" smtClean="0"/>
              <a:t>δ(</a:t>
            </a:r>
            <a:r>
              <a:rPr lang="en-IN" sz="2000" dirty="0" smtClean="0"/>
              <a:t>q</a:t>
            </a:r>
            <a:r>
              <a:rPr lang="en-IN" sz="1200" dirty="0" smtClean="0"/>
              <a:t>0</a:t>
            </a:r>
            <a:r>
              <a:rPr lang="en-IN" sz="2000" dirty="0" smtClean="0"/>
              <a:t>, a, a) = { (q</a:t>
            </a:r>
            <a:r>
              <a:rPr lang="en-IN" sz="1200" dirty="0" smtClean="0"/>
              <a:t>0</a:t>
            </a:r>
            <a:r>
              <a:rPr lang="en-IN" sz="2000" dirty="0" smtClean="0"/>
              <a:t>, </a:t>
            </a:r>
            <a:r>
              <a:rPr lang="en-IN" sz="2000" dirty="0" err="1" smtClean="0"/>
              <a:t>aa</a:t>
            </a:r>
            <a:r>
              <a:rPr lang="en-IN" sz="2000" dirty="0" smtClean="0"/>
              <a:t> ) } </a:t>
            </a:r>
            <a:br>
              <a:rPr lang="en-IN" sz="2000" dirty="0" smtClean="0"/>
            </a:br>
            <a:r>
              <a:rPr lang="el-GR" sz="2000" dirty="0" smtClean="0"/>
              <a:t>δ(</a:t>
            </a:r>
            <a:r>
              <a:rPr lang="en-IN" sz="2000" dirty="0" smtClean="0"/>
              <a:t>q</a:t>
            </a:r>
            <a:r>
              <a:rPr lang="en-IN" sz="1200" dirty="0" smtClean="0"/>
              <a:t>0</a:t>
            </a:r>
            <a:r>
              <a:rPr lang="en-IN" sz="2000" dirty="0" smtClean="0"/>
              <a:t>, </a:t>
            </a:r>
            <a:r>
              <a:rPr lang="en-IN" sz="2000" dirty="0" err="1" smtClean="0"/>
              <a:t>a,a</a:t>
            </a:r>
            <a:r>
              <a:rPr lang="en-IN" sz="2000" dirty="0" smtClean="0"/>
              <a:t>) = { (q</a:t>
            </a:r>
            <a:r>
              <a:rPr lang="en-IN" sz="1200" dirty="0" smtClean="0"/>
              <a:t>0</a:t>
            </a:r>
            <a:r>
              <a:rPr lang="en-IN" sz="2000" dirty="0" smtClean="0"/>
              <a:t>, </a:t>
            </a:r>
            <a:r>
              <a:rPr lang="en-IN" sz="2000" dirty="0" err="1" smtClean="0"/>
              <a:t>aaa</a:t>
            </a:r>
            <a:r>
              <a:rPr lang="en-IN" sz="2000" dirty="0" smtClean="0"/>
              <a:t>) } </a:t>
            </a:r>
            <a:br>
              <a:rPr lang="en-IN" sz="2000" dirty="0" smtClean="0"/>
            </a:br>
            <a:r>
              <a:rPr lang="el-GR" sz="2000" dirty="0" smtClean="0"/>
              <a:t>δ(</a:t>
            </a:r>
            <a:r>
              <a:rPr lang="en-IN" sz="2000" dirty="0" smtClean="0"/>
              <a:t>q</a:t>
            </a:r>
            <a:r>
              <a:rPr lang="en-IN" sz="1200" dirty="0" smtClean="0"/>
              <a:t>0</a:t>
            </a:r>
            <a:r>
              <a:rPr lang="en-IN" sz="2000" dirty="0" smtClean="0"/>
              <a:t>, b, a) = { (q</a:t>
            </a:r>
            <a:r>
              <a:rPr lang="en-IN" sz="1400" dirty="0" smtClean="0"/>
              <a:t>1</a:t>
            </a:r>
            <a:r>
              <a:rPr lang="en-IN" sz="2000" dirty="0" smtClean="0"/>
              <a:t>, ∈) } </a:t>
            </a:r>
            <a:br>
              <a:rPr lang="en-IN" sz="2000" dirty="0" smtClean="0"/>
            </a:br>
            <a:r>
              <a:rPr lang="el-GR" sz="2000" dirty="0" smtClean="0"/>
              <a:t>δ(</a:t>
            </a:r>
            <a:r>
              <a:rPr lang="en-IN" sz="2000" dirty="0" smtClean="0"/>
              <a:t>q</a:t>
            </a:r>
            <a:r>
              <a:rPr lang="en-IN" sz="1400" dirty="0" smtClean="0"/>
              <a:t>1</a:t>
            </a:r>
            <a:r>
              <a:rPr lang="en-IN" sz="2000" dirty="0" smtClean="0"/>
              <a:t>, </a:t>
            </a:r>
            <a:r>
              <a:rPr lang="en-IN" sz="2000" dirty="0" err="1" smtClean="0"/>
              <a:t>b,a</a:t>
            </a:r>
            <a:r>
              <a:rPr lang="en-IN" sz="2000" dirty="0" smtClean="0"/>
              <a:t>) = { (q</a:t>
            </a:r>
            <a:r>
              <a:rPr lang="en-IN" sz="1400" dirty="0" smtClean="0"/>
              <a:t>1</a:t>
            </a:r>
            <a:r>
              <a:rPr lang="en-IN" sz="2000" dirty="0" smtClean="0"/>
              <a:t>, ∈) } </a:t>
            </a:r>
          </a:p>
          <a:p>
            <a:pPr fontAlgn="base">
              <a:buNone/>
            </a:pPr>
            <a:r>
              <a:rPr lang="en-IN" sz="2000" dirty="0" smtClean="0"/>
              <a:t>	</a:t>
            </a:r>
            <a:r>
              <a:rPr lang="el-GR" sz="2000" dirty="0" smtClean="0"/>
              <a:t>δ(</a:t>
            </a:r>
            <a:r>
              <a:rPr lang="en-IN" sz="2000" dirty="0" smtClean="0"/>
              <a:t>q</a:t>
            </a:r>
            <a:r>
              <a:rPr lang="en-IN" sz="1400" dirty="0" smtClean="0"/>
              <a:t>1</a:t>
            </a:r>
            <a:r>
              <a:rPr lang="en-IN" sz="2000" dirty="0" smtClean="0"/>
              <a:t>, </a:t>
            </a:r>
            <a:r>
              <a:rPr lang="en-IN" sz="2000" dirty="0" err="1" smtClean="0"/>
              <a:t>b,a</a:t>
            </a:r>
            <a:r>
              <a:rPr lang="en-IN" sz="2000" dirty="0" smtClean="0"/>
              <a:t>) = { (q</a:t>
            </a:r>
            <a:r>
              <a:rPr lang="en-IN" sz="1400" dirty="0" smtClean="0"/>
              <a:t>1</a:t>
            </a:r>
            <a:r>
              <a:rPr lang="en-IN" sz="2000" dirty="0" smtClean="0"/>
              <a:t>, ∈) }</a:t>
            </a:r>
          </a:p>
          <a:p>
            <a:pPr fontAlgn="base">
              <a:buNone/>
            </a:pPr>
            <a:r>
              <a:rPr lang="en-IN" sz="2000" dirty="0" smtClean="0"/>
              <a:t>	</a:t>
            </a:r>
            <a:r>
              <a:rPr lang="el-GR" sz="2000" dirty="0" smtClean="0"/>
              <a:t>δ(</a:t>
            </a:r>
            <a:r>
              <a:rPr lang="en-IN" sz="2000" dirty="0" smtClean="0"/>
              <a:t>q</a:t>
            </a:r>
            <a:r>
              <a:rPr lang="en-IN" sz="1400" dirty="0" smtClean="0"/>
              <a:t>1</a:t>
            </a:r>
            <a:r>
              <a:rPr lang="en-IN" sz="2000" dirty="0" smtClean="0"/>
              <a:t>,∈, Z</a:t>
            </a:r>
            <a:r>
              <a:rPr lang="en-IN" sz="1400" dirty="0" smtClean="0"/>
              <a:t>0</a:t>
            </a:r>
            <a:r>
              <a:rPr lang="en-IN" sz="2000" dirty="0" smtClean="0"/>
              <a:t>) = { (q</a:t>
            </a:r>
            <a:r>
              <a:rPr lang="en-IN" sz="1200" dirty="0" smtClean="0"/>
              <a:t>2</a:t>
            </a:r>
            <a:r>
              <a:rPr lang="en-IN" sz="2000" dirty="0" smtClean="0"/>
              <a:t>, ∈) }</a:t>
            </a:r>
          </a:p>
          <a:p>
            <a:endParaRPr lang="en-IN" sz="1800" dirty="0"/>
          </a:p>
        </p:txBody>
      </p:sp>
      <p:pic>
        <p:nvPicPr>
          <p:cNvPr id="1026" name="Picture 2" descr="C:\Users\Raju\Desktop\Capture.PNG"/>
          <p:cNvPicPr>
            <a:picLocks noChangeAspect="1" noChangeArrowheads="1"/>
          </p:cNvPicPr>
          <p:nvPr/>
        </p:nvPicPr>
        <p:blipFill>
          <a:blip r:embed="rId2"/>
          <a:srcRect/>
          <a:stretch>
            <a:fillRect/>
          </a:stretch>
        </p:blipFill>
        <p:spPr bwMode="auto">
          <a:xfrm>
            <a:off x="1785918" y="4429132"/>
            <a:ext cx="6072230" cy="226538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457200" y="1214422"/>
            <a:ext cx="8229600" cy="4911741"/>
          </a:xfrm>
        </p:spPr>
        <p:txBody>
          <a:bodyPr>
            <a:normAutofit/>
          </a:bodyPr>
          <a:lstStyle/>
          <a:p>
            <a:r>
              <a:rPr lang="en-IN" sz="2000" dirty="0" smtClean="0"/>
              <a:t>Define the pushdown automata for language {</a:t>
            </a:r>
            <a:r>
              <a:rPr lang="en-IN" sz="2000" dirty="0" err="1" smtClean="0"/>
              <a:t>a</a:t>
            </a:r>
            <a:r>
              <a:rPr lang="en-IN" sz="2000" baseline="30000" dirty="0" err="1" smtClean="0"/>
              <a:t>n</a:t>
            </a:r>
            <a:r>
              <a:rPr lang="en-IN" sz="2000" dirty="0" err="1" smtClean="0"/>
              <a:t>b</a:t>
            </a:r>
            <a:r>
              <a:rPr lang="en-IN" sz="2000" baseline="30000" dirty="0" err="1" smtClean="0"/>
              <a:t>m</a:t>
            </a:r>
            <a:r>
              <a:rPr lang="en-IN" sz="2000" dirty="0" err="1" smtClean="0"/>
              <a:t>C</a:t>
            </a:r>
            <a:r>
              <a:rPr lang="en-IN" sz="2000" baseline="30000" dirty="0" err="1" smtClean="0"/>
              <a:t>n</a:t>
            </a:r>
            <a:r>
              <a:rPr lang="en-IN" sz="2000" dirty="0" smtClean="0"/>
              <a:t> | n&gt;=1, m&gt;=1} </a:t>
            </a:r>
          </a:p>
          <a:p>
            <a:r>
              <a:rPr lang="en-IN" sz="2000" dirty="0" smtClean="0"/>
              <a:t>M = where Q = {q</a:t>
            </a:r>
            <a:r>
              <a:rPr lang="en-IN" sz="1200" dirty="0" smtClean="0"/>
              <a:t>0</a:t>
            </a:r>
            <a:r>
              <a:rPr lang="en-IN" sz="2000" dirty="0" smtClean="0"/>
              <a:t>, q</a:t>
            </a:r>
            <a:r>
              <a:rPr lang="en-IN" sz="1400" dirty="0" smtClean="0"/>
              <a:t>1,</a:t>
            </a:r>
            <a:r>
              <a:rPr lang="en-IN" sz="2000" dirty="0" smtClean="0"/>
              <a:t> q</a:t>
            </a:r>
            <a:r>
              <a:rPr lang="en-IN" sz="1200" dirty="0" smtClean="0"/>
              <a:t>2,</a:t>
            </a:r>
            <a:r>
              <a:rPr lang="en-IN" sz="2000" dirty="0" smtClean="0"/>
              <a:t> q</a:t>
            </a:r>
            <a:r>
              <a:rPr lang="en-IN" sz="1200" dirty="0" smtClean="0"/>
              <a:t>3</a:t>
            </a:r>
            <a:r>
              <a:rPr lang="en-IN" sz="2000" dirty="0" smtClean="0"/>
              <a:t> } and </a:t>
            </a:r>
            <a:r>
              <a:rPr lang="el-GR" sz="2000" dirty="0" smtClean="0"/>
              <a:t>Σ = { </a:t>
            </a:r>
            <a:r>
              <a:rPr lang="en-IN" sz="2000" dirty="0" smtClean="0"/>
              <a:t>a, </a:t>
            </a:r>
            <a:r>
              <a:rPr lang="en-IN" sz="2000" dirty="0" err="1" smtClean="0"/>
              <a:t>b,c</a:t>
            </a:r>
            <a:r>
              <a:rPr lang="en-IN" sz="2000" dirty="0" smtClean="0"/>
              <a:t> } and </a:t>
            </a:r>
            <a:r>
              <a:rPr lang="el-GR" sz="2000" dirty="0" smtClean="0"/>
              <a:t>Γ = {</a:t>
            </a:r>
            <a:r>
              <a:rPr lang="en-IN" sz="2000" dirty="0" smtClean="0"/>
              <a:t>a ,Z</a:t>
            </a:r>
            <a:r>
              <a:rPr lang="en-IN" sz="1400" dirty="0" smtClean="0"/>
              <a:t>0</a:t>
            </a:r>
            <a:r>
              <a:rPr lang="en-IN" sz="2000" dirty="0" smtClean="0"/>
              <a:t> } and </a:t>
            </a:r>
            <a:r>
              <a:rPr lang="el-GR" sz="2000" dirty="0" smtClean="0"/>
              <a:t>δ </a:t>
            </a:r>
            <a:r>
              <a:rPr lang="en-IN" sz="2000" dirty="0" smtClean="0"/>
              <a:t>is given by :</a:t>
            </a:r>
            <a:r>
              <a:rPr lang="en-IN" dirty="0" smtClean="0"/>
              <a:t> </a:t>
            </a:r>
          </a:p>
          <a:p>
            <a:pPr fontAlgn="base"/>
            <a:r>
              <a:rPr lang="el-GR" sz="2000" dirty="0" smtClean="0"/>
              <a:t>δ(</a:t>
            </a:r>
            <a:r>
              <a:rPr lang="en-IN" sz="2000" dirty="0" smtClean="0"/>
              <a:t>q0, a, Z0 ) = { (q0, a Z0 ) } </a:t>
            </a:r>
            <a:br>
              <a:rPr lang="en-IN" sz="2000" dirty="0" smtClean="0"/>
            </a:br>
            <a:r>
              <a:rPr lang="el-GR" sz="2000" dirty="0" smtClean="0"/>
              <a:t>δ(</a:t>
            </a:r>
            <a:r>
              <a:rPr lang="en-IN" sz="2000" dirty="0" smtClean="0"/>
              <a:t>q0, a, a) = { (q0, </a:t>
            </a:r>
            <a:r>
              <a:rPr lang="en-IN" sz="2000" dirty="0" err="1" smtClean="0"/>
              <a:t>aa</a:t>
            </a:r>
            <a:r>
              <a:rPr lang="en-IN" sz="2000" dirty="0" smtClean="0"/>
              <a:t> ) } </a:t>
            </a:r>
            <a:br>
              <a:rPr lang="en-IN" sz="2000" dirty="0" smtClean="0"/>
            </a:br>
            <a:r>
              <a:rPr lang="el-GR" sz="2000" dirty="0" smtClean="0"/>
              <a:t>δ(</a:t>
            </a:r>
            <a:r>
              <a:rPr lang="en-IN" sz="2000" dirty="0" smtClean="0"/>
              <a:t>q0, b, a) = { (q1, </a:t>
            </a:r>
            <a:r>
              <a:rPr lang="en-IN" sz="2000" dirty="0" err="1" smtClean="0"/>
              <a:t>aa</a:t>
            </a:r>
            <a:r>
              <a:rPr lang="en-IN" sz="2000" dirty="0" smtClean="0"/>
              <a:t>) } </a:t>
            </a:r>
            <a:br>
              <a:rPr lang="en-IN" sz="2000" dirty="0" smtClean="0"/>
            </a:br>
            <a:r>
              <a:rPr lang="el-GR" sz="2000" dirty="0" smtClean="0"/>
              <a:t>δ(</a:t>
            </a:r>
            <a:r>
              <a:rPr lang="en-IN" sz="2000" dirty="0" smtClean="0"/>
              <a:t>q1, </a:t>
            </a:r>
            <a:r>
              <a:rPr lang="en-IN" sz="2000" dirty="0" err="1" smtClean="0"/>
              <a:t>c,a</a:t>
            </a:r>
            <a:r>
              <a:rPr lang="en-IN" sz="2000" dirty="0" smtClean="0"/>
              <a:t>) = { (q2, ∈) } </a:t>
            </a:r>
          </a:p>
          <a:p>
            <a:pPr fontAlgn="base">
              <a:buNone/>
            </a:pPr>
            <a:r>
              <a:rPr lang="en-IN" sz="2000" dirty="0" smtClean="0"/>
              <a:t>	</a:t>
            </a:r>
            <a:r>
              <a:rPr lang="el-GR" sz="2000" dirty="0" smtClean="0"/>
              <a:t>δ(</a:t>
            </a:r>
            <a:r>
              <a:rPr lang="en-IN" sz="2000" dirty="0" smtClean="0"/>
              <a:t>q2, </a:t>
            </a:r>
            <a:r>
              <a:rPr lang="en-IN" sz="2000" dirty="0" err="1" smtClean="0"/>
              <a:t>c,a</a:t>
            </a:r>
            <a:r>
              <a:rPr lang="en-IN" sz="2000" dirty="0" smtClean="0"/>
              <a:t>) = { (q2, ∈) }</a:t>
            </a:r>
          </a:p>
          <a:p>
            <a:pPr fontAlgn="base">
              <a:buNone/>
            </a:pPr>
            <a:r>
              <a:rPr lang="en-IN" sz="2000" dirty="0" smtClean="0"/>
              <a:t>	</a:t>
            </a:r>
            <a:r>
              <a:rPr lang="el-GR" sz="2000" dirty="0" smtClean="0"/>
              <a:t>δ(</a:t>
            </a:r>
            <a:r>
              <a:rPr lang="en-IN" sz="2000" dirty="0" smtClean="0"/>
              <a:t>q2,∈, Z0) = { (q3, ∈) }</a:t>
            </a:r>
          </a:p>
          <a:p>
            <a:endParaRPr lang="en-IN" dirty="0"/>
          </a:p>
        </p:txBody>
      </p:sp>
      <p:pic>
        <p:nvPicPr>
          <p:cNvPr id="2050" name="Picture 2" descr="C:\Users\Raju\Desktop\Capture.PNG"/>
          <p:cNvPicPr>
            <a:picLocks noChangeAspect="1" noChangeArrowheads="1"/>
          </p:cNvPicPr>
          <p:nvPr/>
        </p:nvPicPr>
        <p:blipFill>
          <a:blip r:embed="rId2"/>
          <a:srcRect/>
          <a:stretch>
            <a:fillRect/>
          </a:stretch>
        </p:blipFill>
        <p:spPr bwMode="auto">
          <a:xfrm>
            <a:off x="1142976" y="4572009"/>
            <a:ext cx="7081863" cy="228599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457200" y="928670"/>
            <a:ext cx="8229600" cy="5197493"/>
          </a:xfrm>
        </p:spPr>
        <p:txBody>
          <a:bodyPr>
            <a:normAutofit fontScale="85000" lnSpcReduction="20000"/>
          </a:bodyPr>
          <a:lstStyle/>
          <a:p>
            <a:r>
              <a:rPr lang="en-IN" sz="1800" dirty="0" smtClean="0"/>
              <a:t>Define the pushdown automata for language {a</a:t>
            </a:r>
            <a:r>
              <a:rPr lang="en-IN" sz="1800" baseline="30000" dirty="0" smtClean="0"/>
              <a:t>n</a:t>
            </a:r>
            <a:r>
              <a:rPr lang="en-IN" sz="1800" dirty="0" smtClean="0"/>
              <a:t>b</a:t>
            </a:r>
            <a:r>
              <a:rPr lang="en-IN" sz="1800" baseline="30000" dirty="0" smtClean="0"/>
              <a:t>2n</a:t>
            </a:r>
            <a:r>
              <a:rPr lang="en-IN" sz="1800" dirty="0" smtClean="0"/>
              <a:t> | n&gt;=1}</a:t>
            </a:r>
          </a:p>
          <a:p>
            <a:pPr>
              <a:buNone/>
            </a:pPr>
            <a:r>
              <a:rPr lang="en-IN" sz="1800" b="1" dirty="0" smtClean="0"/>
              <a:t>Solution : </a:t>
            </a:r>
            <a:r>
              <a:rPr lang="en-IN" sz="1800" dirty="0" smtClean="0"/>
              <a:t>L={</a:t>
            </a:r>
            <a:r>
              <a:rPr lang="en-IN" sz="1800" dirty="0" err="1" smtClean="0"/>
              <a:t>abb,aabbbb,aaabbbbbb</a:t>
            </a:r>
            <a:r>
              <a:rPr lang="en-IN" sz="1800" dirty="0" smtClean="0"/>
              <a:t>,..........}</a:t>
            </a:r>
          </a:p>
          <a:p>
            <a:r>
              <a:rPr lang="en-IN" sz="1800" dirty="0" smtClean="0"/>
              <a:t>Input string is </a:t>
            </a:r>
            <a:r>
              <a:rPr lang="en-IN" sz="1800" dirty="0" err="1" smtClean="0"/>
              <a:t>aabbbb</a:t>
            </a:r>
            <a:r>
              <a:rPr lang="en-US" sz="1800" dirty="0" smtClean="0"/>
              <a:t>∈</a:t>
            </a:r>
            <a:endParaRPr lang="en-IN" sz="1800" dirty="0" smtClean="0"/>
          </a:p>
          <a:p>
            <a:pPr>
              <a:buNone/>
            </a:pPr>
            <a:r>
              <a:rPr lang="en-IN" sz="1800" dirty="0" smtClean="0"/>
              <a:t>Logic 1: step1: if we read ‘a’ then push two ‘</a:t>
            </a:r>
            <a:r>
              <a:rPr lang="en-IN" sz="1800" dirty="0" err="1" smtClean="0"/>
              <a:t>a’s</a:t>
            </a:r>
            <a:r>
              <a:rPr lang="en-IN" sz="1800" dirty="0" smtClean="0"/>
              <a:t> on stack</a:t>
            </a:r>
          </a:p>
          <a:p>
            <a:r>
              <a:rPr lang="en-IN" sz="1800" dirty="0" smtClean="0"/>
              <a:t>Step2: if we read ‘b’ then perform pop operation</a:t>
            </a:r>
          </a:p>
          <a:p>
            <a:pPr lvl="1"/>
            <a:r>
              <a:rPr lang="en-IN" sz="1200" dirty="0" smtClean="0"/>
              <a:t>For first ‘b’ operation change the state</a:t>
            </a:r>
          </a:p>
          <a:p>
            <a:pPr lvl="1"/>
            <a:r>
              <a:rPr lang="en-IN" sz="1200" dirty="0" smtClean="0"/>
              <a:t>For next pop operation there no need to change state</a:t>
            </a:r>
            <a:endParaRPr lang="en-IN" sz="4400" dirty="0" smtClean="0"/>
          </a:p>
          <a:p>
            <a:r>
              <a:rPr lang="en-IN" sz="1800" dirty="0" smtClean="0"/>
              <a:t>Step3: Repeat step2 until the entire input string completely processed.</a:t>
            </a:r>
          </a:p>
          <a:p>
            <a:pPr>
              <a:buNone/>
            </a:pPr>
            <a:r>
              <a:rPr lang="en-IN" sz="1800" dirty="0" smtClean="0"/>
              <a:t>Logic 2: step1: if we read ‘a’ then push ‘a’ on stack</a:t>
            </a:r>
          </a:p>
          <a:p>
            <a:r>
              <a:rPr lang="en-IN" sz="1800" dirty="0" smtClean="0"/>
              <a:t>Step2: Where as here two ‘</a:t>
            </a:r>
            <a:r>
              <a:rPr lang="en-IN" sz="1800" dirty="0" err="1" smtClean="0"/>
              <a:t>b’s</a:t>
            </a:r>
            <a:r>
              <a:rPr lang="en-IN" sz="1800" dirty="0" smtClean="0"/>
              <a:t> for first ‘b’ don’t perform any pop operation.</a:t>
            </a:r>
          </a:p>
          <a:p>
            <a:pPr lvl="1"/>
            <a:r>
              <a:rPr lang="en-IN" sz="1200" dirty="0" smtClean="0"/>
              <a:t>Where as second ‘b’ perform pop operation</a:t>
            </a:r>
          </a:p>
          <a:p>
            <a:pPr lvl="1"/>
            <a:r>
              <a:rPr lang="en-IN" sz="1200" dirty="0" smtClean="0"/>
              <a:t>For third ’b’ don’t perform pop operation</a:t>
            </a:r>
          </a:p>
          <a:p>
            <a:pPr lvl="1"/>
            <a:r>
              <a:rPr lang="en-IN" sz="1200" dirty="0" smtClean="0"/>
              <a:t>For fourth ‘b’ perform pop operation.</a:t>
            </a:r>
            <a:endParaRPr lang="en-IN" sz="4400" dirty="0" smtClean="0"/>
          </a:p>
          <a:p>
            <a:r>
              <a:rPr lang="en-IN" sz="1800" dirty="0" smtClean="0"/>
              <a:t>Step3: Repeat step2 until the entire input string completely processed.</a:t>
            </a:r>
            <a:endParaRPr lang="en-IN" sz="600" dirty="0" smtClean="0"/>
          </a:p>
          <a:p>
            <a:pPr fontAlgn="base">
              <a:buNone/>
            </a:pPr>
            <a:r>
              <a:rPr lang="en-IN" sz="1800" dirty="0" smtClean="0"/>
              <a:t>M = where Q = {q</a:t>
            </a:r>
            <a:r>
              <a:rPr lang="en-IN" sz="1100" dirty="0" smtClean="0"/>
              <a:t>0</a:t>
            </a:r>
            <a:r>
              <a:rPr lang="en-IN" sz="1800" dirty="0" smtClean="0"/>
              <a:t>, q</a:t>
            </a:r>
            <a:r>
              <a:rPr lang="en-IN" sz="1200" dirty="0" smtClean="0"/>
              <a:t>1,</a:t>
            </a:r>
            <a:r>
              <a:rPr lang="en-IN" sz="1800" dirty="0" smtClean="0"/>
              <a:t> q</a:t>
            </a:r>
            <a:r>
              <a:rPr lang="en-IN" sz="1100" dirty="0" smtClean="0"/>
              <a:t>2,</a:t>
            </a:r>
            <a:r>
              <a:rPr lang="en-IN" sz="1800" dirty="0" smtClean="0"/>
              <a:t> q</a:t>
            </a:r>
            <a:r>
              <a:rPr lang="en-IN" sz="1100" dirty="0" smtClean="0"/>
              <a:t>3</a:t>
            </a:r>
            <a:r>
              <a:rPr lang="en-IN" sz="1800" dirty="0" smtClean="0"/>
              <a:t> } and </a:t>
            </a:r>
            <a:r>
              <a:rPr lang="el-GR" sz="1800" dirty="0" smtClean="0"/>
              <a:t>Σ = { </a:t>
            </a:r>
            <a:r>
              <a:rPr lang="en-IN" sz="1800" dirty="0" smtClean="0"/>
              <a:t>a, b } and </a:t>
            </a:r>
            <a:r>
              <a:rPr lang="el-GR" sz="1800" dirty="0" smtClean="0"/>
              <a:t>Γ = {</a:t>
            </a:r>
            <a:r>
              <a:rPr lang="en-IN" sz="1800" dirty="0" smtClean="0"/>
              <a:t>a ,Z</a:t>
            </a:r>
            <a:r>
              <a:rPr lang="en-IN" sz="1200" dirty="0" smtClean="0"/>
              <a:t>0</a:t>
            </a:r>
            <a:r>
              <a:rPr lang="en-IN" sz="1800" dirty="0" smtClean="0"/>
              <a:t> } and </a:t>
            </a:r>
            <a:r>
              <a:rPr lang="el-GR" sz="1800" dirty="0" smtClean="0"/>
              <a:t>δ </a:t>
            </a:r>
            <a:r>
              <a:rPr lang="en-IN" sz="1800" dirty="0" smtClean="0"/>
              <a:t>is given by : </a:t>
            </a:r>
          </a:p>
          <a:p>
            <a:pPr fontAlgn="base"/>
            <a:r>
              <a:rPr lang="el-GR" sz="1800" dirty="0" smtClean="0"/>
              <a:t>δ(</a:t>
            </a:r>
            <a:r>
              <a:rPr lang="en-IN" sz="1800" dirty="0" smtClean="0"/>
              <a:t>q</a:t>
            </a:r>
            <a:r>
              <a:rPr lang="en-IN" sz="1100" dirty="0" smtClean="0"/>
              <a:t>0</a:t>
            </a:r>
            <a:r>
              <a:rPr lang="en-IN" sz="1800" dirty="0" smtClean="0"/>
              <a:t>, a, Z</a:t>
            </a:r>
            <a:r>
              <a:rPr lang="en-IN" sz="1200" dirty="0" smtClean="0"/>
              <a:t>0</a:t>
            </a:r>
            <a:r>
              <a:rPr lang="en-IN" sz="1800" dirty="0" smtClean="0"/>
              <a:t> ) = { (q</a:t>
            </a:r>
            <a:r>
              <a:rPr lang="en-IN" sz="1100" dirty="0" smtClean="0"/>
              <a:t>0</a:t>
            </a:r>
            <a:r>
              <a:rPr lang="en-IN" sz="1800" dirty="0" smtClean="0"/>
              <a:t>, a Z</a:t>
            </a:r>
            <a:r>
              <a:rPr lang="en-IN" sz="1200" dirty="0" smtClean="0"/>
              <a:t>0</a:t>
            </a:r>
            <a:r>
              <a:rPr lang="en-IN" sz="1800" dirty="0" smtClean="0"/>
              <a:t> ) } </a:t>
            </a:r>
            <a:br>
              <a:rPr lang="en-IN" sz="1800" dirty="0" smtClean="0"/>
            </a:br>
            <a:r>
              <a:rPr lang="el-GR" sz="1800" dirty="0" smtClean="0"/>
              <a:t>δ(</a:t>
            </a:r>
            <a:r>
              <a:rPr lang="en-IN" sz="1800" dirty="0" smtClean="0"/>
              <a:t>q</a:t>
            </a:r>
            <a:r>
              <a:rPr lang="en-IN" sz="1100" dirty="0" smtClean="0"/>
              <a:t>0</a:t>
            </a:r>
            <a:r>
              <a:rPr lang="en-IN" sz="1800" dirty="0" smtClean="0"/>
              <a:t>, a, a) = { (q</a:t>
            </a:r>
            <a:r>
              <a:rPr lang="en-IN" sz="1100" dirty="0" smtClean="0"/>
              <a:t>0</a:t>
            </a:r>
            <a:r>
              <a:rPr lang="en-IN" sz="1800" dirty="0" smtClean="0"/>
              <a:t>, </a:t>
            </a:r>
            <a:r>
              <a:rPr lang="en-IN" sz="1800" dirty="0" err="1" smtClean="0"/>
              <a:t>aa</a:t>
            </a:r>
            <a:r>
              <a:rPr lang="en-IN" sz="1800" dirty="0" smtClean="0"/>
              <a:t> ) } </a:t>
            </a:r>
            <a:br>
              <a:rPr lang="en-IN" sz="1800" dirty="0" smtClean="0"/>
            </a:br>
            <a:r>
              <a:rPr lang="el-GR" sz="1800" dirty="0" smtClean="0"/>
              <a:t>δ(</a:t>
            </a:r>
            <a:r>
              <a:rPr lang="en-IN" sz="1800" dirty="0" smtClean="0"/>
              <a:t>q</a:t>
            </a:r>
            <a:r>
              <a:rPr lang="en-IN" sz="1100" dirty="0" smtClean="0"/>
              <a:t>0</a:t>
            </a:r>
            <a:r>
              <a:rPr lang="en-IN" sz="1800" dirty="0" smtClean="0"/>
              <a:t>, </a:t>
            </a:r>
            <a:r>
              <a:rPr lang="en-IN" sz="1800" dirty="0" err="1" smtClean="0"/>
              <a:t>b,a</a:t>
            </a:r>
            <a:r>
              <a:rPr lang="en-IN" sz="1800" dirty="0" smtClean="0"/>
              <a:t>) = { (q</a:t>
            </a:r>
            <a:r>
              <a:rPr lang="en-IN" sz="1200" dirty="0" smtClean="0"/>
              <a:t>1</a:t>
            </a:r>
            <a:r>
              <a:rPr lang="en-IN" sz="1800" dirty="0" smtClean="0"/>
              <a:t>, a) } </a:t>
            </a:r>
            <a:br>
              <a:rPr lang="en-IN" sz="1800" dirty="0" smtClean="0"/>
            </a:br>
            <a:r>
              <a:rPr lang="el-GR" sz="1800" dirty="0" smtClean="0"/>
              <a:t>δ(</a:t>
            </a:r>
            <a:r>
              <a:rPr lang="en-IN" sz="1800" dirty="0" smtClean="0"/>
              <a:t>q</a:t>
            </a:r>
            <a:r>
              <a:rPr lang="en-IN" sz="1100" dirty="0" smtClean="0"/>
              <a:t>1</a:t>
            </a:r>
            <a:r>
              <a:rPr lang="en-IN" sz="1800" dirty="0" smtClean="0"/>
              <a:t>, b, a) = { (q</a:t>
            </a:r>
            <a:r>
              <a:rPr lang="en-IN" sz="1300" dirty="0" smtClean="0"/>
              <a:t>2</a:t>
            </a:r>
            <a:r>
              <a:rPr lang="en-IN" sz="1800" dirty="0" smtClean="0"/>
              <a:t>, ∈) } </a:t>
            </a:r>
            <a:br>
              <a:rPr lang="en-IN" sz="1800" dirty="0" smtClean="0"/>
            </a:br>
            <a:r>
              <a:rPr lang="el-GR" sz="1800" dirty="0" smtClean="0"/>
              <a:t>δ(</a:t>
            </a:r>
            <a:r>
              <a:rPr lang="en-IN" sz="1800" dirty="0" smtClean="0"/>
              <a:t>q</a:t>
            </a:r>
            <a:r>
              <a:rPr lang="en-IN" sz="1200" dirty="0" smtClean="0"/>
              <a:t>2</a:t>
            </a:r>
            <a:r>
              <a:rPr lang="en-IN" sz="1800" dirty="0" smtClean="0"/>
              <a:t>, </a:t>
            </a:r>
            <a:r>
              <a:rPr lang="en-IN" sz="1800" dirty="0" err="1" smtClean="0"/>
              <a:t>b,a</a:t>
            </a:r>
            <a:r>
              <a:rPr lang="en-IN" sz="1800" dirty="0" smtClean="0"/>
              <a:t>) = { (q</a:t>
            </a:r>
            <a:r>
              <a:rPr lang="en-IN" sz="1200" dirty="0" smtClean="0"/>
              <a:t>1</a:t>
            </a:r>
            <a:r>
              <a:rPr lang="en-IN" sz="1800" dirty="0" smtClean="0"/>
              <a:t>, a) } </a:t>
            </a:r>
          </a:p>
          <a:p>
            <a:pPr fontAlgn="base">
              <a:buNone/>
            </a:pPr>
            <a:r>
              <a:rPr lang="en-IN" sz="1800" dirty="0" smtClean="0"/>
              <a:t>	</a:t>
            </a:r>
            <a:r>
              <a:rPr lang="el-GR" sz="1800" dirty="0" smtClean="0"/>
              <a:t>δ(</a:t>
            </a:r>
            <a:r>
              <a:rPr lang="en-IN" sz="1800" dirty="0" smtClean="0"/>
              <a:t>q</a:t>
            </a:r>
            <a:r>
              <a:rPr lang="en-IN" sz="1200" dirty="0" smtClean="0"/>
              <a:t>1</a:t>
            </a:r>
            <a:r>
              <a:rPr lang="en-IN" sz="1800" dirty="0" smtClean="0"/>
              <a:t>, </a:t>
            </a:r>
            <a:r>
              <a:rPr lang="en-IN" sz="1800" dirty="0" err="1" smtClean="0"/>
              <a:t>b,a</a:t>
            </a:r>
            <a:r>
              <a:rPr lang="en-IN" sz="1800" dirty="0" smtClean="0"/>
              <a:t>) = { (q</a:t>
            </a:r>
            <a:r>
              <a:rPr lang="en-IN" sz="1200" dirty="0" smtClean="0"/>
              <a:t>1</a:t>
            </a:r>
            <a:r>
              <a:rPr lang="en-IN" sz="1800" dirty="0" smtClean="0"/>
              <a:t>, ∈) }</a:t>
            </a:r>
          </a:p>
          <a:p>
            <a:pPr fontAlgn="base">
              <a:buNone/>
            </a:pPr>
            <a:r>
              <a:rPr lang="en-IN" sz="1800" dirty="0" smtClean="0"/>
              <a:t>	</a:t>
            </a:r>
            <a:r>
              <a:rPr lang="el-GR" sz="1800" dirty="0" smtClean="0"/>
              <a:t>δ(</a:t>
            </a:r>
            <a:r>
              <a:rPr lang="en-IN" sz="1800" dirty="0" smtClean="0"/>
              <a:t>q</a:t>
            </a:r>
            <a:r>
              <a:rPr lang="en-IN" sz="1200" dirty="0" smtClean="0"/>
              <a:t>2</a:t>
            </a:r>
            <a:r>
              <a:rPr lang="en-IN" sz="1800" dirty="0" smtClean="0"/>
              <a:t>,∈, Z</a:t>
            </a:r>
            <a:r>
              <a:rPr lang="en-IN" sz="1200" dirty="0" smtClean="0"/>
              <a:t>0</a:t>
            </a:r>
            <a:r>
              <a:rPr lang="en-IN" sz="1800" dirty="0" smtClean="0"/>
              <a:t>) = { (q</a:t>
            </a:r>
            <a:r>
              <a:rPr lang="en-IN" sz="1100" dirty="0" smtClean="0"/>
              <a:t>f</a:t>
            </a:r>
            <a:r>
              <a:rPr lang="en-IN" sz="1800" dirty="0" smtClean="0"/>
              <a:t>,Z</a:t>
            </a:r>
            <a:r>
              <a:rPr lang="en-IN" sz="1300" dirty="0" smtClean="0"/>
              <a:t>0</a:t>
            </a:r>
            <a:r>
              <a:rPr lang="en-IN" sz="1800" dirty="0" smtClean="0"/>
              <a:t>) }</a:t>
            </a:r>
          </a:p>
          <a:p>
            <a:r>
              <a:rPr lang="en-IN" sz="1800" dirty="0" smtClean="0"/>
              <a:t> </a:t>
            </a:r>
          </a:p>
          <a:p>
            <a:endParaRPr lang="en-IN" sz="1800" dirty="0"/>
          </a:p>
        </p:txBody>
      </p:sp>
      <p:pic>
        <p:nvPicPr>
          <p:cNvPr id="3074" name="Picture 2" descr="C:\Users\Raju\Desktop\Capture.PNG"/>
          <p:cNvPicPr>
            <a:picLocks noChangeAspect="1" noChangeArrowheads="1"/>
          </p:cNvPicPr>
          <p:nvPr/>
        </p:nvPicPr>
        <p:blipFill>
          <a:blip r:embed="rId2"/>
          <a:srcRect/>
          <a:stretch>
            <a:fillRect/>
          </a:stretch>
        </p:blipFill>
        <p:spPr bwMode="auto">
          <a:xfrm>
            <a:off x="3143240" y="4143380"/>
            <a:ext cx="5159387" cy="2435244"/>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457200" y="1071546"/>
            <a:ext cx="8229600" cy="5054617"/>
          </a:xfrm>
        </p:spPr>
        <p:txBody>
          <a:bodyPr>
            <a:normAutofit/>
          </a:bodyPr>
          <a:lstStyle/>
          <a:p>
            <a:pPr>
              <a:buNone/>
            </a:pPr>
            <a:r>
              <a:rPr lang="en-IN" sz="1600" dirty="0" smtClean="0"/>
              <a:t>Design pushdown automata for language {</a:t>
            </a:r>
            <a:r>
              <a:rPr lang="en-IN" sz="1600" dirty="0" err="1" smtClean="0"/>
              <a:t>a</a:t>
            </a:r>
            <a:r>
              <a:rPr lang="en-IN" sz="1600" baseline="30000" dirty="0" err="1" smtClean="0"/>
              <a:t>i</a:t>
            </a:r>
            <a:r>
              <a:rPr lang="en-IN" sz="1600" dirty="0" err="1" smtClean="0"/>
              <a:t>b</a:t>
            </a:r>
            <a:r>
              <a:rPr lang="en-IN" sz="1600" baseline="30000" dirty="0" err="1" smtClean="0"/>
              <a:t>j</a:t>
            </a:r>
            <a:r>
              <a:rPr lang="en-IN" sz="1600" dirty="0" smtClean="0"/>
              <a:t> c</a:t>
            </a:r>
            <a:r>
              <a:rPr lang="en-IN" sz="1600" baseline="30000" dirty="0" smtClean="0"/>
              <a:t>k</a:t>
            </a:r>
            <a:r>
              <a:rPr lang="en-IN" sz="1600" dirty="0" smtClean="0"/>
              <a:t>|  </a:t>
            </a:r>
            <a:r>
              <a:rPr lang="en-IN" sz="1600" dirty="0" err="1" smtClean="0"/>
              <a:t>i</a:t>
            </a:r>
            <a:r>
              <a:rPr lang="en-IN" sz="1600" dirty="0" smtClean="0"/>
              <a:t>=j where </a:t>
            </a:r>
            <a:r>
              <a:rPr lang="en-IN" sz="1600" dirty="0" err="1" smtClean="0"/>
              <a:t>i,j,k</a:t>
            </a:r>
            <a:r>
              <a:rPr lang="en-IN" sz="1600" dirty="0" smtClean="0"/>
              <a:t>&gt;=1}</a:t>
            </a:r>
          </a:p>
          <a:p>
            <a:r>
              <a:rPr lang="en-IN" sz="1600" dirty="0" smtClean="0"/>
              <a:t>Solution: Logic</a:t>
            </a:r>
          </a:p>
          <a:p>
            <a:r>
              <a:rPr lang="en-IN" sz="1600" dirty="0" smtClean="0"/>
              <a:t>Step1: if input symbol is ‘a’ push ‘a’ onto stack</a:t>
            </a:r>
          </a:p>
          <a:p>
            <a:r>
              <a:rPr lang="en-IN" sz="1600" dirty="0" smtClean="0"/>
              <a:t>Step2: if input symbol is ‘b’ pop the stack.</a:t>
            </a:r>
          </a:p>
          <a:p>
            <a:r>
              <a:rPr lang="en-IN" sz="1600" dirty="0" smtClean="0"/>
              <a:t>Step3: if input symbol is ‘c’ then stack is unchanged.</a:t>
            </a:r>
          </a:p>
          <a:p>
            <a:r>
              <a:rPr lang="en-IN" sz="1600" dirty="0" smtClean="0"/>
              <a:t>L={</a:t>
            </a:r>
            <a:r>
              <a:rPr lang="en-IN" sz="1600" dirty="0" err="1" smtClean="0"/>
              <a:t>abcc,aabbc</a:t>
            </a:r>
            <a:r>
              <a:rPr lang="en-IN" sz="1600" dirty="0" smtClean="0"/>
              <a:t>,.........}</a:t>
            </a:r>
          </a:p>
          <a:p>
            <a:pPr fontAlgn="base">
              <a:buNone/>
            </a:pPr>
            <a:r>
              <a:rPr lang="en-IN" sz="1600" dirty="0" smtClean="0"/>
              <a:t>M = where Q = {q</a:t>
            </a:r>
            <a:r>
              <a:rPr lang="en-IN" sz="1050" dirty="0" smtClean="0"/>
              <a:t>0</a:t>
            </a:r>
            <a:r>
              <a:rPr lang="en-IN" sz="1600" dirty="0" smtClean="0"/>
              <a:t>, q</a:t>
            </a:r>
            <a:r>
              <a:rPr lang="en-IN" sz="1100" dirty="0" smtClean="0"/>
              <a:t>1,</a:t>
            </a:r>
            <a:r>
              <a:rPr lang="en-IN" sz="1600" dirty="0" smtClean="0"/>
              <a:t> q</a:t>
            </a:r>
            <a:r>
              <a:rPr lang="en-IN" sz="1050" dirty="0" smtClean="0"/>
              <a:t>2,</a:t>
            </a:r>
            <a:r>
              <a:rPr lang="en-IN" sz="1600" dirty="0" smtClean="0"/>
              <a:t> q</a:t>
            </a:r>
            <a:r>
              <a:rPr lang="en-IN" sz="1050" dirty="0" smtClean="0"/>
              <a:t>3</a:t>
            </a:r>
            <a:r>
              <a:rPr lang="en-IN" sz="1600" dirty="0" smtClean="0"/>
              <a:t> } and </a:t>
            </a:r>
            <a:r>
              <a:rPr lang="el-GR" sz="1600" dirty="0" smtClean="0"/>
              <a:t>Σ = { </a:t>
            </a:r>
            <a:r>
              <a:rPr lang="en-IN" sz="1600" dirty="0" smtClean="0"/>
              <a:t>a, </a:t>
            </a:r>
            <a:r>
              <a:rPr lang="en-IN" sz="1600" dirty="0" err="1" smtClean="0"/>
              <a:t>b,c</a:t>
            </a:r>
            <a:r>
              <a:rPr lang="en-IN" sz="1600" dirty="0" smtClean="0"/>
              <a:t> } and </a:t>
            </a:r>
            <a:r>
              <a:rPr lang="el-GR" sz="1600" dirty="0" smtClean="0"/>
              <a:t>Γ = {</a:t>
            </a:r>
            <a:r>
              <a:rPr lang="en-IN" sz="1600" dirty="0" smtClean="0"/>
              <a:t>a ,Z</a:t>
            </a:r>
            <a:r>
              <a:rPr lang="en-IN" sz="1100" dirty="0" smtClean="0"/>
              <a:t>0</a:t>
            </a:r>
            <a:r>
              <a:rPr lang="en-IN" sz="1600" dirty="0" smtClean="0"/>
              <a:t> } and </a:t>
            </a:r>
            <a:r>
              <a:rPr lang="el-GR" sz="1600" dirty="0" smtClean="0"/>
              <a:t>δ </a:t>
            </a:r>
            <a:r>
              <a:rPr lang="en-IN" sz="1600" dirty="0" smtClean="0"/>
              <a:t>is given by : </a:t>
            </a:r>
          </a:p>
          <a:p>
            <a:pPr fontAlgn="base"/>
            <a:r>
              <a:rPr lang="el-GR" sz="1600" dirty="0" smtClean="0"/>
              <a:t>δ(</a:t>
            </a:r>
            <a:r>
              <a:rPr lang="en-IN" sz="1600" dirty="0" smtClean="0"/>
              <a:t>q</a:t>
            </a:r>
            <a:r>
              <a:rPr lang="en-IN" sz="1050" dirty="0" smtClean="0"/>
              <a:t>0</a:t>
            </a:r>
            <a:r>
              <a:rPr lang="en-IN" sz="1600" dirty="0" smtClean="0"/>
              <a:t>, a, Z</a:t>
            </a:r>
            <a:r>
              <a:rPr lang="en-IN" sz="1100" dirty="0" smtClean="0"/>
              <a:t>0</a:t>
            </a:r>
            <a:r>
              <a:rPr lang="en-IN" sz="1600" dirty="0" smtClean="0"/>
              <a:t> ) = { (q</a:t>
            </a:r>
            <a:r>
              <a:rPr lang="en-IN" sz="1050" dirty="0" smtClean="0"/>
              <a:t>0</a:t>
            </a:r>
            <a:r>
              <a:rPr lang="en-IN" sz="1600" dirty="0" smtClean="0"/>
              <a:t>, aZ</a:t>
            </a:r>
            <a:r>
              <a:rPr lang="en-IN" sz="1100" dirty="0" smtClean="0"/>
              <a:t>0</a:t>
            </a:r>
            <a:r>
              <a:rPr lang="en-IN" sz="1600" dirty="0" smtClean="0"/>
              <a:t> ) } </a:t>
            </a:r>
            <a:br>
              <a:rPr lang="en-IN" sz="1600" dirty="0" smtClean="0"/>
            </a:br>
            <a:r>
              <a:rPr lang="el-GR" sz="1600" dirty="0" smtClean="0"/>
              <a:t>δ(</a:t>
            </a:r>
            <a:r>
              <a:rPr lang="en-IN" sz="1600" dirty="0" smtClean="0"/>
              <a:t>q</a:t>
            </a:r>
            <a:r>
              <a:rPr lang="en-IN" sz="1050" dirty="0" smtClean="0"/>
              <a:t>0</a:t>
            </a:r>
            <a:r>
              <a:rPr lang="en-IN" sz="1600" dirty="0" smtClean="0"/>
              <a:t>, a, a) = { (q</a:t>
            </a:r>
            <a:r>
              <a:rPr lang="en-IN" sz="1050" dirty="0" smtClean="0"/>
              <a:t>0</a:t>
            </a:r>
            <a:r>
              <a:rPr lang="en-IN" sz="1600" dirty="0" smtClean="0"/>
              <a:t>, </a:t>
            </a:r>
            <a:r>
              <a:rPr lang="en-IN" sz="1600" dirty="0" err="1" smtClean="0"/>
              <a:t>aa</a:t>
            </a:r>
            <a:r>
              <a:rPr lang="en-IN" sz="1600" dirty="0" smtClean="0"/>
              <a:t> ) } </a:t>
            </a:r>
            <a:br>
              <a:rPr lang="en-IN" sz="1600" dirty="0" smtClean="0"/>
            </a:br>
            <a:r>
              <a:rPr lang="el-GR" sz="1600" dirty="0" smtClean="0"/>
              <a:t>δ(</a:t>
            </a:r>
            <a:r>
              <a:rPr lang="en-IN" sz="1600" dirty="0" smtClean="0"/>
              <a:t>q</a:t>
            </a:r>
            <a:r>
              <a:rPr lang="en-IN" sz="1050" dirty="0" smtClean="0"/>
              <a:t>0</a:t>
            </a:r>
            <a:r>
              <a:rPr lang="en-IN" sz="1600" dirty="0" smtClean="0"/>
              <a:t>, </a:t>
            </a:r>
            <a:r>
              <a:rPr lang="en-IN" sz="1600" dirty="0" err="1" smtClean="0"/>
              <a:t>b,a</a:t>
            </a:r>
            <a:r>
              <a:rPr lang="en-IN" sz="1600" dirty="0" smtClean="0"/>
              <a:t>) = { (q</a:t>
            </a:r>
            <a:r>
              <a:rPr lang="en-IN" sz="1100" dirty="0" smtClean="0"/>
              <a:t>1</a:t>
            </a:r>
            <a:r>
              <a:rPr lang="en-IN" sz="1600" dirty="0" smtClean="0"/>
              <a:t>, ∈) } </a:t>
            </a:r>
            <a:br>
              <a:rPr lang="en-IN" sz="1600" dirty="0" smtClean="0"/>
            </a:br>
            <a:r>
              <a:rPr lang="el-GR" sz="1600" dirty="0" smtClean="0"/>
              <a:t>δ(</a:t>
            </a:r>
            <a:r>
              <a:rPr lang="en-IN" sz="1600" dirty="0" smtClean="0"/>
              <a:t>q</a:t>
            </a:r>
            <a:r>
              <a:rPr lang="en-IN" sz="1050" dirty="0" smtClean="0"/>
              <a:t>1</a:t>
            </a:r>
            <a:r>
              <a:rPr lang="en-IN" sz="1600" dirty="0" smtClean="0"/>
              <a:t>, b, a) = { (q</a:t>
            </a:r>
            <a:r>
              <a:rPr lang="en-IN" sz="1200" dirty="0" smtClean="0"/>
              <a:t>1</a:t>
            </a:r>
            <a:r>
              <a:rPr lang="en-IN" sz="1600" dirty="0" smtClean="0"/>
              <a:t>, ∈) } </a:t>
            </a:r>
            <a:br>
              <a:rPr lang="en-IN" sz="1600" dirty="0" smtClean="0"/>
            </a:br>
            <a:r>
              <a:rPr lang="el-GR" sz="1600" dirty="0" smtClean="0"/>
              <a:t>δ(</a:t>
            </a:r>
            <a:r>
              <a:rPr lang="en-IN" sz="1600" dirty="0" smtClean="0"/>
              <a:t>q</a:t>
            </a:r>
            <a:r>
              <a:rPr lang="en-IN" sz="1100" dirty="0" smtClean="0"/>
              <a:t>1</a:t>
            </a:r>
            <a:r>
              <a:rPr lang="en-IN" sz="1600" dirty="0" smtClean="0"/>
              <a:t>, </a:t>
            </a:r>
            <a:r>
              <a:rPr lang="en-IN" sz="1600" dirty="0" err="1" smtClean="0"/>
              <a:t>c,a</a:t>
            </a:r>
            <a:r>
              <a:rPr lang="en-IN" sz="1600" dirty="0" smtClean="0"/>
              <a:t>) = { (q</a:t>
            </a:r>
            <a:r>
              <a:rPr lang="en-IN" sz="1100" dirty="0" smtClean="0"/>
              <a:t>2</a:t>
            </a:r>
            <a:r>
              <a:rPr lang="en-IN" sz="1600" dirty="0" smtClean="0"/>
              <a:t>, Z</a:t>
            </a:r>
            <a:r>
              <a:rPr lang="en-IN" sz="1100" dirty="0" smtClean="0"/>
              <a:t>0</a:t>
            </a:r>
            <a:r>
              <a:rPr lang="en-IN" sz="1600" dirty="0" smtClean="0"/>
              <a:t>) } </a:t>
            </a:r>
          </a:p>
          <a:p>
            <a:pPr fontAlgn="base">
              <a:buNone/>
            </a:pPr>
            <a:r>
              <a:rPr lang="en-IN" sz="1600" dirty="0" smtClean="0"/>
              <a:t>	</a:t>
            </a:r>
            <a:r>
              <a:rPr lang="el-GR" sz="1600" dirty="0" smtClean="0"/>
              <a:t>δ(</a:t>
            </a:r>
            <a:r>
              <a:rPr lang="en-IN" sz="1600" dirty="0" smtClean="0"/>
              <a:t>q</a:t>
            </a:r>
            <a:r>
              <a:rPr lang="en-IN" sz="1100" dirty="0" smtClean="0"/>
              <a:t>2</a:t>
            </a:r>
            <a:r>
              <a:rPr lang="en-IN" sz="1600" dirty="0" smtClean="0"/>
              <a:t>, c, Z</a:t>
            </a:r>
            <a:r>
              <a:rPr lang="en-IN" sz="1100" dirty="0" smtClean="0"/>
              <a:t>0</a:t>
            </a:r>
            <a:r>
              <a:rPr lang="en-IN" sz="1600" dirty="0" smtClean="0"/>
              <a:t> ) = { (q</a:t>
            </a:r>
            <a:r>
              <a:rPr lang="en-IN" sz="1100" dirty="0" smtClean="0"/>
              <a:t>2</a:t>
            </a:r>
            <a:r>
              <a:rPr lang="en-IN" sz="1600" dirty="0" smtClean="0"/>
              <a:t>, Z</a:t>
            </a:r>
            <a:r>
              <a:rPr lang="en-IN" sz="1100" dirty="0" smtClean="0"/>
              <a:t>0</a:t>
            </a:r>
            <a:r>
              <a:rPr lang="en-IN" sz="1600" dirty="0" smtClean="0"/>
              <a:t>) }</a:t>
            </a:r>
          </a:p>
          <a:p>
            <a:pPr fontAlgn="base">
              <a:buNone/>
            </a:pPr>
            <a:r>
              <a:rPr lang="en-IN" sz="1600" dirty="0" smtClean="0"/>
              <a:t>	</a:t>
            </a:r>
            <a:r>
              <a:rPr lang="el-GR" sz="1600" dirty="0" smtClean="0"/>
              <a:t>δ(</a:t>
            </a:r>
            <a:r>
              <a:rPr lang="en-IN" sz="1600" dirty="0" smtClean="0"/>
              <a:t>q</a:t>
            </a:r>
            <a:r>
              <a:rPr lang="en-IN" sz="1100" dirty="0" smtClean="0"/>
              <a:t>2</a:t>
            </a:r>
            <a:r>
              <a:rPr lang="en-IN" sz="1600" dirty="0" smtClean="0"/>
              <a:t>, c, Z</a:t>
            </a:r>
            <a:r>
              <a:rPr lang="en-IN" sz="1100" dirty="0" smtClean="0"/>
              <a:t>0</a:t>
            </a:r>
            <a:r>
              <a:rPr lang="en-IN" sz="1600" dirty="0" smtClean="0"/>
              <a:t> ) = { (q</a:t>
            </a:r>
            <a:r>
              <a:rPr lang="en-IN" sz="1100" dirty="0" smtClean="0"/>
              <a:t>2</a:t>
            </a:r>
            <a:r>
              <a:rPr lang="en-IN" sz="1600" dirty="0" smtClean="0"/>
              <a:t>, Z</a:t>
            </a:r>
            <a:r>
              <a:rPr lang="en-IN" sz="1100" dirty="0" smtClean="0"/>
              <a:t>0</a:t>
            </a:r>
            <a:r>
              <a:rPr lang="en-IN" sz="1600" dirty="0" smtClean="0"/>
              <a:t>) }</a:t>
            </a:r>
          </a:p>
          <a:p>
            <a:pPr fontAlgn="base">
              <a:buNone/>
            </a:pPr>
            <a:r>
              <a:rPr lang="en-IN" sz="1600" dirty="0" smtClean="0"/>
              <a:t>	</a:t>
            </a:r>
            <a:r>
              <a:rPr lang="el-GR" sz="1600" dirty="0" smtClean="0"/>
              <a:t>δ(</a:t>
            </a:r>
            <a:r>
              <a:rPr lang="en-IN" sz="1600" dirty="0" smtClean="0"/>
              <a:t>q</a:t>
            </a:r>
            <a:r>
              <a:rPr lang="en-IN" sz="1100" dirty="0" smtClean="0"/>
              <a:t>2</a:t>
            </a:r>
            <a:r>
              <a:rPr lang="en-IN" sz="1600" dirty="0" smtClean="0"/>
              <a:t>,∈, Z</a:t>
            </a:r>
            <a:r>
              <a:rPr lang="en-IN" sz="1100" dirty="0" smtClean="0"/>
              <a:t>0</a:t>
            </a:r>
            <a:r>
              <a:rPr lang="en-IN" sz="1600" dirty="0" smtClean="0"/>
              <a:t>) = { (</a:t>
            </a:r>
            <a:r>
              <a:rPr lang="en-IN" sz="1600" dirty="0" err="1" smtClean="0"/>
              <a:t>q</a:t>
            </a:r>
            <a:r>
              <a:rPr lang="en-IN" sz="1050" dirty="0" err="1" smtClean="0"/>
              <a:t>f</a:t>
            </a:r>
            <a:r>
              <a:rPr lang="en-IN" sz="1600" dirty="0" smtClean="0"/>
              <a:t>, ∈) }</a:t>
            </a:r>
          </a:p>
          <a:p>
            <a:endParaRPr lang="en-IN"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b="1" dirty="0" smtClean="0"/>
              <a:t>Example</a:t>
            </a:r>
            <a:endParaRPr lang="en-IN" dirty="0"/>
          </a:p>
        </p:txBody>
      </p:sp>
      <p:sp>
        <p:nvSpPr>
          <p:cNvPr id="3" name="Content Placeholder 2"/>
          <p:cNvSpPr>
            <a:spLocks noGrp="1"/>
          </p:cNvSpPr>
          <p:nvPr>
            <p:ph idx="1"/>
          </p:nvPr>
        </p:nvSpPr>
        <p:spPr>
          <a:xfrm>
            <a:off x="457200" y="928670"/>
            <a:ext cx="8229600" cy="5197493"/>
          </a:xfrm>
        </p:spPr>
        <p:txBody>
          <a:bodyPr>
            <a:normAutofit/>
          </a:bodyPr>
          <a:lstStyle/>
          <a:p>
            <a:r>
              <a:rPr lang="en-US" sz="1800" b="1" dirty="0" smtClean="0"/>
              <a:t>Construct a PDA for language L = {0</a:t>
            </a:r>
            <a:r>
              <a:rPr lang="en-US" sz="1800" b="1" baseline="30000" dirty="0" smtClean="0"/>
              <a:t>n</a:t>
            </a:r>
            <a:r>
              <a:rPr lang="en-US" sz="1800" b="1" dirty="0" smtClean="0"/>
              <a:t>1</a:t>
            </a:r>
            <a:r>
              <a:rPr lang="en-US" sz="1800" b="1" baseline="30000" dirty="0" smtClean="0"/>
              <a:t>m</a:t>
            </a:r>
            <a:r>
              <a:rPr lang="en-US" sz="1800" b="1" dirty="0" smtClean="0"/>
              <a:t>2</a:t>
            </a:r>
            <a:r>
              <a:rPr lang="en-US" sz="1800" b="1" baseline="30000" dirty="0" smtClean="0"/>
              <a:t>m</a:t>
            </a:r>
            <a:r>
              <a:rPr lang="en-US" sz="1800" b="1" dirty="0" smtClean="0"/>
              <a:t>3</a:t>
            </a:r>
            <a:r>
              <a:rPr lang="en-US" sz="1800" b="1" baseline="30000" dirty="0" smtClean="0"/>
              <a:t>n </a:t>
            </a:r>
            <a:r>
              <a:rPr lang="en-US" sz="1800" b="1" dirty="0" smtClean="0"/>
              <a:t>| n&gt;=1, m&gt;=1}</a:t>
            </a:r>
            <a:endParaRPr lang="en-IN" sz="1800" dirty="0" smtClean="0"/>
          </a:p>
          <a:p>
            <a:pPr lvl="0" fontAlgn="base"/>
            <a:r>
              <a:rPr lang="en-US" sz="1800" b="1" dirty="0" smtClean="0"/>
              <a:t>Step-1: </a:t>
            </a:r>
            <a:r>
              <a:rPr lang="en-US" sz="1800" dirty="0" smtClean="0"/>
              <a:t>On receiving 0 push it onto stack. On receiving 1, push it onto stack and </a:t>
            </a:r>
            <a:r>
              <a:rPr lang="en-US" sz="1800" dirty="0" err="1" smtClean="0"/>
              <a:t>goto</a:t>
            </a:r>
            <a:r>
              <a:rPr lang="en-US" sz="1800" dirty="0" smtClean="0"/>
              <a:t> next state</a:t>
            </a:r>
            <a:endParaRPr lang="en-IN" sz="1800" dirty="0" smtClean="0"/>
          </a:p>
          <a:p>
            <a:pPr lvl="0" fontAlgn="base"/>
            <a:r>
              <a:rPr lang="en-US" sz="1800" b="1" dirty="0" smtClean="0"/>
              <a:t>Step-2: </a:t>
            </a:r>
            <a:r>
              <a:rPr lang="en-US" sz="1800" dirty="0" smtClean="0"/>
              <a:t>On receiving 1 push it onto stack. On receiving 2, pop 1 from stack and </a:t>
            </a:r>
            <a:r>
              <a:rPr lang="en-US" sz="1800" dirty="0" err="1" smtClean="0"/>
              <a:t>goto</a:t>
            </a:r>
            <a:r>
              <a:rPr lang="en-US" sz="1800" dirty="0" smtClean="0"/>
              <a:t> next state</a:t>
            </a:r>
            <a:endParaRPr lang="en-IN" sz="1800" dirty="0" smtClean="0"/>
          </a:p>
          <a:p>
            <a:pPr lvl="0" fontAlgn="base"/>
            <a:r>
              <a:rPr lang="en-US" sz="1800" b="1" dirty="0" smtClean="0"/>
              <a:t>Step-3: </a:t>
            </a:r>
            <a:r>
              <a:rPr lang="en-US" sz="1800" dirty="0" smtClean="0"/>
              <a:t>On receiving 2 pop 1 from stack. If all the 1’s have been popped out of stack and now receive 3 then pop a 0 from stack and </a:t>
            </a:r>
            <a:r>
              <a:rPr lang="en-US" sz="1800" dirty="0" err="1" smtClean="0"/>
              <a:t>goto</a:t>
            </a:r>
            <a:r>
              <a:rPr lang="en-US" sz="1800" dirty="0" smtClean="0"/>
              <a:t> next state</a:t>
            </a:r>
            <a:endParaRPr lang="en-IN" sz="1800" dirty="0" smtClean="0"/>
          </a:p>
          <a:p>
            <a:pPr lvl="0" fontAlgn="base"/>
            <a:r>
              <a:rPr lang="en-US" sz="1800" b="1" dirty="0" smtClean="0"/>
              <a:t>Step-4: </a:t>
            </a:r>
            <a:r>
              <a:rPr lang="en-US" sz="1800" dirty="0" smtClean="0"/>
              <a:t>On receiving 3 pop 0 from stack. If input is finished and stack is empty then </a:t>
            </a:r>
            <a:r>
              <a:rPr lang="en-US" sz="1800" dirty="0" err="1" smtClean="0"/>
              <a:t>goto</a:t>
            </a:r>
            <a:r>
              <a:rPr lang="en-US" sz="1800" dirty="0" smtClean="0"/>
              <a:t> last state and string is accepted</a:t>
            </a:r>
            <a:endParaRPr lang="en-IN" sz="1800" dirty="0" smtClean="0"/>
          </a:p>
          <a:p>
            <a:endParaRPr lang="en-IN" sz="1800" dirty="0"/>
          </a:p>
        </p:txBody>
      </p:sp>
      <p:pic>
        <p:nvPicPr>
          <p:cNvPr id="4098" name="Picture 2" descr="C:\Users\Raju\Desktop\Capture.PNG"/>
          <p:cNvPicPr>
            <a:picLocks noChangeAspect="1" noChangeArrowheads="1"/>
          </p:cNvPicPr>
          <p:nvPr/>
        </p:nvPicPr>
        <p:blipFill>
          <a:blip r:embed="rId2"/>
          <a:srcRect/>
          <a:stretch>
            <a:fillRect/>
          </a:stretch>
        </p:blipFill>
        <p:spPr bwMode="auto">
          <a:xfrm>
            <a:off x="1071538" y="4000504"/>
            <a:ext cx="7421563" cy="2214578"/>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Problems</a:t>
            </a:r>
            <a:endParaRPr lang="en-IN" dirty="0"/>
          </a:p>
        </p:txBody>
      </p:sp>
      <p:sp>
        <p:nvSpPr>
          <p:cNvPr id="3" name="Content Placeholder 2"/>
          <p:cNvSpPr>
            <a:spLocks noGrp="1"/>
          </p:cNvSpPr>
          <p:nvPr>
            <p:ph idx="1"/>
          </p:nvPr>
        </p:nvSpPr>
        <p:spPr/>
        <p:txBody>
          <a:bodyPr>
            <a:normAutofit/>
          </a:bodyPr>
          <a:lstStyle/>
          <a:p>
            <a:r>
              <a:rPr lang="en-IN" sz="1800" dirty="0" smtClean="0"/>
              <a:t>Design pushdown automata for language {a</a:t>
            </a:r>
            <a:r>
              <a:rPr lang="en-IN" sz="1800" baseline="30000" dirty="0" smtClean="0"/>
              <a:t>2n</a:t>
            </a:r>
            <a:r>
              <a:rPr lang="en-IN" sz="1800" dirty="0" smtClean="0"/>
              <a:t>b</a:t>
            </a:r>
            <a:r>
              <a:rPr lang="en-IN" sz="1800" baseline="30000" dirty="0" smtClean="0"/>
              <a:t>n</a:t>
            </a:r>
            <a:r>
              <a:rPr lang="en-IN" sz="1800" dirty="0" smtClean="0"/>
              <a:t> | n&gt;=1}</a:t>
            </a:r>
          </a:p>
          <a:p>
            <a:r>
              <a:rPr lang="en-IN" sz="1800" dirty="0" smtClean="0"/>
              <a:t>Construct PDA for language L={w/</a:t>
            </a:r>
            <a:r>
              <a:rPr lang="en-IN" sz="1800" dirty="0" err="1" smtClean="0"/>
              <a:t>n</a:t>
            </a:r>
            <a:r>
              <a:rPr lang="en-IN" sz="1200" dirty="0" err="1" smtClean="0"/>
              <a:t>a</a:t>
            </a:r>
            <a:r>
              <a:rPr lang="en-IN" sz="1800" dirty="0" smtClean="0"/>
              <a:t>(w)&gt;</a:t>
            </a:r>
            <a:r>
              <a:rPr lang="en-IN" sz="1800" dirty="0" err="1" smtClean="0"/>
              <a:t>n</a:t>
            </a:r>
            <a:r>
              <a:rPr lang="en-IN" sz="1100" dirty="0" err="1" smtClean="0"/>
              <a:t>b</a:t>
            </a:r>
            <a:r>
              <a:rPr lang="en-IN" sz="1800" dirty="0" smtClean="0"/>
              <a:t>(w) where w∈(</a:t>
            </a:r>
            <a:r>
              <a:rPr lang="en-IN" sz="1800" dirty="0" err="1" smtClean="0"/>
              <a:t>a+b</a:t>
            </a:r>
            <a:r>
              <a:rPr lang="en-IN" sz="1800" dirty="0" smtClean="0"/>
              <a:t>)*}</a:t>
            </a:r>
          </a:p>
          <a:p>
            <a:r>
              <a:rPr lang="en-IN" sz="1800" dirty="0" smtClean="0"/>
              <a:t>Design pushdown automata for language {</a:t>
            </a:r>
            <a:r>
              <a:rPr lang="en-IN" sz="1800" dirty="0" err="1" smtClean="0"/>
              <a:t>a</a:t>
            </a:r>
            <a:r>
              <a:rPr lang="en-IN" sz="1800" baseline="30000" dirty="0" err="1" smtClean="0"/>
              <a:t>i</a:t>
            </a:r>
            <a:r>
              <a:rPr lang="en-IN" sz="1800" dirty="0" err="1" smtClean="0"/>
              <a:t>b</a:t>
            </a:r>
            <a:r>
              <a:rPr lang="en-IN" sz="1800" baseline="30000" dirty="0" err="1" smtClean="0"/>
              <a:t>j</a:t>
            </a:r>
            <a:r>
              <a:rPr lang="en-IN" sz="1800" dirty="0" smtClean="0"/>
              <a:t> c</a:t>
            </a:r>
            <a:r>
              <a:rPr lang="en-IN" sz="1800" baseline="30000" dirty="0" smtClean="0"/>
              <a:t>k</a:t>
            </a:r>
            <a:r>
              <a:rPr lang="en-IN" sz="1800" dirty="0" smtClean="0"/>
              <a:t>|  </a:t>
            </a:r>
            <a:r>
              <a:rPr lang="en-IN" sz="1800" dirty="0" err="1" smtClean="0"/>
              <a:t>i</a:t>
            </a:r>
            <a:r>
              <a:rPr lang="en-IN" sz="1800" dirty="0" smtClean="0"/>
              <a:t>=j where </a:t>
            </a:r>
            <a:r>
              <a:rPr lang="en-IN" sz="1800" dirty="0" err="1" smtClean="0"/>
              <a:t>i,j,k</a:t>
            </a:r>
            <a:r>
              <a:rPr lang="en-IN" sz="1800" dirty="0" smtClean="0"/>
              <a:t>&gt;=1}</a:t>
            </a:r>
          </a:p>
          <a:p>
            <a:r>
              <a:rPr lang="en-IN" sz="1800" dirty="0" smtClean="0"/>
              <a:t>Design pushdown automata for language {</a:t>
            </a:r>
            <a:r>
              <a:rPr lang="en-IN" sz="1800" dirty="0" err="1" smtClean="0"/>
              <a:t>a</a:t>
            </a:r>
            <a:r>
              <a:rPr lang="en-IN" sz="1800" baseline="30000" dirty="0" err="1" smtClean="0"/>
              <a:t>i</a:t>
            </a:r>
            <a:r>
              <a:rPr lang="en-IN" sz="1800" dirty="0" err="1" smtClean="0"/>
              <a:t>b</a:t>
            </a:r>
            <a:r>
              <a:rPr lang="en-IN" sz="1800" baseline="30000" dirty="0" err="1" smtClean="0"/>
              <a:t>j</a:t>
            </a:r>
            <a:r>
              <a:rPr lang="en-IN" sz="1800" dirty="0" smtClean="0"/>
              <a:t> c</a:t>
            </a:r>
            <a:r>
              <a:rPr lang="en-IN" sz="1800" baseline="30000" dirty="0" smtClean="0"/>
              <a:t>k</a:t>
            </a:r>
            <a:r>
              <a:rPr lang="en-IN" sz="1800" dirty="0" smtClean="0"/>
              <a:t>|  j=k where </a:t>
            </a:r>
            <a:r>
              <a:rPr lang="en-IN" sz="1800" dirty="0" err="1" smtClean="0"/>
              <a:t>i,j,k</a:t>
            </a:r>
            <a:r>
              <a:rPr lang="en-IN" sz="1800" dirty="0" smtClean="0"/>
              <a:t>&gt;=1}</a:t>
            </a:r>
          </a:p>
          <a:p>
            <a:r>
              <a:rPr lang="en-IN" sz="1800" dirty="0" smtClean="0"/>
              <a:t>Construct PDA for language L={w/</a:t>
            </a:r>
            <a:r>
              <a:rPr lang="en-IN" sz="1800" dirty="0" err="1" smtClean="0"/>
              <a:t>n</a:t>
            </a:r>
            <a:r>
              <a:rPr lang="en-IN" sz="1200" dirty="0" err="1" smtClean="0"/>
              <a:t>a</a:t>
            </a:r>
            <a:r>
              <a:rPr lang="en-IN" sz="1800" dirty="0" smtClean="0"/>
              <a:t>(w)=</a:t>
            </a:r>
            <a:r>
              <a:rPr lang="en-IN" sz="1800" dirty="0" err="1" smtClean="0"/>
              <a:t>n</a:t>
            </a:r>
            <a:r>
              <a:rPr lang="en-IN" sz="1100" dirty="0" err="1" smtClean="0"/>
              <a:t>b</a:t>
            </a:r>
            <a:r>
              <a:rPr lang="en-IN" sz="1800" dirty="0" smtClean="0"/>
              <a:t>(w) where w∈(</a:t>
            </a:r>
            <a:r>
              <a:rPr lang="en-IN" sz="1800" dirty="0" err="1" smtClean="0"/>
              <a:t>a+b</a:t>
            </a:r>
            <a:r>
              <a:rPr lang="en-IN" sz="1800" dirty="0" smtClean="0"/>
              <a:t>)*}</a:t>
            </a:r>
          </a:p>
          <a:p>
            <a:endParaRPr lang="en-IN" sz="18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Deterministic Pushdown Automaton (DPDA)</a:t>
            </a:r>
            <a:endParaRPr lang="en-IN" dirty="0"/>
          </a:p>
        </p:txBody>
      </p:sp>
      <p:sp>
        <p:nvSpPr>
          <p:cNvPr id="3" name="Content Placeholder 2"/>
          <p:cNvSpPr>
            <a:spLocks noGrp="1"/>
          </p:cNvSpPr>
          <p:nvPr>
            <p:ph idx="1"/>
          </p:nvPr>
        </p:nvSpPr>
        <p:spPr/>
        <p:txBody>
          <a:bodyPr>
            <a:normAutofit fontScale="70000" lnSpcReduction="20000"/>
          </a:bodyPr>
          <a:lstStyle/>
          <a:p>
            <a:r>
              <a:rPr lang="en-IN" dirty="0" smtClean="0"/>
              <a:t>A Deterministic Pushdown Automaton (DPDA) is a type of pushdown automaton (PDA) where, for any given state, input symbol, and stack symbol, there is at most one possible transition, unlike nondeterministic PDAs which can have multiple choices. </a:t>
            </a:r>
          </a:p>
          <a:p>
            <a:r>
              <a:rPr lang="en-IN" b="1" dirty="0" smtClean="0"/>
              <a:t>Formal Definition:</a:t>
            </a:r>
            <a:endParaRPr lang="en-IN" dirty="0" smtClean="0"/>
          </a:p>
          <a:p>
            <a:pPr fontAlgn="ctr"/>
            <a:r>
              <a:rPr lang="en-IN" dirty="0" smtClean="0"/>
              <a:t>A DPDA is formally defined as a </a:t>
            </a:r>
            <a:r>
              <a:rPr lang="en-IN" dirty="0" err="1" smtClean="0"/>
              <a:t>tuple</a:t>
            </a:r>
            <a:r>
              <a:rPr lang="en-IN" dirty="0" smtClean="0"/>
              <a:t> (Q, Σ, Γ, δ, q₀, Z₀, F), </a:t>
            </a:r>
            <a:r>
              <a:rPr lang="en-IN" dirty="0" err="1" smtClean="0"/>
              <a:t>where:Q</a:t>
            </a:r>
            <a:r>
              <a:rPr lang="en-IN" dirty="0" smtClean="0"/>
              <a:t> is a finite set of states. </a:t>
            </a:r>
          </a:p>
          <a:p>
            <a:pPr fontAlgn="ctr"/>
            <a:r>
              <a:rPr lang="en-IN" dirty="0" smtClean="0"/>
              <a:t>Σ is a finite set of input symbols. </a:t>
            </a:r>
          </a:p>
          <a:p>
            <a:pPr fontAlgn="ctr"/>
            <a:r>
              <a:rPr lang="en-IN" dirty="0" smtClean="0"/>
              <a:t>Γ is a finite set of stack symbols. </a:t>
            </a:r>
          </a:p>
          <a:p>
            <a:pPr fontAlgn="ctr"/>
            <a:r>
              <a:rPr lang="en-IN" dirty="0" smtClean="0"/>
              <a:t>δ is the transition function. </a:t>
            </a:r>
          </a:p>
          <a:p>
            <a:pPr fontAlgn="ctr"/>
            <a:r>
              <a:rPr lang="en-IN" dirty="0" smtClean="0"/>
              <a:t>q₀ is the initial state. </a:t>
            </a:r>
          </a:p>
          <a:p>
            <a:pPr fontAlgn="ctr"/>
            <a:r>
              <a:rPr lang="en-IN" dirty="0" smtClean="0"/>
              <a:t>Z₀ is the initial stack symbol. </a:t>
            </a:r>
          </a:p>
          <a:p>
            <a:r>
              <a:rPr lang="en-IN" dirty="0" smtClean="0"/>
              <a:t>F is a set of final states. </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457200" y="857232"/>
            <a:ext cx="8229600" cy="5715040"/>
          </a:xfrm>
        </p:spPr>
        <p:txBody>
          <a:bodyPr>
            <a:normAutofit fontScale="92500" lnSpcReduction="20000"/>
          </a:bodyPr>
          <a:lstStyle/>
          <a:p>
            <a:pPr>
              <a:buNone/>
            </a:pPr>
            <a:r>
              <a:rPr lang="en-IN" sz="1600" dirty="0" smtClean="0">
                <a:latin typeface="Times New Roman" pitchFamily="18" charset="0"/>
                <a:cs typeface="Times New Roman" pitchFamily="18" charset="0"/>
              </a:rPr>
              <a:t>Design </a:t>
            </a:r>
            <a:r>
              <a:rPr lang="pl-PL" sz="1600" dirty="0" smtClean="0">
                <a:latin typeface="Times New Roman" pitchFamily="18" charset="0"/>
                <a:cs typeface="Times New Roman" pitchFamily="18" charset="0"/>
              </a:rPr>
              <a:t>DPDA for </a:t>
            </a:r>
            <a:r>
              <a:rPr lang="en-IN" sz="1600" dirty="0" smtClean="0">
                <a:latin typeface="Times New Roman" pitchFamily="18" charset="0"/>
                <a:cs typeface="Times New Roman" pitchFamily="18" charset="0"/>
              </a:rPr>
              <a:t>L={</a:t>
            </a:r>
            <a:r>
              <a:rPr lang="pl-PL" sz="1600" dirty="0" smtClean="0">
                <a:latin typeface="Times New Roman" pitchFamily="18" charset="0"/>
                <a:cs typeface="Times New Roman" pitchFamily="18" charset="0"/>
              </a:rPr>
              <a:t>wcw</a:t>
            </a:r>
            <a:r>
              <a:rPr lang="pl-PL" sz="1600" baseline="30000" dirty="0" smtClean="0">
                <a:latin typeface="Times New Roman" pitchFamily="18" charset="0"/>
                <a:cs typeface="Times New Roman" pitchFamily="18" charset="0"/>
              </a:rPr>
              <a:t>R</a:t>
            </a:r>
            <a:r>
              <a:rPr lang="pl-PL" sz="1600" dirty="0" smtClean="0">
                <a:latin typeface="Times New Roman" pitchFamily="18" charset="0"/>
                <a:cs typeface="Times New Roman" pitchFamily="18" charset="0"/>
              </a:rPr>
              <a:t> </a:t>
            </a:r>
            <a:r>
              <a:rPr lang="en-IN" sz="1600" dirty="0" smtClean="0">
                <a:latin typeface="Times New Roman" pitchFamily="18" charset="0"/>
                <a:cs typeface="Times New Roman" pitchFamily="18" charset="0"/>
              </a:rPr>
              <a:t>| </a:t>
            </a:r>
            <a:r>
              <a:rPr lang="pl-PL" sz="1600" dirty="0" smtClean="0">
                <a:latin typeface="Times New Roman" pitchFamily="18" charset="0"/>
                <a:cs typeface="Times New Roman" pitchFamily="18" charset="0"/>
              </a:rPr>
              <a:t>w ε (a,b)</a:t>
            </a:r>
            <a:r>
              <a:rPr lang="pl-PL" sz="1600" baseline="30000" dirty="0" smtClean="0">
                <a:latin typeface="Times New Roman" pitchFamily="18" charset="0"/>
                <a:cs typeface="Times New Roman" pitchFamily="18" charset="0"/>
              </a:rPr>
              <a:t>*</a:t>
            </a:r>
            <a:r>
              <a:rPr lang="en-IN" sz="1600" baseline="30000" dirty="0" smtClean="0">
                <a:latin typeface="Times New Roman" pitchFamily="18" charset="0"/>
                <a:cs typeface="Times New Roman" pitchFamily="18" charset="0"/>
              </a:rPr>
              <a:t> </a:t>
            </a:r>
            <a:r>
              <a:rPr lang="en-IN" sz="1600" dirty="0" smtClean="0">
                <a:latin typeface="Times New Roman" pitchFamily="18" charset="0"/>
                <a:cs typeface="Times New Roman" pitchFamily="18" charset="0"/>
              </a:rPr>
              <a:t>}</a:t>
            </a:r>
          </a:p>
          <a:p>
            <a:pPr>
              <a:buNone/>
            </a:pPr>
            <a:r>
              <a:rPr lang="en-IN" sz="1600" dirty="0" smtClean="0">
                <a:latin typeface="Times New Roman" pitchFamily="18" charset="0"/>
                <a:cs typeface="Times New Roman" pitchFamily="18" charset="0"/>
              </a:rPr>
              <a:t>It is also called odd length palindrome</a:t>
            </a:r>
          </a:p>
          <a:p>
            <a:pPr>
              <a:buNone/>
            </a:pPr>
            <a:r>
              <a:rPr lang="en-IN" sz="1600" dirty="0" smtClean="0">
                <a:latin typeface="Times New Roman" pitchFamily="18" charset="0"/>
                <a:cs typeface="Times New Roman" pitchFamily="18" charset="0"/>
              </a:rPr>
              <a:t>Solution:</a:t>
            </a:r>
            <a:r>
              <a:rPr lang="en-IN" sz="1600" dirty="0">
                <a:latin typeface="Times New Roman" pitchFamily="18" charset="0"/>
                <a:cs typeface="Times New Roman" pitchFamily="18" charset="0"/>
              </a:rPr>
              <a:t> </a:t>
            </a:r>
            <a:r>
              <a:rPr lang="en-IN" sz="1600" dirty="0" smtClean="0">
                <a:latin typeface="Times New Roman" pitchFamily="18" charset="0"/>
                <a:cs typeface="Times New Roman" pitchFamily="18" charset="0"/>
              </a:rPr>
              <a:t>L={</a:t>
            </a:r>
            <a:r>
              <a:rPr lang="en-IN" sz="1600" dirty="0" err="1" smtClean="0">
                <a:latin typeface="Times New Roman" pitchFamily="18" charset="0"/>
                <a:cs typeface="Times New Roman" pitchFamily="18" charset="0"/>
              </a:rPr>
              <a:t>abcba,abbcbba</a:t>
            </a:r>
            <a:r>
              <a:rPr lang="en-IN" sz="1600" dirty="0" smtClean="0">
                <a:latin typeface="Times New Roman" pitchFamily="18" charset="0"/>
                <a:cs typeface="Times New Roman" pitchFamily="18" charset="0"/>
              </a:rPr>
              <a:t>,........}</a:t>
            </a:r>
          </a:p>
          <a:p>
            <a:r>
              <a:rPr lang="en-IN" sz="1600" dirty="0" smtClean="0">
                <a:latin typeface="Times New Roman" pitchFamily="18" charset="0"/>
                <a:cs typeface="Times New Roman" pitchFamily="18" charset="0"/>
              </a:rPr>
              <a:t>Some string will come followed by one 'c', followed by reverse of the string before 'c'.</a:t>
            </a:r>
          </a:p>
          <a:p>
            <a:r>
              <a:rPr lang="en-IN" sz="1600" dirty="0" smtClean="0">
                <a:latin typeface="Times New Roman" pitchFamily="18" charset="0"/>
                <a:cs typeface="Times New Roman" pitchFamily="18" charset="0"/>
              </a:rPr>
              <a:t>So we get to know that 'c' will work as an alarm to starting </a:t>
            </a:r>
            <a:r>
              <a:rPr lang="en-IN" sz="1600" dirty="0" err="1" smtClean="0">
                <a:latin typeface="Times New Roman" pitchFamily="18" charset="0"/>
                <a:cs typeface="Times New Roman" pitchFamily="18" charset="0"/>
              </a:rPr>
              <a:t>poping</a:t>
            </a:r>
            <a:r>
              <a:rPr lang="en-IN" sz="1600" dirty="0" smtClean="0">
                <a:latin typeface="Times New Roman" pitchFamily="18" charset="0"/>
                <a:cs typeface="Times New Roman" pitchFamily="18" charset="0"/>
              </a:rPr>
              <a:t> STACK.</a:t>
            </a:r>
          </a:p>
          <a:p>
            <a:r>
              <a:rPr lang="en-IN" sz="1600" dirty="0" smtClean="0">
                <a:latin typeface="Times New Roman" pitchFamily="18" charset="0"/>
                <a:cs typeface="Times New Roman" pitchFamily="18" charset="0"/>
              </a:rPr>
              <a:t>So we will pop every 'a' with 'a' and every 'b' with 'b'.</a:t>
            </a:r>
          </a:p>
          <a:p>
            <a:r>
              <a:rPr lang="en-IN" sz="1600" dirty="0" smtClean="0">
                <a:latin typeface="Times New Roman" pitchFamily="18" charset="0"/>
                <a:cs typeface="Times New Roman" pitchFamily="18" charset="0"/>
              </a:rPr>
              <a:t>For every two </a:t>
            </a:r>
            <a:r>
              <a:rPr lang="en-IN" sz="1600" dirty="0" err="1" smtClean="0">
                <a:latin typeface="Times New Roman" pitchFamily="18" charset="0"/>
                <a:cs typeface="Times New Roman" pitchFamily="18" charset="0"/>
              </a:rPr>
              <a:t>a's</a:t>
            </a:r>
            <a:r>
              <a:rPr lang="en-IN" sz="1600" dirty="0" smtClean="0">
                <a:latin typeface="Times New Roman" pitchFamily="18" charset="0"/>
                <a:cs typeface="Times New Roman" pitchFamily="18" charset="0"/>
              </a:rPr>
              <a:t> and </a:t>
            </a:r>
            <a:r>
              <a:rPr lang="en-IN" sz="1600" dirty="0" err="1" smtClean="0">
                <a:latin typeface="Times New Roman" pitchFamily="18" charset="0"/>
                <a:cs typeface="Times New Roman" pitchFamily="18" charset="0"/>
              </a:rPr>
              <a:t>b's</a:t>
            </a:r>
            <a:r>
              <a:rPr lang="en-IN" sz="1600" dirty="0" smtClean="0">
                <a:latin typeface="Times New Roman" pitchFamily="18" charset="0"/>
                <a:cs typeface="Times New Roman" pitchFamily="18" charset="0"/>
              </a:rPr>
              <a:t> push them into STACK</a:t>
            </a:r>
          </a:p>
          <a:p>
            <a:r>
              <a:rPr lang="en-IN" sz="1600" dirty="0" smtClean="0">
                <a:latin typeface="Times New Roman" pitchFamily="18" charset="0"/>
                <a:cs typeface="Times New Roman" pitchFamily="18" charset="0"/>
              </a:rPr>
              <a:t>When 'c' comes do nothing.</a:t>
            </a:r>
          </a:p>
          <a:p>
            <a:r>
              <a:rPr lang="en-IN" sz="1600" dirty="0" smtClean="0">
                <a:latin typeface="Times New Roman" pitchFamily="18" charset="0"/>
                <a:cs typeface="Times New Roman" pitchFamily="18" charset="0"/>
              </a:rPr>
              <a:t>If input symbol is ‘a’ stack’s top most symbol is ‘a’ then do the pop operation</a:t>
            </a:r>
          </a:p>
          <a:p>
            <a:r>
              <a:rPr lang="en-IN" sz="1600" dirty="0" smtClean="0">
                <a:latin typeface="Times New Roman" pitchFamily="18" charset="0"/>
                <a:cs typeface="Times New Roman" pitchFamily="18" charset="0"/>
              </a:rPr>
              <a:t>If input symbol is ‘b’ stack’s top most symbol is ‘b’ then do the pop operation</a:t>
            </a:r>
          </a:p>
          <a:p>
            <a:pPr>
              <a:buNone/>
            </a:pPr>
            <a:r>
              <a:rPr lang="en-IN" sz="1600" dirty="0" smtClean="0"/>
              <a:t>STACK </a:t>
            </a:r>
            <a:r>
              <a:rPr lang="en-IN" sz="1600" dirty="0" err="1" smtClean="0"/>
              <a:t>Transiton</a:t>
            </a:r>
            <a:r>
              <a:rPr lang="en-IN" sz="1600" dirty="0" smtClean="0"/>
              <a:t> Function δ :</a:t>
            </a:r>
          </a:p>
          <a:p>
            <a:r>
              <a:rPr lang="el-GR" sz="1600" dirty="0" smtClean="0"/>
              <a:t>δ(</a:t>
            </a:r>
            <a:r>
              <a:rPr lang="en-IN" sz="1600" dirty="0" smtClean="0"/>
              <a:t>q0, a, Z) = (q0, </a:t>
            </a:r>
            <a:r>
              <a:rPr lang="en-IN" sz="1600" dirty="0" err="1" smtClean="0"/>
              <a:t>aZ</a:t>
            </a:r>
            <a:r>
              <a:rPr lang="en-IN" sz="1600" dirty="0" smtClean="0"/>
              <a:t>) </a:t>
            </a:r>
          </a:p>
          <a:p>
            <a:r>
              <a:rPr lang="el-GR" sz="1600" dirty="0" smtClean="0"/>
              <a:t>δ(</a:t>
            </a:r>
            <a:r>
              <a:rPr lang="en-IN" sz="1600" dirty="0" smtClean="0"/>
              <a:t>q0, a, a) = (q0, </a:t>
            </a:r>
            <a:r>
              <a:rPr lang="en-IN" sz="1600" dirty="0" err="1" smtClean="0"/>
              <a:t>aa</a:t>
            </a:r>
            <a:r>
              <a:rPr lang="en-IN" sz="1600" dirty="0" smtClean="0"/>
              <a:t>) </a:t>
            </a:r>
          </a:p>
          <a:p>
            <a:r>
              <a:rPr lang="el-GR" sz="1600" dirty="0" smtClean="0"/>
              <a:t>δ(</a:t>
            </a:r>
            <a:r>
              <a:rPr lang="en-IN" sz="1600" dirty="0" smtClean="0"/>
              <a:t>q0, b, Z) = (q0, </a:t>
            </a:r>
            <a:r>
              <a:rPr lang="en-IN" sz="1600" dirty="0" err="1" smtClean="0"/>
              <a:t>bZ</a:t>
            </a:r>
            <a:r>
              <a:rPr lang="en-IN" sz="1600" dirty="0" smtClean="0"/>
              <a:t>)</a:t>
            </a:r>
          </a:p>
          <a:p>
            <a:r>
              <a:rPr lang="en-IN" sz="1600" dirty="0" smtClean="0"/>
              <a:t> </a:t>
            </a:r>
            <a:r>
              <a:rPr lang="el-GR" sz="1600" dirty="0" smtClean="0"/>
              <a:t>δ(</a:t>
            </a:r>
            <a:r>
              <a:rPr lang="en-IN" sz="1600" dirty="0" smtClean="0"/>
              <a:t>q0, b, b) = (q0, bb)</a:t>
            </a:r>
          </a:p>
          <a:p>
            <a:r>
              <a:rPr lang="en-IN" sz="1600" dirty="0" smtClean="0"/>
              <a:t> </a:t>
            </a:r>
            <a:r>
              <a:rPr lang="el-GR" sz="1600" dirty="0" smtClean="0"/>
              <a:t>δ(</a:t>
            </a:r>
            <a:r>
              <a:rPr lang="en-IN" sz="1600" dirty="0" smtClean="0"/>
              <a:t>q0, a, b) = (q0, </a:t>
            </a:r>
            <a:r>
              <a:rPr lang="en-IN" sz="1600" dirty="0" err="1" smtClean="0"/>
              <a:t>ab</a:t>
            </a:r>
            <a:r>
              <a:rPr lang="en-IN" sz="1600" dirty="0" smtClean="0"/>
              <a:t>) </a:t>
            </a:r>
          </a:p>
          <a:p>
            <a:r>
              <a:rPr lang="el-GR" sz="1600" dirty="0" smtClean="0"/>
              <a:t>δ(</a:t>
            </a:r>
            <a:r>
              <a:rPr lang="en-IN" sz="1600" dirty="0" smtClean="0"/>
              <a:t>q0, b, a) = (q0, </a:t>
            </a:r>
            <a:r>
              <a:rPr lang="en-IN" sz="1600" dirty="0" err="1" smtClean="0"/>
              <a:t>ba</a:t>
            </a:r>
            <a:r>
              <a:rPr lang="en-IN" sz="1600" dirty="0" smtClean="0"/>
              <a:t>) </a:t>
            </a:r>
          </a:p>
          <a:p>
            <a:r>
              <a:rPr lang="en-IN" sz="1600" dirty="0" smtClean="0"/>
              <a:t>// this is decision step </a:t>
            </a:r>
          </a:p>
          <a:p>
            <a:r>
              <a:rPr lang="el-GR" sz="1600" dirty="0" smtClean="0"/>
              <a:t>δ(</a:t>
            </a:r>
            <a:r>
              <a:rPr lang="en-IN" sz="1600" dirty="0" smtClean="0"/>
              <a:t>q0, c, a) = (q1, a) </a:t>
            </a:r>
          </a:p>
          <a:p>
            <a:r>
              <a:rPr lang="el-GR" sz="1600" dirty="0" smtClean="0"/>
              <a:t>δ(</a:t>
            </a:r>
            <a:r>
              <a:rPr lang="en-IN" sz="1600" dirty="0" smtClean="0"/>
              <a:t>q0, c, b) = (q1, b) </a:t>
            </a:r>
          </a:p>
          <a:p>
            <a:r>
              <a:rPr lang="el-GR" sz="1600" dirty="0" smtClean="0"/>
              <a:t>δ(</a:t>
            </a:r>
            <a:r>
              <a:rPr lang="en-IN" sz="1600" dirty="0" smtClean="0"/>
              <a:t>q1, b, b) = (q1, </a:t>
            </a:r>
            <a:r>
              <a:rPr lang="el-GR" sz="1600" dirty="0" smtClean="0"/>
              <a:t>ε) </a:t>
            </a:r>
            <a:endParaRPr lang="en-IN" sz="1600" dirty="0" smtClean="0"/>
          </a:p>
          <a:p>
            <a:r>
              <a:rPr lang="el-GR" sz="1600" dirty="0" smtClean="0"/>
              <a:t>δ(</a:t>
            </a:r>
            <a:r>
              <a:rPr lang="en-IN" sz="1600" dirty="0" smtClean="0"/>
              <a:t>q1, a, a) = (q1, </a:t>
            </a:r>
            <a:r>
              <a:rPr lang="el-GR" sz="1600" dirty="0" smtClean="0"/>
              <a:t>ε) </a:t>
            </a:r>
            <a:endParaRPr lang="en-IN" sz="1600" dirty="0" smtClean="0"/>
          </a:p>
          <a:p>
            <a:r>
              <a:rPr lang="el-GR" sz="1600" dirty="0" smtClean="0"/>
              <a:t>δ(</a:t>
            </a:r>
            <a:r>
              <a:rPr lang="en-IN" sz="1600" dirty="0" smtClean="0"/>
              <a:t>q1, </a:t>
            </a:r>
            <a:r>
              <a:rPr lang="el-GR" sz="1600" dirty="0" smtClean="0"/>
              <a:t>ε, </a:t>
            </a:r>
            <a:r>
              <a:rPr lang="en-IN" sz="1600" dirty="0" smtClean="0"/>
              <a:t>Z) = (</a:t>
            </a:r>
            <a:r>
              <a:rPr lang="en-IN" sz="1600" dirty="0" err="1" smtClean="0"/>
              <a:t>qf</a:t>
            </a:r>
            <a:r>
              <a:rPr lang="en-IN" sz="1600" dirty="0" smtClean="0"/>
              <a:t>, Z) </a:t>
            </a:r>
          </a:p>
          <a:p>
            <a:r>
              <a:rPr lang="en-IN" sz="1600" dirty="0" smtClean="0">
                <a:latin typeface="Times New Roman" pitchFamily="18" charset="0"/>
                <a:cs typeface="Times New Roman" pitchFamily="18" charset="0"/>
              </a:rPr>
              <a:t>Q={q0,q1,qf}, </a:t>
            </a:r>
            <a:r>
              <a:rPr lang="en-IN" sz="1600" dirty="0" smtClean="0"/>
              <a:t> ∑={</a:t>
            </a:r>
            <a:r>
              <a:rPr lang="en-IN" sz="1600" dirty="0" err="1" smtClean="0"/>
              <a:t>a,b,c</a:t>
            </a:r>
            <a:r>
              <a:rPr lang="en-IN" sz="1600" dirty="0" smtClean="0"/>
              <a:t>},</a:t>
            </a:r>
            <a:r>
              <a:rPr lang="en-US" sz="1600" dirty="0" smtClean="0"/>
              <a:t> Γ={</a:t>
            </a:r>
            <a:r>
              <a:rPr lang="en-US" sz="1600" dirty="0" err="1" smtClean="0"/>
              <a:t>a,b,Z</a:t>
            </a:r>
            <a:r>
              <a:rPr lang="en-US" sz="1600" dirty="0" smtClean="0"/>
              <a:t>} </a:t>
            </a:r>
            <a:r>
              <a:rPr lang="en-IN" sz="1600" dirty="0" smtClean="0"/>
              <a:t>, q</a:t>
            </a:r>
            <a:r>
              <a:rPr lang="en-IN" sz="1600" baseline="-25000" dirty="0" smtClean="0"/>
              <a:t>0</a:t>
            </a:r>
            <a:r>
              <a:rPr lang="en-IN" sz="1600" dirty="0" smtClean="0"/>
              <a:t> ={q0}, Z0={Z},F={</a:t>
            </a:r>
            <a:r>
              <a:rPr lang="en-IN" sz="1600" dirty="0" err="1" smtClean="0"/>
              <a:t>qf</a:t>
            </a:r>
            <a:r>
              <a:rPr lang="en-IN" sz="1600" dirty="0" smtClean="0"/>
              <a:t>}</a:t>
            </a:r>
            <a:endParaRPr lang="en-IN" sz="1600" dirty="0" smtClean="0">
              <a:latin typeface="Times New Roman" pitchFamily="18" charset="0"/>
              <a:cs typeface="Times New Roman" pitchFamily="18" charset="0"/>
            </a:endParaRPr>
          </a:p>
        </p:txBody>
      </p:sp>
      <p:pic>
        <p:nvPicPr>
          <p:cNvPr id="1026" name="Picture 2" descr="C:\Users\Raju\Desktop\Capture.PNG"/>
          <p:cNvPicPr>
            <a:picLocks noChangeAspect="1" noChangeArrowheads="1"/>
          </p:cNvPicPr>
          <p:nvPr/>
        </p:nvPicPr>
        <p:blipFill>
          <a:blip r:embed="rId2"/>
          <a:srcRect/>
          <a:stretch>
            <a:fillRect/>
          </a:stretch>
        </p:blipFill>
        <p:spPr bwMode="auto">
          <a:xfrm>
            <a:off x="3857620" y="3357562"/>
            <a:ext cx="4010025" cy="197167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smtClean="0"/>
              <a:t>Previous example explanation</a:t>
            </a:r>
            <a:endParaRPr lang="en-IN" dirty="0"/>
          </a:p>
        </p:txBody>
      </p:sp>
      <p:sp>
        <p:nvSpPr>
          <p:cNvPr id="3" name="Content Placeholder 2"/>
          <p:cNvSpPr>
            <a:spLocks noGrp="1"/>
          </p:cNvSpPr>
          <p:nvPr>
            <p:ph idx="1"/>
          </p:nvPr>
        </p:nvSpPr>
        <p:spPr>
          <a:xfrm>
            <a:off x="457200" y="928670"/>
            <a:ext cx="8229600" cy="5197493"/>
          </a:xfrm>
        </p:spPr>
        <p:txBody>
          <a:bodyPr>
            <a:normAutofit fontScale="92500" lnSpcReduction="20000"/>
          </a:bodyPr>
          <a:lstStyle/>
          <a:p>
            <a:r>
              <a:rPr lang="en-IN" sz="1600" dirty="0" smtClean="0">
                <a:latin typeface="Times New Roman" pitchFamily="18" charset="0"/>
                <a:cs typeface="Times New Roman" pitchFamily="18" charset="0"/>
              </a:rPr>
              <a:t>Lets see, how this DPDA is working:</a:t>
            </a:r>
            <a:br>
              <a:rPr lang="en-IN" sz="1600" dirty="0" smtClean="0">
                <a:latin typeface="Times New Roman" pitchFamily="18" charset="0"/>
                <a:cs typeface="Times New Roman" pitchFamily="18" charset="0"/>
              </a:rPr>
            </a:br>
            <a:r>
              <a:rPr lang="en-IN" sz="1600" dirty="0" smtClean="0">
                <a:latin typeface="Times New Roman" pitchFamily="18" charset="0"/>
                <a:cs typeface="Times New Roman" pitchFamily="18" charset="0"/>
              </a:rPr>
              <a:t>We will take one input string: </a:t>
            </a:r>
            <a:r>
              <a:rPr lang="en-IN" sz="1600" b="1" dirty="0" smtClean="0">
                <a:latin typeface="Times New Roman" pitchFamily="18" charset="0"/>
                <a:cs typeface="Times New Roman" pitchFamily="18" charset="0"/>
              </a:rPr>
              <a:t>"</a:t>
            </a:r>
            <a:r>
              <a:rPr lang="en-IN" sz="1600" b="1" dirty="0" err="1" smtClean="0">
                <a:latin typeface="Times New Roman" pitchFamily="18" charset="0"/>
                <a:cs typeface="Times New Roman" pitchFamily="18" charset="0"/>
              </a:rPr>
              <a:t>abbcbba</a:t>
            </a:r>
            <a:r>
              <a:rPr lang="en-IN" sz="1600" b="1" dirty="0" smtClean="0">
                <a:latin typeface="Times New Roman" pitchFamily="18" charset="0"/>
                <a:cs typeface="Times New Roman" pitchFamily="18" charset="0"/>
              </a:rPr>
              <a:t>“</a:t>
            </a:r>
          </a:p>
          <a:p>
            <a:r>
              <a:rPr lang="en-IN" sz="1600" dirty="0" smtClean="0">
                <a:latin typeface="Times New Roman" pitchFamily="18" charset="0"/>
                <a:cs typeface="Times New Roman" pitchFamily="18" charset="0"/>
              </a:rPr>
              <a:t>Scan string from left to right</a:t>
            </a:r>
          </a:p>
          <a:p>
            <a:r>
              <a:rPr lang="en-IN" sz="1600" dirty="0" smtClean="0">
                <a:latin typeface="Times New Roman" pitchFamily="18" charset="0"/>
                <a:cs typeface="Times New Roman" pitchFamily="18" charset="0"/>
              </a:rPr>
              <a:t>First input is 'a' and follow the rule:</a:t>
            </a:r>
          </a:p>
          <a:p>
            <a:r>
              <a:rPr lang="en-IN" sz="1600" dirty="0" smtClean="0">
                <a:latin typeface="Times New Roman" pitchFamily="18" charset="0"/>
                <a:cs typeface="Times New Roman" pitchFamily="18" charset="0"/>
              </a:rPr>
              <a:t>on input 'a' and STACK alphabet Z, push the two '</a:t>
            </a:r>
            <a:r>
              <a:rPr lang="en-IN" sz="1600" dirty="0" err="1" smtClean="0">
                <a:latin typeface="Times New Roman" pitchFamily="18" charset="0"/>
                <a:cs typeface="Times New Roman" pitchFamily="18" charset="0"/>
              </a:rPr>
              <a:t>a's</a:t>
            </a:r>
            <a:r>
              <a:rPr lang="en-IN" sz="1600" dirty="0" smtClean="0">
                <a:latin typeface="Times New Roman" pitchFamily="18" charset="0"/>
                <a:cs typeface="Times New Roman" pitchFamily="18" charset="0"/>
              </a:rPr>
              <a:t> into STACK as : (</a:t>
            </a:r>
            <a:r>
              <a:rPr lang="en-IN" sz="1600" dirty="0" err="1" smtClean="0">
                <a:latin typeface="Times New Roman" pitchFamily="18" charset="0"/>
                <a:cs typeface="Times New Roman" pitchFamily="18" charset="0"/>
              </a:rPr>
              <a:t>a,Z</a:t>
            </a:r>
            <a:r>
              <a:rPr lang="en-IN" sz="1600" dirty="0" smtClean="0">
                <a:latin typeface="Times New Roman" pitchFamily="18" charset="0"/>
                <a:cs typeface="Times New Roman" pitchFamily="18" charset="0"/>
              </a:rPr>
              <a:t>/</a:t>
            </a:r>
            <a:r>
              <a:rPr lang="en-IN" sz="1600" dirty="0" err="1" smtClean="0">
                <a:latin typeface="Times New Roman" pitchFamily="18" charset="0"/>
                <a:cs typeface="Times New Roman" pitchFamily="18" charset="0"/>
              </a:rPr>
              <a:t>aZ</a:t>
            </a:r>
            <a:r>
              <a:rPr lang="en-IN" sz="1600" dirty="0" smtClean="0">
                <a:latin typeface="Times New Roman" pitchFamily="18" charset="0"/>
                <a:cs typeface="Times New Roman" pitchFamily="18" charset="0"/>
              </a:rPr>
              <a:t>) and state will be q0</a:t>
            </a:r>
          </a:p>
          <a:p>
            <a:r>
              <a:rPr lang="en-IN" sz="1600" dirty="0" smtClean="0">
                <a:latin typeface="Times New Roman" pitchFamily="18" charset="0"/>
                <a:cs typeface="Times New Roman" pitchFamily="18" charset="0"/>
              </a:rPr>
              <a:t>Second input is 'b' and so follow the rule:</a:t>
            </a:r>
          </a:p>
          <a:p>
            <a:r>
              <a:rPr lang="en-IN" sz="1600" dirty="0" smtClean="0">
                <a:latin typeface="Times New Roman" pitchFamily="18" charset="0"/>
                <a:cs typeface="Times New Roman" pitchFamily="18" charset="0"/>
              </a:rPr>
              <a:t>on input 'b' and STACK alphabet 'a', push the 'b' into STACK as : (</a:t>
            </a:r>
            <a:r>
              <a:rPr lang="en-IN" sz="1600" dirty="0" err="1" smtClean="0">
                <a:latin typeface="Times New Roman" pitchFamily="18" charset="0"/>
                <a:cs typeface="Times New Roman" pitchFamily="18" charset="0"/>
              </a:rPr>
              <a:t>b,a</a:t>
            </a:r>
            <a:r>
              <a:rPr lang="en-IN" sz="1600" dirty="0" smtClean="0">
                <a:latin typeface="Times New Roman" pitchFamily="18" charset="0"/>
                <a:cs typeface="Times New Roman" pitchFamily="18" charset="0"/>
              </a:rPr>
              <a:t>/</a:t>
            </a:r>
            <a:r>
              <a:rPr lang="en-IN" sz="1600" dirty="0" err="1" smtClean="0">
                <a:latin typeface="Times New Roman" pitchFamily="18" charset="0"/>
                <a:cs typeface="Times New Roman" pitchFamily="18" charset="0"/>
              </a:rPr>
              <a:t>ba</a:t>
            </a:r>
            <a:r>
              <a:rPr lang="en-IN" sz="1600" dirty="0" smtClean="0">
                <a:latin typeface="Times New Roman" pitchFamily="18" charset="0"/>
                <a:cs typeface="Times New Roman" pitchFamily="18" charset="0"/>
              </a:rPr>
              <a:t>) and state will be q0</a:t>
            </a:r>
          </a:p>
          <a:p>
            <a:r>
              <a:rPr lang="en-IN" sz="1600" dirty="0" smtClean="0">
                <a:latin typeface="Times New Roman" pitchFamily="18" charset="0"/>
                <a:cs typeface="Times New Roman" pitchFamily="18" charset="0"/>
              </a:rPr>
              <a:t>Third input is 'b' and so follow the rule:</a:t>
            </a:r>
          </a:p>
          <a:p>
            <a:r>
              <a:rPr lang="en-IN" sz="1600" dirty="0" smtClean="0">
                <a:latin typeface="Times New Roman" pitchFamily="18" charset="0"/>
                <a:cs typeface="Times New Roman" pitchFamily="18" charset="0"/>
              </a:rPr>
              <a:t>on input 'b' and STACK alphabet 'b', push the 'b' into STACK as : (</a:t>
            </a:r>
            <a:r>
              <a:rPr lang="en-IN" sz="1600" dirty="0" err="1" smtClean="0">
                <a:latin typeface="Times New Roman" pitchFamily="18" charset="0"/>
                <a:cs typeface="Times New Roman" pitchFamily="18" charset="0"/>
              </a:rPr>
              <a:t>b,b</a:t>
            </a:r>
            <a:r>
              <a:rPr lang="en-IN" sz="1600" dirty="0" smtClean="0">
                <a:latin typeface="Times New Roman" pitchFamily="18" charset="0"/>
                <a:cs typeface="Times New Roman" pitchFamily="18" charset="0"/>
              </a:rPr>
              <a:t>/bb) and state will be q0</a:t>
            </a:r>
          </a:p>
          <a:p>
            <a:r>
              <a:rPr lang="en-IN" sz="1600" dirty="0" smtClean="0">
                <a:latin typeface="Times New Roman" pitchFamily="18" charset="0"/>
                <a:cs typeface="Times New Roman" pitchFamily="18" charset="0"/>
              </a:rPr>
              <a:t>Fourth input is 'c' and so follow the rule:</a:t>
            </a:r>
          </a:p>
          <a:p>
            <a:r>
              <a:rPr lang="en-IN" sz="1600" dirty="0" smtClean="0">
                <a:latin typeface="Times New Roman" pitchFamily="18" charset="0"/>
                <a:cs typeface="Times New Roman" pitchFamily="18" charset="0"/>
              </a:rPr>
              <a:t>on input 'c' and STACK alphabet 'a' or 'b' and state q0, do nothing as : (</a:t>
            </a:r>
            <a:r>
              <a:rPr lang="en-IN" sz="1600" dirty="0" err="1" smtClean="0">
                <a:latin typeface="Times New Roman" pitchFamily="18" charset="0"/>
                <a:cs typeface="Times New Roman" pitchFamily="18" charset="0"/>
              </a:rPr>
              <a:t>c,b</a:t>
            </a:r>
            <a:r>
              <a:rPr lang="en-IN" sz="1600" dirty="0" smtClean="0">
                <a:latin typeface="Times New Roman" pitchFamily="18" charset="0"/>
                <a:cs typeface="Times New Roman" pitchFamily="18" charset="0"/>
              </a:rPr>
              <a:t>/b) and state will be q1 </a:t>
            </a:r>
          </a:p>
          <a:p>
            <a:r>
              <a:rPr lang="en-IN" sz="1600" dirty="0" smtClean="0">
                <a:latin typeface="Times New Roman" pitchFamily="18" charset="0"/>
                <a:cs typeface="Times New Roman" pitchFamily="18" charset="0"/>
              </a:rPr>
              <a:t>Fifth input is 'b' and so follow the rule:</a:t>
            </a:r>
          </a:p>
          <a:p>
            <a:r>
              <a:rPr lang="en-IN" sz="1600" dirty="0" smtClean="0">
                <a:latin typeface="Times New Roman" pitchFamily="18" charset="0"/>
                <a:cs typeface="Times New Roman" pitchFamily="18" charset="0"/>
              </a:rPr>
              <a:t>on input 'b' and STACK alphabet 'b' (state is q1), pop one 'b' from STACK as : (</a:t>
            </a:r>
            <a:r>
              <a:rPr lang="en-IN" sz="1600" dirty="0" err="1" smtClean="0">
                <a:latin typeface="Times New Roman" pitchFamily="18" charset="0"/>
                <a:cs typeface="Times New Roman" pitchFamily="18" charset="0"/>
              </a:rPr>
              <a:t>b,b</a:t>
            </a:r>
            <a:r>
              <a:rPr lang="en-IN" sz="1600" dirty="0" smtClean="0">
                <a:latin typeface="Times New Roman" pitchFamily="18" charset="0"/>
                <a:cs typeface="Times New Roman" pitchFamily="18" charset="0"/>
              </a:rPr>
              <a:t>/ε) and state will be q1</a:t>
            </a:r>
          </a:p>
          <a:p>
            <a:r>
              <a:rPr lang="en-IN" sz="1600" dirty="0" smtClean="0">
                <a:latin typeface="Times New Roman" pitchFamily="18" charset="0"/>
                <a:cs typeface="Times New Roman" pitchFamily="18" charset="0"/>
              </a:rPr>
              <a:t>Sixth input is 'b' and so follow the rule:</a:t>
            </a:r>
          </a:p>
          <a:p>
            <a:r>
              <a:rPr lang="en-IN" sz="1600" dirty="0" smtClean="0">
                <a:latin typeface="Times New Roman" pitchFamily="18" charset="0"/>
                <a:cs typeface="Times New Roman" pitchFamily="18" charset="0"/>
              </a:rPr>
              <a:t>on input 'b' and STACK alphabet 'b' (state is q1), pop one 'b' from STACK as : (</a:t>
            </a:r>
            <a:r>
              <a:rPr lang="en-IN" sz="1600" dirty="0" err="1" smtClean="0">
                <a:latin typeface="Times New Roman" pitchFamily="18" charset="0"/>
                <a:cs typeface="Times New Roman" pitchFamily="18" charset="0"/>
              </a:rPr>
              <a:t>b,b</a:t>
            </a:r>
            <a:r>
              <a:rPr lang="en-IN" sz="1600" dirty="0" smtClean="0">
                <a:latin typeface="Times New Roman" pitchFamily="18" charset="0"/>
                <a:cs typeface="Times New Roman" pitchFamily="18" charset="0"/>
              </a:rPr>
              <a:t>/ε) and state will be q1</a:t>
            </a:r>
          </a:p>
          <a:p>
            <a:r>
              <a:rPr lang="en-IN" sz="1600" dirty="0" smtClean="0">
                <a:latin typeface="Times New Roman" pitchFamily="18" charset="0"/>
                <a:cs typeface="Times New Roman" pitchFamily="18" charset="0"/>
              </a:rPr>
              <a:t>Seventh input is 'a' and so follow the rule:</a:t>
            </a:r>
          </a:p>
          <a:p>
            <a:r>
              <a:rPr lang="en-IN" sz="1600" dirty="0" smtClean="0">
                <a:latin typeface="Times New Roman" pitchFamily="18" charset="0"/>
                <a:cs typeface="Times New Roman" pitchFamily="18" charset="0"/>
              </a:rPr>
              <a:t>on input 'a' and STACK alphabet 'a' and state q1, pop one 'a' from STACK as : (</a:t>
            </a:r>
            <a:r>
              <a:rPr lang="en-IN" sz="1600" dirty="0" err="1" smtClean="0">
                <a:latin typeface="Times New Roman" pitchFamily="18" charset="0"/>
                <a:cs typeface="Times New Roman" pitchFamily="18" charset="0"/>
              </a:rPr>
              <a:t>a,a</a:t>
            </a:r>
            <a:r>
              <a:rPr lang="en-IN" sz="1600" dirty="0" smtClean="0">
                <a:latin typeface="Times New Roman" pitchFamily="18" charset="0"/>
                <a:cs typeface="Times New Roman" pitchFamily="18" charset="0"/>
              </a:rPr>
              <a:t>/ε) and state will remain q1</a:t>
            </a:r>
          </a:p>
          <a:p>
            <a:r>
              <a:rPr lang="en-IN" sz="1600" dirty="0" smtClean="0">
                <a:latin typeface="Times New Roman" pitchFamily="18" charset="0"/>
                <a:cs typeface="Times New Roman" pitchFamily="18" charset="0"/>
              </a:rPr>
              <a:t>We reached end of the string, so follow the rule:</a:t>
            </a:r>
          </a:p>
          <a:p>
            <a:r>
              <a:rPr lang="en-IN" sz="1600" dirty="0" smtClean="0">
                <a:latin typeface="Times New Roman" pitchFamily="18" charset="0"/>
                <a:cs typeface="Times New Roman" pitchFamily="18" charset="0"/>
              </a:rPr>
              <a:t>on input ε and STACK alphabet Z, go to final state(</a:t>
            </a:r>
            <a:r>
              <a:rPr lang="en-IN" sz="1600" dirty="0" err="1" smtClean="0">
                <a:latin typeface="Times New Roman" pitchFamily="18" charset="0"/>
                <a:cs typeface="Times New Roman" pitchFamily="18" charset="0"/>
              </a:rPr>
              <a:t>qf</a:t>
            </a:r>
            <a:r>
              <a:rPr lang="en-IN" sz="1600" dirty="0" smtClean="0">
                <a:latin typeface="Times New Roman" pitchFamily="18" charset="0"/>
                <a:cs typeface="Times New Roman" pitchFamily="18" charset="0"/>
              </a:rPr>
              <a:t>) as : (ε, Z/Z)</a:t>
            </a:r>
            <a:endParaRPr lang="en-IN" sz="16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Non Deterministic Pushdown Automaton (NPDA)</a:t>
            </a:r>
            <a:endParaRPr lang="en-IN" dirty="0"/>
          </a:p>
        </p:txBody>
      </p:sp>
      <p:sp>
        <p:nvSpPr>
          <p:cNvPr id="3" name="Content Placeholder 2"/>
          <p:cNvSpPr>
            <a:spLocks noGrp="1"/>
          </p:cNvSpPr>
          <p:nvPr>
            <p:ph idx="1"/>
          </p:nvPr>
        </p:nvSpPr>
        <p:spPr/>
        <p:txBody>
          <a:bodyPr>
            <a:normAutofit/>
          </a:bodyPr>
          <a:lstStyle/>
          <a:p>
            <a:r>
              <a:rPr lang="en-IN" sz="1600" dirty="0" smtClean="0"/>
              <a:t>In a non-deterministic pushdown automata (NPDA), this machine has the freedom to explore all possible paths.</a:t>
            </a:r>
          </a:p>
          <a:p>
            <a:r>
              <a:rPr lang="en-IN" sz="1600" dirty="0" smtClean="0"/>
              <a:t> It can simultaneously follow multiple paths based on the input and the stack's content.</a:t>
            </a:r>
          </a:p>
          <a:p>
            <a:r>
              <a:rPr lang="en-IN" sz="1600" dirty="0" smtClean="0"/>
              <a:t>This means that the machine can accept a string if even one of its possible paths leads to an accepting state.</a:t>
            </a:r>
          </a:p>
          <a:p>
            <a:pPr>
              <a:buNone/>
            </a:pPr>
            <a:r>
              <a:rPr lang="en-IN" sz="1600" dirty="0" smtClean="0"/>
              <a:t>Defining a Non-Deterministic Pushdown Automata (NPDA):-</a:t>
            </a:r>
          </a:p>
          <a:p>
            <a:pPr>
              <a:buNone/>
            </a:pPr>
            <a:r>
              <a:rPr lang="en-IN" sz="1600" dirty="0" smtClean="0"/>
              <a:t>A NPDA can be formally described as a 7-tuple (Q, ∑,</a:t>
            </a:r>
            <a:r>
              <a:rPr lang="en-US" sz="1600" dirty="0" smtClean="0"/>
              <a:t> Γ,</a:t>
            </a:r>
            <a:r>
              <a:rPr lang="en-IN" sz="1600" dirty="0" smtClean="0"/>
              <a:t>δ, q</a:t>
            </a:r>
            <a:r>
              <a:rPr lang="en-IN" sz="1600" baseline="-25000" dirty="0" smtClean="0"/>
              <a:t>0</a:t>
            </a:r>
            <a:r>
              <a:rPr lang="en-IN" sz="1600" dirty="0" smtClean="0"/>
              <a:t>, Z0,F) −</a:t>
            </a:r>
          </a:p>
          <a:p>
            <a:pPr lvl="0" fontAlgn="base"/>
            <a:r>
              <a:rPr lang="en-US" sz="1600" b="1" dirty="0" smtClean="0"/>
              <a:t>Q </a:t>
            </a:r>
            <a:r>
              <a:rPr lang="en-US" sz="1600" dirty="0" smtClean="0"/>
              <a:t>is the finite number of states</a:t>
            </a:r>
            <a:endParaRPr lang="en-IN" sz="1600" dirty="0" smtClean="0"/>
          </a:p>
          <a:p>
            <a:pPr lvl="0" fontAlgn="base"/>
            <a:r>
              <a:rPr lang="en-US" sz="1600" b="1" dirty="0" smtClean="0"/>
              <a:t>∑ </a:t>
            </a:r>
            <a:r>
              <a:rPr lang="en-US" sz="1600" dirty="0" smtClean="0"/>
              <a:t>is input alphabet</a:t>
            </a:r>
            <a:endParaRPr lang="en-IN" sz="1600" dirty="0" smtClean="0"/>
          </a:p>
          <a:p>
            <a:pPr lvl="0" fontAlgn="base"/>
            <a:r>
              <a:rPr lang="en-US" sz="1600" b="1" dirty="0" smtClean="0"/>
              <a:t>Γ  </a:t>
            </a:r>
            <a:r>
              <a:rPr lang="en-US" sz="1600" dirty="0" smtClean="0"/>
              <a:t>is stack symbols</a:t>
            </a:r>
            <a:endParaRPr lang="en-IN" sz="1600" dirty="0" smtClean="0"/>
          </a:p>
          <a:p>
            <a:pPr lvl="0" fontAlgn="base"/>
            <a:r>
              <a:rPr lang="en-US" sz="1600" b="1" dirty="0" smtClean="0"/>
              <a:t>δ </a:t>
            </a:r>
            <a:r>
              <a:rPr lang="en-US" sz="1600" dirty="0" smtClean="0"/>
              <a:t>is the transition function: Q × (∑ ∪ {ε}) × Γ</a:t>
            </a:r>
            <a:r>
              <a:rPr lang="en-US" sz="1600" dirty="0" smtClean="0">
                <a:sym typeface="Wingdings"/>
              </a:rPr>
              <a:t></a:t>
            </a:r>
            <a:r>
              <a:rPr lang="en-US" sz="1600" dirty="0" smtClean="0"/>
              <a:t> 2</a:t>
            </a:r>
            <a:r>
              <a:rPr lang="en-US" sz="1600" baseline="30000" dirty="0" smtClean="0"/>
              <a:t>(Q × Γ*)</a:t>
            </a:r>
            <a:endParaRPr lang="en-IN" sz="1600" baseline="30000" dirty="0" smtClean="0"/>
          </a:p>
          <a:p>
            <a:r>
              <a:rPr lang="en-IN" sz="1600" b="1" dirty="0" smtClean="0"/>
              <a:t>q0</a:t>
            </a:r>
            <a:r>
              <a:rPr lang="en-IN" sz="1600" dirty="0" smtClean="0"/>
              <a:t> − The initial state</a:t>
            </a:r>
          </a:p>
          <a:p>
            <a:r>
              <a:rPr lang="en-IN" sz="1600" b="1" dirty="0" smtClean="0"/>
              <a:t>Z0</a:t>
            </a:r>
            <a:r>
              <a:rPr lang="en-IN" sz="1600" dirty="0" smtClean="0"/>
              <a:t> − The initial stack symbol</a:t>
            </a:r>
          </a:p>
          <a:p>
            <a:r>
              <a:rPr lang="en-IN" sz="1600" b="1" dirty="0" smtClean="0"/>
              <a:t>F</a:t>
            </a:r>
            <a:r>
              <a:rPr lang="en-IN" sz="1600" dirty="0" smtClean="0"/>
              <a:t> − A set of final states</a:t>
            </a:r>
          </a:p>
          <a:p>
            <a:endParaRPr lang="en-IN" sz="1600"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normAutofit fontScale="92500"/>
          </a:bodyPr>
          <a:lstStyle/>
          <a:p>
            <a:r>
              <a:rPr lang="en-IN" sz="1600" dirty="0" smtClean="0">
                <a:latin typeface="Times New Roman" pitchFamily="18" charset="0"/>
                <a:cs typeface="Times New Roman" pitchFamily="18" charset="0"/>
              </a:rPr>
              <a:t>Design </a:t>
            </a:r>
            <a:r>
              <a:rPr lang="pl-PL" sz="1600" dirty="0" smtClean="0">
                <a:latin typeface="Times New Roman" pitchFamily="18" charset="0"/>
                <a:cs typeface="Times New Roman" pitchFamily="18" charset="0"/>
              </a:rPr>
              <a:t>NPDA for </a:t>
            </a:r>
            <a:r>
              <a:rPr lang="en-IN" sz="1600" dirty="0" smtClean="0">
                <a:latin typeface="Times New Roman" pitchFamily="18" charset="0"/>
                <a:cs typeface="Times New Roman" pitchFamily="18" charset="0"/>
              </a:rPr>
              <a:t>language L={</a:t>
            </a:r>
            <a:r>
              <a:rPr lang="pl-PL" sz="1600" dirty="0" smtClean="0">
                <a:latin typeface="Times New Roman" pitchFamily="18" charset="0"/>
                <a:cs typeface="Times New Roman" pitchFamily="18" charset="0"/>
              </a:rPr>
              <a:t>ww</a:t>
            </a:r>
            <a:r>
              <a:rPr lang="pl-PL" sz="1600" baseline="30000" dirty="0" smtClean="0">
                <a:latin typeface="Times New Roman" pitchFamily="18" charset="0"/>
                <a:cs typeface="Times New Roman" pitchFamily="18" charset="0"/>
              </a:rPr>
              <a:t>R</a:t>
            </a:r>
            <a:r>
              <a:rPr lang="pl-PL" sz="1600" dirty="0" smtClean="0">
                <a:latin typeface="Times New Roman" pitchFamily="18" charset="0"/>
                <a:cs typeface="Times New Roman" pitchFamily="18" charset="0"/>
              </a:rPr>
              <a:t> </a:t>
            </a:r>
            <a:r>
              <a:rPr lang="en-IN" sz="1600" dirty="0" smtClean="0">
                <a:latin typeface="Times New Roman" pitchFamily="18" charset="0"/>
                <a:cs typeface="Times New Roman" pitchFamily="18" charset="0"/>
              </a:rPr>
              <a:t>| </a:t>
            </a:r>
            <a:r>
              <a:rPr lang="pl-PL" sz="1600" dirty="0" smtClean="0">
                <a:latin typeface="Times New Roman" pitchFamily="18" charset="0"/>
                <a:cs typeface="Times New Roman" pitchFamily="18" charset="0"/>
              </a:rPr>
              <a:t>w ε (a,b)</a:t>
            </a:r>
            <a:r>
              <a:rPr lang="pl-PL" sz="1600" baseline="30000" dirty="0" smtClean="0">
                <a:latin typeface="Times New Roman" pitchFamily="18" charset="0"/>
                <a:cs typeface="Times New Roman" pitchFamily="18" charset="0"/>
              </a:rPr>
              <a:t>*</a:t>
            </a:r>
            <a:r>
              <a:rPr lang="en-IN" sz="1600" baseline="30000" dirty="0" smtClean="0">
                <a:latin typeface="Times New Roman" pitchFamily="18" charset="0"/>
                <a:cs typeface="Times New Roman" pitchFamily="18" charset="0"/>
              </a:rPr>
              <a:t> </a:t>
            </a:r>
            <a:r>
              <a:rPr lang="en-IN" sz="1600" dirty="0" smtClean="0">
                <a:latin typeface="Times New Roman" pitchFamily="18" charset="0"/>
                <a:cs typeface="Times New Roman" pitchFamily="18" charset="0"/>
              </a:rPr>
              <a:t> }</a:t>
            </a:r>
          </a:p>
          <a:p>
            <a:r>
              <a:rPr lang="en-IN" sz="1600" dirty="0" smtClean="0">
                <a:latin typeface="Times New Roman" pitchFamily="18" charset="0"/>
                <a:cs typeface="Times New Roman" pitchFamily="18" charset="0"/>
              </a:rPr>
              <a:t>It is also called even length palindrome</a:t>
            </a:r>
          </a:p>
          <a:p>
            <a:r>
              <a:rPr lang="en-IN" sz="1600" dirty="0" smtClean="0">
                <a:latin typeface="Times New Roman" pitchFamily="18" charset="0"/>
                <a:cs typeface="Times New Roman" pitchFamily="18" charset="0"/>
              </a:rPr>
              <a:t>Solution:</a:t>
            </a:r>
          </a:p>
          <a:p>
            <a:r>
              <a:rPr lang="en-IN" sz="1600" dirty="0" smtClean="0">
                <a:latin typeface="Times New Roman" pitchFamily="18" charset="0"/>
                <a:cs typeface="Times New Roman" pitchFamily="18" charset="0"/>
              </a:rPr>
              <a:t>If the input symbol is ‘a’ and stack top most symbol is empty we can push ‘a’ on stack. Like wise</a:t>
            </a:r>
          </a:p>
          <a:p>
            <a:r>
              <a:rPr lang="en-IN" sz="1600" dirty="0" smtClean="0">
                <a:latin typeface="Times New Roman" pitchFamily="18" charset="0"/>
                <a:cs typeface="Times New Roman" pitchFamily="18" charset="0"/>
              </a:rPr>
              <a:t>If the input symbol is ‘b’ and stack top most symbol is empty we can push ‘b’ on stack.</a:t>
            </a:r>
          </a:p>
          <a:p>
            <a:r>
              <a:rPr lang="en-IN" sz="1600" dirty="0" smtClean="0">
                <a:latin typeface="Times New Roman" pitchFamily="18" charset="0"/>
                <a:cs typeface="Times New Roman" pitchFamily="18" charset="0"/>
              </a:rPr>
              <a:t>If the input symbol is ‘a’ and stack top most symbol is ‘b’ we can say that it is not the middle of the string then simply we need to push ‘a’ on stack.</a:t>
            </a:r>
          </a:p>
          <a:p>
            <a:r>
              <a:rPr lang="en-IN" sz="1600" dirty="0" smtClean="0">
                <a:latin typeface="Times New Roman" pitchFamily="18" charset="0"/>
                <a:cs typeface="Times New Roman" pitchFamily="18" charset="0"/>
              </a:rPr>
              <a:t>If the input symbol is ‘b’ and stack top most symbol is ‘a’ we can say that it is not the middle of the string then simply we need to push ‘b’ on stack.</a:t>
            </a:r>
          </a:p>
          <a:p>
            <a:r>
              <a:rPr lang="en-IN" sz="1600" dirty="0" smtClean="0">
                <a:latin typeface="Times New Roman" pitchFamily="18" charset="0"/>
                <a:cs typeface="Times New Roman" pitchFamily="18" charset="0"/>
              </a:rPr>
              <a:t>If the input symbol is ‘a’ there is a two possibility that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 the centre has come ii) centre not come  </a:t>
            </a:r>
          </a:p>
          <a:p>
            <a:r>
              <a:rPr lang="en-IN" sz="1600" dirty="0" smtClean="0">
                <a:latin typeface="Times New Roman" pitchFamily="18" charset="0"/>
                <a:cs typeface="Times New Roman" pitchFamily="18" charset="0"/>
              </a:rPr>
              <a:t> Let the input is ‘a’ and the stack top most symbol is ‘a’. Let assume centre is not come there is no problem with this just we need to push ‘a’ on to the stack.</a:t>
            </a:r>
          </a:p>
          <a:p>
            <a:r>
              <a:rPr lang="en-IN" sz="1600" dirty="0" smtClean="0">
                <a:latin typeface="Times New Roman" pitchFamily="18" charset="0"/>
                <a:cs typeface="Times New Roman" pitchFamily="18" charset="0"/>
              </a:rPr>
              <a:t> Let the input is ‘a’ and the stack top most symbol is ‘a’. Then we perform pop operation and change the state.</a:t>
            </a:r>
          </a:p>
          <a:p>
            <a:r>
              <a:rPr lang="en-IN" sz="1600" dirty="0" smtClean="0">
                <a:latin typeface="Times New Roman" pitchFamily="18" charset="0"/>
                <a:cs typeface="Times New Roman" pitchFamily="18" charset="0"/>
              </a:rPr>
              <a:t>If the input symbol is ‘b’ and stack top most symbol is ‘b’ let assume centre not come just simply we need to push ‘b’ on to the stack.</a:t>
            </a:r>
          </a:p>
          <a:p>
            <a:r>
              <a:rPr lang="en-IN" sz="1600" dirty="0" smtClean="0">
                <a:latin typeface="Times New Roman" pitchFamily="18" charset="0"/>
                <a:cs typeface="Times New Roman" pitchFamily="18" charset="0"/>
              </a:rPr>
              <a:t>Let the input is ‘b’ and the stack top most symbol is ‘b’. Then we perform pop operation.</a:t>
            </a:r>
            <a:endParaRPr lang="en-IN" sz="16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fontScale="85000" lnSpcReduction="20000"/>
          </a:bodyPr>
          <a:lstStyle/>
          <a:p>
            <a:r>
              <a:rPr lang="en-IN" dirty="0" smtClean="0"/>
              <a:t>Transition Function</a:t>
            </a:r>
          </a:p>
          <a:p>
            <a:r>
              <a:rPr lang="el-GR" dirty="0" smtClean="0"/>
              <a:t>δ(</a:t>
            </a:r>
            <a:r>
              <a:rPr lang="en-IN" dirty="0" smtClean="0"/>
              <a:t>q0, a, Z) = (q0, </a:t>
            </a:r>
            <a:r>
              <a:rPr lang="en-IN" dirty="0" err="1" smtClean="0"/>
              <a:t>aZ</a:t>
            </a:r>
            <a:r>
              <a:rPr lang="en-IN" dirty="0" smtClean="0"/>
              <a:t>) </a:t>
            </a:r>
          </a:p>
          <a:p>
            <a:r>
              <a:rPr lang="el-GR" dirty="0" smtClean="0"/>
              <a:t>δ(</a:t>
            </a:r>
            <a:r>
              <a:rPr lang="en-IN" dirty="0" smtClean="0"/>
              <a:t>q0, a, a) = (q0, </a:t>
            </a:r>
            <a:r>
              <a:rPr lang="en-IN" dirty="0" err="1" smtClean="0"/>
              <a:t>aa</a:t>
            </a:r>
            <a:r>
              <a:rPr lang="en-IN" dirty="0" smtClean="0"/>
              <a:t>) </a:t>
            </a:r>
          </a:p>
          <a:p>
            <a:r>
              <a:rPr lang="el-GR" dirty="0" smtClean="0"/>
              <a:t>δ(</a:t>
            </a:r>
            <a:r>
              <a:rPr lang="en-IN" dirty="0" smtClean="0"/>
              <a:t>q0, b, Z) = (q0, </a:t>
            </a:r>
            <a:r>
              <a:rPr lang="en-IN" dirty="0" err="1" smtClean="0"/>
              <a:t>bZ</a:t>
            </a:r>
            <a:r>
              <a:rPr lang="en-IN" dirty="0" smtClean="0"/>
              <a:t>)</a:t>
            </a:r>
          </a:p>
          <a:p>
            <a:r>
              <a:rPr lang="en-IN" dirty="0" smtClean="0"/>
              <a:t> </a:t>
            </a:r>
            <a:r>
              <a:rPr lang="el-GR" dirty="0" smtClean="0"/>
              <a:t>δ(</a:t>
            </a:r>
            <a:r>
              <a:rPr lang="en-IN" dirty="0" smtClean="0"/>
              <a:t>q0, b, b) = (q0, bb) </a:t>
            </a:r>
          </a:p>
          <a:p>
            <a:r>
              <a:rPr lang="el-GR" dirty="0" smtClean="0"/>
              <a:t>δ(</a:t>
            </a:r>
            <a:r>
              <a:rPr lang="en-IN" dirty="0" smtClean="0"/>
              <a:t>q0, a, b) = (q0, </a:t>
            </a:r>
            <a:r>
              <a:rPr lang="en-IN" dirty="0" err="1" smtClean="0"/>
              <a:t>ab</a:t>
            </a:r>
            <a:r>
              <a:rPr lang="en-IN" dirty="0" smtClean="0"/>
              <a:t>) </a:t>
            </a:r>
          </a:p>
          <a:p>
            <a:r>
              <a:rPr lang="el-GR" dirty="0" smtClean="0"/>
              <a:t>δ(</a:t>
            </a:r>
            <a:r>
              <a:rPr lang="en-IN" dirty="0" smtClean="0"/>
              <a:t>q0, b, a) = (q0, </a:t>
            </a:r>
            <a:r>
              <a:rPr lang="en-IN" dirty="0" err="1" smtClean="0"/>
              <a:t>ba</a:t>
            </a:r>
            <a:r>
              <a:rPr lang="en-IN" dirty="0" smtClean="0"/>
              <a:t>)</a:t>
            </a:r>
          </a:p>
          <a:p>
            <a:r>
              <a:rPr lang="en-IN" dirty="0" smtClean="0"/>
              <a:t> // this is decision step </a:t>
            </a:r>
          </a:p>
          <a:p>
            <a:r>
              <a:rPr lang="el-GR" dirty="0" smtClean="0"/>
              <a:t>δ(</a:t>
            </a:r>
            <a:r>
              <a:rPr lang="en-IN" dirty="0" smtClean="0"/>
              <a:t>q0, a, a) = (q1, </a:t>
            </a:r>
            <a:r>
              <a:rPr lang="el-GR" dirty="0" smtClean="0"/>
              <a:t>ε) </a:t>
            </a:r>
            <a:endParaRPr lang="en-IN" dirty="0" smtClean="0"/>
          </a:p>
          <a:p>
            <a:r>
              <a:rPr lang="el-GR" dirty="0" smtClean="0"/>
              <a:t>δ(</a:t>
            </a:r>
            <a:r>
              <a:rPr lang="en-IN" dirty="0" smtClean="0"/>
              <a:t>q0, b, b) = (q1, </a:t>
            </a:r>
            <a:r>
              <a:rPr lang="el-GR" dirty="0" smtClean="0"/>
              <a:t>ε) </a:t>
            </a:r>
            <a:endParaRPr lang="en-IN" dirty="0" smtClean="0"/>
          </a:p>
          <a:p>
            <a:r>
              <a:rPr lang="el-GR" dirty="0" smtClean="0"/>
              <a:t>δ(</a:t>
            </a:r>
            <a:r>
              <a:rPr lang="en-IN" dirty="0" smtClean="0"/>
              <a:t>q1, b, b) = (q1, </a:t>
            </a:r>
            <a:r>
              <a:rPr lang="el-GR" dirty="0" smtClean="0"/>
              <a:t>ε) </a:t>
            </a:r>
            <a:endParaRPr lang="en-IN" dirty="0" smtClean="0"/>
          </a:p>
          <a:p>
            <a:r>
              <a:rPr lang="el-GR" dirty="0" smtClean="0"/>
              <a:t>δ(</a:t>
            </a:r>
            <a:r>
              <a:rPr lang="en-IN" dirty="0" smtClean="0"/>
              <a:t>q1, a, a) = (q1, </a:t>
            </a:r>
            <a:r>
              <a:rPr lang="el-GR" dirty="0" smtClean="0"/>
              <a:t>ε)</a:t>
            </a:r>
            <a:endParaRPr lang="en-IN" dirty="0" smtClean="0"/>
          </a:p>
          <a:p>
            <a:r>
              <a:rPr lang="el-GR" dirty="0" smtClean="0"/>
              <a:t> δ(</a:t>
            </a:r>
            <a:r>
              <a:rPr lang="en-IN" dirty="0" smtClean="0"/>
              <a:t>q1, </a:t>
            </a:r>
            <a:r>
              <a:rPr lang="el-GR" dirty="0" smtClean="0"/>
              <a:t>ε, </a:t>
            </a:r>
            <a:r>
              <a:rPr lang="en-IN" dirty="0" smtClean="0"/>
              <a:t>Z) = (</a:t>
            </a:r>
            <a:r>
              <a:rPr lang="en-IN" dirty="0" err="1" smtClean="0"/>
              <a:t>qf</a:t>
            </a:r>
            <a:r>
              <a:rPr lang="en-IN" dirty="0" smtClean="0"/>
              <a:t>, Z)</a:t>
            </a:r>
            <a:endParaRPr lang="en-IN" dirty="0"/>
          </a:p>
        </p:txBody>
      </p:sp>
      <p:pic>
        <p:nvPicPr>
          <p:cNvPr id="2050" name="Picture 2" descr="C:\Users\Raju\Desktop\Capture.PNG"/>
          <p:cNvPicPr>
            <a:picLocks noChangeAspect="1" noChangeArrowheads="1"/>
          </p:cNvPicPr>
          <p:nvPr/>
        </p:nvPicPr>
        <p:blipFill>
          <a:blip r:embed="rId2"/>
          <a:srcRect/>
          <a:stretch>
            <a:fillRect/>
          </a:stretch>
        </p:blipFill>
        <p:spPr bwMode="auto">
          <a:xfrm>
            <a:off x="4572000" y="2214554"/>
            <a:ext cx="4200525" cy="2066925"/>
          </a:xfrm>
          <a:prstGeom prst="rect">
            <a:avLst/>
          </a:prstGeom>
          <a:noFill/>
        </p:spPr>
      </p:pic>
      <p:sp>
        <p:nvSpPr>
          <p:cNvPr id="5" name="Rectangle 4"/>
          <p:cNvSpPr/>
          <p:nvPr/>
        </p:nvSpPr>
        <p:spPr>
          <a:xfrm>
            <a:off x="3786182" y="4429132"/>
            <a:ext cx="4572000" cy="646331"/>
          </a:xfrm>
          <a:prstGeom prst="rect">
            <a:avLst/>
          </a:prstGeom>
        </p:spPr>
        <p:txBody>
          <a:bodyPr>
            <a:spAutoFit/>
          </a:bodyPr>
          <a:lstStyle/>
          <a:p>
            <a:r>
              <a:rPr lang="en-IN" dirty="0" smtClean="0">
                <a:latin typeface="Times New Roman" pitchFamily="18" charset="0"/>
                <a:cs typeface="Times New Roman" pitchFamily="18" charset="0"/>
              </a:rPr>
              <a:t>Q={q0,q1,qf}, </a:t>
            </a:r>
            <a:r>
              <a:rPr lang="en-IN" dirty="0" smtClean="0"/>
              <a:t> ∑={</a:t>
            </a:r>
            <a:r>
              <a:rPr lang="en-IN" dirty="0" err="1" smtClean="0"/>
              <a:t>a,b</a:t>
            </a:r>
            <a:r>
              <a:rPr lang="en-IN" dirty="0" smtClean="0"/>
              <a:t>,},</a:t>
            </a:r>
            <a:r>
              <a:rPr lang="en-US" dirty="0" smtClean="0"/>
              <a:t> Γ={</a:t>
            </a:r>
            <a:r>
              <a:rPr lang="en-US" dirty="0" err="1" smtClean="0"/>
              <a:t>a,b,Z</a:t>
            </a:r>
            <a:r>
              <a:rPr lang="en-US" dirty="0" smtClean="0"/>
              <a:t>} </a:t>
            </a:r>
            <a:r>
              <a:rPr lang="en-IN" dirty="0" smtClean="0"/>
              <a:t>, q</a:t>
            </a:r>
            <a:r>
              <a:rPr lang="en-IN" baseline="-25000" dirty="0" smtClean="0"/>
              <a:t>0</a:t>
            </a:r>
            <a:r>
              <a:rPr lang="en-IN" dirty="0" smtClean="0"/>
              <a:t> ={q0}, Z0={Z},F={</a:t>
            </a:r>
            <a:r>
              <a:rPr lang="en-IN" dirty="0" err="1" smtClean="0"/>
              <a:t>qf</a:t>
            </a:r>
            <a:r>
              <a:rPr lang="en-IN" dirty="0" smtClean="0"/>
              <a:t>}</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r>
              <a:rPr lang="en-IN" sz="1600" dirty="0" smtClean="0"/>
              <a:t>Lets see, how this DPDA is working:</a:t>
            </a:r>
            <a:br>
              <a:rPr lang="en-IN" sz="1600" dirty="0" smtClean="0"/>
            </a:br>
            <a:r>
              <a:rPr lang="en-IN" sz="1600" dirty="0" smtClean="0"/>
              <a:t>We will take one input string: </a:t>
            </a:r>
            <a:r>
              <a:rPr lang="en-IN" sz="1600" b="1" dirty="0" smtClean="0"/>
              <a:t>"</a:t>
            </a:r>
            <a:r>
              <a:rPr lang="en-IN" sz="1600" b="1" dirty="0" err="1" smtClean="0"/>
              <a:t>abbbba</a:t>
            </a:r>
            <a:r>
              <a:rPr lang="en-IN" sz="1600" b="1" dirty="0" smtClean="0"/>
              <a:t>“</a:t>
            </a:r>
          </a:p>
          <a:p>
            <a:r>
              <a:rPr lang="en-IN" sz="1600" dirty="0" smtClean="0"/>
              <a:t>Scan string from left to right</a:t>
            </a:r>
          </a:p>
          <a:p>
            <a:r>
              <a:rPr lang="en-IN" sz="1600" dirty="0" smtClean="0"/>
              <a:t>First input is 'a' and follow the </a:t>
            </a:r>
            <a:r>
              <a:rPr lang="en-IN" sz="1600" dirty="0" err="1" smtClean="0"/>
              <a:t>rule:on</a:t>
            </a:r>
            <a:r>
              <a:rPr lang="en-IN" sz="1600" dirty="0" smtClean="0"/>
              <a:t> input 'a' and STACK alphabet Z, push the two '</a:t>
            </a:r>
            <a:r>
              <a:rPr lang="en-IN" sz="1600" dirty="0" err="1" smtClean="0"/>
              <a:t>a's</a:t>
            </a:r>
            <a:r>
              <a:rPr lang="en-IN" sz="1600" dirty="0" smtClean="0"/>
              <a:t> into STACK as : (</a:t>
            </a:r>
            <a:r>
              <a:rPr lang="en-IN" sz="1600" dirty="0" err="1" smtClean="0"/>
              <a:t>a,Z</a:t>
            </a:r>
            <a:r>
              <a:rPr lang="en-IN" sz="1600" dirty="0" smtClean="0"/>
              <a:t>/</a:t>
            </a:r>
            <a:r>
              <a:rPr lang="en-IN" sz="1600" dirty="0" err="1" smtClean="0"/>
              <a:t>aZ</a:t>
            </a:r>
            <a:r>
              <a:rPr lang="en-IN" sz="1600" dirty="0" smtClean="0"/>
              <a:t>) and state will be q0</a:t>
            </a:r>
          </a:p>
          <a:p>
            <a:r>
              <a:rPr lang="en-IN" sz="1600" dirty="0" smtClean="0"/>
              <a:t>Second input is 'b' and so follow the </a:t>
            </a:r>
            <a:r>
              <a:rPr lang="en-IN" sz="1600" dirty="0" err="1" smtClean="0"/>
              <a:t>rule:on</a:t>
            </a:r>
            <a:r>
              <a:rPr lang="en-IN" sz="1600" dirty="0" smtClean="0"/>
              <a:t> input 'b' and STACK alphabet 'a', push the 'b' into STACK as : (</a:t>
            </a:r>
            <a:r>
              <a:rPr lang="en-IN" sz="1600" dirty="0" err="1" smtClean="0"/>
              <a:t>b,a</a:t>
            </a:r>
            <a:r>
              <a:rPr lang="en-IN" sz="1600" dirty="0" smtClean="0"/>
              <a:t>/</a:t>
            </a:r>
            <a:r>
              <a:rPr lang="en-IN" sz="1600" dirty="0" err="1" smtClean="0"/>
              <a:t>ba</a:t>
            </a:r>
            <a:r>
              <a:rPr lang="en-IN" sz="1600" dirty="0" smtClean="0"/>
              <a:t>) and state will be q0</a:t>
            </a:r>
          </a:p>
          <a:p>
            <a:r>
              <a:rPr lang="en-IN" sz="1600" dirty="0" smtClean="0"/>
              <a:t>Third input is 'b' and so follow the rule: on input 'b' and STACK alphabet 'b', push the 'b' into STACK as : (</a:t>
            </a:r>
            <a:r>
              <a:rPr lang="en-IN" sz="1600" dirty="0" err="1" smtClean="0"/>
              <a:t>b,b</a:t>
            </a:r>
            <a:r>
              <a:rPr lang="en-IN" sz="1600" dirty="0" smtClean="0"/>
              <a:t>/bb) and state will be q0</a:t>
            </a:r>
          </a:p>
          <a:p>
            <a:r>
              <a:rPr lang="en-IN" sz="1600" b="1" i="1" dirty="0" smtClean="0"/>
              <a:t>Here we will assume that one </a:t>
            </a:r>
            <a:r>
              <a:rPr lang="en-IN" sz="1600" b="1" i="1" dirty="0" err="1" smtClean="0"/>
              <a:t>delimeter</a:t>
            </a:r>
            <a:r>
              <a:rPr lang="en-IN" sz="1600" b="1" i="1" dirty="0" smtClean="0"/>
              <a:t> comes either that could be 'a' or 'b‘</a:t>
            </a:r>
          </a:p>
          <a:p>
            <a:r>
              <a:rPr lang="en-IN" sz="1600" dirty="0" smtClean="0"/>
              <a:t>Forth input is 'b' and so follow the rule: on input 'b' and STACK alphabet 'b' (state is q1), pop one 'b' from STACK as : (</a:t>
            </a:r>
            <a:r>
              <a:rPr lang="en-IN" sz="1600" dirty="0" err="1" smtClean="0"/>
              <a:t>b,b</a:t>
            </a:r>
            <a:r>
              <a:rPr lang="en-IN" sz="1600" dirty="0" smtClean="0"/>
              <a:t>/ε) and state will be q1</a:t>
            </a:r>
          </a:p>
          <a:p>
            <a:r>
              <a:rPr lang="en-IN" sz="1600" dirty="0" smtClean="0"/>
              <a:t>Fifth input is 'b' and so follow the </a:t>
            </a:r>
            <a:r>
              <a:rPr lang="en-IN" sz="1600" dirty="0" err="1" smtClean="0"/>
              <a:t>rule:on</a:t>
            </a:r>
            <a:r>
              <a:rPr lang="en-IN" sz="1600" dirty="0" smtClean="0"/>
              <a:t> input 'b' and STACK alphabet 'b' (state is q1), pop one 'b' from STACK as : (</a:t>
            </a:r>
            <a:r>
              <a:rPr lang="en-IN" sz="1600" dirty="0" err="1" smtClean="0"/>
              <a:t>b,b</a:t>
            </a:r>
            <a:r>
              <a:rPr lang="en-IN" sz="1600" dirty="0" smtClean="0"/>
              <a:t>/ε) and state will be q1</a:t>
            </a:r>
          </a:p>
          <a:p>
            <a:r>
              <a:rPr lang="en-IN" sz="1600" dirty="0" smtClean="0"/>
              <a:t>Sixth input is 'a' and so follow the </a:t>
            </a:r>
            <a:r>
              <a:rPr lang="en-IN" sz="1600" dirty="0" err="1" smtClean="0"/>
              <a:t>rule:on</a:t>
            </a:r>
            <a:r>
              <a:rPr lang="en-IN" sz="1600" dirty="0" smtClean="0"/>
              <a:t> input 'a' and STACK alphabet 'a' and state q1, pop one 'a' from STACK as : (</a:t>
            </a:r>
            <a:r>
              <a:rPr lang="en-IN" sz="1600" dirty="0" err="1" smtClean="0"/>
              <a:t>a,a</a:t>
            </a:r>
            <a:r>
              <a:rPr lang="en-IN" sz="1600" dirty="0" smtClean="0"/>
              <a:t>/ε) and state will remain q1</a:t>
            </a:r>
          </a:p>
          <a:p>
            <a:r>
              <a:rPr lang="en-IN" sz="1600" dirty="0" smtClean="0"/>
              <a:t>We reached end of the string, so follow the </a:t>
            </a:r>
            <a:r>
              <a:rPr lang="en-IN" sz="1600" dirty="0" err="1" smtClean="0"/>
              <a:t>rule:on</a:t>
            </a:r>
            <a:r>
              <a:rPr lang="en-IN" sz="1600" dirty="0" smtClean="0"/>
              <a:t> input ε and STACK alphabet Z, go to final state(</a:t>
            </a:r>
            <a:r>
              <a:rPr lang="en-IN" sz="1600" dirty="0" err="1" smtClean="0"/>
              <a:t>qf</a:t>
            </a:r>
            <a:r>
              <a:rPr lang="en-IN" sz="1600" dirty="0" smtClean="0"/>
              <a:t>) as : (ε, Z/Z)</a:t>
            </a:r>
            <a:endParaRPr lang="en-IN"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214282" y="428602"/>
          <a:ext cx="8929718" cy="6226198"/>
        </p:xfrm>
        <a:graphic>
          <a:graphicData uri="http://schemas.openxmlformats.org/drawingml/2006/table">
            <a:tbl>
              <a:tblPr firstRow="1" bandRow="1">
                <a:tableStyleId>{5C22544A-7EE6-4342-B048-85BDC9FD1C3A}</a:tableStyleId>
              </a:tblPr>
              <a:tblGrid>
                <a:gridCol w="4464859"/>
                <a:gridCol w="4464859"/>
              </a:tblGrid>
              <a:tr h="691800">
                <a:tc>
                  <a:txBody>
                    <a:bodyPr/>
                    <a:lstStyle/>
                    <a:p>
                      <a:r>
                        <a:rPr lang="en-IN" sz="1800" b="1" i="0" kern="1200" dirty="0" smtClean="0">
                          <a:solidFill>
                            <a:schemeClr val="lt1"/>
                          </a:solidFill>
                          <a:latin typeface="+mn-lt"/>
                          <a:ea typeface="+mn-ea"/>
                          <a:cs typeface="+mn-cs"/>
                        </a:rPr>
                        <a:t>DPDA(Deterministic Pushdown Automata)</a:t>
                      </a:r>
                      <a:endParaRPr lang="en-IN" dirty="0"/>
                    </a:p>
                  </a:txBody>
                  <a:tcPr/>
                </a:tc>
                <a:tc>
                  <a:txBody>
                    <a:bodyPr/>
                    <a:lstStyle/>
                    <a:p>
                      <a:r>
                        <a:rPr lang="en-IN" sz="1800" b="1" i="0" kern="1200" dirty="0" smtClean="0">
                          <a:solidFill>
                            <a:schemeClr val="lt1"/>
                          </a:solidFill>
                          <a:latin typeface="+mn-lt"/>
                          <a:ea typeface="+mn-ea"/>
                          <a:cs typeface="+mn-cs"/>
                        </a:rPr>
                        <a:t>NPDA(Non-deterministic Pushdown Automata)</a:t>
                      </a:r>
                      <a:endParaRPr lang="en-IN" dirty="0"/>
                    </a:p>
                  </a:txBody>
                  <a:tcPr/>
                </a:tc>
              </a:tr>
              <a:tr h="1877742">
                <a:tc>
                  <a:txBody>
                    <a:bodyPr/>
                    <a:lstStyle/>
                    <a:p>
                      <a:pPr rtl="0" fontAlgn="base"/>
                      <a:r>
                        <a:rPr lang="en-IN" sz="1800" b="0" i="0" kern="1200" dirty="0" smtClean="0">
                          <a:solidFill>
                            <a:schemeClr val="dk1"/>
                          </a:solidFill>
                          <a:latin typeface="+mn-lt"/>
                          <a:ea typeface="+mn-ea"/>
                          <a:cs typeface="+mn-cs"/>
                        </a:rPr>
                        <a:t>It is less powerful than NPDA.</a:t>
                      </a:r>
                    </a:p>
                    <a:p>
                      <a:pPr rtl="0" fontAlgn="base"/>
                      <a:r>
                        <a:rPr lang="en-IN" sz="1800" b="0" i="0" u="sng" kern="1200" dirty="0" smtClean="0">
                          <a:solidFill>
                            <a:schemeClr val="dk1"/>
                          </a:solidFill>
                          <a:latin typeface="+mn-lt"/>
                          <a:ea typeface="+mn-ea"/>
                          <a:cs typeface="+mn-cs"/>
                        </a:rPr>
                        <a:t>Example:</a:t>
                      </a:r>
                      <a:endParaRPr lang="en-IN" sz="1800" b="0" i="0" kern="1200" dirty="0" smtClean="0">
                        <a:solidFill>
                          <a:schemeClr val="dk1"/>
                        </a:solidFill>
                        <a:latin typeface="+mn-lt"/>
                        <a:ea typeface="+mn-ea"/>
                        <a:cs typeface="+mn-cs"/>
                      </a:endParaRPr>
                    </a:p>
                    <a:p>
                      <a:pPr rtl="0" fontAlgn="base"/>
                      <a:r>
                        <a:rPr lang="en-IN" sz="1800" b="0" i="0" kern="1200" dirty="0" smtClean="0">
                          <a:solidFill>
                            <a:schemeClr val="dk1"/>
                          </a:solidFill>
                          <a:latin typeface="+mn-lt"/>
                          <a:ea typeface="+mn-ea"/>
                          <a:cs typeface="+mn-cs"/>
                        </a:rPr>
                        <a:t>We can only construct DPDA for odd-length palindromes and not for even length palindromes.</a:t>
                      </a:r>
                    </a:p>
                    <a:p>
                      <a:endParaRPr lang="en-IN" dirty="0"/>
                    </a:p>
                  </a:txBody>
                  <a:tcPr/>
                </a:tc>
                <a:tc>
                  <a:txBody>
                    <a:bodyPr/>
                    <a:lstStyle/>
                    <a:p>
                      <a:pPr rtl="0" fontAlgn="base"/>
                      <a:r>
                        <a:rPr lang="en-IN" sz="1800" b="0" i="0" kern="1200" dirty="0" smtClean="0">
                          <a:solidFill>
                            <a:schemeClr val="dk1"/>
                          </a:solidFill>
                          <a:latin typeface="+mn-lt"/>
                          <a:ea typeface="+mn-ea"/>
                          <a:cs typeface="+mn-cs"/>
                        </a:rPr>
                        <a:t>It is more powerful than DPDA.</a:t>
                      </a:r>
                    </a:p>
                    <a:p>
                      <a:pPr rtl="0" fontAlgn="base"/>
                      <a:r>
                        <a:rPr lang="en-IN" sz="1800" b="0" i="0" u="sng" kern="1200" dirty="0" smtClean="0">
                          <a:solidFill>
                            <a:schemeClr val="dk1"/>
                          </a:solidFill>
                          <a:latin typeface="+mn-lt"/>
                          <a:ea typeface="+mn-ea"/>
                          <a:cs typeface="+mn-cs"/>
                        </a:rPr>
                        <a:t>Example:</a:t>
                      </a:r>
                      <a:endParaRPr lang="en-IN" sz="1800" b="0" i="0" kern="1200" dirty="0" smtClean="0">
                        <a:solidFill>
                          <a:schemeClr val="dk1"/>
                        </a:solidFill>
                        <a:latin typeface="+mn-lt"/>
                        <a:ea typeface="+mn-ea"/>
                        <a:cs typeface="+mn-cs"/>
                      </a:endParaRPr>
                    </a:p>
                    <a:p>
                      <a:pPr rtl="0" fontAlgn="base"/>
                      <a:r>
                        <a:rPr lang="en-IN" sz="1800" b="0" i="0" kern="1200" dirty="0" smtClean="0">
                          <a:solidFill>
                            <a:schemeClr val="dk1"/>
                          </a:solidFill>
                          <a:latin typeface="+mn-lt"/>
                          <a:ea typeface="+mn-ea"/>
                          <a:cs typeface="+mn-cs"/>
                        </a:rPr>
                        <a:t>NPDA can be constructed for both even-length and odd-length palindromes.</a:t>
                      </a:r>
                    </a:p>
                    <a:p>
                      <a:endParaRPr lang="en-IN" dirty="0"/>
                    </a:p>
                  </a:txBody>
                  <a:tcPr/>
                </a:tc>
              </a:tr>
              <a:tr h="691800">
                <a:tc>
                  <a:txBody>
                    <a:bodyPr/>
                    <a:lstStyle/>
                    <a:p>
                      <a:r>
                        <a:rPr lang="en-IN" sz="1800" b="0" i="0" kern="1200" dirty="0" smtClean="0">
                          <a:solidFill>
                            <a:schemeClr val="dk1"/>
                          </a:solidFill>
                          <a:latin typeface="+mn-lt"/>
                          <a:ea typeface="+mn-ea"/>
                          <a:cs typeface="+mn-cs"/>
                        </a:rPr>
                        <a:t>It is possible to convert every DPDA to a corresponding NPDA.</a:t>
                      </a:r>
                      <a:endParaRPr lang="en-IN" dirty="0"/>
                    </a:p>
                  </a:txBody>
                  <a:tcPr/>
                </a:tc>
                <a:tc>
                  <a:txBody>
                    <a:bodyPr/>
                    <a:lstStyle/>
                    <a:p>
                      <a:r>
                        <a:rPr lang="en-IN" sz="1800" b="0" i="0" kern="1200" dirty="0" smtClean="0">
                          <a:solidFill>
                            <a:schemeClr val="dk1"/>
                          </a:solidFill>
                          <a:latin typeface="+mn-lt"/>
                          <a:ea typeface="+mn-ea"/>
                          <a:cs typeface="+mn-cs"/>
                        </a:rPr>
                        <a:t>It is not possible to convert every NPDA to a corresponding DPDA.</a:t>
                      </a:r>
                      <a:endParaRPr lang="en-IN" dirty="0"/>
                    </a:p>
                  </a:txBody>
                  <a:tcPr/>
                </a:tc>
              </a:tr>
              <a:tr h="691800">
                <a:tc>
                  <a:txBody>
                    <a:bodyPr/>
                    <a:lstStyle/>
                    <a:p>
                      <a:r>
                        <a:rPr lang="en-IN" sz="1800" b="0" i="0" kern="1200" dirty="0" smtClean="0">
                          <a:solidFill>
                            <a:schemeClr val="dk1"/>
                          </a:solidFill>
                          <a:latin typeface="+mn-lt"/>
                          <a:ea typeface="+mn-ea"/>
                          <a:cs typeface="+mn-cs"/>
                        </a:rPr>
                        <a:t>The language accepted by DPDA is a subset of the language accepted by NPDA.</a:t>
                      </a:r>
                      <a:endParaRPr lang="en-IN" dirty="0"/>
                    </a:p>
                  </a:txBody>
                  <a:tcPr/>
                </a:tc>
                <a:tc>
                  <a:txBody>
                    <a:bodyPr/>
                    <a:lstStyle/>
                    <a:p>
                      <a:r>
                        <a:rPr lang="en-IN" sz="1800" b="0" i="0" kern="1200" dirty="0" smtClean="0">
                          <a:solidFill>
                            <a:schemeClr val="dk1"/>
                          </a:solidFill>
                          <a:latin typeface="+mn-lt"/>
                          <a:ea typeface="+mn-ea"/>
                          <a:cs typeface="+mn-cs"/>
                        </a:rPr>
                        <a:t>The language accepted by NPDA is not a subset of the language accepted by DPDA.</a:t>
                      </a:r>
                      <a:endParaRPr lang="en-IN" dirty="0"/>
                    </a:p>
                  </a:txBody>
                  <a:tcPr/>
                </a:tc>
              </a:tr>
              <a:tr h="1284771">
                <a:tc>
                  <a:txBody>
                    <a:bodyPr/>
                    <a:lstStyle/>
                    <a:p>
                      <a:r>
                        <a:rPr lang="en-IN" sz="1800" b="0" i="0" kern="1200" dirty="0" smtClean="0">
                          <a:solidFill>
                            <a:schemeClr val="dk1"/>
                          </a:solidFill>
                          <a:latin typeface="+mn-lt"/>
                          <a:ea typeface="+mn-ea"/>
                          <a:cs typeface="+mn-cs"/>
                        </a:rPr>
                        <a:t>The language accepted by DPDA is called DCFL(Deterministic Context-free Language) which is a subset of NCFL(Non-deterministic Context-free Language) accepted by NPDA.</a:t>
                      </a:r>
                      <a:endParaRPr lang="en-IN" dirty="0"/>
                    </a:p>
                  </a:txBody>
                  <a:tcPr/>
                </a:tc>
                <a:tc>
                  <a:txBody>
                    <a:bodyPr/>
                    <a:lstStyle/>
                    <a:p>
                      <a:r>
                        <a:rPr lang="en-IN" sz="1800" b="0" i="0" kern="1200" dirty="0" smtClean="0">
                          <a:solidFill>
                            <a:schemeClr val="dk1"/>
                          </a:solidFill>
                          <a:latin typeface="+mn-lt"/>
                          <a:ea typeface="+mn-ea"/>
                          <a:cs typeface="+mn-cs"/>
                        </a:rPr>
                        <a:t>The language accepted by NPDA is called NCFL(Non-deterministic Context-free Language).</a:t>
                      </a:r>
                      <a:endParaRPr lang="en-IN" dirty="0"/>
                    </a:p>
                  </a:txBody>
                  <a:tcPr/>
                </a:tc>
              </a:tr>
              <a:tr h="988285">
                <a:tc>
                  <a:txBody>
                    <a:bodyPr/>
                    <a:lstStyle/>
                    <a:p>
                      <a:r>
                        <a:rPr lang="en-IN" sz="1800" b="0" i="0" kern="1200" dirty="0" smtClean="0">
                          <a:solidFill>
                            <a:schemeClr val="dk1"/>
                          </a:solidFill>
                          <a:latin typeface="+mn-lt"/>
                          <a:ea typeface="+mn-ea"/>
                          <a:cs typeface="+mn-cs"/>
                        </a:rPr>
                        <a:t>There is only one state transition from one state to another state for an input symbol.</a:t>
                      </a:r>
                      <a:endParaRPr lang="en-IN" dirty="0"/>
                    </a:p>
                  </a:txBody>
                  <a:tcPr/>
                </a:tc>
                <a:tc>
                  <a:txBody>
                    <a:bodyPr/>
                    <a:lstStyle/>
                    <a:p>
                      <a:r>
                        <a:rPr lang="en-IN" sz="1800" b="0" i="0" kern="1200" dirty="0" smtClean="0">
                          <a:solidFill>
                            <a:schemeClr val="dk1"/>
                          </a:solidFill>
                          <a:latin typeface="+mn-lt"/>
                          <a:ea typeface="+mn-ea"/>
                          <a:cs typeface="+mn-cs"/>
                        </a:rPr>
                        <a:t>There may or may not be more than one state transition from one state to another state for same input symbol.</a:t>
                      </a:r>
                      <a:endParaRPr lang="en-IN" dirty="0"/>
                    </a:p>
                  </a:txBody>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Turing Machine</a:t>
            </a:r>
            <a:endParaRPr lang="en-IN" dirty="0"/>
          </a:p>
        </p:txBody>
      </p:sp>
      <p:sp>
        <p:nvSpPr>
          <p:cNvPr id="3" name="Content Placeholder 2"/>
          <p:cNvSpPr>
            <a:spLocks noGrp="1"/>
          </p:cNvSpPr>
          <p:nvPr>
            <p:ph idx="1"/>
          </p:nvPr>
        </p:nvSpPr>
        <p:spPr>
          <a:xfrm>
            <a:off x="457200" y="1357298"/>
            <a:ext cx="8229600" cy="4768865"/>
          </a:xfrm>
        </p:spPr>
        <p:txBody>
          <a:bodyPr>
            <a:normAutofit fontScale="62500" lnSpcReduction="20000"/>
          </a:bodyPr>
          <a:lstStyle/>
          <a:p>
            <a:r>
              <a:rPr lang="en-US" dirty="0" smtClean="0"/>
              <a:t>A Turing machine is a computational model, like </a:t>
            </a:r>
            <a:r>
              <a:rPr lang="en-US" b="1" dirty="0" smtClean="0">
                <a:hlinkClick r:id="rId2"/>
              </a:rPr>
              <a:t>Finite Automata (FA)</a:t>
            </a:r>
            <a:r>
              <a:rPr lang="en-US" dirty="0" smtClean="0"/>
              <a:t>, </a:t>
            </a:r>
            <a:r>
              <a:rPr lang="en-US" b="1" dirty="0" smtClean="0">
                <a:hlinkClick r:id="rId3"/>
              </a:rPr>
              <a:t>Pushdown automata (PDA)</a:t>
            </a:r>
            <a:r>
              <a:rPr lang="en-US" dirty="0" smtClean="0"/>
              <a:t>, which works on unrestricted grammar. The Turing machine is the most powerful computation model when compared with FA and PDA.</a:t>
            </a:r>
            <a:endParaRPr lang="en-IN" dirty="0" smtClean="0"/>
          </a:p>
          <a:p>
            <a:r>
              <a:rPr lang="en-US" dirty="0" smtClean="0"/>
              <a:t>Formal Definition  of Turing machine M can be defined as follows −</a:t>
            </a:r>
            <a:endParaRPr lang="en-IN" dirty="0" smtClean="0"/>
          </a:p>
          <a:p>
            <a:r>
              <a:rPr lang="en-US" dirty="0" smtClean="0"/>
              <a:t>M = </a:t>
            </a:r>
            <a:r>
              <a:rPr lang="en-IN" dirty="0" smtClean="0"/>
              <a:t>(Q, ∑,</a:t>
            </a:r>
            <a:r>
              <a:rPr lang="en-US" dirty="0" smtClean="0"/>
              <a:t> Γ,</a:t>
            </a:r>
            <a:r>
              <a:rPr lang="en-IN" dirty="0" smtClean="0"/>
              <a:t>δ, q</a:t>
            </a:r>
            <a:r>
              <a:rPr lang="en-IN" baseline="-25000" dirty="0" smtClean="0"/>
              <a:t>0</a:t>
            </a:r>
            <a:r>
              <a:rPr lang="en-IN" dirty="0" smtClean="0"/>
              <a:t>, Z0,F) </a:t>
            </a:r>
          </a:p>
          <a:p>
            <a:pPr>
              <a:buNone/>
            </a:pPr>
            <a:r>
              <a:rPr lang="en-US" dirty="0" smtClean="0"/>
              <a:t>where</a:t>
            </a:r>
            <a:endParaRPr lang="en-IN" dirty="0" smtClean="0"/>
          </a:p>
          <a:p>
            <a:pPr lvl="0"/>
            <a:r>
              <a:rPr lang="en-US" dirty="0" smtClean="0"/>
              <a:t>Q represents the finite, non-empty set of states.</a:t>
            </a:r>
            <a:endParaRPr lang="en-IN" dirty="0" smtClean="0"/>
          </a:p>
          <a:p>
            <a:pPr lvl="0"/>
            <a:r>
              <a:rPr lang="en-US" dirty="0" smtClean="0"/>
              <a:t>Γ represents the set of tape alphabets.</a:t>
            </a:r>
            <a:endParaRPr lang="en-IN" dirty="0" smtClean="0"/>
          </a:p>
          <a:p>
            <a:pPr lvl="0"/>
            <a:r>
              <a:rPr lang="en-US" dirty="0" smtClean="0"/>
              <a:t>∑ represents the non-empty set of input alphabets.</a:t>
            </a:r>
            <a:endParaRPr lang="en-IN" dirty="0" smtClean="0"/>
          </a:p>
          <a:p>
            <a:pPr lvl="0"/>
            <a:r>
              <a:rPr lang="en-US" dirty="0" smtClean="0"/>
              <a:t>δ is the transition function, whose mapping is given as, δ : Q x Γ → Q x Γ x {</a:t>
            </a:r>
            <a:r>
              <a:rPr lang="en-US" dirty="0" err="1" smtClean="0"/>
              <a:t>Left_shift</a:t>
            </a:r>
            <a:r>
              <a:rPr lang="en-US" dirty="0" smtClean="0"/>
              <a:t>, </a:t>
            </a:r>
            <a:r>
              <a:rPr lang="en-US" dirty="0" err="1" smtClean="0"/>
              <a:t>Right_shift</a:t>
            </a:r>
            <a:r>
              <a:rPr lang="en-US" dirty="0" smtClean="0"/>
              <a:t>}.</a:t>
            </a:r>
            <a:endParaRPr lang="en-IN" dirty="0" smtClean="0"/>
          </a:p>
          <a:p>
            <a:pPr lvl="0"/>
            <a:r>
              <a:rPr lang="en-US" dirty="0" smtClean="0"/>
              <a:t>q0 is the initial state of the machine</a:t>
            </a:r>
            <a:endParaRPr lang="en-IN" dirty="0" smtClean="0"/>
          </a:p>
          <a:p>
            <a:pPr lvl="0"/>
            <a:r>
              <a:rPr lang="en-US" dirty="0" smtClean="0"/>
              <a:t>B is the blank symbol</a:t>
            </a:r>
            <a:endParaRPr lang="en-IN" dirty="0" smtClean="0"/>
          </a:p>
          <a:p>
            <a:pPr lvl="0"/>
            <a:r>
              <a:rPr lang="en-US" dirty="0" smtClean="0"/>
              <a:t>F is the set of final states or halt states.</a:t>
            </a:r>
            <a:endParaRPr lang="en-IN" dirty="0" smtClean="0"/>
          </a:p>
          <a:p>
            <a:r>
              <a:rPr lang="en-US" dirty="0" smtClean="0"/>
              <a:t> </a:t>
            </a:r>
            <a:endParaRPr lang="en-IN"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Turing Machine</a:t>
            </a:r>
            <a:endParaRPr lang="en-IN" dirty="0"/>
          </a:p>
        </p:txBody>
      </p:sp>
      <p:sp>
        <p:nvSpPr>
          <p:cNvPr id="3" name="Content Placeholder 2"/>
          <p:cNvSpPr>
            <a:spLocks noGrp="1"/>
          </p:cNvSpPr>
          <p:nvPr>
            <p:ph idx="1"/>
          </p:nvPr>
        </p:nvSpPr>
        <p:spPr>
          <a:xfrm>
            <a:off x="457200" y="928670"/>
            <a:ext cx="8229600" cy="5197493"/>
          </a:xfrm>
        </p:spPr>
        <p:txBody>
          <a:bodyPr>
            <a:normAutofit fontScale="85000" lnSpcReduction="10000"/>
          </a:bodyPr>
          <a:lstStyle/>
          <a:p>
            <a:r>
              <a:rPr lang="en-US" sz="1700" dirty="0" smtClean="0"/>
              <a:t>A single tape Turing machine has a single infinite tape, which is divided into cells.</a:t>
            </a:r>
            <a:endParaRPr lang="en-IN" sz="1700" dirty="0" smtClean="0"/>
          </a:p>
          <a:p>
            <a:r>
              <a:rPr lang="en-US" sz="1700" dirty="0" smtClean="0"/>
              <a:t>The tape symbols are present in these cells.</a:t>
            </a:r>
            <a:endParaRPr lang="en-IN" sz="1700" dirty="0" smtClean="0"/>
          </a:p>
          <a:p>
            <a:r>
              <a:rPr lang="en-US" sz="1700" dirty="0" smtClean="0"/>
              <a:t>→A finite control is present, which controls the working of Turing machines based on the given input.</a:t>
            </a:r>
            <a:endParaRPr lang="en-IN" sz="1700" dirty="0" smtClean="0"/>
          </a:p>
          <a:p>
            <a:r>
              <a:rPr lang="en-US" sz="1700" dirty="0" smtClean="0"/>
              <a:t>→The Finite control has a Read/write head, which points to a cell in tape.</a:t>
            </a:r>
            <a:endParaRPr lang="en-IN" sz="1700" dirty="0" smtClean="0"/>
          </a:p>
          <a:p>
            <a:r>
              <a:rPr lang="en-US" sz="1700" dirty="0" smtClean="0"/>
              <a:t>→A Turing machine can move both left and right from one cell to another.</a:t>
            </a:r>
          </a:p>
          <a:p>
            <a:endParaRPr lang="en-US" sz="1700" dirty="0" smtClean="0"/>
          </a:p>
          <a:p>
            <a:endParaRPr lang="en-US" sz="1700" dirty="0" smtClean="0"/>
          </a:p>
          <a:p>
            <a:endParaRPr lang="en-US" sz="1700" dirty="0" smtClean="0"/>
          </a:p>
          <a:p>
            <a:endParaRPr lang="en-US" sz="1700" dirty="0" smtClean="0"/>
          </a:p>
          <a:p>
            <a:endParaRPr lang="en-US" sz="1700" dirty="0" smtClean="0"/>
          </a:p>
          <a:p>
            <a:endParaRPr lang="en-US" sz="1700" dirty="0" smtClean="0"/>
          </a:p>
          <a:p>
            <a:r>
              <a:rPr lang="en-US" sz="1800" dirty="0" smtClean="0"/>
              <a:t>A Turing can have three types of action upon an input.</a:t>
            </a:r>
            <a:endParaRPr lang="en-IN" sz="1800" dirty="0" smtClean="0"/>
          </a:p>
          <a:p>
            <a:r>
              <a:rPr lang="en-US" sz="1800" dirty="0" smtClean="0"/>
              <a:t>Print Si, move one square to the left (L) and go to state </a:t>
            </a:r>
            <a:r>
              <a:rPr lang="en-US" sz="1800" dirty="0" err="1" smtClean="0"/>
              <a:t>qj</a:t>
            </a:r>
            <a:r>
              <a:rPr lang="en-US" sz="1800" dirty="0" smtClean="0"/>
              <a:t>.</a:t>
            </a:r>
            <a:endParaRPr lang="en-IN" sz="1800" dirty="0" smtClean="0"/>
          </a:p>
          <a:p>
            <a:r>
              <a:rPr lang="en-US" sz="1800" dirty="0" smtClean="0"/>
              <a:t>Print Si, move one square to the right (R) and go to state </a:t>
            </a:r>
            <a:r>
              <a:rPr lang="en-US" sz="1800" dirty="0" err="1" smtClean="0"/>
              <a:t>qj</a:t>
            </a:r>
            <a:r>
              <a:rPr lang="en-US" sz="1800" dirty="0" smtClean="0"/>
              <a:t>.</a:t>
            </a:r>
            <a:endParaRPr lang="en-IN" sz="1800" dirty="0" smtClean="0"/>
          </a:p>
          <a:p>
            <a:r>
              <a:rPr lang="en-US" sz="1800" dirty="0" smtClean="0"/>
              <a:t>Print Si, do not move (N) and go to state </a:t>
            </a:r>
            <a:r>
              <a:rPr lang="en-US" sz="1800" dirty="0" err="1" smtClean="0"/>
              <a:t>qj</a:t>
            </a:r>
            <a:r>
              <a:rPr lang="en-US" sz="1800" dirty="0" smtClean="0"/>
              <a:t>.</a:t>
            </a:r>
            <a:endParaRPr lang="en-IN" sz="1800" dirty="0" smtClean="0"/>
          </a:p>
          <a:p>
            <a:r>
              <a:rPr lang="en-US" sz="1800" dirty="0" smtClean="0"/>
              <a:t>→</a:t>
            </a:r>
            <a:r>
              <a:rPr lang="en-US" sz="1800" b="1" dirty="0" smtClean="0"/>
              <a:t>The mapping function</a:t>
            </a:r>
            <a:r>
              <a:rPr lang="en-US" sz="1800" dirty="0" smtClean="0"/>
              <a:t> shows the mapping from states of finite automata and input symbol on the tape to the next states, external symbols and the direction for moving the tape head. This is known as a triple or a program for </a:t>
            </a:r>
            <a:r>
              <a:rPr lang="en-US" sz="1800" dirty="0" err="1" smtClean="0"/>
              <a:t>turing</a:t>
            </a:r>
            <a:r>
              <a:rPr lang="en-US" sz="1800" dirty="0" smtClean="0"/>
              <a:t> machine.</a:t>
            </a:r>
            <a:endParaRPr lang="en-IN" sz="1800" dirty="0" smtClean="0"/>
          </a:p>
          <a:p>
            <a:r>
              <a:rPr lang="en-US" sz="1800" dirty="0" smtClean="0"/>
              <a:t>(q0, a) → (q1, X, R)  </a:t>
            </a:r>
            <a:endParaRPr lang="en-IN" sz="1800" dirty="0" smtClean="0"/>
          </a:p>
          <a:p>
            <a:r>
              <a:rPr lang="en-US" sz="1800" dirty="0" smtClean="0"/>
              <a:t>That means in q0 state, if we read symbol 'a' then it will go to state q1, replaced a by X and move ahead right(R stands for right).</a:t>
            </a:r>
            <a:endParaRPr lang="en-IN" dirty="0" smtClean="0"/>
          </a:p>
          <a:p>
            <a:endParaRPr lang="en-IN" dirty="0"/>
          </a:p>
        </p:txBody>
      </p:sp>
      <p:pic>
        <p:nvPicPr>
          <p:cNvPr id="4" name="Picture 3"/>
          <p:cNvPicPr/>
          <p:nvPr/>
        </p:nvPicPr>
        <p:blipFill>
          <a:blip r:embed="rId2"/>
          <a:srcRect/>
          <a:stretch>
            <a:fillRect/>
          </a:stretch>
        </p:blipFill>
        <p:spPr bwMode="auto">
          <a:xfrm>
            <a:off x="1214414" y="2357430"/>
            <a:ext cx="6322770" cy="1000132"/>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smtClean="0"/>
              <a:t>Model</a:t>
            </a:r>
            <a:endParaRPr lang="en-IN" dirty="0"/>
          </a:p>
        </p:txBody>
      </p:sp>
      <p:sp>
        <p:nvSpPr>
          <p:cNvPr id="3" name="Content Placeholder 2"/>
          <p:cNvSpPr>
            <a:spLocks noGrp="1"/>
          </p:cNvSpPr>
          <p:nvPr>
            <p:ph idx="1"/>
          </p:nvPr>
        </p:nvSpPr>
        <p:spPr>
          <a:xfrm>
            <a:off x="457200" y="1071546"/>
            <a:ext cx="8229600" cy="5054617"/>
          </a:xfrm>
        </p:spPr>
        <p:txBody>
          <a:bodyPr>
            <a:normAutofit/>
          </a:bodyPr>
          <a:lstStyle/>
          <a:p>
            <a:r>
              <a:rPr lang="en-US" sz="1600" dirty="0" smtClean="0"/>
              <a:t>The turning machine can be </a:t>
            </a:r>
            <a:r>
              <a:rPr lang="en-US" sz="1600" dirty="0" err="1" smtClean="0"/>
              <a:t>modelled</a:t>
            </a:r>
            <a:r>
              <a:rPr lang="en-US" sz="1600" dirty="0" smtClean="0"/>
              <a:t> with the help of the following representation.</a:t>
            </a:r>
            <a:endParaRPr lang="en-IN" sz="1600" dirty="0" smtClean="0"/>
          </a:p>
          <a:p>
            <a:r>
              <a:rPr lang="en-US" sz="1600" dirty="0" smtClean="0"/>
              <a:t>1. The input tape is having an infinite number of cells, each cell containing one input symbol and thus the input string can be placed on tape. The empty tape is filled by blank characters.</a:t>
            </a:r>
          </a:p>
          <a:p>
            <a:endParaRPr lang="en-US" sz="1600" dirty="0" smtClean="0"/>
          </a:p>
          <a:p>
            <a:endParaRPr lang="en-US" sz="1600" dirty="0" smtClean="0"/>
          </a:p>
          <a:p>
            <a:endParaRPr lang="en-US" sz="1600" dirty="0" smtClean="0"/>
          </a:p>
          <a:p>
            <a:r>
              <a:rPr lang="en-US" sz="1600" dirty="0" smtClean="0"/>
              <a:t>2. The finite control and the tape head which is responsible for reading the current input symbol. The tape head can move to left to right.</a:t>
            </a:r>
            <a:endParaRPr lang="en-IN" sz="1600" dirty="0" smtClean="0"/>
          </a:p>
          <a:p>
            <a:r>
              <a:rPr lang="en-US" sz="1600" dirty="0" smtClean="0"/>
              <a:t>3. A finite set of states through which machine has to undergo.</a:t>
            </a:r>
            <a:endParaRPr lang="en-IN" sz="1600" dirty="0" smtClean="0"/>
          </a:p>
          <a:p>
            <a:r>
              <a:rPr lang="en-US" sz="1600" dirty="0" smtClean="0"/>
              <a:t>4. Finite set of symbols called external symbols which are used in building the logic of Turing machine.</a:t>
            </a:r>
            <a:endParaRPr lang="en-IN" sz="1600" dirty="0" smtClean="0"/>
          </a:p>
          <a:p>
            <a:endParaRPr lang="en-IN" sz="1600" dirty="0" smtClean="0"/>
          </a:p>
          <a:p>
            <a:endParaRPr lang="en-IN" sz="1600" dirty="0"/>
          </a:p>
        </p:txBody>
      </p:sp>
      <p:pic>
        <p:nvPicPr>
          <p:cNvPr id="4" name="Picture 3" descr="Basic Model of Turing machine"/>
          <p:cNvPicPr/>
          <p:nvPr/>
        </p:nvPicPr>
        <p:blipFill>
          <a:blip r:embed="rId2"/>
          <a:srcRect/>
          <a:stretch>
            <a:fillRect/>
          </a:stretch>
        </p:blipFill>
        <p:spPr bwMode="auto">
          <a:xfrm>
            <a:off x="2214546" y="2071678"/>
            <a:ext cx="4349750" cy="803275"/>
          </a:xfrm>
          <a:prstGeom prst="rect">
            <a:avLst/>
          </a:prstGeom>
          <a:noFill/>
          <a:ln w="9525">
            <a:noFill/>
            <a:miter lim="800000"/>
            <a:headEnd/>
            <a:tailEnd/>
          </a:ln>
        </p:spPr>
      </p:pic>
      <p:pic>
        <p:nvPicPr>
          <p:cNvPr id="5" name="Picture 4" descr="Basic Model of Turing machine"/>
          <p:cNvPicPr/>
          <p:nvPr/>
        </p:nvPicPr>
        <p:blipFill>
          <a:blip r:embed="rId3"/>
          <a:srcRect/>
          <a:stretch>
            <a:fillRect/>
          </a:stretch>
        </p:blipFill>
        <p:spPr bwMode="auto">
          <a:xfrm>
            <a:off x="1500166" y="4500570"/>
            <a:ext cx="6870065" cy="17859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dirty="0" smtClean="0"/>
              <a:t>Design of TM </a:t>
            </a:r>
            <a:r>
              <a:rPr lang="en-IN" dirty="0" smtClean="0"/>
              <a:t>Example</a:t>
            </a:r>
            <a:endParaRPr lang="en-IN" dirty="0"/>
          </a:p>
        </p:txBody>
      </p:sp>
      <p:sp>
        <p:nvSpPr>
          <p:cNvPr id="3" name="Content Placeholder 2"/>
          <p:cNvSpPr>
            <a:spLocks noGrp="1"/>
          </p:cNvSpPr>
          <p:nvPr>
            <p:ph idx="1"/>
          </p:nvPr>
        </p:nvSpPr>
        <p:spPr/>
        <p:txBody>
          <a:bodyPr>
            <a:normAutofit/>
          </a:bodyPr>
          <a:lstStyle/>
          <a:p>
            <a:r>
              <a:rPr lang="en-IN" sz="1600" dirty="0" smtClean="0"/>
              <a:t>Construct a </a:t>
            </a:r>
            <a:r>
              <a:rPr lang="en-IN" sz="1600" b="1" dirty="0" smtClean="0"/>
              <a:t>Turing Machine (TM)</a:t>
            </a:r>
            <a:r>
              <a:rPr lang="en-IN" sz="1600" dirty="0" smtClean="0"/>
              <a:t> for the language </a:t>
            </a:r>
            <a:r>
              <a:rPr lang="en-IN" sz="1600" b="1" dirty="0" smtClean="0"/>
              <a:t>L = {0ⁿ1ⁿ | n ≥ 1}</a:t>
            </a:r>
            <a:r>
              <a:rPr lang="en-IN" sz="1600" dirty="0" smtClean="0"/>
              <a:t>, which accepts strings of equal 0s followed by equal 1s.</a:t>
            </a:r>
          </a:p>
          <a:p>
            <a:pPr fontAlgn="base"/>
            <a:r>
              <a:rPr lang="en-IN" sz="1600" b="1" dirty="0" smtClean="0"/>
              <a:t>Components:</a:t>
            </a:r>
            <a:endParaRPr lang="en-IN" sz="1600" dirty="0" smtClean="0"/>
          </a:p>
          <a:p>
            <a:pPr fontAlgn="base"/>
            <a:r>
              <a:rPr lang="en-IN" sz="1600" b="1" dirty="0" smtClean="0"/>
              <a:t>Q = {q₀, q₁, q₂, q₃}</a:t>
            </a:r>
            <a:r>
              <a:rPr lang="en-IN" sz="1600" dirty="0" smtClean="0"/>
              <a:t> (q₀ is the initial state)</a:t>
            </a:r>
          </a:p>
          <a:p>
            <a:pPr fontAlgn="base"/>
            <a:r>
              <a:rPr lang="en-IN" sz="1600" b="1" dirty="0" smtClean="0"/>
              <a:t>T = {0,1,X,Y,B}</a:t>
            </a:r>
            <a:r>
              <a:rPr lang="en-IN" sz="1600" dirty="0" smtClean="0"/>
              <a:t> (B represents blank, X and Y mark processed symbols)</a:t>
            </a:r>
          </a:p>
          <a:p>
            <a:pPr fontAlgn="base"/>
            <a:r>
              <a:rPr lang="el-GR" sz="1600" b="1" dirty="0" smtClean="0"/>
              <a:t>Σ = {0,1}</a:t>
            </a:r>
            <a:r>
              <a:rPr lang="el-GR" sz="1600" dirty="0" smtClean="0"/>
              <a:t> (</a:t>
            </a:r>
            <a:r>
              <a:rPr lang="en-IN" sz="1600" dirty="0" smtClean="0"/>
              <a:t>input symbols)</a:t>
            </a:r>
          </a:p>
          <a:p>
            <a:pPr fontAlgn="base"/>
            <a:r>
              <a:rPr lang="en-IN" sz="1600" b="1" dirty="0" smtClean="0"/>
              <a:t>F = {q₃}</a:t>
            </a:r>
            <a:r>
              <a:rPr lang="en-IN" sz="1600" dirty="0" smtClean="0"/>
              <a:t> (final state)</a:t>
            </a:r>
          </a:p>
          <a:p>
            <a:r>
              <a:rPr lang="en-IN" sz="1600" b="1" dirty="0" smtClean="0"/>
              <a:t>Transition Table:</a:t>
            </a:r>
          </a:p>
          <a:p>
            <a:endParaRPr lang="en-IN" sz="1600" b="1" dirty="0" smtClean="0"/>
          </a:p>
          <a:p>
            <a:endParaRPr lang="en-IN" sz="1600" b="1" dirty="0" smtClean="0"/>
          </a:p>
          <a:p>
            <a:endParaRPr lang="en-IN" sz="1600" b="1" dirty="0" smtClean="0"/>
          </a:p>
          <a:p>
            <a:endParaRPr lang="en-IN" sz="1600" b="1" dirty="0" smtClean="0"/>
          </a:p>
          <a:p>
            <a:endParaRPr lang="en-IN" sz="1600" b="1" dirty="0" smtClean="0"/>
          </a:p>
          <a:p>
            <a:r>
              <a:rPr lang="en-IN" sz="1600" dirty="0" smtClean="0"/>
              <a:t>Let us see how this </a:t>
            </a:r>
            <a:r>
              <a:rPr lang="en-IN" sz="1600" dirty="0" err="1" smtClean="0"/>
              <a:t>turing</a:t>
            </a:r>
            <a:r>
              <a:rPr lang="en-IN" sz="1600" dirty="0" smtClean="0"/>
              <a:t> machine works for 0011. Initially head points to 0 which is underlined and state is q0 as:  </a:t>
            </a:r>
            <a:endParaRPr lang="en-IN" sz="1600" dirty="0"/>
          </a:p>
        </p:txBody>
      </p:sp>
      <p:pic>
        <p:nvPicPr>
          <p:cNvPr id="3074" name="Picture 2" descr="C:\Users\Raju\Desktop\Capture.PNG"/>
          <p:cNvPicPr>
            <a:picLocks noChangeAspect="1" noChangeArrowheads="1"/>
          </p:cNvPicPr>
          <p:nvPr/>
        </p:nvPicPr>
        <p:blipFill>
          <a:blip r:embed="rId2"/>
          <a:srcRect/>
          <a:stretch>
            <a:fillRect/>
          </a:stretch>
        </p:blipFill>
        <p:spPr bwMode="auto">
          <a:xfrm>
            <a:off x="1285853" y="4000505"/>
            <a:ext cx="4429156" cy="1285883"/>
          </a:xfrm>
          <a:prstGeom prst="rect">
            <a:avLst/>
          </a:prstGeom>
          <a:noFill/>
        </p:spPr>
      </p:pic>
      <p:graphicFrame>
        <p:nvGraphicFramePr>
          <p:cNvPr id="5" name="Table 4"/>
          <p:cNvGraphicFramePr>
            <a:graphicFrameLocks noGrp="1"/>
          </p:cNvGraphicFramePr>
          <p:nvPr/>
        </p:nvGraphicFramePr>
        <p:xfrm>
          <a:off x="1000100" y="6143644"/>
          <a:ext cx="6096000" cy="370840"/>
        </p:xfrm>
        <a:graphic>
          <a:graphicData uri="http://schemas.openxmlformats.org/drawingml/2006/table">
            <a:tbl>
              <a:tblPr firstRow="1" bandRow="1">
                <a:tableStyleId>{BDBED569-4797-4DF1-A0F4-6AAB3CD982D8}</a:tableStyleId>
              </a:tblPr>
              <a:tblGrid>
                <a:gridCol w="1016000"/>
                <a:gridCol w="1016000"/>
                <a:gridCol w="1016000"/>
                <a:gridCol w="1016000"/>
                <a:gridCol w="1016000"/>
                <a:gridCol w="1016000"/>
              </a:tblGrid>
              <a:tr h="370840">
                <a:tc>
                  <a:txBody>
                    <a:bodyPr/>
                    <a:lstStyle/>
                    <a:p>
                      <a:pPr algn="ctr"/>
                      <a:r>
                        <a:rPr lang="en-IN" dirty="0" smtClean="0"/>
                        <a:t>B</a:t>
                      </a:r>
                      <a:endParaRPr lang="en-IN" dirty="0"/>
                    </a:p>
                  </a:txBody>
                  <a:tcPr/>
                </a:tc>
                <a:tc>
                  <a:txBody>
                    <a:bodyPr/>
                    <a:lstStyle/>
                    <a:p>
                      <a:pPr algn="ctr"/>
                      <a:r>
                        <a:rPr lang="en-IN" u="sng" dirty="0" smtClean="0"/>
                        <a:t>0</a:t>
                      </a:r>
                      <a:endParaRPr lang="en-IN" u="sng" dirty="0"/>
                    </a:p>
                  </a:txBody>
                  <a:tcPr/>
                </a:tc>
                <a:tc>
                  <a:txBody>
                    <a:bodyPr/>
                    <a:lstStyle/>
                    <a:p>
                      <a:pPr algn="ctr"/>
                      <a:r>
                        <a:rPr lang="en-IN" dirty="0" smtClean="0"/>
                        <a:t>0</a:t>
                      </a:r>
                      <a:endParaRPr lang="en-IN" dirty="0"/>
                    </a:p>
                  </a:txBody>
                  <a:tcPr/>
                </a:tc>
                <a:tc>
                  <a:txBody>
                    <a:bodyPr/>
                    <a:lstStyle/>
                    <a:p>
                      <a:pPr algn="ctr"/>
                      <a:r>
                        <a:rPr lang="en-IN" dirty="0" smtClean="0"/>
                        <a:t>1</a:t>
                      </a:r>
                      <a:endParaRPr lang="en-IN" dirty="0"/>
                    </a:p>
                  </a:txBody>
                  <a:tcPr/>
                </a:tc>
                <a:tc>
                  <a:txBody>
                    <a:bodyPr/>
                    <a:lstStyle/>
                    <a:p>
                      <a:pPr algn="ctr"/>
                      <a:r>
                        <a:rPr lang="en-IN" dirty="0" smtClean="0"/>
                        <a:t>1</a:t>
                      </a:r>
                      <a:endParaRPr lang="en-IN" dirty="0"/>
                    </a:p>
                  </a:txBody>
                  <a:tcPr/>
                </a:tc>
                <a:tc>
                  <a:txBody>
                    <a:bodyPr/>
                    <a:lstStyle/>
                    <a:p>
                      <a:pPr algn="ctr"/>
                      <a:r>
                        <a:rPr lang="en-IN" dirty="0" smtClean="0"/>
                        <a:t>B</a:t>
                      </a:r>
                      <a:endParaRPr lang="en-IN" dirty="0"/>
                    </a:p>
                  </a:txBody>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a:bodyPr>
          <a:lstStyle/>
          <a:p>
            <a:r>
              <a:rPr lang="en-IN" sz="1600" dirty="0" smtClean="0"/>
              <a:t>The move will be δ(q0, 0) = (q1, X, R). It means, it will go to state q1, replace 0 by X and head will move to right as:  </a:t>
            </a:r>
          </a:p>
          <a:p>
            <a:endParaRPr lang="en-IN" sz="1600" dirty="0" smtClean="0"/>
          </a:p>
          <a:p>
            <a:endParaRPr lang="en-IN" sz="1600" dirty="0" smtClean="0"/>
          </a:p>
          <a:p>
            <a:r>
              <a:rPr lang="en-IN" sz="1600" dirty="0" smtClean="0"/>
              <a:t>The move will be δ(q1, 0) = (q1, 0, R) which means it will remain in same state and without changing any symbol, it will move to right as:  </a:t>
            </a:r>
          </a:p>
          <a:p>
            <a:endParaRPr lang="en-IN" sz="1600" dirty="0" smtClean="0"/>
          </a:p>
          <a:p>
            <a:endParaRPr lang="en-IN" sz="1600" dirty="0" smtClean="0"/>
          </a:p>
          <a:p>
            <a:r>
              <a:rPr lang="en-IN" sz="1600" dirty="0" smtClean="0"/>
              <a:t>The move will be δ(q1, 1) = (q2, Y, L) which means it will move to q2 state and changing 1 to Y, it will move to left as:</a:t>
            </a:r>
          </a:p>
          <a:p>
            <a:endParaRPr lang="en-IN" sz="1600" dirty="0" smtClean="0"/>
          </a:p>
          <a:p>
            <a:endParaRPr lang="en-IN" sz="1600" dirty="0" smtClean="0"/>
          </a:p>
          <a:p>
            <a:pPr fontAlgn="base"/>
            <a:r>
              <a:rPr lang="en-IN" sz="1600" dirty="0" smtClean="0"/>
              <a:t>Working on it in the same way, the machine will reach state q3 and head will point to B as shown: </a:t>
            </a:r>
          </a:p>
          <a:p>
            <a:pPr fontAlgn="base"/>
            <a:endParaRPr lang="en-IN" sz="1600" dirty="0" smtClean="0"/>
          </a:p>
          <a:p>
            <a:pPr fontAlgn="base"/>
            <a:endParaRPr lang="en-IN" sz="1600" dirty="0" smtClean="0"/>
          </a:p>
          <a:p>
            <a:pPr fontAlgn="base"/>
            <a:r>
              <a:rPr lang="en-IN" sz="1600" dirty="0" smtClean="0"/>
              <a:t>Using move δ(q3, B) = halt, it will stop and accepted.  </a:t>
            </a:r>
          </a:p>
          <a:p>
            <a:r>
              <a:rPr lang="en-IN" sz="1600" dirty="0" smtClean="0"/>
              <a:t/>
            </a:r>
            <a:br>
              <a:rPr lang="en-IN" sz="1600" dirty="0" smtClean="0"/>
            </a:br>
            <a:endParaRPr lang="en-IN" sz="1600" dirty="0"/>
          </a:p>
        </p:txBody>
      </p:sp>
      <p:graphicFrame>
        <p:nvGraphicFramePr>
          <p:cNvPr id="4" name="Table 3"/>
          <p:cNvGraphicFramePr>
            <a:graphicFrameLocks noGrp="1"/>
          </p:cNvGraphicFramePr>
          <p:nvPr/>
        </p:nvGraphicFramePr>
        <p:xfrm>
          <a:off x="1571604" y="928670"/>
          <a:ext cx="6096000" cy="370840"/>
        </p:xfrm>
        <a:graphic>
          <a:graphicData uri="http://schemas.openxmlformats.org/drawingml/2006/table">
            <a:tbl>
              <a:tblPr firstRow="1" bandRow="1">
                <a:tableStyleId>{BDBED569-4797-4DF1-A0F4-6AAB3CD982D8}</a:tableStyleId>
              </a:tblPr>
              <a:tblGrid>
                <a:gridCol w="1016000"/>
                <a:gridCol w="1016000"/>
                <a:gridCol w="1016000"/>
                <a:gridCol w="1016000"/>
                <a:gridCol w="1016000"/>
                <a:gridCol w="1016000"/>
              </a:tblGrid>
              <a:tr h="370840">
                <a:tc>
                  <a:txBody>
                    <a:bodyPr/>
                    <a:lstStyle/>
                    <a:p>
                      <a:pPr algn="ctr"/>
                      <a:r>
                        <a:rPr lang="en-IN" dirty="0" smtClean="0"/>
                        <a:t>B</a:t>
                      </a:r>
                      <a:endParaRPr lang="en-IN" dirty="0"/>
                    </a:p>
                  </a:txBody>
                  <a:tcPr/>
                </a:tc>
                <a:tc>
                  <a:txBody>
                    <a:bodyPr/>
                    <a:lstStyle/>
                    <a:p>
                      <a:pPr algn="ctr"/>
                      <a:r>
                        <a:rPr lang="en-IN" u="none" dirty="0" smtClean="0"/>
                        <a:t>X</a:t>
                      </a:r>
                      <a:endParaRPr lang="en-IN" u="none" dirty="0"/>
                    </a:p>
                  </a:txBody>
                  <a:tcPr/>
                </a:tc>
                <a:tc>
                  <a:txBody>
                    <a:bodyPr/>
                    <a:lstStyle/>
                    <a:p>
                      <a:pPr algn="ctr"/>
                      <a:r>
                        <a:rPr lang="en-IN" u="sng" dirty="0" smtClean="0"/>
                        <a:t>0</a:t>
                      </a:r>
                      <a:endParaRPr lang="en-IN" u="sng" dirty="0"/>
                    </a:p>
                  </a:txBody>
                  <a:tcPr/>
                </a:tc>
                <a:tc>
                  <a:txBody>
                    <a:bodyPr/>
                    <a:lstStyle/>
                    <a:p>
                      <a:pPr algn="ctr"/>
                      <a:r>
                        <a:rPr lang="en-IN" dirty="0" smtClean="0"/>
                        <a:t>1</a:t>
                      </a:r>
                      <a:endParaRPr lang="en-IN" dirty="0"/>
                    </a:p>
                  </a:txBody>
                  <a:tcPr/>
                </a:tc>
                <a:tc>
                  <a:txBody>
                    <a:bodyPr/>
                    <a:lstStyle/>
                    <a:p>
                      <a:pPr algn="ctr"/>
                      <a:r>
                        <a:rPr lang="en-IN" dirty="0" smtClean="0"/>
                        <a:t>1</a:t>
                      </a:r>
                      <a:endParaRPr lang="en-IN" dirty="0"/>
                    </a:p>
                  </a:txBody>
                  <a:tcPr/>
                </a:tc>
                <a:tc>
                  <a:txBody>
                    <a:bodyPr/>
                    <a:lstStyle/>
                    <a:p>
                      <a:pPr algn="ctr"/>
                      <a:r>
                        <a:rPr lang="en-IN" dirty="0" smtClean="0"/>
                        <a:t>B</a:t>
                      </a:r>
                      <a:endParaRPr lang="en-IN" dirty="0"/>
                    </a:p>
                  </a:txBody>
                  <a:tcPr/>
                </a:tc>
              </a:tr>
            </a:tbl>
          </a:graphicData>
        </a:graphic>
      </p:graphicFrame>
      <p:graphicFrame>
        <p:nvGraphicFramePr>
          <p:cNvPr id="5" name="Table 4"/>
          <p:cNvGraphicFramePr>
            <a:graphicFrameLocks noGrp="1"/>
          </p:cNvGraphicFramePr>
          <p:nvPr/>
        </p:nvGraphicFramePr>
        <p:xfrm>
          <a:off x="1571604" y="2071678"/>
          <a:ext cx="6096000" cy="370840"/>
        </p:xfrm>
        <a:graphic>
          <a:graphicData uri="http://schemas.openxmlformats.org/drawingml/2006/table">
            <a:tbl>
              <a:tblPr firstRow="1" bandRow="1">
                <a:tableStyleId>{BDBED569-4797-4DF1-A0F4-6AAB3CD982D8}</a:tableStyleId>
              </a:tblPr>
              <a:tblGrid>
                <a:gridCol w="1016000"/>
                <a:gridCol w="1016000"/>
                <a:gridCol w="1016000"/>
                <a:gridCol w="1016000"/>
                <a:gridCol w="1016000"/>
                <a:gridCol w="1016000"/>
              </a:tblGrid>
              <a:tr h="370840">
                <a:tc>
                  <a:txBody>
                    <a:bodyPr/>
                    <a:lstStyle/>
                    <a:p>
                      <a:pPr algn="ctr"/>
                      <a:r>
                        <a:rPr lang="en-IN" dirty="0" smtClean="0"/>
                        <a:t>B</a:t>
                      </a:r>
                      <a:endParaRPr lang="en-IN" dirty="0"/>
                    </a:p>
                  </a:txBody>
                  <a:tcPr/>
                </a:tc>
                <a:tc>
                  <a:txBody>
                    <a:bodyPr/>
                    <a:lstStyle/>
                    <a:p>
                      <a:pPr algn="ctr"/>
                      <a:r>
                        <a:rPr lang="en-IN" u="none" dirty="0" smtClean="0"/>
                        <a:t>X</a:t>
                      </a:r>
                      <a:endParaRPr lang="en-IN" u="none" dirty="0"/>
                    </a:p>
                  </a:txBody>
                  <a:tcPr/>
                </a:tc>
                <a:tc>
                  <a:txBody>
                    <a:bodyPr/>
                    <a:lstStyle/>
                    <a:p>
                      <a:pPr algn="ctr"/>
                      <a:r>
                        <a:rPr lang="en-IN" u="none" dirty="0" smtClean="0"/>
                        <a:t>0</a:t>
                      </a:r>
                      <a:endParaRPr lang="en-IN" u="none" dirty="0"/>
                    </a:p>
                  </a:txBody>
                  <a:tcPr/>
                </a:tc>
                <a:tc>
                  <a:txBody>
                    <a:bodyPr/>
                    <a:lstStyle/>
                    <a:p>
                      <a:pPr algn="ctr"/>
                      <a:r>
                        <a:rPr lang="en-IN" u="sng" dirty="0" smtClean="0"/>
                        <a:t>1</a:t>
                      </a:r>
                      <a:endParaRPr lang="en-IN" u="sng" dirty="0"/>
                    </a:p>
                  </a:txBody>
                  <a:tcPr/>
                </a:tc>
                <a:tc>
                  <a:txBody>
                    <a:bodyPr/>
                    <a:lstStyle/>
                    <a:p>
                      <a:pPr algn="ctr"/>
                      <a:r>
                        <a:rPr lang="en-IN" dirty="0" smtClean="0"/>
                        <a:t>1</a:t>
                      </a:r>
                      <a:endParaRPr lang="en-IN" dirty="0"/>
                    </a:p>
                  </a:txBody>
                  <a:tcPr/>
                </a:tc>
                <a:tc>
                  <a:txBody>
                    <a:bodyPr/>
                    <a:lstStyle/>
                    <a:p>
                      <a:pPr algn="ctr"/>
                      <a:r>
                        <a:rPr lang="en-IN" dirty="0" smtClean="0"/>
                        <a:t>B</a:t>
                      </a:r>
                      <a:endParaRPr lang="en-IN" dirty="0"/>
                    </a:p>
                  </a:txBody>
                  <a:tcPr/>
                </a:tc>
              </a:tr>
            </a:tbl>
          </a:graphicData>
        </a:graphic>
      </p:graphicFrame>
      <p:graphicFrame>
        <p:nvGraphicFramePr>
          <p:cNvPr id="7" name="Table 6"/>
          <p:cNvGraphicFramePr>
            <a:graphicFrameLocks noGrp="1"/>
          </p:cNvGraphicFramePr>
          <p:nvPr/>
        </p:nvGraphicFramePr>
        <p:xfrm>
          <a:off x="1714480" y="3214686"/>
          <a:ext cx="6096000" cy="370840"/>
        </p:xfrm>
        <a:graphic>
          <a:graphicData uri="http://schemas.openxmlformats.org/drawingml/2006/table">
            <a:tbl>
              <a:tblPr firstRow="1" bandRow="1">
                <a:tableStyleId>{BDBED569-4797-4DF1-A0F4-6AAB3CD982D8}</a:tableStyleId>
              </a:tblPr>
              <a:tblGrid>
                <a:gridCol w="1016000"/>
                <a:gridCol w="1016000"/>
                <a:gridCol w="1016000"/>
                <a:gridCol w="1016000"/>
                <a:gridCol w="1016000"/>
                <a:gridCol w="1016000"/>
              </a:tblGrid>
              <a:tr h="370840">
                <a:tc>
                  <a:txBody>
                    <a:bodyPr/>
                    <a:lstStyle/>
                    <a:p>
                      <a:pPr algn="ctr"/>
                      <a:r>
                        <a:rPr lang="en-IN" dirty="0" smtClean="0"/>
                        <a:t>B</a:t>
                      </a:r>
                      <a:endParaRPr lang="en-IN" dirty="0"/>
                    </a:p>
                  </a:txBody>
                  <a:tcPr/>
                </a:tc>
                <a:tc>
                  <a:txBody>
                    <a:bodyPr/>
                    <a:lstStyle/>
                    <a:p>
                      <a:pPr algn="ctr"/>
                      <a:r>
                        <a:rPr lang="en-IN" u="none" dirty="0" smtClean="0"/>
                        <a:t>X</a:t>
                      </a:r>
                      <a:endParaRPr lang="en-IN" u="none" dirty="0"/>
                    </a:p>
                  </a:txBody>
                  <a:tcPr/>
                </a:tc>
                <a:tc>
                  <a:txBody>
                    <a:bodyPr/>
                    <a:lstStyle/>
                    <a:p>
                      <a:pPr algn="ctr"/>
                      <a:r>
                        <a:rPr lang="en-IN" u="sng" dirty="0" smtClean="0"/>
                        <a:t>0</a:t>
                      </a:r>
                      <a:endParaRPr lang="en-IN" u="sng" dirty="0"/>
                    </a:p>
                  </a:txBody>
                  <a:tcPr/>
                </a:tc>
                <a:tc>
                  <a:txBody>
                    <a:bodyPr/>
                    <a:lstStyle/>
                    <a:p>
                      <a:pPr algn="ctr"/>
                      <a:r>
                        <a:rPr lang="en-IN" u="none" dirty="0" smtClean="0"/>
                        <a:t>Y</a:t>
                      </a:r>
                      <a:endParaRPr lang="en-IN" u="none" dirty="0"/>
                    </a:p>
                  </a:txBody>
                  <a:tcPr/>
                </a:tc>
                <a:tc>
                  <a:txBody>
                    <a:bodyPr/>
                    <a:lstStyle/>
                    <a:p>
                      <a:pPr algn="ctr"/>
                      <a:r>
                        <a:rPr lang="en-IN" dirty="0" smtClean="0"/>
                        <a:t>1</a:t>
                      </a:r>
                      <a:endParaRPr lang="en-IN" dirty="0"/>
                    </a:p>
                  </a:txBody>
                  <a:tcPr/>
                </a:tc>
                <a:tc>
                  <a:txBody>
                    <a:bodyPr/>
                    <a:lstStyle/>
                    <a:p>
                      <a:pPr algn="ctr"/>
                      <a:r>
                        <a:rPr lang="en-IN" dirty="0" smtClean="0"/>
                        <a:t>B</a:t>
                      </a:r>
                      <a:endParaRPr lang="en-IN" dirty="0"/>
                    </a:p>
                  </a:txBody>
                  <a:tcPr/>
                </a:tc>
              </a:tr>
            </a:tbl>
          </a:graphicData>
        </a:graphic>
      </p:graphicFrame>
      <p:graphicFrame>
        <p:nvGraphicFramePr>
          <p:cNvPr id="8" name="Table 7"/>
          <p:cNvGraphicFramePr>
            <a:graphicFrameLocks noGrp="1"/>
          </p:cNvGraphicFramePr>
          <p:nvPr/>
        </p:nvGraphicFramePr>
        <p:xfrm>
          <a:off x="1643042" y="4214818"/>
          <a:ext cx="6096000" cy="370840"/>
        </p:xfrm>
        <a:graphic>
          <a:graphicData uri="http://schemas.openxmlformats.org/drawingml/2006/table">
            <a:tbl>
              <a:tblPr firstRow="1" bandRow="1">
                <a:tableStyleId>{BDBED569-4797-4DF1-A0F4-6AAB3CD982D8}</a:tableStyleId>
              </a:tblPr>
              <a:tblGrid>
                <a:gridCol w="1016000"/>
                <a:gridCol w="1016000"/>
                <a:gridCol w="1016000"/>
                <a:gridCol w="1016000"/>
                <a:gridCol w="1016000"/>
                <a:gridCol w="1016000"/>
              </a:tblGrid>
              <a:tr h="370840">
                <a:tc>
                  <a:txBody>
                    <a:bodyPr/>
                    <a:lstStyle/>
                    <a:p>
                      <a:pPr algn="ctr"/>
                      <a:r>
                        <a:rPr lang="en-IN" dirty="0" smtClean="0"/>
                        <a:t>B</a:t>
                      </a:r>
                      <a:endParaRPr lang="en-IN" dirty="0"/>
                    </a:p>
                  </a:txBody>
                  <a:tcPr/>
                </a:tc>
                <a:tc>
                  <a:txBody>
                    <a:bodyPr/>
                    <a:lstStyle/>
                    <a:p>
                      <a:pPr algn="ctr"/>
                      <a:r>
                        <a:rPr lang="en-IN" u="none" dirty="0" smtClean="0"/>
                        <a:t>X</a:t>
                      </a:r>
                      <a:endParaRPr lang="en-IN" u="none" dirty="0"/>
                    </a:p>
                  </a:txBody>
                  <a:tcPr/>
                </a:tc>
                <a:tc>
                  <a:txBody>
                    <a:bodyPr/>
                    <a:lstStyle/>
                    <a:p>
                      <a:pPr algn="ctr"/>
                      <a:r>
                        <a:rPr lang="en-IN" u="sng" dirty="0" smtClean="0"/>
                        <a:t>X</a:t>
                      </a:r>
                      <a:endParaRPr lang="en-IN" u="sng" dirty="0"/>
                    </a:p>
                  </a:txBody>
                  <a:tcPr/>
                </a:tc>
                <a:tc>
                  <a:txBody>
                    <a:bodyPr/>
                    <a:lstStyle/>
                    <a:p>
                      <a:pPr algn="ctr"/>
                      <a:r>
                        <a:rPr lang="en-IN" u="none" dirty="0" smtClean="0"/>
                        <a:t>Y</a:t>
                      </a:r>
                      <a:endParaRPr lang="en-IN" u="none" dirty="0"/>
                    </a:p>
                  </a:txBody>
                  <a:tcPr/>
                </a:tc>
                <a:tc>
                  <a:txBody>
                    <a:bodyPr/>
                    <a:lstStyle/>
                    <a:p>
                      <a:pPr algn="ctr"/>
                      <a:r>
                        <a:rPr lang="en-IN" dirty="0" smtClean="0"/>
                        <a:t>Y</a:t>
                      </a:r>
                      <a:endParaRPr lang="en-IN" dirty="0"/>
                    </a:p>
                  </a:txBody>
                  <a:tcPr/>
                </a:tc>
                <a:tc>
                  <a:txBody>
                    <a:bodyPr/>
                    <a:lstStyle/>
                    <a:p>
                      <a:pPr algn="ctr"/>
                      <a:r>
                        <a:rPr lang="en-IN" dirty="0" smtClean="0"/>
                        <a:t>B</a:t>
                      </a:r>
                      <a:endParaRPr lang="en-IN" dirty="0"/>
                    </a:p>
                  </a:txBody>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Example</a:t>
            </a:r>
            <a:endParaRPr lang="en-IN" dirty="0"/>
          </a:p>
        </p:txBody>
      </p:sp>
      <p:pic>
        <p:nvPicPr>
          <p:cNvPr id="4" name="Picture 2" descr="C:\Users\Raju\Desktop\WhatsApp Image 2025-03-25 at 10.23.04.jpeg"/>
          <p:cNvPicPr>
            <a:picLocks noGrp="1" noChangeAspect="1" noChangeArrowheads="1"/>
          </p:cNvPicPr>
          <p:nvPr>
            <p:ph idx="1"/>
          </p:nvPr>
        </p:nvPicPr>
        <p:blipFill>
          <a:blip r:embed="rId2"/>
          <a:srcRect/>
          <a:stretch>
            <a:fillRect/>
          </a:stretch>
        </p:blipFill>
        <p:spPr bwMode="auto">
          <a:xfrm>
            <a:off x="357158" y="785794"/>
            <a:ext cx="5643601" cy="3286148"/>
          </a:xfrm>
          <a:prstGeom prst="rect">
            <a:avLst/>
          </a:prstGeom>
          <a:noFill/>
        </p:spPr>
      </p:pic>
      <p:sp>
        <p:nvSpPr>
          <p:cNvPr id="5" name="TextBox 4"/>
          <p:cNvSpPr txBox="1"/>
          <p:nvPr/>
        </p:nvSpPr>
        <p:spPr>
          <a:xfrm>
            <a:off x="6072198" y="857232"/>
            <a:ext cx="2634054" cy="3139321"/>
          </a:xfrm>
          <a:prstGeom prst="rect">
            <a:avLst/>
          </a:prstGeom>
          <a:noFill/>
        </p:spPr>
        <p:txBody>
          <a:bodyPr wrap="square" rtlCol="0">
            <a:spAutoFit/>
          </a:bodyPr>
          <a:lstStyle/>
          <a:p>
            <a:pPr fontAlgn="base"/>
            <a:r>
              <a:rPr lang="en-IN" dirty="0" smtClean="0"/>
              <a:t>Transition Functions:</a:t>
            </a:r>
          </a:p>
          <a:p>
            <a:pPr fontAlgn="base"/>
            <a:r>
              <a:rPr lang="el-GR" dirty="0" smtClean="0"/>
              <a:t>δ(</a:t>
            </a:r>
            <a:r>
              <a:rPr lang="en-IN" dirty="0" smtClean="0"/>
              <a:t>q</a:t>
            </a:r>
            <a:r>
              <a:rPr lang="en-IN" sz="1100" dirty="0" smtClean="0"/>
              <a:t>0</a:t>
            </a:r>
            <a:r>
              <a:rPr lang="en-IN" dirty="0" smtClean="0"/>
              <a:t>, a) =  (q</a:t>
            </a:r>
            <a:r>
              <a:rPr lang="en-IN" sz="1100" dirty="0" smtClean="0"/>
              <a:t>1</a:t>
            </a:r>
            <a:r>
              <a:rPr lang="en-IN" dirty="0" smtClean="0"/>
              <a:t>, X, R) </a:t>
            </a:r>
          </a:p>
          <a:p>
            <a:pPr fontAlgn="base"/>
            <a:r>
              <a:rPr lang="el-GR" dirty="0" smtClean="0"/>
              <a:t>δ(</a:t>
            </a:r>
            <a:r>
              <a:rPr lang="en-IN" dirty="0" smtClean="0"/>
              <a:t>q</a:t>
            </a:r>
            <a:r>
              <a:rPr lang="en-IN" sz="1100" dirty="0" smtClean="0"/>
              <a:t>1</a:t>
            </a:r>
            <a:r>
              <a:rPr lang="en-IN" dirty="0" smtClean="0"/>
              <a:t>, a) =  (q</a:t>
            </a:r>
            <a:r>
              <a:rPr lang="en-IN" sz="1100" dirty="0" smtClean="0"/>
              <a:t>1</a:t>
            </a:r>
            <a:r>
              <a:rPr lang="en-IN" dirty="0" smtClean="0"/>
              <a:t>, a, R)</a:t>
            </a:r>
          </a:p>
          <a:p>
            <a:pPr fontAlgn="base"/>
            <a:r>
              <a:rPr lang="el-GR" dirty="0" smtClean="0"/>
              <a:t>δ(</a:t>
            </a:r>
            <a:r>
              <a:rPr lang="en-IN" dirty="0" smtClean="0"/>
              <a:t>q</a:t>
            </a:r>
            <a:r>
              <a:rPr lang="en-IN" sz="1100" dirty="0" smtClean="0"/>
              <a:t>1</a:t>
            </a:r>
            <a:r>
              <a:rPr lang="en-IN" dirty="0" smtClean="0"/>
              <a:t>, Y) =  (q</a:t>
            </a:r>
            <a:r>
              <a:rPr lang="en-IN" sz="1100" dirty="0" smtClean="0"/>
              <a:t>1</a:t>
            </a:r>
            <a:r>
              <a:rPr lang="en-IN" dirty="0" smtClean="0"/>
              <a:t>, Y, R)  </a:t>
            </a:r>
          </a:p>
          <a:p>
            <a:pPr fontAlgn="base"/>
            <a:r>
              <a:rPr lang="el-GR" dirty="0" smtClean="0"/>
              <a:t>δ(</a:t>
            </a:r>
            <a:r>
              <a:rPr lang="en-IN" dirty="0" smtClean="0"/>
              <a:t>q</a:t>
            </a:r>
            <a:r>
              <a:rPr lang="en-IN" sz="1100" dirty="0" smtClean="0"/>
              <a:t>1</a:t>
            </a:r>
            <a:r>
              <a:rPr lang="en-IN" dirty="0" smtClean="0"/>
              <a:t>, b) =  (q</a:t>
            </a:r>
            <a:r>
              <a:rPr lang="en-IN" sz="1100" dirty="0" smtClean="0"/>
              <a:t>1</a:t>
            </a:r>
            <a:r>
              <a:rPr lang="en-IN" dirty="0" smtClean="0"/>
              <a:t>, Y, L)</a:t>
            </a:r>
          </a:p>
          <a:p>
            <a:pPr fontAlgn="base"/>
            <a:r>
              <a:rPr lang="el-GR" dirty="0" smtClean="0"/>
              <a:t>δ(</a:t>
            </a:r>
            <a:r>
              <a:rPr lang="en-IN" dirty="0" smtClean="0"/>
              <a:t>q</a:t>
            </a:r>
            <a:r>
              <a:rPr lang="en-IN" sz="1100" dirty="0" smtClean="0"/>
              <a:t>2</a:t>
            </a:r>
            <a:r>
              <a:rPr lang="en-IN" dirty="0" smtClean="0"/>
              <a:t>, a) =  (q</a:t>
            </a:r>
            <a:r>
              <a:rPr lang="en-IN" sz="1100" dirty="0" smtClean="0"/>
              <a:t>2</a:t>
            </a:r>
            <a:r>
              <a:rPr lang="en-IN" dirty="0" smtClean="0"/>
              <a:t>, a , L)</a:t>
            </a:r>
          </a:p>
          <a:p>
            <a:pPr fontAlgn="base"/>
            <a:r>
              <a:rPr lang="el-GR" dirty="0" smtClean="0"/>
              <a:t>δ(</a:t>
            </a:r>
            <a:r>
              <a:rPr lang="en-IN" dirty="0" smtClean="0"/>
              <a:t>q</a:t>
            </a:r>
            <a:r>
              <a:rPr lang="en-IN" sz="1100" dirty="0" smtClean="0"/>
              <a:t>2</a:t>
            </a:r>
            <a:r>
              <a:rPr lang="en-IN" dirty="0" smtClean="0"/>
              <a:t>, Y) =  (q</a:t>
            </a:r>
            <a:r>
              <a:rPr lang="en-IN" sz="1100" dirty="0" smtClean="0"/>
              <a:t>2</a:t>
            </a:r>
            <a:r>
              <a:rPr lang="en-IN" dirty="0" smtClean="0"/>
              <a:t>, Y , L) </a:t>
            </a:r>
          </a:p>
          <a:p>
            <a:pPr fontAlgn="base"/>
            <a:r>
              <a:rPr lang="el-GR" dirty="0" smtClean="0"/>
              <a:t>δ(</a:t>
            </a:r>
            <a:r>
              <a:rPr lang="en-IN" dirty="0" smtClean="0"/>
              <a:t>q</a:t>
            </a:r>
            <a:r>
              <a:rPr lang="en-IN" sz="1100" dirty="0" smtClean="0"/>
              <a:t>2</a:t>
            </a:r>
            <a:r>
              <a:rPr lang="en-IN" dirty="0" smtClean="0"/>
              <a:t>, X) =  (q</a:t>
            </a:r>
            <a:r>
              <a:rPr lang="en-IN" sz="1100" dirty="0" smtClean="0"/>
              <a:t>0</a:t>
            </a:r>
            <a:r>
              <a:rPr lang="en-IN" dirty="0" smtClean="0"/>
              <a:t>, X , R)  </a:t>
            </a:r>
          </a:p>
          <a:p>
            <a:pPr fontAlgn="base"/>
            <a:r>
              <a:rPr lang="el-GR" dirty="0" smtClean="0"/>
              <a:t>δ(</a:t>
            </a:r>
            <a:r>
              <a:rPr lang="en-IN" dirty="0" smtClean="0"/>
              <a:t>q</a:t>
            </a:r>
            <a:r>
              <a:rPr lang="en-IN" sz="1100" dirty="0" smtClean="0"/>
              <a:t>0</a:t>
            </a:r>
            <a:r>
              <a:rPr lang="en-IN" dirty="0" smtClean="0"/>
              <a:t>, Y) =  (q</a:t>
            </a:r>
            <a:r>
              <a:rPr lang="en-IN" sz="1100" dirty="0" smtClean="0"/>
              <a:t>3</a:t>
            </a:r>
            <a:r>
              <a:rPr lang="en-IN" dirty="0" smtClean="0"/>
              <a:t>, Y , R)</a:t>
            </a:r>
          </a:p>
          <a:p>
            <a:pPr fontAlgn="base"/>
            <a:r>
              <a:rPr lang="el-GR" dirty="0" smtClean="0"/>
              <a:t>δ(</a:t>
            </a:r>
            <a:r>
              <a:rPr lang="en-IN" dirty="0" smtClean="0"/>
              <a:t>q</a:t>
            </a:r>
            <a:r>
              <a:rPr lang="en-IN" sz="1100" dirty="0" smtClean="0"/>
              <a:t>3</a:t>
            </a:r>
            <a:r>
              <a:rPr lang="en-IN" dirty="0" smtClean="0"/>
              <a:t>, Y) =  (q</a:t>
            </a:r>
            <a:r>
              <a:rPr lang="en-IN" sz="1100" dirty="0" smtClean="0"/>
              <a:t>3</a:t>
            </a:r>
            <a:r>
              <a:rPr lang="en-IN" dirty="0" smtClean="0"/>
              <a:t>, Y , R)</a:t>
            </a:r>
          </a:p>
          <a:p>
            <a:pPr fontAlgn="base"/>
            <a:r>
              <a:rPr lang="el-GR" dirty="0" smtClean="0"/>
              <a:t>δ(</a:t>
            </a:r>
            <a:r>
              <a:rPr lang="en-IN" dirty="0" smtClean="0"/>
              <a:t>q</a:t>
            </a:r>
            <a:r>
              <a:rPr lang="en-IN" sz="1100" dirty="0" smtClean="0"/>
              <a:t>3</a:t>
            </a:r>
            <a:r>
              <a:rPr lang="en-IN" dirty="0" smtClean="0"/>
              <a:t>, B) =  (q</a:t>
            </a:r>
            <a:r>
              <a:rPr lang="en-IN" sz="1100" dirty="0" smtClean="0"/>
              <a:t>4</a:t>
            </a:r>
            <a:r>
              <a:rPr lang="en-IN" dirty="0" smtClean="0"/>
              <a:t>, B , R/L) Halt</a:t>
            </a:r>
            <a:endParaRPr lang="en-IN" dirty="0"/>
          </a:p>
        </p:txBody>
      </p:sp>
      <p:graphicFrame>
        <p:nvGraphicFramePr>
          <p:cNvPr id="6" name="Table 5"/>
          <p:cNvGraphicFramePr>
            <a:graphicFrameLocks noGrp="1"/>
          </p:cNvGraphicFramePr>
          <p:nvPr/>
        </p:nvGraphicFramePr>
        <p:xfrm>
          <a:off x="0" y="4214818"/>
          <a:ext cx="6786610" cy="2468880"/>
        </p:xfrm>
        <a:graphic>
          <a:graphicData uri="http://schemas.openxmlformats.org/drawingml/2006/table">
            <a:tbl>
              <a:tblPr firstRow="1" bandRow="1">
                <a:tableStyleId>{5C22544A-7EE6-4342-B048-85BDC9FD1C3A}</a:tableStyleId>
              </a:tblPr>
              <a:tblGrid>
                <a:gridCol w="1131102"/>
                <a:gridCol w="1131102"/>
                <a:gridCol w="1131102"/>
                <a:gridCol w="1299032"/>
                <a:gridCol w="1192967"/>
                <a:gridCol w="901305"/>
              </a:tblGrid>
              <a:tr h="330810">
                <a:tc>
                  <a:txBody>
                    <a:bodyPr/>
                    <a:lstStyle/>
                    <a:p>
                      <a:pPr algn="ctr"/>
                      <a:r>
                        <a:rPr lang="en-IN" dirty="0" smtClean="0"/>
                        <a:t>State</a:t>
                      </a:r>
                      <a:endParaRPr lang="en-IN" dirty="0"/>
                    </a:p>
                  </a:txBody>
                  <a:tcPr/>
                </a:tc>
                <a:tc>
                  <a:txBody>
                    <a:bodyPr/>
                    <a:lstStyle/>
                    <a:p>
                      <a:pPr algn="ctr"/>
                      <a:r>
                        <a:rPr lang="en-IN" dirty="0" smtClean="0"/>
                        <a:t>a</a:t>
                      </a:r>
                      <a:endParaRPr lang="en-IN" dirty="0"/>
                    </a:p>
                  </a:txBody>
                  <a:tcPr/>
                </a:tc>
                <a:tc>
                  <a:txBody>
                    <a:bodyPr/>
                    <a:lstStyle/>
                    <a:p>
                      <a:pPr algn="ctr"/>
                      <a:r>
                        <a:rPr lang="en-IN" dirty="0" smtClean="0"/>
                        <a:t>b</a:t>
                      </a:r>
                      <a:endParaRPr lang="en-IN" dirty="0"/>
                    </a:p>
                  </a:txBody>
                  <a:tcPr/>
                </a:tc>
                <a:tc>
                  <a:txBody>
                    <a:bodyPr/>
                    <a:lstStyle/>
                    <a:p>
                      <a:pPr algn="ctr"/>
                      <a:r>
                        <a:rPr lang="en-IN" dirty="0" smtClean="0"/>
                        <a:t>X</a:t>
                      </a:r>
                      <a:endParaRPr lang="en-IN" dirty="0"/>
                    </a:p>
                  </a:txBody>
                  <a:tcPr/>
                </a:tc>
                <a:tc>
                  <a:txBody>
                    <a:bodyPr/>
                    <a:lstStyle/>
                    <a:p>
                      <a:pPr algn="ctr"/>
                      <a:r>
                        <a:rPr lang="en-IN" dirty="0" smtClean="0"/>
                        <a:t>Y</a:t>
                      </a:r>
                      <a:endParaRPr lang="en-IN" dirty="0"/>
                    </a:p>
                  </a:txBody>
                  <a:tcPr/>
                </a:tc>
                <a:tc>
                  <a:txBody>
                    <a:bodyPr/>
                    <a:lstStyle/>
                    <a:p>
                      <a:pPr algn="ctr"/>
                      <a:r>
                        <a:rPr lang="en-IN" dirty="0" smtClean="0"/>
                        <a:t>B</a:t>
                      </a:r>
                      <a:endParaRPr lang="en-IN" dirty="0"/>
                    </a:p>
                  </a:txBody>
                  <a:tcPr/>
                </a:tc>
              </a:tr>
              <a:tr h="330810">
                <a:tc>
                  <a:txBody>
                    <a:bodyPr/>
                    <a:lstStyle/>
                    <a:p>
                      <a:pPr algn="ctr"/>
                      <a:r>
                        <a:rPr lang="en-IN" dirty="0" smtClean="0"/>
                        <a:t>q</a:t>
                      </a:r>
                      <a:r>
                        <a:rPr lang="en-IN" sz="1100" dirty="0" smtClean="0"/>
                        <a:t>0</a:t>
                      </a:r>
                      <a:endParaRPr lang="en-IN" dirty="0"/>
                    </a:p>
                  </a:txBody>
                  <a:tcPr/>
                </a:tc>
                <a:tc>
                  <a:txBody>
                    <a:bodyPr/>
                    <a:lstStyle/>
                    <a:p>
                      <a:pPr algn="ctr"/>
                      <a:r>
                        <a:rPr lang="en-IN" dirty="0" smtClean="0"/>
                        <a:t>(q</a:t>
                      </a:r>
                      <a:r>
                        <a:rPr lang="en-IN" sz="1100" dirty="0" smtClean="0"/>
                        <a:t>1</a:t>
                      </a:r>
                      <a:r>
                        <a:rPr lang="en-IN" dirty="0" smtClean="0"/>
                        <a:t>, X, R) </a:t>
                      </a:r>
                      <a:endParaRPr lang="en-IN" dirty="0"/>
                    </a:p>
                  </a:txBody>
                  <a:tcPr/>
                </a:tc>
                <a:tc>
                  <a:txBody>
                    <a:bodyPr/>
                    <a:lstStyle/>
                    <a:p>
                      <a:pPr algn="ctr"/>
                      <a:endParaRPr lang="en-IN"/>
                    </a:p>
                  </a:txBody>
                  <a:tcPr/>
                </a:tc>
                <a:tc>
                  <a:txBody>
                    <a:bodyPr/>
                    <a:lstStyle/>
                    <a:p>
                      <a:pPr algn="ctr"/>
                      <a:endParaRPr lang="en-IN" dirty="0"/>
                    </a:p>
                  </a:txBody>
                  <a:tcPr/>
                </a:tc>
                <a:tc>
                  <a:txBody>
                    <a:bodyPr/>
                    <a:lstStyle/>
                    <a:p>
                      <a:pPr algn="ctr"/>
                      <a:r>
                        <a:rPr lang="en-IN" dirty="0" smtClean="0"/>
                        <a:t>(q</a:t>
                      </a:r>
                      <a:r>
                        <a:rPr lang="en-IN" sz="1100" dirty="0" smtClean="0"/>
                        <a:t>3</a:t>
                      </a:r>
                      <a:r>
                        <a:rPr lang="en-IN" dirty="0" smtClean="0"/>
                        <a:t>, Y , R)</a:t>
                      </a:r>
                      <a:endParaRPr lang="en-IN" dirty="0"/>
                    </a:p>
                  </a:txBody>
                  <a:tcPr/>
                </a:tc>
                <a:tc>
                  <a:txBody>
                    <a:bodyPr/>
                    <a:lstStyle/>
                    <a:p>
                      <a:pPr algn="ctr"/>
                      <a:endParaRPr lang="en-IN"/>
                    </a:p>
                  </a:txBody>
                  <a:tcPr/>
                </a:tc>
              </a:tr>
              <a:tr h="330810">
                <a:tc>
                  <a:txBody>
                    <a:bodyPr/>
                    <a:lstStyle/>
                    <a:p>
                      <a:pPr algn="ctr"/>
                      <a:r>
                        <a:rPr lang="en-IN" dirty="0" smtClean="0"/>
                        <a:t>q</a:t>
                      </a:r>
                      <a:r>
                        <a:rPr lang="en-IN" sz="1100" dirty="0" smtClean="0"/>
                        <a:t>1</a:t>
                      </a:r>
                      <a:endParaRPr lang="en-IN" dirty="0"/>
                    </a:p>
                  </a:txBody>
                  <a:tcPr/>
                </a:tc>
                <a:tc>
                  <a:txBody>
                    <a:bodyPr/>
                    <a:lstStyle/>
                    <a:p>
                      <a:pPr algn="ctr"/>
                      <a:r>
                        <a:rPr lang="en-IN" dirty="0" smtClean="0"/>
                        <a:t>(q</a:t>
                      </a:r>
                      <a:r>
                        <a:rPr lang="en-IN" sz="1100" dirty="0" smtClean="0"/>
                        <a:t>1</a:t>
                      </a:r>
                      <a:r>
                        <a:rPr lang="en-IN" dirty="0" smtClean="0"/>
                        <a:t>, a, R)</a:t>
                      </a:r>
                      <a:endParaRPr lang="en-IN" dirty="0"/>
                    </a:p>
                  </a:txBody>
                  <a:tcPr/>
                </a:tc>
                <a:tc>
                  <a:txBody>
                    <a:bodyPr/>
                    <a:lstStyle/>
                    <a:p>
                      <a:pPr algn="ctr"/>
                      <a:r>
                        <a:rPr lang="en-IN" dirty="0" smtClean="0"/>
                        <a:t>(q</a:t>
                      </a:r>
                      <a:r>
                        <a:rPr lang="en-IN" sz="1100" dirty="0" smtClean="0"/>
                        <a:t>1</a:t>
                      </a:r>
                      <a:r>
                        <a:rPr lang="en-IN" dirty="0" smtClean="0"/>
                        <a:t>, Y, L)</a:t>
                      </a:r>
                      <a:endParaRPr lang="en-IN" dirty="0"/>
                    </a:p>
                  </a:txBody>
                  <a:tcPr/>
                </a:tc>
                <a:tc>
                  <a:txBody>
                    <a:bodyPr/>
                    <a:lstStyle/>
                    <a:p>
                      <a:pPr algn="ctr"/>
                      <a:r>
                        <a:rPr lang="en-IN" dirty="0" smtClean="0"/>
                        <a:t>(q</a:t>
                      </a:r>
                      <a:r>
                        <a:rPr lang="en-IN" sz="1100" dirty="0" smtClean="0"/>
                        <a:t>1</a:t>
                      </a:r>
                      <a:r>
                        <a:rPr lang="en-IN" dirty="0" smtClean="0"/>
                        <a:t>, Y, R) </a:t>
                      </a:r>
                      <a:endParaRPr lang="en-IN" dirty="0"/>
                    </a:p>
                  </a:txBody>
                  <a:tcPr/>
                </a:tc>
                <a:tc>
                  <a:txBody>
                    <a:bodyPr/>
                    <a:lstStyle/>
                    <a:p>
                      <a:pPr algn="ctr"/>
                      <a:endParaRPr lang="en-IN"/>
                    </a:p>
                  </a:txBody>
                  <a:tcPr/>
                </a:tc>
                <a:tc>
                  <a:txBody>
                    <a:bodyPr/>
                    <a:lstStyle/>
                    <a:p>
                      <a:pPr algn="ctr"/>
                      <a:endParaRPr lang="en-IN"/>
                    </a:p>
                  </a:txBody>
                  <a:tcPr/>
                </a:tc>
              </a:tr>
              <a:tr h="330810">
                <a:tc>
                  <a:txBody>
                    <a:bodyPr/>
                    <a:lstStyle/>
                    <a:p>
                      <a:pPr algn="ctr"/>
                      <a:r>
                        <a:rPr lang="en-IN" dirty="0" smtClean="0"/>
                        <a:t>q</a:t>
                      </a:r>
                      <a:r>
                        <a:rPr lang="en-IN" sz="1100" dirty="0" smtClean="0"/>
                        <a:t>2</a:t>
                      </a:r>
                      <a:endParaRPr lang="en-IN" dirty="0"/>
                    </a:p>
                  </a:txBody>
                  <a:tcPr/>
                </a:tc>
                <a:tc>
                  <a:txBody>
                    <a:bodyPr/>
                    <a:lstStyle/>
                    <a:p>
                      <a:pPr algn="ctr"/>
                      <a:r>
                        <a:rPr lang="en-IN" dirty="0" smtClean="0"/>
                        <a:t>(q</a:t>
                      </a:r>
                      <a:r>
                        <a:rPr lang="en-IN" sz="1100" dirty="0" smtClean="0"/>
                        <a:t>2</a:t>
                      </a:r>
                      <a:r>
                        <a:rPr lang="en-IN" dirty="0" smtClean="0"/>
                        <a:t>, a , L)</a:t>
                      </a:r>
                      <a:endParaRPr lang="en-IN" dirty="0"/>
                    </a:p>
                  </a:txBody>
                  <a:tcPr/>
                </a:tc>
                <a:tc>
                  <a:txBody>
                    <a:bodyPr/>
                    <a:lstStyle/>
                    <a:p>
                      <a:pPr algn="ctr"/>
                      <a:endParaRPr lang="en-IN" dirty="0"/>
                    </a:p>
                  </a:txBody>
                  <a:tcPr/>
                </a:tc>
                <a:tc>
                  <a:txBody>
                    <a:bodyPr/>
                    <a:lstStyle/>
                    <a:p>
                      <a:pPr algn="ctr"/>
                      <a:r>
                        <a:rPr lang="en-IN" dirty="0" smtClean="0"/>
                        <a:t>(q</a:t>
                      </a:r>
                      <a:r>
                        <a:rPr lang="en-IN" sz="1100" dirty="0" smtClean="0"/>
                        <a:t>0</a:t>
                      </a:r>
                      <a:r>
                        <a:rPr lang="en-IN" dirty="0" smtClean="0"/>
                        <a:t>, X , R) </a:t>
                      </a:r>
                      <a:endParaRPr lang="en-IN" dirty="0"/>
                    </a:p>
                  </a:txBody>
                  <a:tcPr/>
                </a:tc>
                <a:tc>
                  <a:txBody>
                    <a:bodyPr/>
                    <a:lstStyle/>
                    <a:p>
                      <a:pPr algn="ctr"/>
                      <a:endParaRPr lang="en-IN"/>
                    </a:p>
                  </a:txBody>
                  <a:tcPr/>
                </a:tc>
                <a:tc>
                  <a:txBody>
                    <a:bodyPr/>
                    <a:lstStyle/>
                    <a:p>
                      <a:pPr algn="ctr"/>
                      <a:endParaRPr lang="en-IN"/>
                    </a:p>
                  </a:txBody>
                  <a:tcPr/>
                </a:tc>
              </a:tr>
              <a:tr h="570988">
                <a:tc>
                  <a:txBody>
                    <a:bodyPr/>
                    <a:lstStyle/>
                    <a:p>
                      <a:pPr algn="ctr"/>
                      <a:r>
                        <a:rPr lang="en-IN" dirty="0" smtClean="0"/>
                        <a:t>q</a:t>
                      </a:r>
                      <a:r>
                        <a:rPr lang="en-IN" sz="1100" dirty="0" smtClean="0"/>
                        <a:t>3</a:t>
                      </a:r>
                      <a:endParaRPr lang="en-IN" dirty="0"/>
                    </a:p>
                  </a:txBody>
                  <a:tcPr/>
                </a:tc>
                <a:tc>
                  <a:txBody>
                    <a:bodyPr/>
                    <a:lstStyle/>
                    <a:p>
                      <a:pPr algn="ctr"/>
                      <a:endParaRPr lang="en-IN"/>
                    </a:p>
                  </a:txBody>
                  <a:tcPr/>
                </a:tc>
                <a:tc>
                  <a:txBody>
                    <a:bodyPr/>
                    <a:lstStyle/>
                    <a:p>
                      <a:pPr algn="ctr"/>
                      <a:endParaRPr lang="en-IN"/>
                    </a:p>
                  </a:txBody>
                  <a:tcPr/>
                </a:tc>
                <a:tc>
                  <a:txBody>
                    <a:bodyPr/>
                    <a:lstStyle/>
                    <a:p>
                      <a:pPr algn="ctr"/>
                      <a:endParaRPr lang="en-IN"/>
                    </a:p>
                  </a:txBody>
                  <a:tcPr/>
                </a:tc>
                <a:tc>
                  <a:txBody>
                    <a:bodyPr/>
                    <a:lstStyle/>
                    <a:p>
                      <a:pPr algn="ctr"/>
                      <a:r>
                        <a:rPr lang="en-IN" dirty="0" smtClean="0"/>
                        <a:t>(q</a:t>
                      </a:r>
                      <a:r>
                        <a:rPr lang="en-IN" sz="1100" dirty="0" smtClean="0"/>
                        <a:t>3</a:t>
                      </a:r>
                      <a:r>
                        <a:rPr lang="en-IN" dirty="0" smtClean="0"/>
                        <a:t>, Y , R)</a:t>
                      </a:r>
                      <a:endParaRPr lang="en-IN" dirty="0"/>
                    </a:p>
                  </a:txBody>
                  <a:tcPr/>
                </a:tc>
                <a:tc>
                  <a:txBody>
                    <a:bodyPr/>
                    <a:lstStyle/>
                    <a:p>
                      <a:pPr algn="ctr"/>
                      <a:r>
                        <a:rPr lang="en-IN" dirty="0" smtClean="0"/>
                        <a:t>=  (q</a:t>
                      </a:r>
                      <a:r>
                        <a:rPr lang="en-IN" sz="1100" dirty="0" smtClean="0"/>
                        <a:t>4</a:t>
                      </a:r>
                      <a:r>
                        <a:rPr lang="en-IN" dirty="0" smtClean="0"/>
                        <a:t>, B , R/L) </a:t>
                      </a:r>
                      <a:endParaRPr lang="en-IN" dirty="0"/>
                    </a:p>
                  </a:txBody>
                  <a:tcPr/>
                </a:tc>
              </a:tr>
              <a:tr h="330810">
                <a:tc>
                  <a:txBody>
                    <a:bodyPr/>
                    <a:lstStyle/>
                    <a:p>
                      <a:pPr algn="ctr"/>
                      <a:r>
                        <a:rPr lang="en-IN" dirty="0" smtClean="0"/>
                        <a:t>q</a:t>
                      </a:r>
                      <a:r>
                        <a:rPr lang="en-IN" sz="1100" dirty="0" smtClean="0"/>
                        <a:t>4</a:t>
                      </a:r>
                      <a:endParaRPr lang="en-IN" dirty="0"/>
                    </a:p>
                  </a:txBody>
                  <a:tcPr/>
                </a:tc>
                <a:tc>
                  <a:txBody>
                    <a:bodyPr/>
                    <a:lstStyle/>
                    <a:p>
                      <a:pPr algn="ctr"/>
                      <a:endParaRPr lang="en-IN"/>
                    </a:p>
                  </a:txBody>
                  <a:tcPr/>
                </a:tc>
                <a:tc>
                  <a:txBody>
                    <a:bodyPr/>
                    <a:lstStyle/>
                    <a:p>
                      <a:pPr algn="ctr"/>
                      <a:endParaRPr lang="en-IN"/>
                    </a:p>
                  </a:txBody>
                  <a:tcPr/>
                </a:tc>
                <a:tc>
                  <a:txBody>
                    <a:bodyPr/>
                    <a:lstStyle/>
                    <a:p>
                      <a:pPr algn="ctr"/>
                      <a:endParaRPr lang="en-IN"/>
                    </a:p>
                  </a:txBody>
                  <a:tcPr/>
                </a:tc>
                <a:tc>
                  <a:txBody>
                    <a:bodyPr/>
                    <a:lstStyle/>
                    <a:p>
                      <a:pPr algn="ctr"/>
                      <a:endParaRPr lang="en-IN"/>
                    </a:p>
                  </a:txBody>
                  <a:tcPr/>
                </a:tc>
                <a:tc>
                  <a:txBody>
                    <a:bodyPr/>
                    <a:lstStyle/>
                    <a:p>
                      <a:pPr algn="ctr"/>
                      <a:r>
                        <a:rPr lang="en-IN" dirty="0" smtClean="0"/>
                        <a:t>Halt</a:t>
                      </a:r>
                      <a:endParaRPr lang="en-IN" dirty="0"/>
                    </a:p>
                  </a:txBody>
                  <a:tcPr/>
                </a:tc>
              </a:tr>
            </a:tbl>
          </a:graphicData>
        </a:graphic>
      </p:graphicFrame>
      <p:cxnSp>
        <p:nvCxnSpPr>
          <p:cNvPr id="8" name="Straight Arrow Connector 7"/>
          <p:cNvCxnSpPr/>
          <p:nvPr/>
        </p:nvCxnSpPr>
        <p:spPr>
          <a:xfrm>
            <a:off x="214282" y="4786322"/>
            <a:ext cx="214314"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Raju\Desktop\WhatsApp Image 2025-03-25 at 10.36.54.jpeg"/>
          <p:cNvPicPr>
            <a:picLocks noChangeAspect="1" noChangeArrowheads="1"/>
          </p:cNvPicPr>
          <p:nvPr/>
        </p:nvPicPr>
        <p:blipFill>
          <a:blip r:embed="rId2"/>
          <a:srcRect/>
          <a:stretch>
            <a:fillRect/>
          </a:stretch>
        </p:blipFill>
        <p:spPr bwMode="auto">
          <a:xfrm>
            <a:off x="0" y="0"/>
            <a:ext cx="5786478" cy="4143380"/>
          </a:xfrm>
          <a:prstGeom prst="rect">
            <a:avLst/>
          </a:prstGeom>
          <a:noFill/>
        </p:spPr>
      </p:pic>
      <p:sp>
        <p:nvSpPr>
          <p:cNvPr id="5" name="TextBox 4"/>
          <p:cNvSpPr txBox="1"/>
          <p:nvPr/>
        </p:nvSpPr>
        <p:spPr>
          <a:xfrm>
            <a:off x="5929322" y="142852"/>
            <a:ext cx="2634054" cy="4770537"/>
          </a:xfrm>
          <a:prstGeom prst="rect">
            <a:avLst/>
          </a:prstGeom>
          <a:noFill/>
        </p:spPr>
        <p:txBody>
          <a:bodyPr wrap="square" rtlCol="0">
            <a:spAutoFit/>
          </a:bodyPr>
          <a:lstStyle/>
          <a:p>
            <a:pPr fontAlgn="base"/>
            <a:r>
              <a:rPr lang="en-IN" sz="1600" dirty="0" smtClean="0"/>
              <a:t>Transition Functions:</a:t>
            </a:r>
          </a:p>
          <a:p>
            <a:pPr fontAlgn="base"/>
            <a:r>
              <a:rPr lang="el-GR" sz="1600" dirty="0" smtClean="0"/>
              <a:t>δ(</a:t>
            </a:r>
            <a:r>
              <a:rPr lang="en-IN" sz="1600" dirty="0" smtClean="0"/>
              <a:t>q0, a) =  (q1, X, R) </a:t>
            </a:r>
          </a:p>
          <a:p>
            <a:pPr fontAlgn="base"/>
            <a:r>
              <a:rPr lang="el-GR" sz="1600" dirty="0" smtClean="0"/>
              <a:t>δ(</a:t>
            </a:r>
            <a:r>
              <a:rPr lang="en-IN" sz="1600" dirty="0" smtClean="0"/>
              <a:t>q1, a) =  (q1, a, R)</a:t>
            </a:r>
          </a:p>
          <a:p>
            <a:pPr fontAlgn="base"/>
            <a:r>
              <a:rPr lang="el-GR" sz="1600" dirty="0" smtClean="0"/>
              <a:t>δ(</a:t>
            </a:r>
            <a:r>
              <a:rPr lang="en-IN" sz="1600" dirty="0" smtClean="0"/>
              <a:t>q1, Y) =  (q1, Y, R)  </a:t>
            </a:r>
          </a:p>
          <a:p>
            <a:pPr fontAlgn="base"/>
            <a:r>
              <a:rPr lang="el-GR" sz="1600" dirty="0" smtClean="0"/>
              <a:t>δ(</a:t>
            </a:r>
            <a:r>
              <a:rPr lang="en-IN" sz="1600" dirty="0" smtClean="0"/>
              <a:t>q1, b) =  (q2, Y, R)</a:t>
            </a:r>
          </a:p>
          <a:p>
            <a:pPr fontAlgn="base"/>
            <a:r>
              <a:rPr lang="el-GR" sz="1600" dirty="0" smtClean="0"/>
              <a:t>δ(</a:t>
            </a:r>
            <a:r>
              <a:rPr lang="en-IN" sz="1600" dirty="0" smtClean="0"/>
              <a:t>q2, b) =  (q2, b , R)</a:t>
            </a:r>
          </a:p>
          <a:p>
            <a:pPr fontAlgn="base"/>
            <a:r>
              <a:rPr lang="el-GR" sz="1600" dirty="0" smtClean="0"/>
              <a:t>δ(</a:t>
            </a:r>
            <a:r>
              <a:rPr lang="en-IN" sz="1600" dirty="0" smtClean="0"/>
              <a:t>q2, Z) =  (q2, Z , R) </a:t>
            </a:r>
          </a:p>
          <a:p>
            <a:pPr fontAlgn="base"/>
            <a:r>
              <a:rPr lang="el-GR" sz="1600" dirty="0" smtClean="0"/>
              <a:t>δ(</a:t>
            </a:r>
            <a:r>
              <a:rPr lang="en-IN" sz="1600" dirty="0" smtClean="0"/>
              <a:t>q2, c) =  (q3, Z , L) </a:t>
            </a:r>
          </a:p>
          <a:p>
            <a:pPr fontAlgn="base"/>
            <a:r>
              <a:rPr lang="el-GR" sz="1600" dirty="0" smtClean="0"/>
              <a:t>δ(</a:t>
            </a:r>
            <a:r>
              <a:rPr lang="en-IN" sz="1600" dirty="0" smtClean="0"/>
              <a:t>q2, c) =  (q3, Z , L)  </a:t>
            </a:r>
          </a:p>
          <a:p>
            <a:pPr fontAlgn="base"/>
            <a:r>
              <a:rPr lang="el-GR" sz="1600" dirty="0" smtClean="0"/>
              <a:t>δ(</a:t>
            </a:r>
            <a:r>
              <a:rPr lang="en-IN" sz="1600" dirty="0" smtClean="0"/>
              <a:t>q3, a) =  (q3, a , L)</a:t>
            </a:r>
          </a:p>
          <a:p>
            <a:pPr fontAlgn="base"/>
            <a:r>
              <a:rPr lang="el-GR" sz="1600" dirty="0" smtClean="0"/>
              <a:t>δ(</a:t>
            </a:r>
            <a:r>
              <a:rPr lang="en-IN" sz="1600" dirty="0" smtClean="0"/>
              <a:t>q3, b) =  (q3, b , L)</a:t>
            </a:r>
          </a:p>
          <a:p>
            <a:pPr fontAlgn="base"/>
            <a:r>
              <a:rPr lang="el-GR" sz="1600" dirty="0" smtClean="0"/>
              <a:t>δ(</a:t>
            </a:r>
            <a:r>
              <a:rPr lang="en-IN" sz="1600" dirty="0" smtClean="0"/>
              <a:t>q3, Y) =  (q3, Y , L)</a:t>
            </a:r>
          </a:p>
          <a:p>
            <a:pPr fontAlgn="base"/>
            <a:r>
              <a:rPr lang="el-GR" sz="1600" dirty="0" smtClean="0"/>
              <a:t>δ(</a:t>
            </a:r>
            <a:r>
              <a:rPr lang="en-IN" sz="1600" dirty="0" smtClean="0"/>
              <a:t>q3, Z) =  (q3, Z , L)</a:t>
            </a:r>
          </a:p>
          <a:p>
            <a:pPr fontAlgn="base"/>
            <a:r>
              <a:rPr lang="el-GR" sz="1600" dirty="0" smtClean="0"/>
              <a:t>δ(</a:t>
            </a:r>
            <a:r>
              <a:rPr lang="en-IN" sz="1600" dirty="0" smtClean="0"/>
              <a:t>q3, X) =  (q0, X , R)</a:t>
            </a:r>
          </a:p>
          <a:p>
            <a:pPr fontAlgn="base"/>
            <a:r>
              <a:rPr lang="el-GR" sz="1600" dirty="0" smtClean="0"/>
              <a:t>δ(</a:t>
            </a:r>
            <a:r>
              <a:rPr lang="en-IN" sz="1600" dirty="0" smtClean="0"/>
              <a:t>q0, Y) =  (q4, Y , R)</a:t>
            </a:r>
          </a:p>
          <a:p>
            <a:pPr fontAlgn="base"/>
            <a:r>
              <a:rPr lang="el-GR" sz="1600" dirty="0" smtClean="0"/>
              <a:t>δ(</a:t>
            </a:r>
            <a:r>
              <a:rPr lang="en-IN" sz="1600" dirty="0" smtClean="0"/>
              <a:t>q4, Y) =  (q4, Y , R)</a:t>
            </a:r>
          </a:p>
          <a:p>
            <a:pPr fontAlgn="base"/>
            <a:r>
              <a:rPr lang="el-GR" sz="1600" dirty="0" smtClean="0"/>
              <a:t>δ(</a:t>
            </a:r>
            <a:r>
              <a:rPr lang="en-IN" sz="1600" dirty="0" smtClean="0"/>
              <a:t>q4, Z) =  (q5, Z , R)</a:t>
            </a:r>
          </a:p>
          <a:p>
            <a:pPr fontAlgn="base"/>
            <a:r>
              <a:rPr lang="el-GR" sz="1600" dirty="0" smtClean="0"/>
              <a:t>δ(</a:t>
            </a:r>
            <a:r>
              <a:rPr lang="en-IN" sz="1600" dirty="0" smtClean="0"/>
              <a:t>q5, Z) =  (q5, Z , R)</a:t>
            </a:r>
          </a:p>
          <a:p>
            <a:pPr fontAlgn="base"/>
            <a:r>
              <a:rPr lang="el-GR" sz="1600" dirty="0" smtClean="0"/>
              <a:t>δ(</a:t>
            </a:r>
            <a:r>
              <a:rPr lang="en-IN" sz="1600" dirty="0" smtClean="0"/>
              <a:t>q5, B) =  (q6, B , R/L) Halt</a:t>
            </a:r>
            <a:endParaRPr lang="en-IN" sz="1600" dirty="0"/>
          </a:p>
        </p:txBody>
      </p:sp>
      <p:graphicFrame>
        <p:nvGraphicFramePr>
          <p:cNvPr id="6" name="Table 5"/>
          <p:cNvGraphicFramePr>
            <a:graphicFrameLocks noGrp="1"/>
          </p:cNvGraphicFramePr>
          <p:nvPr/>
        </p:nvGraphicFramePr>
        <p:xfrm>
          <a:off x="214282" y="4071942"/>
          <a:ext cx="5715042" cy="2700934"/>
        </p:xfrm>
        <a:graphic>
          <a:graphicData uri="http://schemas.openxmlformats.org/drawingml/2006/table">
            <a:tbl>
              <a:tblPr firstRow="1" bandRow="1">
                <a:tableStyleId>{5C22544A-7EE6-4342-B048-85BDC9FD1C3A}</a:tableStyleId>
              </a:tblPr>
              <a:tblGrid>
                <a:gridCol w="519550"/>
                <a:gridCol w="667992"/>
                <a:gridCol w="742213"/>
                <a:gridCol w="742213"/>
                <a:gridCol w="685618"/>
                <a:gridCol w="714380"/>
                <a:gridCol w="785818"/>
                <a:gridCol w="857258"/>
              </a:tblGrid>
              <a:tr h="330810">
                <a:tc>
                  <a:txBody>
                    <a:bodyPr/>
                    <a:lstStyle/>
                    <a:p>
                      <a:pPr algn="l"/>
                      <a:r>
                        <a:rPr lang="en-IN" sz="1000" dirty="0" smtClean="0"/>
                        <a:t>State</a:t>
                      </a:r>
                      <a:endParaRPr lang="en-IN" sz="1000" dirty="0"/>
                    </a:p>
                  </a:txBody>
                  <a:tcPr/>
                </a:tc>
                <a:tc>
                  <a:txBody>
                    <a:bodyPr/>
                    <a:lstStyle/>
                    <a:p>
                      <a:pPr algn="l"/>
                      <a:r>
                        <a:rPr lang="en-IN" sz="1000" dirty="0" smtClean="0"/>
                        <a:t>a</a:t>
                      </a:r>
                      <a:endParaRPr lang="en-IN" sz="1000" dirty="0"/>
                    </a:p>
                  </a:txBody>
                  <a:tcPr/>
                </a:tc>
                <a:tc>
                  <a:txBody>
                    <a:bodyPr/>
                    <a:lstStyle/>
                    <a:p>
                      <a:pPr algn="l"/>
                      <a:r>
                        <a:rPr lang="en-IN" sz="1000" dirty="0" smtClean="0"/>
                        <a:t>b</a:t>
                      </a:r>
                      <a:endParaRPr lang="en-IN" sz="1000" dirty="0"/>
                    </a:p>
                  </a:txBody>
                  <a:tcPr/>
                </a:tc>
                <a:tc>
                  <a:txBody>
                    <a:bodyPr/>
                    <a:lstStyle/>
                    <a:p>
                      <a:pPr algn="l"/>
                      <a:r>
                        <a:rPr lang="en-IN" sz="1000" dirty="0" smtClean="0"/>
                        <a:t>c</a:t>
                      </a:r>
                      <a:endParaRPr lang="en-IN" sz="1000" dirty="0"/>
                    </a:p>
                  </a:txBody>
                  <a:tcPr/>
                </a:tc>
                <a:tc>
                  <a:txBody>
                    <a:bodyPr/>
                    <a:lstStyle/>
                    <a:p>
                      <a:pPr algn="l"/>
                      <a:r>
                        <a:rPr lang="en-IN" sz="1000" dirty="0" smtClean="0"/>
                        <a:t>X</a:t>
                      </a:r>
                      <a:endParaRPr lang="en-IN" sz="1000" dirty="0"/>
                    </a:p>
                  </a:txBody>
                  <a:tcPr/>
                </a:tc>
                <a:tc>
                  <a:txBody>
                    <a:bodyPr/>
                    <a:lstStyle/>
                    <a:p>
                      <a:pPr algn="l"/>
                      <a:r>
                        <a:rPr lang="en-IN" sz="1000" dirty="0" smtClean="0"/>
                        <a:t>Y</a:t>
                      </a:r>
                      <a:endParaRPr lang="en-IN" sz="1000" dirty="0"/>
                    </a:p>
                  </a:txBody>
                  <a:tcPr/>
                </a:tc>
                <a:tc>
                  <a:txBody>
                    <a:bodyPr/>
                    <a:lstStyle/>
                    <a:p>
                      <a:pPr algn="l"/>
                      <a:r>
                        <a:rPr lang="en-IN" sz="1000" dirty="0" smtClean="0"/>
                        <a:t>Z</a:t>
                      </a:r>
                      <a:endParaRPr lang="en-IN" sz="1000" dirty="0"/>
                    </a:p>
                  </a:txBody>
                  <a:tcPr/>
                </a:tc>
                <a:tc>
                  <a:txBody>
                    <a:bodyPr/>
                    <a:lstStyle/>
                    <a:p>
                      <a:pPr algn="l"/>
                      <a:r>
                        <a:rPr lang="en-IN" sz="1000" dirty="0" smtClean="0"/>
                        <a:t>B</a:t>
                      </a:r>
                      <a:endParaRPr lang="en-IN" sz="1000" dirty="0"/>
                    </a:p>
                  </a:txBody>
                  <a:tcPr/>
                </a:tc>
              </a:tr>
              <a:tr h="330810">
                <a:tc>
                  <a:txBody>
                    <a:bodyPr/>
                    <a:lstStyle/>
                    <a:p>
                      <a:pPr algn="l"/>
                      <a:r>
                        <a:rPr lang="en-IN" sz="1000" dirty="0" smtClean="0"/>
                        <a:t>q0</a:t>
                      </a:r>
                      <a:endParaRPr lang="en-IN" sz="1000" dirty="0"/>
                    </a:p>
                  </a:txBody>
                  <a:tcPr/>
                </a:tc>
                <a:tc>
                  <a:txBody>
                    <a:bodyPr/>
                    <a:lstStyle/>
                    <a:p>
                      <a:pPr algn="l"/>
                      <a:r>
                        <a:rPr lang="en-IN" sz="1000" dirty="0" smtClean="0"/>
                        <a:t>(q1, X, R) </a:t>
                      </a:r>
                      <a:endParaRPr lang="en-IN" sz="1000" dirty="0"/>
                    </a:p>
                  </a:txBody>
                  <a:tcPr/>
                </a:tc>
                <a:tc>
                  <a:txBody>
                    <a:bodyPr/>
                    <a:lstStyle/>
                    <a:p>
                      <a:pPr algn="l"/>
                      <a:endParaRPr lang="en-IN" sz="1000"/>
                    </a:p>
                  </a:txBody>
                  <a:tcPr/>
                </a:tc>
                <a:tc>
                  <a:txBody>
                    <a:bodyPr/>
                    <a:lstStyle/>
                    <a:p>
                      <a:pPr algn="l"/>
                      <a:endParaRPr lang="en-IN" sz="1000"/>
                    </a:p>
                  </a:txBody>
                  <a:tcPr/>
                </a:tc>
                <a:tc>
                  <a:txBody>
                    <a:bodyPr/>
                    <a:lstStyle/>
                    <a:p>
                      <a:pPr algn="l"/>
                      <a:endParaRPr lang="en-IN" sz="1000" dirty="0"/>
                    </a:p>
                  </a:txBody>
                  <a:tcPr/>
                </a:tc>
                <a:tc>
                  <a:txBody>
                    <a:bodyPr/>
                    <a:lstStyle/>
                    <a:p>
                      <a:pPr algn="l"/>
                      <a:r>
                        <a:rPr lang="en-IN" sz="1000" dirty="0" smtClean="0"/>
                        <a:t>(q4, Y , R)</a:t>
                      </a:r>
                      <a:endParaRPr lang="en-IN" sz="1000" dirty="0"/>
                    </a:p>
                  </a:txBody>
                  <a:tcPr/>
                </a:tc>
                <a:tc>
                  <a:txBody>
                    <a:bodyPr/>
                    <a:lstStyle/>
                    <a:p>
                      <a:pPr algn="l"/>
                      <a:endParaRPr lang="en-IN" sz="1000" dirty="0"/>
                    </a:p>
                  </a:txBody>
                  <a:tcPr/>
                </a:tc>
                <a:tc>
                  <a:txBody>
                    <a:bodyPr/>
                    <a:lstStyle/>
                    <a:p>
                      <a:pPr algn="l"/>
                      <a:endParaRPr lang="en-IN" sz="1000"/>
                    </a:p>
                  </a:txBody>
                  <a:tcPr/>
                </a:tc>
              </a:tr>
              <a:tr h="330810">
                <a:tc>
                  <a:txBody>
                    <a:bodyPr/>
                    <a:lstStyle/>
                    <a:p>
                      <a:pPr algn="l"/>
                      <a:r>
                        <a:rPr lang="en-IN" sz="1000" dirty="0" smtClean="0"/>
                        <a:t>q1</a:t>
                      </a:r>
                      <a:endParaRPr lang="en-IN" sz="1000" dirty="0"/>
                    </a:p>
                  </a:txBody>
                  <a:tcPr/>
                </a:tc>
                <a:tc>
                  <a:txBody>
                    <a:bodyPr/>
                    <a:lstStyle/>
                    <a:p>
                      <a:pPr algn="l"/>
                      <a:r>
                        <a:rPr lang="en-IN" sz="1000" dirty="0" smtClean="0"/>
                        <a:t>(q1, a, R)</a:t>
                      </a:r>
                      <a:endParaRPr lang="en-IN" sz="1000" dirty="0"/>
                    </a:p>
                  </a:txBody>
                  <a:tcPr/>
                </a:tc>
                <a:tc>
                  <a:txBody>
                    <a:bodyPr/>
                    <a:lstStyle/>
                    <a:p>
                      <a:pPr algn="l"/>
                      <a:r>
                        <a:rPr lang="en-IN" sz="1000" dirty="0" smtClean="0"/>
                        <a:t>(q2, Y, R)</a:t>
                      </a:r>
                      <a:endParaRPr lang="en-IN" sz="1000" dirty="0"/>
                    </a:p>
                  </a:txBody>
                  <a:tcPr/>
                </a:tc>
                <a:tc>
                  <a:txBody>
                    <a:bodyPr/>
                    <a:lstStyle/>
                    <a:p>
                      <a:pPr algn="l"/>
                      <a:endParaRPr lang="en-IN" sz="1000" dirty="0"/>
                    </a:p>
                  </a:txBody>
                  <a:tcPr/>
                </a:tc>
                <a:tc>
                  <a:txBody>
                    <a:bodyPr/>
                    <a:lstStyle/>
                    <a:p>
                      <a:pPr algn="l"/>
                      <a:endParaRPr lang="en-IN" sz="1000" dirty="0"/>
                    </a:p>
                  </a:txBody>
                  <a:tcPr/>
                </a:tc>
                <a:tc>
                  <a:txBody>
                    <a:bodyPr/>
                    <a:lstStyle/>
                    <a:p>
                      <a:pPr algn="l"/>
                      <a:endParaRPr lang="en-IN" sz="1000"/>
                    </a:p>
                  </a:txBody>
                  <a:tcPr/>
                </a:tc>
                <a:tc>
                  <a:txBody>
                    <a:bodyPr/>
                    <a:lstStyle/>
                    <a:p>
                      <a:pPr algn="l"/>
                      <a:endParaRPr lang="en-IN" sz="1000"/>
                    </a:p>
                  </a:txBody>
                  <a:tcPr/>
                </a:tc>
                <a:tc>
                  <a:txBody>
                    <a:bodyPr/>
                    <a:lstStyle/>
                    <a:p>
                      <a:pPr algn="l"/>
                      <a:endParaRPr lang="en-IN" sz="1000"/>
                    </a:p>
                  </a:txBody>
                  <a:tcPr/>
                </a:tc>
              </a:tr>
              <a:tr h="330810">
                <a:tc>
                  <a:txBody>
                    <a:bodyPr/>
                    <a:lstStyle/>
                    <a:p>
                      <a:pPr marL="0" algn="l" defTabSz="914400" rtl="0" eaLnBrk="1" latinLnBrk="0" hangingPunct="1"/>
                      <a:r>
                        <a:rPr lang="en-IN" sz="1000" kern="1200" dirty="0" smtClean="0">
                          <a:solidFill>
                            <a:schemeClr val="dk1"/>
                          </a:solidFill>
                          <a:latin typeface="+mn-lt"/>
                          <a:ea typeface="+mn-ea"/>
                          <a:cs typeface="+mn-cs"/>
                        </a:rPr>
                        <a:t>q2</a:t>
                      </a: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kern="1200" dirty="0" smtClean="0">
                          <a:solidFill>
                            <a:schemeClr val="dk1"/>
                          </a:solidFill>
                          <a:latin typeface="+mn-lt"/>
                          <a:ea typeface="+mn-ea"/>
                          <a:cs typeface="+mn-cs"/>
                        </a:rPr>
                        <a:t>(q2, b , R)</a:t>
                      </a:r>
                    </a:p>
                  </a:txBody>
                  <a:tcPr/>
                </a:tc>
                <a:tc>
                  <a:txBody>
                    <a:bodyPr/>
                    <a:lstStyle/>
                    <a:p>
                      <a:pPr marL="0" algn="l" defTabSz="914400" rtl="0" eaLnBrk="1" latinLnBrk="0" hangingPunct="1"/>
                      <a:r>
                        <a:rPr lang="en-IN" sz="1000" kern="1200" dirty="0" smtClean="0">
                          <a:solidFill>
                            <a:schemeClr val="dk1"/>
                          </a:solidFill>
                          <a:latin typeface="+mn-lt"/>
                          <a:ea typeface="+mn-ea"/>
                          <a:cs typeface="+mn-cs"/>
                        </a:rPr>
                        <a:t>(q3, Z , L) </a:t>
                      </a: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kern="1200" dirty="0" smtClean="0">
                          <a:solidFill>
                            <a:schemeClr val="dk1"/>
                          </a:solidFill>
                          <a:latin typeface="+mn-lt"/>
                          <a:ea typeface="+mn-ea"/>
                          <a:cs typeface="+mn-cs"/>
                        </a:rPr>
                        <a:t>(q2, Z , R) </a:t>
                      </a: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r>
              <a:tr h="319834">
                <a:tc>
                  <a:txBody>
                    <a:bodyPr/>
                    <a:lstStyle/>
                    <a:p>
                      <a:pPr marL="0" algn="l" defTabSz="914400" rtl="0" eaLnBrk="1" latinLnBrk="0" hangingPunct="1"/>
                      <a:r>
                        <a:rPr lang="en-IN" sz="1000" kern="1200" dirty="0" smtClean="0">
                          <a:solidFill>
                            <a:schemeClr val="dk1"/>
                          </a:solidFill>
                          <a:latin typeface="+mn-lt"/>
                          <a:ea typeface="+mn-ea"/>
                          <a:cs typeface="+mn-cs"/>
                        </a:rPr>
                        <a:t>q3</a:t>
                      </a:r>
                    </a:p>
                  </a:txBody>
                  <a:tcPr/>
                </a:tc>
                <a:tc>
                  <a:txBody>
                    <a:bodyPr/>
                    <a:lstStyle/>
                    <a:p>
                      <a:pPr marL="0" algn="l" defTabSz="914400" rtl="0" eaLnBrk="1" latinLnBrk="0" hangingPunct="1"/>
                      <a:r>
                        <a:rPr lang="en-IN" sz="1000" kern="1200" dirty="0" smtClean="0">
                          <a:solidFill>
                            <a:schemeClr val="dk1"/>
                          </a:solidFill>
                          <a:latin typeface="+mn-lt"/>
                          <a:ea typeface="+mn-ea"/>
                          <a:cs typeface="+mn-cs"/>
                        </a:rPr>
                        <a:t>(q3, a , L)</a:t>
                      </a:r>
                    </a:p>
                  </a:txBody>
                  <a:tcPr/>
                </a:tc>
                <a:tc>
                  <a:txBody>
                    <a:bodyPr/>
                    <a:lstStyle/>
                    <a:p>
                      <a:pPr marL="0" algn="l" defTabSz="914400" rtl="0" eaLnBrk="1" latinLnBrk="0" hangingPunct="1"/>
                      <a:r>
                        <a:rPr lang="en-IN" sz="1000" kern="1200" dirty="0" smtClean="0">
                          <a:solidFill>
                            <a:schemeClr val="dk1"/>
                          </a:solidFill>
                          <a:latin typeface="+mn-lt"/>
                          <a:ea typeface="+mn-ea"/>
                          <a:cs typeface="+mn-cs"/>
                        </a:rPr>
                        <a:t>(q3, b , L)</a:t>
                      </a: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dirty="0" smtClean="0"/>
                        <a:t>(q0, X , R)</a:t>
                      </a:r>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kern="1200" dirty="0" smtClean="0">
                          <a:solidFill>
                            <a:schemeClr val="dk1"/>
                          </a:solidFill>
                          <a:latin typeface="+mn-lt"/>
                          <a:ea typeface="+mn-ea"/>
                          <a:cs typeface="+mn-cs"/>
                        </a:rPr>
                        <a:t>(q3, Y , L)</a:t>
                      </a:r>
                    </a:p>
                  </a:txBody>
                  <a:tcPr/>
                </a:tc>
                <a:tc>
                  <a:txBody>
                    <a:bodyPr/>
                    <a:lstStyle/>
                    <a:p>
                      <a:pPr marL="0" algn="l" defTabSz="914400" rtl="0" eaLnBrk="1" latinLnBrk="0" hangingPunct="1"/>
                      <a:r>
                        <a:rPr lang="en-IN" sz="1000" kern="1200" dirty="0" smtClean="0">
                          <a:solidFill>
                            <a:schemeClr val="dk1"/>
                          </a:solidFill>
                          <a:latin typeface="+mn-lt"/>
                          <a:ea typeface="+mn-ea"/>
                          <a:cs typeface="+mn-cs"/>
                        </a:rPr>
                        <a:t>(q3, Z , L)</a:t>
                      </a: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r>
              <a:tr h="330810">
                <a:tc>
                  <a:txBody>
                    <a:bodyPr/>
                    <a:lstStyle/>
                    <a:p>
                      <a:pPr marL="0" algn="l" defTabSz="914400" rtl="0" eaLnBrk="1" latinLnBrk="0" hangingPunct="1"/>
                      <a:r>
                        <a:rPr lang="en-IN" sz="1000" kern="1200" dirty="0" smtClean="0">
                          <a:solidFill>
                            <a:schemeClr val="dk1"/>
                          </a:solidFill>
                          <a:latin typeface="+mn-lt"/>
                          <a:ea typeface="+mn-ea"/>
                          <a:cs typeface="+mn-cs"/>
                        </a:rPr>
                        <a:t>q4</a:t>
                      </a: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dirty="0" smtClean="0"/>
                        <a:t>(q4, Y , R)</a:t>
                      </a:r>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dirty="0" smtClean="0"/>
                        <a:t>(q5, Z , R)</a:t>
                      </a:r>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r>
              <a:tr h="3308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00" kern="1200" dirty="0" smtClean="0">
                          <a:solidFill>
                            <a:schemeClr val="dk1"/>
                          </a:solidFill>
                          <a:latin typeface="+mn-lt"/>
                          <a:ea typeface="+mn-ea"/>
                          <a:cs typeface="+mn-cs"/>
                        </a:rPr>
                        <a:t>q5</a:t>
                      </a:r>
                    </a:p>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dirty="0" smtClean="0"/>
                        <a:t>(q5, Z , R)</a:t>
                      </a:r>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dirty="0" smtClean="0"/>
                        <a:t>(q6, B , R/L)</a:t>
                      </a:r>
                      <a:endParaRPr lang="en-IN" sz="1000" kern="1200" dirty="0" smtClean="0">
                        <a:solidFill>
                          <a:schemeClr val="dk1"/>
                        </a:solidFill>
                        <a:latin typeface="+mn-lt"/>
                        <a:ea typeface="+mn-ea"/>
                        <a:cs typeface="+mn-cs"/>
                      </a:endParaRPr>
                    </a:p>
                  </a:txBody>
                  <a:tcPr/>
                </a:tc>
              </a:tr>
              <a:tr h="3308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00" kern="1200" dirty="0" smtClean="0">
                          <a:solidFill>
                            <a:schemeClr val="dk1"/>
                          </a:solidFill>
                          <a:latin typeface="+mn-lt"/>
                          <a:ea typeface="+mn-ea"/>
                          <a:cs typeface="+mn-cs"/>
                        </a:rPr>
                        <a:t>q6</a:t>
                      </a: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endParaRPr lang="en-IN" sz="1000" kern="1200" dirty="0" smtClean="0">
                        <a:solidFill>
                          <a:schemeClr val="dk1"/>
                        </a:solidFill>
                        <a:latin typeface="+mn-lt"/>
                        <a:ea typeface="+mn-ea"/>
                        <a:cs typeface="+mn-cs"/>
                      </a:endParaRPr>
                    </a:p>
                  </a:txBody>
                  <a:tcPr/>
                </a:tc>
                <a:tc>
                  <a:txBody>
                    <a:bodyPr/>
                    <a:lstStyle/>
                    <a:p>
                      <a:pPr marL="0" algn="l" defTabSz="914400" rtl="0" eaLnBrk="1" latinLnBrk="0" hangingPunct="1"/>
                      <a:r>
                        <a:rPr lang="en-IN" sz="1000" kern="1200" dirty="0" smtClean="0">
                          <a:solidFill>
                            <a:schemeClr val="dk1"/>
                          </a:solidFill>
                          <a:latin typeface="+mn-lt"/>
                          <a:ea typeface="+mn-ea"/>
                          <a:cs typeface="+mn-cs"/>
                        </a:rPr>
                        <a:t>Halt</a:t>
                      </a:r>
                    </a:p>
                  </a:txBody>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Raju\Downloads\WhatsApp Image 2025-03-25 at 10.37.28.jpeg"/>
          <p:cNvPicPr>
            <a:picLocks noChangeAspect="1" noChangeArrowheads="1"/>
          </p:cNvPicPr>
          <p:nvPr/>
        </p:nvPicPr>
        <p:blipFill>
          <a:blip r:embed="rId2"/>
          <a:srcRect/>
          <a:stretch>
            <a:fillRect/>
          </a:stretch>
        </p:blipFill>
        <p:spPr bwMode="auto">
          <a:xfrm>
            <a:off x="0" y="0"/>
            <a:ext cx="5157789" cy="5395920"/>
          </a:xfrm>
          <a:prstGeom prst="rect">
            <a:avLst/>
          </a:prstGeom>
          <a:noFill/>
        </p:spPr>
      </p:pic>
      <p:sp>
        <p:nvSpPr>
          <p:cNvPr id="5" name="TextBox 4"/>
          <p:cNvSpPr txBox="1"/>
          <p:nvPr/>
        </p:nvSpPr>
        <p:spPr>
          <a:xfrm>
            <a:off x="6072198" y="857232"/>
            <a:ext cx="2634054" cy="3416320"/>
          </a:xfrm>
          <a:prstGeom prst="rect">
            <a:avLst/>
          </a:prstGeom>
          <a:noFill/>
        </p:spPr>
        <p:txBody>
          <a:bodyPr wrap="square" rtlCol="0">
            <a:spAutoFit/>
          </a:bodyPr>
          <a:lstStyle/>
          <a:p>
            <a:pPr fontAlgn="base"/>
            <a:r>
              <a:rPr lang="en-IN" dirty="0" smtClean="0"/>
              <a:t>Transition Functions:</a:t>
            </a:r>
          </a:p>
          <a:p>
            <a:pPr fontAlgn="base"/>
            <a:r>
              <a:rPr lang="el-GR" dirty="0" smtClean="0"/>
              <a:t>δ(</a:t>
            </a:r>
            <a:r>
              <a:rPr lang="en-IN" dirty="0" smtClean="0"/>
              <a:t>q</a:t>
            </a:r>
            <a:r>
              <a:rPr lang="en-IN" sz="1100" dirty="0" smtClean="0"/>
              <a:t>0</a:t>
            </a:r>
            <a:r>
              <a:rPr lang="en-IN" dirty="0" smtClean="0"/>
              <a:t>, a) =  (q</a:t>
            </a:r>
            <a:r>
              <a:rPr lang="en-IN" sz="1100" dirty="0" smtClean="0"/>
              <a:t>1</a:t>
            </a:r>
            <a:r>
              <a:rPr lang="en-IN" dirty="0" smtClean="0"/>
              <a:t>, X, R) </a:t>
            </a:r>
          </a:p>
          <a:p>
            <a:pPr fontAlgn="base"/>
            <a:r>
              <a:rPr lang="el-GR" dirty="0" smtClean="0"/>
              <a:t>δ(</a:t>
            </a:r>
            <a:r>
              <a:rPr lang="en-IN" dirty="0" smtClean="0"/>
              <a:t>q</a:t>
            </a:r>
            <a:r>
              <a:rPr lang="en-IN" sz="1100" dirty="0" smtClean="0"/>
              <a:t>1</a:t>
            </a:r>
            <a:r>
              <a:rPr lang="en-IN" dirty="0" smtClean="0"/>
              <a:t>, a) =  (q</a:t>
            </a:r>
            <a:r>
              <a:rPr lang="en-IN" sz="1100" dirty="0" smtClean="0"/>
              <a:t>2</a:t>
            </a:r>
            <a:r>
              <a:rPr lang="en-IN" dirty="0" smtClean="0"/>
              <a:t>, X, R)</a:t>
            </a:r>
          </a:p>
          <a:p>
            <a:pPr fontAlgn="base"/>
            <a:r>
              <a:rPr lang="el-GR" dirty="0" smtClean="0"/>
              <a:t>δ(</a:t>
            </a:r>
            <a:r>
              <a:rPr lang="en-IN" dirty="0" smtClean="0"/>
              <a:t>q</a:t>
            </a:r>
            <a:r>
              <a:rPr lang="en-IN" sz="1100" dirty="0" smtClean="0"/>
              <a:t>2</a:t>
            </a:r>
            <a:r>
              <a:rPr lang="en-IN" dirty="0" smtClean="0"/>
              <a:t>, a) =  (q</a:t>
            </a:r>
            <a:r>
              <a:rPr lang="en-IN" sz="1100" dirty="0" smtClean="0"/>
              <a:t>2</a:t>
            </a:r>
            <a:r>
              <a:rPr lang="en-IN" dirty="0" smtClean="0"/>
              <a:t>, a, R) </a:t>
            </a:r>
          </a:p>
          <a:p>
            <a:pPr fontAlgn="base"/>
            <a:r>
              <a:rPr lang="el-GR" dirty="0" smtClean="0"/>
              <a:t>δ(</a:t>
            </a:r>
            <a:r>
              <a:rPr lang="en-IN" dirty="0" smtClean="0"/>
              <a:t>q</a:t>
            </a:r>
            <a:r>
              <a:rPr lang="en-IN" sz="1100" dirty="0" smtClean="0"/>
              <a:t>2</a:t>
            </a:r>
            <a:r>
              <a:rPr lang="en-IN" dirty="0" smtClean="0"/>
              <a:t>, Y) =  (q</a:t>
            </a:r>
            <a:r>
              <a:rPr lang="en-IN" sz="1100" dirty="0" smtClean="0"/>
              <a:t>2</a:t>
            </a:r>
            <a:r>
              <a:rPr lang="en-IN" dirty="0" smtClean="0"/>
              <a:t>, Y, R)  </a:t>
            </a:r>
          </a:p>
          <a:p>
            <a:pPr fontAlgn="base"/>
            <a:r>
              <a:rPr lang="el-GR" dirty="0" smtClean="0"/>
              <a:t>δ(</a:t>
            </a:r>
            <a:r>
              <a:rPr lang="en-IN" dirty="0" smtClean="0"/>
              <a:t>q</a:t>
            </a:r>
            <a:r>
              <a:rPr lang="en-IN" sz="1100" dirty="0" smtClean="0"/>
              <a:t>2</a:t>
            </a:r>
            <a:r>
              <a:rPr lang="en-IN" dirty="0" smtClean="0"/>
              <a:t>, b) =  (q</a:t>
            </a:r>
            <a:r>
              <a:rPr lang="en-IN" sz="1100" dirty="0" smtClean="0"/>
              <a:t>3</a:t>
            </a:r>
            <a:r>
              <a:rPr lang="en-IN" dirty="0" smtClean="0"/>
              <a:t>, Y, L)</a:t>
            </a:r>
          </a:p>
          <a:p>
            <a:pPr fontAlgn="base"/>
            <a:r>
              <a:rPr lang="el-GR" dirty="0" smtClean="0"/>
              <a:t>δ(</a:t>
            </a:r>
            <a:r>
              <a:rPr lang="en-IN" dirty="0" smtClean="0"/>
              <a:t>q</a:t>
            </a:r>
            <a:r>
              <a:rPr lang="en-IN" sz="1100" dirty="0" smtClean="0"/>
              <a:t>3</a:t>
            </a:r>
            <a:r>
              <a:rPr lang="en-IN" dirty="0" smtClean="0"/>
              <a:t>, a) =  (q</a:t>
            </a:r>
            <a:r>
              <a:rPr lang="en-IN" sz="1100" dirty="0" smtClean="0"/>
              <a:t>3</a:t>
            </a:r>
            <a:r>
              <a:rPr lang="en-IN" dirty="0" smtClean="0"/>
              <a:t>, a , L)</a:t>
            </a:r>
          </a:p>
          <a:p>
            <a:pPr fontAlgn="base"/>
            <a:r>
              <a:rPr lang="el-GR" dirty="0" smtClean="0"/>
              <a:t>δ(</a:t>
            </a:r>
            <a:r>
              <a:rPr lang="en-IN" dirty="0" smtClean="0"/>
              <a:t>q</a:t>
            </a:r>
            <a:r>
              <a:rPr lang="en-IN" sz="1100" dirty="0" smtClean="0"/>
              <a:t>3</a:t>
            </a:r>
            <a:r>
              <a:rPr lang="en-IN" dirty="0" smtClean="0"/>
              <a:t>, Y) =  (q</a:t>
            </a:r>
            <a:r>
              <a:rPr lang="en-IN" sz="1100" dirty="0" smtClean="0"/>
              <a:t>3</a:t>
            </a:r>
            <a:r>
              <a:rPr lang="en-IN" dirty="0" smtClean="0"/>
              <a:t>, Y , L) </a:t>
            </a:r>
          </a:p>
          <a:p>
            <a:pPr fontAlgn="base"/>
            <a:r>
              <a:rPr lang="el-GR" dirty="0" smtClean="0"/>
              <a:t>δ(</a:t>
            </a:r>
            <a:r>
              <a:rPr lang="en-IN" dirty="0" smtClean="0"/>
              <a:t>q</a:t>
            </a:r>
            <a:r>
              <a:rPr lang="en-IN" sz="1100" dirty="0" smtClean="0"/>
              <a:t>3</a:t>
            </a:r>
            <a:r>
              <a:rPr lang="en-IN" dirty="0" smtClean="0"/>
              <a:t>, X) =  (q</a:t>
            </a:r>
            <a:r>
              <a:rPr lang="en-IN" sz="1100" dirty="0" smtClean="0"/>
              <a:t>0</a:t>
            </a:r>
            <a:r>
              <a:rPr lang="en-IN" dirty="0" smtClean="0"/>
              <a:t>, X , R)  </a:t>
            </a:r>
          </a:p>
          <a:p>
            <a:pPr fontAlgn="base"/>
            <a:r>
              <a:rPr lang="el-GR" dirty="0" smtClean="0"/>
              <a:t>δ(</a:t>
            </a:r>
            <a:r>
              <a:rPr lang="en-IN" dirty="0" smtClean="0"/>
              <a:t>q</a:t>
            </a:r>
            <a:r>
              <a:rPr lang="en-IN" sz="1100" dirty="0" smtClean="0"/>
              <a:t>0</a:t>
            </a:r>
            <a:r>
              <a:rPr lang="en-IN" dirty="0" smtClean="0"/>
              <a:t>, Y) =  (q</a:t>
            </a:r>
            <a:r>
              <a:rPr lang="en-IN" sz="1100" dirty="0" smtClean="0"/>
              <a:t>4</a:t>
            </a:r>
            <a:r>
              <a:rPr lang="en-IN" dirty="0" smtClean="0"/>
              <a:t>, Y , R)</a:t>
            </a:r>
          </a:p>
          <a:p>
            <a:pPr fontAlgn="base"/>
            <a:r>
              <a:rPr lang="el-GR" dirty="0" smtClean="0"/>
              <a:t>δ(</a:t>
            </a:r>
            <a:r>
              <a:rPr lang="en-IN" dirty="0" smtClean="0"/>
              <a:t>q</a:t>
            </a:r>
            <a:r>
              <a:rPr lang="en-IN" sz="1100" dirty="0" smtClean="0"/>
              <a:t>4</a:t>
            </a:r>
            <a:r>
              <a:rPr lang="en-IN" dirty="0" smtClean="0"/>
              <a:t>, Y) =  (q</a:t>
            </a:r>
            <a:r>
              <a:rPr lang="en-IN" sz="1100" dirty="0" smtClean="0"/>
              <a:t>4</a:t>
            </a:r>
            <a:r>
              <a:rPr lang="en-IN" dirty="0" smtClean="0"/>
              <a:t>, Y , R)</a:t>
            </a:r>
          </a:p>
          <a:p>
            <a:pPr fontAlgn="base"/>
            <a:r>
              <a:rPr lang="el-GR" dirty="0" smtClean="0"/>
              <a:t>δ(</a:t>
            </a:r>
            <a:r>
              <a:rPr lang="en-IN" dirty="0" smtClean="0"/>
              <a:t>q</a:t>
            </a:r>
            <a:r>
              <a:rPr lang="en-IN" sz="1100" dirty="0" smtClean="0"/>
              <a:t>4</a:t>
            </a:r>
            <a:r>
              <a:rPr lang="en-IN" dirty="0" smtClean="0"/>
              <a:t>, B) =  (q</a:t>
            </a:r>
            <a:r>
              <a:rPr lang="en-IN" sz="1100" dirty="0" smtClean="0"/>
              <a:t>5</a:t>
            </a:r>
            <a:r>
              <a:rPr lang="en-IN" dirty="0" smtClean="0"/>
              <a:t>, B , R/L) Halt</a:t>
            </a:r>
            <a:endParaRPr lang="en-IN" dirty="0"/>
          </a:p>
        </p:txBody>
      </p:sp>
      <p:sp>
        <p:nvSpPr>
          <p:cNvPr id="4" name="Rectangle 3"/>
          <p:cNvSpPr/>
          <p:nvPr/>
        </p:nvSpPr>
        <p:spPr>
          <a:xfrm>
            <a:off x="571472" y="5786454"/>
            <a:ext cx="5857884" cy="646331"/>
          </a:xfrm>
          <a:prstGeom prst="rect">
            <a:avLst/>
          </a:prstGeom>
        </p:spPr>
        <p:txBody>
          <a:bodyPr wrap="square">
            <a:spAutoFit/>
          </a:bodyPr>
          <a:lstStyle/>
          <a:p>
            <a:r>
              <a:rPr lang="en-IN" dirty="0" smtClean="0">
                <a:latin typeface="Times New Roman" pitchFamily="18" charset="0"/>
                <a:cs typeface="Times New Roman" pitchFamily="18" charset="0"/>
              </a:rPr>
              <a:t>Q={</a:t>
            </a:r>
            <a:r>
              <a:rPr lang="en-IN" dirty="0" smtClean="0">
                <a:latin typeface="Times New Roman" pitchFamily="18" charset="0"/>
                <a:cs typeface="Times New Roman" pitchFamily="18" charset="0"/>
              </a:rPr>
              <a:t>q0,q1,q2,q3,q4,q5}, </a:t>
            </a:r>
            <a:r>
              <a:rPr lang="en-IN" dirty="0" smtClean="0"/>
              <a:t> </a:t>
            </a:r>
            <a:r>
              <a:rPr lang="en-IN" dirty="0" smtClean="0"/>
              <a:t>∑={</a:t>
            </a:r>
            <a:r>
              <a:rPr lang="en-IN" dirty="0" err="1" smtClean="0"/>
              <a:t>a,b</a:t>
            </a:r>
            <a:r>
              <a:rPr lang="en-IN" dirty="0" smtClean="0"/>
              <a:t>,},</a:t>
            </a:r>
            <a:r>
              <a:rPr lang="en-US" dirty="0" smtClean="0"/>
              <a:t> Γ={</a:t>
            </a:r>
            <a:r>
              <a:rPr lang="en-US" dirty="0" err="1" smtClean="0"/>
              <a:t>a,b,X,Y,B</a:t>
            </a:r>
            <a:r>
              <a:rPr lang="en-US" dirty="0" smtClean="0"/>
              <a:t>} </a:t>
            </a:r>
            <a:r>
              <a:rPr lang="en-IN" dirty="0" smtClean="0"/>
              <a:t>, </a:t>
            </a:r>
            <a:endParaRPr lang="en-IN" dirty="0" smtClean="0"/>
          </a:p>
          <a:p>
            <a:r>
              <a:rPr lang="en-IN" dirty="0" smtClean="0"/>
              <a:t>q</a:t>
            </a:r>
            <a:r>
              <a:rPr lang="en-IN" baseline="-25000" dirty="0" smtClean="0"/>
              <a:t>0</a:t>
            </a:r>
            <a:r>
              <a:rPr lang="en-IN" dirty="0" smtClean="0"/>
              <a:t> </a:t>
            </a:r>
            <a:r>
              <a:rPr lang="en-IN" dirty="0" smtClean="0"/>
              <a:t>={q0</a:t>
            </a:r>
            <a:r>
              <a:rPr lang="en-IN" dirty="0" smtClean="0"/>
              <a:t>},F</a:t>
            </a:r>
            <a:r>
              <a:rPr lang="en-IN" dirty="0" smtClean="0"/>
              <a:t>={</a:t>
            </a:r>
            <a:r>
              <a:rPr lang="en-IN" dirty="0" smtClean="0"/>
              <a:t>q5}</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C:\Users\Raju\Downloads\WhatsApp Image 2025-03-25 at 10.37.49.jpeg"/>
          <p:cNvPicPr>
            <a:picLocks noChangeAspect="1" noChangeArrowheads="1"/>
          </p:cNvPicPr>
          <p:nvPr/>
        </p:nvPicPr>
        <p:blipFill>
          <a:blip r:embed="rId2"/>
          <a:srcRect/>
          <a:stretch>
            <a:fillRect/>
          </a:stretch>
        </p:blipFill>
        <p:spPr bwMode="auto">
          <a:xfrm>
            <a:off x="0" y="0"/>
            <a:ext cx="6143636" cy="5429288"/>
          </a:xfrm>
          <a:prstGeom prst="rect">
            <a:avLst/>
          </a:prstGeom>
          <a:noFill/>
        </p:spPr>
      </p:pic>
      <p:sp>
        <p:nvSpPr>
          <p:cNvPr id="6" name="TextBox 5"/>
          <p:cNvSpPr txBox="1"/>
          <p:nvPr/>
        </p:nvSpPr>
        <p:spPr>
          <a:xfrm>
            <a:off x="6286512" y="357166"/>
            <a:ext cx="2634054" cy="5078313"/>
          </a:xfrm>
          <a:prstGeom prst="rect">
            <a:avLst/>
          </a:prstGeom>
          <a:noFill/>
        </p:spPr>
        <p:txBody>
          <a:bodyPr wrap="square" rtlCol="0">
            <a:spAutoFit/>
          </a:bodyPr>
          <a:lstStyle/>
          <a:p>
            <a:pPr fontAlgn="base"/>
            <a:r>
              <a:rPr lang="en-IN" dirty="0" smtClean="0"/>
              <a:t>Transition Functions:</a:t>
            </a:r>
          </a:p>
          <a:p>
            <a:pPr fontAlgn="base"/>
            <a:r>
              <a:rPr lang="el-GR" dirty="0" smtClean="0"/>
              <a:t>δ(</a:t>
            </a:r>
            <a:r>
              <a:rPr lang="en-IN" dirty="0" smtClean="0"/>
              <a:t>q</a:t>
            </a:r>
            <a:r>
              <a:rPr lang="en-IN" sz="1100" dirty="0" smtClean="0"/>
              <a:t>0</a:t>
            </a:r>
            <a:r>
              <a:rPr lang="en-IN" dirty="0" smtClean="0"/>
              <a:t>, a) =  (q</a:t>
            </a:r>
            <a:r>
              <a:rPr lang="en-IN" sz="1100" dirty="0" smtClean="0"/>
              <a:t>1</a:t>
            </a:r>
            <a:r>
              <a:rPr lang="en-IN" dirty="0" smtClean="0"/>
              <a:t>, B, R) </a:t>
            </a:r>
          </a:p>
          <a:p>
            <a:pPr fontAlgn="base"/>
            <a:r>
              <a:rPr lang="el-GR" dirty="0" smtClean="0"/>
              <a:t>δ(</a:t>
            </a:r>
            <a:r>
              <a:rPr lang="en-IN" dirty="0" smtClean="0"/>
              <a:t>q</a:t>
            </a:r>
            <a:r>
              <a:rPr lang="en-IN" sz="1100" dirty="0" smtClean="0"/>
              <a:t>1</a:t>
            </a:r>
            <a:r>
              <a:rPr lang="en-IN" dirty="0" smtClean="0"/>
              <a:t>, a) =  (q</a:t>
            </a:r>
            <a:r>
              <a:rPr lang="en-IN" sz="1100" dirty="0" smtClean="0"/>
              <a:t>1</a:t>
            </a:r>
            <a:r>
              <a:rPr lang="en-IN" dirty="0" smtClean="0"/>
              <a:t>, a, R)</a:t>
            </a:r>
          </a:p>
          <a:p>
            <a:pPr fontAlgn="base"/>
            <a:r>
              <a:rPr lang="el-GR" dirty="0" smtClean="0"/>
              <a:t>δ(</a:t>
            </a:r>
            <a:r>
              <a:rPr lang="en-IN" dirty="0" smtClean="0"/>
              <a:t>q</a:t>
            </a:r>
            <a:r>
              <a:rPr lang="en-IN" sz="1100" dirty="0" smtClean="0"/>
              <a:t>1</a:t>
            </a:r>
            <a:r>
              <a:rPr lang="en-IN" dirty="0" smtClean="0"/>
              <a:t>, b) =  (q</a:t>
            </a:r>
            <a:r>
              <a:rPr lang="en-IN" sz="1100" dirty="0" smtClean="0"/>
              <a:t>1</a:t>
            </a:r>
            <a:r>
              <a:rPr lang="en-IN" dirty="0" smtClean="0"/>
              <a:t>, b, R)</a:t>
            </a:r>
          </a:p>
          <a:p>
            <a:pPr fontAlgn="base"/>
            <a:r>
              <a:rPr lang="el-GR" dirty="0" smtClean="0"/>
              <a:t>δ(</a:t>
            </a:r>
            <a:r>
              <a:rPr lang="en-IN" dirty="0" smtClean="0"/>
              <a:t>q</a:t>
            </a:r>
            <a:r>
              <a:rPr lang="en-IN" sz="1100" dirty="0" smtClean="0"/>
              <a:t>1</a:t>
            </a:r>
            <a:r>
              <a:rPr lang="en-IN" dirty="0" smtClean="0"/>
              <a:t>, B) =  (q</a:t>
            </a:r>
            <a:r>
              <a:rPr lang="en-IN" sz="1100" dirty="0" smtClean="0"/>
              <a:t>2</a:t>
            </a:r>
            <a:r>
              <a:rPr lang="en-IN" dirty="0" smtClean="0"/>
              <a:t>, B, L)</a:t>
            </a:r>
          </a:p>
          <a:p>
            <a:pPr fontAlgn="base"/>
            <a:r>
              <a:rPr lang="el-GR" dirty="0" smtClean="0"/>
              <a:t>δ(</a:t>
            </a:r>
            <a:r>
              <a:rPr lang="en-IN" dirty="0" smtClean="0"/>
              <a:t>q</a:t>
            </a:r>
            <a:r>
              <a:rPr lang="en-IN" sz="1100" dirty="0" smtClean="0"/>
              <a:t>2</a:t>
            </a:r>
            <a:r>
              <a:rPr lang="en-IN" dirty="0" smtClean="0"/>
              <a:t>, a) =  (q</a:t>
            </a:r>
            <a:r>
              <a:rPr lang="en-IN" sz="1100" dirty="0" smtClean="0"/>
              <a:t>3</a:t>
            </a:r>
            <a:r>
              <a:rPr lang="en-IN" dirty="0" smtClean="0"/>
              <a:t>, B, L)</a:t>
            </a:r>
          </a:p>
          <a:p>
            <a:pPr fontAlgn="base"/>
            <a:r>
              <a:rPr lang="el-GR" dirty="0" smtClean="0"/>
              <a:t>δ(</a:t>
            </a:r>
            <a:r>
              <a:rPr lang="en-IN" dirty="0" smtClean="0"/>
              <a:t>q</a:t>
            </a:r>
            <a:r>
              <a:rPr lang="en-IN" sz="1100" dirty="0" smtClean="0"/>
              <a:t>3</a:t>
            </a:r>
            <a:r>
              <a:rPr lang="en-IN" dirty="0" smtClean="0"/>
              <a:t>, a) =  (q</a:t>
            </a:r>
            <a:r>
              <a:rPr lang="en-IN" sz="1100" dirty="0" smtClean="0"/>
              <a:t>3</a:t>
            </a:r>
            <a:r>
              <a:rPr lang="en-IN" dirty="0" smtClean="0"/>
              <a:t>, a, L)</a:t>
            </a:r>
          </a:p>
          <a:p>
            <a:pPr fontAlgn="base"/>
            <a:r>
              <a:rPr lang="el-GR" dirty="0" smtClean="0"/>
              <a:t>δ(</a:t>
            </a:r>
            <a:r>
              <a:rPr lang="en-IN" dirty="0" smtClean="0"/>
              <a:t>q</a:t>
            </a:r>
            <a:r>
              <a:rPr lang="en-IN" sz="1100" dirty="0" smtClean="0"/>
              <a:t>3</a:t>
            </a:r>
            <a:r>
              <a:rPr lang="en-IN" dirty="0" smtClean="0"/>
              <a:t>, b) =  (q</a:t>
            </a:r>
            <a:r>
              <a:rPr lang="en-IN" sz="1100" dirty="0" smtClean="0"/>
              <a:t>3</a:t>
            </a:r>
            <a:r>
              <a:rPr lang="en-IN" dirty="0" smtClean="0"/>
              <a:t>, b, L)</a:t>
            </a:r>
          </a:p>
          <a:p>
            <a:pPr fontAlgn="base"/>
            <a:r>
              <a:rPr lang="el-GR" dirty="0" smtClean="0"/>
              <a:t>δ(</a:t>
            </a:r>
            <a:r>
              <a:rPr lang="en-IN" dirty="0" smtClean="0"/>
              <a:t>q</a:t>
            </a:r>
            <a:r>
              <a:rPr lang="en-IN" sz="1100" dirty="0" smtClean="0"/>
              <a:t>3</a:t>
            </a:r>
            <a:r>
              <a:rPr lang="en-IN" dirty="0" smtClean="0"/>
              <a:t>, B) =  (q</a:t>
            </a:r>
            <a:r>
              <a:rPr lang="en-IN" sz="1100" dirty="0" smtClean="0"/>
              <a:t>0</a:t>
            </a:r>
            <a:r>
              <a:rPr lang="en-IN" dirty="0" smtClean="0"/>
              <a:t>, B, R)</a:t>
            </a:r>
          </a:p>
          <a:p>
            <a:pPr fontAlgn="base"/>
            <a:r>
              <a:rPr lang="el-GR" dirty="0" smtClean="0"/>
              <a:t>δ(</a:t>
            </a:r>
            <a:r>
              <a:rPr lang="en-IN" dirty="0" smtClean="0"/>
              <a:t>q</a:t>
            </a:r>
            <a:r>
              <a:rPr lang="en-IN" sz="1100" dirty="0" smtClean="0"/>
              <a:t>0</a:t>
            </a:r>
            <a:r>
              <a:rPr lang="en-IN" dirty="0" smtClean="0"/>
              <a:t>, b) =  (q</a:t>
            </a:r>
            <a:r>
              <a:rPr lang="en-IN" sz="1100" dirty="0" smtClean="0"/>
              <a:t>4</a:t>
            </a:r>
            <a:r>
              <a:rPr lang="en-IN" dirty="0" smtClean="0"/>
              <a:t>, B, R)</a:t>
            </a:r>
          </a:p>
          <a:p>
            <a:pPr fontAlgn="base"/>
            <a:r>
              <a:rPr lang="el-GR" dirty="0" smtClean="0"/>
              <a:t>δ(</a:t>
            </a:r>
            <a:r>
              <a:rPr lang="en-IN" dirty="0" smtClean="0"/>
              <a:t>q</a:t>
            </a:r>
            <a:r>
              <a:rPr lang="en-IN" sz="1100" dirty="0" smtClean="0"/>
              <a:t>4</a:t>
            </a:r>
            <a:r>
              <a:rPr lang="en-IN" dirty="0" smtClean="0"/>
              <a:t>, a) =  (q</a:t>
            </a:r>
            <a:r>
              <a:rPr lang="en-IN" sz="1100" dirty="0" smtClean="0"/>
              <a:t>4</a:t>
            </a:r>
            <a:r>
              <a:rPr lang="en-IN" dirty="0" smtClean="0"/>
              <a:t>, a, R)</a:t>
            </a:r>
          </a:p>
          <a:p>
            <a:pPr fontAlgn="base"/>
            <a:r>
              <a:rPr lang="el-GR" dirty="0" smtClean="0"/>
              <a:t>δ(</a:t>
            </a:r>
            <a:r>
              <a:rPr lang="en-IN" dirty="0" smtClean="0"/>
              <a:t>q</a:t>
            </a:r>
            <a:r>
              <a:rPr lang="en-IN" sz="1100" dirty="0" smtClean="0"/>
              <a:t>4</a:t>
            </a:r>
            <a:r>
              <a:rPr lang="en-IN" dirty="0" smtClean="0"/>
              <a:t>, b) =  (q</a:t>
            </a:r>
            <a:r>
              <a:rPr lang="en-IN" sz="1100" dirty="0" smtClean="0"/>
              <a:t>4</a:t>
            </a:r>
            <a:r>
              <a:rPr lang="en-IN" dirty="0" smtClean="0"/>
              <a:t>, b, R)</a:t>
            </a:r>
          </a:p>
          <a:p>
            <a:pPr fontAlgn="base"/>
            <a:r>
              <a:rPr lang="el-GR" dirty="0" smtClean="0"/>
              <a:t>δ(</a:t>
            </a:r>
            <a:r>
              <a:rPr lang="en-IN" dirty="0" smtClean="0"/>
              <a:t>q</a:t>
            </a:r>
            <a:r>
              <a:rPr lang="en-IN" sz="1100" dirty="0" smtClean="0"/>
              <a:t>4</a:t>
            </a:r>
            <a:r>
              <a:rPr lang="en-IN" dirty="0" smtClean="0"/>
              <a:t>, B) =  (q</a:t>
            </a:r>
            <a:r>
              <a:rPr lang="en-IN" sz="1100" dirty="0" smtClean="0"/>
              <a:t>5</a:t>
            </a:r>
            <a:r>
              <a:rPr lang="en-IN" dirty="0" smtClean="0"/>
              <a:t>, B, L)</a:t>
            </a:r>
          </a:p>
          <a:p>
            <a:pPr fontAlgn="base"/>
            <a:r>
              <a:rPr lang="el-GR" dirty="0" smtClean="0"/>
              <a:t>δ(</a:t>
            </a:r>
            <a:r>
              <a:rPr lang="en-IN" dirty="0" smtClean="0"/>
              <a:t>q</a:t>
            </a:r>
            <a:r>
              <a:rPr lang="en-IN" sz="1100" dirty="0" smtClean="0"/>
              <a:t>5</a:t>
            </a:r>
            <a:r>
              <a:rPr lang="en-IN" dirty="0" smtClean="0"/>
              <a:t>, b) =  (q</a:t>
            </a:r>
            <a:r>
              <a:rPr lang="en-IN" sz="1100" dirty="0" smtClean="0"/>
              <a:t>6</a:t>
            </a:r>
            <a:r>
              <a:rPr lang="en-IN" dirty="0" smtClean="0"/>
              <a:t>, B, L)</a:t>
            </a:r>
          </a:p>
          <a:p>
            <a:pPr fontAlgn="base"/>
            <a:r>
              <a:rPr lang="el-GR" dirty="0" smtClean="0"/>
              <a:t>δ(</a:t>
            </a:r>
            <a:r>
              <a:rPr lang="en-IN" dirty="0" smtClean="0"/>
              <a:t>q</a:t>
            </a:r>
            <a:r>
              <a:rPr lang="en-IN" sz="1100" dirty="0" smtClean="0"/>
              <a:t>6</a:t>
            </a:r>
            <a:r>
              <a:rPr lang="en-IN" dirty="0" smtClean="0"/>
              <a:t>, a) =  (q</a:t>
            </a:r>
            <a:r>
              <a:rPr lang="en-IN" sz="1100" dirty="0" smtClean="0"/>
              <a:t>6</a:t>
            </a:r>
            <a:r>
              <a:rPr lang="en-IN" dirty="0" smtClean="0"/>
              <a:t>, a, L)</a:t>
            </a:r>
          </a:p>
          <a:p>
            <a:pPr fontAlgn="base"/>
            <a:r>
              <a:rPr lang="el-GR" dirty="0" smtClean="0"/>
              <a:t>δ(</a:t>
            </a:r>
            <a:r>
              <a:rPr lang="en-IN" dirty="0" smtClean="0"/>
              <a:t>q</a:t>
            </a:r>
            <a:r>
              <a:rPr lang="en-IN" sz="1100" dirty="0" smtClean="0"/>
              <a:t>6</a:t>
            </a:r>
            <a:r>
              <a:rPr lang="en-IN" dirty="0" smtClean="0"/>
              <a:t>, b) =  (q</a:t>
            </a:r>
            <a:r>
              <a:rPr lang="en-IN" sz="1100" dirty="0" smtClean="0"/>
              <a:t>6</a:t>
            </a:r>
            <a:r>
              <a:rPr lang="en-IN" dirty="0" smtClean="0"/>
              <a:t>, b, L)</a:t>
            </a:r>
          </a:p>
          <a:p>
            <a:pPr fontAlgn="base"/>
            <a:r>
              <a:rPr lang="el-GR" dirty="0" smtClean="0"/>
              <a:t>δ(</a:t>
            </a:r>
            <a:r>
              <a:rPr lang="en-IN" dirty="0" smtClean="0"/>
              <a:t>q</a:t>
            </a:r>
            <a:r>
              <a:rPr lang="en-IN" sz="1100" dirty="0" smtClean="0"/>
              <a:t>6</a:t>
            </a:r>
            <a:r>
              <a:rPr lang="en-IN" dirty="0" smtClean="0"/>
              <a:t>, B) =  (q</a:t>
            </a:r>
            <a:r>
              <a:rPr lang="en-IN" sz="1100" dirty="0" smtClean="0"/>
              <a:t>0</a:t>
            </a:r>
            <a:r>
              <a:rPr lang="en-IN" dirty="0" smtClean="0"/>
              <a:t>, B, R)</a:t>
            </a:r>
          </a:p>
          <a:p>
            <a:pPr fontAlgn="base"/>
            <a:r>
              <a:rPr lang="el-GR" dirty="0" smtClean="0"/>
              <a:t>δ(</a:t>
            </a:r>
            <a:r>
              <a:rPr lang="en-IN" dirty="0" smtClean="0"/>
              <a:t>q</a:t>
            </a:r>
            <a:r>
              <a:rPr lang="en-IN" sz="1100" dirty="0" smtClean="0"/>
              <a:t>0</a:t>
            </a:r>
            <a:r>
              <a:rPr lang="en-IN" dirty="0" smtClean="0"/>
              <a:t>, B) =  (q</a:t>
            </a:r>
            <a:r>
              <a:rPr lang="en-IN" sz="1100" dirty="0" smtClean="0"/>
              <a:t>7</a:t>
            </a:r>
            <a:r>
              <a:rPr lang="en-IN" dirty="0" smtClean="0"/>
              <a:t>, B , R/L) Halt</a:t>
            </a:r>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1143000"/>
          </a:xfrm>
        </p:spPr>
        <p:txBody>
          <a:bodyPr/>
          <a:lstStyle/>
          <a:p>
            <a:r>
              <a:rPr lang="en-US" b="1" dirty="0" smtClean="0"/>
              <a:t>Recursive languages</a:t>
            </a:r>
            <a:endParaRPr lang="en-IN" dirty="0"/>
          </a:p>
        </p:txBody>
      </p:sp>
      <p:sp>
        <p:nvSpPr>
          <p:cNvPr id="5" name="Content Placeholder 2"/>
          <p:cNvSpPr>
            <a:spLocks noGrp="1"/>
          </p:cNvSpPr>
          <p:nvPr>
            <p:ph idx="1"/>
          </p:nvPr>
        </p:nvSpPr>
        <p:spPr>
          <a:xfrm>
            <a:off x="457200" y="1600200"/>
            <a:ext cx="8229600" cy="4525963"/>
          </a:xfrm>
        </p:spPr>
        <p:txBody>
          <a:bodyPr>
            <a:normAutofit/>
          </a:bodyPr>
          <a:lstStyle/>
          <a:p>
            <a:r>
              <a:rPr lang="en-IN" sz="1600" dirty="0" smtClean="0"/>
              <a:t>A language ‘L’ is said to be recursive language if there exist a </a:t>
            </a:r>
            <a:r>
              <a:rPr lang="en-IN" sz="1600" dirty="0" err="1" smtClean="0"/>
              <a:t>turing</a:t>
            </a:r>
            <a:r>
              <a:rPr lang="en-IN" sz="1600" dirty="0" smtClean="0"/>
              <a:t> machine that accepts every string </a:t>
            </a:r>
            <a:r>
              <a:rPr lang="en-IN" sz="1600" dirty="0" err="1" smtClean="0"/>
              <a:t>w∈L</a:t>
            </a:r>
            <a:r>
              <a:rPr lang="en-IN" sz="1600" dirty="0" smtClean="0"/>
              <a:t> and halts while rejects every string </a:t>
            </a:r>
            <a:r>
              <a:rPr lang="en-IN" sz="1600" dirty="0" err="1" smtClean="0"/>
              <a:t>w∈L</a:t>
            </a:r>
            <a:r>
              <a:rPr lang="en-IN" sz="1600" dirty="0" smtClean="0"/>
              <a:t>  </a:t>
            </a:r>
            <a:r>
              <a:rPr lang="en-IN" sz="1600" dirty="0" smtClean="0"/>
              <a:t>halts</a:t>
            </a:r>
          </a:p>
          <a:p>
            <a:endParaRPr lang="en-IN" sz="1600" dirty="0" smtClean="0"/>
          </a:p>
          <a:p>
            <a:endParaRPr lang="en-IN" sz="1600" dirty="0" smtClean="0"/>
          </a:p>
          <a:p>
            <a:endParaRPr lang="en-IN" sz="1600" dirty="0" smtClean="0"/>
          </a:p>
          <a:p>
            <a:endParaRPr lang="en-IN" sz="1600" dirty="0" smtClean="0"/>
          </a:p>
          <a:p>
            <a:endParaRPr lang="en-IN" sz="1600" dirty="0" smtClean="0"/>
          </a:p>
          <a:p>
            <a:endParaRPr lang="en-IN" sz="1600" dirty="0" smtClean="0"/>
          </a:p>
          <a:p>
            <a:endParaRPr lang="en-IN" sz="1600" dirty="0" smtClean="0"/>
          </a:p>
          <a:p>
            <a:r>
              <a:rPr lang="en-IN" sz="1600" dirty="0" smtClean="0"/>
              <a:t>Recursive language is the subset of recursive enumerable language.</a:t>
            </a:r>
          </a:p>
          <a:p>
            <a:r>
              <a:rPr lang="en-IN" sz="1600" dirty="0" smtClean="0"/>
              <a:t>Complement of a recursive language is recursive language.</a:t>
            </a:r>
          </a:p>
          <a:p>
            <a:endParaRPr lang="en-IN" sz="1600" dirty="0"/>
          </a:p>
        </p:txBody>
      </p:sp>
      <p:sp>
        <p:nvSpPr>
          <p:cNvPr id="6" name="Rectangle 5"/>
          <p:cNvSpPr/>
          <p:nvPr/>
        </p:nvSpPr>
        <p:spPr>
          <a:xfrm>
            <a:off x="857224" y="2643182"/>
            <a:ext cx="914400"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sp>
        <p:nvSpPr>
          <p:cNvPr id="7" name="Rectangle 6"/>
          <p:cNvSpPr/>
          <p:nvPr/>
        </p:nvSpPr>
        <p:spPr>
          <a:xfrm>
            <a:off x="2643174" y="2643182"/>
            <a:ext cx="3929090"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Turing machine accepts w and halts</a:t>
            </a:r>
            <a:endParaRPr lang="en-IN" dirty="0"/>
          </a:p>
        </p:txBody>
      </p:sp>
      <p:sp>
        <p:nvSpPr>
          <p:cNvPr id="8" name="Rectangle 7"/>
          <p:cNvSpPr/>
          <p:nvPr/>
        </p:nvSpPr>
        <p:spPr>
          <a:xfrm>
            <a:off x="928662" y="3286124"/>
            <a:ext cx="914400"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sp>
        <p:nvSpPr>
          <p:cNvPr id="9" name="Rectangle 8"/>
          <p:cNvSpPr/>
          <p:nvPr/>
        </p:nvSpPr>
        <p:spPr>
          <a:xfrm>
            <a:off x="2643174" y="3143248"/>
            <a:ext cx="3929090" cy="5000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Turing machine rejects w and halts.</a:t>
            </a:r>
            <a:endParaRPr lang="en-IN" dirty="0"/>
          </a:p>
        </p:txBody>
      </p:sp>
      <p:cxnSp>
        <p:nvCxnSpPr>
          <p:cNvPr id="11" name="Straight Connector 10"/>
          <p:cNvCxnSpPr/>
          <p:nvPr/>
        </p:nvCxnSpPr>
        <p:spPr>
          <a:xfrm rot="5400000">
            <a:off x="1307285" y="3407567"/>
            <a:ext cx="214314" cy="114304"/>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rot="5400000">
            <a:off x="5307813" y="1978807"/>
            <a:ext cx="214314" cy="114304"/>
          </a:xfrm>
          <a:prstGeom prst="line">
            <a:avLst/>
          </a:prstGeom>
        </p:spPr>
        <p:style>
          <a:lnRef idx="2">
            <a:schemeClr val="dk1"/>
          </a:lnRef>
          <a:fillRef idx="0">
            <a:schemeClr val="dk1"/>
          </a:fillRef>
          <a:effectRef idx="1">
            <a:schemeClr val="dk1"/>
          </a:effectRef>
          <a:fontRef idx="minor">
            <a:schemeClr val="tx1"/>
          </a:fontRef>
        </p:style>
      </p:cxnSp>
      <p:sp>
        <p:nvSpPr>
          <p:cNvPr id="13" name="Rectangle 12"/>
          <p:cNvSpPr/>
          <p:nvPr/>
        </p:nvSpPr>
        <p:spPr>
          <a:xfrm>
            <a:off x="7000892" y="3929066"/>
            <a:ext cx="1057276" cy="6429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4" name="Oval 13"/>
          <p:cNvSpPr/>
          <p:nvPr/>
        </p:nvSpPr>
        <p:spPr>
          <a:xfrm>
            <a:off x="7286644" y="4000504"/>
            <a:ext cx="428628"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a:t>
            </a:r>
            <a:endParaRPr lang="en-IN" dirty="0"/>
          </a:p>
        </p:txBody>
      </p:sp>
      <p:sp>
        <p:nvSpPr>
          <p:cNvPr id="15" name="TextBox 14"/>
          <p:cNvSpPr txBox="1"/>
          <p:nvPr/>
        </p:nvSpPr>
        <p:spPr>
          <a:xfrm>
            <a:off x="7643834" y="3929066"/>
            <a:ext cx="401072" cy="369332"/>
          </a:xfrm>
          <a:prstGeom prst="rect">
            <a:avLst/>
          </a:prstGeom>
          <a:noFill/>
        </p:spPr>
        <p:txBody>
          <a:bodyPr wrap="none" rtlCol="0">
            <a:spAutoFit/>
          </a:bodyPr>
          <a:lstStyle/>
          <a:p>
            <a:r>
              <a:rPr lang="en-IN" dirty="0" smtClean="0"/>
              <a:t> </a:t>
            </a:r>
            <a:r>
              <a:rPr lang="en-IN" dirty="0" err="1" smtClean="0"/>
              <a:t>L</a:t>
            </a:r>
            <a:r>
              <a:rPr lang="en-IN" baseline="30000" dirty="0" err="1" smtClean="0"/>
              <a:t>c</a:t>
            </a:r>
            <a:endParaRPr lang="en-IN" baseline="30000" dirty="0"/>
          </a:p>
        </p:txBody>
      </p:sp>
      <p:sp>
        <p:nvSpPr>
          <p:cNvPr id="16" name="Rectangle 15"/>
          <p:cNvSpPr/>
          <p:nvPr/>
        </p:nvSpPr>
        <p:spPr>
          <a:xfrm>
            <a:off x="7072330" y="5072074"/>
            <a:ext cx="1057276" cy="6429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TM</a:t>
            </a:r>
            <a:endParaRPr lang="en-IN" dirty="0"/>
          </a:p>
        </p:txBody>
      </p:sp>
      <p:sp>
        <p:nvSpPr>
          <p:cNvPr id="17" name="Rectangle 16"/>
          <p:cNvSpPr/>
          <p:nvPr/>
        </p:nvSpPr>
        <p:spPr>
          <a:xfrm>
            <a:off x="6500826" y="6000768"/>
            <a:ext cx="642942"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Yes</a:t>
            </a:r>
            <a:endParaRPr lang="en-IN" dirty="0"/>
          </a:p>
        </p:txBody>
      </p:sp>
      <p:sp>
        <p:nvSpPr>
          <p:cNvPr id="18" name="Rectangle 17"/>
          <p:cNvSpPr/>
          <p:nvPr/>
        </p:nvSpPr>
        <p:spPr>
          <a:xfrm>
            <a:off x="7429520" y="6000768"/>
            <a:ext cx="571504"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No</a:t>
            </a:r>
            <a:endParaRPr lang="en-IN" dirty="0"/>
          </a:p>
        </p:txBody>
      </p:sp>
      <p:cxnSp>
        <p:nvCxnSpPr>
          <p:cNvPr id="20" name="Straight Arrow Connector 19"/>
          <p:cNvCxnSpPr>
            <a:stCxn id="14" idx="4"/>
          </p:cNvCxnSpPr>
          <p:nvPr/>
        </p:nvCxnSpPr>
        <p:spPr>
          <a:xfrm rot="5400000">
            <a:off x="7179487" y="4750603"/>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16" idx="2"/>
            <a:endCxn id="17" idx="0"/>
          </p:cNvCxnSpPr>
          <p:nvPr/>
        </p:nvCxnSpPr>
        <p:spPr>
          <a:xfrm rot="5400000">
            <a:off x="7068757" y="5468557"/>
            <a:ext cx="285752" cy="778671"/>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5" idx="2"/>
          </p:cNvCxnSpPr>
          <p:nvPr/>
        </p:nvCxnSpPr>
        <p:spPr>
          <a:xfrm rot="16200000" flipH="1">
            <a:off x="7464421" y="4678347"/>
            <a:ext cx="773676" cy="1377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3" name="Elbow Connector 22"/>
          <p:cNvCxnSpPr/>
          <p:nvPr/>
        </p:nvCxnSpPr>
        <p:spPr>
          <a:xfrm rot="5400000">
            <a:off x="7715272" y="5857892"/>
            <a:ext cx="285752" cy="1588"/>
          </a:xfrm>
          <a:prstGeom prst="bentConnector3">
            <a:avLst>
              <a:gd name="adj1" fmla="val 50000"/>
            </a:avLst>
          </a:prstGeom>
          <a:ln>
            <a:tailEnd type="arrow"/>
          </a:ln>
        </p:spPr>
        <p:style>
          <a:lnRef idx="2">
            <a:schemeClr val="accent3"/>
          </a:lnRef>
          <a:fillRef idx="0">
            <a:schemeClr val="accent3"/>
          </a:fillRef>
          <a:effectRef idx="1">
            <a:schemeClr val="accent3"/>
          </a:effectRef>
          <a:fontRef idx="minor">
            <a:schemeClr val="tx1"/>
          </a:fontRef>
        </p:style>
      </p:cxnSp>
      <p:sp>
        <p:nvSpPr>
          <p:cNvPr id="25" name="Rectangle 24"/>
          <p:cNvSpPr/>
          <p:nvPr/>
        </p:nvSpPr>
        <p:spPr>
          <a:xfrm>
            <a:off x="6143636" y="5572140"/>
            <a:ext cx="785818"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sp>
        <p:nvSpPr>
          <p:cNvPr id="26" name="Rectangle 25"/>
          <p:cNvSpPr/>
          <p:nvPr/>
        </p:nvSpPr>
        <p:spPr>
          <a:xfrm>
            <a:off x="8072462" y="5786454"/>
            <a:ext cx="642942"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cxnSp>
        <p:nvCxnSpPr>
          <p:cNvPr id="27" name="Straight Connector 26"/>
          <p:cNvCxnSpPr/>
          <p:nvPr/>
        </p:nvCxnSpPr>
        <p:spPr>
          <a:xfrm rot="5400000">
            <a:off x="8308209" y="5907897"/>
            <a:ext cx="214314" cy="114304"/>
          </a:xfrm>
          <a:prstGeom prst="line">
            <a:avLst/>
          </a:prstGeom>
        </p:spPr>
        <p:style>
          <a:lnRef idx="2">
            <a:schemeClr val="dk1"/>
          </a:lnRef>
          <a:fillRef idx="0">
            <a:schemeClr val="dk1"/>
          </a:fillRef>
          <a:effectRef idx="1">
            <a:schemeClr val="dk1"/>
          </a:effectRef>
          <a:fontRef idx="minor">
            <a:schemeClr val="tx1"/>
          </a:fontRef>
        </p:style>
      </p:cxnSp>
      <p:cxnSp>
        <p:nvCxnSpPr>
          <p:cNvPr id="28" name="Straight Arrow Connector 27"/>
          <p:cNvCxnSpPr>
            <a:stCxn id="6" idx="3"/>
            <a:endCxn id="7" idx="1"/>
          </p:cNvCxnSpPr>
          <p:nvPr/>
        </p:nvCxnSpPr>
        <p:spPr>
          <a:xfrm>
            <a:off x="1771624" y="2786058"/>
            <a:ext cx="871550" cy="158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29" name="Straight Arrow Connector 28"/>
          <p:cNvCxnSpPr>
            <a:stCxn id="8" idx="3"/>
            <a:endCxn id="9" idx="1"/>
          </p:cNvCxnSpPr>
          <p:nvPr/>
        </p:nvCxnSpPr>
        <p:spPr>
          <a:xfrm flipV="1">
            <a:off x="1843062" y="3393281"/>
            <a:ext cx="800112" cy="35719"/>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32" name="Rectangle 31"/>
          <p:cNvSpPr/>
          <p:nvPr/>
        </p:nvSpPr>
        <p:spPr>
          <a:xfrm>
            <a:off x="6429388" y="6429396"/>
            <a:ext cx="785818"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Halt</a:t>
            </a:r>
            <a:endParaRPr lang="en-IN" dirty="0"/>
          </a:p>
        </p:txBody>
      </p:sp>
      <p:sp>
        <p:nvSpPr>
          <p:cNvPr id="33" name="Rectangle 32"/>
          <p:cNvSpPr/>
          <p:nvPr/>
        </p:nvSpPr>
        <p:spPr>
          <a:xfrm>
            <a:off x="7572396" y="6429396"/>
            <a:ext cx="785818"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Halt</a:t>
            </a:r>
            <a:endParaRPr lang="en-IN" dirty="0"/>
          </a:p>
        </p:txBody>
      </p:sp>
      <p:cxnSp>
        <p:nvCxnSpPr>
          <p:cNvPr id="35" name="Straight Arrow Connector 34"/>
          <p:cNvCxnSpPr>
            <a:stCxn id="17" idx="2"/>
            <a:endCxn id="32" idx="0"/>
          </p:cNvCxnSpPr>
          <p:nvPr/>
        </p:nvCxnSpPr>
        <p:spPr>
          <a:xfrm rot="5400000">
            <a:off x="6715140" y="6322239"/>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8" idx="2"/>
            <a:endCxn id="33" idx="0"/>
          </p:cNvCxnSpPr>
          <p:nvPr/>
        </p:nvCxnSpPr>
        <p:spPr>
          <a:xfrm rot="16200000" flipH="1">
            <a:off x="7733131" y="6197222"/>
            <a:ext cx="214314" cy="2500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Recursively Enumerable languages</a:t>
            </a:r>
            <a:endParaRPr lang="en-IN" dirty="0"/>
          </a:p>
        </p:txBody>
      </p:sp>
      <p:sp>
        <p:nvSpPr>
          <p:cNvPr id="3" name="Content Placeholder 2"/>
          <p:cNvSpPr>
            <a:spLocks noGrp="1"/>
          </p:cNvSpPr>
          <p:nvPr>
            <p:ph idx="1"/>
          </p:nvPr>
        </p:nvSpPr>
        <p:spPr/>
        <p:txBody>
          <a:bodyPr>
            <a:normAutofit/>
          </a:bodyPr>
          <a:lstStyle/>
          <a:p>
            <a:r>
              <a:rPr lang="en-IN" sz="1600" dirty="0" smtClean="0"/>
              <a:t>A language ‘L’ is said to be recursive enumerable if there exist a </a:t>
            </a:r>
            <a:r>
              <a:rPr lang="en-IN" sz="1600" dirty="0" err="1" smtClean="0"/>
              <a:t>turing</a:t>
            </a:r>
            <a:r>
              <a:rPr lang="en-IN" sz="1600" dirty="0" smtClean="0"/>
              <a:t> machine that accepts string </a:t>
            </a:r>
            <a:r>
              <a:rPr lang="en-IN" sz="1600" dirty="0" err="1" smtClean="0"/>
              <a:t>w∈L</a:t>
            </a:r>
            <a:r>
              <a:rPr lang="en-IN" sz="1600" dirty="0" smtClean="0"/>
              <a:t> and for string </a:t>
            </a:r>
            <a:r>
              <a:rPr lang="en-IN" sz="1600" dirty="0" err="1" smtClean="0"/>
              <a:t>w∈L</a:t>
            </a:r>
            <a:r>
              <a:rPr lang="en-IN" sz="1600" dirty="0" smtClean="0"/>
              <a:t> </a:t>
            </a:r>
            <a:r>
              <a:rPr lang="en-IN" sz="1600" dirty="0" smtClean="0"/>
              <a:t>, </a:t>
            </a:r>
            <a:r>
              <a:rPr lang="en-IN" sz="1600" dirty="0" err="1" smtClean="0"/>
              <a:t>turing</a:t>
            </a:r>
            <a:r>
              <a:rPr lang="en-IN" sz="1600" dirty="0" smtClean="0"/>
              <a:t> machine either may halt in non final state or may not goes into infinite loop.</a:t>
            </a:r>
          </a:p>
          <a:p>
            <a:endParaRPr lang="en-IN" sz="1600" dirty="0" smtClean="0"/>
          </a:p>
          <a:p>
            <a:endParaRPr lang="en-IN" sz="1600" dirty="0" smtClean="0"/>
          </a:p>
          <a:p>
            <a:endParaRPr lang="en-IN" sz="1600" dirty="0" smtClean="0"/>
          </a:p>
          <a:p>
            <a:endParaRPr lang="en-IN" sz="1600" dirty="0" smtClean="0"/>
          </a:p>
          <a:p>
            <a:endParaRPr lang="en-IN" sz="1600" dirty="0" smtClean="0"/>
          </a:p>
          <a:p>
            <a:endParaRPr lang="en-IN" sz="1600" dirty="0" smtClean="0"/>
          </a:p>
          <a:p>
            <a:endParaRPr lang="en-IN" sz="1600" dirty="0" smtClean="0"/>
          </a:p>
          <a:p>
            <a:r>
              <a:rPr lang="en-IN" sz="1600" dirty="0" smtClean="0"/>
              <a:t>Recursive enumerable language is the superset of recursive language.</a:t>
            </a:r>
          </a:p>
          <a:p>
            <a:r>
              <a:rPr lang="en-IN" sz="1600" dirty="0" smtClean="0"/>
              <a:t>Complement of recursive enumerable is not recursive enumerable.</a:t>
            </a:r>
          </a:p>
          <a:p>
            <a:endParaRPr lang="en-IN" sz="1600" dirty="0"/>
          </a:p>
        </p:txBody>
      </p:sp>
      <p:sp>
        <p:nvSpPr>
          <p:cNvPr id="4" name="Rectangle 3"/>
          <p:cNvSpPr/>
          <p:nvPr/>
        </p:nvSpPr>
        <p:spPr>
          <a:xfrm>
            <a:off x="857224" y="2643182"/>
            <a:ext cx="914400"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sp>
        <p:nvSpPr>
          <p:cNvPr id="5" name="Rectangle 4"/>
          <p:cNvSpPr/>
          <p:nvPr/>
        </p:nvSpPr>
        <p:spPr>
          <a:xfrm>
            <a:off x="2643174" y="2643182"/>
            <a:ext cx="3929090"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Turing machine accepts w</a:t>
            </a:r>
            <a:endParaRPr lang="en-IN" dirty="0"/>
          </a:p>
        </p:txBody>
      </p:sp>
      <p:sp>
        <p:nvSpPr>
          <p:cNvPr id="6" name="Rectangle 5"/>
          <p:cNvSpPr/>
          <p:nvPr/>
        </p:nvSpPr>
        <p:spPr>
          <a:xfrm>
            <a:off x="857224" y="3643314"/>
            <a:ext cx="914400"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sp>
        <p:nvSpPr>
          <p:cNvPr id="7" name="Rectangle 6"/>
          <p:cNvSpPr/>
          <p:nvPr/>
        </p:nvSpPr>
        <p:spPr>
          <a:xfrm>
            <a:off x="2643174" y="3143248"/>
            <a:ext cx="3929090" cy="5000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Turing machine may halt on non final state</a:t>
            </a:r>
            <a:endParaRPr lang="en-IN" dirty="0"/>
          </a:p>
        </p:txBody>
      </p:sp>
      <p:sp>
        <p:nvSpPr>
          <p:cNvPr id="8" name="Rectangle 7"/>
          <p:cNvSpPr/>
          <p:nvPr/>
        </p:nvSpPr>
        <p:spPr>
          <a:xfrm>
            <a:off x="2643174" y="3857628"/>
            <a:ext cx="3929090" cy="5000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Turing machine may goes into infinite loop</a:t>
            </a:r>
            <a:endParaRPr lang="en-IN" dirty="0"/>
          </a:p>
        </p:txBody>
      </p:sp>
      <p:cxnSp>
        <p:nvCxnSpPr>
          <p:cNvPr id="10" name="Straight Connector 9"/>
          <p:cNvCxnSpPr/>
          <p:nvPr/>
        </p:nvCxnSpPr>
        <p:spPr>
          <a:xfrm rot="5400000">
            <a:off x="1235847" y="3764757"/>
            <a:ext cx="214314" cy="114304"/>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rot="5400000">
            <a:off x="3021797" y="1978807"/>
            <a:ext cx="214314" cy="114304"/>
          </a:xfrm>
          <a:prstGeom prst="line">
            <a:avLst/>
          </a:prstGeom>
        </p:spPr>
        <p:style>
          <a:lnRef idx="2">
            <a:schemeClr val="dk1"/>
          </a:lnRef>
          <a:fillRef idx="0">
            <a:schemeClr val="dk1"/>
          </a:fillRef>
          <a:effectRef idx="1">
            <a:schemeClr val="dk1"/>
          </a:effectRef>
          <a:fontRef idx="minor">
            <a:schemeClr val="tx1"/>
          </a:fontRef>
        </p:style>
      </p:cxnSp>
      <p:sp>
        <p:nvSpPr>
          <p:cNvPr id="12" name="Rectangle 11"/>
          <p:cNvSpPr/>
          <p:nvPr/>
        </p:nvSpPr>
        <p:spPr>
          <a:xfrm>
            <a:off x="7000892" y="3929066"/>
            <a:ext cx="1057276" cy="6429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3" name="Oval 12"/>
          <p:cNvSpPr/>
          <p:nvPr/>
        </p:nvSpPr>
        <p:spPr>
          <a:xfrm>
            <a:off x="7286644" y="4000504"/>
            <a:ext cx="428628"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a:t>
            </a:r>
            <a:endParaRPr lang="en-IN" dirty="0"/>
          </a:p>
        </p:txBody>
      </p:sp>
      <p:sp>
        <p:nvSpPr>
          <p:cNvPr id="14" name="TextBox 13"/>
          <p:cNvSpPr txBox="1"/>
          <p:nvPr/>
        </p:nvSpPr>
        <p:spPr>
          <a:xfrm>
            <a:off x="7643834" y="3929066"/>
            <a:ext cx="401072" cy="369332"/>
          </a:xfrm>
          <a:prstGeom prst="rect">
            <a:avLst/>
          </a:prstGeom>
          <a:noFill/>
        </p:spPr>
        <p:txBody>
          <a:bodyPr wrap="none" rtlCol="0">
            <a:spAutoFit/>
          </a:bodyPr>
          <a:lstStyle/>
          <a:p>
            <a:r>
              <a:rPr lang="en-IN" dirty="0" smtClean="0"/>
              <a:t> </a:t>
            </a:r>
            <a:r>
              <a:rPr lang="en-IN" dirty="0" err="1" smtClean="0"/>
              <a:t>L</a:t>
            </a:r>
            <a:r>
              <a:rPr lang="en-IN" baseline="30000" dirty="0" err="1" smtClean="0"/>
              <a:t>c</a:t>
            </a:r>
            <a:endParaRPr lang="en-IN" baseline="30000" dirty="0"/>
          </a:p>
        </p:txBody>
      </p:sp>
      <p:sp>
        <p:nvSpPr>
          <p:cNvPr id="15" name="Rectangle 14"/>
          <p:cNvSpPr/>
          <p:nvPr/>
        </p:nvSpPr>
        <p:spPr>
          <a:xfrm>
            <a:off x="7072330" y="5072074"/>
            <a:ext cx="1057276" cy="6429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TM</a:t>
            </a:r>
            <a:endParaRPr lang="en-IN" dirty="0"/>
          </a:p>
        </p:txBody>
      </p:sp>
      <p:sp>
        <p:nvSpPr>
          <p:cNvPr id="16" name="Rectangle 15"/>
          <p:cNvSpPr/>
          <p:nvPr/>
        </p:nvSpPr>
        <p:spPr>
          <a:xfrm>
            <a:off x="6500826" y="6000768"/>
            <a:ext cx="642942"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Yes</a:t>
            </a:r>
            <a:endParaRPr lang="en-IN" dirty="0"/>
          </a:p>
        </p:txBody>
      </p:sp>
      <p:sp>
        <p:nvSpPr>
          <p:cNvPr id="17" name="Rectangle 16"/>
          <p:cNvSpPr/>
          <p:nvPr/>
        </p:nvSpPr>
        <p:spPr>
          <a:xfrm>
            <a:off x="7429520" y="6000768"/>
            <a:ext cx="571504"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No</a:t>
            </a:r>
            <a:endParaRPr lang="en-IN" dirty="0"/>
          </a:p>
        </p:txBody>
      </p:sp>
      <p:sp>
        <p:nvSpPr>
          <p:cNvPr id="18" name="Rectangle 17"/>
          <p:cNvSpPr/>
          <p:nvPr/>
        </p:nvSpPr>
        <p:spPr>
          <a:xfrm>
            <a:off x="8286776" y="6000768"/>
            <a:ext cx="557210"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smtClean="0"/>
              <a:t>∞</a:t>
            </a:r>
            <a:endParaRPr lang="en-IN" dirty="0"/>
          </a:p>
        </p:txBody>
      </p:sp>
      <p:cxnSp>
        <p:nvCxnSpPr>
          <p:cNvPr id="20" name="Straight Arrow Connector 19"/>
          <p:cNvCxnSpPr>
            <a:stCxn id="13" idx="4"/>
          </p:cNvCxnSpPr>
          <p:nvPr/>
        </p:nvCxnSpPr>
        <p:spPr>
          <a:xfrm rot="5400000">
            <a:off x="7179487" y="4750603"/>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15" idx="2"/>
            <a:endCxn id="16" idx="0"/>
          </p:cNvCxnSpPr>
          <p:nvPr/>
        </p:nvCxnSpPr>
        <p:spPr>
          <a:xfrm rot="5400000">
            <a:off x="7068757" y="5468557"/>
            <a:ext cx="285752" cy="778671"/>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4" idx="2"/>
          </p:cNvCxnSpPr>
          <p:nvPr/>
        </p:nvCxnSpPr>
        <p:spPr>
          <a:xfrm rot="16200000" flipH="1">
            <a:off x="7464421" y="4678347"/>
            <a:ext cx="773676" cy="1377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9" name="Elbow Connector 28"/>
          <p:cNvCxnSpPr/>
          <p:nvPr/>
        </p:nvCxnSpPr>
        <p:spPr>
          <a:xfrm rot="5400000">
            <a:off x="7715272" y="5857892"/>
            <a:ext cx="285752" cy="1588"/>
          </a:xfrm>
          <a:prstGeom prst="bentConnector3">
            <a:avLst>
              <a:gd name="adj1" fmla="val 50000"/>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1" name="Straight Arrow Connector 30"/>
          <p:cNvCxnSpPr>
            <a:endCxn id="18" idx="0"/>
          </p:cNvCxnSpPr>
          <p:nvPr/>
        </p:nvCxnSpPr>
        <p:spPr>
          <a:xfrm>
            <a:off x="7858148" y="5715016"/>
            <a:ext cx="707233" cy="285752"/>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32" name="Rectangle 31"/>
          <p:cNvSpPr/>
          <p:nvPr/>
        </p:nvSpPr>
        <p:spPr>
          <a:xfrm>
            <a:off x="6143636" y="5572140"/>
            <a:ext cx="785818" cy="214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sp>
        <p:nvSpPr>
          <p:cNvPr id="33" name="Rectangle 32"/>
          <p:cNvSpPr/>
          <p:nvPr/>
        </p:nvSpPr>
        <p:spPr>
          <a:xfrm>
            <a:off x="7858148" y="6286520"/>
            <a:ext cx="914400" cy="285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smtClean="0"/>
              <a:t>w∈L</a:t>
            </a:r>
            <a:endParaRPr lang="en-IN" dirty="0"/>
          </a:p>
        </p:txBody>
      </p:sp>
      <p:cxnSp>
        <p:nvCxnSpPr>
          <p:cNvPr id="34" name="Straight Connector 33"/>
          <p:cNvCxnSpPr/>
          <p:nvPr/>
        </p:nvCxnSpPr>
        <p:spPr>
          <a:xfrm rot="5400000">
            <a:off x="8236771" y="6407963"/>
            <a:ext cx="214314" cy="114304"/>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Arrow Connector 35"/>
          <p:cNvCxnSpPr>
            <a:stCxn id="4" idx="3"/>
            <a:endCxn id="5" idx="1"/>
          </p:cNvCxnSpPr>
          <p:nvPr/>
        </p:nvCxnSpPr>
        <p:spPr>
          <a:xfrm>
            <a:off x="1771624" y="2786058"/>
            <a:ext cx="871550" cy="158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8" name="Straight Arrow Connector 37"/>
          <p:cNvCxnSpPr>
            <a:stCxn id="6" idx="3"/>
            <a:endCxn id="7" idx="1"/>
          </p:cNvCxnSpPr>
          <p:nvPr/>
        </p:nvCxnSpPr>
        <p:spPr>
          <a:xfrm flipV="1">
            <a:off x="1771624" y="3393281"/>
            <a:ext cx="871550" cy="392909"/>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40" name="Straight Arrow Connector 39"/>
          <p:cNvCxnSpPr>
            <a:stCxn id="6" idx="3"/>
            <a:endCxn id="8" idx="1"/>
          </p:cNvCxnSpPr>
          <p:nvPr/>
        </p:nvCxnSpPr>
        <p:spPr>
          <a:xfrm>
            <a:off x="1771624" y="3786190"/>
            <a:ext cx="871550" cy="321471"/>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pPr>
              <a:buNone/>
            </a:pPr>
            <a:r>
              <a:rPr lang="en-US" sz="1600" b="1" dirty="0" smtClean="0"/>
              <a:t>Properties of Recursively enumerable languages</a:t>
            </a:r>
            <a:endParaRPr lang="en-IN" sz="1600" b="1" dirty="0" smtClean="0"/>
          </a:p>
          <a:p>
            <a:pPr lvl="0"/>
            <a:r>
              <a:rPr lang="en-US" sz="1600" dirty="0" smtClean="0"/>
              <a:t>Union ,Intersection, Complement</a:t>
            </a:r>
            <a:endParaRPr lang="en-IN" sz="1600" b="1" dirty="0" smtClean="0"/>
          </a:p>
          <a:p>
            <a:pPr>
              <a:buNone/>
            </a:pPr>
            <a:r>
              <a:rPr lang="en-US" sz="1600" b="1" dirty="0" smtClean="0"/>
              <a:t>Union of RE languages</a:t>
            </a:r>
            <a:endParaRPr lang="en-IN" sz="1600" b="1" dirty="0" smtClean="0"/>
          </a:p>
          <a:p>
            <a:r>
              <a:rPr lang="en-US" sz="1600" dirty="0" smtClean="0"/>
              <a:t>Let’s revise union of sets;</a:t>
            </a:r>
            <a:endParaRPr lang="en-IN" sz="1600" dirty="0" smtClean="0"/>
          </a:p>
          <a:p>
            <a:r>
              <a:rPr lang="en-US" sz="1600" dirty="0" smtClean="0"/>
              <a:t>Set 1={a, b, c}</a:t>
            </a:r>
            <a:endParaRPr lang="en-IN" sz="1600" dirty="0" smtClean="0"/>
          </a:p>
          <a:p>
            <a:r>
              <a:rPr lang="en-US" sz="1600" dirty="0" smtClean="0"/>
              <a:t>Set 2={b, c, d}</a:t>
            </a:r>
            <a:endParaRPr lang="en-IN" sz="1600" dirty="0" smtClean="0"/>
          </a:p>
          <a:p>
            <a:r>
              <a:rPr lang="en-US" sz="1600" dirty="0" smtClean="0"/>
              <a:t>Set 1 Union Set 2 = {a, b, c, d}</a:t>
            </a:r>
            <a:endParaRPr lang="en-IN" sz="1600" dirty="0" smtClean="0"/>
          </a:p>
          <a:p>
            <a:r>
              <a:rPr lang="en-US" sz="1600" dirty="0" smtClean="0"/>
              <a:t>Now let’s understand the same concept in Turing Machine;</a:t>
            </a:r>
            <a:endParaRPr lang="en-IN" sz="1600" dirty="0" smtClean="0"/>
          </a:p>
          <a:p>
            <a:r>
              <a:rPr lang="en-US" sz="1600" dirty="0" smtClean="0"/>
              <a:t>Suppose a system has 2 Turing Machines, TM1, and TM2.</a:t>
            </a:r>
            <a:endParaRPr lang="en-IN" sz="1600" dirty="0" smtClean="0"/>
          </a:p>
          <a:p>
            <a:pPr lvl="0"/>
            <a:r>
              <a:rPr lang="en-US" sz="1600" dirty="0" smtClean="0"/>
              <a:t>If TM1 halts then all the system halts.</a:t>
            </a:r>
            <a:endParaRPr lang="en-IN" sz="1600" dirty="0" smtClean="0"/>
          </a:p>
          <a:p>
            <a:pPr lvl="0"/>
            <a:r>
              <a:rPr lang="en-US" sz="1600" dirty="0" smtClean="0"/>
              <a:t>If TM1 crash then system checks that TM2 is ready to halt or not? If TM2 halts then system halts because this is union and the union means that</a:t>
            </a:r>
            <a:endParaRPr lang="en-IN" sz="1600" dirty="0" smtClean="0"/>
          </a:p>
          <a:p>
            <a:pPr lvl="1"/>
            <a:r>
              <a:rPr lang="en-US" sz="1600" dirty="0" smtClean="0"/>
              <a:t>If TM1 halts then system halts</a:t>
            </a:r>
            <a:endParaRPr lang="en-IN" sz="1600" dirty="0" smtClean="0"/>
          </a:p>
          <a:p>
            <a:pPr lvl="1"/>
            <a:r>
              <a:rPr lang="en-US" sz="1600" dirty="0" smtClean="0"/>
              <a:t>If TM1 does not halt, and TM2 halts then system halts</a:t>
            </a:r>
            <a:endParaRPr lang="en-IN" sz="1600" dirty="0" smtClean="0"/>
          </a:p>
          <a:p>
            <a:pPr lvl="1"/>
            <a:r>
              <a:rPr lang="en-US" sz="1600" dirty="0" smtClean="0"/>
              <a:t>If TM1 and TM2 or </a:t>
            </a:r>
            <a:r>
              <a:rPr lang="en-US" sz="1600" dirty="0" err="1" smtClean="0"/>
              <a:t>TM</a:t>
            </a:r>
            <a:r>
              <a:rPr lang="en-US" sz="1600" baseline="-25000" dirty="0" err="1" smtClean="0"/>
              <a:t>n</a:t>
            </a:r>
            <a:r>
              <a:rPr lang="en-US" sz="1600" dirty="0" smtClean="0"/>
              <a:t> halts then system halts</a:t>
            </a:r>
            <a:endParaRPr lang="en-IN" sz="1600" dirty="0" smtClean="0"/>
          </a:p>
          <a:p>
            <a:r>
              <a:rPr lang="en-US" sz="1600" b="1" dirty="0" smtClean="0"/>
              <a:t>Figure:</a:t>
            </a:r>
            <a:r>
              <a:rPr lang="en-US" sz="1600" dirty="0" smtClean="0"/>
              <a:t> Union of RE languages</a:t>
            </a:r>
            <a:endParaRPr lang="en-IN" sz="1600" dirty="0" smtClean="0"/>
          </a:p>
          <a:p>
            <a:endParaRPr lang="en-IN" sz="1600" dirty="0"/>
          </a:p>
        </p:txBody>
      </p:sp>
      <p:pic>
        <p:nvPicPr>
          <p:cNvPr id="4" name="Picture 3" descr="C:\Users\Admin\Desktop\union-of-RE-languages.jpg"/>
          <p:cNvPicPr/>
          <p:nvPr/>
        </p:nvPicPr>
        <p:blipFill>
          <a:blip r:embed="rId2"/>
          <a:srcRect/>
          <a:stretch>
            <a:fillRect/>
          </a:stretch>
        </p:blipFill>
        <p:spPr bwMode="auto">
          <a:xfrm>
            <a:off x="4143372" y="4786322"/>
            <a:ext cx="2000264" cy="178595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a:bodyPr>
          <a:lstStyle/>
          <a:p>
            <a:r>
              <a:rPr lang="en-US" sz="1600" b="1" dirty="0" smtClean="0"/>
              <a:t>The intersection of RE languages</a:t>
            </a:r>
            <a:endParaRPr lang="en-IN" sz="1600" b="1" dirty="0" smtClean="0"/>
          </a:p>
          <a:p>
            <a:r>
              <a:rPr lang="en-US" sz="1600" dirty="0" smtClean="0"/>
              <a:t>Let’s revise the intersection of sets;</a:t>
            </a:r>
            <a:endParaRPr lang="en-IN" sz="1600" dirty="0" smtClean="0"/>
          </a:p>
          <a:p>
            <a:r>
              <a:rPr lang="en-US" sz="1600" dirty="0" smtClean="0"/>
              <a:t>Set 1={a, b, c}</a:t>
            </a:r>
            <a:endParaRPr lang="en-IN" sz="1600" dirty="0" smtClean="0"/>
          </a:p>
          <a:p>
            <a:r>
              <a:rPr lang="en-US" sz="1600" dirty="0" smtClean="0"/>
              <a:t>Set 2={b, c, d}</a:t>
            </a:r>
            <a:endParaRPr lang="en-IN" sz="1600" dirty="0" smtClean="0"/>
          </a:p>
          <a:p>
            <a:r>
              <a:rPr lang="en-US" sz="1600" dirty="0" smtClean="0"/>
              <a:t>Set 1 Intersection Set 2 = {b, c}</a:t>
            </a:r>
            <a:endParaRPr lang="en-IN" sz="1600" dirty="0" smtClean="0"/>
          </a:p>
          <a:p>
            <a:r>
              <a:rPr lang="en-US" sz="1600" dirty="0" smtClean="0"/>
              <a:t>Now let’s understand the same concept in Turing Machine;</a:t>
            </a:r>
            <a:endParaRPr lang="en-IN" sz="1600" dirty="0" smtClean="0"/>
          </a:p>
          <a:p>
            <a:r>
              <a:rPr lang="en-US" sz="1600" dirty="0" smtClean="0"/>
              <a:t>Suppose a system has 2 Turing Machines, TM1, and TM2.</a:t>
            </a:r>
            <a:endParaRPr lang="en-IN" sz="1600" dirty="0" smtClean="0"/>
          </a:p>
          <a:p>
            <a:pPr lvl="0"/>
            <a:r>
              <a:rPr lang="en-US" sz="1600" dirty="0" smtClean="0"/>
              <a:t>If TM1 crash then all the system crash.</a:t>
            </a:r>
            <a:endParaRPr lang="en-IN" sz="1600" dirty="0" smtClean="0"/>
          </a:p>
          <a:p>
            <a:pPr lvl="0"/>
            <a:r>
              <a:rPr lang="en-US" sz="1600" dirty="0" smtClean="0"/>
              <a:t>If TM1 halts then system checks that TM2 is ready to halt or not? After this, If TM2 halts then system halts because this is intersection and the intersection means that</a:t>
            </a:r>
            <a:endParaRPr lang="en-IN" sz="1600" dirty="0" smtClean="0"/>
          </a:p>
          <a:p>
            <a:pPr lvl="1"/>
            <a:r>
              <a:rPr lang="en-US" sz="1600" dirty="0" smtClean="0"/>
              <a:t>If TM1 crash then system crash</a:t>
            </a:r>
            <a:endParaRPr lang="en-IN" sz="1600" dirty="0" smtClean="0"/>
          </a:p>
          <a:p>
            <a:pPr lvl="1"/>
            <a:r>
              <a:rPr lang="en-US" sz="1600" dirty="0" smtClean="0"/>
              <a:t>If TM1 halts then check TM2 or </a:t>
            </a:r>
            <a:r>
              <a:rPr lang="en-US" sz="1600" dirty="0" err="1" smtClean="0"/>
              <a:t>TM</a:t>
            </a:r>
            <a:r>
              <a:rPr lang="en-US" sz="1600" baseline="-25000" dirty="0" err="1" smtClean="0"/>
              <a:t>n</a:t>
            </a:r>
            <a:r>
              <a:rPr lang="en-US" sz="1600" dirty="0" smtClean="0"/>
              <a:t>, and if TM2 is also halted, the system halts.</a:t>
            </a:r>
            <a:endParaRPr lang="en-IN" sz="1600" dirty="0" smtClean="0"/>
          </a:p>
          <a:p>
            <a:pPr lvl="1"/>
            <a:r>
              <a:rPr lang="en-US" sz="1600" dirty="0" smtClean="0"/>
              <a:t>If TM1 and TM2 or </a:t>
            </a:r>
            <a:r>
              <a:rPr lang="en-US" sz="1600" dirty="0" err="1" smtClean="0"/>
              <a:t>TM</a:t>
            </a:r>
            <a:r>
              <a:rPr lang="en-US" sz="1600" baseline="-25000" dirty="0" err="1" smtClean="0"/>
              <a:t>n</a:t>
            </a:r>
            <a:r>
              <a:rPr lang="en-US" sz="1600" dirty="0" smtClean="0"/>
              <a:t> crash then the system crash</a:t>
            </a:r>
          </a:p>
          <a:p>
            <a:endParaRPr lang="en-IN" sz="1600" dirty="0" smtClean="0"/>
          </a:p>
          <a:p>
            <a:r>
              <a:rPr lang="en-US" sz="1600" b="1" dirty="0" smtClean="0"/>
              <a:t>Figure:</a:t>
            </a:r>
            <a:r>
              <a:rPr lang="en-US" sz="1600" dirty="0" smtClean="0"/>
              <a:t> Intersection of Recursive Enumerable languages</a:t>
            </a:r>
            <a:endParaRPr lang="en-IN" sz="1600" dirty="0" smtClean="0"/>
          </a:p>
          <a:p>
            <a:pPr lvl="1"/>
            <a:endParaRPr lang="en-IN" sz="1600" dirty="0" smtClean="0"/>
          </a:p>
          <a:p>
            <a:endParaRPr lang="en-IN" sz="1600" dirty="0"/>
          </a:p>
        </p:txBody>
      </p:sp>
      <p:pic>
        <p:nvPicPr>
          <p:cNvPr id="4" name="Picture 3" descr="C:\Users\Admin\Desktop\Intersection-of-RE-languages-300x211.jpg"/>
          <p:cNvPicPr/>
          <p:nvPr/>
        </p:nvPicPr>
        <p:blipFill>
          <a:blip r:embed="rId2"/>
          <a:srcRect/>
          <a:stretch>
            <a:fillRect/>
          </a:stretch>
        </p:blipFill>
        <p:spPr bwMode="auto">
          <a:xfrm>
            <a:off x="2500298" y="4500570"/>
            <a:ext cx="2854325" cy="201168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r>
              <a:rPr lang="en-US" sz="1600" b="1" dirty="0" smtClean="0"/>
              <a:t>The complement of RE languages</a:t>
            </a:r>
            <a:endParaRPr lang="en-IN" sz="1600" b="1" dirty="0" smtClean="0"/>
          </a:p>
          <a:p>
            <a:r>
              <a:rPr lang="en-US" sz="1600" dirty="0" smtClean="0"/>
              <a:t>Suppose a system has 2 Turing Machines, TM1, and TM2.</a:t>
            </a:r>
            <a:endParaRPr lang="en-IN" sz="1600" dirty="0" smtClean="0"/>
          </a:p>
          <a:p>
            <a:pPr lvl="0"/>
            <a:r>
              <a:rPr lang="en-US" sz="1600" dirty="0" smtClean="0"/>
              <a:t>If TM1 crash then all the system crash.</a:t>
            </a:r>
            <a:endParaRPr lang="en-IN" sz="1600" dirty="0" smtClean="0"/>
          </a:p>
          <a:p>
            <a:pPr lvl="0"/>
            <a:r>
              <a:rPr lang="en-US" sz="1600" dirty="0" smtClean="0"/>
              <a:t>If TM1 halts then system check TM2 or </a:t>
            </a:r>
            <a:r>
              <a:rPr lang="en-US" sz="1600" dirty="0" err="1" smtClean="0"/>
              <a:t>TM</a:t>
            </a:r>
            <a:r>
              <a:rPr lang="en-US" sz="1600" baseline="-25000" dirty="0" err="1" smtClean="0"/>
              <a:t>n</a:t>
            </a:r>
            <a:r>
              <a:rPr lang="en-US" sz="1600" dirty="0" smtClean="0"/>
              <a:t>. If TM1 halts and TM2 also halts then system crash.</a:t>
            </a:r>
            <a:endParaRPr lang="en-IN" sz="1600" dirty="0" smtClean="0"/>
          </a:p>
          <a:p>
            <a:pPr lvl="0"/>
            <a:r>
              <a:rPr lang="en-US" sz="1600" dirty="0" smtClean="0"/>
              <a:t>If TM1 halts then system check TM2 or </a:t>
            </a:r>
            <a:r>
              <a:rPr lang="en-US" sz="1600" dirty="0" err="1" smtClean="0"/>
              <a:t>TM</a:t>
            </a:r>
            <a:r>
              <a:rPr lang="en-US" sz="1600" baseline="-25000" dirty="0" err="1" smtClean="0"/>
              <a:t>n</a:t>
            </a:r>
            <a:r>
              <a:rPr lang="en-US" sz="1600" dirty="0" smtClean="0"/>
              <a:t>. If TM1 halts and TM2 crash then system halts.</a:t>
            </a:r>
            <a:endParaRPr lang="en-IN" sz="1600" dirty="0" smtClean="0"/>
          </a:p>
          <a:p>
            <a:r>
              <a:rPr lang="en-US" sz="1600" b="1" dirty="0" smtClean="0"/>
              <a:t>Figure:</a:t>
            </a:r>
            <a:r>
              <a:rPr lang="en-US" sz="1600" dirty="0" smtClean="0"/>
              <a:t> Complement of recursively enumerable languages</a:t>
            </a:r>
            <a:endParaRPr lang="en-IN" sz="1600" dirty="0" smtClean="0"/>
          </a:p>
          <a:p>
            <a:endParaRPr lang="en-IN" sz="1600" dirty="0"/>
          </a:p>
        </p:txBody>
      </p:sp>
      <p:pic>
        <p:nvPicPr>
          <p:cNvPr id="4" name="Picture 3" descr="C:\Users\Admin\Desktop\complement-of-RE-languages-300x233.jpg"/>
          <p:cNvPicPr/>
          <p:nvPr/>
        </p:nvPicPr>
        <p:blipFill>
          <a:blip r:embed="rId2"/>
          <a:srcRect/>
          <a:stretch>
            <a:fillRect/>
          </a:stretch>
        </p:blipFill>
        <p:spPr bwMode="auto">
          <a:xfrm>
            <a:off x="2500298" y="2786058"/>
            <a:ext cx="2854325" cy="221869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622</TotalTime>
  <Words>2803</Words>
  <Application>Microsoft Office PowerPoint</Application>
  <PresentationFormat>On-screen Show (4:3)</PresentationFormat>
  <Paragraphs>549</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Unit-3</vt:lpstr>
      <vt:lpstr>Contents</vt:lpstr>
      <vt:lpstr>Pushdown automata: Definition</vt:lpstr>
      <vt:lpstr>Instantaneous Description (ID) </vt:lpstr>
      <vt:lpstr>Model</vt:lpstr>
      <vt:lpstr>Pushdown automata: Definition</vt:lpstr>
      <vt:lpstr>Acceptance of CFL</vt:lpstr>
      <vt:lpstr>Example</vt:lpstr>
      <vt:lpstr>Slide 9</vt:lpstr>
      <vt:lpstr>Example</vt:lpstr>
      <vt:lpstr>Example</vt:lpstr>
      <vt:lpstr>Example</vt:lpstr>
      <vt:lpstr>Example</vt:lpstr>
      <vt:lpstr>Example</vt:lpstr>
      <vt:lpstr>Problems</vt:lpstr>
      <vt:lpstr>Deterministic Pushdown Automaton (DPDA)</vt:lpstr>
      <vt:lpstr>Example</vt:lpstr>
      <vt:lpstr>Previous example explanation</vt:lpstr>
      <vt:lpstr>Non Deterministic Pushdown Automaton (NPDA)</vt:lpstr>
      <vt:lpstr>Example</vt:lpstr>
      <vt:lpstr>Slide 21</vt:lpstr>
      <vt:lpstr>Slide 22</vt:lpstr>
      <vt:lpstr>Slide 23</vt:lpstr>
      <vt:lpstr>Turing Machine</vt:lpstr>
      <vt:lpstr>Turing Machine</vt:lpstr>
      <vt:lpstr>Model</vt:lpstr>
      <vt:lpstr>Design of TM Example</vt:lpstr>
      <vt:lpstr>Slide 28</vt:lpstr>
      <vt:lpstr>Example</vt:lpstr>
      <vt:lpstr>Slide 30</vt:lpstr>
      <vt:lpstr>Slide 31</vt:lpstr>
      <vt:lpstr>Slide 32</vt:lpstr>
      <vt:lpstr>Recursive languages</vt:lpstr>
      <vt:lpstr>Recursively Enumerable languages</vt:lpstr>
      <vt:lpstr>Slide 35</vt:lpstr>
      <vt:lpstr>Slide 36</vt:lpstr>
      <vt:lpstr>Slide 37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Unit-3</dc:title>
  <dc:creator>Raju</dc:creator>
  <cp:lastModifiedBy>Raju</cp:lastModifiedBy>
  <cp:revision>187</cp:revision>
  <dcterms:created xsi:type="dcterms:W3CDTF">2025-03-15T03:18:56Z</dcterms:created>
  <dcterms:modified xsi:type="dcterms:W3CDTF">2025-03-26T08:35:36Z</dcterms:modified>
</cp:coreProperties>
</file>