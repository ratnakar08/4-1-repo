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708" r:id="rId4"/>
  </p:sldMasterIdLst>
  <p:notesMasterIdLst>
    <p:notesMasterId r:id="rId60"/>
  </p:notesMasterIdLst>
  <p:sldIdLst>
    <p:sldId id="299" r:id="rId5"/>
    <p:sldId id="256" r:id="rId6"/>
    <p:sldId id="314" r:id="rId7"/>
    <p:sldId id="315" r:id="rId8"/>
    <p:sldId id="316" r:id="rId9"/>
    <p:sldId id="326" r:id="rId10"/>
    <p:sldId id="327" r:id="rId11"/>
    <p:sldId id="328" r:id="rId12"/>
    <p:sldId id="329" r:id="rId13"/>
    <p:sldId id="330" r:id="rId14"/>
    <p:sldId id="283" r:id="rId15"/>
    <p:sldId id="301" r:id="rId16"/>
    <p:sldId id="302" r:id="rId17"/>
    <p:sldId id="303" r:id="rId18"/>
    <p:sldId id="304" r:id="rId19"/>
    <p:sldId id="305" r:id="rId20"/>
    <p:sldId id="306" r:id="rId21"/>
    <p:sldId id="281" r:id="rId22"/>
    <p:sldId id="300" r:id="rId23"/>
    <p:sldId id="307" r:id="rId24"/>
    <p:sldId id="292" r:id="rId25"/>
    <p:sldId id="322" r:id="rId26"/>
    <p:sldId id="323" r:id="rId27"/>
    <p:sldId id="331" r:id="rId28"/>
    <p:sldId id="324" r:id="rId29"/>
    <p:sldId id="325" r:id="rId30"/>
    <p:sldId id="308" r:id="rId31"/>
    <p:sldId id="309" r:id="rId32"/>
    <p:sldId id="310" r:id="rId33"/>
    <p:sldId id="275" r:id="rId34"/>
    <p:sldId id="312" r:id="rId35"/>
    <p:sldId id="313" r:id="rId36"/>
    <p:sldId id="311" r:id="rId37"/>
    <p:sldId id="258" r:id="rId38"/>
    <p:sldId id="259" r:id="rId39"/>
    <p:sldId id="264" r:id="rId40"/>
    <p:sldId id="286" r:id="rId41"/>
    <p:sldId id="265" r:id="rId42"/>
    <p:sldId id="287" r:id="rId43"/>
    <p:sldId id="288" r:id="rId44"/>
    <p:sldId id="289" r:id="rId45"/>
    <p:sldId id="290" r:id="rId46"/>
    <p:sldId id="291" r:id="rId47"/>
    <p:sldId id="266" r:id="rId48"/>
    <p:sldId id="277" r:id="rId49"/>
    <p:sldId id="280" r:id="rId50"/>
    <p:sldId id="284" r:id="rId51"/>
    <p:sldId id="285" r:id="rId52"/>
    <p:sldId id="263" r:id="rId53"/>
    <p:sldId id="293" r:id="rId54"/>
    <p:sldId id="294" r:id="rId55"/>
    <p:sldId id="295" r:id="rId56"/>
    <p:sldId id="298" r:id="rId57"/>
    <p:sldId id="296" r:id="rId58"/>
    <p:sldId id="297"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2" d="100"/>
          <a:sy n="72" d="100"/>
        </p:scale>
        <p:origin x="-1242" y="29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CE72F4E-896A-4EB7-B494-3B3048C89595}" type="datetimeFigureOut">
              <a:rPr lang="en-US" smtClean="0"/>
              <a:pPr/>
              <a:t>7/8/2026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0C876A-E9FA-4361-A13F-EF46E2799DBB}" type="slidenum">
              <a:rPr lang="en-US" smtClean="0"/>
              <a:pPr/>
              <a:t>‹#›</a:t>
            </a:fld>
            <a:endParaRPr lang="en-US"/>
          </a:p>
        </p:txBody>
      </p:sp>
    </p:spTree>
    <p:extLst>
      <p:ext uri="{BB962C8B-B14F-4D97-AF65-F5344CB8AC3E}">
        <p14:creationId xmlns:p14="http://schemas.microsoft.com/office/powerpoint/2010/main" val="2301704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smtClean="0"/>
          </a:p>
        </p:txBody>
      </p:sp>
      <p:sp>
        <p:nvSpPr>
          <p:cNvPr id="38916" name="Slide Number Placeholder 3"/>
          <p:cNvSpPr>
            <a:spLocks noGrp="1"/>
          </p:cNvSpPr>
          <p:nvPr>
            <p:ph type="sldNum" sz="quarter" idx="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5CDB3E7D-609B-41A5-B4D8-4F7EDE1891E9}" type="slidenum">
              <a:rPr lang="en-IN" smtClean="0"/>
              <a:pPr/>
              <a:t>1</a:t>
            </a:fld>
            <a:endParaRPr lang="en-I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81200"/>
            <a:ext cx="7772400" cy="1876428"/>
          </a:xfrm>
        </p:spPr>
        <p:txBody>
          <a:bodyPr anchor="b">
            <a:sp3d contourW="8890">
              <a:contourClr>
                <a:schemeClr val="accent3">
                  <a:shade val="55000"/>
                </a:schemeClr>
              </a:contourClr>
            </a:sp3d>
          </a:bodyPr>
          <a:lstStyle>
            <a:lvl1pPr algn="ctr">
              <a:defRPr sz="4400"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en-US"/>
              <a:t>Click to edit Master title style</a:t>
            </a:r>
          </a:p>
        </p:txBody>
      </p:sp>
      <p:sp>
        <p:nvSpPr>
          <p:cNvPr id="3" name="Subtitle 2"/>
          <p:cNvSpPr>
            <a:spLocks noGrp="1"/>
          </p:cNvSpPr>
          <p:nvPr>
            <p:ph type="subTitle" idx="1"/>
          </p:nvPr>
        </p:nvSpPr>
        <p:spPr>
          <a:xfrm>
            <a:off x="1371600" y="3857628"/>
            <a:ext cx="6400800" cy="1753200"/>
          </a:xfrm>
        </p:spPr>
        <p:txBody>
          <a:bodyPr/>
          <a:lstStyle>
            <a:lvl1pPr marL="0" indent="0" algn="ctr">
              <a:buNone/>
              <a:defRPr sz="2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t>Click to edit Master subtitle style</a:t>
            </a:r>
          </a:p>
        </p:txBody>
      </p:sp>
      <p:sp>
        <p:nvSpPr>
          <p:cNvPr id="4" name="Date Placeholder 3"/>
          <p:cNvSpPr>
            <a:spLocks noGrp="1"/>
          </p:cNvSpPr>
          <p:nvPr>
            <p:ph type="dt" sz="half" idx="10"/>
          </p:nvPr>
        </p:nvSpPr>
        <p:spPr/>
        <p:txBody>
          <a:bodyPr/>
          <a:lstStyle/>
          <a:p>
            <a:fld id="{74B24603-FFE9-47BD-8729-4CEC7544086F}" type="datetime1">
              <a:rPr lang="en-US" smtClean="0"/>
              <a:t>7/8/2026</a:t>
            </a:fld>
            <a:endParaRPr lang="en-US"/>
          </a:p>
        </p:txBody>
      </p:sp>
      <p:sp>
        <p:nvSpPr>
          <p:cNvPr id="5" name="Footer Placeholder 4"/>
          <p:cNvSpPr>
            <a:spLocks noGrp="1"/>
          </p:cNvSpPr>
          <p:nvPr>
            <p:ph type="ftr" sz="quarter" idx="11"/>
          </p:nvPr>
        </p:nvSpPr>
        <p:spPr/>
        <p:txBody>
          <a:bodyPr/>
          <a:lstStyle/>
          <a:p>
            <a:r>
              <a:rPr lang="en-US"/>
              <a:t>Dr.B.Madhura, MBA</a:t>
            </a:r>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70BEE77-22B6-4ADA-BCB2-D0B5E1AE4982}" type="datetime1">
              <a:rPr lang="en-US" smtClean="0"/>
              <a:t>7/8/2026</a:t>
            </a:fld>
            <a:endParaRPr lang="en-US"/>
          </a:p>
        </p:txBody>
      </p:sp>
      <p:sp>
        <p:nvSpPr>
          <p:cNvPr id="5" name="Footer Placeholder 4"/>
          <p:cNvSpPr>
            <a:spLocks noGrp="1"/>
          </p:cNvSpPr>
          <p:nvPr>
            <p:ph type="ftr" sz="quarter" idx="11"/>
          </p:nvPr>
        </p:nvSpPr>
        <p:spPr/>
        <p:txBody>
          <a:bodyPr/>
          <a:lstStyle/>
          <a:p>
            <a:r>
              <a:rPr lang="en-US"/>
              <a:t>Dr.B.Madhura, MBA</a:t>
            </a:r>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3854150"/>
            <a:ext cx="7772400" cy="1860850"/>
          </a:xfrm>
        </p:spPr>
        <p:txBody>
          <a:bodyPr anchor="t"/>
          <a:lstStyle>
            <a:lvl1pPr algn="l">
              <a:defRPr sz="4400" b="1" cap="all"/>
            </a:lvl1pPr>
          </a:lstStyle>
          <a:p>
            <a:r>
              <a:rPr kumimoji="0" lang="en-US"/>
              <a:t>Click to edit Master title style</a:t>
            </a:r>
          </a:p>
        </p:txBody>
      </p:sp>
      <p:sp>
        <p:nvSpPr>
          <p:cNvPr id="3" name="Text Placeholder 2"/>
          <p:cNvSpPr>
            <a:spLocks noGrp="1"/>
          </p:cNvSpPr>
          <p:nvPr>
            <p:ph type="body" idx="1"/>
          </p:nvPr>
        </p:nvSpPr>
        <p:spPr>
          <a:xfrm>
            <a:off x="685800" y="2356428"/>
            <a:ext cx="7772400" cy="1501200"/>
          </a:xfrm>
        </p:spPr>
        <p:txBody>
          <a:bodyPr anchor="b"/>
          <a:lstStyle>
            <a:lvl1pPr marL="0" indent="0" algn="l">
              <a:buNone/>
              <a:defRPr sz="2000">
                <a:solidFill>
                  <a:schemeClr val="tx2"/>
                </a:solidFill>
              </a:defRPr>
            </a:lvl1pPr>
            <a:lvl2pPr marL="457200" indent="0" algn="l">
              <a:buNone/>
              <a:defRPr sz="1800">
                <a:solidFill>
                  <a:schemeClr val="tx2"/>
                </a:solidFill>
              </a:defRPr>
            </a:lvl2pPr>
            <a:lvl3pPr marL="914400" indent="0" algn="l">
              <a:buNone/>
              <a:defRPr sz="1600">
                <a:solidFill>
                  <a:schemeClr val="tx2"/>
                </a:solidFill>
              </a:defRPr>
            </a:lvl3pPr>
            <a:lvl4pPr marL="1371600" indent="0" algn="l">
              <a:buNone/>
              <a:defRPr sz="1400">
                <a:solidFill>
                  <a:schemeClr val="tx2"/>
                </a:solidFill>
              </a:defRPr>
            </a:lvl4pPr>
            <a:lvl5pPr marL="1828800" indent="0" algn="l">
              <a:buNone/>
              <a:defRPr sz="1400">
                <a:solidFill>
                  <a:schemeClr val="tx2"/>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12A2386-D0C5-4BFA-A5F9-71FF7ABD7959}" type="datetime1">
              <a:rPr lang="en-US" smtClean="0"/>
              <a:t>7/8/2026</a:t>
            </a:fld>
            <a:endParaRPr lang="en-US"/>
          </a:p>
        </p:txBody>
      </p:sp>
      <p:sp>
        <p:nvSpPr>
          <p:cNvPr id="5" name="Footer Placeholder 4"/>
          <p:cNvSpPr>
            <a:spLocks noGrp="1"/>
          </p:cNvSpPr>
          <p:nvPr>
            <p:ph type="ftr" sz="quarter" idx="11"/>
          </p:nvPr>
        </p:nvSpPr>
        <p:spPr/>
        <p:txBody>
          <a:bodyPr/>
          <a:lstStyle/>
          <a:p>
            <a:r>
              <a:rPr lang="en-US"/>
              <a:t>Dr.B.Madhura, MBA</a:t>
            </a:r>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9605F99-BD56-47DD-B50D-9FD7148CCD55}" type="datetime1">
              <a:rPr lang="en-US" smtClean="0"/>
              <a:t>7/8/2026</a:t>
            </a:fld>
            <a:endParaRPr lang="en-US"/>
          </a:p>
        </p:txBody>
      </p:sp>
      <p:sp>
        <p:nvSpPr>
          <p:cNvPr id="6" name="Footer Placeholder 5"/>
          <p:cNvSpPr>
            <a:spLocks noGrp="1"/>
          </p:cNvSpPr>
          <p:nvPr>
            <p:ph type="ftr" sz="quarter" idx="11"/>
          </p:nvPr>
        </p:nvSpPr>
        <p:spPr/>
        <p:txBody>
          <a:bodyPr/>
          <a:lstStyle/>
          <a:p>
            <a:r>
              <a:rPr lang="en-US"/>
              <a:t>Dr.B.Madhura, MBA</a:t>
            </a:r>
          </a:p>
        </p:txBody>
      </p:sp>
      <p:sp>
        <p:nvSpPr>
          <p:cNvPr id="7" name="Slide Number Placeholder 6"/>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9B3F2E3-61A1-4FF2-B72C-359E78023F58}" type="datetime1">
              <a:rPr lang="en-US" smtClean="0"/>
              <a:t>7/8/2026</a:t>
            </a:fld>
            <a:endParaRPr lang="en-US"/>
          </a:p>
        </p:txBody>
      </p:sp>
      <p:sp>
        <p:nvSpPr>
          <p:cNvPr id="8" name="Footer Placeholder 7"/>
          <p:cNvSpPr>
            <a:spLocks noGrp="1"/>
          </p:cNvSpPr>
          <p:nvPr>
            <p:ph type="ftr" sz="quarter" idx="11"/>
          </p:nvPr>
        </p:nvSpPr>
        <p:spPr/>
        <p:txBody>
          <a:bodyPr/>
          <a:lstStyle/>
          <a:p>
            <a:r>
              <a:rPr lang="en-US"/>
              <a:t>Dr.B.Madhura, MBA</a:t>
            </a:r>
          </a:p>
        </p:txBody>
      </p:sp>
      <p:sp>
        <p:nvSpPr>
          <p:cNvPr id="9" name="Slide Number Placeholder 8"/>
          <p:cNvSpPr>
            <a:spLocks noGrp="1"/>
          </p:cNvSpPr>
          <p:nvPr>
            <p:ph type="sldNum" sz="quarter" idx="12"/>
          </p:nvPr>
        </p:nvSpPr>
        <p:spPr/>
        <p:txBody>
          <a:bodyPr/>
          <a:lstStyle/>
          <a:p>
            <a:fld id="{D4EFF482-3786-46E7-9869-AFA9F18680F5}" type="slidenum">
              <a:rPr lang="en-US" smtClean="0"/>
              <a:pPr/>
              <a:t>‹#›</a:t>
            </a:fld>
            <a:endParaRPr lang="en-US"/>
          </a:p>
        </p:txBody>
      </p:sp>
      <p:sp>
        <p:nvSpPr>
          <p:cNvPr id="2" name="Title 1"/>
          <p:cNvSpPr>
            <a:spLocks noGrp="1"/>
          </p:cNvSpPr>
          <p:nvPr>
            <p:ph type="title"/>
          </p:nvPr>
        </p:nvSpPr>
        <p:spPr/>
        <p:txBody>
          <a:bodyPr/>
          <a:lstStyle>
            <a:lvl1pPr>
              <a:defRPr/>
            </a:lvl1pPr>
          </a:lstStyle>
          <a:p>
            <a:r>
              <a:rPr kumimoji="0"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45F97F7-837D-4153-85A3-C35BA72B24FB}" type="datetime1">
              <a:rPr lang="en-US" smtClean="0"/>
              <a:t>7/8/2026</a:t>
            </a:fld>
            <a:endParaRPr lang="en-US"/>
          </a:p>
        </p:txBody>
      </p:sp>
      <p:sp>
        <p:nvSpPr>
          <p:cNvPr id="4" name="Footer Placeholder 3"/>
          <p:cNvSpPr>
            <a:spLocks noGrp="1"/>
          </p:cNvSpPr>
          <p:nvPr>
            <p:ph type="ftr" sz="quarter" idx="11"/>
          </p:nvPr>
        </p:nvSpPr>
        <p:spPr/>
        <p:txBody>
          <a:bodyPr/>
          <a:lstStyle/>
          <a:p>
            <a:r>
              <a:rPr lang="en-US"/>
              <a:t>Dr.B.Madhura, MBA</a:t>
            </a:r>
          </a:p>
        </p:txBody>
      </p:sp>
      <p:sp>
        <p:nvSpPr>
          <p:cNvPr id="5" name="Slide Number Placeholder 4"/>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B2111A-8641-443B-B19D-947B687B6E04}" type="datetime1">
              <a:rPr lang="en-US" smtClean="0"/>
              <a:t>7/8/2026</a:t>
            </a:fld>
            <a:endParaRPr lang="en-US"/>
          </a:p>
        </p:txBody>
      </p:sp>
      <p:sp>
        <p:nvSpPr>
          <p:cNvPr id="3" name="Footer Placeholder 2"/>
          <p:cNvSpPr>
            <a:spLocks noGrp="1"/>
          </p:cNvSpPr>
          <p:nvPr>
            <p:ph type="ftr" sz="quarter" idx="11"/>
          </p:nvPr>
        </p:nvSpPr>
        <p:spPr/>
        <p:txBody>
          <a:bodyPr/>
          <a:lstStyle/>
          <a:p>
            <a:r>
              <a:rPr lang="en-US"/>
              <a:t>Dr.B.Madhura, MBA</a:t>
            </a:r>
          </a:p>
        </p:txBody>
      </p:sp>
      <p:sp>
        <p:nvSpPr>
          <p:cNvPr id="4" name="Slide Number Placeholder 3"/>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26258" y="381000"/>
            <a:ext cx="2667000" cy="1833554"/>
          </a:xfrm>
        </p:spPr>
        <p:txBody>
          <a:bodyPr anchor="ctr">
            <a:scene3d>
              <a:camera prst="orthographicFront"/>
              <a:lightRig rig="soft" dir="tl">
                <a:rot lat="0" lon="0" rev="0"/>
              </a:lightRig>
            </a:scene3d>
            <a:sp3d contourW="8890">
              <a:contourClr>
                <a:schemeClr val="accent3">
                  <a:shade val="55000"/>
                </a:schemeClr>
              </a:contourClr>
            </a:sp3d>
          </a:bodyPr>
          <a:lstStyle>
            <a:lvl1pPr algn="l">
              <a:defRPr sz="3200" b="1" kern="1200" cap="all" spc="50">
                <a:ln w="15875">
                  <a:noFill/>
                </a:ln>
                <a:solidFill>
                  <a:schemeClr val="tx2"/>
                </a:solidFill>
                <a:effectLst/>
                <a:latin typeface="+mj-lt"/>
                <a:ea typeface="+mj-ea"/>
                <a:cs typeface="+mj-cs"/>
              </a:defRPr>
            </a:lvl1pPr>
          </a:lstStyle>
          <a:p>
            <a:r>
              <a:rPr kumimoji="0" lang="en-US"/>
              <a:t>Click to edit Master title style</a:t>
            </a:r>
          </a:p>
        </p:txBody>
      </p:sp>
      <p:sp>
        <p:nvSpPr>
          <p:cNvPr id="3" name="Content Placeholder 2"/>
          <p:cNvSpPr>
            <a:spLocks noGrp="1"/>
          </p:cNvSpPr>
          <p:nvPr>
            <p:ph idx="1"/>
          </p:nvPr>
        </p:nvSpPr>
        <p:spPr>
          <a:xfrm>
            <a:off x="3352800" y="380999"/>
            <a:ext cx="5410200" cy="57451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326258" y="2214554"/>
            <a:ext cx="2667000" cy="391218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D90C0CC-F602-41E0-BB6B-46BBF7273A07}" type="datetime1">
              <a:rPr lang="en-US" smtClean="0"/>
              <a:t>7/8/2026</a:t>
            </a:fld>
            <a:endParaRPr lang="en-US"/>
          </a:p>
        </p:txBody>
      </p:sp>
      <p:sp>
        <p:nvSpPr>
          <p:cNvPr id="6" name="Footer Placeholder 5"/>
          <p:cNvSpPr>
            <a:spLocks noGrp="1"/>
          </p:cNvSpPr>
          <p:nvPr>
            <p:ph type="ftr" sz="quarter" idx="11"/>
          </p:nvPr>
        </p:nvSpPr>
        <p:spPr/>
        <p:txBody>
          <a:bodyPr/>
          <a:lstStyle/>
          <a:p>
            <a:r>
              <a:rPr lang="en-US"/>
              <a:t>Dr.B.Madhura, MBA</a:t>
            </a:r>
          </a:p>
        </p:txBody>
      </p:sp>
      <p:sp>
        <p:nvSpPr>
          <p:cNvPr id="7" name="Slide Number Placeholder 6"/>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0474" y="553734"/>
            <a:ext cx="7349244" cy="4741531"/>
            <a:chOff x="428596" y="553734"/>
            <a:chExt cx="7349244" cy="4741531"/>
          </a:xfrm>
        </p:grpSpPr>
        <p:sp>
          <p:nvSpPr>
            <p:cNvPr id="16" name="Rectangle 15"/>
            <p:cNvSpPr/>
            <p:nvPr/>
          </p:nvSpPr>
          <p:spPr>
            <a:xfrm rot="21480000">
              <a:off x="428596" y="580356"/>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7" name="Rectangle 16"/>
            <p:cNvSpPr/>
            <p:nvPr/>
          </p:nvSpPr>
          <p:spPr>
            <a:xfrm rot="21540000">
              <a:off x="437473" y="571479"/>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8" name="Rectangle 17"/>
            <p:cNvSpPr/>
            <p:nvPr/>
          </p:nvSpPr>
          <p:spPr>
            <a:xfrm>
              <a:off x="437481" y="553734"/>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grpSp>
      <p:sp>
        <p:nvSpPr>
          <p:cNvPr id="3" name="Picture Placeholder 2"/>
          <p:cNvSpPr>
            <a:spLocks noGrp="1"/>
          </p:cNvSpPr>
          <p:nvPr>
            <p:ph type="pic" idx="1"/>
          </p:nvPr>
        </p:nvSpPr>
        <p:spPr>
          <a:xfrm>
            <a:off x="1651912" y="612776"/>
            <a:ext cx="7215238" cy="4602175"/>
          </a:xfrm>
          <a:solidFill>
            <a:schemeClr val="bg2">
              <a:tint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t>Click icon to add picture</a:t>
            </a:r>
          </a:p>
        </p:txBody>
      </p:sp>
      <p:sp useBgFill="1">
        <p:nvSpPr>
          <p:cNvPr id="2" name="Title 1"/>
          <p:cNvSpPr>
            <a:spLocks noGrp="1"/>
          </p:cNvSpPr>
          <p:nvPr>
            <p:ph type="title"/>
          </p:nvPr>
        </p:nvSpPr>
        <p:spPr>
          <a:xfrm>
            <a:off x="0" y="595295"/>
            <a:ext cx="1357290" cy="5691227"/>
          </a:xfrm>
          <a:noFill/>
        </p:spPr>
        <p:txBody>
          <a:bodyPr vert="eaVert" anchor="ctr">
            <a:noAutofit/>
          </a:bodyPr>
          <a:lstStyle>
            <a:lvl1pPr algn="l">
              <a:defRPr lang="zh-CN" altLang="en-US" sz="320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defRPr>
            </a:lvl1pPr>
          </a:lstStyle>
          <a:p>
            <a:r>
              <a:rPr kumimoji="0" lang="en-US"/>
              <a:t>Click to edit Master title style</a:t>
            </a:r>
          </a:p>
        </p:txBody>
      </p:sp>
      <p:sp>
        <p:nvSpPr>
          <p:cNvPr id="4" name="Text Placeholder 3"/>
          <p:cNvSpPr>
            <a:spLocks noGrp="1"/>
          </p:cNvSpPr>
          <p:nvPr>
            <p:ph type="body" sz="half" idx="2"/>
          </p:nvPr>
        </p:nvSpPr>
        <p:spPr>
          <a:xfrm>
            <a:off x="1714480" y="5481658"/>
            <a:ext cx="7215238" cy="804862"/>
          </a:xfrm>
        </p:spPr>
        <p:txBody>
          <a:bodyPr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3114FB2-C28A-460A-BF9C-495521E1F16C}" type="datetime1">
              <a:rPr lang="en-US" smtClean="0"/>
              <a:t>7/8/2026</a:t>
            </a:fld>
            <a:endParaRPr lang="en-US"/>
          </a:p>
        </p:txBody>
      </p:sp>
      <p:sp>
        <p:nvSpPr>
          <p:cNvPr id="6" name="Footer Placeholder 5"/>
          <p:cNvSpPr>
            <a:spLocks noGrp="1"/>
          </p:cNvSpPr>
          <p:nvPr>
            <p:ph type="ftr" sz="quarter" idx="11"/>
          </p:nvPr>
        </p:nvSpPr>
        <p:spPr/>
        <p:txBody>
          <a:bodyPr/>
          <a:lstStyle/>
          <a:p>
            <a:r>
              <a:rPr lang="en-US"/>
              <a:t>Dr.B.Madhura, MBA</a:t>
            </a:r>
          </a:p>
        </p:txBody>
      </p:sp>
      <p:sp>
        <p:nvSpPr>
          <p:cNvPr id="7" name="Slide Number Placeholder 6"/>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8077778-B740-4D1F-873A-D3E9BBE21CFC}" type="datetime1">
              <a:rPr lang="en-US" smtClean="0"/>
              <a:t>7/8/2026</a:t>
            </a:fld>
            <a:endParaRPr lang="en-US"/>
          </a:p>
        </p:txBody>
      </p:sp>
      <p:sp>
        <p:nvSpPr>
          <p:cNvPr id="5" name="Footer Placeholder 4"/>
          <p:cNvSpPr>
            <a:spLocks noGrp="1"/>
          </p:cNvSpPr>
          <p:nvPr>
            <p:ph type="ftr" sz="quarter" idx="11"/>
          </p:nvPr>
        </p:nvSpPr>
        <p:spPr/>
        <p:txBody>
          <a:bodyPr/>
          <a:lstStyle/>
          <a:p>
            <a:r>
              <a:rPr lang="en-US"/>
              <a:t>Dr.B.Madhura, MBA</a:t>
            </a:r>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86644" y="274640"/>
            <a:ext cx="1400156" cy="5851525"/>
          </a:xfrm>
        </p:spPr>
        <p:txBody>
          <a:bodyPr vert="eaVert"/>
          <a:lstStyle>
            <a:lvl1pPr>
              <a:defRPr lang="zh-CN" altLang="en-US"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en-US"/>
              <a:t>Click to edit Master title style</a:t>
            </a:r>
          </a:p>
        </p:txBody>
      </p:sp>
      <p:sp>
        <p:nvSpPr>
          <p:cNvPr id="3" name="Vertical Text Placeholder 2"/>
          <p:cNvSpPr>
            <a:spLocks noGrp="1"/>
          </p:cNvSpPr>
          <p:nvPr>
            <p:ph type="body" orient="vert" idx="1"/>
          </p:nvPr>
        </p:nvSpPr>
        <p:spPr>
          <a:xfrm>
            <a:off x="457200" y="274640"/>
            <a:ext cx="6829444"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D2CEE81-15A2-49D7-AAA5-E0B99F6ED618}" type="datetime1">
              <a:rPr lang="en-US" smtClean="0"/>
              <a:t>7/8/2026</a:t>
            </a:fld>
            <a:endParaRPr lang="en-US"/>
          </a:p>
        </p:txBody>
      </p:sp>
      <p:sp>
        <p:nvSpPr>
          <p:cNvPr id="5" name="Footer Placeholder 4"/>
          <p:cNvSpPr>
            <a:spLocks noGrp="1"/>
          </p:cNvSpPr>
          <p:nvPr>
            <p:ph type="ftr" sz="quarter" idx="11"/>
          </p:nvPr>
        </p:nvSpPr>
        <p:spPr/>
        <p:txBody>
          <a:bodyPr/>
          <a:lstStyle/>
          <a:p>
            <a:r>
              <a:rPr lang="en-US"/>
              <a:t>Dr.B.Madhura, MBA</a:t>
            </a:r>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74B24603-FFE9-47BD-8729-4CEC7544086F}" type="datetime1">
              <a:rPr lang="en-US" smtClean="0"/>
              <a:t>7/8/2026</a:t>
            </a:fld>
            <a:endParaRPr lang="en-US"/>
          </a:p>
        </p:txBody>
      </p:sp>
      <p:sp>
        <p:nvSpPr>
          <p:cNvPr id="17" name="Footer Placeholder 16"/>
          <p:cNvSpPr>
            <a:spLocks noGrp="1"/>
          </p:cNvSpPr>
          <p:nvPr>
            <p:ph type="ftr" sz="quarter" idx="11"/>
          </p:nvPr>
        </p:nvSpPr>
        <p:spPr/>
        <p:txBody>
          <a:bodyPr/>
          <a:lstStyle/>
          <a:p>
            <a:r>
              <a:rPr lang="en-US" smtClean="0"/>
              <a:t>Dr.B.Madhura, MBA</a:t>
            </a:r>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4EFF482-3786-46E7-9869-AFA9F18680F5}"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B70BEE77-22B6-4ADA-BCB2-D0B5E1AE4982}" type="datetime1">
              <a:rPr lang="en-US" smtClean="0"/>
              <a:t>7/8/2026</a:t>
            </a:fld>
            <a:endParaRPr lang="en-US"/>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D4EFF482-3786-46E7-9869-AFA9F18680F5}"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4" name="Date Placeholder 3"/>
          <p:cNvSpPr>
            <a:spLocks noGrp="1"/>
          </p:cNvSpPr>
          <p:nvPr>
            <p:ph type="dt" sz="half" idx="10"/>
          </p:nvPr>
        </p:nvSpPr>
        <p:spPr/>
        <p:txBody>
          <a:bodyPr/>
          <a:lstStyle/>
          <a:p>
            <a:fld id="{F12A2386-D0C5-4BFA-A5F9-71FF7ABD7959}" type="datetime1">
              <a:rPr lang="en-US" smtClean="0"/>
              <a:t>7/8/2026</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4EFF482-3786-46E7-9869-AFA9F18680F5}"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29605F99-BD56-47DD-B50D-9FD7148CCD55}" type="datetime1">
              <a:rPr lang="en-US" smtClean="0"/>
              <a:t>7/8/2026</a:t>
            </a:fld>
            <a:endParaRPr lang="en-US"/>
          </a:p>
        </p:txBody>
      </p:sp>
      <p:sp>
        <p:nvSpPr>
          <p:cNvPr id="6" name="Footer Placeholder 5"/>
          <p:cNvSpPr>
            <a:spLocks noGrp="1"/>
          </p:cNvSpPr>
          <p:nvPr>
            <p:ph type="ftr" sz="quarter" idx="11"/>
          </p:nvPr>
        </p:nvSpPr>
        <p:spPr/>
        <p:txBody>
          <a:bodyPr/>
          <a:lstStyle/>
          <a:p>
            <a:r>
              <a:rPr lang="en-US" smtClean="0"/>
              <a:t>Dr.B.Madhura, MBA</a:t>
            </a:r>
            <a:endParaRPr lang="en-US"/>
          </a:p>
        </p:txBody>
      </p:sp>
      <p:sp>
        <p:nvSpPr>
          <p:cNvPr id="7" name="Slide Number Placeholder 6"/>
          <p:cNvSpPr>
            <a:spLocks noGrp="1"/>
          </p:cNvSpPr>
          <p:nvPr>
            <p:ph type="sldNum" sz="quarter" idx="12"/>
          </p:nvPr>
        </p:nvSpPr>
        <p:spPr/>
        <p:txBody>
          <a:bodyPr/>
          <a:lstStyle/>
          <a:p>
            <a:fld id="{D4EFF482-3786-46E7-9869-AFA9F18680F5}"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09B3F2E3-61A1-4FF2-B72C-359E78023F58}" type="datetime1">
              <a:rPr lang="en-US" smtClean="0"/>
              <a:t>7/8/2026</a:t>
            </a:fld>
            <a:endParaRPr lang="en-US"/>
          </a:p>
        </p:txBody>
      </p:sp>
      <p:sp>
        <p:nvSpPr>
          <p:cNvPr id="8" name="Footer Placeholder 7"/>
          <p:cNvSpPr>
            <a:spLocks noGrp="1"/>
          </p:cNvSpPr>
          <p:nvPr>
            <p:ph type="ftr" sz="quarter" idx="11"/>
          </p:nvPr>
        </p:nvSpPr>
        <p:spPr>
          <a:xfrm>
            <a:off x="304800" y="6409944"/>
            <a:ext cx="3581400" cy="365760"/>
          </a:xfrm>
        </p:spPr>
        <p:txBody>
          <a:bodyPr/>
          <a:lstStyle/>
          <a:p>
            <a:r>
              <a:rPr lang="en-US" smtClean="0"/>
              <a:t>Dr.B.Madhura, MBA</a:t>
            </a:r>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D4EFF482-3786-46E7-9869-AFA9F18680F5}"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45F97F7-837D-4153-85A3-C35BA72B24FB}" type="datetime1">
              <a:rPr lang="en-US" smtClean="0"/>
              <a:t>7/8/2026</a:t>
            </a:fld>
            <a:endParaRPr lang="en-US"/>
          </a:p>
        </p:txBody>
      </p:sp>
      <p:sp>
        <p:nvSpPr>
          <p:cNvPr id="4" name="Footer Placeholder 3"/>
          <p:cNvSpPr>
            <a:spLocks noGrp="1"/>
          </p:cNvSpPr>
          <p:nvPr>
            <p:ph type="ftr" sz="quarter" idx="11"/>
          </p:nvPr>
        </p:nvSpPr>
        <p:spPr/>
        <p:txBody>
          <a:bodyPr/>
          <a:lstStyle/>
          <a:p>
            <a:r>
              <a:rPr lang="en-US" smtClean="0"/>
              <a:t>Dr.B.Madhura, MBA</a:t>
            </a:r>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D4EFF482-3786-46E7-9869-AFA9F18680F5}"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51B2111A-8641-443B-B19D-947B687B6E04}" type="datetime1">
              <a:rPr lang="en-US" smtClean="0"/>
              <a:t>7/8/2026</a:t>
            </a:fld>
            <a:endParaRPr lang="en-US"/>
          </a:p>
        </p:txBody>
      </p:sp>
      <p:sp>
        <p:nvSpPr>
          <p:cNvPr id="3" name="Footer Placeholder 2"/>
          <p:cNvSpPr>
            <a:spLocks noGrp="1"/>
          </p:cNvSpPr>
          <p:nvPr>
            <p:ph type="ftr" sz="quarter" idx="11"/>
          </p:nvPr>
        </p:nvSpPr>
        <p:spPr/>
        <p:txBody>
          <a:bodyPr/>
          <a:lstStyle/>
          <a:p>
            <a:r>
              <a:rPr lang="en-US" smtClean="0"/>
              <a:t>Dr.B.Madhura, MBA</a:t>
            </a:r>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D4EFF482-3786-46E7-9869-AFA9F18680F5}"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D4EFF482-3786-46E7-9869-AFA9F18680F5}"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4D90C0CC-F602-41E0-BB6B-46BBF7273A07}" type="datetime1">
              <a:rPr lang="en-US" smtClean="0"/>
              <a:t>7/8/2026</a:t>
            </a:fld>
            <a:endParaRPr lang="en-US"/>
          </a:p>
        </p:txBody>
      </p:sp>
      <p:sp>
        <p:nvSpPr>
          <p:cNvPr id="6" name="Footer Placeholder 5"/>
          <p:cNvSpPr>
            <a:spLocks noGrp="1"/>
          </p:cNvSpPr>
          <p:nvPr>
            <p:ph type="ftr" sz="quarter" idx="11"/>
          </p:nvPr>
        </p:nvSpPr>
        <p:spPr>
          <a:xfrm>
            <a:off x="301752" y="6410848"/>
            <a:ext cx="3383280" cy="365760"/>
          </a:xfrm>
        </p:spPr>
        <p:txBody>
          <a:bodyPr/>
          <a:lstStyle/>
          <a:p>
            <a:r>
              <a:rPr lang="en-US" smtClean="0"/>
              <a:t>Dr.B.Madhura, MBA</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D4EFF482-3786-46E7-9869-AFA9F18680F5}"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33114FB2-C28A-460A-BF9C-495521E1F16C}" type="datetime1">
              <a:rPr lang="en-US" smtClean="0"/>
              <a:t>7/8/2026</a:t>
            </a:fld>
            <a:endParaRPr lang="en-US"/>
          </a:p>
        </p:txBody>
      </p:sp>
      <p:sp>
        <p:nvSpPr>
          <p:cNvPr id="6" name="Footer Placeholder 5"/>
          <p:cNvSpPr>
            <a:spLocks noGrp="1"/>
          </p:cNvSpPr>
          <p:nvPr>
            <p:ph type="ftr" sz="quarter" idx="11"/>
          </p:nvPr>
        </p:nvSpPr>
        <p:spPr>
          <a:xfrm>
            <a:off x="301752" y="6410848"/>
            <a:ext cx="3584448" cy="365760"/>
          </a:xfrm>
        </p:spPr>
        <p:txBody>
          <a:bodyPr/>
          <a:lstStyle/>
          <a:p>
            <a:r>
              <a:rPr lang="en-US" smtClean="0"/>
              <a:t>Dr.B.Madhura, MBA</a:t>
            </a: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8077778-B740-4D1F-873A-D3E9BBE21CFC}" type="datetime1">
              <a:rPr lang="en-US" smtClean="0"/>
              <a:t>7/8/2026</a:t>
            </a:fld>
            <a:endParaRPr lang="en-US"/>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D4EFF482-3786-46E7-9869-AFA9F18680F5}"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D2CEE81-15A2-49D7-AAA5-E0B99F6ED618}" type="datetime1">
              <a:rPr lang="en-US" smtClean="0"/>
              <a:t>7/8/2026</a:t>
            </a:fld>
            <a:endParaRPr lang="en-US"/>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74B24603-FFE9-47BD-8729-4CEC7544086F}" type="datetime1">
              <a:rPr lang="en-US" smtClean="0"/>
              <a:t>7/8/2026</a:t>
            </a:fld>
            <a:endParaRPr lang="en-US"/>
          </a:p>
        </p:txBody>
      </p:sp>
      <p:sp>
        <p:nvSpPr>
          <p:cNvPr id="17" name="Footer Placeholder 16"/>
          <p:cNvSpPr>
            <a:spLocks noGrp="1"/>
          </p:cNvSpPr>
          <p:nvPr>
            <p:ph type="ftr" sz="quarter" idx="11"/>
          </p:nvPr>
        </p:nvSpPr>
        <p:spPr/>
        <p:txBody>
          <a:bodyPr/>
          <a:lstStyle/>
          <a:p>
            <a:r>
              <a:rPr lang="en-US" smtClean="0"/>
              <a:t>Dr.B.Madhura, MBA</a:t>
            </a:r>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4EFF482-3786-46E7-9869-AFA9F18680F5}"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B70BEE77-22B6-4ADA-BCB2-D0B5E1AE4982}" type="datetime1">
              <a:rPr lang="en-US" smtClean="0"/>
              <a:t>7/8/2026</a:t>
            </a:fld>
            <a:endParaRPr lang="en-US"/>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D4EFF482-3786-46E7-9869-AFA9F18680F5}"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4" name="Date Placeholder 3"/>
          <p:cNvSpPr>
            <a:spLocks noGrp="1"/>
          </p:cNvSpPr>
          <p:nvPr>
            <p:ph type="dt" sz="half" idx="10"/>
          </p:nvPr>
        </p:nvSpPr>
        <p:spPr/>
        <p:txBody>
          <a:bodyPr/>
          <a:lstStyle/>
          <a:p>
            <a:fld id="{F12A2386-D0C5-4BFA-A5F9-71FF7ABD7959}" type="datetime1">
              <a:rPr lang="en-US" smtClean="0"/>
              <a:t>7/8/2026</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4EFF482-3786-46E7-9869-AFA9F18680F5}"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29605F99-BD56-47DD-B50D-9FD7148CCD55}" type="datetime1">
              <a:rPr lang="en-US" smtClean="0"/>
              <a:t>7/8/2026</a:t>
            </a:fld>
            <a:endParaRPr lang="en-US"/>
          </a:p>
        </p:txBody>
      </p:sp>
      <p:sp>
        <p:nvSpPr>
          <p:cNvPr id="6" name="Footer Placeholder 5"/>
          <p:cNvSpPr>
            <a:spLocks noGrp="1"/>
          </p:cNvSpPr>
          <p:nvPr>
            <p:ph type="ftr" sz="quarter" idx="11"/>
          </p:nvPr>
        </p:nvSpPr>
        <p:spPr/>
        <p:txBody>
          <a:bodyPr/>
          <a:lstStyle/>
          <a:p>
            <a:r>
              <a:rPr lang="en-US" smtClean="0"/>
              <a:t>Dr.B.Madhura, MBA</a:t>
            </a:r>
            <a:endParaRPr lang="en-US"/>
          </a:p>
        </p:txBody>
      </p:sp>
      <p:sp>
        <p:nvSpPr>
          <p:cNvPr id="7" name="Slide Number Placeholder 6"/>
          <p:cNvSpPr>
            <a:spLocks noGrp="1"/>
          </p:cNvSpPr>
          <p:nvPr>
            <p:ph type="sldNum" sz="quarter" idx="12"/>
          </p:nvPr>
        </p:nvSpPr>
        <p:spPr/>
        <p:txBody>
          <a:bodyPr/>
          <a:lstStyle/>
          <a:p>
            <a:fld id="{D4EFF482-3786-46E7-9869-AFA9F18680F5}"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09B3F2E3-61A1-4FF2-B72C-359E78023F58}" type="datetime1">
              <a:rPr lang="en-US" smtClean="0"/>
              <a:t>7/8/2026</a:t>
            </a:fld>
            <a:endParaRPr lang="en-US"/>
          </a:p>
        </p:txBody>
      </p:sp>
      <p:sp>
        <p:nvSpPr>
          <p:cNvPr id="8" name="Footer Placeholder 7"/>
          <p:cNvSpPr>
            <a:spLocks noGrp="1"/>
          </p:cNvSpPr>
          <p:nvPr>
            <p:ph type="ftr" sz="quarter" idx="11"/>
          </p:nvPr>
        </p:nvSpPr>
        <p:spPr>
          <a:xfrm>
            <a:off x="304800" y="6409944"/>
            <a:ext cx="3581400" cy="365760"/>
          </a:xfrm>
        </p:spPr>
        <p:txBody>
          <a:bodyPr/>
          <a:lstStyle/>
          <a:p>
            <a:r>
              <a:rPr lang="en-US" smtClean="0"/>
              <a:t>Dr.B.Madhura, MBA</a:t>
            </a:r>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D4EFF482-3786-46E7-9869-AFA9F18680F5}"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45F97F7-837D-4153-85A3-C35BA72B24FB}" type="datetime1">
              <a:rPr lang="en-US" smtClean="0"/>
              <a:t>7/8/2026</a:t>
            </a:fld>
            <a:endParaRPr lang="en-US"/>
          </a:p>
        </p:txBody>
      </p:sp>
      <p:sp>
        <p:nvSpPr>
          <p:cNvPr id="4" name="Footer Placeholder 3"/>
          <p:cNvSpPr>
            <a:spLocks noGrp="1"/>
          </p:cNvSpPr>
          <p:nvPr>
            <p:ph type="ftr" sz="quarter" idx="11"/>
          </p:nvPr>
        </p:nvSpPr>
        <p:spPr/>
        <p:txBody>
          <a:bodyPr/>
          <a:lstStyle/>
          <a:p>
            <a:r>
              <a:rPr lang="en-US" smtClean="0"/>
              <a:t>Dr.B.Madhura, MBA</a:t>
            </a:r>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D4EFF482-3786-46E7-9869-AFA9F18680F5}" type="slidenum">
              <a:rPr lang="en-US" smtClean="0"/>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51B2111A-8641-443B-B19D-947B687B6E04}" type="datetime1">
              <a:rPr lang="en-US" smtClean="0"/>
              <a:t>7/8/2026</a:t>
            </a:fld>
            <a:endParaRPr lang="en-US"/>
          </a:p>
        </p:txBody>
      </p:sp>
      <p:sp>
        <p:nvSpPr>
          <p:cNvPr id="3" name="Footer Placeholder 2"/>
          <p:cNvSpPr>
            <a:spLocks noGrp="1"/>
          </p:cNvSpPr>
          <p:nvPr>
            <p:ph type="ftr" sz="quarter" idx="11"/>
          </p:nvPr>
        </p:nvSpPr>
        <p:spPr/>
        <p:txBody>
          <a:bodyPr/>
          <a:lstStyle/>
          <a:p>
            <a:r>
              <a:rPr lang="en-US" smtClean="0"/>
              <a:t>Dr.B.Madhura, MBA</a:t>
            </a:r>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D4EFF482-3786-46E7-9869-AFA9F18680F5}" type="slidenum">
              <a:rPr lang="en-US" smtClean="0"/>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D4EFF482-3786-46E7-9869-AFA9F18680F5}"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4D90C0CC-F602-41E0-BB6B-46BBF7273A07}" type="datetime1">
              <a:rPr lang="en-US" smtClean="0"/>
              <a:t>7/8/2026</a:t>
            </a:fld>
            <a:endParaRPr lang="en-US"/>
          </a:p>
        </p:txBody>
      </p:sp>
      <p:sp>
        <p:nvSpPr>
          <p:cNvPr id="6" name="Footer Placeholder 5"/>
          <p:cNvSpPr>
            <a:spLocks noGrp="1"/>
          </p:cNvSpPr>
          <p:nvPr>
            <p:ph type="ftr" sz="quarter" idx="11"/>
          </p:nvPr>
        </p:nvSpPr>
        <p:spPr>
          <a:xfrm>
            <a:off x="301752" y="6410848"/>
            <a:ext cx="3383280" cy="365760"/>
          </a:xfrm>
        </p:spPr>
        <p:txBody>
          <a:bodyPr/>
          <a:lstStyle/>
          <a:p>
            <a:r>
              <a:rPr lang="en-US" smtClean="0"/>
              <a:t>Dr.B.Madhura, MBA</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D4EFF482-3786-46E7-9869-AFA9F18680F5}"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33114FB2-C28A-460A-BF9C-495521E1F16C}" type="datetime1">
              <a:rPr lang="en-US" smtClean="0"/>
              <a:t>7/8/2026</a:t>
            </a:fld>
            <a:endParaRPr lang="en-US"/>
          </a:p>
        </p:txBody>
      </p:sp>
      <p:sp>
        <p:nvSpPr>
          <p:cNvPr id="6" name="Footer Placeholder 5"/>
          <p:cNvSpPr>
            <a:spLocks noGrp="1"/>
          </p:cNvSpPr>
          <p:nvPr>
            <p:ph type="ftr" sz="quarter" idx="11"/>
          </p:nvPr>
        </p:nvSpPr>
        <p:spPr>
          <a:xfrm>
            <a:off x="301752" y="6410848"/>
            <a:ext cx="3584448" cy="365760"/>
          </a:xfrm>
        </p:spPr>
        <p:txBody>
          <a:bodyPr/>
          <a:lstStyle/>
          <a:p>
            <a:r>
              <a:rPr lang="en-US" smtClean="0"/>
              <a:t>Dr.B.Madhura, MBA</a:t>
            </a:r>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8077778-B740-4D1F-873A-D3E9BBE21CFC}" type="datetime1">
              <a:rPr lang="en-US" smtClean="0"/>
              <a:t>7/8/2026</a:t>
            </a:fld>
            <a:endParaRPr lang="en-US"/>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D4EFF482-3786-46E7-9869-AFA9F18680F5}"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D2CEE81-15A2-49D7-AAA5-E0B99F6ED618}" type="datetime1">
              <a:rPr lang="en-US" smtClean="0"/>
              <a:t>7/8/2026</a:t>
            </a:fld>
            <a:endParaRPr lang="en-US"/>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74B24603-FFE9-47BD-8729-4CEC7544086F}" type="datetime1">
              <a:rPr lang="en-US" smtClean="0"/>
              <a:t>7/8/2026</a:t>
            </a:fld>
            <a:endParaRPr lang="en-US"/>
          </a:p>
        </p:txBody>
      </p:sp>
      <p:sp>
        <p:nvSpPr>
          <p:cNvPr id="17" name="Footer Placeholder 16"/>
          <p:cNvSpPr>
            <a:spLocks noGrp="1"/>
          </p:cNvSpPr>
          <p:nvPr>
            <p:ph type="ftr" sz="quarter" idx="11"/>
          </p:nvPr>
        </p:nvSpPr>
        <p:spPr/>
        <p:txBody>
          <a:bodyPr/>
          <a:lstStyle/>
          <a:p>
            <a:r>
              <a:rPr lang="en-US" smtClean="0"/>
              <a:t>Dr.B.Madhura, MBA</a:t>
            </a:r>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4EFF482-3786-46E7-9869-AFA9F18680F5}"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B70BEE77-22B6-4ADA-BCB2-D0B5E1AE4982}" type="datetime1">
              <a:rPr lang="en-US" smtClean="0"/>
              <a:t>7/8/2026</a:t>
            </a:fld>
            <a:endParaRPr lang="en-US"/>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D4EFF482-3786-46E7-9869-AFA9F18680F5}"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4" name="Date Placeholder 3"/>
          <p:cNvSpPr>
            <a:spLocks noGrp="1"/>
          </p:cNvSpPr>
          <p:nvPr>
            <p:ph type="dt" sz="half" idx="10"/>
          </p:nvPr>
        </p:nvSpPr>
        <p:spPr/>
        <p:txBody>
          <a:bodyPr/>
          <a:lstStyle/>
          <a:p>
            <a:fld id="{F12A2386-D0C5-4BFA-A5F9-71FF7ABD7959}" type="datetime1">
              <a:rPr lang="en-US" smtClean="0"/>
              <a:t>7/8/2026</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4EFF482-3786-46E7-9869-AFA9F18680F5}"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29605F99-BD56-47DD-B50D-9FD7148CCD55}" type="datetime1">
              <a:rPr lang="en-US" smtClean="0"/>
              <a:t>7/8/2026</a:t>
            </a:fld>
            <a:endParaRPr lang="en-US"/>
          </a:p>
        </p:txBody>
      </p:sp>
      <p:sp>
        <p:nvSpPr>
          <p:cNvPr id="6" name="Footer Placeholder 5"/>
          <p:cNvSpPr>
            <a:spLocks noGrp="1"/>
          </p:cNvSpPr>
          <p:nvPr>
            <p:ph type="ftr" sz="quarter" idx="11"/>
          </p:nvPr>
        </p:nvSpPr>
        <p:spPr/>
        <p:txBody>
          <a:bodyPr/>
          <a:lstStyle/>
          <a:p>
            <a:r>
              <a:rPr lang="en-US" smtClean="0"/>
              <a:t>Dr.B.Madhura, MBA</a:t>
            </a:r>
            <a:endParaRPr lang="en-US"/>
          </a:p>
        </p:txBody>
      </p:sp>
      <p:sp>
        <p:nvSpPr>
          <p:cNvPr id="7" name="Slide Number Placeholder 6"/>
          <p:cNvSpPr>
            <a:spLocks noGrp="1"/>
          </p:cNvSpPr>
          <p:nvPr>
            <p:ph type="sldNum" sz="quarter" idx="12"/>
          </p:nvPr>
        </p:nvSpPr>
        <p:spPr/>
        <p:txBody>
          <a:bodyPr/>
          <a:lstStyle/>
          <a:p>
            <a:fld id="{D4EFF482-3786-46E7-9869-AFA9F18680F5}"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09B3F2E3-61A1-4FF2-B72C-359E78023F58}" type="datetime1">
              <a:rPr lang="en-US" smtClean="0"/>
              <a:t>7/8/2026</a:t>
            </a:fld>
            <a:endParaRPr lang="en-US"/>
          </a:p>
        </p:txBody>
      </p:sp>
      <p:sp>
        <p:nvSpPr>
          <p:cNvPr id="8" name="Footer Placeholder 7"/>
          <p:cNvSpPr>
            <a:spLocks noGrp="1"/>
          </p:cNvSpPr>
          <p:nvPr>
            <p:ph type="ftr" sz="quarter" idx="11"/>
          </p:nvPr>
        </p:nvSpPr>
        <p:spPr>
          <a:xfrm>
            <a:off x="304800" y="6409944"/>
            <a:ext cx="3581400" cy="365760"/>
          </a:xfrm>
        </p:spPr>
        <p:txBody>
          <a:bodyPr/>
          <a:lstStyle/>
          <a:p>
            <a:r>
              <a:rPr lang="en-US" smtClean="0"/>
              <a:t>Dr.B.Madhura, MBA</a:t>
            </a:r>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D4EFF482-3786-46E7-9869-AFA9F18680F5}"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45F97F7-837D-4153-85A3-C35BA72B24FB}" type="datetime1">
              <a:rPr lang="en-US" smtClean="0"/>
              <a:t>7/8/2026</a:t>
            </a:fld>
            <a:endParaRPr lang="en-US"/>
          </a:p>
        </p:txBody>
      </p:sp>
      <p:sp>
        <p:nvSpPr>
          <p:cNvPr id="4" name="Footer Placeholder 3"/>
          <p:cNvSpPr>
            <a:spLocks noGrp="1"/>
          </p:cNvSpPr>
          <p:nvPr>
            <p:ph type="ftr" sz="quarter" idx="11"/>
          </p:nvPr>
        </p:nvSpPr>
        <p:spPr/>
        <p:txBody>
          <a:bodyPr/>
          <a:lstStyle/>
          <a:p>
            <a:r>
              <a:rPr lang="en-US" smtClean="0"/>
              <a:t>Dr.B.Madhura, MBA</a:t>
            </a:r>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D4EFF482-3786-46E7-9869-AFA9F18680F5}" type="slidenum">
              <a:rPr lang="en-US" smtClean="0"/>
              <a:pPr/>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51B2111A-8641-443B-B19D-947B687B6E04}" type="datetime1">
              <a:rPr lang="en-US" smtClean="0"/>
              <a:t>7/8/2026</a:t>
            </a:fld>
            <a:endParaRPr lang="en-US"/>
          </a:p>
        </p:txBody>
      </p:sp>
      <p:sp>
        <p:nvSpPr>
          <p:cNvPr id="3" name="Footer Placeholder 2"/>
          <p:cNvSpPr>
            <a:spLocks noGrp="1"/>
          </p:cNvSpPr>
          <p:nvPr>
            <p:ph type="ftr" sz="quarter" idx="11"/>
          </p:nvPr>
        </p:nvSpPr>
        <p:spPr/>
        <p:txBody>
          <a:bodyPr/>
          <a:lstStyle/>
          <a:p>
            <a:r>
              <a:rPr lang="en-US" smtClean="0"/>
              <a:t>Dr.B.Madhura, MBA</a:t>
            </a:r>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D4EFF482-3786-46E7-9869-AFA9F18680F5}" type="slidenum">
              <a:rPr lang="en-US" smtClean="0"/>
              <a:pPr/>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D4EFF482-3786-46E7-9869-AFA9F18680F5}"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4D90C0CC-F602-41E0-BB6B-46BBF7273A07}" type="datetime1">
              <a:rPr lang="en-US" smtClean="0"/>
              <a:t>7/8/2026</a:t>
            </a:fld>
            <a:endParaRPr lang="en-US"/>
          </a:p>
        </p:txBody>
      </p:sp>
      <p:sp>
        <p:nvSpPr>
          <p:cNvPr id="6" name="Footer Placeholder 5"/>
          <p:cNvSpPr>
            <a:spLocks noGrp="1"/>
          </p:cNvSpPr>
          <p:nvPr>
            <p:ph type="ftr" sz="quarter" idx="11"/>
          </p:nvPr>
        </p:nvSpPr>
        <p:spPr>
          <a:xfrm>
            <a:off x="301752" y="6410848"/>
            <a:ext cx="3383280" cy="365760"/>
          </a:xfrm>
        </p:spPr>
        <p:txBody>
          <a:bodyPr/>
          <a:lstStyle/>
          <a:p>
            <a:r>
              <a:rPr lang="en-US" smtClean="0"/>
              <a:t>Dr.B.Madhura, MBA</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D4EFF482-3786-46E7-9869-AFA9F18680F5}"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33114FB2-C28A-460A-BF9C-495521E1F16C}" type="datetime1">
              <a:rPr lang="en-US" smtClean="0"/>
              <a:t>7/8/2026</a:t>
            </a:fld>
            <a:endParaRPr lang="en-US"/>
          </a:p>
        </p:txBody>
      </p:sp>
      <p:sp>
        <p:nvSpPr>
          <p:cNvPr id="6" name="Footer Placeholder 5"/>
          <p:cNvSpPr>
            <a:spLocks noGrp="1"/>
          </p:cNvSpPr>
          <p:nvPr>
            <p:ph type="ftr" sz="quarter" idx="11"/>
          </p:nvPr>
        </p:nvSpPr>
        <p:spPr>
          <a:xfrm>
            <a:off x="301752" y="6410848"/>
            <a:ext cx="3584448" cy="365760"/>
          </a:xfrm>
        </p:spPr>
        <p:txBody>
          <a:bodyPr/>
          <a:lstStyle/>
          <a:p>
            <a:r>
              <a:rPr lang="en-US" smtClean="0"/>
              <a:t>Dr.B.Madhura, MBA</a:t>
            </a:r>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8077778-B740-4D1F-873A-D3E9BBE21CFC}" type="datetime1">
              <a:rPr lang="en-US" smtClean="0"/>
              <a:t>7/8/2026</a:t>
            </a:fld>
            <a:endParaRPr lang="en-US"/>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D4EFF482-3786-46E7-9869-AFA9F18680F5}"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D2CEE81-15A2-49D7-AAA5-E0B99F6ED618}" type="datetime1">
              <a:rPr lang="en-US" smtClean="0"/>
              <a:t>7/8/2026</a:t>
            </a:fld>
            <a:endParaRPr lang="en-US"/>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rtlCol="0" anchor="ctr">
            <a:noAutofit/>
            <a:scene3d>
              <a:camera prst="orthographicFront"/>
              <a:lightRig rig="soft" dir="tl">
                <a:rot lat="0" lon="0" rev="0"/>
              </a:lightRig>
            </a:scene3d>
            <a:sp3d contourW="8890">
              <a:contourClr>
                <a:schemeClr val="accent3">
                  <a:shade val="55000"/>
                </a:schemeClr>
              </a:contourClr>
            </a:sp3d>
          </a:bodyPr>
          <a:lstStyle/>
          <a:p>
            <a:r>
              <a:rPr kumimoji="0" lang="en-US"/>
              <a:t>Click to edit Master title style</a:t>
            </a:r>
          </a:p>
        </p:txBody>
      </p:sp>
      <p:sp>
        <p:nvSpPr>
          <p:cNvPr id="3" name="Text Placeholder 2"/>
          <p:cNvSpPr>
            <a:spLocks noGrp="1"/>
          </p:cNvSpPr>
          <p:nvPr>
            <p:ph type="body" idx="1"/>
          </p:nvPr>
        </p:nvSpPr>
        <p:spPr>
          <a:xfrm>
            <a:off x="457200" y="1600200"/>
            <a:ext cx="8229600" cy="4724400"/>
          </a:xfrm>
          <a:prstGeom prst="rect">
            <a:avLst/>
          </a:prstGeom>
        </p:spPr>
        <p:txBody>
          <a:bodyPr vert="horz"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8878" y="6483997"/>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A503AEED-09C2-411A-91DC-A5DFFE9D90DB}" type="datetime1">
              <a:rPr lang="en-US" smtClean="0"/>
              <a:t>7/8/2026</a:t>
            </a:fld>
            <a:endParaRPr lang="en-US"/>
          </a:p>
        </p:txBody>
      </p:sp>
      <p:sp>
        <p:nvSpPr>
          <p:cNvPr id="5" name="Footer Placeholder 4"/>
          <p:cNvSpPr>
            <a:spLocks noGrp="1"/>
          </p:cNvSpPr>
          <p:nvPr>
            <p:ph type="ftr" sz="quarter" idx="3"/>
          </p:nvPr>
        </p:nvSpPr>
        <p:spPr>
          <a:xfrm>
            <a:off x="3124200" y="6483997"/>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r>
              <a:rPr lang="en-US"/>
              <a:t>Dr.B.Madhura, MBA</a:t>
            </a:r>
          </a:p>
        </p:txBody>
      </p:sp>
      <p:sp>
        <p:nvSpPr>
          <p:cNvPr id="6" name="Slide Number Placeholder 5"/>
          <p:cNvSpPr>
            <a:spLocks noGrp="1"/>
          </p:cNvSpPr>
          <p:nvPr>
            <p:ph type="sldNum" sz="quarter" idx="4"/>
          </p:nvPr>
        </p:nvSpPr>
        <p:spPr>
          <a:xfrm>
            <a:off x="6992644" y="6483997"/>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D4EFF482-3786-46E7-9869-AFA9F18680F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rtl="0" eaLnBrk="1" latinLnBrk="0" hangingPunct="1">
        <a:spcBef>
          <a:spcPct val="0"/>
        </a:spcBef>
        <a:buNone/>
        <a:defRPr kumimoji="0" sz="4000" b="1" kern="1200" cap="all" spc="5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90000"/>
        <a:buFont typeface="Cambria"/>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A503AEED-09C2-411A-91DC-A5DFFE9D90DB}" type="datetime1">
              <a:rPr lang="en-US" smtClean="0"/>
              <a:t>7/8/2026</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r>
              <a:rPr lang="en-US" smtClean="0"/>
              <a:t>Dr.B.Madhura, MBA</a:t>
            </a:r>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D4EFF482-3786-46E7-9869-AFA9F18680F5}"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A503AEED-09C2-411A-91DC-A5DFFE9D90DB}" type="datetime1">
              <a:rPr lang="en-US" smtClean="0"/>
              <a:t>7/8/2026</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r>
              <a:rPr lang="en-US" smtClean="0"/>
              <a:t>Dr.B.Madhura, MBA</a:t>
            </a:r>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D4EFF482-3786-46E7-9869-AFA9F18680F5}"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A503AEED-09C2-411A-91DC-A5DFFE9D90DB}" type="datetime1">
              <a:rPr lang="en-US" smtClean="0"/>
              <a:t>7/8/2026</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r>
              <a:rPr lang="en-US" smtClean="0"/>
              <a:t>Dr.B.Madhura, MBA</a:t>
            </a:r>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D4EFF482-3786-46E7-9869-AFA9F18680F5}"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hyperlink" Target="https://journalppw.com/index.php/jpsp/article/download/2027/1204/2274" TargetMode="External"/><Relationship Id="rId2" Type="http://schemas.openxmlformats.org/officeDocument/2006/relationships/hyperlink" Target="https://www.instagram.com/reel/C7ZVcGxBylo/?hl=en" TargetMode="Externa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questionpro.com/blog/ethnographic-research/" TargetMode="External"/><Relationship Id="rId2" Type="http://schemas.openxmlformats.org/officeDocument/2006/relationships/hyperlink" Target="https://www.questionpro.com/blog/customer-database/"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939"/>
            <a:ext cx="9144000" cy="1058861"/>
          </a:xfrm>
          <a:solidFill>
            <a:schemeClr val="tx2">
              <a:lumMod val="40000"/>
              <a:lumOff val="60000"/>
            </a:schemeClr>
          </a:solidFill>
          <a:effectLst>
            <a:outerShdw blurRad="50800" dist="38100" dir="2700000" algn="tl" rotWithShape="0">
              <a:prstClr val="black">
                <a:alpha val="40000"/>
              </a:prstClr>
            </a:outerShdw>
          </a:effectLst>
        </p:spPr>
        <p:txBody>
          <a:bodyPr lIns="82058" tIns="41029" rIns="82058" bIns="41029" anchor="ctr">
            <a:normAutofit/>
          </a:bodyPr>
          <a:lstStyle/>
          <a:p>
            <a:pPr>
              <a:spcBef>
                <a:spcPts val="1077"/>
              </a:spcBef>
              <a:defRPr/>
            </a:pPr>
            <a:r>
              <a:rPr lang="en-US" sz="3200" cap="none" spc="0" dirty="0" smtClean="0">
                <a:ln>
                  <a:noFill/>
                </a:ln>
                <a:solidFill>
                  <a:schemeClr val="tx1"/>
                </a:solidFill>
                <a:effectLst/>
                <a:latin typeface="Times New Roman" pitchFamily="18" charset="0"/>
                <a:cs typeface="Times New Roman" pitchFamily="18" charset="0"/>
              </a:rPr>
              <a:t>CO – CREATION </a:t>
            </a:r>
            <a:r>
              <a:rPr lang="en-US" sz="3200" cap="none" spc="0" dirty="0">
                <a:ln>
                  <a:noFill/>
                </a:ln>
                <a:solidFill>
                  <a:schemeClr val="tx1"/>
                </a:solidFill>
                <a:effectLst/>
                <a:latin typeface="Times New Roman" pitchFamily="18" charset="0"/>
                <a:cs typeface="Times New Roman" pitchFamily="18" charset="0"/>
              </a:rPr>
              <a:t>AND PRODUCT </a:t>
            </a:r>
            <a:r>
              <a:rPr lang="en-US" sz="3200" cap="none" spc="0" dirty="0" smtClean="0">
                <a:ln>
                  <a:noFill/>
                </a:ln>
                <a:solidFill>
                  <a:schemeClr val="tx1"/>
                </a:solidFill>
                <a:effectLst/>
                <a:latin typeface="Times New Roman" pitchFamily="18" charset="0"/>
                <a:cs typeface="Times New Roman" pitchFamily="18" charset="0"/>
              </a:rPr>
              <a:t>DESIGN</a:t>
            </a:r>
            <a:endParaRPr lang="en-IN" sz="3900" dirty="0">
              <a:solidFill>
                <a:srgbClr val="002060"/>
              </a:solidFill>
            </a:endParaRPr>
          </a:p>
        </p:txBody>
      </p:sp>
      <p:sp>
        <p:nvSpPr>
          <p:cNvPr id="8195" name="Subtitle 2"/>
          <p:cNvSpPr>
            <a:spLocks noGrp="1"/>
          </p:cNvSpPr>
          <p:nvPr>
            <p:ph type="subTitle" idx="4294967295"/>
          </p:nvPr>
        </p:nvSpPr>
        <p:spPr>
          <a:xfrm>
            <a:off x="1817692" y="4040985"/>
            <a:ext cx="6911975" cy="1461927"/>
          </a:xfrm>
          <a:prstGeom prst="rect">
            <a:avLst/>
          </a:prstGeom>
        </p:spPr>
        <p:txBody>
          <a:bodyPr lIns="91387" tIns="45693" rIns="91387" bIns="45693"/>
          <a:lstStyle/>
          <a:p>
            <a:pPr marL="0" indent="0" algn="ctr">
              <a:spcBef>
                <a:spcPts val="600"/>
              </a:spcBef>
              <a:spcAft>
                <a:spcPts val="600"/>
              </a:spcAft>
              <a:buNone/>
            </a:pPr>
            <a:r>
              <a:rPr lang="en-IN" sz="2800" b="1" dirty="0" err="1">
                <a:solidFill>
                  <a:srgbClr val="FF0000"/>
                </a:solidFill>
                <a:latin typeface="Segoe UI Black" pitchFamily="34" charset="0"/>
                <a:ea typeface="Segoe UI Black" pitchFamily="34" charset="0"/>
                <a:cs typeface="Segoe UI Black" pitchFamily="34" charset="0"/>
              </a:rPr>
              <a:t>Dr.</a:t>
            </a:r>
            <a:r>
              <a:rPr lang="en-IN" sz="2800" b="1" dirty="0">
                <a:solidFill>
                  <a:srgbClr val="FF0000"/>
                </a:solidFill>
                <a:latin typeface="Segoe UI Black" pitchFamily="34" charset="0"/>
                <a:ea typeface="Segoe UI Black" pitchFamily="34" charset="0"/>
                <a:cs typeface="Segoe UI Black" pitchFamily="34" charset="0"/>
              </a:rPr>
              <a:t> S. VIJAYA BHASKAR</a:t>
            </a:r>
          </a:p>
          <a:p>
            <a:pPr marL="0" indent="0" algn="r">
              <a:spcBef>
                <a:spcPts val="600"/>
              </a:spcBef>
              <a:spcAft>
                <a:spcPts val="600"/>
              </a:spcAft>
              <a:buNone/>
            </a:pPr>
            <a:r>
              <a:rPr lang="en-IN" sz="1800" b="1" dirty="0" err="1">
                <a:solidFill>
                  <a:schemeClr val="tx2"/>
                </a:solidFill>
                <a:latin typeface="Segoe UI Black" pitchFamily="34" charset="0"/>
                <a:ea typeface="Segoe UI Black" pitchFamily="34" charset="0"/>
                <a:cs typeface="Segoe UI Black" pitchFamily="34" charset="0"/>
              </a:rPr>
              <a:t>M.Tech</a:t>
            </a:r>
            <a:r>
              <a:rPr lang="en-IN" sz="1800" b="1" dirty="0">
                <a:solidFill>
                  <a:schemeClr val="tx2"/>
                </a:solidFill>
                <a:latin typeface="Segoe UI Black" pitchFamily="34" charset="0"/>
                <a:ea typeface="Segoe UI Black" pitchFamily="34" charset="0"/>
                <a:cs typeface="Segoe UI Black" pitchFamily="34" charset="0"/>
              </a:rPr>
              <a:t> (</a:t>
            </a:r>
            <a:r>
              <a:rPr lang="en-IN" sz="1800" b="1" dirty="0" err="1">
                <a:solidFill>
                  <a:schemeClr val="tx2"/>
                </a:solidFill>
                <a:latin typeface="Segoe UI Black" pitchFamily="34" charset="0"/>
                <a:ea typeface="Segoe UI Black" pitchFamily="34" charset="0"/>
                <a:cs typeface="Segoe UI Black" pitchFamily="34" charset="0"/>
              </a:rPr>
              <a:t>Mech</a:t>
            </a:r>
            <a:r>
              <a:rPr lang="en-IN" sz="1800" b="1" dirty="0">
                <a:solidFill>
                  <a:schemeClr val="tx2"/>
                </a:solidFill>
                <a:latin typeface="Segoe UI Black" pitchFamily="34" charset="0"/>
                <a:ea typeface="Segoe UI Black" pitchFamily="34" charset="0"/>
                <a:cs typeface="Segoe UI Black" pitchFamily="34" charset="0"/>
              </a:rPr>
              <a:t>)., </a:t>
            </a:r>
            <a:r>
              <a:rPr lang="en-IN" sz="1800" b="1" dirty="0" err="1">
                <a:solidFill>
                  <a:schemeClr val="tx2"/>
                </a:solidFill>
                <a:latin typeface="Segoe UI Black" pitchFamily="34" charset="0"/>
                <a:ea typeface="Segoe UI Black" pitchFamily="34" charset="0"/>
                <a:cs typeface="Segoe UI Black" pitchFamily="34" charset="0"/>
              </a:rPr>
              <a:t>Ph.D</a:t>
            </a:r>
            <a:r>
              <a:rPr lang="en-IN" sz="1800" b="1" dirty="0">
                <a:solidFill>
                  <a:schemeClr val="tx2"/>
                </a:solidFill>
                <a:latin typeface="Segoe UI Black" pitchFamily="34" charset="0"/>
                <a:ea typeface="Segoe UI Black" pitchFamily="34" charset="0"/>
                <a:cs typeface="Segoe UI Black" pitchFamily="34" charset="0"/>
              </a:rPr>
              <a:t> (</a:t>
            </a:r>
            <a:r>
              <a:rPr lang="en-IN" sz="1800" b="1" dirty="0" err="1">
                <a:solidFill>
                  <a:schemeClr val="tx2"/>
                </a:solidFill>
                <a:latin typeface="Segoe UI Black" pitchFamily="34" charset="0"/>
                <a:ea typeface="Segoe UI Black" pitchFamily="34" charset="0"/>
                <a:cs typeface="Segoe UI Black" pitchFamily="34" charset="0"/>
              </a:rPr>
              <a:t>Mech</a:t>
            </a:r>
            <a:r>
              <a:rPr lang="en-IN" sz="1800" b="1" dirty="0">
                <a:solidFill>
                  <a:schemeClr val="tx2"/>
                </a:solidFill>
                <a:latin typeface="Segoe UI Black" pitchFamily="34" charset="0"/>
                <a:ea typeface="Segoe UI Black" pitchFamily="34" charset="0"/>
                <a:cs typeface="Segoe UI Black" pitchFamily="34" charset="0"/>
              </a:rPr>
              <a:t>)., </a:t>
            </a:r>
            <a:r>
              <a:rPr lang="en-IN" sz="1800" b="1" dirty="0" err="1">
                <a:solidFill>
                  <a:schemeClr val="tx2"/>
                </a:solidFill>
                <a:latin typeface="Segoe UI Black" pitchFamily="34" charset="0"/>
                <a:ea typeface="Segoe UI Black" pitchFamily="34" charset="0"/>
                <a:cs typeface="Segoe UI Black" pitchFamily="34" charset="0"/>
              </a:rPr>
              <a:t>Ph.D</a:t>
            </a:r>
            <a:r>
              <a:rPr lang="en-IN" sz="1800" b="1" dirty="0">
                <a:solidFill>
                  <a:schemeClr val="tx2"/>
                </a:solidFill>
                <a:latin typeface="Segoe UI Black" pitchFamily="34" charset="0"/>
                <a:ea typeface="Segoe UI Black" pitchFamily="34" charset="0"/>
                <a:cs typeface="Segoe UI Black" pitchFamily="34" charset="0"/>
              </a:rPr>
              <a:t> (Management)</a:t>
            </a:r>
          </a:p>
          <a:p>
            <a:pPr marL="0" indent="0" algn="ctr">
              <a:spcBef>
                <a:spcPct val="0"/>
              </a:spcBef>
              <a:buNone/>
            </a:pPr>
            <a:r>
              <a:rPr lang="en-IN" sz="2800" dirty="0" smtClean="0">
                <a:solidFill>
                  <a:srgbClr val="FF0000"/>
                </a:solidFill>
                <a:latin typeface="AR JULIAN" pitchFamily="2" charset="0"/>
              </a:rPr>
              <a:t>          Professor in </a:t>
            </a:r>
            <a:r>
              <a:rPr lang="en-IN" sz="2800" dirty="0">
                <a:solidFill>
                  <a:srgbClr val="FF0000"/>
                </a:solidFill>
                <a:latin typeface="AR JULIAN" pitchFamily="2" charset="0"/>
              </a:rPr>
              <a:t>Mechanical Engineering</a:t>
            </a:r>
          </a:p>
        </p:txBody>
      </p:sp>
      <p:pic>
        <p:nvPicPr>
          <p:cNvPr id="8196" name="Picture 8" descr="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80" y="4114800"/>
            <a:ext cx="1871663"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Box 10"/>
          <p:cNvSpPr txBox="1">
            <a:spLocks noChangeArrowheads="1"/>
          </p:cNvSpPr>
          <p:nvPr/>
        </p:nvSpPr>
        <p:spPr bwMode="auto">
          <a:xfrm>
            <a:off x="1889590" y="5265740"/>
            <a:ext cx="6768177" cy="954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87" tIns="45693" rIns="91387" bIns="45693">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IN" sz="2800" b="1" dirty="0" err="1">
                <a:solidFill>
                  <a:srgbClr val="002060"/>
                </a:solidFill>
                <a:latin typeface="Agency FB" pitchFamily="34" charset="0"/>
              </a:rPr>
              <a:t>Sreenidhi</a:t>
            </a:r>
            <a:r>
              <a:rPr lang="en-IN" sz="2800" b="1" dirty="0">
                <a:solidFill>
                  <a:srgbClr val="002060"/>
                </a:solidFill>
                <a:latin typeface="Agency FB" pitchFamily="34" charset="0"/>
              </a:rPr>
              <a:t> Institute of Science and Technology</a:t>
            </a:r>
          </a:p>
          <a:p>
            <a:pPr algn="ctr"/>
            <a:r>
              <a:rPr lang="en-IN" sz="2800" b="1" dirty="0" err="1">
                <a:solidFill>
                  <a:srgbClr val="002060"/>
                </a:solidFill>
                <a:latin typeface="Agency FB" pitchFamily="34" charset="0"/>
              </a:rPr>
              <a:t>Yamnampet</a:t>
            </a:r>
            <a:r>
              <a:rPr lang="en-IN" sz="2800" b="1" dirty="0">
                <a:solidFill>
                  <a:srgbClr val="002060"/>
                </a:solidFill>
                <a:latin typeface="Agency FB" pitchFamily="34" charset="0"/>
              </a:rPr>
              <a:t>, </a:t>
            </a:r>
            <a:r>
              <a:rPr lang="en-IN" sz="2800" b="1" dirty="0" err="1">
                <a:solidFill>
                  <a:srgbClr val="002060"/>
                </a:solidFill>
                <a:latin typeface="Agency FB" pitchFamily="34" charset="0"/>
              </a:rPr>
              <a:t>Ghatkesar</a:t>
            </a:r>
            <a:r>
              <a:rPr lang="en-IN" sz="2800" b="1" dirty="0">
                <a:solidFill>
                  <a:srgbClr val="002060"/>
                </a:solidFill>
                <a:latin typeface="Agency FB" pitchFamily="34" charset="0"/>
              </a:rPr>
              <a:t>, Hyderabad, Telangana-501301</a:t>
            </a:r>
          </a:p>
        </p:txBody>
      </p:sp>
      <p:sp>
        <p:nvSpPr>
          <p:cNvPr id="8198" name="TextBox 9"/>
          <p:cNvSpPr txBox="1">
            <a:spLocks noChangeArrowheads="1"/>
          </p:cNvSpPr>
          <p:nvPr/>
        </p:nvSpPr>
        <p:spPr bwMode="auto">
          <a:xfrm>
            <a:off x="1258889" y="6308725"/>
            <a:ext cx="184624" cy="3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87" tIns="45693" rIns="91387" bIns="45693">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endParaRPr lang="en-IN"/>
          </a:p>
        </p:txBody>
      </p:sp>
      <p:cxnSp>
        <p:nvCxnSpPr>
          <p:cNvPr id="9" name="Straight Connector 8"/>
          <p:cNvCxnSpPr/>
          <p:nvPr/>
        </p:nvCxnSpPr>
        <p:spPr>
          <a:xfrm>
            <a:off x="0" y="1066800"/>
            <a:ext cx="9144000" cy="0"/>
          </a:xfrm>
          <a:prstGeom prst="line">
            <a:avLst/>
          </a:prstGeom>
          <a:ln w="57150" cmpd="thinThick">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8200" name="AutoShape 4" descr="Image result for SI Engine"/>
          <p:cNvSpPr>
            <a:spLocks noChangeAspect="1" noChangeArrowheads="1"/>
          </p:cNvSpPr>
          <p:nvPr/>
        </p:nvSpPr>
        <p:spPr bwMode="auto">
          <a:xfrm>
            <a:off x="155575" y="-14445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7" tIns="45693" rIns="91387" bIns="45693"/>
          <a:lstStyle/>
          <a:p>
            <a:endParaRPr lang="en-IN"/>
          </a:p>
        </p:txBody>
      </p:sp>
      <p:sp>
        <p:nvSpPr>
          <p:cNvPr id="8201" name="AutoShape 6" descr="Image result for SI Engine"/>
          <p:cNvSpPr>
            <a:spLocks noChangeAspect="1" noChangeArrowheads="1"/>
          </p:cNvSpPr>
          <p:nvPr/>
        </p:nvSpPr>
        <p:spPr bwMode="auto">
          <a:xfrm>
            <a:off x="155575" y="-14445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7" tIns="45693" rIns="91387" bIns="45693"/>
          <a:lstStyle/>
          <a:p>
            <a:endParaRPr lang="en-IN"/>
          </a:p>
        </p:txBody>
      </p:sp>
      <p:sp>
        <p:nvSpPr>
          <p:cNvPr id="8202" name="AutoShape 7" descr="Image result for compressor"/>
          <p:cNvSpPr>
            <a:spLocks noChangeAspect="1" noChangeArrowheads="1"/>
          </p:cNvSpPr>
          <p:nvPr/>
        </p:nvSpPr>
        <p:spPr bwMode="auto">
          <a:xfrm>
            <a:off x="155575" y="-14445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7" tIns="45693" rIns="91387" bIns="45693"/>
          <a:lstStyle/>
          <a:p>
            <a:endParaRPr lang="en-IN"/>
          </a:p>
        </p:txBody>
      </p:sp>
      <p:pic>
        <p:nvPicPr>
          <p:cNvPr id="1026" name="Picture 2" descr="1,804 Co Creation Royalty-Free Images, Stock Photos &amp; Pictures |  Shutterstoc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30313"/>
            <a:ext cx="90678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4994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28600"/>
            <a:ext cx="8686800" cy="1143000"/>
          </a:xfrm>
        </p:spPr>
        <p:style>
          <a:lnRef idx="2">
            <a:schemeClr val="accent1"/>
          </a:lnRef>
          <a:fillRef idx="1">
            <a:schemeClr val="lt1"/>
          </a:fillRef>
          <a:effectRef idx="0">
            <a:schemeClr val="accent1"/>
          </a:effectRef>
          <a:fontRef idx="minor">
            <a:schemeClr val="dk1"/>
          </a:fontRef>
        </p:style>
        <p:txBody>
          <a:bodyPr/>
          <a:lstStyle/>
          <a:p>
            <a:r>
              <a:rPr lang="en-US" sz="2800" dirty="0" smtClean="0">
                <a:effectLst/>
              </a:rPr>
              <a:t>CO – CREATION AND PRODUCT DESIGN</a:t>
            </a:r>
            <a:br>
              <a:rPr lang="en-US" sz="2800" dirty="0" smtClean="0">
                <a:effectLst/>
              </a:rPr>
            </a:br>
            <a:r>
              <a:rPr lang="en-US" sz="2800" dirty="0" smtClean="0">
                <a:effectLst/>
              </a:rPr>
              <a:t> </a:t>
            </a:r>
            <a:br>
              <a:rPr lang="en-US" sz="2800" dirty="0" smtClean="0">
                <a:effectLst/>
              </a:rPr>
            </a:br>
            <a:r>
              <a:rPr lang="en-US" sz="2800" dirty="0" smtClean="0">
                <a:effectLst/>
              </a:rPr>
              <a:t>CO – CREATION AND PRODUCT DESIGN</a:t>
            </a:r>
            <a:br>
              <a:rPr lang="en-US" sz="2800" dirty="0" smtClean="0">
                <a:effectLst/>
              </a:rPr>
            </a:br>
            <a:r>
              <a:rPr lang="en-US" sz="2800" dirty="0" smtClean="0">
                <a:effectLst/>
              </a:rPr>
              <a:t> </a:t>
            </a:r>
            <a:br>
              <a:rPr lang="en-US" sz="2800" dirty="0" smtClean="0">
                <a:effectLst/>
              </a:rPr>
            </a:br>
            <a:r>
              <a:rPr lang="en-US" sz="2800" dirty="0" smtClean="0">
                <a:effectLst/>
              </a:rPr>
              <a:t>CO – CREATION AND PRODUCT DESIGN</a:t>
            </a:r>
            <a:br>
              <a:rPr lang="en-US" sz="2800" dirty="0" smtClean="0">
                <a:effectLst/>
              </a:rPr>
            </a:br>
            <a:r>
              <a:rPr lang="en-US" sz="2800" dirty="0" smtClean="0">
                <a:effectLst/>
              </a:rPr>
              <a:t> </a:t>
            </a:r>
            <a:br>
              <a:rPr lang="en-US" sz="2800" dirty="0" smtClean="0">
                <a:effectLst/>
              </a:rPr>
            </a:br>
            <a:r>
              <a:rPr lang="en-US" sz="2800" dirty="0" smtClean="0">
                <a:effectLst/>
              </a:rPr>
              <a:t> CO – CREATION AND PRODUCT DESIGN</a:t>
            </a:r>
            <a:r>
              <a:rPr lang="en-US" sz="2800" dirty="0">
                <a:effectLst/>
              </a:rPr>
              <a:t/>
            </a:r>
            <a:br>
              <a:rPr lang="en-US" sz="2800" dirty="0">
                <a:effectLst/>
              </a:rPr>
            </a:br>
            <a:r>
              <a:rPr lang="en-US" sz="2800" dirty="0">
                <a:effectLst/>
              </a:rPr>
              <a:t> </a:t>
            </a:r>
            <a:br>
              <a:rPr lang="en-US" sz="2800" dirty="0">
                <a:effectLst/>
              </a:rPr>
            </a:br>
            <a:r>
              <a:rPr lang="en-US" sz="2800" dirty="0">
                <a:effectLst/>
                <a:latin typeface="Times New Roman" pitchFamily="18" charset="0"/>
                <a:cs typeface="Times New Roman" pitchFamily="18" charset="0"/>
              </a:rPr>
              <a:t>C</a:t>
            </a:r>
            <a:r>
              <a:rPr lang="en-US" sz="2800" cap="none" spc="0" dirty="0">
                <a:ln>
                  <a:noFill/>
                </a:ln>
                <a:solidFill>
                  <a:schemeClr val="tx1"/>
                </a:solidFill>
                <a:effectLst/>
                <a:latin typeface="Times New Roman" pitchFamily="18" charset="0"/>
                <a:cs typeface="Times New Roman" pitchFamily="18" charset="0"/>
              </a:rPr>
              <a:t>CO – CREATION AND PRODUCT DESIGN</a:t>
            </a:r>
            <a:br>
              <a:rPr lang="en-US" sz="2800" cap="none" spc="0" dirty="0">
                <a:ln>
                  <a:noFill/>
                </a:ln>
                <a:solidFill>
                  <a:schemeClr val="tx1"/>
                </a:solidFill>
                <a:effectLst/>
                <a:latin typeface="Times New Roman" pitchFamily="18" charset="0"/>
                <a:cs typeface="Times New Roman" pitchFamily="18" charset="0"/>
              </a:rPr>
            </a:br>
            <a:endParaRPr lang="en-US" sz="2800" cap="none" spc="0" dirty="0">
              <a:ln>
                <a:noFill/>
              </a:ln>
              <a:solidFill>
                <a:schemeClr val="tx1"/>
              </a:solidFill>
              <a:effectLst/>
              <a:latin typeface="Times New Roman" pitchFamily="18" charset="0"/>
              <a:cs typeface="Times New Roman" pitchFamily="18" charset="0"/>
            </a:endParaRPr>
          </a:p>
        </p:txBody>
      </p:sp>
      <p:sp>
        <p:nvSpPr>
          <p:cNvPr id="3" name="Subtitle 2"/>
          <p:cNvSpPr>
            <a:spLocks noGrp="1"/>
          </p:cNvSpPr>
          <p:nvPr>
            <p:ph type="subTitle" idx="1"/>
          </p:nvPr>
        </p:nvSpPr>
        <p:spPr>
          <a:xfrm>
            <a:off x="1371600" y="1524000"/>
            <a:ext cx="6400800" cy="4953000"/>
          </a:xfrm>
        </p:spPr>
        <p:style>
          <a:lnRef idx="2">
            <a:schemeClr val="accent1"/>
          </a:lnRef>
          <a:fillRef idx="1">
            <a:schemeClr val="lt1"/>
          </a:fillRef>
          <a:effectRef idx="0">
            <a:schemeClr val="accent1"/>
          </a:effectRef>
          <a:fontRef idx="minor">
            <a:schemeClr val="dk1"/>
          </a:fontRef>
        </p:style>
        <p:txBody>
          <a:bodyPr>
            <a:normAutofit/>
          </a:bodyPr>
          <a:lstStyle/>
          <a:p>
            <a:r>
              <a:rPr lang="en-US" b="1" dirty="0">
                <a:latin typeface="Times New Roman" pitchFamily="18" charset="0"/>
                <a:cs typeface="Times New Roman" pitchFamily="18" charset="0"/>
              </a:rPr>
              <a:t>Unit – I: Human Centered </a:t>
            </a:r>
          </a:p>
          <a:p>
            <a:pPr algn="l"/>
            <a:r>
              <a:rPr lang="en-US" b="1" dirty="0">
                <a:latin typeface="Times New Roman" pitchFamily="18" charset="0"/>
                <a:cs typeface="Times New Roman" pitchFamily="18" charset="0"/>
              </a:rPr>
              <a:t>Contents:</a:t>
            </a:r>
          </a:p>
          <a:p>
            <a:pPr marL="457200" indent="-457200" algn="l">
              <a:buFont typeface="+mj-lt"/>
              <a:buAutoNum type="arabicPeriod"/>
            </a:pPr>
            <a:r>
              <a:rPr lang="en-US" dirty="0">
                <a:latin typeface="Times New Roman" pitchFamily="18" charset="0"/>
                <a:cs typeface="Times New Roman" pitchFamily="18" charset="0"/>
              </a:rPr>
              <a:t>Understanding </a:t>
            </a:r>
            <a:r>
              <a:rPr lang="en-US" dirty="0" smtClean="0">
                <a:latin typeface="Times New Roman" pitchFamily="18" charset="0"/>
                <a:cs typeface="Times New Roman" pitchFamily="18" charset="0"/>
              </a:rPr>
              <a:t>User </a:t>
            </a:r>
            <a:r>
              <a:rPr lang="en-US" dirty="0">
                <a:latin typeface="Times New Roman" pitchFamily="18" charset="0"/>
                <a:cs typeface="Times New Roman" pitchFamily="18" charset="0"/>
              </a:rPr>
              <a:t>and Customer</a:t>
            </a:r>
          </a:p>
          <a:p>
            <a:pPr algn="l"/>
            <a:r>
              <a:rPr lang="en-US" dirty="0">
                <a:latin typeface="Times New Roman" pitchFamily="18" charset="0"/>
                <a:cs typeface="Times New Roman" pitchFamily="18" charset="0"/>
              </a:rPr>
              <a:t>       Perspectives, </a:t>
            </a:r>
          </a:p>
          <a:p>
            <a:pPr marL="457200" indent="-457200" algn="l">
              <a:buFont typeface="+mj-lt"/>
              <a:buAutoNum type="arabicPeriod" startAt="2"/>
            </a:pPr>
            <a:r>
              <a:rPr lang="en-US" dirty="0">
                <a:latin typeface="Times New Roman" pitchFamily="18" charset="0"/>
                <a:cs typeface="Times New Roman" pitchFamily="18" charset="0"/>
              </a:rPr>
              <a:t>Identify insights and opportunities, </a:t>
            </a:r>
          </a:p>
          <a:p>
            <a:pPr marL="457200" indent="-457200" algn="l">
              <a:buFont typeface="+mj-lt"/>
              <a:buAutoNum type="arabicPeriod" startAt="2"/>
            </a:pPr>
            <a:r>
              <a:rPr lang="en-US" dirty="0">
                <a:latin typeface="Times New Roman" pitchFamily="18" charset="0"/>
                <a:cs typeface="Times New Roman" pitchFamily="18" charset="0"/>
              </a:rPr>
              <a:t>Interviewing, </a:t>
            </a:r>
          </a:p>
          <a:p>
            <a:pPr marL="457200" indent="-457200" algn="l">
              <a:buFont typeface="+mj-lt"/>
              <a:buAutoNum type="arabicPeriod" startAt="2"/>
            </a:pPr>
            <a:r>
              <a:rPr lang="en-US" dirty="0">
                <a:latin typeface="Times New Roman" pitchFamily="18" charset="0"/>
                <a:cs typeface="Times New Roman" pitchFamily="18" charset="0"/>
              </a:rPr>
              <a:t>User Experience design.</a:t>
            </a:r>
            <a:r>
              <a:rPr lang="en-US" b="1" dirty="0">
                <a:latin typeface="Times New Roman" pitchFamily="18" charset="0"/>
                <a:cs typeface="Times New Roman" pitchFamily="18" charset="0"/>
              </a:rPr>
              <a:t> </a:t>
            </a:r>
          </a:p>
          <a:p>
            <a:pPr marL="457200" indent="-457200" algn="l">
              <a:buFont typeface="+mj-lt"/>
              <a:buAutoNum type="arabicPeriod" startAt="2"/>
            </a:pPr>
            <a:r>
              <a:rPr lang="en-US" dirty="0">
                <a:latin typeface="Times New Roman" pitchFamily="18" charset="0"/>
                <a:cs typeface="Times New Roman" pitchFamily="18" charset="0"/>
              </a:rPr>
              <a:t>Frame your design challenge</a:t>
            </a:r>
            <a:r>
              <a:rPr lang="en-US" b="1" dirty="0">
                <a:latin typeface="Times New Roman" pitchFamily="18" charset="0"/>
                <a:cs typeface="Times New Roman" pitchFamily="18" charset="0"/>
              </a:rPr>
              <a:t>.</a:t>
            </a:r>
            <a:endParaRPr lang="en-US" dirty="0">
              <a:latin typeface="Times New Roman" pitchFamily="18" charset="0"/>
              <a:cs typeface="Times New Roman" pitchFamily="18" charset="0"/>
            </a:endParaRPr>
          </a:p>
          <a:p>
            <a:pPr marL="457200" indent="-457200" algn="l">
              <a:buFont typeface="+mj-lt"/>
              <a:buAutoNum type="arabicPeriod" startAt="2"/>
            </a:pPr>
            <a:r>
              <a:rPr lang="en-US" dirty="0">
                <a:latin typeface="Times New Roman" pitchFamily="18" charset="0"/>
                <a:cs typeface="Times New Roman" pitchFamily="18" charset="0"/>
              </a:rPr>
              <a:t>Empathy tools and techniques.</a:t>
            </a:r>
          </a:p>
          <a:p>
            <a:pPr marL="457200" indent="-457200" algn="l"/>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99E4AA8-BC2B-4CE3-89A7-5223E1DA0A5E}"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839200" cy="758952"/>
          </a:xfrm>
        </p:spPr>
        <p:txBody>
          <a:bodyPr>
            <a:normAutofit fontScale="90000"/>
          </a:bodyPr>
          <a:lstStyle/>
          <a:p>
            <a:pPr marL="457200" indent="-457200"/>
            <a:r>
              <a:rPr lang="en-US" b="1" dirty="0">
                <a:solidFill>
                  <a:srgbClr val="FF0000"/>
                </a:solidFill>
                <a:latin typeface="Times New Roman" pitchFamily="18" charset="0"/>
                <a:cs typeface="Times New Roman" pitchFamily="18" charset="0"/>
              </a:rPr>
              <a:t>Understanding User and Customer</a:t>
            </a:r>
            <a:br>
              <a:rPr lang="en-US" b="1" dirty="0">
                <a:solidFill>
                  <a:srgbClr val="FF0000"/>
                </a:solidFill>
                <a:latin typeface="Times New Roman" pitchFamily="18" charset="0"/>
                <a:cs typeface="Times New Roman" pitchFamily="18" charset="0"/>
              </a:rPr>
            </a:br>
            <a:r>
              <a:rPr lang="en-US" b="1" dirty="0">
                <a:solidFill>
                  <a:srgbClr val="FF0000"/>
                </a:solidFill>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Perspectives</a:t>
            </a:r>
            <a:endParaRPr lang="en-IN" b="1" dirty="0">
              <a:solidFill>
                <a:srgbClr val="FF0000"/>
              </a:solidFill>
            </a:endParaRPr>
          </a:p>
        </p:txBody>
      </p:sp>
      <p:sp>
        <p:nvSpPr>
          <p:cNvPr id="4" name="Date Placeholder 3"/>
          <p:cNvSpPr>
            <a:spLocks noGrp="1"/>
          </p:cNvSpPr>
          <p:nvPr>
            <p:ph type="dt" sz="half" idx="10"/>
          </p:nvPr>
        </p:nvSpPr>
        <p:spPr/>
        <p:txBody>
          <a:bodyPr/>
          <a:lstStyle/>
          <a:p>
            <a:fld id="{B70BEE77-22B6-4ADA-BCB2-D0B5E1AE4982}" type="datetime1">
              <a:rPr lang="en-US" smtClean="0"/>
              <a:t>7/8/2026</a:t>
            </a:fld>
            <a:endParaRPr lang="en-US"/>
          </a:p>
        </p:txBody>
      </p:sp>
      <p:sp>
        <p:nvSpPr>
          <p:cNvPr id="6" name="Slide Number Placeholder 5"/>
          <p:cNvSpPr>
            <a:spLocks noGrp="1"/>
          </p:cNvSpPr>
          <p:nvPr>
            <p:ph type="sldNum" sz="quarter" idx="12"/>
          </p:nvPr>
        </p:nvSpPr>
        <p:spPr/>
        <p:txBody>
          <a:bodyPr/>
          <a:lstStyle/>
          <a:p>
            <a:fld id="{D4EFF482-3786-46E7-9869-AFA9F18680F5}" type="slidenum">
              <a:rPr lang="en-US" smtClean="0"/>
              <a:pPr/>
              <a:t>3</a:t>
            </a:fld>
            <a:endParaRPr lang="en-US"/>
          </a:p>
        </p:txBody>
      </p:sp>
      <p:sp>
        <p:nvSpPr>
          <p:cNvPr id="3" name="Content Placeholder 2"/>
          <p:cNvSpPr>
            <a:spLocks noGrp="1"/>
          </p:cNvSpPr>
          <p:nvPr>
            <p:ph sz="quarter" idx="1"/>
          </p:nvPr>
        </p:nvSpPr>
        <p:spPr/>
        <p:txBody>
          <a:bodyPr/>
          <a:lstStyle/>
          <a:p>
            <a:pPr marL="0" indent="0">
              <a:buNone/>
            </a:pPr>
            <a:r>
              <a:rPr lang="en-US" dirty="0" smtClean="0"/>
              <a:t>For any organization, people are important (Users and/or Customers)</a:t>
            </a:r>
          </a:p>
          <a:p>
            <a:endParaRPr lang="en-US" dirty="0" smtClean="0"/>
          </a:p>
          <a:p>
            <a:r>
              <a:rPr lang="en-US" dirty="0" smtClean="0"/>
              <a:t>A </a:t>
            </a:r>
            <a:r>
              <a:rPr lang="en-US" b="1" dirty="0"/>
              <a:t>customer</a:t>
            </a:r>
            <a:r>
              <a:rPr lang="en-US" dirty="0"/>
              <a:t> is the individual or organization that pays for a product, while a </a:t>
            </a:r>
            <a:r>
              <a:rPr lang="en-US" b="1" dirty="0"/>
              <a:t>user</a:t>
            </a:r>
            <a:r>
              <a:rPr lang="en-US" dirty="0"/>
              <a:t> is the person who physically interacts with it. </a:t>
            </a:r>
            <a:endParaRPr lang="en-US" dirty="0" smtClean="0"/>
          </a:p>
          <a:p>
            <a:r>
              <a:rPr lang="en-US" dirty="0" smtClean="0"/>
              <a:t>In </a:t>
            </a:r>
            <a:r>
              <a:rPr lang="en-US" dirty="0"/>
              <a:t>retail (B2C), they are often the same, but in B2B or specialized fields, the buyer and the consumer are completely different.</a:t>
            </a:r>
            <a:endParaRPr lang="en-IN" dirty="0"/>
          </a:p>
        </p:txBody>
      </p:sp>
    </p:spTree>
    <p:extLst>
      <p:ext uri="{BB962C8B-B14F-4D97-AF65-F5344CB8AC3E}">
        <p14:creationId xmlns:p14="http://schemas.microsoft.com/office/powerpoint/2010/main" val="288681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latin typeface="Times New Roman" pitchFamily="18" charset="0"/>
                <a:cs typeface="Times New Roman" pitchFamily="18" charset="0"/>
              </a:rPr>
              <a:t>Understanding User and Customer</a:t>
            </a:r>
            <a:br>
              <a:rPr lang="en-US" b="1" dirty="0">
                <a:solidFill>
                  <a:srgbClr val="FF0000"/>
                </a:solidFill>
                <a:latin typeface="Times New Roman" pitchFamily="18" charset="0"/>
                <a:cs typeface="Times New Roman" pitchFamily="18" charset="0"/>
              </a:rPr>
            </a:br>
            <a:r>
              <a:rPr lang="en-US" b="1" dirty="0">
                <a:solidFill>
                  <a:srgbClr val="FF0000"/>
                </a:solidFill>
                <a:latin typeface="Times New Roman" pitchFamily="18" charset="0"/>
                <a:cs typeface="Times New Roman" pitchFamily="18" charset="0"/>
              </a:rPr>
              <a:t>       Perspectives</a:t>
            </a:r>
            <a:endParaRPr lang="en-IN" dirty="0"/>
          </a:p>
        </p:txBody>
      </p:sp>
      <p:sp>
        <p:nvSpPr>
          <p:cNvPr id="4" name="Date Placeholder 3"/>
          <p:cNvSpPr>
            <a:spLocks noGrp="1"/>
          </p:cNvSpPr>
          <p:nvPr>
            <p:ph type="dt" sz="half" idx="10"/>
          </p:nvPr>
        </p:nvSpPr>
        <p:spPr/>
        <p:txBody>
          <a:bodyPr/>
          <a:lstStyle/>
          <a:p>
            <a:fld id="{B70BEE77-22B6-4ADA-BCB2-D0B5E1AE4982}" type="datetime1">
              <a:rPr lang="en-US" smtClean="0"/>
              <a:t>7/8/2026</a:t>
            </a:fld>
            <a:endParaRPr lang="en-US"/>
          </a:p>
        </p:txBody>
      </p:sp>
      <p:sp>
        <p:nvSpPr>
          <p:cNvPr id="6" name="Slide Number Placeholder 5"/>
          <p:cNvSpPr>
            <a:spLocks noGrp="1"/>
          </p:cNvSpPr>
          <p:nvPr>
            <p:ph type="sldNum" sz="quarter" idx="12"/>
          </p:nvPr>
        </p:nvSpPr>
        <p:spPr/>
        <p:txBody>
          <a:bodyPr/>
          <a:lstStyle/>
          <a:p>
            <a:fld id="{D4EFF482-3786-46E7-9869-AFA9F18680F5}" type="slidenum">
              <a:rPr lang="en-US" smtClean="0"/>
              <a:pPr/>
              <a:t>4</a:t>
            </a:fld>
            <a:endParaRPr lang="en-US"/>
          </a:p>
        </p:txBody>
      </p:sp>
      <p:sp>
        <p:nvSpPr>
          <p:cNvPr id="3" name="Content Placeholder 2"/>
          <p:cNvSpPr>
            <a:spLocks noGrp="1"/>
          </p:cNvSpPr>
          <p:nvPr>
            <p:ph sz="quarter" idx="1"/>
          </p:nvPr>
        </p:nvSpPr>
        <p:spPr>
          <a:xfrm>
            <a:off x="301752" y="1527048"/>
            <a:ext cx="8503920" cy="5178552"/>
          </a:xfrm>
        </p:spPr>
        <p:txBody>
          <a:bodyPr>
            <a:normAutofit fontScale="85000" lnSpcReduction="20000"/>
          </a:bodyPr>
          <a:lstStyle/>
          <a:p>
            <a:pPr marL="0" indent="0">
              <a:buNone/>
            </a:pPr>
            <a:r>
              <a:rPr lang="en-US" b="1" dirty="0" smtClean="0"/>
              <a:t>Who </a:t>
            </a:r>
            <a:r>
              <a:rPr lang="en-US" b="1" dirty="0"/>
              <a:t>is a User? Who is a Customer</a:t>
            </a:r>
            <a:r>
              <a:rPr lang="en-US" b="1" dirty="0" smtClean="0"/>
              <a:t>?</a:t>
            </a:r>
          </a:p>
          <a:p>
            <a:pPr marL="0" indent="0">
              <a:buNone/>
            </a:pPr>
            <a:endParaRPr lang="en-US" b="1" dirty="0"/>
          </a:p>
          <a:p>
            <a:pPr marL="0" indent="0">
              <a:buNone/>
            </a:pPr>
            <a:r>
              <a:rPr lang="en-US" b="1" dirty="0"/>
              <a:t>User</a:t>
            </a:r>
          </a:p>
          <a:p>
            <a:pPr lvl="1"/>
            <a:r>
              <a:rPr lang="en-US" sz="2600" b="1" dirty="0">
                <a:solidFill>
                  <a:schemeClr val="tx1"/>
                </a:solidFill>
              </a:rPr>
              <a:t>Uses</a:t>
            </a:r>
            <a:r>
              <a:rPr lang="en-US" sz="2600" dirty="0">
                <a:solidFill>
                  <a:schemeClr val="tx1"/>
                </a:solidFill>
              </a:rPr>
              <a:t> the product or service </a:t>
            </a:r>
          </a:p>
          <a:p>
            <a:pPr lvl="1"/>
            <a:r>
              <a:rPr lang="en-US" sz="2600" dirty="0">
                <a:solidFill>
                  <a:schemeClr val="tx1"/>
                </a:solidFill>
              </a:rPr>
              <a:t>Experiences its </a:t>
            </a:r>
            <a:r>
              <a:rPr lang="en-US" sz="2600" b="1" dirty="0">
                <a:solidFill>
                  <a:schemeClr val="tx1"/>
                </a:solidFill>
              </a:rPr>
              <a:t>benefits</a:t>
            </a:r>
            <a:r>
              <a:rPr lang="en-US" sz="2600" dirty="0">
                <a:solidFill>
                  <a:schemeClr val="tx1"/>
                </a:solidFill>
              </a:rPr>
              <a:t> and challenges </a:t>
            </a:r>
          </a:p>
          <a:p>
            <a:pPr lvl="1"/>
            <a:r>
              <a:rPr lang="en-US" sz="2600" dirty="0">
                <a:solidFill>
                  <a:schemeClr val="tx1"/>
                </a:solidFill>
              </a:rPr>
              <a:t>Provides </a:t>
            </a:r>
            <a:r>
              <a:rPr lang="en-US" sz="2600" b="1" dirty="0">
                <a:solidFill>
                  <a:schemeClr val="tx1"/>
                </a:solidFill>
              </a:rPr>
              <a:t>feedback</a:t>
            </a:r>
            <a:r>
              <a:rPr lang="en-US" sz="2600" dirty="0">
                <a:solidFill>
                  <a:schemeClr val="tx1"/>
                </a:solidFill>
              </a:rPr>
              <a:t> for improvement </a:t>
            </a:r>
          </a:p>
          <a:p>
            <a:pPr marL="0" indent="0">
              <a:buNone/>
            </a:pPr>
            <a:r>
              <a:rPr lang="en-US" b="1" dirty="0"/>
              <a:t>Customer</a:t>
            </a:r>
          </a:p>
          <a:p>
            <a:pPr lvl="1"/>
            <a:r>
              <a:rPr lang="en-US" sz="2600" b="1" dirty="0">
                <a:solidFill>
                  <a:schemeClr val="tx1"/>
                </a:solidFill>
              </a:rPr>
              <a:t>Purchases</a:t>
            </a:r>
            <a:r>
              <a:rPr lang="en-US" sz="2600" dirty="0">
                <a:solidFill>
                  <a:schemeClr val="tx1"/>
                </a:solidFill>
              </a:rPr>
              <a:t> or pays for the product </a:t>
            </a:r>
          </a:p>
          <a:p>
            <a:pPr lvl="1"/>
            <a:r>
              <a:rPr lang="en-US" sz="2600" dirty="0">
                <a:solidFill>
                  <a:schemeClr val="tx1"/>
                </a:solidFill>
              </a:rPr>
              <a:t>Makes buying </a:t>
            </a:r>
            <a:r>
              <a:rPr lang="en-US" sz="2600" b="1" dirty="0">
                <a:solidFill>
                  <a:schemeClr val="tx1"/>
                </a:solidFill>
              </a:rPr>
              <a:t>decisions </a:t>
            </a:r>
          </a:p>
          <a:p>
            <a:pPr lvl="1"/>
            <a:r>
              <a:rPr lang="en-US" sz="2600" dirty="0">
                <a:solidFill>
                  <a:schemeClr val="tx1"/>
                </a:solidFill>
              </a:rPr>
              <a:t>Expects value for money </a:t>
            </a:r>
            <a:r>
              <a:rPr lang="en-US" sz="2600" dirty="0" smtClean="0">
                <a:solidFill>
                  <a:schemeClr val="tx1"/>
                </a:solidFill>
              </a:rPr>
              <a:t> (ROI)</a:t>
            </a:r>
          </a:p>
          <a:p>
            <a:pPr lvl="1"/>
            <a:endParaRPr lang="en-US" dirty="0"/>
          </a:p>
          <a:p>
            <a:pPr marL="0" indent="0">
              <a:buNone/>
            </a:pPr>
            <a:r>
              <a:rPr lang="en-US" b="1" dirty="0" smtClean="0"/>
              <a:t>Example: SNIST ERP System</a:t>
            </a:r>
            <a:r>
              <a:rPr lang="en-US" dirty="0" smtClean="0"/>
              <a:t> (performance.sap.com)</a:t>
            </a:r>
            <a:endParaRPr lang="en-US" dirty="0"/>
          </a:p>
          <a:p>
            <a:r>
              <a:rPr lang="en-US" b="1" dirty="0"/>
              <a:t>Customer:</a:t>
            </a:r>
            <a:r>
              <a:rPr lang="en-US" dirty="0"/>
              <a:t> </a:t>
            </a:r>
            <a:r>
              <a:rPr lang="en-US" dirty="0" smtClean="0"/>
              <a:t>College Management </a:t>
            </a:r>
            <a:endParaRPr lang="en-US" dirty="0"/>
          </a:p>
          <a:p>
            <a:r>
              <a:rPr lang="en-US" b="1" dirty="0"/>
              <a:t>Users:</a:t>
            </a:r>
            <a:r>
              <a:rPr lang="en-US" dirty="0"/>
              <a:t> Teachers, Students, Parents</a:t>
            </a:r>
          </a:p>
          <a:p>
            <a:endParaRPr lang="en-IN" dirty="0"/>
          </a:p>
        </p:txBody>
      </p:sp>
    </p:spTree>
    <p:extLst>
      <p:ext uri="{BB962C8B-B14F-4D97-AF65-F5344CB8AC3E}">
        <p14:creationId xmlns:p14="http://schemas.microsoft.com/office/powerpoint/2010/main" val="26294127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534400" cy="758952"/>
          </a:xfrm>
        </p:spPr>
        <p:txBody>
          <a:bodyPr>
            <a:normAutofit fontScale="90000"/>
          </a:bodyPr>
          <a:lstStyle/>
          <a:p>
            <a:r>
              <a:rPr lang="en-US" b="1" dirty="0">
                <a:solidFill>
                  <a:srgbClr val="FF0000"/>
                </a:solidFill>
                <a:latin typeface="Times New Roman" pitchFamily="18" charset="0"/>
                <a:cs typeface="Times New Roman" pitchFamily="18" charset="0"/>
              </a:rPr>
              <a:t>Understanding User and Customer</a:t>
            </a:r>
            <a:br>
              <a:rPr lang="en-US" b="1" dirty="0">
                <a:solidFill>
                  <a:srgbClr val="FF0000"/>
                </a:solidFill>
                <a:latin typeface="Times New Roman" pitchFamily="18" charset="0"/>
                <a:cs typeface="Times New Roman" pitchFamily="18" charset="0"/>
              </a:rPr>
            </a:br>
            <a:r>
              <a:rPr lang="en-US" b="1" dirty="0">
                <a:solidFill>
                  <a:srgbClr val="FF0000"/>
                </a:solidFill>
                <a:latin typeface="Times New Roman" pitchFamily="18" charset="0"/>
                <a:cs typeface="Times New Roman" pitchFamily="18" charset="0"/>
              </a:rPr>
              <a:t>       Perspectives</a:t>
            </a:r>
            <a:endParaRPr lang="en-IN" dirty="0"/>
          </a:p>
        </p:txBody>
      </p:sp>
      <p:sp>
        <p:nvSpPr>
          <p:cNvPr id="4" name="Date Placeholder 3"/>
          <p:cNvSpPr>
            <a:spLocks noGrp="1"/>
          </p:cNvSpPr>
          <p:nvPr>
            <p:ph type="dt" sz="half" idx="10"/>
          </p:nvPr>
        </p:nvSpPr>
        <p:spPr/>
        <p:txBody>
          <a:bodyPr/>
          <a:lstStyle/>
          <a:p>
            <a:fld id="{B70BEE77-22B6-4ADA-BCB2-D0B5E1AE4982}" type="datetime1">
              <a:rPr lang="en-US" smtClean="0"/>
              <a:t>7/8/2026</a:t>
            </a:fld>
            <a:endParaRPr lang="en-US"/>
          </a:p>
        </p:txBody>
      </p:sp>
      <p:sp>
        <p:nvSpPr>
          <p:cNvPr id="6" name="Slide Number Placeholder 5"/>
          <p:cNvSpPr>
            <a:spLocks noGrp="1"/>
          </p:cNvSpPr>
          <p:nvPr>
            <p:ph type="sldNum" sz="quarter" idx="12"/>
          </p:nvPr>
        </p:nvSpPr>
        <p:spPr/>
        <p:txBody>
          <a:bodyPr/>
          <a:lstStyle/>
          <a:p>
            <a:fld id="{D4EFF482-3786-46E7-9869-AFA9F18680F5}" type="slidenum">
              <a:rPr lang="en-US" smtClean="0"/>
              <a:pPr/>
              <a:t>5</a:t>
            </a:fld>
            <a:endParaRPr lang="en-US"/>
          </a:p>
        </p:txBody>
      </p:sp>
      <p:sp>
        <p:nvSpPr>
          <p:cNvPr id="3" name="Content Placeholder 2"/>
          <p:cNvSpPr>
            <a:spLocks noGrp="1"/>
          </p:cNvSpPr>
          <p:nvPr>
            <p:ph sz="quarter" idx="1"/>
          </p:nvPr>
        </p:nvSpPr>
        <p:spPr/>
        <p:txBody>
          <a:bodyPr>
            <a:normAutofit fontScale="85000" lnSpcReduction="20000"/>
          </a:bodyPr>
          <a:lstStyle/>
          <a:p>
            <a:pPr marL="0" indent="0">
              <a:buNone/>
            </a:pPr>
            <a:r>
              <a:rPr lang="en-US" b="1" dirty="0"/>
              <a:t>Why Understanding Users &amp; Customers </a:t>
            </a:r>
            <a:r>
              <a:rPr lang="en-US" b="1" dirty="0" smtClean="0"/>
              <a:t>Matters</a:t>
            </a:r>
          </a:p>
          <a:p>
            <a:pPr marL="0" indent="0">
              <a:buNone/>
            </a:pPr>
            <a:endParaRPr lang="en-US" b="1" dirty="0"/>
          </a:p>
          <a:p>
            <a:pPr marL="0" indent="0">
              <a:buNone/>
            </a:pPr>
            <a:r>
              <a:rPr lang="en-US" dirty="0"/>
              <a:t>Successful entrepreneurs understand:</a:t>
            </a:r>
          </a:p>
          <a:p>
            <a:pPr marL="617538" indent="-273050"/>
            <a:r>
              <a:rPr lang="en-US" dirty="0"/>
              <a:t>Customer needs </a:t>
            </a:r>
          </a:p>
          <a:p>
            <a:pPr marL="617538" indent="-273050"/>
            <a:r>
              <a:rPr lang="en-US" dirty="0"/>
              <a:t>User expectations </a:t>
            </a:r>
          </a:p>
          <a:p>
            <a:pPr marL="617538" indent="-273050"/>
            <a:r>
              <a:rPr lang="en-US" dirty="0"/>
              <a:t>Pain points </a:t>
            </a:r>
          </a:p>
          <a:p>
            <a:pPr marL="617538" indent="-273050"/>
            <a:r>
              <a:rPr lang="en-US" dirty="0"/>
              <a:t>Buying behavior </a:t>
            </a:r>
          </a:p>
          <a:p>
            <a:pPr marL="617538" indent="-273050"/>
            <a:r>
              <a:rPr lang="en-US" dirty="0"/>
              <a:t>Product </a:t>
            </a:r>
            <a:r>
              <a:rPr lang="en-US" dirty="0" smtClean="0"/>
              <a:t>experience</a:t>
            </a:r>
          </a:p>
          <a:p>
            <a:pPr marL="344488" indent="0">
              <a:buNone/>
            </a:pPr>
            <a:endParaRPr lang="en-US" dirty="0" smtClean="0"/>
          </a:p>
          <a:p>
            <a:pPr marL="0" indent="0">
              <a:buNone/>
              <a:tabLst>
                <a:tab pos="0" algn="l"/>
              </a:tabLst>
            </a:pPr>
            <a:r>
              <a:rPr lang="en-US" dirty="0" smtClean="0"/>
              <a:t>Understanding </a:t>
            </a:r>
            <a:r>
              <a:rPr lang="en-US" dirty="0"/>
              <a:t>both perspectives leads to better products and successful businesses. </a:t>
            </a:r>
            <a:endParaRPr lang="en-US" dirty="0" smtClean="0"/>
          </a:p>
          <a:p>
            <a:pPr marL="0" indent="0">
              <a:buNone/>
              <a:tabLst>
                <a:tab pos="0" algn="l"/>
              </a:tabLst>
            </a:pPr>
            <a:r>
              <a:rPr lang="en-US" dirty="0" smtClean="0"/>
              <a:t>Entrepreneurship </a:t>
            </a:r>
            <a:r>
              <a:rPr lang="en-US" dirty="0"/>
              <a:t>starts with solving </a:t>
            </a:r>
            <a:r>
              <a:rPr lang="en-US" b="1" dirty="0"/>
              <a:t>real customer problems</a:t>
            </a:r>
            <a:r>
              <a:rPr lang="en-US" dirty="0"/>
              <a:t>, not just creating products.</a:t>
            </a:r>
          </a:p>
        </p:txBody>
      </p:sp>
    </p:spTree>
    <p:extLst>
      <p:ext uri="{BB962C8B-B14F-4D97-AF65-F5344CB8AC3E}">
        <p14:creationId xmlns:p14="http://schemas.microsoft.com/office/powerpoint/2010/main" val="2219171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The User Perspective</a:t>
            </a:r>
          </a:p>
        </p:txBody>
      </p:sp>
      <p:sp>
        <p:nvSpPr>
          <p:cNvPr id="3" name="Date Placeholder 2"/>
          <p:cNvSpPr>
            <a:spLocks noGrp="1"/>
          </p:cNvSpPr>
          <p:nvPr>
            <p:ph type="dt" sz="half" idx="10"/>
          </p:nvPr>
        </p:nvSpPr>
        <p:spPr/>
        <p:txBody>
          <a:bodyPr/>
          <a:lstStyle/>
          <a:p>
            <a:fld id="{B70BEE77-22B6-4ADA-BCB2-D0B5E1AE4982}" type="datetime1">
              <a:rPr lang="en-US" smtClean="0"/>
              <a:t>7/8/2026</a:t>
            </a:fld>
            <a:endParaRPr lang="en-US"/>
          </a:p>
        </p:txBody>
      </p:sp>
      <p:sp>
        <p:nvSpPr>
          <p:cNvPr id="4" name="Footer Placeholder 3"/>
          <p:cNvSpPr>
            <a:spLocks noGrp="1"/>
          </p:cNvSpPr>
          <p:nvPr>
            <p:ph type="ftr" sz="quarter" idx="11"/>
          </p:nvPr>
        </p:nvSpPr>
        <p:spPr/>
        <p:txBody>
          <a:bodyPr/>
          <a:lstStyle/>
          <a:p>
            <a:r>
              <a:rPr lang="en-US" smtClean="0"/>
              <a:t>Dr.B.Madhura, MBA</a:t>
            </a:r>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6</a:t>
            </a:fld>
            <a:endParaRPr lang="en-US"/>
          </a:p>
        </p:txBody>
      </p:sp>
      <p:sp>
        <p:nvSpPr>
          <p:cNvPr id="6" name="Content Placeholder 5"/>
          <p:cNvSpPr>
            <a:spLocks noGrp="1"/>
          </p:cNvSpPr>
          <p:nvPr>
            <p:ph sz="quarter" idx="1"/>
          </p:nvPr>
        </p:nvSpPr>
        <p:spPr/>
        <p:txBody>
          <a:bodyPr>
            <a:normAutofit/>
          </a:bodyPr>
          <a:lstStyle/>
          <a:p>
            <a:r>
              <a:rPr lang="en-US" dirty="0"/>
              <a:t>The user is the end-consumer focused on how the product functions in their day-to-day life or job. </a:t>
            </a:r>
          </a:p>
          <a:p>
            <a:r>
              <a:rPr lang="en-US" b="1" dirty="0"/>
              <a:t>Primary Concerns:</a:t>
            </a:r>
            <a:r>
              <a:rPr lang="en-US" dirty="0"/>
              <a:t> Usability, efficiency, stability, intuitiveness, and how well the product fixes a specific task or pain point.</a:t>
            </a:r>
          </a:p>
          <a:p>
            <a:r>
              <a:rPr lang="en-US" b="1" dirty="0"/>
              <a:t>Goal:</a:t>
            </a:r>
            <a:r>
              <a:rPr lang="en-US" dirty="0"/>
              <a:t> They want to achieve their tasks as quickly and seamlessly as possible.</a:t>
            </a:r>
          </a:p>
          <a:p>
            <a:r>
              <a:rPr lang="en-US" b="1" dirty="0"/>
              <a:t>Measurement:</a:t>
            </a:r>
            <a:r>
              <a:rPr lang="en-US" dirty="0"/>
              <a:t> Success is measured through UX metrics like task completion rates, time-on-task, and error rates</a:t>
            </a:r>
          </a:p>
          <a:p>
            <a:endParaRPr lang="en-IN" dirty="0"/>
          </a:p>
        </p:txBody>
      </p:sp>
    </p:spTree>
    <p:extLst>
      <p:ext uri="{BB962C8B-B14F-4D97-AF65-F5344CB8AC3E}">
        <p14:creationId xmlns:p14="http://schemas.microsoft.com/office/powerpoint/2010/main" val="2454552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Customer </a:t>
            </a:r>
            <a:r>
              <a:rPr lang="en-US" b="1" dirty="0" smtClean="0"/>
              <a:t>Perspective</a:t>
            </a:r>
            <a:endParaRPr lang="en-IN" dirty="0"/>
          </a:p>
        </p:txBody>
      </p:sp>
      <p:sp>
        <p:nvSpPr>
          <p:cNvPr id="3" name="Date Placeholder 2"/>
          <p:cNvSpPr>
            <a:spLocks noGrp="1"/>
          </p:cNvSpPr>
          <p:nvPr>
            <p:ph type="dt" sz="half" idx="10"/>
          </p:nvPr>
        </p:nvSpPr>
        <p:spPr/>
        <p:txBody>
          <a:bodyPr/>
          <a:lstStyle/>
          <a:p>
            <a:fld id="{B70BEE77-22B6-4ADA-BCB2-D0B5E1AE4982}" type="datetime1">
              <a:rPr lang="en-US" smtClean="0"/>
              <a:t>7/8/2026</a:t>
            </a:fld>
            <a:endParaRPr lang="en-US"/>
          </a:p>
        </p:txBody>
      </p:sp>
      <p:sp>
        <p:nvSpPr>
          <p:cNvPr id="4" name="Footer Placeholder 3"/>
          <p:cNvSpPr>
            <a:spLocks noGrp="1"/>
          </p:cNvSpPr>
          <p:nvPr>
            <p:ph type="ftr" sz="quarter" idx="11"/>
          </p:nvPr>
        </p:nvSpPr>
        <p:spPr/>
        <p:txBody>
          <a:bodyPr/>
          <a:lstStyle/>
          <a:p>
            <a:r>
              <a:rPr lang="en-US" smtClean="0"/>
              <a:t>Dr.B.Madhura, MBA</a:t>
            </a:r>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7</a:t>
            </a:fld>
            <a:endParaRPr lang="en-US"/>
          </a:p>
        </p:txBody>
      </p:sp>
      <p:sp>
        <p:nvSpPr>
          <p:cNvPr id="6" name="Content Placeholder 5"/>
          <p:cNvSpPr>
            <a:spLocks noGrp="1"/>
          </p:cNvSpPr>
          <p:nvPr>
            <p:ph sz="quarter" idx="1"/>
          </p:nvPr>
        </p:nvSpPr>
        <p:spPr/>
        <p:txBody>
          <a:bodyPr>
            <a:normAutofit lnSpcReduction="10000"/>
          </a:bodyPr>
          <a:lstStyle/>
          <a:p>
            <a:r>
              <a:rPr lang="en-US" dirty="0" smtClean="0"/>
              <a:t>The </a:t>
            </a:r>
            <a:r>
              <a:rPr lang="en-US" dirty="0"/>
              <a:t>customer is the decision-maker focused on the business case, purchasing criteria, and the overall value provided by a product or service. [</a:t>
            </a:r>
            <a:r>
              <a:rPr lang="en-US" dirty="0">
                <a:hlinkClick r:id="rId2"/>
              </a:rPr>
              <a:t>1</a:t>
            </a:r>
            <a:r>
              <a:rPr lang="en-US" dirty="0"/>
              <a:t>, </a:t>
            </a:r>
            <a:r>
              <a:rPr lang="en-US" dirty="0">
                <a:hlinkClick r:id="rId3"/>
              </a:rPr>
              <a:t>2</a:t>
            </a:r>
            <a:r>
              <a:rPr lang="en-US" dirty="0"/>
              <a:t>]</a:t>
            </a:r>
          </a:p>
          <a:p>
            <a:r>
              <a:rPr lang="en-US" b="1" dirty="0"/>
              <a:t>Primary Concerns:</a:t>
            </a:r>
            <a:r>
              <a:rPr lang="en-US" dirty="0"/>
              <a:t> Cost-effectiveness, return on investment (ROI), strategic benefits, vendor reputation, and scalability.</a:t>
            </a:r>
          </a:p>
          <a:p>
            <a:r>
              <a:rPr lang="en-US" b="1" dirty="0"/>
              <a:t>Goal:</a:t>
            </a:r>
            <a:r>
              <a:rPr lang="en-US" dirty="0"/>
              <a:t> They want to know the product will solve a team's problem at a justifiable price point.</a:t>
            </a:r>
          </a:p>
          <a:p>
            <a:r>
              <a:rPr lang="en-US" b="1" dirty="0"/>
              <a:t>Measurement:</a:t>
            </a:r>
            <a:r>
              <a:rPr lang="en-US" dirty="0"/>
              <a:t> Success is tied to Key Performance Indicators (KPIs) like customer retention, lifetime value, and Net Promoter Score (NPS).</a:t>
            </a:r>
          </a:p>
          <a:p>
            <a:endParaRPr lang="en-IN" dirty="0"/>
          </a:p>
        </p:txBody>
      </p:sp>
    </p:spTree>
    <p:extLst>
      <p:ext uri="{BB962C8B-B14F-4D97-AF65-F5344CB8AC3E}">
        <p14:creationId xmlns:p14="http://schemas.microsoft.com/office/powerpoint/2010/main" val="2354775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latin typeface="Times New Roman" pitchFamily="18" charset="0"/>
                <a:cs typeface="Times New Roman" pitchFamily="18" charset="0"/>
              </a:rPr>
              <a:t>Understanding User and Customer</a:t>
            </a:r>
            <a:br>
              <a:rPr lang="en-US" b="1" dirty="0">
                <a:solidFill>
                  <a:srgbClr val="FF0000"/>
                </a:solidFill>
                <a:latin typeface="Times New Roman" pitchFamily="18" charset="0"/>
                <a:cs typeface="Times New Roman" pitchFamily="18" charset="0"/>
              </a:rPr>
            </a:br>
            <a:r>
              <a:rPr lang="en-US" b="1" dirty="0">
                <a:solidFill>
                  <a:srgbClr val="FF0000"/>
                </a:solidFill>
                <a:latin typeface="Times New Roman" pitchFamily="18" charset="0"/>
                <a:cs typeface="Times New Roman" pitchFamily="18" charset="0"/>
              </a:rPr>
              <a:t>       Perspectives</a:t>
            </a:r>
            <a:endParaRPr lang="en-IN" dirty="0"/>
          </a:p>
        </p:txBody>
      </p:sp>
      <p:sp>
        <p:nvSpPr>
          <p:cNvPr id="4" name="Date Placeholder 3"/>
          <p:cNvSpPr>
            <a:spLocks noGrp="1"/>
          </p:cNvSpPr>
          <p:nvPr>
            <p:ph type="dt" sz="half" idx="10"/>
          </p:nvPr>
        </p:nvSpPr>
        <p:spPr/>
        <p:txBody>
          <a:bodyPr/>
          <a:lstStyle/>
          <a:p>
            <a:fld id="{B70BEE77-22B6-4ADA-BCB2-D0B5E1AE4982}" type="datetime1">
              <a:rPr lang="en-US" smtClean="0"/>
              <a:t>7/8/2026</a:t>
            </a:fld>
            <a:endParaRPr lang="en-US"/>
          </a:p>
        </p:txBody>
      </p:sp>
      <p:sp>
        <p:nvSpPr>
          <p:cNvPr id="6" name="Slide Number Placeholder 5"/>
          <p:cNvSpPr>
            <a:spLocks noGrp="1"/>
          </p:cNvSpPr>
          <p:nvPr>
            <p:ph type="sldNum" sz="quarter" idx="12"/>
          </p:nvPr>
        </p:nvSpPr>
        <p:spPr/>
        <p:txBody>
          <a:bodyPr/>
          <a:lstStyle/>
          <a:p>
            <a:fld id="{D4EFF482-3786-46E7-9869-AFA9F18680F5}" type="slidenum">
              <a:rPr lang="en-US" smtClean="0"/>
              <a:pPr/>
              <a:t>8</a:t>
            </a:fld>
            <a:endParaRPr lang="en-US"/>
          </a:p>
        </p:txBody>
      </p:sp>
      <p:sp>
        <p:nvSpPr>
          <p:cNvPr id="3" name="Content Placeholder 2"/>
          <p:cNvSpPr>
            <a:spLocks noGrp="1"/>
          </p:cNvSpPr>
          <p:nvPr>
            <p:ph sz="quarter" idx="1"/>
          </p:nvPr>
        </p:nvSpPr>
        <p:spPr/>
        <p:txBody>
          <a:bodyPr>
            <a:normAutofit fontScale="92500" lnSpcReduction="10000"/>
          </a:bodyPr>
          <a:lstStyle/>
          <a:p>
            <a:pPr marL="0" indent="0">
              <a:buNone/>
            </a:pPr>
            <a:r>
              <a:rPr lang="en-US" b="1" dirty="0"/>
              <a:t>Why Understanding Users is Important</a:t>
            </a:r>
          </a:p>
          <a:p>
            <a:pPr marL="0" indent="0">
              <a:buNone/>
            </a:pPr>
            <a:endParaRPr lang="en-US" dirty="0" smtClean="0"/>
          </a:p>
          <a:p>
            <a:pPr marL="0" indent="0">
              <a:buNone/>
            </a:pPr>
            <a:r>
              <a:rPr lang="en-US" dirty="0" smtClean="0"/>
              <a:t>Entrepreneurs </a:t>
            </a:r>
            <a:r>
              <a:rPr lang="en-US" dirty="0"/>
              <a:t>should know:</a:t>
            </a:r>
          </a:p>
          <a:p>
            <a:pPr marL="542925" indent="-369888"/>
            <a:r>
              <a:rPr lang="en-US" dirty="0"/>
              <a:t>What users need </a:t>
            </a:r>
          </a:p>
          <a:p>
            <a:pPr marL="542925" indent="-369888"/>
            <a:r>
              <a:rPr lang="en-US" dirty="0"/>
              <a:t>What </a:t>
            </a:r>
            <a:r>
              <a:rPr lang="en-US" b="1" dirty="0"/>
              <a:t>frustrates</a:t>
            </a:r>
            <a:r>
              <a:rPr lang="en-US" dirty="0"/>
              <a:t> them </a:t>
            </a:r>
          </a:p>
          <a:p>
            <a:pPr marL="542925" indent="-369888"/>
            <a:r>
              <a:rPr lang="en-US" dirty="0"/>
              <a:t>What makes their work easier </a:t>
            </a:r>
          </a:p>
          <a:p>
            <a:pPr marL="542925" indent="-369888"/>
            <a:r>
              <a:rPr lang="en-US" dirty="0"/>
              <a:t>What features they value </a:t>
            </a:r>
          </a:p>
          <a:p>
            <a:pPr marL="542925" indent="-369888"/>
            <a:r>
              <a:rPr lang="en-US" dirty="0"/>
              <a:t>Ignoring users leads to poor adoption.</a:t>
            </a:r>
          </a:p>
          <a:p>
            <a:pPr marL="0" indent="0">
              <a:buNone/>
            </a:pPr>
            <a:r>
              <a:rPr lang="en-US" b="1" dirty="0"/>
              <a:t>Example</a:t>
            </a:r>
          </a:p>
          <a:p>
            <a:r>
              <a:rPr lang="en-US" dirty="0"/>
              <a:t>A software with many features but difficult navigation may fail because users cannot operate it easily.</a:t>
            </a:r>
          </a:p>
          <a:p>
            <a:endParaRPr lang="en-IN" dirty="0"/>
          </a:p>
        </p:txBody>
      </p:sp>
    </p:spTree>
    <p:extLst>
      <p:ext uri="{BB962C8B-B14F-4D97-AF65-F5344CB8AC3E}">
        <p14:creationId xmlns:p14="http://schemas.microsoft.com/office/powerpoint/2010/main" val="3503644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latin typeface="Times New Roman" pitchFamily="18" charset="0"/>
                <a:cs typeface="Times New Roman" pitchFamily="18" charset="0"/>
              </a:rPr>
              <a:t>Understanding User and Customer</a:t>
            </a:r>
            <a:br>
              <a:rPr lang="en-US" b="1" dirty="0">
                <a:solidFill>
                  <a:srgbClr val="FF0000"/>
                </a:solidFill>
                <a:latin typeface="Times New Roman" pitchFamily="18" charset="0"/>
                <a:cs typeface="Times New Roman" pitchFamily="18" charset="0"/>
              </a:rPr>
            </a:br>
            <a:r>
              <a:rPr lang="en-US" b="1" dirty="0">
                <a:solidFill>
                  <a:srgbClr val="FF0000"/>
                </a:solidFill>
                <a:latin typeface="Times New Roman" pitchFamily="18" charset="0"/>
                <a:cs typeface="Times New Roman" pitchFamily="18" charset="0"/>
              </a:rPr>
              <a:t>       Perspectives</a:t>
            </a:r>
            <a:endParaRPr lang="en-IN" dirty="0"/>
          </a:p>
        </p:txBody>
      </p:sp>
      <p:sp>
        <p:nvSpPr>
          <p:cNvPr id="4" name="Date Placeholder 3"/>
          <p:cNvSpPr>
            <a:spLocks noGrp="1"/>
          </p:cNvSpPr>
          <p:nvPr>
            <p:ph type="dt" sz="half" idx="10"/>
          </p:nvPr>
        </p:nvSpPr>
        <p:spPr/>
        <p:txBody>
          <a:bodyPr/>
          <a:lstStyle/>
          <a:p>
            <a:fld id="{B70BEE77-22B6-4ADA-BCB2-D0B5E1AE4982}" type="datetime1">
              <a:rPr lang="en-US" smtClean="0"/>
              <a:t>7/8/2026</a:t>
            </a:fld>
            <a:endParaRPr lang="en-US"/>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6" name="Slide Number Placeholder 5"/>
          <p:cNvSpPr>
            <a:spLocks noGrp="1"/>
          </p:cNvSpPr>
          <p:nvPr>
            <p:ph type="sldNum" sz="quarter" idx="12"/>
          </p:nvPr>
        </p:nvSpPr>
        <p:spPr/>
        <p:txBody>
          <a:bodyPr/>
          <a:lstStyle/>
          <a:p>
            <a:fld id="{D4EFF482-3786-46E7-9869-AFA9F18680F5}" type="slidenum">
              <a:rPr lang="en-US" smtClean="0"/>
              <a:pPr/>
              <a:t>9</a:t>
            </a:fld>
            <a:endParaRPr lang="en-US"/>
          </a:p>
        </p:txBody>
      </p:sp>
      <p:sp>
        <p:nvSpPr>
          <p:cNvPr id="3" name="Content Placeholder 2"/>
          <p:cNvSpPr>
            <a:spLocks noGrp="1"/>
          </p:cNvSpPr>
          <p:nvPr>
            <p:ph sz="quarter" idx="1"/>
          </p:nvPr>
        </p:nvSpPr>
        <p:spPr/>
        <p:txBody>
          <a:bodyPr>
            <a:normAutofit lnSpcReduction="10000"/>
          </a:bodyPr>
          <a:lstStyle/>
          <a:p>
            <a:pPr marL="0" indent="0">
              <a:buNone/>
            </a:pPr>
            <a:r>
              <a:rPr lang="en-US" b="1" dirty="0"/>
              <a:t>Why Understanding Customers is Important</a:t>
            </a:r>
          </a:p>
          <a:p>
            <a:pPr marL="0" indent="0">
              <a:buNone/>
            </a:pPr>
            <a:r>
              <a:rPr lang="en-US" dirty="0"/>
              <a:t>Customers ask questions like:</a:t>
            </a:r>
          </a:p>
          <a:p>
            <a:pPr marL="617538" indent="-273050"/>
            <a:r>
              <a:rPr lang="en-US" dirty="0"/>
              <a:t>Is it affordable? </a:t>
            </a:r>
          </a:p>
          <a:p>
            <a:pPr marL="617538" indent="-273050"/>
            <a:r>
              <a:rPr lang="en-US" dirty="0"/>
              <a:t>Is it reliable? </a:t>
            </a:r>
          </a:p>
          <a:p>
            <a:pPr marL="617538" indent="-273050"/>
            <a:r>
              <a:rPr lang="en-US" dirty="0"/>
              <a:t>Will it save money? </a:t>
            </a:r>
          </a:p>
          <a:p>
            <a:pPr marL="617538" indent="-273050"/>
            <a:r>
              <a:rPr lang="en-US" dirty="0"/>
              <a:t>Is customer support available? </a:t>
            </a:r>
          </a:p>
          <a:p>
            <a:pPr marL="617538" indent="-273050"/>
            <a:r>
              <a:rPr lang="en-US" dirty="0"/>
              <a:t>Is it worth buying? </a:t>
            </a:r>
          </a:p>
          <a:p>
            <a:pPr marL="0" indent="0">
              <a:buNone/>
            </a:pPr>
            <a:endParaRPr lang="en-US" dirty="0" smtClean="0"/>
          </a:p>
          <a:p>
            <a:pPr marL="0" indent="0">
              <a:buNone/>
            </a:pPr>
            <a:r>
              <a:rPr lang="en-US" dirty="0" smtClean="0"/>
              <a:t>Entrepreneurs </a:t>
            </a:r>
            <a:r>
              <a:rPr lang="en-US" dirty="0"/>
              <a:t>must answer </a:t>
            </a:r>
            <a:r>
              <a:rPr lang="en-US" dirty="0" smtClean="0"/>
              <a:t>the above </a:t>
            </a:r>
            <a:r>
              <a:rPr lang="en-US" dirty="0"/>
              <a:t>questions clearly.</a:t>
            </a:r>
          </a:p>
          <a:p>
            <a:endParaRPr lang="en-IN" dirty="0"/>
          </a:p>
        </p:txBody>
      </p:sp>
    </p:spTree>
    <p:extLst>
      <p:ext uri="{BB962C8B-B14F-4D97-AF65-F5344CB8AC3E}">
        <p14:creationId xmlns:p14="http://schemas.microsoft.com/office/powerpoint/2010/main" val="3449797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latin typeface="Times New Roman" pitchFamily="18" charset="0"/>
                <a:cs typeface="Times New Roman" pitchFamily="18" charset="0"/>
              </a:rPr>
              <a:t>Understanding User and Customer</a:t>
            </a:r>
            <a:br>
              <a:rPr lang="en-US" b="1" dirty="0">
                <a:solidFill>
                  <a:srgbClr val="FF0000"/>
                </a:solidFill>
                <a:latin typeface="Times New Roman" pitchFamily="18" charset="0"/>
                <a:cs typeface="Times New Roman" pitchFamily="18" charset="0"/>
              </a:rPr>
            </a:br>
            <a:r>
              <a:rPr lang="en-US" b="1" dirty="0">
                <a:solidFill>
                  <a:srgbClr val="FF0000"/>
                </a:solidFill>
                <a:latin typeface="Times New Roman" pitchFamily="18" charset="0"/>
                <a:cs typeface="Times New Roman" pitchFamily="18" charset="0"/>
              </a:rPr>
              <a:t>       Perspectives</a:t>
            </a:r>
            <a:endParaRPr lang="en-IN" dirty="0"/>
          </a:p>
        </p:txBody>
      </p:sp>
      <p:sp>
        <p:nvSpPr>
          <p:cNvPr id="4" name="Date Placeholder 3"/>
          <p:cNvSpPr>
            <a:spLocks noGrp="1"/>
          </p:cNvSpPr>
          <p:nvPr>
            <p:ph type="dt" sz="half" idx="10"/>
          </p:nvPr>
        </p:nvSpPr>
        <p:spPr/>
        <p:txBody>
          <a:bodyPr/>
          <a:lstStyle/>
          <a:p>
            <a:fld id="{B70BEE77-22B6-4ADA-BCB2-D0B5E1AE4982}" type="datetime1">
              <a:rPr lang="en-US" smtClean="0"/>
              <a:t>7/8/2026</a:t>
            </a:fld>
            <a:endParaRPr lang="en-US"/>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6" name="Slide Number Placeholder 5"/>
          <p:cNvSpPr>
            <a:spLocks noGrp="1"/>
          </p:cNvSpPr>
          <p:nvPr>
            <p:ph type="sldNum" sz="quarter" idx="12"/>
          </p:nvPr>
        </p:nvSpPr>
        <p:spPr/>
        <p:txBody>
          <a:bodyPr/>
          <a:lstStyle/>
          <a:p>
            <a:fld id="{D4EFF482-3786-46E7-9869-AFA9F18680F5}" type="slidenum">
              <a:rPr lang="en-US" smtClean="0"/>
              <a:pPr/>
              <a:t>10</a:t>
            </a:fld>
            <a:endParaRPr lang="en-US"/>
          </a:p>
        </p:txBody>
      </p:sp>
      <p:sp>
        <p:nvSpPr>
          <p:cNvPr id="3" name="Content Placeholder 2"/>
          <p:cNvSpPr>
            <a:spLocks noGrp="1"/>
          </p:cNvSpPr>
          <p:nvPr>
            <p:ph sz="quarter" idx="1"/>
          </p:nvPr>
        </p:nvSpPr>
        <p:spPr/>
        <p:txBody>
          <a:bodyPr/>
          <a:lstStyle/>
          <a:p>
            <a:pPr marL="0" indent="0">
              <a:buNone/>
            </a:pPr>
            <a:r>
              <a:rPr lang="en-IN" b="1" dirty="0"/>
              <a:t>Methods to Understand </a:t>
            </a:r>
            <a:r>
              <a:rPr lang="en-IN" b="1" dirty="0" smtClean="0"/>
              <a:t>Users and Customers</a:t>
            </a:r>
            <a:endParaRPr lang="en-IN" b="1" dirty="0"/>
          </a:p>
          <a:p>
            <a:pPr marL="274320" lvl="1" indent="0">
              <a:buNone/>
            </a:pPr>
            <a:r>
              <a:rPr lang="en-IN" sz="2400" b="1" dirty="0">
                <a:solidFill>
                  <a:schemeClr val="tx1"/>
                </a:solidFill>
              </a:rPr>
              <a:t>Simple Research Methods</a:t>
            </a:r>
          </a:p>
          <a:p>
            <a:pPr lvl="1"/>
            <a:r>
              <a:rPr lang="en-IN" sz="2400" dirty="0">
                <a:solidFill>
                  <a:schemeClr val="tx1"/>
                </a:solidFill>
              </a:rPr>
              <a:t>👀 Observation </a:t>
            </a:r>
          </a:p>
          <a:p>
            <a:pPr lvl="1"/>
            <a:r>
              <a:rPr lang="en-IN" sz="2400" dirty="0">
                <a:solidFill>
                  <a:schemeClr val="tx1"/>
                </a:solidFill>
              </a:rPr>
              <a:t>🎤 Interviews </a:t>
            </a:r>
          </a:p>
          <a:p>
            <a:pPr lvl="1"/>
            <a:r>
              <a:rPr lang="en-IN" sz="2400" dirty="0">
                <a:solidFill>
                  <a:schemeClr val="tx1"/>
                </a:solidFill>
              </a:rPr>
              <a:t>📋 Surveys </a:t>
            </a:r>
          </a:p>
          <a:p>
            <a:pPr lvl="1"/>
            <a:r>
              <a:rPr lang="en-IN" sz="2400" dirty="0">
                <a:solidFill>
                  <a:schemeClr val="tx1"/>
                </a:solidFill>
              </a:rPr>
              <a:t>👥 Focus Groups </a:t>
            </a:r>
          </a:p>
          <a:p>
            <a:pPr lvl="1"/>
            <a:r>
              <a:rPr lang="en-IN" sz="2400" dirty="0">
                <a:solidFill>
                  <a:schemeClr val="tx1"/>
                </a:solidFill>
              </a:rPr>
              <a:t>⭐ Customer Feedback </a:t>
            </a:r>
          </a:p>
          <a:p>
            <a:pPr marL="0" indent="0">
              <a:buNone/>
            </a:pPr>
            <a:r>
              <a:rPr lang="en-IN" b="1" dirty="0"/>
              <a:t>Empathy</a:t>
            </a:r>
            <a:r>
              <a:rPr lang="en-IN" dirty="0"/>
              <a:t> helps entrepreneurs understand what customers think, feel, and need.</a:t>
            </a:r>
          </a:p>
          <a:p>
            <a:endParaRPr lang="en-IN" dirty="0"/>
          </a:p>
        </p:txBody>
      </p:sp>
    </p:spTree>
    <p:extLst>
      <p:ext uri="{BB962C8B-B14F-4D97-AF65-F5344CB8AC3E}">
        <p14:creationId xmlns:p14="http://schemas.microsoft.com/office/powerpoint/2010/main" val="3739199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a:xfrm>
            <a:off x="304800" y="990600"/>
            <a:ext cx="4192588" cy="5486400"/>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lgn="just"/>
            <a:r>
              <a:rPr lang="en-US" dirty="0">
                <a:latin typeface="Times New Roman" pitchFamily="18" charset="0"/>
                <a:cs typeface="Times New Roman" pitchFamily="18" charset="0"/>
              </a:rPr>
              <a:t>Human-Centered Design (HCD) is a process and a set of techniques used to </a:t>
            </a:r>
            <a:r>
              <a:rPr lang="en-US" b="1" dirty="0">
                <a:latin typeface="Times New Roman" pitchFamily="18" charset="0"/>
                <a:cs typeface="Times New Roman" pitchFamily="18" charset="0"/>
              </a:rPr>
              <a:t>create new solutions </a:t>
            </a:r>
            <a:r>
              <a:rPr lang="en-US" dirty="0">
                <a:latin typeface="Times New Roman" pitchFamily="18" charset="0"/>
                <a:cs typeface="Times New Roman" pitchFamily="18" charset="0"/>
              </a:rPr>
              <a:t>for the world.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Solutions </a:t>
            </a:r>
            <a:r>
              <a:rPr lang="en-US" dirty="0">
                <a:latin typeface="Times New Roman" pitchFamily="18" charset="0"/>
                <a:cs typeface="Times New Roman" pitchFamily="18" charset="0"/>
              </a:rPr>
              <a:t>include products, services, environments, organizations, and modes of interaction.</a:t>
            </a:r>
          </a:p>
          <a:p>
            <a:pPr algn="just"/>
            <a:r>
              <a:rPr lang="en-US" dirty="0">
                <a:latin typeface="Times New Roman" pitchFamily="18" charset="0"/>
                <a:cs typeface="Times New Roman" pitchFamily="18" charset="0"/>
              </a:rPr>
              <a:t>The reason this process is called “human-centered” is because it starts with the </a:t>
            </a:r>
            <a:r>
              <a:rPr lang="en-US" b="1" dirty="0">
                <a:latin typeface="Times New Roman" pitchFamily="18" charset="0"/>
                <a:cs typeface="Times New Roman" pitchFamily="18" charset="0"/>
              </a:rPr>
              <a:t>people</a:t>
            </a:r>
            <a:r>
              <a:rPr lang="en-US" dirty="0">
                <a:latin typeface="Times New Roman" pitchFamily="18" charset="0"/>
                <a:cs typeface="Times New Roman" pitchFamily="18" charset="0"/>
              </a:rPr>
              <a:t> we are designing for. The hCD process begins by examining the needs, dreams, and behaviors of the people we want to affect with our solutions.</a:t>
            </a:r>
          </a:p>
          <a:p>
            <a:endParaRPr lang="en-US" dirty="0"/>
          </a:p>
        </p:txBody>
      </p:sp>
      <p:sp>
        <p:nvSpPr>
          <p:cNvPr id="4" name="Text Placeholder 3"/>
          <p:cNvSpPr>
            <a:spLocks noGrp="1"/>
          </p:cNvSpPr>
          <p:nvPr>
            <p:ph type="body" sz="quarter" idx="3"/>
          </p:nvPr>
        </p:nvSpPr>
        <p:spPr>
          <a:xfrm>
            <a:off x="4572000" y="990600"/>
            <a:ext cx="4343400" cy="639762"/>
          </a:xfrm>
        </p:spPr>
        <p:style>
          <a:lnRef idx="2">
            <a:schemeClr val="accent1"/>
          </a:lnRef>
          <a:fillRef idx="1">
            <a:schemeClr val="lt1"/>
          </a:fillRef>
          <a:effectRef idx="0">
            <a:schemeClr val="accent1"/>
          </a:effectRef>
          <a:fontRef idx="minor">
            <a:schemeClr val="dk1"/>
          </a:fontRef>
        </p:style>
        <p:txBody>
          <a:bodyPr>
            <a:normAutofit fontScale="25000" lnSpcReduction="20000"/>
          </a:bodyPr>
          <a:lstStyle/>
          <a:p>
            <a:endParaRPr lang="en-US" dirty="0">
              <a:latin typeface="Times New Roman" pitchFamily="18" charset="0"/>
              <a:cs typeface="Times New Roman" pitchFamily="18" charset="0"/>
            </a:endParaRPr>
          </a:p>
          <a:p>
            <a:pPr algn="ctr"/>
            <a:r>
              <a:rPr lang="en-US" sz="7400" dirty="0">
                <a:latin typeface="Times New Roman" pitchFamily="18" charset="0"/>
                <a:cs typeface="Times New Roman" pitchFamily="18" charset="0"/>
              </a:rPr>
              <a:t>THE THREE LENSES OF</a:t>
            </a:r>
            <a:br>
              <a:rPr lang="en-US" sz="7400" dirty="0">
                <a:latin typeface="Times New Roman" pitchFamily="18" charset="0"/>
                <a:cs typeface="Times New Roman" pitchFamily="18" charset="0"/>
              </a:rPr>
            </a:br>
            <a:r>
              <a:rPr lang="en-US" sz="7400" dirty="0">
                <a:latin typeface="Times New Roman" pitchFamily="18" charset="0"/>
                <a:cs typeface="Times New Roman" pitchFamily="18" charset="0"/>
              </a:rPr>
              <a:t>HUMAN-CENTERED DESIGN</a:t>
            </a:r>
          </a:p>
          <a:p>
            <a:endParaRPr lang="en-US" dirty="0"/>
          </a:p>
        </p:txBody>
      </p:sp>
      <p:pic>
        <p:nvPicPr>
          <p:cNvPr id="9" name="Content Placeholder 8"/>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4645025" y="1752600"/>
            <a:ext cx="4270375" cy="4724400"/>
          </a:xfrm>
        </p:spPr>
        <p:style>
          <a:lnRef idx="2">
            <a:schemeClr val="accent1"/>
          </a:lnRef>
          <a:fillRef idx="1">
            <a:schemeClr val="lt1"/>
          </a:fillRef>
          <a:effectRef idx="0">
            <a:schemeClr val="accent1"/>
          </a:effectRef>
          <a:fontRef idx="minor">
            <a:schemeClr val="dk1"/>
          </a:fontRef>
        </p:style>
      </p:pic>
      <p:sp>
        <p:nvSpPr>
          <p:cNvPr id="6" name="Date Placeholder 5"/>
          <p:cNvSpPr>
            <a:spLocks noGrp="1"/>
          </p:cNvSpPr>
          <p:nvPr>
            <p:ph type="dt" sz="half" idx="10"/>
          </p:nvPr>
        </p:nvSpPr>
        <p:spPr/>
        <p:txBody>
          <a:bodyPr/>
          <a:lstStyle/>
          <a:p>
            <a:fld id="{77287173-AB7D-4A73-B7AD-5760FA47083C}" type="datetime1">
              <a:rPr lang="en-US" smtClean="0"/>
              <a:t>7/8/2026</a:t>
            </a:fld>
            <a:endParaRPr lang="en-US"/>
          </a:p>
        </p:txBody>
      </p:sp>
      <p:sp>
        <p:nvSpPr>
          <p:cNvPr id="7" name="Slide Number Placeholder 6"/>
          <p:cNvSpPr>
            <a:spLocks noGrp="1"/>
          </p:cNvSpPr>
          <p:nvPr>
            <p:ph type="sldNum" sz="quarter" idx="12"/>
          </p:nvPr>
        </p:nvSpPr>
        <p:spPr/>
        <p:txBody>
          <a:bodyPr/>
          <a:lstStyle/>
          <a:p>
            <a:fld id="{D4EFF482-3786-46E7-9869-AFA9F18680F5}" type="slidenum">
              <a:rPr lang="en-US" smtClean="0"/>
              <a:pPr/>
              <a:t>11</a:t>
            </a:fld>
            <a:endParaRPr lang="en-US"/>
          </a:p>
        </p:txBody>
      </p:sp>
      <p:sp>
        <p:nvSpPr>
          <p:cNvPr id="10" name="Title 1"/>
          <p:cNvSpPr>
            <a:spLocks noGrp="1"/>
          </p:cNvSpPr>
          <p:nvPr>
            <p:ph type="title"/>
          </p:nvPr>
        </p:nvSpPr>
        <p:spPr>
          <a:xfrm>
            <a:off x="304800" y="274638"/>
            <a:ext cx="8534400" cy="563562"/>
          </a:xfrm>
        </p:spPr>
        <p:style>
          <a:lnRef idx="2">
            <a:schemeClr val="accent1"/>
          </a:lnRef>
          <a:fillRef idx="1">
            <a:schemeClr val="lt1"/>
          </a:fillRef>
          <a:effectRef idx="0">
            <a:schemeClr val="accent1"/>
          </a:effectRef>
          <a:fontRef idx="minor">
            <a:schemeClr val="dk1"/>
          </a:fontRef>
        </p:style>
        <p:txBody>
          <a:bodyPr/>
          <a:lstStyle/>
          <a:p>
            <a:pPr marL="457200" indent="-457200"/>
            <a:r>
              <a:rPr lang="en-US" sz="2800" cap="none" spc="0" dirty="0">
                <a:ln>
                  <a:noFill/>
                </a:ln>
                <a:solidFill>
                  <a:schemeClr val="tx1"/>
                </a:solidFill>
                <a:effectLst/>
                <a:latin typeface="Times New Roman" pitchFamily="18" charset="0"/>
                <a:cs typeface="Times New Roman" pitchFamily="18" charset="0"/>
              </a:rPr>
              <a:t>Understanding </a:t>
            </a:r>
            <a:r>
              <a:rPr lang="en-US" sz="2800" cap="none" spc="0" dirty="0" smtClean="0">
                <a:ln>
                  <a:noFill/>
                </a:ln>
                <a:solidFill>
                  <a:schemeClr val="tx1"/>
                </a:solidFill>
                <a:effectLst/>
                <a:latin typeface="Times New Roman" pitchFamily="18" charset="0"/>
                <a:cs typeface="Times New Roman" pitchFamily="18" charset="0"/>
              </a:rPr>
              <a:t>User </a:t>
            </a:r>
            <a:r>
              <a:rPr lang="en-US" sz="2800" cap="none" spc="0" dirty="0">
                <a:ln>
                  <a:noFill/>
                </a:ln>
                <a:solidFill>
                  <a:schemeClr val="tx1"/>
                </a:solidFill>
                <a:effectLst/>
                <a:latin typeface="Times New Roman" pitchFamily="18" charset="0"/>
                <a:cs typeface="Times New Roman" pitchFamily="18" charset="0"/>
              </a:rPr>
              <a:t>and Customer Perspectives</a:t>
            </a:r>
            <a:endParaRPr lang="en-US" sz="2800" cap="none" spc="0" dirty="0">
              <a:ln>
                <a:noFill/>
              </a:ln>
              <a:solidFill>
                <a:schemeClr val="tx1"/>
              </a:solidFill>
              <a:effectLst/>
            </a:endParaRPr>
          </a:p>
        </p:txBody>
      </p:sp>
      <p:sp>
        <p:nvSpPr>
          <p:cNvPr id="2" name="Footer Placeholder 1">
            <a:extLst>
              <a:ext uri="{FF2B5EF4-FFF2-40B4-BE49-F238E27FC236}">
                <a16:creationId xmlns:a16="http://schemas.microsoft.com/office/drawing/2014/main" xmlns="" id="{EDE7B992-3E0E-4AD5-B3AF-7089DCC4E885}"/>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501462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b="1" dirty="0" smtClean="0"/>
              <a:t>Human-Centered Design</a:t>
            </a:r>
            <a:endParaRPr lang="en-IN" b="1" dirty="0"/>
          </a:p>
        </p:txBody>
      </p:sp>
      <p:sp>
        <p:nvSpPr>
          <p:cNvPr id="6" name="Date Placeholder 5"/>
          <p:cNvSpPr>
            <a:spLocks noGrp="1"/>
          </p:cNvSpPr>
          <p:nvPr>
            <p:ph type="dt" sz="half" idx="10"/>
          </p:nvPr>
        </p:nvSpPr>
        <p:spPr/>
        <p:txBody>
          <a:bodyPr/>
          <a:lstStyle/>
          <a:p>
            <a:fld id="{09B3F2E3-61A1-4FF2-B72C-359E78023F58}" type="datetime1">
              <a:rPr lang="en-US" smtClean="0"/>
              <a:t>7/8/2026</a:t>
            </a:fld>
            <a:endParaRPr lang="en-US"/>
          </a:p>
        </p:txBody>
      </p:sp>
      <p:sp>
        <p:nvSpPr>
          <p:cNvPr id="8" name="Slide Number Placeholder 7"/>
          <p:cNvSpPr>
            <a:spLocks noGrp="1"/>
          </p:cNvSpPr>
          <p:nvPr>
            <p:ph type="sldNum" sz="quarter" idx="12"/>
          </p:nvPr>
        </p:nvSpPr>
        <p:spPr/>
        <p:txBody>
          <a:bodyPr/>
          <a:lstStyle/>
          <a:p>
            <a:fld id="{D4EFF482-3786-46E7-9869-AFA9F18680F5}" type="slidenum">
              <a:rPr lang="en-US" smtClean="0"/>
              <a:pPr/>
              <a:t>12</a:t>
            </a:fld>
            <a:endParaRPr lang="en-US"/>
          </a:p>
        </p:txBody>
      </p:sp>
      <p:sp>
        <p:nvSpPr>
          <p:cNvPr id="11" name="Content Placeholder 10"/>
          <p:cNvSpPr>
            <a:spLocks noGrp="1"/>
          </p:cNvSpPr>
          <p:nvPr>
            <p:ph sz="quarter" idx="1"/>
          </p:nvPr>
        </p:nvSpPr>
        <p:spPr/>
        <p:txBody>
          <a:bodyPr>
            <a:normAutofit/>
          </a:bodyPr>
          <a:lstStyle/>
          <a:p>
            <a:r>
              <a:rPr lang="en-US" dirty="0"/>
              <a:t>Human-centered design (HCD) is a qualitative research </a:t>
            </a:r>
            <a:r>
              <a:rPr lang="en-US" dirty="0" smtClean="0"/>
              <a:t>method </a:t>
            </a:r>
            <a:r>
              <a:rPr lang="en-US" i="1" dirty="0" smtClean="0"/>
              <a:t>(</a:t>
            </a:r>
            <a:r>
              <a:rPr lang="en-US" sz="2400" i="1" dirty="0">
                <a:solidFill>
                  <a:srgbClr val="FF0000"/>
                </a:solidFill>
              </a:rPr>
              <a:t>collecting and analyzing non-numerical data (like text, audio, or video) to understand concepts, opinions, and lived experiences</a:t>
            </a:r>
            <a:r>
              <a:rPr lang="en-US" i="1" dirty="0" smtClean="0"/>
              <a:t>)</a:t>
            </a:r>
            <a:r>
              <a:rPr lang="en-US" dirty="0" smtClean="0"/>
              <a:t> </a:t>
            </a:r>
            <a:r>
              <a:rPr lang="en-US" dirty="0"/>
              <a:t>that helps </a:t>
            </a:r>
            <a:r>
              <a:rPr lang="en-US" dirty="0">
                <a:solidFill>
                  <a:srgbClr val="C00000"/>
                </a:solidFill>
              </a:rPr>
              <a:t>groups</a:t>
            </a:r>
            <a:r>
              <a:rPr lang="en-US" dirty="0"/>
              <a:t> </a:t>
            </a:r>
            <a:r>
              <a:rPr lang="en-US" dirty="0" smtClean="0"/>
              <a:t>to solve </a:t>
            </a:r>
            <a:r>
              <a:rPr lang="en-US" dirty="0"/>
              <a:t>problems and seek solutions that prioritize </a:t>
            </a:r>
            <a:r>
              <a:rPr lang="en-US" dirty="0">
                <a:solidFill>
                  <a:srgbClr val="C00000"/>
                </a:solidFill>
              </a:rPr>
              <a:t>customer needs </a:t>
            </a:r>
            <a:r>
              <a:rPr lang="en-US" dirty="0"/>
              <a:t>over a system’s needs. </a:t>
            </a:r>
            <a:endParaRPr lang="en-US" dirty="0" smtClean="0"/>
          </a:p>
          <a:p>
            <a:r>
              <a:rPr lang="en-US" dirty="0" smtClean="0"/>
              <a:t>It’s </a:t>
            </a:r>
            <a:r>
              <a:rPr lang="en-US" dirty="0"/>
              <a:t>also a design and management framework to develop solutions to problems by involving the </a:t>
            </a:r>
            <a:r>
              <a:rPr lang="en-US" dirty="0">
                <a:solidFill>
                  <a:srgbClr val="C00000"/>
                </a:solidFill>
              </a:rPr>
              <a:t>human perspective </a:t>
            </a:r>
            <a:r>
              <a:rPr lang="en-US" dirty="0"/>
              <a:t>in all steps of the problem-solving process.</a:t>
            </a:r>
            <a:endParaRPr lang="en-IN" dirty="0"/>
          </a:p>
        </p:txBody>
      </p:sp>
    </p:spTree>
    <p:extLst>
      <p:ext uri="{BB962C8B-B14F-4D97-AF65-F5344CB8AC3E}">
        <p14:creationId xmlns:p14="http://schemas.microsoft.com/office/powerpoint/2010/main" val="2658798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b="1" dirty="0" smtClean="0"/>
              <a:t>Human-Centered Design</a:t>
            </a:r>
            <a:endParaRPr lang="en-IN" b="1" dirty="0"/>
          </a:p>
        </p:txBody>
      </p:sp>
      <p:sp>
        <p:nvSpPr>
          <p:cNvPr id="6" name="Date Placeholder 5"/>
          <p:cNvSpPr>
            <a:spLocks noGrp="1"/>
          </p:cNvSpPr>
          <p:nvPr>
            <p:ph type="dt" sz="half" idx="10"/>
          </p:nvPr>
        </p:nvSpPr>
        <p:spPr/>
        <p:txBody>
          <a:bodyPr/>
          <a:lstStyle/>
          <a:p>
            <a:fld id="{09B3F2E3-61A1-4FF2-B72C-359E78023F58}" type="datetime1">
              <a:rPr lang="en-US" smtClean="0"/>
              <a:t>7/8/2026</a:t>
            </a:fld>
            <a:endParaRPr lang="en-US"/>
          </a:p>
        </p:txBody>
      </p:sp>
      <p:sp>
        <p:nvSpPr>
          <p:cNvPr id="8" name="Slide Number Placeholder 7"/>
          <p:cNvSpPr>
            <a:spLocks noGrp="1"/>
          </p:cNvSpPr>
          <p:nvPr>
            <p:ph type="sldNum" sz="quarter" idx="12"/>
          </p:nvPr>
        </p:nvSpPr>
        <p:spPr/>
        <p:txBody>
          <a:bodyPr/>
          <a:lstStyle/>
          <a:p>
            <a:fld id="{D4EFF482-3786-46E7-9869-AFA9F18680F5}" type="slidenum">
              <a:rPr lang="en-US" smtClean="0"/>
              <a:pPr/>
              <a:t>13</a:t>
            </a:fld>
            <a:endParaRPr lang="en-US"/>
          </a:p>
        </p:txBody>
      </p:sp>
      <p:sp>
        <p:nvSpPr>
          <p:cNvPr id="11" name="Content Placeholder 10"/>
          <p:cNvSpPr>
            <a:spLocks noGrp="1"/>
          </p:cNvSpPr>
          <p:nvPr>
            <p:ph sz="quarter" idx="1"/>
          </p:nvPr>
        </p:nvSpPr>
        <p:spPr>
          <a:xfrm>
            <a:off x="228600" y="1371600"/>
            <a:ext cx="8686800" cy="4727448"/>
          </a:xfrm>
        </p:spPr>
        <p:txBody>
          <a:bodyPr>
            <a:normAutofit/>
          </a:bodyPr>
          <a:lstStyle/>
          <a:p>
            <a:r>
              <a:rPr lang="en-US" sz="2400" dirty="0"/>
              <a:t>Human-Centered Design (HCD) is a user-focused approach to problem-solving that puts people—along with their needs, experiences, and contexts—at the forefront of innovation.</a:t>
            </a:r>
            <a:endParaRPr lang="en-IN" sz="2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667000"/>
            <a:ext cx="69342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7808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b="1" dirty="0" smtClean="0"/>
              <a:t>Human-Centered Design</a:t>
            </a:r>
            <a:endParaRPr lang="en-IN" b="1" dirty="0"/>
          </a:p>
        </p:txBody>
      </p:sp>
      <p:sp>
        <p:nvSpPr>
          <p:cNvPr id="6" name="Date Placeholder 5"/>
          <p:cNvSpPr>
            <a:spLocks noGrp="1"/>
          </p:cNvSpPr>
          <p:nvPr>
            <p:ph type="dt" sz="half" idx="10"/>
          </p:nvPr>
        </p:nvSpPr>
        <p:spPr/>
        <p:txBody>
          <a:bodyPr/>
          <a:lstStyle/>
          <a:p>
            <a:fld id="{09B3F2E3-61A1-4FF2-B72C-359E78023F58}" type="datetime1">
              <a:rPr lang="en-US" smtClean="0"/>
              <a:t>7/8/2026</a:t>
            </a:fld>
            <a:endParaRPr lang="en-US"/>
          </a:p>
        </p:txBody>
      </p:sp>
      <p:sp>
        <p:nvSpPr>
          <p:cNvPr id="7" name="Footer Placeholder 6"/>
          <p:cNvSpPr>
            <a:spLocks noGrp="1"/>
          </p:cNvSpPr>
          <p:nvPr>
            <p:ph type="ftr" sz="quarter" idx="11"/>
          </p:nvPr>
        </p:nvSpPr>
        <p:spPr/>
        <p:txBody>
          <a:bodyPr/>
          <a:lstStyle/>
          <a:p>
            <a:r>
              <a:rPr lang="en-US" smtClean="0"/>
              <a:t>Dr.B.Madhura, MBA</a:t>
            </a:r>
            <a:endParaRPr lang="en-US"/>
          </a:p>
        </p:txBody>
      </p:sp>
      <p:sp>
        <p:nvSpPr>
          <p:cNvPr id="8" name="Slide Number Placeholder 7"/>
          <p:cNvSpPr>
            <a:spLocks noGrp="1"/>
          </p:cNvSpPr>
          <p:nvPr>
            <p:ph type="sldNum" sz="quarter" idx="12"/>
          </p:nvPr>
        </p:nvSpPr>
        <p:spPr/>
        <p:txBody>
          <a:bodyPr/>
          <a:lstStyle/>
          <a:p>
            <a:fld id="{D4EFF482-3786-46E7-9869-AFA9F18680F5}" type="slidenum">
              <a:rPr lang="en-US" smtClean="0"/>
              <a:pPr/>
              <a:t>14</a:t>
            </a:fld>
            <a:endParaRPr lang="en-US"/>
          </a:p>
        </p:txBody>
      </p:sp>
      <p:sp>
        <p:nvSpPr>
          <p:cNvPr id="11" name="Content Placeholder 10"/>
          <p:cNvSpPr>
            <a:spLocks noGrp="1"/>
          </p:cNvSpPr>
          <p:nvPr>
            <p:ph sz="quarter" idx="1"/>
          </p:nvPr>
        </p:nvSpPr>
        <p:spPr>
          <a:xfrm>
            <a:off x="228600" y="1371600"/>
            <a:ext cx="8686800" cy="4727448"/>
          </a:xfrm>
        </p:spPr>
        <p:txBody>
          <a:bodyPr>
            <a:normAutofit/>
          </a:bodyPr>
          <a:lstStyle/>
          <a:p>
            <a:endParaRPr lang="en-IN" sz="2400"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371600"/>
            <a:ext cx="89154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914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b="1" dirty="0" smtClean="0"/>
              <a:t>Human-Centered Design</a:t>
            </a:r>
            <a:endParaRPr lang="en-IN" b="1" dirty="0"/>
          </a:p>
        </p:txBody>
      </p:sp>
      <p:sp>
        <p:nvSpPr>
          <p:cNvPr id="6" name="Date Placeholder 5"/>
          <p:cNvSpPr>
            <a:spLocks noGrp="1"/>
          </p:cNvSpPr>
          <p:nvPr>
            <p:ph type="dt" sz="half" idx="10"/>
          </p:nvPr>
        </p:nvSpPr>
        <p:spPr/>
        <p:txBody>
          <a:bodyPr/>
          <a:lstStyle/>
          <a:p>
            <a:fld id="{09B3F2E3-61A1-4FF2-B72C-359E78023F58}" type="datetime1">
              <a:rPr lang="en-US" smtClean="0"/>
              <a:t>7/8/2026</a:t>
            </a:fld>
            <a:endParaRPr lang="en-US"/>
          </a:p>
        </p:txBody>
      </p:sp>
      <p:sp>
        <p:nvSpPr>
          <p:cNvPr id="7" name="Footer Placeholder 6"/>
          <p:cNvSpPr>
            <a:spLocks noGrp="1"/>
          </p:cNvSpPr>
          <p:nvPr>
            <p:ph type="ftr" sz="quarter" idx="11"/>
          </p:nvPr>
        </p:nvSpPr>
        <p:spPr/>
        <p:txBody>
          <a:bodyPr/>
          <a:lstStyle/>
          <a:p>
            <a:r>
              <a:rPr lang="en-US" smtClean="0"/>
              <a:t>Dr.B.Madhura, MBA</a:t>
            </a:r>
            <a:endParaRPr lang="en-US"/>
          </a:p>
        </p:txBody>
      </p:sp>
      <p:sp>
        <p:nvSpPr>
          <p:cNvPr id="8" name="Slide Number Placeholder 7"/>
          <p:cNvSpPr>
            <a:spLocks noGrp="1"/>
          </p:cNvSpPr>
          <p:nvPr>
            <p:ph type="sldNum" sz="quarter" idx="12"/>
          </p:nvPr>
        </p:nvSpPr>
        <p:spPr/>
        <p:txBody>
          <a:bodyPr/>
          <a:lstStyle/>
          <a:p>
            <a:fld id="{D4EFF482-3786-46E7-9869-AFA9F18680F5}" type="slidenum">
              <a:rPr lang="en-US" smtClean="0"/>
              <a:pPr/>
              <a:t>15</a:t>
            </a:fld>
            <a:endParaRPr lang="en-US"/>
          </a:p>
        </p:txBody>
      </p:sp>
      <p:sp>
        <p:nvSpPr>
          <p:cNvPr id="11" name="Content Placeholder 10"/>
          <p:cNvSpPr>
            <a:spLocks noGrp="1"/>
          </p:cNvSpPr>
          <p:nvPr>
            <p:ph sz="quarter" idx="1"/>
          </p:nvPr>
        </p:nvSpPr>
        <p:spPr>
          <a:xfrm>
            <a:off x="228600" y="1371600"/>
            <a:ext cx="8686800" cy="4727448"/>
          </a:xfrm>
        </p:spPr>
        <p:txBody>
          <a:bodyPr>
            <a:normAutofit/>
          </a:bodyPr>
          <a:lstStyle/>
          <a:p>
            <a:pPr marL="0" indent="0">
              <a:buNone/>
            </a:pPr>
            <a:r>
              <a:rPr lang="en-US" sz="2400" b="1" dirty="0"/>
              <a:t>1. Desirability</a:t>
            </a:r>
            <a:r>
              <a:rPr lang="en-US" sz="2400" dirty="0"/>
              <a:t>:</a:t>
            </a:r>
          </a:p>
          <a:p>
            <a:r>
              <a:rPr lang="en-US" sz="2400" dirty="0"/>
              <a:t>Desirability focuses on the human aspect—what people want and need. It ensures that a solution resonates emotionally, functionally, and culturally with users.</a:t>
            </a:r>
          </a:p>
          <a:p>
            <a:pPr marL="0" indent="0">
              <a:buNone/>
            </a:pPr>
            <a:r>
              <a:rPr lang="en-US" sz="2400" dirty="0"/>
              <a:t>Questions this lens addresses include:</a:t>
            </a:r>
          </a:p>
          <a:p>
            <a:r>
              <a:rPr lang="en-US" sz="2400" dirty="0"/>
              <a:t>What </a:t>
            </a:r>
            <a:r>
              <a:rPr lang="en-US" sz="2400" b="1" dirty="0"/>
              <a:t>problems</a:t>
            </a:r>
            <a:r>
              <a:rPr lang="en-US" sz="2400" dirty="0"/>
              <a:t> are users facing?</a:t>
            </a:r>
          </a:p>
          <a:p>
            <a:r>
              <a:rPr lang="en-US" sz="2400" dirty="0"/>
              <a:t>How can this </a:t>
            </a:r>
            <a:r>
              <a:rPr lang="en-US" sz="2400" b="1" dirty="0"/>
              <a:t>solution</a:t>
            </a:r>
            <a:r>
              <a:rPr lang="en-US" sz="2400" dirty="0"/>
              <a:t> improve their lives?</a:t>
            </a:r>
          </a:p>
          <a:p>
            <a:r>
              <a:rPr lang="en-US" sz="2400" dirty="0"/>
              <a:t>Does it </a:t>
            </a:r>
            <a:r>
              <a:rPr lang="en-US" sz="2400" b="1" dirty="0"/>
              <a:t>create</a:t>
            </a:r>
            <a:r>
              <a:rPr lang="en-US" sz="2400" dirty="0"/>
              <a:t> an engaging and meaningful </a:t>
            </a:r>
            <a:r>
              <a:rPr lang="en-US" sz="2400" b="1" dirty="0"/>
              <a:t>experience</a:t>
            </a:r>
            <a:r>
              <a:rPr lang="en-US" sz="2400" dirty="0"/>
              <a:t>?</a:t>
            </a:r>
          </a:p>
          <a:p>
            <a:r>
              <a:rPr lang="en-US" sz="2400" dirty="0"/>
              <a:t>For instance, designing a health-tracking wearable isn’t just about functionality; it’s about motivating users through intuitive interfaces and insights that empower them</a:t>
            </a:r>
            <a:r>
              <a:rPr lang="en-US" sz="2400" dirty="0" smtClean="0"/>
              <a:t>.</a:t>
            </a:r>
            <a:endParaRPr lang="en-US" sz="2400" dirty="0"/>
          </a:p>
        </p:txBody>
      </p:sp>
    </p:spTree>
    <p:extLst>
      <p:ext uri="{BB962C8B-B14F-4D97-AF65-F5344CB8AC3E}">
        <p14:creationId xmlns:p14="http://schemas.microsoft.com/office/powerpoint/2010/main" val="1490423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b="1" dirty="0" smtClean="0"/>
              <a:t>Human-Centered Design</a:t>
            </a:r>
            <a:endParaRPr lang="en-IN" b="1" dirty="0"/>
          </a:p>
        </p:txBody>
      </p:sp>
      <p:sp>
        <p:nvSpPr>
          <p:cNvPr id="6" name="Date Placeholder 5"/>
          <p:cNvSpPr>
            <a:spLocks noGrp="1"/>
          </p:cNvSpPr>
          <p:nvPr>
            <p:ph type="dt" sz="half" idx="10"/>
          </p:nvPr>
        </p:nvSpPr>
        <p:spPr/>
        <p:txBody>
          <a:bodyPr/>
          <a:lstStyle/>
          <a:p>
            <a:fld id="{09B3F2E3-61A1-4FF2-B72C-359E78023F58}" type="datetime1">
              <a:rPr lang="en-US" smtClean="0"/>
              <a:t>7/8/2026</a:t>
            </a:fld>
            <a:endParaRPr lang="en-US"/>
          </a:p>
        </p:txBody>
      </p:sp>
      <p:sp>
        <p:nvSpPr>
          <p:cNvPr id="7" name="Footer Placeholder 6"/>
          <p:cNvSpPr>
            <a:spLocks noGrp="1"/>
          </p:cNvSpPr>
          <p:nvPr>
            <p:ph type="ftr" sz="quarter" idx="11"/>
          </p:nvPr>
        </p:nvSpPr>
        <p:spPr/>
        <p:txBody>
          <a:bodyPr/>
          <a:lstStyle/>
          <a:p>
            <a:r>
              <a:rPr lang="en-US" smtClean="0"/>
              <a:t>Dr.B.Madhura, MBA</a:t>
            </a:r>
            <a:endParaRPr lang="en-US"/>
          </a:p>
        </p:txBody>
      </p:sp>
      <p:sp>
        <p:nvSpPr>
          <p:cNvPr id="8" name="Slide Number Placeholder 7"/>
          <p:cNvSpPr>
            <a:spLocks noGrp="1"/>
          </p:cNvSpPr>
          <p:nvPr>
            <p:ph type="sldNum" sz="quarter" idx="12"/>
          </p:nvPr>
        </p:nvSpPr>
        <p:spPr/>
        <p:txBody>
          <a:bodyPr/>
          <a:lstStyle/>
          <a:p>
            <a:fld id="{D4EFF482-3786-46E7-9869-AFA9F18680F5}" type="slidenum">
              <a:rPr lang="en-US" smtClean="0"/>
              <a:pPr/>
              <a:t>16</a:t>
            </a:fld>
            <a:endParaRPr lang="en-US"/>
          </a:p>
        </p:txBody>
      </p:sp>
      <p:sp>
        <p:nvSpPr>
          <p:cNvPr id="11" name="Content Placeholder 10"/>
          <p:cNvSpPr>
            <a:spLocks noGrp="1"/>
          </p:cNvSpPr>
          <p:nvPr>
            <p:ph sz="quarter" idx="1"/>
          </p:nvPr>
        </p:nvSpPr>
        <p:spPr>
          <a:xfrm>
            <a:off x="228600" y="1371600"/>
            <a:ext cx="8686800" cy="4727448"/>
          </a:xfrm>
        </p:spPr>
        <p:txBody>
          <a:bodyPr>
            <a:normAutofit fontScale="92500"/>
          </a:bodyPr>
          <a:lstStyle/>
          <a:p>
            <a:pPr marL="0" indent="0">
              <a:buNone/>
            </a:pPr>
            <a:r>
              <a:rPr lang="en-US" sz="2400" b="1" dirty="0" smtClean="0"/>
              <a:t>2</a:t>
            </a:r>
            <a:r>
              <a:rPr lang="en-US" sz="2400" b="1" dirty="0"/>
              <a:t>. Feasibility</a:t>
            </a:r>
            <a:r>
              <a:rPr lang="en-US" sz="2400" dirty="0"/>
              <a:t>:</a:t>
            </a:r>
          </a:p>
          <a:p>
            <a:r>
              <a:rPr lang="en-US" sz="2400" dirty="0"/>
              <a:t>Feasibility is all about practicality—ensuring the solution can be realized with existing or emerging technology. This lens evaluates technical and operational constraints.</a:t>
            </a:r>
          </a:p>
          <a:p>
            <a:pPr marL="0" indent="0">
              <a:buNone/>
            </a:pPr>
            <a:r>
              <a:rPr lang="en-US" sz="2400" dirty="0"/>
              <a:t>It explores questions such as:</a:t>
            </a:r>
          </a:p>
          <a:p>
            <a:r>
              <a:rPr lang="en-US" sz="2400" dirty="0"/>
              <a:t>Is the solution technically </a:t>
            </a:r>
            <a:r>
              <a:rPr lang="en-US" sz="2400" b="1" dirty="0"/>
              <a:t>achievable</a:t>
            </a:r>
            <a:r>
              <a:rPr lang="en-US" sz="2400" dirty="0"/>
              <a:t> with current resources?</a:t>
            </a:r>
          </a:p>
          <a:p>
            <a:r>
              <a:rPr lang="en-US" sz="2400" dirty="0"/>
              <a:t>Do we have the </a:t>
            </a:r>
            <a:r>
              <a:rPr lang="en-US" sz="2400" b="1" dirty="0"/>
              <a:t>expertise</a:t>
            </a:r>
            <a:r>
              <a:rPr lang="en-US" sz="2400" dirty="0"/>
              <a:t>, </a:t>
            </a:r>
            <a:r>
              <a:rPr lang="en-US" sz="2400" b="1" dirty="0"/>
              <a:t>tools</a:t>
            </a:r>
            <a:r>
              <a:rPr lang="en-US" sz="2400" dirty="0"/>
              <a:t>, and </a:t>
            </a:r>
            <a:r>
              <a:rPr lang="en-US" sz="2400" b="1" dirty="0"/>
              <a:t>infrastructure</a:t>
            </a:r>
            <a:r>
              <a:rPr lang="en-US" sz="2400" dirty="0"/>
              <a:t> to implement it?</a:t>
            </a:r>
          </a:p>
          <a:p>
            <a:r>
              <a:rPr lang="en-US" sz="2400" dirty="0"/>
              <a:t>Can it </a:t>
            </a:r>
            <a:r>
              <a:rPr lang="en-US" sz="2400" b="1" dirty="0"/>
              <a:t>scale</a:t>
            </a:r>
            <a:r>
              <a:rPr lang="en-US" sz="2400" dirty="0"/>
              <a:t> to meet user demand?</a:t>
            </a:r>
          </a:p>
          <a:p>
            <a:r>
              <a:rPr lang="en-US" sz="2400" dirty="0"/>
              <a:t>Take autonomous vehicles as an example: While the idea is desirable and viable, feasibility depends on advancements in AI, infrastructure, and safety systems</a:t>
            </a:r>
            <a:r>
              <a:rPr lang="en-US" sz="2400" dirty="0" smtClean="0"/>
              <a:t>.</a:t>
            </a:r>
            <a:endParaRPr lang="en-US" sz="2400" dirty="0"/>
          </a:p>
        </p:txBody>
      </p:sp>
    </p:spTree>
    <p:extLst>
      <p:ext uri="{BB962C8B-B14F-4D97-AF65-F5344CB8AC3E}">
        <p14:creationId xmlns:p14="http://schemas.microsoft.com/office/powerpoint/2010/main" val="562881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b="1" dirty="0" smtClean="0"/>
              <a:t>Human-Centered Design</a:t>
            </a:r>
            <a:endParaRPr lang="en-IN" b="1" dirty="0"/>
          </a:p>
        </p:txBody>
      </p:sp>
      <p:sp>
        <p:nvSpPr>
          <p:cNvPr id="6" name="Date Placeholder 5"/>
          <p:cNvSpPr>
            <a:spLocks noGrp="1"/>
          </p:cNvSpPr>
          <p:nvPr>
            <p:ph type="dt" sz="half" idx="10"/>
          </p:nvPr>
        </p:nvSpPr>
        <p:spPr/>
        <p:txBody>
          <a:bodyPr/>
          <a:lstStyle/>
          <a:p>
            <a:fld id="{09B3F2E3-61A1-4FF2-B72C-359E78023F58}" type="datetime1">
              <a:rPr lang="en-US" smtClean="0"/>
              <a:t>7/8/2026</a:t>
            </a:fld>
            <a:endParaRPr lang="en-US"/>
          </a:p>
        </p:txBody>
      </p:sp>
      <p:sp>
        <p:nvSpPr>
          <p:cNvPr id="7" name="Footer Placeholder 6"/>
          <p:cNvSpPr>
            <a:spLocks noGrp="1"/>
          </p:cNvSpPr>
          <p:nvPr>
            <p:ph type="ftr" sz="quarter" idx="11"/>
          </p:nvPr>
        </p:nvSpPr>
        <p:spPr/>
        <p:txBody>
          <a:bodyPr/>
          <a:lstStyle/>
          <a:p>
            <a:r>
              <a:rPr lang="en-US" smtClean="0"/>
              <a:t>Dr.B.Madhura, MBA</a:t>
            </a:r>
            <a:endParaRPr lang="en-US"/>
          </a:p>
        </p:txBody>
      </p:sp>
      <p:sp>
        <p:nvSpPr>
          <p:cNvPr id="8" name="Slide Number Placeholder 7"/>
          <p:cNvSpPr>
            <a:spLocks noGrp="1"/>
          </p:cNvSpPr>
          <p:nvPr>
            <p:ph type="sldNum" sz="quarter" idx="12"/>
          </p:nvPr>
        </p:nvSpPr>
        <p:spPr/>
        <p:txBody>
          <a:bodyPr/>
          <a:lstStyle/>
          <a:p>
            <a:fld id="{D4EFF482-3786-46E7-9869-AFA9F18680F5}" type="slidenum">
              <a:rPr lang="en-US" smtClean="0"/>
              <a:pPr/>
              <a:t>17</a:t>
            </a:fld>
            <a:endParaRPr lang="en-US"/>
          </a:p>
        </p:txBody>
      </p:sp>
      <p:sp>
        <p:nvSpPr>
          <p:cNvPr id="11" name="Content Placeholder 10"/>
          <p:cNvSpPr>
            <a:spLocks noGrp="1"/>
          </p:cNvSpPr>
          <p:nvPr>
            <p:ph sz="quarter" idx="1"/>
          </p:nvPr>
        </p:nvSpPr>
        <p:spPr>
          <a:xfrm>
            <a:off x="228600" y="1371600"/>
            <a:ext cx="8686800" cy="4727448"/>
          </a:xfrm>
        </p:spPr>
        <p:txBody>
          <a:bodyPr>
            <a:normAutofit fontScale="92500"/>
          </a:bodyPr>
          <a:lstStyle/>
          <a:p>
            <a:pPr marL="0" indent="0">
              <a:buNone/>
            </a:pPr>
            <a:r>
              <a:rPr lang="en-US" sz="2400" b="1" dirty="0" smtClean="0"/>
              <a:t>3</a:t>
            </a:r>
            <a:r>
              <a:rPr lang="en-US" sz="2400" b="1" dirty="0"/>
              <a:t>. Viability</a:t>
            </a:r>
            <a:r>
              <a:rPr lang="en-US" sz="2400" dirty="0"/>
              <a:t>:</a:t>
            </a:r>
          </a:p>
          <a:p>
            <a:r>
              <a:rPr lang="en-US" sz="2400" dirty="0"/>
              <a:t>Viability ensures that the solution is sustainable in the real world. This lens focuses on the business, environmental, and societal implications of the design.</a:t>
            </a:r>
          </a:p>
          <a:p>
            <a:pPr marL="0" indent="0">
              <a:buNone/>
            </a:pPr>
            <a:r>
              <a:rPr lang="en-US" sz="2400" dirty="0"/>
              <a:t>Key questions include:</a:t>
            </a:r>
          </a:p>
          <a:p>
            <a:r>
              <a:rPr lang="en-US" sz="2400" dirty="0"/>
              <a:t>Is the solution </a:t>
            </a:r>
            <a:r>
              <a:rPr lang="en-US" sz="2400" b="1" dirty="0"/>
              <a:t>financially</a:t>
            </a:r>
            <a:r>
              <a:rPr lang="en-US" sz="2400" dirty="0"/>
              <a:t> sustainable?</a:t>
            </a:r>
          </a:p>
          <a:p>
            <a:r>
              <a:rPr lang="en-US" sz="2400" dirty="0"/>
              <a:t>Does it align with organizational </a:t>
            </a:r>
            <a:r>
              <a:rPr lang="en-US" sz="2400" b="1" dirty="0"/>
              <a:t>goals</a:t>
            </a:r>
            <a:r>
              <a:rPr lang="en-US" sz="2400" dirty="0"/>
              <a:t> and environmental values?</a:t>
            </a:r>
          </a:p>
          <a:p>
            <a:r>
              <a:rPr lang="en-US" sz="2400" dirty="0"/>
              <a:t>Can it </a:t>
            </a:r>
            <a:r>
              <a:rPr lang="en-US" sz="2400" b="1" dirty="0"/>
              <a:t>succeed</a:t>
            </a:r>
            <a:r>
              <a:rPr lang="en-US" sz="2400" dirty="0"/>
              <a:t> long-term without harming the planet or society?</a:t>
            </a:r>
          </a:p>
          <a:p>
            <a:r>
              <a:rPr lang="en-US" sz="2400" dirty="0"/>
              <a:t>For example, a renewable energy system might be highly desirable and feasible, but its viability depends on cost-effectiveness and scalability to serve diverse markets.</a:t>
            </a:r>
            <a:endParaRPr lang="en-US" sz="2400" dirty="0">
              <a:effectLst/>
            </a:endParaRPr>
          </a:p>
        </p:txBody>
      </p:sp>
    </p:spTree>
    <p:extLst>
      <p:ext uri="{BB962C8B-B14F-4D97-AF65-F5344CB8AC3E}">
        <p14:creationId xmlns:p14="http://schemas.microsoft.com/office/powerpoint/2010/main" val="233624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style>
          <a:lnRef idx="2">
            <a:schemeClr val="accent1"/>
          </a:lnRef>
          <a:fillRef idx="1">
            <a:schemeClr val="lt1"/>
          </a:fillRef>
          <a:effectRef idx="0">
            <a:schemeClr val="accent1"/>
          </a:effectRef>
          <a:fontRef idx="minor">
            <a:schemeClr val="dk1"/>
          </a:fontRef>
        </p:style>
        <p:txBody>
          <a:bodyPr/>
          <a:lstStyle/>
          <a:p>
            <a:pPr marL="457200" indent="-457200"/>
            <a:r>
              <a:rPr lang="en-US" sz="2800" cap="none" spc="0" dirty="0">
                <a:ln>
                  <a:noFill/>
                </a:ln>
                <a:solidFill>
                  <a:schemeClr val="tx1"/>
                </a:solidFill>
                <a:effectLst/>
                <a:latin typeface="Times New Roman" pitchFamily="18" charset="0"/>
                <a:cs typeface="Times New Roman" pitchFamily="18" charset="0"/>
              </a:rPr>
              <a:t>Understanding </a:t>
            </a:r>
            <a:r>
              <a:rPr lang="en-US" sz="2800" cap="none" spc="0" dirty="0" smtClean="0">
                <a:ln>
                  <a:noFill/>
                </a:ln>
                <a:solidFill>
                  <a:schemeClr val="tx1"/>
                </a:solidFill>
                <a:effectLst/>
                <a:latin typeface="Times New Roman" pitchFamily="18" charset="0"/>
                <a:cs typeface="Times New Roman" pitchFamily="18" charset="0"/>
              </a:rPr>
              <a:t>User </a:t>
            </a:r>
            <a:r>
              <a:rPr lang="en-US" sz="2800" cap="none" spc="0" dirty="0">
                <a:ln>
                  <a:noFill/>
                </a:ln>
                <a:solidFill>
                  <a:schemeClr val="tx1"/>
                </a:solidFill>
                <a:effectLst/>
                <a:latin typeface="Times New Roman" pitchFamily="18" charset="0"/>
                <a:cs typeface="Times New Roman" pitchFamily="18" charset="0"/>
              </a:rPr>
              <a:t>and Customer Perspectives</a:t>
            </a:r>
            <a:endParaRPr lang="en-US" sz="2800" cap="none" spc="0" dirty="0">
              <a:ln>
                <a:noFill/>
              </a:ln>
              <a:solidFill>
                <a:schemeClr val="tx1"/>
              </a:solidFill>
              <a:effectLst/>
            </a:endParaRPr>
          </a:p>
        </p:txBody>
      </p:sp>
      <p:sp>
        <p:nvSpPr>
          <p:cNvPr id="4" name="Date Placeholder 3"/>
          <p:cNvSpPr>
            <a:spLocks noGrp="1"/>
          </p:cNvSpPr>
          <p:nvPr>
            <p:ph type="dt" sz="half" idx="10"/>
          </p:nvPr>
        </p:nvSpPr>
        <p:spPr/>
        <p:txBody>
          <a:bodyPr/>
          <a:lstStyle/>
          <a:p>
            <a:fld id="{65EBC2BC-B4B3-4D0D-A1E4-A0DE16CD0959}"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18</a:t>
            </a:fld>
            <a:endParaRPr lang="en-US"/>
          </a:p>
        </p:txBody>
      </p:sp>
      <p:sp>
        <p:nvSpPr>
          <p:cNvPr id="7" name="Rectangle 6"/>
          <p:cNvSpPr/>
          <p:nvPr/>
        </p:nvSpPr>
        <p:spPr>
          <a:xfrm>
            <a:off x="304800" y="1143000"/>
            <a:ext cx="8458200" cy="50167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indent="-342900" algn="just">
              <a:buFont typeface="Wingdings" pitchFamily="2" charset="2"/>
              <a:buChar char="Ø"/>
            </a:pPr>
            <a:r>
              <a:rPr lang="en-US" sz="2000" dirty="0">
                <a:solidFill>
                  <a:schemeClr val="tx1"/>
                </a:solidFill>
                <a:latin typeface="Arial" pitchFamily="34" charset="0"/>
                <a:cs typeface="Arial" pitchFamily="34" charset="0"/>
              </a:rPr>
              <a:t>Human-centered design is a creative approach to solve </a:t>
            </a:r>
            <a:r>
              <a:rPr lang="en-US" sz="2000" dirty="0" smtClean="0">
                <a:solidFill>
                  <a:schemeClr val="tx1"/>
                </a:solidFill>
                <a:latin typeface="Arial" pitchFamily="34" charset="0"/>
                <a:cs typeface="Arial" pitchFamily="34" charset="0"/>
              </a:rPr>
              <a:t>problems</a:t>
            </a:r>
          </a:p>
          <a:p>
            <a:pPr marL="342900" indent="-342900" algn="just">
              <a:buFont typeface="Wingdings" pitchFamily="2" charset="2"/>
              <a:buChar char="Ø"/>
            </a:pPr>
            <a:endParaRPr lang="en-US" sz="2000" dirty="0">
              <a:latin typeface="Times New Roman" pitchFamily="18" charset="0"/>
              <a:cs typeface="Times New Roman" pitchFamily="18" charset="0"/>
            </a:endParaRPr>
          </a:p>
          <a:p>
            <a:pPr marL="342900" indent="-342900" algn="just">
              <a:buFont typeface="Wingdings" pitchFamily="2" charset="2"/>
              <a:buChar char="Ø"/>
            </a:pPr>
            <a:r>
              <a:rPr lang="en-US" sz="2000" dirty="0" smtClean="0">
                <a:solidFill>
                  <a:schemeClr val="tx1"/>
                </a:solidFill>
                <a:latin typeface="Arial" pitchFamily="34" charset="0"/>
                <a:cs typeface="Arial" pitchFamily="34" charset="0"/>
              </a:rPr>
              <a:t>Human-Centered </a:t>
            </a:r>
            <a:r>
              <a:rPr lang="en-US" sz="2000" dirty="0">
                <a:solidFill>
                  <a:schemeClr val="tx1"/>
                </a:solidFill>
                <a:latin typeface="Arial" pitchFamily="34" charset="0"/>
                <a:cs typeface="Arial" pitchFamily="34" charset="0"/>
              </a:rPr>
              <a:t>Design (HCD) is often structured as a practical three-phase acronym: </a:t>
            </a:r>
            <a:r>
              <a:rPr lang="en-US" sz="2000" b="1" u="sng" dirty="0">
                <a:solidFill>
                  <a:schemeClr val="tx1"/>
                </a:solidFill>
                <a:latin typeface="Arial" pitchFamily="34" charset="0"/>
                <a:cs typeface="Arial" pitchFamily="34" charset="0"/>
              </a:rPr>
              <a:t>Hear, Create</a:t>
            </a:r>
            <a:r>
              <a:rPr lang="en-US" sz="2000" b="1" u="sng" dirty="0" smtClean="0">
                <a:solidFill>
                  <a:schemeClr val="tx1"/>
                </a:solidFill>
                <a:latin typeface="Arial" pitchFamily="34" charset="0"/>
                <a:cs typeface="Arial" pitchFamily="34" charset="0"/>
              </a:rPr>
              <a:t>, and  Deliver</a:t>
            </a:r>
          </a:p>
          <a:p>
            <a:pPr algn="just"/>
            <a:endParaRPr lang="en-US" sz="2000" u="sng" dirty="0">
              <a:solidFill>
                <a:schemeClr val="tx1"/>
              </a:solidFill>
              <a:latin typeface="Arial" pitchFamily="34" charset="0"/>
              <a:cs typeface="Arial" pitchFamily="34" charset="0"/>
            </a:endParaRPr>
          </a:p>
          <a:p>
            <a:pPr algn="just"/>
            <a:r>
              <a:rPr lang="en-US" sz="2000" b="1" dirty="0"/>
              <a:t>Hear (Inspiration):</a:t>
            </a:r>
            <a:r>
              <a:rPr lang="en-US" sz="2000" dirty="0"/>
              <a:t> You step out into the field to listen to the people you are designing for. Using ethnographic research, interviews, and observations, you gather stories and understand the true needs and pain points of the end user</a:t>
            </a:r>
            <a:r>
              <a:rPr lang="en-US" sz="2000" dirty="0" smtClean="0"/>
              <a:t>.</a:t>
            </a:r>
          </a:p>
          <a:p>
            <a:pPr algn="just"/>
            <a:endParaRPr lang="en-US" sz="2000" dirty="0">
              <a:latin typeface="Times New Roman" pitchFamily="18" charset="0"/>
              <a:cs typeface="Times New Roman" pitchFamily="18" charset="0"/>
            </a:endParaRPr>
          </a:p>
          <a:p>
            <a:pPr algn="just"/>
            <a:r>
              <a:rPr lang="en-US" sz="2000" b="1" dirty="0"/>
              <a:t>Create (Ideation):</a:t>
            </a:r>
            <a:r>
              <a:rPr lang="en-US" sz="2000" dirty="0"/>
              <a:t> You </a:t>
            </a:r>
            <a:r>
              <a:rPr lang="en-US" sz="2000" b="1" dirty="0"/>
              <a:t>translate </a:t>
            </a:r>
            <a:r>
              <a:rPr lang="en-US" sz="2000" dirty="0"/>
              <a:t>the data you've gathered into </a:t>
            </a:r>
            <a:r>
              <a:rPr lang="en-US" sz="2000" b="1" dirty="0"/>
              <a:t>actionable</a:t>
            </a:r>
            <a:r>
              <a:rPr lang="en-US" sz="2000" dirty="0"/>
              <a:t> themes. Multidisciplinary </a:t>
            </a:r>
            <a:r>
              <a:rPr lang="en-US" sz="2000" dirty="0" smtClean="0"/>
              <a:t>teams, </a:t>
            </a:r>
            <a:r>
              <a:rPr lang="en-US" sz="2000" dirty="0"/>
              <a:t>brainstorm, and build rapid, low-fidelity </a:t>
            </a:r>
            <a:r>
              <a:rPr lang="en-US" sz="2000" b="1" dirty="0"/>
              <a:t>prototypes</a:t>
            </a:r>
            <a:r>
              <a:rPr lang="en-US" sz="2000" dirty="0"/>
              <a:t> to test assumptions, visualize ideas, and refine solutions alongside the users</a:t>
            </a:r>
            <a:r>
              <a:rPr lang="en-US" sz="2000" dirty="0" smtClean="0"/>
              <a:t>.</a:t>
            </a:r>
          </a:p>
          <a:p>
            <a:pPr algn="just"/>
            <a:r>
              <a:rPr lang="en-US" sz="2000" b="1" dirty="0"/>
              <a:t>Deliver (Implementation):</a:t>
            </a:r>
            <a:r>
              <a:rPr lang="en-US" sz="2000" dirty="0"/>
              <a:t> You bring your </a:t>
            </a:r>
            <a:r>
              <a:rPr lang="en-US" sz="2000" b="1" dirty="0"/>
              <a:t>solution</a:t>
            </a:r>
            <a:r>
              <a:rPr lang="en-US" sz="2000" dirty="0"/>
              <a:t> to life. This phase involves creating a </a:t>
            </a:r>
            <a:r>
              <a:rPr lang="en-US" sz="2000" b="1" dirty="0"/>
              <a:t>pilot</a:t>
            </a:r>
            <a:r>
              <a:rPr lang="en-US" sz="2000" dirty="0"/>
              <a:t>, building a viable business or operational model, launching the product into the real world, and iterating based on ongoing user feedback</a:t>
            </a:r>
            <a:r>
              <a:rPr lang="en-US" sz="2000" dirty="0" smtClean="0"/>
              <a:t>.</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739559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style>
          <a:lnRef idx="2">
            <a:schemeClr val="accent1"/>
          </a:lnRef>
          <a:fillRef idx="1">
            <a:schemeClr val="lt1"/>
          </a:fillRef>
          <a:effectRef idx="0">
            <a:schemeClr val="accent1"/>
          </a:effectRef>
          <a:fontRef idx="minor">
            <a:schemeClr val="dk1"/>
          </a:fontRef>
        </p:style>
        <p:txBody>
          <a:bodyPr/>
          <a:lstStyle/>
          <a:p>
            <a:pPr marL="457200" indent="-457200"/>
            <a:r>
              <a:rPr lang="en-US" sz="2800" cap="none" spc="0" dirty="0">
                <a:ln>
                  <a:noFill/>
                </a:ln>
                <a:solidFill>
                  <a:schemeClr val="tx1"/>
                </a:solidFill>
                <a:effectLst/>
                <a:latin typeface="Times New Roman" pitchFamily="18" charset="0"/>
                <a:cs typeface="Times New Roman" pitchFamily="18" charset="0"/>
              </a:rPr>
              <a:t>Understanding </a:t>
            </a:r>
            <a:r>
              <a:rPr lang="en-US" sz="2800" cap="none" spc="0" dirty="0" smtClean="0">
                <a:ln>
                  <a:noFill/>
                </a:ln>
                <a:solidFill>
                  <a:schemeClr val="tx1"/>
                </a:solidFill>
                <a:effectLst/>
                <a:latin typeface="Times New Roman" pitchFamily="18" charset="0"/>
                <a:cs typeface="Times New Roman" pitchFamily="18" charset="0"/>
              </a:rPr>
              <a:t>User </a:t>
            </a:r>
            <a:r>
              <a:rPr lang="en-US" sz="2800" cap="none" spc="0" dirty="0">
                <a:ln>
                  <a:noFill/>
                </a:ln>
                <a:solidFill>
                  <a:schemeClr val="tx1"/>
                </a:solidFill>
                <a:effectLst/>
                <a:latin typeface="Times New Roman" pitchFamily="18" charset="0"/>
                <a:cs typeface="Times New Roman" pitchFamily="18" charset="0"/>
              </a:rPr>
              <a:t>and Customer Perspectives</a:t>
            </a:r>
            <a:endParaRPr lang="en-US" sz="2800" cap="none" spc="0" dirty="0">
              <a:ln>
                <a:noFill/>
              </a:ln>
              <a:solidFill>
                <a:schemeClr val="tx1"/>
              </a:solidFill>
              <a:effectLst/>
            </a:endParaRP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 y="1219200"/>
            <a:ext cx="8686800" cy="5334000"/>
          </a:xfrm>
        </p:spPr>
        <p:style>
          <a:lnRef idx="2">
            <a:schemeClr val="accent1"/>
          </a:lnRef>
          <a:fillRef idx="1">
            <a:schemeClr val="lt1"/>
          </a:fillRef>
          <a:effectRef idx="0">
            <a:schemeClr val="accent1"/>
          </a:effectRef>
          <a:fontRef idx="minor">
            <a:schemeClr val="dk1"/>
          </a:fontRef>
        </p:style>
      </p:pic>
      <p:sp>
        <p:nvSpPr>
          <p:cNvPr id="4" name="Date Placeholder 3"/>
          <p:cNvSpPr>
            <a:spLocks noGrp="1"/>
          </p:cNvSpPr>
          <p:nvPr>
            <p:ph type="dt" sz="half" idx="10"/>
          </p:nvPr>
        </p:nvSpPr>
        <p:spPr/>
        <p:txBody>
          <a:bodyPr/>
          <a:lstStyle/>
          <a:p>
            <a:fld id="{65EBC2BC-B4B3-4D0D-A1E4-A0DE16CD0959}"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19</a:t>
            </a:fld>
            <a:endParaRPr lang="en-US"/>
          </a:p>
        </p:txBody>
      </p:sp>
    </p:spTree>
    <p:extLst>
      <p:ext uri="{BB962C8B-B14F-4D97-AF65-F5344CB8AC3E}">
        <p14:creationId xmlns:p14="http://schemas.microsoft.com/office/powerpoint/2010/main" val="127537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9056FB-E0EC-4277-A6ED-B3F60801BEBF}" type="datetime1">
              <a:rPr lang="en-US" smtClean="0"/>
              <a:t>7/8/2026</a:t>
            </a:fld>
            <a:endParaRPr lang="en-US"/>
          </a:p>
        </p:txBody>
      </p:sp>
      <p:sp>
        <p:nvSpPr>
          <p:cNvPr id="3" name="Slide Number Placeholder 2"/>
          <p:cNvSpPr>
            <a:spLocks noGrp="1"/>
          </p:cNvSpPr>
          <p:nvPr>
            <p:ph type="sldNum" sz="quarter" idx="12"/>
          </p:nvPr>
        </p:nvSpPr>
        <p:spPr/>
        <p:txBody>
          <a:bodyPr/>
          <a:lstStyle/>
          <a:p>
            <a:fld id="{D4EFF482-3786-46E7-9869-AFA9F18680F5}" type="slidenum">
              <a:rPr lang="en-US" smtClean="0"/>
              <a:pPr/>
              <a:t>20</a:t>
            </a:fld>
            <a:endParaRPr lang="en-US"/>
          </a:p>
        </p:txBody>
      </p:sp>
      <p:sp>
        <p:nvSpPr>
          <p:cNvPr id="4" name="Rectangle 3"/>
          <p:cNvSpPr/>
          <p:nvPr/>
        </p:nvSpPr>
        <p:spPr>
          <a:xfrm>
            <a:off x="304800" y="304801"/>
            <a:ext cx="84582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latin typeface="Times New Roman" pitchFamily="18" charset="0"/>
                <a:cs typeface="Times New Roman" pitchFamily="18" charset="0"/>
              </a:rPr>
              <a:t>Winning Companies Use Human Centered Design</a:t>
            </a:r>
          </a:p>
        </p:txBody>
      </p:sp>
      <p:pic>
        <p:nvPicPr>
          <p:cNvPr id="2053" name="Picture 5"/>
          <p:cNvPicPr>
            <a:picLocks noChangeAspect="1" noChangeArrowheads="1"/>
          </p:cNvPicPr>
          <p:nvPr/>
        </p:nvPicPr>
        <p:blipFill>
          <a:blip r:embed="rId2"/>
          <a:srcRect/>
          <a:stretch>
            <a:fillRect/>
          </a:stretch>
        </p:blipFill>
        <p:spPr bwMode="auto">
          <a:xfrm>
            <a:off x="152400" y="838200"/>
            <a:ext cx="8610600" cy="4191000"/>
          </a:xfrm>
          <a:prstGeom prst="rect">
            <a:avLst/>
          </a:prstGeom>
          <a:ln>
            <a:headEnd/>
            <a:tailEnd/>
          </a:ln>
        </p:spPr>
        <p:style>
          <a:lnRef idx="2">
            <a:schemeClr val="accent1"/>
          </a:lnRef>
          <a:fillRef idx="1">
            <a:schemeClr val="lt1"/>
          </a:fillRef>
          <a:effectRef idx="0">
            <a:schemeClr val="accent1"/>
          </a:effectRef>
          <a:fontRef idx="minor">
            <a:schemeClr val="dk1"/>
          </a:fontRef>
        </p:style>
      </p:pic>
      <p:pic>
        <p:nvPicPr>
          <p:cNvPr id="10" name="Picture 3"/>
          <p:cNvPicPr>
            <a:picLocks noChangeAspect="1" noChangeArrowheads="1"/>
          </p:cNvPicPr>
          <p:nvPr/>
        </p:nvPicPr>
        <p:blipFill>
          <a:blip r:embed="rId3"/>
          <a:srcRect/>
          <a:stretch>
            <a:fillRect/>
          </a:stretch>
        </p:blipFill>
        <p:spPr bwMode="auto">
          <a:xfrm>
            <a:off x="4267200" y="5105400"/>
            <a:ext cx="4495800" cy="1752600"/>
          </a:xfrm>
          <a:prstGeom prst="rect">
            <a:avLst/>
          </a:prstGeom>
          <a:ln>
            <a:headEnd/>
            <a:tailEn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718586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9056FB-E0EC-4277-A6ED-B3F60801BEBF}" type="datetime1">
              <a:rPr lang="en-US" smtClean="0"/>
              <a:t>7/8/2026</a:t>
            </a:fld>
            <a:endParaRPr lang="en-US"/>
          </a:p>
        </p:txBody>
      </p:sp>
      <p:sp>
        <p:nvSpPr>
          <p:cNvPr id="3" name="Slide Number Placeholder 2"/>
          <p:cNvSpPr>
            <a:spLocks noGrp="1"/>
          </p:cNvSpPr>
          <p:nvPr>
            <p:ph type="sldNum" sz="quarter" idx="12"/>
          </p:nvPr>
        </p:nvSpPr>
        <p:spPr/>
        <p:txBody>
          <a:bodyPr/>
          <a:lstStyle/>
          <a:p>
            <a:fld id="{D4EFF482-3786-46E7-9869-AFA9F18680F5}" type="slidenum">
              <a:rPr lang="en-US" smtClean="0"/>
              <a:pPr/>
              <a:t>21</a:t>
            </a:fld>
            <a:endParaRPr lang="en-US"/>
          </a:p>
        </p:txBody>
      </p:sp>
      <p:sp>
        <p:nvSpPr>
          <p:cNvPr id="4" name="Rectangle 3"/>
          <p:cNvSpPr/>
          <p:nvPr/>
        </p:nvSpPr>
        <p:spPr>
          <a:xfrm>
            <a:off x="304800" y="304801"/>
            <a:ext cx="84582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latin typeface="Times New Roman" pitchFamily="18" charset="0"/>
                <a:cs typeface="Times New Roman" pitchFamily="18" charset="0"/>
              </a:rPr>
              <a:t>Winning Companies Use Human Centered Design</a:t>
            </a:r>
          </a:p>
        </p:txBody>
      </p:sp>
      <p:pic>
        <p:nvPicPr>
          <p:cNvPr id="2052" name="Picture 4"/>
          <p:cNvPicPr>
            <a:picLocks noChangeAspect="1" noChangeArrowheads="1"/>
          </p:cNvPicPr>
          <p:nvPr/>
        </p:nvPicPr>
        <p:blipFill>
          <a:blip r:embed="rId2"/>
          <a:srcRect/>
          <a:stretch>
            <a:fillRect/>
          </a:stretch>
        </p:blipFill>
        <p:spPr bwMode="auto">
          <a:xfrm>
            <a:off x="152400" y="1219200"/>
            <a:ext cx="8839200" cy="5638800"/>
          </a:xfrm>
          <a:prstGeom prst="rect">
            <a:avLst/>
          </a:prstGeom>
          <a:ln>
            <a:headEnd/>
            <a:tailEnd/>
          </a:ln>
        </p:spPr>
        <p:style>
          <a:lnRef idx="2">
            <a:schemeClr val="accent1"/>
          </a:lnRef>
          <a:fillRef idx="1">
            <a:schemeClr val="lt1"/>
          </a:fillRef>
          <a:effectRef idx="0">
            <a:schemeClr val="accent1"/>
          </a:effectRef>
          <a:fontRef idx="minor">
            <a:schemeClr val="dk1"/>
          </a:fontRef>
        </p:style>
      </p:pic>
      <p:sp>
        <p:nvSpPr>
          <p:cNvPr id="5" name="Footer Placeholder 4">
            <a:extLst>
              <a:ext uri="{FF2B5EF4-FFF2-40B4-BE49-F238E27FC236}">
                <a16:creationId xmlns:a16="http://schemas.microsoft.com/office/drawing/2014/main" xmlns="" id="{F754C4C2-1B8D-4783-9FDF-7266268314A3}"/>
              </a:ext>
            </a:extLst>
          </p:cNvPr>
          <p:cNvSpPr>
            <a:spLocks noGrp="1"/>
          </p:cNvSpPr>
          <p:nvPr>
            <p:ph type="ftr" sz="quarter" idx="11"/>
          </p:nvPr>
        </p:nvSpPr>
        <p:spPr/>
        <p:txBody>
          <a:bodyPr/>
          <a:lstStyle/>
          <a:p>
            <a:r>
              <a:rPr lang="en-US"/>
              <a:t>Dr.B.Madhura, MBA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3600" b="1" dirty="0">
                <a:solidFill>
                  <a:schemeClr val="tx1"/>
                </a:solidFill>
                <a:latin typeface="Times New Roman" pitchFamily="18" charset="0"/>
                <a:cs typeface="Times New Roman" pitchFamily="18" charset="0"/>
              </a:rPr>
              <a:t>Identify Insights And Opportunities</a:t>
            </a:r>
            <a:endParaRPr lang="en-IN" b="1" dirty="0"/>
          </a:p>
        </p:txBody>
      </p:sp>
      <p:sp>
        <p:nvSpPr>
          <p:cNvPr id="6" name="Date Placeholder 5"/>
          <p:cNvSpPr>
            <a:spLocks noGrp="1"/>
          </p:cNvSpPr>
          <p:nvPr>
            <p:ph type="dt" sz="half" idx="10"/>
          </p:nvPr>
        </p:nvSpPr>
        <p:spPr/>
        <p:txBody>
          <a:bodyPr/>
          <a:lstStyle/>
          <a:p>
            <a:fld id="{09B3F2E3-61A1-4FF2-B72C-359E78023F58}" type="datetime1">
              <a:rPr lang="en-US" smtClean="0"/>
              <a:t>7/8/2026</a:t>
            </a:fld>
            <a:endParaRPr lang="en-US"/>
          </a:p>
        </p:txBody>
      </p:sp>
      <p:sp>
        <p:nvSpPr>
          <p:cNvPr id="8" name="Slide Number Placeholder 7"/>
          <p:cNvSpPr>
            <a:spLocks noGrp="1"/>
          </p:cNvSpPr>
          <p:nvPr>
            <p:ph type="sldNum" sz="quarter" idx="12"/>
          </p:nvPr>
        </p:nvSpPr>
        <p:spPr/>
        <p:txBody>
          <a:bodyPr/>
          <a:lstStyle/>
          <a:p>
            <a:fld id="{D4EFF482-3786-46E7-9869-AFA9F18680F5}" type="slidenum">
              <a:rPr lang="en-US" smtClean="0"/>
              <a:pPr/>
              <a:t>22</a:t>
            </a:fld>
            <a:endParaRPr lang="en-US"/>
          </a:p>
        </p:txBody>
      </p:sp>
      <p:sp>
        <p:nvSpPr>
          <p:cNvPr id="11" name="Content Placeholder 10"/>
          <p:cNvSpPr>
            <a:spLocks noGrp="1"/>
          </p:cNvSpPr>
          <p:nvPr>
            <p:ph sz="quarter" idx="1"/>
          </p:nvPr>
        </p:nvSpPr>
        <p:spPr>
          <a:xfrm>
            <a:off x="228600" y="1371600"/>
            <a:ext cx="8686800" cy="5181600"/>
          </a:xfrm>
        </p:spPr>
        <p:txBody>
          <a:bodyPr>
            <a:normAutofit fontScale="92500" lnSpcReduction="10000"/>
          </a:bodyPr>
          <a:lstStyle/>
          <a:p>
            <a:pPr marL="0" indent="0">
              <a:buNone/>
            </a:pPr>
            <a:r>
              <a:rPr lang="en-US" sz="2400" dirty="0"/>
              <a:t>Entrepreneurship begins with identifying an opportunity. Successful entrepreneurs do not merely create products; they discover unmet needs, solve problems, and create value for customers</a:t>
            </a:r>
            <a:r>
              <a:rPr lang="en-US" sz="2400" dirty="0" smtClean="0"/>
              <a:t>.</a:t>
            </a:r>
          </a:p>
          <a:p>
            <a:pPr marL="0" indent="0">
              <a:buNone/>
            </a:pPr>
            <a:endParaRPr lang="en-US" sz="2400" dirty="0"/>
          </a:p>
          <a:p>
            <a:pPr marL="0" indent="0">
              <a:buNone/>
            </a:pPr>
            <a:r>
              <a:rPr lang="en-US" sz="2400" b="1" dirty="0"/>
              <a:t>Definition of Insight</a:t>
            </a:r>
          </a:p>
          <a:p>
            <a:r>
              <a:rPr lang="en-US" sz="2400" dirty="0"/>
              <a:t>An </a:t>
            </a:r>
            <a:r>
              <a:rPr lang="en-US" sz="2400" b="1" dirty="0"/>
              <a:t>insight</a:t>
            </a:r>
            <a:r>
              <a:rPr lang="en-US" sz="2400" dirty="0"/>
              <a:t> is a deep understanding of customer </a:t>
            </a:r>
            <a:r>
              <a:rPr lang="en-US" sz="2400" b="1" dirty="0"/>
              <a:t>behavior</a:t>
            </a:r>
            <a:r>
              <a:rPr lang="en-US" sz="2400" dirty="0"/>
              <a:t>, needs, problems, </a:t>
            </a:r>
            <a:r>
              <a:rPr lang="en-US" sz="2400" b="1" dirty="0"/>
              <a:t>desires</a:t>
            </a:r>
            <a:r>
              <a:rPr lang="en-US" sz="2400" dirty="0"/>
              <a:t>, or </a:t>
            </a:r>
            <a:r>
              <a:rPr lang="en-US" sz="2400" b="1" dirty="0"/>
              <a:t>market trends </a:t>
            </a:r>
            <a:r>
              <a:rPr lang="en-US" sz="2400" dirty="0"/>
              <a:t>that can lead to a business idea.</a:t>
            </a:r>
          </a:p>
          <a:p>
            <a:pPr marL="0" indent="0">
              <a:buNone/>
            </a:pPr>
            <a:r>
              <a:rPr lang="en-US" sz="2400" b="1" dirty="0"/>
              <a:t>Definition of Opportunity</a:t>
            </a:r>
          </a:p>
          <a:p>
            <a:r>
              <a:rPr lang="en-US" sz="2400" dirty="0"/>
              <a:t>An </a:t>
            </a:r>
            <a:r>
              <a:rPr lang="en-US" sz="2400" b="1" dirty="0"/>
              <a:t>opportunity</a:t>
            </a:r>
            <a:r>
              <a:rPr lang="en-US" sz="2400" dirty="0"/>
              <a:t> is a </a:t>
            </a:r>
            <a:r>
              <a:rPr lang="en-US" sz="2400" b="1" dirty="0"/>
              <a:t>favorable</a:t>
            </a:r>
            <a:r>
              <a:rPr lang="en-US" sz="2400" dirty="0"/>
              <a:t> set of </a:t>
            </a:r>
            <a:r>
              <a:rPr lang="en-US" sz="2400" b="1" dirty="0"/>
              <a:t>circumstances</a:t>
            </a:r>
            <a:r>
              <a:rPr lang="en-US" sz="2400" dirty="0"/>
              <a:t> that </a:t>
            </a:r>
            <a:r>
              <a:rPr lang="en-US" sz="2400" b="1" dirty="0"/>
              <a:t>creates</a:t>
            </a:r>
            <a:r>
              <a:rPr lang="en-US" sz="2400" dirty="0"/>
              <a:t> a need for a </a:t>
            </a:r>
            <a:r>
              <a:rPr lang="en-US" sz="2400" b="1" dirty="0"/>
              <a:t>new product</a:t>
            </a:r>
            <a:r>
              <a:rPr lang="en-US" sz="2400" dirty="0"/>
              <a:t>, service, or business venture.</a:t>
            </a:r>
          </a:p>
          <a:p>
            <a:pPr marL="0" indent="0">
              <a:buNone/>
            </a:pPr>
            <a:r>
              <a:rPr lang="en-US" sz="2400" b="1" dirty="0"/>
              <a:t>Example</a:t>
            </a:r>
          </a:p>
          <a:p>
            <a:r>
              <a:rPr lang="en-US" sz="2400" dirty="0"/>
              <a:t>Insight: People dislike waiting in long queues for food. </a:t>
            </a:r>
          </a:p>
          <a:p>
            <a:r>
              <a:rPr lang="en-US" sz="2400" dirty="0"/>
              <a:t>Opportunity: Develop a food delivery app that delivers meals quickly.</a:t>
            </a:r>
          </a:p>
          <a:p>
            <a:pPr marL="0" indent="0">
              <a:buNone/>
            </a:pPr>
            <a:endParaRPr lang="en-US" sz="2400" dirty="0">
              <a:effectLst/>
            </a:endParaRPr>
          </a:p>
        </p:txBody>
      </p:sp>
    </p:spTree>
    <p:extLst>
      <p:ext uri="{BB962C8B-B14F-4D97-AF65-F5344CB8AC3E}">
        <p14:creationId xmlns:p14="http://schemas.microsoft.com/office/powerpoint/2010/main" val="939387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3600" b="1" dirty="0">
                <a:solidFill>
                  <a:schemeClr val="tx1"/>
                </a:solidFill>
                <a:latin typeface="Times New Roman" pitchFamily="18" charset="0"/>
                <a:cs typeface="Times New Roman" pitchFamily="18" charset="0"/>
              </a:rPr>
              <a:t>Identify Insights </a:t>
            </a:r>
            <a:r>
              <a:rPr lang="en-US" sz="3600" b="1" dirty="0" smtClean="0">
                <a:solidFill>
                  <a:schemeClr val="tx1"/>
                </a:solidFill>
                <a:latin typeface="Times New Roman" pitchFamily="18" charset="0"/>
                <a:cs typeface="Times New Roman" pitchFamily="18" charset="0"/>
              </a:rPr>
              <a:t> and  </a:t>
            </a:r>
            <a:r>
              <a:rPr lang="en-US" sz="3600" b="1" dirty="0">
                <a:solidFill>
                  <a:schemeClr val="tx1"/>
                </a:solidFill>
                <a:latin typeface="Times New Roman" pitchFamily="18" charset="0"/>
                <a:cs typeface="Times New Roman" pitchFamily="18" charset="0"/>
              </a:rPr>
              <a:t>Opportunities</a:t>
            </a:r>
            <a:endParaRPr lang="en-IN" b="1" dirty="0"/>
          </a:p>
        </p:txBody>
      </p:sp>
      <p:sp>
        <p:nvSpPr>
          <p:cNvPr id="6" name="Date Placeholder 5"/>
          <p:cNvSpPr>
            <a:spLocks noGrp="1"/>
          </p:cNvSpPr>
          <p:nvPr>
            <p:ph type="dt" sz="half" idx="10"/>
          </p:nvPr>
        </p:nvSpPr>
        <p:spPr/>
        <p:txBody>
          <a:bodyPr/>
          <a:lstStyle/>
          <a:p>
            <a:fld id="{09B3F2E3-61A1-4FF2-B72C-359E78023F58}" type="datetime1">
              <a:rPr lang="en-US" smtClean="0"/>
              <a:t>7/8/2026</a:t>
            </a:fld>
            <a:endParaRPr lang="en-US"/>
          </a:p>
        </p:txBody>
      </p:sp>
      <p:sp>
        <p:nvSpPr>
          <p:cNvPr id="8" name="Slide Number Placeholder 7"/>
          <p:cNvSpPr>
            <a:spLocks noGrp="1"/>
          </p:cNvSpPr>
          <p:nvPr>
            <p:ph type="sldNum" sz="quarter" idx="12"/>
          </p:nvPr>
        </p:nvSpPr>
        <p:spPr/>
        <p:txBody>
          <a:bodyPr/>
          <a:lstStyle/>
          <a:p>
            <a:fld id="{D4EFF482-3786-46E7-9869-AFA9F18680F5}" type="slidenum">
              <a:rPr lang="en-US" smtClean="0"/>
              <a:pPr/>
              <a:t>23</a:t>
            </a:fld>
            <a:endParaRPr lang="en-US"/>
          </a:p>
        </p:txBody>
      </p:sp>
      <p:sp>
        <p:nvSpPr>
          <p:cNvPr id="11" name="Content Placeholder 10"/>
          <p:cNvSpPr>
            <a:spLocks noGrp="1"/>
          </p:cNvSpPr>
          <p:nvPr>
            <p:ph sz="quarter" idx="1"/>
          </p:nvPr>
        </p:nvSpPr>
        <p:spPr>
          <a:xfrm>
            <a:off x="228600" y="1371600"/>
            <a:ext cx="8686800" cy="5334000"/>
          </a:xfrm>
        </p:spPr>
        <p:txBody>
          <a:bodyPr>
            <a:normAutofit fontScale="92500" lnSpcReduction="20000"/>
          </a:bodyPr>
          <a:lstStyle/>
          <a:p>
            <a:pPr marL="0" indent="0">
              <a:buNone/>
            </a:pPr>
            <a:r>
              <a:rPr lang="en-US" sz="2400" b="1" dirty="0"/>
              <a:t>Importance of Identifying </a:t>
            </a:r>
            <a:r>
              <a:rPr lang="en-US" sz="2400" b="1" dirty="0" smtClean="0">
                <a:latin typeface="Times New Roman" pitchFamily="18" charset="0"/>
                <a:cs typeface="Times New Roman" pitchFamily="18" charset="0"/>
              </a:rPr>
              <a:t>Insights </a:t>
            </a:r>
          </a:p>
          <a:p>
            <a:r>
              <a:rPr lang="en-US" sz="2400" b="1" dirty="0" smtClean="0"/>
              <a:t>Understand </a:t>
            </a:r>
            <a:r>
              <a:rPr lang="en-US" sz="2400" b="1" dirty="0"/>
              <a:t>Customer Needs</a:t>
            </a:r>
            <a:r>
              <a:rPr lang="en-US" sz="2400" dirty="0"/>
              <a:t> – Helps entrepreneurs discover what customers truly want. </a:t>
            </a:r>
            <a:endParaRPr lang="en-US" sz="2400" dirty="0" smtClean="0"/>
          </a:p>
          <a:p>
            <a:r>
              <a:rPr lang="en-US" sz="2400" b="1" dirty="0"/>
              <a:t>Identify Business Opportunities</a:t>
            </a:r>
            <a:r>
              <a:rPr lang="en-US" sz="2400" dirty="0"/>
              <a:t> – Reveals unmet needs and market gaps.</a:t>
            </a:r>
            <a:endParaRPr lang="en-US" sz="2400" b="1" dirty="0" smtClean="0"/>
          </a:p>
          <a:p>
            <a:r>
              <a:rPr lang="en-US" sz="2400" b="1" dirty="0" smtClean="0"/>
              <a:t>Solve Real Problems</a:t>
            </a:r>
            <a:r>
              <a:rPr lang="en-US" sz="2400" dirty="0" smtClean="0"/>
              <a:t> – Leads to innovative products and services that add value. </a:t>
            </a:r>
          </a:p>
          <a:p>
            <a:r>
              <a:rPr lang="en-US" sz="2400" b="1" dirty="0" smtClean="0"/>
              <a:t>Reduce </a:t>
            </a:r>
            <a:r>
              <a:rPr lang="en-US" sz="2400" b="1" dirty="0"/>
              <a:t>Business Risk</a:t>
            </a:r>
            <a:r>
              <a:rPr lang="en-US" sz="2400" dirty="0"/>
              <a:t> – Decisions are based on customer insights rather than assumptions. </a:t>
            </a:r>
            <a:endParaRPr lang="en-US" sz="2400" dirty="0" smtClean="0"/>
          </a:p>
          <a:p>
            <a:r>
              <a:rPr lang="en-US" sz="2400" b="1" dirty="0" smtClean="0"/>
              <a:t>Gain </a:t>
            </a:r>
            <a:r>
              <a:rPr lang="en-US" sz="2400" b="1" dirty="0"/>
              <a:t>Competitive Advantage</a:t>
            </a:r>
            <a:r>
              <a:rPr lang="en-US" sz="2400" dirty="0"/>
              <a:t> – Helps businesses offer unique and differentiated solutions. </a:t>
            </a:r>
            <a:endParaRPr lang="en-US" sz="2400" dirty="0" smtClean="0"/>
          </a:p>
          <a:p>
            <a:r>
              <a:rPr lang="en-US" sz="2400" b="1" dirty="0" smtClean="0"/>
              <a:t>Support </a:t>
            </a:r>
            <a:r>
              <a:rPr lang="en-US" sz="2400" b="1" dirty="0"/>
              <a:t>Better Decision-Making</a:t>
            </a:r>
            <a:r>
              <a:rPr lang="en-US" sz="2400" dirty="0"/>
              <a:t> – Provides a strong foundation for product development and marketing. </a:t>
            </a:r>
            <a:endParaRPr lang="en-US" sz="2400" dirty="0" smtClean="0"/>
          </a:p>
          <a:p>
            <a:r>
              <a:rPr lang="en-US" sz="2400" b="1" dirty="0" smtClean="0"/>
              <a:t>Improve </a:t>
            </a:r>
            <a:r>
              <a:rPr lang="en-US" sz="2400" b="1" dirty="0"/>
              <a:t>Customer Satisfaction</a:t>
            </a:r>
            <a:r>
              <a:rPr lang="en-US" sz="2400" dirty="0"/>
              <a:t> – Businesses that meet customer expectations build loyalty and trust. </a:t>
            </a:r>
            <a:endParaRPr lang="en-US" sz="2400" dirty="0" smtClean="0"/>
          </a:p>
          <a:p>
            <a:r>
              <a:rPr lang="en-US" sz="2400" b="1" dirty="0" smtClean="0"/>
              <a:t>Drive </a:t>
            </a:r>
            <a:r>
              <a:rPr lang="en-US" sz="2400" b="1" dirty="0"/>
              <a:t>Business Growth</a:t>
            </a:r>
            <a:r>
              <a:rPr lang="en-US" sz="2400" dirty="0"/>
              <a:t> – Continuous insights help entrepreneurs innovate and adapt to changing markets.</a:t>
            </a:r>
            <a:endParaRPr lang="en-US" sz="2400" dirty="0">
              <a:effectLst/>
            </a:endParaRPr>
          </a:p>
        </p:txBody>
      </p:sp>
    </p:spTree>
    <p:extLst>
      <p:ext uri="{BB962C8B-B14F-4D97-AF65-F5344CB8AC3E}">
        <p14:creationId xmlns:p14="http://schemas.microsoft.com/office/powerpoint/2010/main" val="3159457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3600" b="1" dirty="0">
                <a:solidFill>
                  <a:schemeClr val="tx1"/>
                </a:solidFill>
                <a:latin typeface="Times New Roman" pitchFamily="18" charset="0"/>
                <a:cs typeface="Times New Roman" pitchFamily="18" charset="0"/>
              </a:rPr>
              <a:t>Identify Insights And Opportunities</a:t>
            </a:r>
            <a:endParaRPr lang="en-IN" b="1" dirty="0"/>
          </a:p>
        </p:txBody>
      </p:sp>
      <p:sp>
        <p:nvSpPr>
          <p:cNvPr id="6" name="Date Placeholder 5"/>
          <p:cNvSpPr>
            <a:spLocks noGrp="1"/>
          </p:cNvSpPr>
          <p:nvPr>
            <p:ph type="dt" sz="half" idx="10"/>
          </p:nvPr>
        </p:nvSpPr>
        <p:spPr/>
        <p:txBody>
          <a:bodyPr/>
          <a:lstStyle/>
          <a:p>
            <a:fld id="{09B3F2E3-61A1-4FF2-B72C-359E78023F58}" type="datetime1">
              <a:rPr lang="en-US" smtClean="0"/>
              <a:t>7/8/2026</a:t>
            </a:fld>
            <a:endParaRPr lang="en-US"/>
          </a:p>
        </p:txBody>
      </p:sp>
      <p:sp>
        <p:nvSpPr>
          <p:cNvPr id="8" name="Slide Number Placeholder 7"/>
          <p:cNvSpPr>
            <a:spLocks noGrp="1"/>
          </p:cNvSpPr>
          <p:nvPr>
            <p:ph type="sldNum" sz="quarter" idx="12"/>
          </p:nvPr>
        </p:nvSpPr>
        <p:spPr/>
        <p:txBody>
          <a:bodyPr/>
          <a:lstStyle/>
          <a:p>
            <a:fld id="{D4EFF482-3786-46E7-9869-AFA9F18680F5}" type="slidenum">
              <a:rPr lang="en-US" smtClean="0"/>
              <a:pPr/>
              <a:t>24</a:t>
            </a:fld>
            <a:endParaRPr lang="en-US"/>
          </a:p>
        </p:txBody>
      </p:sp>
      <p:sp>
        <p:nvSpPr>
          <p:cNvPr id="11" name="Content Placeholder 10"/>
          <p:cNvSpPr>
            <a:spLocks noGrp="1"/>
          </p:cNvSpPr>
          <p:nvPr>
            <p:ph sz="quarter" idx="1"/>
          </p:nvPr>
        </p:nvSpPr>
        <p:spPr>
          <a:xfrm>
            <a:off x="228600" y="1371600"/>
            <a:ext cx="8686800" cy="4727448"/>
          </a:xfrm>
        </p:spPr>
        <p:txBody>
          <a:bodyPr>
            <a:normAutofit lnSpcReduction="10000"/>
          </a:bodyPr>
          <a:lstStyle/>
          <a:p>
            <a:pPr marL="0" indent="0">
              <a:buNone/>
            </a:pPr>
            <a:r>
              <a:rPr lang="en-US" sz="2400" b="1" dirty="0"/>
              <a:t>Importance of Identifying </a:t>
            </a:r>
            <a:r>
              <a:rPr lang="en-US" sz="2400" b="1" dirty="0" smtClean="0"/>
              <a:t>Opportunities</a:t>
            </a:r>
          </a:p>
          <a:p>
            <a:pPr marL="0" indent="0">
              <a:buNone/>
            </a:pPr>
            <a:r>
              <a:rPr lang="en-US" sz="2400" dirty="0" smtClean="0"/>
              <a:t>Entrepreneurs </a:t>
            </a:r>
            <a:r>
              <a:rPr lang="en-US" sz="2400" dirty="0"/>
              <a:t>must identify opportunities because:</a:t>
            </a:r>
          </a:p>
          <a:p>
            <a:pPr marL="265113" indent="0"/>
            <a:r>
              <a:rPr lang="en-US" sz="2400" dirty="0"/>
              <a:t>Markets constantly change. </a:t>
            </a:r>
          </a:p>
          <a:p>
            <a:pPr marL="265113" indent="0"/>
            <a:r>
              <a:rPr lang="en-US" sz="2400" dirty="0"/>
              <a:t>Customer needs evolve. </a:t>
            </a:r>
          </a:p>
          <a:p>
            <a:pPr marL="265113" indent="0"/>
            <a:r>
              <a:rPr lang="en-US" sz="2400" dirty="0"/>
              <a:t>Technology creates new possibilities. </a:t>
            </a:r>
          </a:p>
          <a:p>
            <a:pPr marL="265113" indent="0"/>
            <a:r>
              <a:rPr lang="en-US" sz="2400" dirty="0"/>
              <a:t>Competition opens new gaps. </a:t>
            </a:r>
          </a:p>
          <a:p>
            <a:pPr marL="265113" indent="0"/>
            <a:r>
              <a:rPr lang="en-US" sz="2400" dirty="0"/>
              <a:t>Economic and social changes generate new demands. </a:t>
            </a:r>
          </a:p>
          <a:p>
            <a:pPr marL="265113" indent="0">
              <a:buNone/>
            </a:pPr>
            <a:endParaRPr lang="en-US" sz="2400" b="1" dirty="0" smtClean="0"/>
          </a:p>
          <a:p>
            <a:pPr marL="0" indent="0">
              <a:buNone/>
            </a:pPr>
            <a:r>
              <a:rPr lang="en-US" sz="2400" b="1" dirty="0" smtClean="0"/>
              <a:t>Quote</a:t>
            </a:r>
            <a:endParaRPr lang="en-US" sz="2400" b="1" dirty="0"/>
          </a:p>
          <a:p>
            <a:r>
              <a:rPr lang="en-US" sz="2400" dirty="0"/>
              <a:t>"Entrepreneurs see opportunities where others see problems."</a:t>
            </a:r>
          </a:p>
          <a:p>
            <a:pPr marL="0" indent="0">
              <a:buNone/>
            </a:pPr>
            <a:endParaRPr lang="en-US" sz="2400" dirty="0">
              <a:effectLst/>
            </a:endParaRPr>
          </a:p>
        </p:txBody>
      </p:sp>
    </p:spTree>
    <p:extLst>
      <p:ext uri="{BB962C8B-B14F-4D97-AF65-F5344CB8AC3E}">
        <p14:creationId xmlns:p14="http://schemas.microsoft.com/office/powerpoint/2010/main" val="3730589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3600" b="1" dirty="0">
                <a:solidFill>
                  <a:schemeClr val="tx1"/>
                </a:solidFill>
                <a:latin typeface="Times New Roman" pitchFamily="18" charset="0"/>
                <a:cs typeface="Times New Roman" pitchFamily="18" charset="0"/>
              </a:rPr>
              <a:t>Identify Insights And Opportunities</a:t>
            </a:r>
            <a:endParaRPr lang="en-IN" b="1" dirty="0"/>
          </a:p>
        </p:txBody>
      </p:sp>
      <p:sp>
        <p:nvSpPr>
          <p:cNvPr id="6" name="Date Placeholder 5"/>
          <p:cNvSpPr>
            <a:spLocks noGrp="1"/>
          </p:cNvSpPr>
          <p:nvPr>
            <p:ph type="dt" sz="half" idx="10"/>
          </p:nvPr>
        </p:nvSpPr>
        <p:spPr/>
        <p:txBody>
          <a:bodyPr/>
          <a:lstStyle/>
          <a:p>
            <a:fld id="{09B3F2E3-61A1-4FF2-B72C-359E78023F58}" type="datetime1">
              <a:rPr lang="en-US" smtClean="0"/>
              <a:t>7/8/2026</a:t>
            </a:fld>
            <a:endParaRPr lang="en-US"/>
          </a:p>
        </p:txBody>
      </p:sp>
      <p:sp>
        <p:nvSpPr>
          <p:cNvPr id="7" name="Footer Placeholder 6"/>
          <p:cNvSpPr>
            <a:spLocks noGrp="1"/>
          </p:cNvSpPr>
          <p:nvPr>
            <p:ph type="ftr" sz="quarter" idx="11"/>
          </p:nvPr>
        </p:nvSpPr>
        <p:spPr/>
        <p:txBody>
          <a:bodyPr/>
          <a:lstStyle/>
          <a:p>
            <a:r>
              <a:rPr lang="en-US" smtClean="0"/>
              <a:t>Dr.B.Madhura, MBA</a:t>
            </a:r>
            <a:endParaRPr lang="en-US"/>
          </a:p>
        </p:txBody>
      </p:sp>
      <p:sp>
        <p:nvSpPr>
          <p:cNvPr id="8" name="Slide Number Placeholder 7"/>
          <p:cNvSpPr>
            <a:spLocks noGrp="1"/>
          </p:cNvSpPr>
          <p:nvPr>
            <p:ph type="sldNum" sz="quarter" idx="12"/>
          </p:nvPr>
        </p:nvSpPr>
        <p:spPr/>
        <p:txBody>
          <a:bodyPr/>
          <a:lstStyle/>
          <a:p>
            <a:fld id="{D4EFF482-3786-46E7-9869-AFA9F18680F5}" type="slidenum">
              <a:rPr lang="en-US" smtClean="0"/>
              <a:pPr/>
              <a:t>25</a:t>
            </a:fld>
            <a:endParaRPr lang="en-US"/>
          </a:p>
        </p:txBody>
      </p:sp>
      <p:sp>
        <p:nvSpPr>
          <p:cNvPr id="11" name="Content Placeholder 10"/>
          <p:cNvSpPr>
            <a:spLocks noGrp="1"/>
          </p:cNvSpPr>
          <p:nvPr>
            <p:ph sz="quarter" idx="1"/>
          </p:nvPr>
        </p:nvSpPr>
        <p:spPr>
          <a:xfrm>
            <a:off x="228600" y="1371600"/>
            <a:ext cx="8686800" cy="4727448"/>
          </a:xfrm>
        </p:spPr>
        <p:txBody>
          <a:bodyPr>
            <a:normAutofit/>
          </a:bodyPr>
          <a:lstStyle/>
          <a:p>
            <a:pPr marL="0" indent="0">
              <a:buNone/>
            </a:pPr>
            <a:r>
              <a:rPr lang="en-US" sz="2400" b="1" dirty="0"/>
              <a:t>How to Identify </a:t>
            </a:r>
            <a:r>
              <a:rPr lang="en-US" sz="2400" b="1" dirty="0" smtClean="0"/>
              <a:t>Insight and Opportunities?</a:t>
            </a:r>
          </a:p>
          <a:p>
            <a:pPr marL="0" indent="0">
              <a:buNone/>
            </a:pPr>
            <a:endParaRPr lang="en-US" sz="2400" b="1" dirty="0"/>
          </a:p>
          <a:p>
            <a:pPr marL="0" indent="0">
              <a:buNone/>
            </a:pPr>
            <a:r>
              <a:rPr lang="en-US" sz="2400" b="1" dirty="0"/>
              <a:t>Common Methods</a:t>
            </a:r>
          </a:p>
          <a:p>
            <a:pPr marL="715963" indent="-265113"/>
            <a:r>
              <a:rPr lang="en-US" sz="2400" dirty="0"/>
              <a:t>👀 Observe customer behavior </a:t>
            </a:r>
          </a:p>
          <a:p>
            <a:pPr marL="715963" indent="-265113"/>
            <a:r>
              <a:rPr lang="en-US" sz="2400" dirty="0"/>
              <a:t>📊 Conduct market research </a:t>
            </a:r>
          </a:p>
          <a:p>
            <a:pPr marL="715963" indent="-265113"/>
            <a:r>
              <a:rPr lang="en-US" sz="2400" dirty="0"/>
              <a:t>💡 Brainstorm ideas </a:t>
            </a:r>
          </a:p>
          <a:p>
            <a:pPr marL="715963" indent="-265113"/>
            <a:r>
              <a:rPr lang="en-US" sz="2400" dirty="0"/>
              <a:t>🤝 Network with customers and experts </a:t>
            </a:r>
          </a:p>
          <a:p>
            <a:pPr marL="715963" indent="-265113"/>
            <a:r>
              <a:rPr lang="en-US" sz="2400" dirty="0"/>
              <a:t>🌐 Monitor industry and technology trends</a:t>
            </a:r>
          </a:p>
          <a:p>
            <a:pPr marL="715963" indent="-265113">
              <a:buNone/>
            </a:pPr>
            <a:endParaRPr lang="en-US" sz="2400" dirty="0">
              <a:effectLst/>
            </a:endParaRPr>
          </a:p>
        </p:txBody>
      </p:sp>
    </p:spTree>
    <p:extLst>
      <p:ext uri="{BB962C8B-B14F-4D97-AF65-F5344CB8AC3E}">
        <p14:creationId xmlns:p14="http://schemas.microsoft.com/office/powerpoint/2010/main" val="1024384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z="3600" b="1" dirty="0">
                <a:solidFill>
                  <a:schemeClr val="tx1"/>
                </a:solidFill>
                <a:latin typeface="Times New Roman" pitchFamily="18" charset="0"/>
                <a:cs typeface="Times New Roman" pitchFamily="18" charset="0"/>
              </a:rPr>
              <a:t>Identify Insights And Opportunities</a:t>
            </a:r>
            <a:endParaRPr lang="en-IN" b="1" dirty="0"/>
          </a:p>
        </p:txBody>
      </p:sp>
      <p:sp>
        <p:nvSpPr>
          <p:cNvPr id="6" name="Date Placeholder 5"/>
          <p:cNvSpPr>
            <a:spLocks noGrp="1"/>
          </p:cNvSpPr>
          <p:nvPr>
            <p:ph type="dt" sz="half" idx="10"/>
          </p:nvPr>
        </p:nvSpPr>
        <p:spPr/>
        <p:txBody>
          <a:bodyPr/>
          <a:lstStyle/>
          <a:p>
            <a:fld id="{09B3F2E3-61A1-4FF2-B72C-359E78023F58}" type="datetime1">
              <a:rPr lang="en-US" smtClean="0"/>
              <a:t>7/8/2026</a:t>
            </a:fld>
            <a:endParaRPr lang="en-US"/>
          </a:p>
        </p:txBody>
      </p:sp>
      <p:sp>
        <p:nvSpPr>
          <p:cNvPr id="7" name="Footer Placeholder 6"/>
          <p:cNvSpPr>
            <a:spLocks noGrp="1"/>
          </p:cNvSpPr>
          <p:nvPr>
            <p:ph type="ftr" sz="quarter" idx="11"/>
          </p:nvPr>
        </p:nvSpPr>
        <p:spPr/>
        <p:txBody>
          <a:bodyPr/>
          <a:lstStyle/>
          <a:p>
            <a:r>
              <a:rPr lang="en-US" smtClean="0"/>
              <a:t>Dr.B.Madhura, MBA</a:t>
            </a:r>
            <a:endParaRPr lang="en-US"/>
          </a:p>
        </p:txBody>
      </p:sp>
      <p:sp>
        <p:nvSpPr>
          <p:cNvPr id="8" name="Slide Number Placeholder 7"/>
          <p:cNvSpPr>
            <a:spLocks noGrp="1"/>
          </p:cNvSpPr>
          <p:nvPr>
            <p:ph type="sldNum" sz="quarter" idx="12"/>
          </p:nvPr>
        </p:nvSpPr>
        <p:spPr/>
        <p:txBody>
          <a:bodyPr/>
          <a:lstStyle/>
          <a:p>
            <a:fld id="{D4EFF482-3786-46E7-9869-AFA9F18680F5}" type="slidenum">
              <a:rPr lang="en-US" smtClean="0"/>
              <a:pPr/>
              <a:t>26</a:t>
            </a:fld>
            <a:endParaRPr lang="en-US"/>
          </a:p>
        </p:txBody>
      </p:sp>
      <p:sp>
        <p:nvSpPr>
          <p:cNvPr id="11" name="Content Placeholder 10"/>
          <p:cNvSpPr>
            <a:spLocks noGrp="1"/>
          </p:cNvSpPr>
          <p:nvPr>
            <p:ph sz="quarter" idx="1"/>
          </p:nvPr>
        </p:nvSpPr>
        <p:spPr>
          <a:xfrm>
            <a:off x="228600" y="1371600"/>
            <a:ext cx="8686800" cy="4727448"/>
          </a:xfrm>
        </p:spPr>
        <p:txBody>
          <a:bodyPr>
            <a:normAutofit/>
          </a:bodyPr>
          <a:lstStyle/>
          <a:p>
            <a:pPr marL="0" indent="0">
              <a:buNone/>
            </a:pPr>
            <a:endParaRPr lang="en-US" sz="2400" dirty="0">
              <a:effectLst/>
            </a:endParaRPr>
          </a:p>
        </p:txBody>
      </p:sp>
    </p:spTree>
    <p:extLst>
      <p:ext uri="{BB962C8B-B14F-4D97-AF65-F5344CB8AC3E}">
        <p14:creationId xmlns:p14="http://schemas.microsoft.com/office/powerpoint/2010/main" val="986319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Identify Insights And Opportunities</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1066800"/>
            <a:ext cx="8229600" cy="5562600"/>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0" indent="0">
              <a:buNone/>
            </a:pPr>
            <a:r>
              <a:rPr lang="en-US" sz="2400" b="1" dirty="0"/>
              <a:t>What is an Insight?</a:t>
            </a:r>
          </a:p>
          <a:p>
            <a:pPr>
              <a:buFont typeface="Wingdings" pitchFamily="2" charset="2"/>
              <a:buChar char="Ø"/>
            </a:pPr>
            <a:r>
              <a:rPr lang="en-US" sz="2400" dirty="0"/>
              <a:t>An insight is defined as the aspects and </a:t>
            </a:r>
            <a:r>
              <a:rPr lang="en-US" sz="2400" b="1" dirty="0"/>
              <a:t>characteristics</a:t>
            </a:r>
            <a:r>
              <a:rPr lang="en-US" sz="2400" dirty="0"/>
              <a:t> of </a:t>
            </a:r>
            <a:r>
              <a:rPr lang="en-US" sz="2400" b="1" dirty="0" smtClean="0"/>
              <a:t>consumer </a:t>
            </a:r>
            <a:r>
              <a:rPr lang="en-US" sz="2400" dirty="0" smtClean="0"/>
              <a:t>and </a:t>
            </a:r>
            <a:r>
              <a:rPr lang="en-US" sz="2400" dirty="0"/>
              <a:t>customer behavior that are typically “</a:t>
            </a:r>
            <a:r>
              <a:rPr lang="en-US" sz="2400" b="1" dirty="0"/>
              <a:t>hidden</a:t>
            </a:r>
            <a:r>
              <a:rPr lang="en-US" sz="2400" dirty="0" smtClean="0"/>
              <a:t>.”</a:t>
            </a:r>
          </a:p>
          <a:p>
            <a:pPr>
              <a:buFont typeface="Wingdings" pitchFamily="2" charset="2"/>
              <a:buChar char="Ø"/>
            </a:pPr>
            <a:endParaRPr lang="en-US" sz="2400" dirty="0" smtClean="0"/>
          </a:p>
          <a:p>
            <a:pPr marL="0" indent="0">
              <a:buNone/>
            </a:pPr>
            <a:r>
              <a:rPr lang="en-US" sz="2400" b="1" dirty="0"/>
              <a:t>Definition of Insight</a:t>
            </a:r>
          </a:p>
          <a:p>
            <a:pPr>
              <a:buFont typeface="Wingdings" pitchFamily="2" charset="2"/>
              <a:buChar char="§"/>
            </a:pPr>
            <a:r>
              <a:rPr lang="en-US" sz="2400" dirty="0"/>
              <a:t>An </a:t>
            </a:r>
            <a:r>
              <a:rPr lang="en-US" sz="2400" b="1" dirty="0"/>
              <a:t>insight</a:t>
            </a:r>
            <a:r>
              <a:rPr lang="en-US" sz="2400" dirty="0"/>
              <a:t> is a deep </a:t>
            </a:r>
            <a:r>
              <a:rPr lang="en-US" sz="2400" b="1" dirty="0"/>
              <a:t>understanding</a:t>
            </a:r>
            <a:r>
              <a:rPr lang="en-US" sz="2400" dirty="0"/>
              <a:t> of customer </a:t>
            </a:r>
            <a:r>
              <a:rPr lang="en-US" sz="2400" b="1" dirty="0"/>
              <a:t>behavior</a:t>
            </a:r>
            <a:r>
              <a:rPr lang="en-US" sz="2400" dirty="0"/>
              <a:t>, needs, problems, desires, or market trends that can lead to a business idea.</a:t>
            </a:r>
          </a:p>
          <a:p>
            <a:pPr marL="0" indent="0">
              <a:buNone/>
            </a:pPr>
            <a:endParaRPr lang="en-US" sz="2400" b="1" dirty="0" smtClean="0"/>
          </a:p>
          <a:p>
            <a:pPr marL="0" indent="0">
              <a:buNone/>
            </a:pPr>
            <a:r>
              <a:rPr lang="en-US" sz="2400" b="1" dirty="0" smtClean="0"/>
              <a:t>Definition </a:t>
            </a:r>
            <a:r>
              <a:rPr lang="en-US" sz="2400" b="1" dirty="0"/>
              <a:t>of Opportunity</a:t>
            </a:r>
          </a:p>
          <a:p>
            <a:pPr>
              <a:buFont typeface="Wingdings" pitchFamily="2" charset="2"/>
              <a:buChar char="§"/>
            </a:pPr>
            <a:r>
              <a:rPr lang="en-US" sz="2400" dirty="0"/>
              <a:t>An </a:t>
            </a:r>
            <a:r>
              <a:rPr lang="en-US" sz="2400" b="1" dirty="0"/>
              <a:t>opportunity</a:t>
            </a:r>
            <a:r>
              <a:rPr lang="en-US" sz="2400" dirty="0"/>
              <a:t> is a favorable set of </a:t>
            </a:r>
            <a:r>
              <a:rPr lang="en-US" sz="2400" b="1" dirty="0"/>
              <a:t>circumstances</a:t>
            </a:r>
            <a:r>
              <a:rPr lang="en-US" sz="2400" dirty="0"/>
              <a:t> that creates a need for a new product, service, or business venture.</a:t>
            </a:r>
          </a:p>
          <a:p>
            <a:pPr marL="0" indent="0">
              <a:buNone/>
            </a:pPr>
            <a:r>
              <a:rPr lang="en-US" sz="2400" b="1" dirty="0"/>
              <a:t>Example</a:t>
            </a:r>
          </a:p>
          <a:p>
            <a:pPr>
              <a:buFont typeface="Wingdings" pitchFamily="2" charset="2"/>
              <a:buChar char="§"/>
            </a:pPr>
            <a:r>
              <a:rPr lang="en-US" sz="2400" dirty="0"/>
              <a:t>Insight: People dislike waiting in long queues for food. </a:t>
            </a:r>
          </a:p>
          <a:p>
            <a:pPr>
              <a:buFont typeface="Wingdings" pitchFamily="2" charset="2"/>
              <a:buChar char="§"/>
            </a:pPr>
            <a:r>
              <a:rPr lang="en-US" sz="2400" dirty="0"/>
              <a:t>Opportunity: Develop a food delivery app that delivers meals quickly.</a:t>
            </a:r>
          </a:p>
          <a:p>
            <a:pPr>
              <a:buFont typeface="Wingdings" pitchFamily="2" charset="2"/>
              <a:buChar char="Ø"/>
            </a:pPr>
            <a:endParaRPr lang="en-US" sz="2400" dirty="0" smtClean="0"/>
          </a:p>
          <a:p>
            <a:pPr>
              <a:buFont typeface="Wingdings" pitchFamily="2" charset="2"/>
              <a:buChar char="Ø"/>
            </a:pPr>
            <a:endParaRPr lang="en-US" sz="2400" dirty="0"/>
          </a:p>
        </p:txBody>
      </p:sp>
      <p:sp>
        <p:nvSpPr>
          <p:cNvPr id="4" name="Date Placeholder 3"/>
          <p:cNvSpPr>
            <a:spLocks noGrp="1"/>
          </p:cNvSpPr>
          <p:nvPr>
            <p:ph type="dt" sz="half" idx="10"/>
          </p:nvPr>
        </p:nvSpPr>
        <p:spPr/>
        <p:txBody>
          <a:bodyPr/>
          <a:lstStyle/>
          <a:p>
            <a:fld id="{86F563F8-2FAE-4B8C-BE50-FBB8C66D54F9}"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27</a:t>
            </a:fld>
            <a:endParaRPr lang="en-US"/>
          </a:p>
        </p:txBody>
      </p:sp>
    </p:spTree>
    <p:extLst>
      <p:ext uri="{BB962C8B-B14F-4D97-AF65-F5344CB8AC3E}">
        <p14:creationId xmlns:p14="http://schemas.microsoft.com/office/powerpoint/2010/main" val="1707556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Identify Insights And Opportunities</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1066800"/>
            <a:ext cx="8229600" cy="5410200"/>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en-US" sz="2400" b="1" i="1" dirty="0" smtClean="0"/>
              <a:t>Where </a:t>
            </a:r>
            <a:r>
              <a:rPr lang="en-US" sz="2400" b="1" i="1" dirty="0"/>
              <a:t>Do Insights Come From?</a:t>
            </a:r>
            <a:endParaRPr lang="en-US" sz="2400" b="1" dirty="0"/>
          </a:p>
          <a:p>
            <a:pPr>
              <a:buFont typeface="Wingdings" pitchFamily="2" charset="2"/>
              <a:buChar char="§"/>
            </a:pPr>
            <a:r>
              <a:rPr lang="en-US" sz="2400" b="1" dirty="0" smtClean="0">
                <a:hlinkClick r:id="rId2"/>
              </a:rPr>
              <a:t>Customer </a:t>
            </a:r>
            <a:r>
              <a:rPr lang="en-US" sz="2400" b="1" dirty="0">
                <a:hlinkClick r:id="rId2"/>
              </a:rPr>
              <a:t>Databases</a:t>
            </a:r>
            <a:r>
              <a:rPr lang="en-US" sz="2400" b="1" dirty="0"/>
              <a:t>:</a:t>
            </a:r>
            <a:r>
              <a:rPr lang="en-US" sz="2400" dirty="0"/>
              <a:t> These can tell us the identity of our consumers, the nature of our relationship with them, their transactions, and the value of those transactions.</a:t>
            </a:r>
          </a:p>
          <a:p>
            <a:pPr>
              <a:buFont typeface="Wingdings" pitchFamily="2" charset="2"/>
              <a:buChar char="§"/>
            </a:pPr>
            <a:r>
              <a:rPr lang="en-US" sz="2400" b="1" dirty="0"/>
              <a:t>Internal Data:</a:t>
            </a:r>
            <a:r>
              <a:rPr lang="en-US" sz="2400" dirty="0"/>
              <a:t> Various departments within a company can provide significant pieces of knowledge, such as employee interactions, operational constraints, financial implications, and customer complaints.</a:t>
            </a:r>
          </a:p>
          <a:p>
            <a:pPr>
              <a:buFont typeface="Wingdings" pitchFamily="2" charset="2"/>
              <a:buChar char="§"/>
            </a:pPr>
            <a:r>
              <a:rPr lang="en-US" sz="2400" b="1" dirty="0"/>
              <a:t>Market Data:</a:t>
            </a:r>
            <a:r>
              <a:rPr lang="en-US" sz="2400" dirty="0"/>
              <a:t> Companies need an external perspective on market volume and value, their market share, and broader trends (consumer, demographic, economic, technological, etc.).</a:t>
            </a:r>
          </a:p>
          <a:p>
            <a:pPr>
              <a:buFont typeface="Wingdings" pitchFamily="2" charset="2"/>
              <a:buChar char="§"/>
            </a:pPr>
            <a:r>
              <a:rPr lang="en-US" sz="2400" b="1" dirty="0"/>
              <a:t>Consumer Research:</a:t>
            </a:r>
            <a:r>
              <a:rPr lang="en-US" sz="2400" dirty="0"/>
              <a:t> Market research is the backbone of generating insights for many companies, whether quantitative, qualitative,</a:t>
            </a:r>
            <a:r>
              <a:rPr lang="en-US" sz="2400" dirty="0">
                <a:hlinkClick r:id="rId3"/>
              </a:rPr>
              <a:t> ethnographic</a:t>
            </a:r>
            <a:r>
              <a:rPr lang="en-US" sz="2400" dirty="0"/>
              <a:t>, semiotic, or through other methods. This involves talking to consumers to understand why they act the way they do and under what circumstances they might act differently.</a:t>
            </a:r>
          </a:p>
          <a:p>
            <a:pPr>
              <a:buFont typeface="Wingdings" pitchFamily="2" charset="2"/>
              <a:buChar char="Ø"/>
            </a:pPr>
            <a:endParaRPr lang="en-US" sz="2400" dirty="0" smtClean="0"/>
          </a:p>
          <a:p>
            <a:pPr>
              <a:buFont typeface="Wingdings" pitchFamily="2" charset="2"/>
              <a:buChar char="Ø"/>
            </a:pPr>
            <a:endParaRPr lang="en-US" sz="2400" dirty="0"/>
          </a:p>
        </p:txBody>
      </p:sp>
      <p:sp>
        <p:nvSpPr>
          <p:cNvPr id="4" name="Date Placeholder 3"/>
          <p:cNvSpPr>
            <a:spLocks noGrp="1"/>
          </p:cNvSpPr>
          <p:nvPr>
            <p:ph type="dt" sz="half" idx="10"/>
          </p:nvPr>
        </p:nvSpPr>
        <p:spPr/>
        <p:txBody>
          <a:bodyPr/>
          <a:lstStyle/>
          <a:p>
            <a:fld id="{86F563F8-2FAE-4B8C-BE50-FBB8C66D54F9}"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28</a:t>
            </a:fld>
            <a:endParaRPr lang="en-US"/>
          </a:p>
        </p:txBody>
      </p:sp>
    </p:spTree>
    <p:extLst>
      <p:ext uri="{BB962C8B-B14F-4D97-AF65-F5344CB8AC3E}">
        <p14:creationId xmlns:p14="http://schemas.microsoft.com/office/powerpoint/2010/main" val="434073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for Identifying Opportunities</a:t>
            </a:r>
            <a:br>
              <a:rPr lang="en-US" dirty="0"/>
            </a:br>
            <a:endParaRPr lang="en-IN" dirty="0"/>
          </a:p>
        </p:txBody>
      </p:sp>
      <p:sp>
        <p:nvSpPr>
          <p:cNvPr id="3" name="Content Placeholder 2"/>
          <p:cNvSpPr>
            <a:spLocks noGrp="1"/>
          </p:cNvSpPr>
          <p:nvPr>
            <p:ph idx="1"/>
          </p:nvPr>
        </p:nvSpPr>
        <p:spPr/>
        <p:txBody>
          <a:bodyPr>
            <a:normAutofit fontScale="92500" lnSpcReduction="20000"/>
          </a:bodyPr>
          <a:lstStyle/>
          <a:p>
            <a:r>
              <a:rPr lang="en-US" b="1" dirty="0" smtClean="0"/>
              <a:t>A</a:t>
            </a:r>
            <a:r>
              <a:rPr lang="en-US" b="1" dirty="0"/>
              <a:t>. Observation</a:t>
            </a:r>
          </a:p>
          <a:p>
            <a:r>
              <a:rPr lang="en-US" dirty="0"/>
              <a:t>Entrepreneurs carefully observe people, markets, and trends.</a:t>
            </a:r>
          </a:p>
          <a:p>
            <a:pPr marL="0" indent="0">
              <a:buNone/>
            </a:pPr>
            <a:r>
              <a:rPr lang="en-US" b="1" dirty="0"/>
              <a:t>Questions to Ask</a:t>
            </a:r>
          </a:p>
          <a:p>
            <a:r>
              <a:rPr lang="en-US" dirty="0"/>
              <a:t>What frustrates customers? </a:t>
            </a:r>
          </a:p>
          <a:p>
            <a:r>
              <a:rPr lang="en-US" dirty="0"/>
              <a:t>What tasks are difficult? </a:t>
            </a:r>
          </a:p>
          <a:p>
            <a:r>
              <a:rPr lang="en-US" dirty="0"/>
              <a:t>What products are missing? </a:t>
            </a:r>
          </a:p>
          <a:p>
            <a:r>
              <a:rPr lang="en-US" b="1" dirty="0"/>
              <a:t>Example</a:t>
            </a:r>
          </a:p>
          <a:p>
            <a:r>
              <a:rPr lang="en-US" dirty="0"/>
              <a:t>Observing students carrying heavy books may lead to a digital note-sharing platform.</a:t>
            </a:r>
          </a:p>
          <a:p>
            <a:endParaRPr lang="en-IN" dirty="0"/>
          </a:p>
        </p:txBody>
      </p:sp>
      <p:sp>
        <p:nvSpPr>
          <p:cNvPr id="4" name="Date Placeholder 3"/>
          <p:cNvSpPr>
            <a:spLocks noGrp="1"/>
          </p:cNvSpPr>
          <p:nvPr>
            <p:ph type="dt" sz="half" idx="10"/>
          </p:nvPr>
        </p:nvSpPr>
        <p:spPr/>
        <p:txBody>
          <a:bodyPr/>
          <a:lstStyle/>
          <a:p>
            <a:fld id="{B70BEE77-22B6-4ADA-BCB2-D0B5E1AE4982}" type="datetime1">
              <a:rPr lang="en-US" smtClean="0"/>
              <a:t>7/8/2026</a:t>
            </a:fld>
            <a:endParaRPr lang="en-US"/>
          </a:p>
        </p:txBody>
      </p:sp>
      <p:sp>
        <p:nvSpPr>
          <p:cNvPr id="5" name="Footer Placeholder 4"/>
          <p:cNvSpPr>
            <a:spLocks noGrp="1"/>
          </p:cNvSpPr>
          <p:nvPr>
            <p:ph type="ftr" sz="quarter" idx="11"/>
          </p:nvPr>
        </p:nvSpPr>
        <p:spPr/>
        <p:txBody>
          <a:bodyPr/>
          <a:lstStyle/>
          <a:p>
            <a:r>
              <a:rPr lang="en-US" smtClean="0"/>
              <a:t>Dr.B.Madhura, MBA</a:t>
            </a:r>
            <a:endParaRPr lang="en-US"/>
          </a:p>
        </p:txBody>
      </p:sp>
      <p:sp>
        <p:nvSpPr>
          <p:cNvPr id="6" name="Slide Number Placeholder 5"/>
          <p:cNvSpPr>
            <a:spLocks noGrp="1"/>
          </p:cNvSpPr>
          <p:nvPr>
            <p:ph type="sldNum" sz="quarter" idx="12"/>
          </p:nvPr>
        </p:nvSpPr>
        <p:spPr/>
        <p:txBody>
          <a:bodyPr/>
          <a:lstStyle/>
          <a:p>
            <a:fld id="{D4EFF482-3786-46E7-9869-AFA9F18680F5}" type="slidenum">
              <a:rPr lang="en-US" smtClean="0"/>
              <a:pPr/>
              <a:t>29</a:t>
            </a:fld>
            <a:endParaRPr lang="en-US"/>
          </a:p>
        </p:txBody>
      </p:sp>
    </p:spTree>
    <p:extLst>
      <p:ext uri="{BB962C8B-B14F-4D97-AF65-F5344CB8AC3E}">
        <p14:creationId xmlns:p14="http://schemas.microsoft.com/office/powerpoint/2010/main" val="39359102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Identify Insights And Opportunities</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1066800"/>
            <a:ext cx="8229600" cy="5410200"/>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sz="2400" b="1" dirty="0"/>
              <a:t>B. Brainstorming</a:t>
            </a:r>
          </a:p>
          <a:p>
            <a:r>
              <a:rPr lang="en-US" sz="2400" dirty="0"/>
              <a:t>Generating multiple ideas without immediate criticism.</a:t>
            </a:r>
          </a:p>
          <a:p>
            <a:r>
              <a:rPr lang="en-US" sz="2400" b="1" dirty="0"/>
              <a:t>Steps</a:t>
            </a:r>
          </a:p>
          <a:p>
            <a:r>
              <a:rPr lang="en-US" sz="2400" dirty="0"/>
              <a:t>Identify a problem. </a:t>
            </a:r>
          </a:p>
          <a:p>
            <a:r>
              <a:rPr lang="en-US" sz="2400" dirty="0"/>
              <a:t>Generate many solutions. </a:t>
            </a:r>
          </a:p>
          <a:p>
            <a:r>
              <a:rPr lang="en-US" sz="2400" dirty="0"/>
              <a:t>Evaluate later. </a:t>
            </a:r>
          </a:p>
          <a:p>
            <a:r>
              <a:rPr lang="en-US" sz="2400" dirty="0"/>
              <a:t>Select the best idea. </a:t>
            </a:r>
          </a:p>
          <a:p>
            <a:r>
              <a:rPr lang="en-US" sz="2400" b="1" dirty="0"/>
              <a:t>Benefits</a:t>
            </a:r>
          </a:p>
          <a:p>
            <a:r>
              <a:rPr lang="en-US" sz="2400" dirty="0"/>
              <a:t>Encourages creativity. </a:t>
            </a:r>
          </a:p>
          <a:p>
            <a:r>
              <a:rPr lang="en-US" sz="2400" dirty="0"/>
              <a:t>Produces innovative ideas. </a:t>
            </a:r>
          </a:p>
        </p:txBody>
      </p:sp>
      <p:sp>
        <p:nvSpPr>
          <p:cNvPr id="4" name="Date Placeholder 3"/>
          <p:cNvSpPr>
            <a:spLocks noGrp="1"/>
          </p:cNvSpPr>
          <p:nvPr>
            <p:ph type="dt" sz="half" idx="10"/>
          </p:nvPr>
        </p:nvSpPr>
        <p:spPr/>
        <p:txBody>
          <a:bodyPr/>
          <a:lstStyle/>
          <a:p>
            <a:fld id="{86F563F8-2FAE-4B8C-BE50-FBB8C66D54F9}"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30</a:t>
            </a:fld>
            <a:endParaRPr lang="en-US"/>
          </a:p>
        </p:txBody>
      </p:sp>
      <p:sp>
        <p:nvSpPr>
          <p:cNvPr id="6" name="Footer Placeholder 5">
            <a:extLst>
              <a:ext uri="{FF2B5EF4-FFF2-40B4-BE49-F238E27FC236}">
                <a16:creationId xmlns:a16="http://schemas.microsoft.com/office/drawing/2014/main" xmlns="" id="{7A9AA4F2-8603-4196-A04D-1ED4C958BB58}"/>
              </a:ext>
            </a:extLst>
          </p:cNvPr>
          <p:cNvSpPr>
            <a:spLocks noGrp="1"/>
          </p:cNvSpPr>
          <p:nvPr>
            <p:ph type="ftr" sz="quarter" idx="11"/>
          </p:nvPr>
        </p:nvSpPr>
        <p:spPr/>
        <p:txBody>
          <a:bodyPr/>
          <a:lstStyle/>
          <a:p>
            <a:r>
              <a:rPr lang="en-US" dirty="0" smtClean="0"/>
              <a:t>Dr. S. </a:t>
            </a:r>
            <a:r>
              <a:rPr lang="en-US" dirty="0" err="1" smtClean="0"/>
              <a:t>Vijaya</a:t>
            </a:r>
            <a:r>
              <a:rPr lang="en-US" dirty="0" smtClean="0"/>
              <a:t> </a:t>
            </a:r>
            <a:r>
              <a:rPr lang="en-US" dirty="0" err="1" smtClean="0"/>
              <a:t>Bhaskar</a:t>
            </a:r>
            <a:endParaRPr lang="en-US" dirty="0"/>
          </a:p>
        </p:txBody>
      </p:sp>
    </p:spTree>
    <p:extLst>
      <p:ext uri="{BB962C8B-B14F-4D97-AF65-F5344CB8AC3E}">
        <p14:creationId xmlns:p14="http://schemas.microsoft.com/office/powerpoint/2010/main" val="4139105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Identify Insights And Opportunities</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1066800"/>
            <a:ext cx="8229600" cy="5410200"/>
          </a:xfrm>
        </p:spPr>
        <p:style>
          <a:lnRef idx="2">
            <a:schemeClr val="accent1"/>
          </a:lnRef>
          <a:fillRef idx="1">
            <a:schemeClr val="lt1"/>
          </a:fillRef>
          <a:effectRef idx="0">
            <a:schemeClr val="accent1"/>
          </a:effectRef>
          <a:fontRef idx="minor">
            <a:schemeClr val="dk1"/>
          </a:fontRef>
        </p:style>
        <p:txBody>
          <a:bodyPr>
            <a:normAutofit/>
          </a:bodyPr>
          <a:lstStyle/>
          <a:p>
            <a:r>
              <a:rPr lang="en-US" sz="2400" b="1" dirty="0"/>
              <a:t>C. Market Research</a:t>
            </a:r>
          </a:p>
          <a:p>
            <a:r>
              <a:rPr lang="en-US" sz="2400" dirty="0"/>
              <a:t>Systematic collection of information about customers and competitors.</a:t>
            </a:r>
          </a:p>
          <a:p>
            <a:r>
              <a:rPr lang="en-US" sz="2400" b="1" dirty="0"/>
              <a:t>Research Methods</a:t>
            </a:r>
          </a:p>
          <a:p>
            <a:r>
              <a:rPr lang="en-US" sz="2400" dirty="0"/>
              <a:t>Surveys </a:t>
            </a:r>
          </a:p>
          <a:p>
            <a:r>
              <a:rPr lang="en-US" sz="2400" dirty="0"/>
              <a:t>Interviews </a:t>
            </a:r>
          </a:p>
          <a:p>
            <a:r>
              <a:rPr lang="en-US" sz="2400" dirty="0"/>
              <a:t>Focus groups </a:t>
            </a:r>
          </a:p>
          <a:p>
            <a:r>
              <a:rPr lang="en-US" sz="2400" dirty="0"/>
              <a:t>Online research </a:t>
            </a:r>
          </a:p>
          <a:p>
            <a:r>
              <a:rPr lang="en-US" sz="2400" b="1" dirty="0"/>
              <a:t>Benefits</a:t>
            </a:r>
          </a:p>
          <a:p>
            <a:r>
              <a:rPr lang="en-US" sz="2400" dirty="0"/>
              <a:t>Reduces uncertainty. </a:t>
            </a:r>
          </a:p>
          <a:p>
            <a:r>
              <a:rPr lang="en-US" sz="2400" dirty="0"/>
              <a:t>Validates business ideas. </a:t>
            </a:r>
          </a:p>
          <a:p>
            <a:r>
              <a:rPr lang="en-US" sz="2400" b="1" dirty="0" smtClean="0"/>
              <a:t> </a:t>
            </a:r>
            <a:endParaRPr lang="en-US" sz="2400" b="1" dirty="0"/>
          </a:p>
          <a:p>
            <a:pPr marL="0" indent="0">
              <a:buNone/>
            </a:pPr>
            <a:endParaRPr lang="en-US" sz="2400" dirty="0"/>
          </a:p>
        </p:txBody>
      </p:sp>
      <p:sp>
        <p:nvSpPr>
          <p:cNvPr id="4" name="Date Placeholder 3"/>
          <p:cNvSpPr>
            <a:spLocks noGrp="1"/>
          </p:cNvSpPr>
          <p:nvPr>
            <p:ph type="dt" sz="half" idx="10"/>
          </p:nvPr>
        </p:nvSpPr>
        <p:spPr/>
        <p:txBody>
          <a:bodyPr/>
          <a:lstStyle/>
          <a:p>
            <a:fld id="{86F563F8-2FAE-4B8C-BE50-FBB8C66D54F9}"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31</a:t>
            </a:fld>
            <a:endParaRPr lang="en-US"/>
          </a:p>
        </p:txBody>
      </p:sp>
      <p:sp>
        <p:nvSpPr>
          <p:cNvPr id="6" name="Footer Placeholder 5">
            <a:extLst>
              <a:ext uri="{FF2B5EF4-FFF2-40B4-BE49-F238E27FC236}">
                <a16:creationId xmlns:a16="http://schemas.microsoft.com/office/drawing/2014/main" xmlns="" id="{7A9AA4F2-8603-4196-A04D-1ED4C958BB58}"/>
              </a:ext>
            </a:extLst>
          </p:cNvPr>
          <p:cNvSpPr>
            <a:spLocks noGrp="1"/>
          </p:cNvSpPr>
          <p:nvPr>
            <p:ph type="ftr" sz="quarter" idx="11"/>
          </p:nvPr>
        </p:nvSpPr>
        <p:spPr/>
        <p:txBody>
          <a:bodyPr/>
          <a:lstStyle/>
          <a:p>
            <a:r>
              <a:rPr lang="en-US" dirty="0" smtClean="0"/>
              <a:t>Dr. S. </a:t>
            </a:r>
            <a:r>
              <a:rPr lang="en-US" dirty="0" err="1" smtClean="0"/>
              <a:t>Vijaya</a:t>
            </a:r>
            <a:r>
              <a:rPr lang="en-US" dirty="0" smtClean="0"/>
              <a:t> </a:t>
            </a:r>
            <a:r>
              <a:rPr lang="en-US" dirty="0" err="1" smtClean="0"/>
              <a:t>Bhaskar</a:t>
            </a:r>
            <a:endParaRPr lang="en-US" dirty="0"/>
          </a:p>
        </p:txBody>
      </p:sp>
    </p:spTree>
    <p:extLst>
      <p:ext uri="{BB962C8B-B14F-4D97-AF65-F5344CB8AC3E}">
        <p14:creationId xmlns:p14="http://schemas.microsoft.com/office/powerpoint/2010/main" val="29166279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Identify Insights And Opportunities</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1066800"/>
            <a:ext cx="8229600" cy="5410200"/>
          </a:xfrm>
        </p:spPr>
        <p:style>
          <a:lnRef idx="2">
            <a:schemeClr val="accent1"/>
          </a:lnRef>
          <a:fillRef idx="1">
            <a:schemeClr val="lt1"/>
          </a:fillRef>
          <a:effectRef idx="0">
            <a:schemeClr val="accent1"/>
          </a:effectRef>
          <a:fontRef idx="minor">
            <a:schemeClr val="dk1"/>
          </a:fontRef>
        </p:style>
        <p:txBody>
          <a:bodyPr>
            <a:normAutofit/>
          </a:bodyPr>
          <a:lstStyle/>
          <a:p>
            <a:r>
              <a:rPr lang="en-US" sz="2400" b="1" dirty="0"/>
              <a:t>D. Networking</a:t>
            </a:r>
          </a:p>
          <a:p>
            <a:r>
              <a:rPr lang="en-US" sz="2400" dirty="0"/>
              <a:t>Interacting with people often reveals opportunities.</a:t>
            </a:r>
          </a:p>
          <a:p>
            <a:r>
              <a:rPr lang="en-US" sz="2400" b="1" dirty="0"/>
              <a:t>Sources</a:t>
            </a:r>
          </a:p>
          <a:p>
            <a:r>
              <a:rPr lang="en-US" sz="2400" dirty="0"/>
              <a:t>Customers </a:t>
            </a:r>
          </a:p>
          <a:p>
            <a:r>
              <a:rPr lang="en-US" sz="2400" dirty="0"/>
              <a:t>Suppliers </a:t>
            </a:r>
          </a:p>
          <a:p>
            <a:r>
              <a:rPr lang="en-US" sz="2400" dirty="0"/>
              <a:t>Industry experts </a:t>
            </a:r>
          </a:p>
          <a:p>
            <a:r>
              <a:rPr lang="en-US" sz="2400" dirty="0"/>
              <a:t>Mentors </a:t>
            </a:r>
          </a:p>
          <a:p>
            <a:r>
              <a:rPr lang="en-US" sz="2400" dirty="0"/>
              <a:t>Entrepreneurs </a:t>
            </a:r>
          </a:p>
          <a:p>
            <a:r>
              <a:rPr lang="en-US" sz="2400" b="1" dirty="0"/>
              <a:t>Benefit</a:t>
            </a:r>
          </a:p>
          <a:p>
            <a:r>
              <a:rPr lang="en-US" sz="2400"/>
              <a:t>Access to information, ideas, and partnerships.</a:t>
            </a:r>
          </a:p>
          <a:p>
            <a:pPr marL="0" indent="0">
              <a:buNone/>
            </a:pPr>
            <a:endParaRPr lang="en-US" sz="2400" dirty="0"/>
          </a:p>
        </p:txBody>
      </p:sp>
      <p:sp>
        <p:nvSpPr>
          <p:cNvPr id="4" name="Date Placeholder 3"/>
          <p:cNvSpPr>
            <a:spLocks noGrp="1"/>
          </p:cNvSpPr>
          <p:nvPr>
            <p:ph type="dt" sz="half" idx="10"/>
          </p:nvPr>
        </p:nvSpPr>
        <p:spPr/>
        <p:txBody>
          <a:bodyPr/>
          <a:lstStyle/>
          <a:p>
            <a:fld id="{86F563F8-2FAE-4B8C-BE50-FBB8C66D54F9}"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32</a:t>
            </a:fld>
            <a:endParaRPr lang="en-US"/>
          </a:p>
        </p:txBody>
      </p:sp>
      <p:sp>
        <p:nvSpPr>
          <p:cNvPr id="6" name="Footer Placeholder 5">
            <a:extLst>
              <a:ext uri="{FF2B5EF4-FFF2-40B4-BE49-F238E27FC236}">
                <a16:creationId xmlns:a16="http://schemas.microsoft.com/office/drawing/2014/main" xmlns="" id="{7A9AA4F2-8603-4196-A04D-1ED4C958BB58}"/>
              </a:ext>
            </a:extLst>
          </p:cNvPr>
          <p:cNvSpPr>
            <a:spLocks noGrp="1"/>
          </p:cNvSpPr>
          <p:nvPr>
            <p:ph type="ftr" sz="quarter" idx="11"/>
          </p:nvPr>
        </p:nvSpPr>
        <p:spPr/>
        <p:txBody>
          <a:bodyPr/>
          <a:lstStyle/>
          <a:p>
            <a:r>
              <a:rPr lang="en-US" dirty="0" smtClean="0"/>
              <a:t>Dr. S. </a:t>
            </a:r>
            <a:r>
              <a:rPr lang="en-US" dirty="0" err="1" smtClean="0"/>
              <a:t>Vijaya</a:t>
            </a:r>
            <a:r>
              <a:rPr lang="en-US" dirty="0" smtClean="0"/>
              <a:t> </a:t>
            </a:r>
            <a:r>
              <a:rPr lang="en-US" dirty="0" err="1" smtClean="0"/>
              <a:t>Bhaskar</a:t>
            </a:r>
            <a:endParaRPr lang="en-US" dirty="0"/>
          </a:p>
        </p:txBody>
      </p:sp>
    </p:spTree>
    <p:extLst>
      <p:ext uri="{BB962C8B-B14F-4D97-AF65-F5344CB8AC3E}">
        <p14:creationId xmlns:p14="http://schemas.microsoft.com/office/powerpoint/2010/main" val="11305390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Identify Insights And Opportunities</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1066800"/>
            <a:ext cx="8229600" cy="5410200"/>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457200" indent="-457200">
              <a:buNone/>
            </a:pPr>
            <a:r>
              <a:rPr lang="en-US" sz="2400" dirty="0">
                <a:solidFill>
                  <a:srgbClr val="C00000"/>
                </a:solidFill>
                <a:latin typeface="Times New Roman" pitchFamily="18" charset="0"/>
                <a:cs typeface="Times New Roman" pitchFamily="18" charset="0"/>
              </a:rPr>
              <a:t>Opportunity Area:</a:t>
            </a:r>
          </a:p>
          <a:p>
            <a:pPr marL="457200" indent="-457200">
              <a:buFont typeface="+mj-lt"/>
              <a:buAutoNum type="arabicPeriod"/>
            </a:pPr>
            <a:r>
              <a:rPr lang="en-US" sz="2400" dirty="0">
                <a:latin typeface="Times New Roman" pitchFamily="18" charset="0"/>
                <a:cs typeface="Times New Roman" pitchFamily="18" charset="0"/>
              </a:rPr>
              <a:t>An opportunity area is a stepping stone to idea generation.</a:t>
            </a:r>
          </a:p>
          <a:p>
            <a:pPr marL="457200" indent="-457200">
              <a:buFont typeface="+mj-lt"/>
              <a:buAutoNum type="arabicPeriod"/>
            </a:pPr>
            <a:r>
              <a:rPr lang="en-US" sz="2400" dirty="0">
                <a:latin typeface="Times New Roman" pitchFamily="18" charset="0"/>
                <a:cs typeface="Times New Roman" pitchFamily="18" charset="0"/>
              </a:rPr>
              <a:t>An opportunity is a rearticulating of problems or needs in</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 generative, future facing way.</a:t>
            </a:r>
          </a:p>
          <a:p>
            <a:pPr marL="457200" indent="-457200">
              <a:buFont typeface="+mj-lt"/>
              <a:buAutoNum type="arabicPeriod"/>
            </a:pPr>
            <a:r>
              <a:rPr lang="en-US" sz="2400" dirty="0">
                <a:latin typeface="Times New Roman" pitchFamily="18" charset="0"/>
                <a:cs typeface="Times New Roman" pitchFamily="18" charset="0"/>
              </a:rPr>
              <a:t>An opportunity area is not a solution. Rather, it suggests more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than one solution. It allows the team to create many solutions.</a:t>
            </a:r>
          </a:p>
          <a:p>
            <a:pPr marL="457200" indent="-457200">
              <a:buNone/>
            </a:pPr>
            <a:r>
              <a:rPr lang="en-US" sz="2600" dirty="0">
                <a:solidFill>
                  <a:srgbClr val="C00000"/>
                </a:solidFill>
                <a:latin typeface="Times New Roman" pitchFamily="18" charset="0"/>
                <a:cs typeface="Times New Roman" pitchFamily="18" charset="0"/>
              </a:rPr>
              <a:t>Framing opportunity Areas:</a:t>
            </a:r>
            <a:r>
              <a:rPr lang="en-US" sz="2600" dirty="0">
                <a:latin typeface="Times New Roman" pitchFamily="18" charset="0"/>
                <a:cs typeface="Times New Roman" pitchFamily="18" charset="0"/>
              </a:rPr>
              <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Opportunities start with the phrase “How Might We...?”</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to suggest a mindset of possibility.</a:t>
            </a:r>
          </a:p>
          <a:p>
            <a:pPr marL="457200" indent="-457200">
              <a:buNone/>
            </a:pPr>
            <a:r>
              <a:rPr lang="en-US" sz="2600" dirty="0">
                <a:solidFill>
                  <a:srgbClr val="C00000"/>
                </a:solidFill>
                <a:latin typeface="Times New Roman" pitchFamily="18" charset="0"/>
                <a:cs typeface="Times New Roman" pitchFamily="18" charset="0"/>
              </a:rPr>
              <a:t>TIP – 1: </a:t>
            </a:r>
            <a:r>
              <a:rPr lang="en-US" sz="2600" dirty="0">
                <a:latin typeface="Times New Roman" pitchFamily="18" charset="0"/>
                <a:cs typeface="Times New Roman" pitchFamily="18" charset="0"/>
              </a:rPr>
              <a:t>Start each statement with “How Might We...?”</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and abbreviate on post-its to “HMW.”</a:t>
            </a:r>
          </a:p>
          <a:p>
            <a:pPr marL="457200" indent="-457200">
              <a:buNone/>
            </a:pPr>
            <a:r>
              <a:rPr lang="en-US" sz="2600" dirty="0">
                <a:solidFill>
                  <a:srgbClr val="C00000"/>
                </a:solidFill>
                <a:latin typeface="Times New Roman" pitchFamily="18" charset="0"/>
                <a:cs typeface="Times New Roman" pitchFamily="18" charset="0"/>
              </a:rPr>
              <a:t>TIP – 2</a:t>
            </a:r>
            <a:r>
              <a:rPr lang="en-US" sz="2600" dirty="0">
                <a:latin typeface="Times New Roman" pitchFamily="18" charset="0"/>
                <a:cs typeface="Times New Roman" pitchFamily="18" charset="0"/>
              </a:rPr>
              <a:t>: use different color post-its for your opportunity statements than you used for insights. This will help to visually separate insights from opportunities for the next step.</a:t>
            </a:r>
          </a:p>
        </p:txBody>
      </p:sp>
      <p:sp>
        <p:nvSpPr>
          <p:cNvPr id="4" name="Date Placeholder 3"/>
          <p:cNvSpPr>
            <a:spLocks noGrp="1"/>
          </p:cNvSpPr>
          <p:nvPr>
            <p:ph type="dt" sz="half" idx="10"/>
          </p:nvPr>
        </p:nvSpPr>
        <p:spPr/>
        <p:txBody>
          <a:bodyPr/>
          <a:lstStyle/>
          <a:p>
            <a:fld id="{86F563F8-2FAE-4B8C-BE50-FBB8C66D54F9}"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33</a:t>
            </a:fld>
            <a:endParaRPr lang="en-US"/>
          </a:p>
        </p:txBody>
      </p:sp>
      <p:sp>
        <p:nvSpPr>
          <p:cNvPr id="6" name="Footer Placeholder 5">
            <a:extLst>
              <a:ext uri="{FF2B5EF4-FFF2-40B4-BE49-F238E27FC236}">
                <a16:creationId xmlns:a16="http://schemas.microsoft.com/office/drawing/2014/main" xmlns="" id="{7A9AA4F2-8603-4196-A04D-1ED4C958BB58}"/>
              </a:ext>
            </a:extLst>
          </p:cNvPr>
          <p:cNvSpPr>
            <a:spLocks noGrp="1"/>
          </p:cNvSpPr>
          <p:nvPr>
            <p:ph type="ftr" sz="quarter" idx="11"/>
          </p:nvPr>
        </p:nvSpPr>
        <p:spPr/>
        <p:txBody>
          <a:bodyPr/>
          <a:lstStyle/>
          <a:p>
            <a:r>
              <a:rPr lang="en-US" dirty="0" smtClean="0"/>
              <a:t>Dr. S. </a:t>
            </a:r>
            <a:r>
              <a:rPr lang="en-US" dirty="0" err="1" smtClean="0"/>
              <a:t>Vijaya</a:t>
            </a:r>
            <a:r>
              <a:rPr lang="en-US" dirty="0" smtClean="0"/>
              <a:t> </a:t>
            </a:r>
            <a:r>
              <a:rPr lang="en-US" dirty="0" err="1" smtClean="0"/>
              <a:t>Bhaskar</a:t>
            </a:r>
            <a:endParaRPr lang="en-US" dirty="0"/>
          </a:p>
        </p:txBody>
      </p:sp>
    </p:spTree>
    <p:extLst>
      <p:ext uri="{BB962C8B-B14F-4D97-AF65-F5344CB8AC3E}">
        <p14:creationId xmlns:p14="http://schemas.microsoft.com/office/powerpoint/2010/main" val="9859777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Cont…</a:t>
            </a:r>
          </a:p>
        </p:txBody>
      </p:sp>
      <p:sp>
        <p:nvSpPr>
          <p:cNvPr id="3" name="Content Placeholder 2"/>
          <p:cNvSpPr>
            <a:spLocks noGrp="1"/>
          </p:cNvSpPr>
          <p:nvPr>
            <p:ph idx="1"/>
          </p:nvPr>
        </p:nvSpPr>
        <p:spPr>
          <a:xfrm>
            <a:off x="457200" y="914400"/>
            <a:ext cx="8229600" cy="56388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457200" indent="-457200" algn="just">
              <a:buNone/>
            </a:pPr>
            <a:r>
              <a:rPr lang="en-US" sz="2400" dirty="0">
                <a:solidFill>
                  <a:srgbClr val="C00000"/>
                </a:solidFill>
                <a:latin typeface="Times New Roman" pitchFamily="18" charset="0"/>
                <a:cs typeface="Times New Roman" pitchFamily="18" charset="0"/>
              </a:rPr>
              <a:t>TIP -3:</a:t>
            </a:r>
            <a:r>
              <a:rPr lang="en-US" sz="2400" dirty="0">
                <a:latin typeface="Times New Roman" pitchFamily="18" charset="0"/>
                <a:cs typeface="Times New Roman" pitchFamily="18" charset="0"/>
              </a:rPr>
              <a:t> Go for quantity, not quality at this point.</a:t>
            </a:r>
          </a:p>
          <a:p>
            <a:pPr marL="457200" indent="-457200" algn="just">
              <a:buNone/>
            </a:pPr>
            <a:endParaRPr lang="en-US" sz="2400" dirty="0">
              <a:latin typeface="Times New Roman" pitchFamily="18" charset="0"/>
              <a:cs typeface="Times New Roman" pitchFamily="18" charset="0"/>
            </a:endParaRPr>
          </a:p>
          <a:p>
            <a:pPr marL="457200" indent="-457200" algn="just">
              <a:buNone/>
            </a:pPr>
            <a:r>
              <a:rPr lang="en-US" sz="2400" dirty="0">
                <a:solidFill>
                  <a:srgbClr val="C00000"/>
                </a:solidFill>
                <a:latin typeface="Times New Roman" pitchFamily="18" charset="0"/>
                <a:cs typeface="Times New Roman" pitchFamily="18" charset="0"/>
              </a:rPr>
              <a:t>TIP – 4: </a:t>
            </a:r>
            <a:r>
              <a:rPr lang="en-US" sz="2400" dirty="0">
                <a:latin typeface="Times New Roman" pitchFamily="18" charset="0"/>
                <a:cs typeface="Times New Roman" pitchFamily="18" charset="0"/>
              </a:rPr>
              <a:t>When narrowing down the opportunity statements to</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3-5 HMW statements to use in brainstorming, select some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that are intentionally outside of your current projects or</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capabilities. </a:t>
            </a:r>
          </a:p>
          <a:p>
            <a:pPr marL="457200" indent="-457200" algn="just">
              <a:buNone/>
            </a:pPr>
            <a:endParaRPr lang="en-US" sz="2400" dirty="0">
              <a:latin typeface="Times New Roman" pitchFamily="18" charset="0"/>
              <a:cs typeface="Times New Roman" pitchFamily="18" charset="0"/>
            </a:endParaRPr>
          </a:p>
          <a:p>
            <a:pPr marL="457200" indent="-457200">
              <a:buNone/>
            </a:pPr>
            <a:r>
              <a:rPr lang="en-US" sz="2400" dirty="0">
                <a:latin typeface="Times New Roman" pitchFamily="18" charset="0"/>
                <a:cs typeface="Times New Roman" pitchFamily="18" charset="0"/>
              </a:rPr>
              <a:t>At this point, filter based on Desirability to customers, not Feasibility to the organization.</a:t>
            </a:r>
          </a:p>
          <a:p>
            <a:pPr marL="457200" indent="-457200" algn="just">
              <a:buNone/>
            </a:pPr>
            <a:endParaRPr lang="en-US" sz="2400" dirty="0">
              <a:latin typeface="Times New Roman" pitchFamily="18" charset="0"/>
              <a:cs typeface="Times New Roman" pitchFamily="18" charset="0"/>
            </a:endParaRPr>
          </a:p>
          <a:p>
            <a:pPr marL="457200" indent="-457200" algn="just">
              <a:buNone/>
            </a:pPr>
            <a:r>
              <a:rPr lang="en-US" sz="2400" dirty="0">
                <a:latin typeface="Times New Roman" pitchFamily="18" charset="0"/>
                <a:cs typeface="Times New Roman" pitchFamily="18" charset="0"/>
              </a:rPr>
              <a:t>If your opportunity sounds like a specific solution, back</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it up by asking yourself, “Why would we want to offer</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this solution?” or “What user needs are answered by this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solution?”</a:t>
            </a:r>
            <a:endParaRPr lang="en-US" sz="2400" b="1" dirty="0">
              <a:solidFill>
                <a:srgbClr val="C0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3B29583-FD8B-4E08-94D3-AFE99623937D}"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Cont…</a:t>
            </a:r>
          </a:p>
        </p:txBody>
      </p:sp>
      <p:sp>
        <p:nvSpPr>
          <p:cNvPr id="3" name="Content Placeholder 2"/>
          <p:cNvSpPr>
            <a:spLocks noGrp="1"/>
          </p:cNvSpPr>
          <p:nvPr>
            <p:ph idx="1"/>
          </p:nvPr>
        </p:nvSpPr>
        <p:spPr>
          <a:xfrm>
            <a:off x="457200" y="838200"/>
            <a:ext cx="8229600" cy="56388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400" dirty="0">
                <a:latin typeface="Times New Roman" pitchFamily="18" charset="0"/>
                <a:cs typeface="Times New Roman" pitchFamily="18" charset="0"/>
              </a:rPr>
              <a:t>An Example:</a:t>
            </a:r>
            <a:br>
              <a:rPr lang="en-US" sz="2400" dirty="0">
                <a:latin typeface="Times New Roman" pitchFamily="18" charset="0"/>
                <a:cs typeface="Times New Roman" pitchFamily="18" charset="0"/>
              </a:rPr>
            </a:br>
            <a:r>
              <a:rPr lang="en-US" sz="2400" dirty="0">
                <a:solidFill>
                  <a:srgbClr val="C00000"/>
                </a:solidFill>
                <a:latin typeface="Times New Roman" pitchFamily="18" charset="0"/>
                <a:cs typeface="Times New Roman" pitchFamily="18" charset="0"/>
              </a:rPr>
              <a:t>Insight: </a:t>
            </a:r>
            <a:r>
              <a:rPr lang="en-US" sz="2400" dirty="0">
                <a:latin typeface="Times New Roman" pitchFamily="18" charset="0"/>
                <a:cs typeface="Times New Roman" pitchFamily="18" charset="0"/>
              </a:rPr>
              <a:t>Trust building and knowledge sharing happens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through ‘seeing is believing.’</a:t>
            </a:r>
          </a:p>
          <a:p>
            <a:pPr>
              <a:buNone/>
            </a:pPr>
            <a:r>
              <a:rPr lang="en-US" sz="2400" dirty="0">
                <a:latin typeface="Times New Roman" pitchFamily="18" charset="0"/>
                <a:cs typeface="Times New Roman" pitchFamily="18" charset="0"/>
              </a:rPr>
              <a:t/>
            </a:r>
            <a:br>
              <a:rPr lang="en-US" sz="2400" dirty="0">
                <a:latin typeface="Times New Roman" pitchFamily="18" charset="0"/>
                <a:cs typeface="Times New Roman" pitchFamily="18" charset="0"/>
              </a:rPr>
            </a:br>
            <a:r>
              <a:rPr lang="en-US" sz="2400" dirty="0">
                <a:solidFill>
                  <a:srgbClr val="C00000"/>
                </a:solidFill>
                <a:latin typeface="Times New Roman" pitchFamily="18" charset="0"/>
                <a:cs typeface="Times New Roman" pitchFamily="18" charset="0"/>
              </a:rPr>
              <a:t>Solution: </a:t>
            </a:r>
            <a:r>
              <a:rPr lang="en-US" sz="2400" dirty="0">
                <a:latin typeface="Times New Roman" pitchFamily="18" charset="0"/>
                <a:cs typeface="Times New Roman" pitchFamily="18" charset="0"/>
              </a:rPr>
              <a:t>A training course offered by community members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to teach their friends and neighbors about a technology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or behavior that has worked for them. This is a solution.</a:t>
            </a:r>
            <a:br>
              <a:rPr lang="en-US" sz="2400" dirty="0">
                <a:latin typeface="Times New Roman" pitchFamily="18" charset="0"/>
                <a:cs typeface="Times New Roman" pitchFamily="18" charset="0"/>
              </a:rPr>
            </a:br>
            <a:r>
              <a:rPr lang="en-US" sz="2400" dirty="0">
                <a:solidFill>
                  <a:srgbClr val="C00000"/>
                </a:solidFill>
                <a:latin typeface="Times New Roman" pitchFamily="18" charset="0"/>
                <a:cs typeface="Times New Roman" pitchFamily="18" charset="0"/>
              </a:rPr>
              <a:t>Ask yourself</a:t>
            </a:r>
            <a:r>
              <a:rPr lang="en-US" sz="2400" dirty="0">
                <a:latin typeface="Times New Roman" pitchFamily="18" charset="0"/>
                <a:cs typeface="Times New Roman" pitchFamily="18" charset="0"/>
              </a:rPr>
              <a:t>: What needs are answered by this solution?</a:t>
            </a:r>
          </a:p>
          <a:p>
            <a:pPr>
              <a:buNone/>
            </a:pPr>
            <a:r>
              <a:rPr lang="en-US" sz="2400" dirty="0">
                <a:latin typeface="Times New Roman" pitchFamily="18" charset="0"/>
                <a:cs typeface="Times New Roman" pitchFamily="18" charset="0"/>
              </a:rPr>
              <a:t/>
            </a:r>
            <a:br>
              <a:rPr lang="en-US" sz="2400" dirty="0">
                <a:latin typeface="Times New Roman" pitchFamily="18" charset="0"/>
                <a:cs typeface="Times New Roman" pitchFamily="18" charset="0"/>
              </a:rPr>
            </a:br>
            <a:r>
              <a:rPr lang="en-US" sz="2400" dirty="0">
                <a:solidFill>
                  <a:srgbClr val="C00000"/>
                </a:solidFill>
                <a:latin typeface="Times New Roman" pitchFamily="18" charset="0"/>
                <a:cs typeface="Times New Roman" pitchFamily="18" charset="0"/>
              </a:rPr>
              <a:t>Answer:</a:t>
            </a:r>
            <a:r>
              <a:rPr lang="en-US" sz="2400" dirty="0">
                <a:latin typeface="Times New Roman" pitchFamily="18" charset="0"/>
                <a:cs typeface="Times New Roman" pitchFamily="18" charset="0"/>
              </a:rPr>
              <a:t> The need to expand the knowledge of community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members through local information aggregators.</a:t>
            </a:r>
            <a:br>
              <a:rPr lang="en-US" sz="2400" dirty="0">
                <a:latin typeface="Times New Roman" pitchFamily="18" charset="0"/>
                <a:cs typeface="Times New Roman" pitchFamily="18" charset="0"/>
              </a:rPr>
            </a:br>
            <a:r>
              <a:rPr lang="en-US" sz="2400" dirty="0">
                <a:solidFill>
                  <a:srgbClr val="C00000"/>
                </a:solidFill>
                <a:latin typeface="Times New Roman" pitchFamily="18" charset="0"/>
                <a:cs typeface="Times New Roman" pitchFamily="18" charset="0"/>
              </a:rPr>
              <a:t>Opportunity: </a:t>
            </a:r>
            <a:r>
              <a:rPr lang="en-US" sz="2400" dirty="0">
                <a:latin typeface="Times New Roman" pitchFamily="18" charset="0"/>
                <a:cs typeface="Times New Roman" pitchFamily="18" charset="0"/>
              </a:rPr>
              <a:t>How might we better educate and inform local knowledge aggregators? Or how might we support new technology experimentation by local knowledge aggregators?</a:t>
            </a:r>
            <a:endParaRPr lang="en-US" sz="2400" dirty="0">
              <a:solidFill>
                <a:srgbClr val="C00000"/>
              </a:solidFill>
              <a:latin typeface="Times New Roman" pitchFamily="18" charset="0"/>
              <a:cs typeface="Times New Roman" pitchFamily="18" charset="0"/>
            </a:endParaRPr>
          </a:p>
        </p:txBody>
      </p:sp>
      <p:sp>
        <p:nvSpPr>
          <p:cNvPr id="5" name="Date Placeholder 4"/>
          <p:cNvSpPr>
            <a:spLocks noGrp="1"/>
          </p:cNvSpPr>
          <p:nvPr>
            <p:ph type="dt" sz="half" idx="10"/>
          </p:nvPr>
        </p:nvSpPr>
        <p:spPr/>
        <p:txBody>
          <a:bodyPr/>
          <a:lstStyle/>
          <a:p>
            <a:fld id="{541C4F65-4211-4ACC-8C17-A1BFF9D135E7}" type="datetime1">
              <a:rPr lang="en-US" smtClean="0"/>
              <a:t>7/8/2026</a:t>
            </a:fld>
            <a:endParaRPr lang="en-US"/>
          </a:p>
        </p:txBody>
      </p:sp>
      <p:sp>
        <p:nvSpPr>
          <p:cNvPr id="6" name="Slide Number Placeholder 5"/>
          <p:cNvSpPr>
            <a:spLocks noGrp="1"/>
          </p:cNvSpPr>
          <p:nvPr>
            <p:ph type="sldNum" sz="quarter" idx="12"/>
          </p:nvPr>
        </p:nvSpPr>
        <p:spPr/>
        <p:txBody>
          <a:bodyPr/>
          <a:lstStyle/>
          <a:p>
            <a:fld id="{D4EFF482-3786-46E7-9869-AFA9F18680F5}" type="slidenum">
              <a:rPr lang="en-US" smtClean="0"/>
              <a:pPr/>
              <a:t>35</a:t>
            </a:fld>
            <a:endParaRPr lang="en-US"/>
          </a:p>
        </p:txBody>
      </p:sp>
      <p:sp>
        <p:nvSpPr>
          <p:cNvPr id="4" name="Footer Placeholder 3">
            <a:extLst>
              <a:ext uri="{FF2B5EF4-FFF2-40B4-BE49-F238E27FC236}">
                <a16:creationId xmlns:a16="http://schemas.microsoft.com/office/drawing/2014/main" xmlns="" id="{E996685D-EA85-48F7-8082-9C3C76485535}"/>
              </a:ext>
            </a:extLst>
          </p:cNvPr>
          <p:cNvSpPr>
            <a:spLocks noGrp="1"/>
          </p:cNvSpPr>
          <p:nvPr>
            <p:ph type="ftr" sz="quarter" idx="11"/>
          </p:nvPr>
        </p:nvSpPr>
        <p:spPr/>
        <p:txBody>
          <a:bodyPr/>
          <a:lstStyle/>
          <a:p>
            <a:r>
              <a:rPr lang="en-US"/>
              <a:t>Dr.B.Madhura, MBA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921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Interviewing</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1219200"/>
            <a:ext cx="8229600" cy="5410200"/>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sz="2400" dirty="0">
                <a:latin typeface="Times New Roman" pitchFamily="18" charset="0"/>
                <a:cs typeface="Times New Roman" pitchFamily="18" charset="0"/>
              </a:rPr>
              <a:t>Design research is useful to not only understand individuals but also frame individual behaviors in the context and community that surrounds them.</a:t>
            </a:r>
          </a:p>
          <a:p>
            <a:pPr marL="0" indent="0">
              <a:buNone/>
            </a:pPr>
            <a:r>
              <a:rPr lang="en-US" sz="2400" dirty="0">
                <a:latin typeface="Times New Roman" pitchFamily="18" charset="0"/>
                <a:cs typeface="Times New Roman" pitchFamily="18" charset="0"/>
              </a:rPr>
              <a:t>Seven methods described here are:</a:t>
            </a:r>
          </a:p>
          <a:p>
            <a:pPr marL="457200" indent="-457200">
              <a:buFont typeface="+mj-lt"/>
              <a:buAutoNum type="arabicPeriod"/>
            </a:pPr>
            <a:r>
              <a:rPr lang="en-US" sz="2400" dirty="0">
                <a:latin typeface="Times New Roman" pitchFamily="18" charset="0"/>
                <a:cs typeface="Times New Roman" pitchFamily="18" charset="0"/>
              </a:rPr>
              <a:t>Individual Interview</a:t>
            </a:r>
          </a:p>
          <a:p>
            <a:pPr marL="457200" indent="-457200">
              <a:buFont typeface="+mj-lt"/>
              <a:buAutoNum type="arabicPeriod"/>
            </a:pPr>
            <a:r>
              <a:rPr lang="en-US" sz="2400" dirty="0">
                <a:latin typeface="Times New Roman" pitchFamily="18" charset="0"/>
                <a:cs typeface="Times New Roman" pitchFamily="18" charset="0"/>
              </a:rPr>
              <a:t>Group Interview</a:t>
            </a:r>
          </a:p>
          <a:p>
            <a:pPr marL="457200" indent="-457200">
              <a:buFont typeface="+mj-lt"/>
              <a:buAutoNum type="arabicPeriod"/>
            </a:pPr>
            <a:r>
              <a:rPr lang="en-US" sz="2400" dirty="0">
                <a:latin typeface="Times New Roman" pitchFamily="18" charset="0"/>
                <a:cs typeface="Times New Roman" pitchFamily="18" charset="0"/>
              </a:rPr>
              <a:t>In Context Immersion</a:t>
            </a:r>
          </a:p>
          <a:p>
            <a:pPr marL="457200" indent="-457200">
              <a:buFont typeface="+mj-lt"/>
              <a:buAutoNum type="arabicPeriod"/>
            </a:pPr>
            <a:r>
              <a:rPr lang="en-US" sz="2400" dirty="0">
                <a:latin typeface="Times New Roman" pitchFamily="18" charset="0"/>
                <a:cs typeface="Times New Roman" pitchFamily="18" charset="0"/>
              </a:rPr>
              <a:t>Self-Documentation</a:t>
            </a:r>
          </a:p>
          <a:p>
            <a:pPr marL="457200" indent="-457200">
              <a:buFont typeface="+mj-lt"/>
              <a:buAutoNum type="arabicPeriod"/>
            </a:pPr>
            <a:r>
              <a:rPr lang="en-US" sz="2400" dirty="0">
                <a:latin typeface="Times New Roman" pitchFamily="18" charset="0"/>
                <a:cs typeface="Times New Roman" pitchFamily="18" charset="0"/>
              </a:rPr>
              <a:t>Community-Driven Discovery</a:t>
            </a:r>
          </a:p>
          <a:p>
            <a:pPr marL="457200" indent="-457200">
              <a:buFont typeface="+mj-lt"/>
              <a:buAutoNum type="arabicPeriod"/>
            </a:pPr>
            <a:r>
              <a:rPr lang="en-US" sz="2400" dirty="0">
                <a:latin typeface="Times New Roman" pitchFamily="18" charset="0"/>
                <a:cs typeface="Times New Roman" pitchFamily="18" charset="0"/>
              </a:rPr>
              <a:t>Expert Interviews</a:t>
            </a:r>
          </a:p>
          <a:p>
            <a:pPr marL="457200" indent="-457200">
              <a:buFont typeface="+mj-lt"/>
              <a:buAutoNum type="arabicPeriod"/>
            </a:pPr>
            <a:r>
              <a:rPr lang="en-US" sz="2400" dirty="0">
                <a:latin typeface="Times New Roman" pitchFamily="18" charset="0"/>
                <a:cs typeface="Times New Roman" pitchFamily="18" charset="0"/>
              </a:rPr>
              <a:t>Seeking Inspiration in new places</a:t>
            </a:r>
          </a:p>
        </p:txBody>
      </p:sp>
      <p:sp>
        <p:nvSpPr>
          <p:cNvPr id="4" name="Date Placeholder 3"/>
          <p:cNvSpPr>
            <a:spLocks noGrp="1"/>
          </p:cNvSpPr>
          <p:nvPr>
            <p:ph type="dt" sz="half" idx="10"/>
          </p:nvPr>
        </p:nvSpPr>
        <p:spPr/>
        <p:txBody>
          <a:bodyPr/>
          <a:lstStyle/>
          <a:p>
            <a:fld id="{11C924AB-9088-4231-AD93-ADD00FA81266}"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36</a:t>
            </a:fld>
            <a:endParaRPr lang="en-US"/>
          </a:p>
        </p:txBody>
      </p:sp>
      <p:sp>
        <p:nvSpPr>
          <p:cNvPr id="6" name="Footer Placeholder 5">
            <a:extLst>
              <a:ext uri="{FF2B5EF4-FFF2-40B4-BE49-F238E27FC236}">
                <a16:creationId xmlns:a16="http://schemas.microsoft.com/office/drawing/2014/main" xmlns="" id="{531FF427-9533-4203-B53D-4CE5FA10B083}"/>
              </a:ext>
            </a:extLst>
          </p:cNvPr>
          <p:cNvSpPr>
            <a:spLocks noGrp="1"/>
          </p:cNvSpPr>
          <p:nvPr>
            <p:ph type="ftr" sz="quarter" idx="11"/>
          </p:nvPr>
        </p:nvSpPr>
        <p:spPr/>
        <p:txBody>
          <a:bodyPr/>
          <a:lstStyle/>
          <a:p>
            <a:r>
              <a:rPr lang="en-US"/>
              <a:t>Dr.B.Madhura, MBA</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921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Interviewing</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1219200"/>
            <a:ext cx="8229600" cy="5410200"/>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sz="2400" dirty="0">
                <a:solidFill>
                  <a:srgbClr val="C00000"/>
                </a:solidFill>
                <a:latin typeface="Times New Roman" pitchFamily="18" charset="0"/>
                <a:cs typeface="Times New Roman" pitchFamily="18" charset="0"/>
              </a:rPr>
              <a:t>1. Individual Interview</a:t>
            </a:r>
          </a:p>
          <a:p>
            <a:pPr marL="0" indent="0" algn="just">
              <a:buNone/>
            </a:pPr>
            <a:r>
              <a:rPr lang="en-US" sz="2400" dirty="0">
                <a:solidFill>
                  <a:srgbClr val="C00000"/>
                </a:solidFill>
                <a:latin typeface="Times New Roman" pitchFamily="18" charset="0"/>
                <a:cs typeface="Times New Roman" pitchFamily="18" charset="0"/>
              </a:rPr>
              <a:t>Step – 1: </a:t>
            </a:r>
            <a:r>
              <a:rPr lang="en-US" sz="2400" dirty="0">
                <a:latin typeface="Times New Roman" pitchFamily="18" charset="0"/>
                <a:cs typeface="Times New Roman" pitchFamily="18" charset="0"/>
              </a:rPr>
              <a:t>The interview should be conducted without an audience, since the presence of neighbors, friends, or others can</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sway what the person says or what they are able to</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reveal.</a:t>
            </a:r>
          </a:p>
          <a:p>
            <a:pPr marL="0" indent="0">
              <a:buNone/>
            </a:pPr>
            <a:r>
              <a:rPr lang="en-US" sz="2400" dirty="0">
                <a:solidFill>
                  <a:srgbClr val="C00000"/>
                </a:solidFill>
                <a:latin typeface="Times New Roman" pitchFamily="18" charset="0"/>
                <a:cs typeface="Times New Roman" pitchFamily="18" charset="0"/>
              </a:rPr>
              <a:t>Step – 2: </a:t>
            </a:r>
            <a:r>
              <a:rPr lang="en-US" sz="2400" dirty="0">
                <a:latin typeface="Times New Roman" pitchFamily="18" charset="0"/>
                <a:cs typeface="Times New Roman" pitchFamily="18" charset="0"/>
              </a:rPr>
              <a:t>Assign the following roles so that each person has a clear purpose visible to the participant: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one person to lead the interview</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 note taker</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 photographer</a:t>
            </a:r>
          </a:p>
          <a:p>
            <a:pPr marL="0" indent="0">
              <a:buNone/>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547D70F-B4D7-4D13-96F3-55ECEC77CCB1}"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37</a:t>
            </a:fld>
            <a:endParaRPr lang="en-US"/>
          </a:p>
        </p:txBody>
      </p:sp>
      <p:sp>
        <p:nvSpPr>
          <p:cNvPr id="6" name="Footer Placeholder 5">
            <a:extLst>
              <a:ext uri="{FF2B5EF4-FFF2-40B4-BE49-F238E27FC236}">
                <a16:creationId xmlns:a16="http://schemas.microsoft.com/office/drawing/2014/main" xmlns="" id="{E981FC25-EDE4-463C-AD5F-AFE83F245897}"/>
              </a:ext>
            </a:extLst>
          </p:cNvPr>
          <p:cNvSpPr>
            <a:spLocks noGrp="1"/>
          </p:cNvSpPr>
          <p:nvPr>
            <p:ph type="ftr" sz="quarter" idx="11"/>
          </p:nvPr>
        </p:nvSpPr>
        <p:spPr/>
        <p:txBody>
          <a:bodyPr/>
          <a:lstStyle/>
          <a:p>
            <a:r>
              <a:rPr lang="en-US"/>
              <a:t>Dr.B.Madhura, MBA</a:t>
            </a:r>
          </a:p>
        </p:txBody>
      </p:sp>
      <p:sp>
        <p:nvSpPr>
          <p:cNvPr id="8" name="AutoShape 2" descr="Generated image: Three-step process flow diagram"/>
          <p:cNvSpPr>
            <a:spLocks noChangeAspect="1" noChangeArrowheads="1"/>
          </p:cNvSpPr>
          <p:nvPr/>
        </p:nvSpPr>
        <p:spPr bwMode="auto">
          <a:xfrm>
            <a:off x="155575" y="-4678363"/>
            <a:ext cx="14630400" cy="9753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4" descr="Generated image: Three-step process flow diagram"/>
          <p:cNvSpPr>
            <a:spLocks noChangeAspect="1" noChangeArrowheads="1"/>
          </p:cNvSpPr>
          <p:nvPr/>
        </p:nvSpPr>
        <p:spPr bwMode="auto">
          <a:xfrm>
            <a:off x="307975" y="-4525963"/>
            <a:ext cx="14630400" cy="9753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3385" y="4308475"/>
            <a:ext cx="5709616" cy="224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569396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style>
          <a:lnRef idx="2">
            <a:schemeClr val="accent1"/>
          </a:lnRef>
          <a:fillRef idx="1">
            <a:schemeClr val="lt1"/>
          </a:fillRef>
          <a:effectRef idx="0">
            <a:schemeClr val="accent1"/>
          </a:effectRef>
          <a:fontRef idx="minor">
            <a:schemeClr val="dk1"/>
          </a:fontRef>
        </p:style>
        <p:txBody>
          <a:bodyPr/>
          <a:lstStyle/>
          <a:p>
            <a:r>
              <a:rPr lang="en-US" sz="2800" b="0" cap="none" spc="0" dirty="0">
                <a:ln>
                  <a:noFill/>
                </a:ln>
                <a:solidFill>
                  <a:schemeClr val="tx1"/>
                </a:solidFill>
                <a:effectLst/>
                <a:latin typeface="Times New Roman" pitchFamily="18" charset="0"/>
                <a:cs typeface="Times New Roman" pitchFamily="18" charset="0"/>
              </a:rPr>
              <a:t>(Cont.…)</a:t>
            </a:r>
          </a:p>
        </p:txBody>
      </p:sp>
      <p:sp>
        <p:nvSpPr>
          <p:cNvPr id="3" name="Content Placeholder 2"/>
          <p:cNvSpPr>
            <a:spLocks noGrp="1"/>
          </p:cNvSpPr>
          <p:nvPr>
            <p:ph idx="1"/>
          </p:nvPr>
        </p:nvSpPr>
        <p:spPr>
          <a:xfrm>
            <a:off x="457200" y="990600"/>
            <a:ext cx="8229600" cy="5638800"/>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None/>
            </a:pPr>
            <a:r>
              <a:rPr lang="en-US" sz="2400" dirty="0">
                <a:solidFill>
                  <a:srgbClr val="C00000"/>
                </a:solidFill>
                <a:latin typeface="Times New Roman" pitchFamily="18" charset="0"/>
                <a:cs typeface="Times New Roman" pitchFamily="18" charset="0"/>
              </a:rPr>
              <a:t>2. Group Interview</a:t>
            </a:r>
          </a:p>
          <a:p>
            <a:pPr marL="514350" indent="-514350" algn="just">
              <a:buFont typeface="+mj-lt"/>
              <a:buAutoNum type="arabicPeriod"/>
            </a:pPr>
            <a:r>
              <a:rPr lang="en-US" sz="2400" dirty="0">
                <a:latin typeface="Times New Roman" pitchFamily="18" charset="0"/>
                <a:cs typeface="Times New Roman" pitchFamily="18" charset="0"/>
              </a:rPr>
              <a:t>Group-based Interviews can be a valuable way to learn</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about a community quickly. </a:t>
            </a:r>
          </a:p>
          <a:p>
            <a:pPr marL="514350" indent="-514350" algn="just">
              <a:buFont typeface="+mj-lt"/>
              <a:buAutoNum type="arabicPeriod"/>
            </a:pPr>
            <a:r>
              <a:rPr lang="en-US" sz="2400" dirty="0">
                <a:latin typeface="Times New Roman" pitchFamily="18" charset="0"/>
                <a:cs typeface="Times New Roman" pitchFamily="18" charset="0"/>
              </a:rPr>
              <a:t>Group Interviews can be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good for learning about community life and dynamics,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understanding general community issues, and giving</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everyone in a community the chance to voice their views.</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a:p>
            <a:pPr marL="514350" indent="-514350" algn="just">
              <a:buNone/>
            </a:pPr>
            <a:r>
              <a:rPr lang="en-US" sz="2400" dirty="0">
                <a:solidFill>
                  <a:srgbClr val="C00000"/>
                </a:solidFill>
                <a:latin typeface="Times New Roman" pitchFamily="18" charset="0"/>
                <a:cs typeface="Times New Roman" pitchFamily="18" charset="0"/>
              </a:rPr>
              <a:t>Note:</a:t>
            </a:r>
            <a:r>
              <a:rPr lang="en-US" sz="2400" dirty="0">
                <a:latin typeface="Times New Roman" pitchFamily="18" charset="0"/>
                <a:cs typeface="Times New Roman" pitchFamily="18" charset="0"/>
              </a:rPr>
              <a:t> Group Interviews are not good for gaining a deep</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understanding of individual income streams, uncovering</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what people really think, or understanding how to change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commonly-held beliefs or behaviors</a:t>
            </a:r>
          </a:p>
        </p:txBody>
      </p:sp>
      <p:sp>
        <p:nvSpPr>
          <p:cNvPr id="4" name="Date Placeholder 3"/>
          <p:cNvSpPr>
            <a:spLocks noGrp="1"/>
          </p:cNvSpPr>
          <p:nvPr>
            <p:ph type="dt" sz="half" idx="10"/>
          </p:nvPr>
        </p:nvSpPr>
        <p:spPr/>
        <p:txBody>
          <a:bodyPr/>
          <a:lstStyle/>
          <a:p>
            <a:fld id="{FB3D4805-FCAF-4A0B-9033-C0CDDB1AB115}"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38</a:t>
            </a:fld>
            <a:endParaRPr lang="en-US"/>
          </a:p>
        </p:txBody>
      </p:sp>
      <p:sp>
        <p:nvSpPr>
          <p:cNvPr id="6" name="Footer Placeholder 5">
            <a:extLst>
              <a:ext uri="{FF2B5EF4-FFF2-40B4-BE49-F238E27FC236}">
                <a16:creationId xmlns:a16="http://schemas.microsoft.com/office/drawing/2014/main" xmlns="" id="{F16F56EF-1440-4453-8F77-6B078D434D97}"/>
              </a:ext>
            </a:extLst>
          </p:cNvPr>
          <p:cNvSpPr>
            <a:spLocks noGrp="1"/>
          </p:cNvSpPr>
          <p:nvPr>
            <p:ph type="ftr" sz="quarter" idx="11"/>
          </p:nvPr>
        </p:nvSpPr>
        <p:spPr/>
        <p:txBody>
          <a:bodyPr/>
          <a:lstStyle/>
          <a:p>
            <a:r>
              <a:rPr lang="en-US"/>
              <a:t>Dr.B.Madhura, MBA</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style>
          <a:lnRef idx="2">
            <a:schemeClr val="accent1"/>
          </a:lnRef>
          <a:fillRef idx="1">
            <a:schemeClr val="lt1"/>
          </a:fillRef>
          <a:effectRef idx="0">
            <a:schemeClr val="accent1"/>
          </a:effectRef>
          <a:fontRef idx="minor">
            <a:schemeClr val="dk1"/>
          </a:fontRef>
        </p:style>
        <p:txBody>
          <a:bodyPr/>
          <a:lstStyle/>
          <a:p>
            <a:r>
              <a:rPr lang="en-US" sz="2800" b="0" cap="none" spc="0" dirty="0">
                <a:ln>
                  <a:noFill/>
                </a:ln>
                <a:solidFill>
                  <a:schemeClr val="tx1"/>
                </a:solidFill>
                <a:effectLst/>
                <a:latin typeface="Times New Roman" pitchFamily="18" charset="0"/>
                <a:cs typeface="Times New Roman" pitchFamily="18" charset="0"/>
              </a:rPr>
              <a:t>(Cont.…)</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990600"/>
            <a:ext cx="8229600" cy="5638800"/>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None/>
            </a:pPr>
            <a:r>
              <a:rPr lang="en-US" sz="2400" dirty="0">
                <a:solidFill>
                  <a:srgbClr val="C00000"/>
                </a:solidFill>
                <a:latin typeface="Times New Roman" pitchFamily="18" charset="0"/>
                <a:cs typeface="Times New Roman" pitchFamily="18" charset="0"/>
              </a:rPr>
              <a:t>3. In Context Immersion</a:t>
            </a:r>
          </a:p>
          <a:p>
            <a:pPr marL="514350" indent="-514350" algn="just">
              <a:buFont typeface="Wingdings" pitchFamily="2" charset="2"/>
              <a:buChar char="v"/>
            </a:pPr>
            <a:r>
              <a:rPr lang="en-US" sz="2400" dirty="0">
                <a:latin typeface="Times New Roman" pitchFamily="18" charset="0"/>
                <a:cs typeface="Times New Roman" pitchFamily="18" charset="0"/>
              </a:rPr>
              <a:t>Meeting people where they live, work, and socialize and</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immersing yourself in their context reveals new insights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and unexpected opportunities.</a:t>
            </a:r>
          </a:p>
          <a:p>
            <a:pPr marL="514350" indent="-514350">
              <a:buFont typeface="Wingdings" pitchFamily="2" charset="2"/>
              <a:buChar char="v"/>
            </a:pPr>
            <a:r>
              <a:rPr lang="en-US" sz="2400" dirty="0">
                <a:latin typeface="Times New Roman" pitchFamily="18" charset="0"/>
                <a:cs typeface="Times New Roman" pitchFamily="18" charset="0"/>
              </a:rPr>
              <a:t>Putting yourself in someone’s shoes enables you to get beyond what people say to what they think and feel.</a:t>
            </a:r>
          </a:p>
          <a:p>
            <a:pPr marL="514350" indent="-514350">
              <a:buFont typeface="Wingdings" pitchFamily="2" charset="2"/>
              <a:buChar char="v"/>
            </a:pPr>
            <a:r>
              <a:rPr lang="en-US" sz="2400" dirty="0">
                <a:latin typeface="Times New Roman" pitchFamily="18" charset="0"/>
                <a:cs typeface="Times New Roman" pitchFamily="18" charset="0"/>
              </a:rPr>
              <a:t>Being in-context means gaining true empathy through</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being with people in their real settings and doing the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things they normally do.</a:t>
            </a:r>
          </a:p>
          <a:p>
            <a:pPr marL="514350" indent="-514350">
              <a:buFont typeface="Wingdings" pitchFamily="2" charset="2"/>
              <a:buChar char="v"/>
            </a:pPr>
            <a:r>
              <a:rPr lang="en-US" sz="2400" dirty="0">
                <a:latin typeface="Times New Roman" pitchFamily="18" charset="0"/>
                <a:cs typeface="Times New Roman" pitchFamily="18" charset="0"/>
              </a:rPr>
              <a:t>what people say (and think) they do and what they actually do are not always the same thing.</a:t>
            </a:r>
          </a:p>
          <a:p>
            <a:pPr marL="514350" indent="-514350">
              <a:buFont typeface="Wingdings" pitchFamily="2" charset="2"/>
              <a:buChar char="v"/>
            </a:pPr>
            <a:r>
              <a:rPr lang="en-US" sz="2400" dirty="0">
                <a:latin typeface="Times New Roman" pitchFamily="18" charset="0"/>
                <a:cs typeface="Times New Roman" pitchFamily="18" charset="0"/>
              </a:rPr>
              <a:t>The goal is not to correct or point out the misperception, but rather to understand the difference.</a:t>
            </a:r>
            <a:endParaRPr lang="en-US" sz="2400" dirty="0">
              <a:solidFill>
                <a:srgbClr val="C0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2D3BF6-CCAF-4D27-B009-36FD9B3CBFDE}"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39</a:t>
            </a:fld>
            <a:endParaRPr lang="en-US"/>
          </a:p>
        </p:txBody>
      </p:sp>
      <p:sp>
        <p:nvSpPr>
          <p:cNvPr id="6" name="Footer Placeholder 5">
            <a:extLst>
              <a:ext uri="{FF2B5EF4-FFF2-40B4-BE49-F238E27FC236}">
                <a16:creationId xmlns:a16="http://schemas.microsoft.com/office/drawing/2014/main" xmlns="" id="{BB2A708F-9D10-49BE-9B1F-4E9C823B3B2F}"/>
              </a:ext>
            </a:extLst>
          </p:cNvPr>
          <p:cNvSpPr>
            <a:spLocks noGrp="1"/>
          </p:cNvSpPr>
          <p:nvPr>
            <p:ph type="ftr" sz="quarter" idx="11"/>
          </p:nvPr>
        </p:nvSpPr>
        <p:spPr/>
        <p:txBody>
          <a:bodyPr/>
          <a:lstStyle/>
          <a:p>
            <a:r>
              <a:rPr lang="en-US"/>
              <a:t>Dr.B.Madhura, MBA</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style>
          <a:lnRef idx="2">
            <a:schemeClr val="accent1"/>
          </a:lnRef>
          <a:fillRef idx="1">
            <a:schemeClr val="lt1"/>
          </a:fillRef>
          <a:effectRef idx="0">
            <a:schemeClr val="accent1"/>
          </a:effectRef>
          <a:fontRef idx="minor">
            <a:schemeClr val="dk1"/>
          </a:fontRef>
        </p:style>
        <p:txBody>
          <a:bodyPr/>
          <a:lstStyle/>
          <a:p>
            <a:r>
              <a:rPr lang="en-US" sz="2800" b="0" cap="none" spc="0" dirty="0">
                <a:ln>
                  <a:noFill/>
                </a:ln>
                <a:solidFill>
                  <a:schemeClr val="tx1"/>
                </a:solidFill>
                <a:effectLst/>
                <a:latin typeface="Times New Roman" pitchFamily="18" charset="0"/>
                <a:cs typeface="Times New Roman" pitchFamily="18" charset="0"/>
              </a:rPr>
              <a:t>(Cont.…)</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990600"/>
            <a:ext cx="8229600" cy="5638800"/>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None/>
            </a:pPr>
            <a:r>
              <a:rPr lang="en-US" sz="2400" dirty="0">
                <a:solidFill>
                  <a:srgbClr val="C00000"/>
                </a:solidFill>
                <a:latin typeface="Times New Roman" pitchFamily="18" charset="0"/>
                <a:cs typeface="Times New Roman" pitchFamily="18" charset="0"/>
              </a:rPr>
              <a:t>4. Self-Documentation</a:t>
            </a:r>
          </a:p>
          <a:p>
            <a:pPr marL="514350" indent="-514350" algn="just">
              <a:buFont typeface="Wingdings" pitchFamily="2" charset="2"/>
              <a:buChar char="v"/>
            </a:pPr>
            <a:r>
              <a:rPr lang="en-US" sz="2400" dirty="0">
                <a:latin typeface="Times New Roman" pitchFamily="18" charset="0"/>
                <a:cs typeface="Times New Roman" pitchFamily="18" charset="0"/>
              </a:rPr>
              <a:t>Self-Documentation is a powerful method for observing</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processes over a long period of time,</a:t>
            </a:r>
          </a:p>
          <a:p>
            <a:pPr marL="514350" indent="-514350" algn="just">
              <a:buFont typeface="Wingdings" pitchFamily="2" charset="2"/>
              <a:buChar char="v"/>
            </a:pPr>
            <a:r>
              <a:rPr lang="en-US" sz="2400" dirty="0">
                <a:latin typeface="Times New Roman" pitchFamily="18" charset="0"/>
                <a:cs typeface="Times New Roman" pitchFamily="18" charset="0"/>
              </a:rPr>
              <a:t>Recruit several people and give them cameras, video</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cameras, voice recorders or journals, with instructions.</a:t>
            </a:r>
          </a:p>
          <a:p>
            <a:pPr marL="514350" indent="-514350">
              <a:buFont typeface="Wingdings" pitchFamily="2" charset="2"/>
              <a:buChar char="v"/>
            </a:pPr>
            <a:r>
              <a:rPr lang="en-US" sz="2400" dirty="0">
                <a:latin typeface="Times New Roman" pitchFamily="18" charset="0"/>
                <a:cs typeface="Times New Roman" pitchFamily="18" charset="0"/>
              </a:rPr>
              <a:t>Ask them to document their experiences over a few days or weeks. </a:t>
            </a:r>
          </a:p>
          <a:p>
            <a:pPr marL="514350" indent="-514350">
              <a:buFont typeface="Wingdings" pitchFamily="2" charset="2"/>
              <a:buChar char="v"/>
            </a:pPr>
            <a:r>
              <a:rPr lang="en-US" sz="2400" dirty="0">
                <a:latin typeface="Times New Roman" pitchFamily="18" charset="0"/>
                <a:cs typeface="Times New Roman" pitchFamily="18" charset="0"/>
              </a:rPr>
              <a:t>Give participants instructions designed to guide them on how to easily record activities that will yield relevant information to the research project. </a:t>
            </a:r>
          </a:p>
          <a:p>
            <a:pPr marL="514350" indent="-514350">
              <a:buFont typeface="Wingdings" pitchFamily="2" charset="2"/>
              <a:buChar char="v"/>
            </a:pPr>
            <a:r>
              <a:rPr lang="en-US" sz="2400" dirty="0">
                <a:latin typeface="Times New Roman" pitchFamily="18" charset="0"/>
                <a:cs typeface="Times New Roman" pitchFamily="18" charset="0"/>
              </a:rPr>
              <a:t>The easier it is to self-document, the more likely it is that participants will complete the exercise.</a:t>
            </a:r>
            <a:endParaRPr lang="en-US" sz="2400" dirty="0">
              <a:solidFill>
                <a:srgbClr val="C0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04129BE5-1B5D-4B49-924B-CD0E0CBCFD09}"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40</a:t>
            </a:fld>
            <a:endParaRPr lang="en-US"/>
          </a:p>
        </p:txBody>
      </p:sp>
      <p:sp>
        <p:nvSpPr>
          <p:cNvPr id="6" name="Footer Placeholder 5">
            <a:extLst>
              <a:ext uri="{FF2B5EF4-FFF2-40B4-BE49-F238E27FC236}">
                <a16:creationId xmlns:a16="http://schemas.microsoft.com/office/drawing/2014/main" xmlns="" id="{EB594756-5A30-4660-8052-C1FD8129FCAD}"/>
              </a:ext>
            </a:extLst>
          </p:cNvPr>
          <p:cNvSpPr>
            <a:spLocks noGrp="1"/>
          </p:cNvSpPr>
          <p:nvPr>
            <p:ph type="ftr" sz="quarter" idx="11"/>
          </p:nvPr>
        </p:nvSpPr>
        <p:spPr/>
        <p:txBody>
          <a:bodyPr/>
          <a:lstStyle/>
          <a:p>
            <a:r>
              <a:rPr lang="en-US"/>
              <a:t>Dr.B.Madhura, MBA</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style>
          <a:lnRef idx="2">
            <a:schemeClr val="accent1"/>
          </a:lnRef>
          <a:fillRef idx="1">
            <a:schemeClr val="lt1"/>
          </a:fillRef>
          <a:effectRef idx="0">
            <a:schemeClr val="accent1"/>
          </a:effectRef>
          <a:fontRef idx="minor">
            <a:schemeClr val="dk1"/>
          </a:fontRef>
        </p:style>
        <p:txBody>
          <a:bodyPr/>
          <a:lstStyle/>
          <a:p>
            <a:r>
              <a:rPr lang="en-US" sz="2800" b="0" cap="none" spc="0" dirty="0">
                <a:ln>
                  <a:noFill/>
                </a:ln>
                <a:solidFill>
                  <a:schemeClr val="tx1"/>
                </a:solidFill>
                <a:effectLst/>
                <a:latin typeface="Times New Roman" pitchFamily="18" charset="0"/>
                <a:cs typeface="Times New Roman" pitchFamily="18" charset="0"/>
              </a:rPr>
              <a:t>(Cont.…)</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990600"/>
            <a:ext cx="8229600" cy="5638800"/>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None/>
            </a:pPr>
            <a:r>
              <a:rPr lang="en-US" sz="2400" dirty="0">
                <a:solidFill>
                  <a:srgbClr val="C00000"/>
                </a:solidFill>
                <a:latin typeface="Times New Roman" pitchFamily="18" charset="0"/>
                <a:cs typeface="Times New Roman" pitchFamily="18" charset="0"/>
              </a:rPr>
              <a:t>5. Community-Driven Discovery</a:t>
            </a:r>
          </a:p>
          <a:p>
            <a:pPr marL="514350" indent="-514350">
              <a:buFont typeface="Wingdings" pitchFamily="2" charset="2"/>
              <a:buChar char="v"/>
            </a:pPr>
            <a:r>
              <a:rPr lang="en-US" sz="2400" dirty="0">
                <a:latin typeface="Times New Roman" pitchFamily="18" charset="0"/>
                <a:cs typeface="Times New Roman" pitchFamily="18" charset="0"/>
              </a:rPr>
              <a:t>Community members with strong relationships, respected</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leaders, or people with a reputation for intelligence and</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fairness are often good people to identify as research</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partners.</a:t>
            </a:r>
          </a:p>
          <a:p>
            <a:pPr marL="514350" indent="-514350">
              <a:buFont typeface="Wingdings" pitchFamily="2" charset="2"/>
              <a:buChar char="v"/>
            </a:pPr>
            <a:r>
              <a:rPr lang="en-US" sz="2400" dirty="0">
                <a:latin typeface="Times New Roman" pitchFamily="18" charset="0"/>
                <a:cs typeface="Times New Roman" pitchFamily="18" charset="0"/>
              </a:rPr>
              <a:t>Experts can be called upon to provide in-depth and technical</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information.</a:t>
            </a:r>
          </a:p>
          <a:p>
            <a:pPr marL="514350" indent="-514350">
              <a:buNone/>
            </a:pPr>
            <a:r>
              <a:rPr lang="en-US" sz="2400" dirty="0">
                <a:latin typeface="Times New Roman" pitchFamily="18" charset="0"/>
                <a:cs typeface="Times New Roman" pitchFamily="18" charset="0"/>
              </a:rPr>
              <a:t>Some examples of good times to call upon expert interviews are: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To learn about the history of a particular community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or topic.</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To understand the regulations that might affect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design and implementation of solutions.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To gather information about new technologies that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have been recently invented or that are on the horizon.</a:t>
            </a:r>
            <a:endParaRPr lang="en-US" sz="2400" dirty="0">
              <a:solidFill>
                <a:srgbClr val="C0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A460FFF-8A29-47DA-A746-F416BD474546}"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41</a:t>
            </a:fld>
            <a:endParaRPr lang="en-US"/>
          </a:p>
        </p:txBody>
      </p:sp>
      <p:sp>
        <p:nvSpPr>
          <p:cNvPr id="6" name="Footer Placeholder 5">
            <a:extLst>
              <a:ext uri="{FF2B5EF4-FFF2-40B4-BE49-F238E27FC236}">
                <a16:creationId xmlns:a16="http://schemas.microsoft.com/office/drawing/2014/main" xmlns="" id="{8A64D108-235E-4150-978E-B23E123EBD4E}"/>
              </a:ext>
            </a:extLst>
          </p:cNvPr>
          <p:cNvSpPr>
            <a:spLocks noGrp="1"/>
          </p:cNvSpPr>
          <p:nvPr>
            <p:ph type="ftr" sz="quarter" idx="11"/>
          </p:nvPr>
        </p:nvSpPr>
        <p:spPr/>
        <p:txBody>
          <a:bodyPr/>
          <a:lstStyle/>
          <a:p>
            <a:r>
              <a:rPr lang="en-US"/>
              <a:t>Dr.B.Madhura, MBA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style>
          <a:lnRef idx="2">
            <a:schemeClr val="accent1"/>
          </a:lnRef>
          <a:fillRef idx="1">
            <a:schemeClr val="lt1"/>
          </a:fillRef>
          <a:effectRef idx="0">
            <a:schemeClr val="accent1"/>
          </a:effectRef>
          <a:fontRef idx="minor">
            <a:schemeClr val="dk1"/>
          </a:fontRef>
        </p:style>
        <p:txBody>
          <a:bodyPr/>
          <a:lstStyle/>
          <a:p>
            <a:r>
              <a:rPr lang="en-US" sz="2800" b="0" cap="none" spc="0" dirty="0">
                <a:ln>
                  <a:noFill/>
                </a:ln>
                <a:solidFill>
                  <a:schemeClr val="tx1"/>
                </a:solidFill>
                <a:effectLst/>
                <a:latin typeface="Times New Roman" pitchFamily="18" charset="0"/>
                <a:cs typeface="Times New Roman" pitchFamily="18" charset="0"/>
              </a:rPr>
              <a:t>(Cont.…)</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990600"/>
            <a:ext cx="8229600" cy="5638800"/>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None/>
            </a:pPr>
            <a:r>
              <a:rPr lang="en-US" sz="2400" dirty="0">
                <a:solidFill>
                  <a:srgbClr val="C00000"/>
                </a:solidFill>
                <a:latin typeface="Times New Roman" pitchFamily="18" charset="0"/>
                <a:cs typeface="Times New Roman" pitchFamily="18" charset="0"/>
              </a:rPr>
              <a:t>6. Expert Interview:</a:t>
            </a:r>
            <a:r>
              <a:rPr lang="en-US" sz="2400" dirty="0">
                <a:latin typeface="Times New Roman" pitchFamily="18" charset="0"/>
                <a:cs typeface="Times New Roman" pitchFamily="18" charset="0"/>
              </a:rPr>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Experts can be called upon to provide in-depth and technical</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information.</a:t>
            </a:r>
          </a:p>
          <a:p>
            <a:pPr marL="514350" indent="-514350">
              <a:buNone/>
            </a:pPr>
            <a:r>
              <a:rPr lang="en-US" sz="2400" dirty="0">
                <a:latin typeface="Times New Roman" pitchFamily="18" charset="0"/>
                <a:cs typeface="Times New Roman" pitchFamily="18" charset="0"/>
              </a:rPr>
              <a:t>Some examples of good times to call upon expert interviews are: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To learn about the history of a particular community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or topic</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To understand the regulations that might affect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design and implementation of solutions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To gather information about new technologies that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have been recently invented or that are on the horizon</a:t>
            </a:r>
            <a:endParaRPr lang="en-US" sz="2400" dirty="0">
              <a:solidFill>
                <a:srgbClr val="C0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2085DBF-D99C-4326-9FC8-0ABFC86897DC}"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42</a:t>
            </a:fld>
            <a:endParaRPr lang="en-US"/>
          </a:p>
        </p:txBody>
      </p:sp>
      <p:sp>
        <p:nvSpPr>
          <p:cNvPr id="6" name="Footer Placeholder 5">
            <a:extLst>
              <a:ext uri="{FF2B5EF4-FFF2-40B4-BE49-F238E27FC236}">
                <a16:creationId xmlns:a16="http://schemas.microsoft.com/office/drawing/2014/main" xmlns="" id="{2577BA9F-65AC-4CA8-9E8C-0DD1BC3010C1}"/>
              </a:ext>
            </a:extLst>
          </p:cNvPr>
          <p:cNvSpPr>
            <a:spLocks noGrp="1"/>
          </p:cNvSpPr>
          <p:nvPr>
            <p:ph type="ftr" sz="quarter" idx="11"/>
          </p:nvPr>
        </p:nvSpPr>
        <p:spPr/>
        <p:txBody>
          <a:bodyPr/>
          <a:lstStyle/>
          <a:p>
            <a:r>
              <a:rPr lang="en-US"/>
              <a:t>Dr.B.Madhura, MBA</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style>
          <a:lnRef idx="2">
            <a:schemeClr val="accent1"/>
          </a:lnRef>
          <a:fillRef idx="1">
            <a:schemeClr val="lt1"/>
          </a:fillRef>
          <a:effectRef idx="0">
            <a:schemeClr val="accent1"/>
          </a:effectRef>
          <a:fontRef idx="minor">
            <a:schemeClr val="dk1"/>
          </a:fontRef>
        </p:style>
        <p:txBody>
          <a:bodyPr/>
          <a:lstStyle/>
          <a:p>
            <a:r>
              <a:rPr lang="en-US" sz="2800" b="0" cap="none" spc="0" dirty="0">
                <a:ln>
                  <a:noFill/>
                </a:ln>
                <a:solidFill>
                  <a:schemeClr val="tx1"/>
                </a:solidFill>
                <a:effectLst/>
                <a:latin typeface="Times New Roman" pitchFamily="18" charset="0"/>
                <a:cs typeface="Times New Roman" pitchFamily="18" charset="0"/>
              </a:rPr>
              <a:t>(Cont.…)</a:t>
            </a: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990600"/>
            <a:ext cx="8229600" cy="5638800"/>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lgn="just">
              <a:buNone/>
            </a:pPr>
            <a:r>
              <a:rPr lang="en-US" sz="2400" dirty="0">
                <a:solidFill>
                  <a:srgbClr val="C00000"/>
                </a:solidFill>
                <a:latin typeface="Times New Roman" pitchFamily="18" charset="0"/>
                <a:cs typeface="Times New Roman" pitchFamily="18" charset="0"/>
              </a:rPr>
              <a:t>7. Seeking Inspiration in new places</a:t>
            </a:r>
          </a:p>
          <a:p>
            <a:pPr marL="514350" indent="-514350" algn="just">
              <a:buFont typeface="Wingdings" pitchFamily="2" charset="2"/>
              <a:buChar char="v"/>
            </a:pPr>
            <a:r>
              <a:rPr lang="en-US" sz="2400" dirty="0">
                <a:latin typeface="Times New Roman" pitchFamily="18" charset="0"/>
                <a:cs typeface="Times New Roman" pitchFamily="18" charset="0"/>
              </a:rPr>
              <a:t>One of the best ways to inspire new ideas is to look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similar experiences in other contexts, instead of focusing</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too narrowly on the research topic.</a:t>
            </a:r>
          </a:p>
          <a:p>
            <a:pPr marL="514350" indent="-514350" algn="just">
              <a:buFont typeface="Wingdings" pitchFamily="2" charset="2"/>
              <a:buChar char="v"/>
            </a:pPr>
            <a:r>
              <a:rPr lang="en-US" sz="2400" dirty="0">
                <a:solidFill>
                  <a:srgbClr val="C00000"/>
                </a:solidFill>
                <a:latin typeface="Times New Roman" pitchFamily="18" charset="0"/>
                <a:cs typeface="Times New Roman" pitchFamily="18" charset="0"/>
              </a:rPr>
              <a:t>For example</a:t>
            </a:r>
            <a:r>
              <a:rPr lang="en-US" sz="2400" dirty="0">
                <a:latin typeface="Times New Roman" pitchFamily="18" charset="0"/>
                <a:cs typeface="Times New Roman" pitchFamily="18" charset="0"/>
              </a:rPr>
              <a:t>, a doctor’s visit might include the following activities and feelings: getting sick, discussing a doctor visit with family, travel, paying, and following doctor instructions such as taking medication or changing behavior. </a:t>
            </a:r>
          </a:p>
          <a:p>
            <a:pPr marL="514350" indent="-514350" algn="just">
              <a:buFont typeface="Wingdings" pitchFamily="2" charset="2"/>
              <a:buChar char="v"/>
            </a:pPr>
            <a:r>
              <a:rPr lang="en-US" sz="2400" dirty="0">
                <a:latin typeface="Times New Roman" pitchFamily="18" charset="0"/>
                <a:cs typeface="Times New Roman" pitchFamily="18" charset="0"/>
              </a:rPr>
              <a:t>Find other situations that include some or all of these activities and then go and observe them.</a:t>
            </a:r>
            <a:endParaRPr lang="en-US" sz="2400" dirty="0">
              <a:solidFill>
                <a:srgbClr val="C0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599EDE1-3679-43B3-9AEC-5163350A194F}"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43</a:t>
            </a:fld>
            <a:endParaRPr lang="en-US"/>
          </a:p>
        </p:txBody>
      </p:sp>
      <p:sp>
        <p:nvSpPr>
          <p:cNvPr id="6" name="Footer Placeholder 5">
            <a:extLst>
              <a:ext uri="{FF2B5EF4-FFF2-40B4-BE49-F238E27FC236}">
                <a16:creationId xmlns:a16="http://schemas.microsoft.com/office/drawing/2014/main" xmlns="" id="{60A73C4F-FFC8-483E-B50D-7D0AE878D672}"/>
              </a:ext>
            </a:extLst>
          </p:cNvPr>
          <p:cNvSpPr>
            <a:spLocks noGrp="1"/>
          </p:cNvSpPr>
          <p:nvPr>
            <p:ph type="ftr" sz="quarter" idx="11"/>
          </p:nvPr>
        </p:nvSpPr>
        <p:spPr/>
        <p:txBody>
          <a:bodyPr/>
          <a:lstStyle/>
          <a:p>
            <a:r>
              <a:rPr lang="en-US"/>
              <a:t>Dr.B.Madhura, MBA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style>
          <a:lnRef idx="2">
            <a:schemeClr val="accent1"/>
          </a:lnRef>
          <a:fillRef idx="1">
            <a:schemeClr val="lt1"/>
          </a:fillRef>
          <a:effectRef idx="0">
            <a:schemeClr val="accent1"/>
          </a:effectRef>
          <a:fontRef idx="minor">
            <a:schemeClr val="dk1"/>
          </a:fontRef>
        </p:style>
        <p:txBody>
          <a:bodyPr/>
          <a:lstStyle/>
          <a:p>
            <a:r>
              <a:rPr lang="en-US" sz="2800" b="0" cap="none" spc="0" dirty="0">
                <a:ln>
                  <a:noFill/>
                </a:ln>
                <a:solidFill>
                  <a:schemeClr val="tx1"/>
                </a:solidFill>
                <a:effectLst/>
                <a:latin typeface="Times New Roman" pitchFamily="18" charset="0"/>
                <a:cs typeface="Times New Roman" pitchFamily="18" charset="0"/>
              </a:rPr>
              <a:t/>
            </a:r>
            <a:br>
              <a:rPr lang="en-US" sz="2800" b="0" cap="none" spc="0" dirty="0">
                <a:ln>
                  <a:noFill/>
                </a:ln>
                <a:solidFill>
                  <a:schemeClr val="tx1"/>
                </a:solidFill>
                <a:effectLst/>
                <a:latin typeface="Times New Roman" pitchFamily="18" charset="0"/>
                <a:cs typeface="Times New Roman" pitchFamily="18" charset="0"/>
              </a:rPr>
            </a:br>
            <a:r>
              <a:rPr lang="en-US" sz="2800" cap="none" spc="0" dirty="0">
                <a:ln>
                  <a:noFill/>
                </a:ln>
                <a:solidFill>
                  <a:schemeClr val="tx1"/>
                </a:solidFill>
                <a:effectLst/>
                <a:latin typeface="Times New Roman" pitchFamily="18" charset="0"/>
                <a:cs typeface="Times New Roman" pitchFamily="18" charset="0"/>
              </a:rPr>
              <a:t>User Experience Design</a:t>
            </a:r>
            <a:r>
              <a:rPr lang="en-US" sz="2800" cap="none" dirty="0">
                <a:latin typeface="Times New Roman" pitchFamily="18" charset="0"/>
                <a:cs typeface="Times New Roman" pitchFamily="18" charset="0"/>
              </a:rPr>
              <a:t>. </a:t>
            </a:r>
            <a:br>
              <a:rPr lang="en-US" sz="2800" cap="none" dirty="0">
                <a:latin typeface="Times New Roman" pitchFamily="18" charset="0"/>
                <a:cs typeface="Times New Roman" pitchFamily="18" charset="0"/>
              </a:rPr>
            </a:br>
            <a:endParaRPr lang="en-US" sz="2800" cap="none" spc="0" dirty="0">
              <a:ln>
                <a:noFill/>
              </a:ln>
              <a:solidFill>
                <a:schemeClr val="tx1"/>
              </a:solidFill>
              <a:effectLst/>
            </a:endParaRPr>
          </a:p>
        </p:txBody>
      </p:sp>
      <p:sp>
        <p:nvSpPr>
          <p:cNvPr id="3" name="Content Placeholder 2"/>
          <p:cNvSpPr>
            <a:spLocks noGrp="1"/>
          </p:cNvSpPr>
          <p:nvPr>
            <p:ph idx="1"/>
          </p:nvPr>
        </p:nvSpPr>
        <p:spPr>
          <a:xfrm>
            <a:off x="457200" y="990600"/>
            <a:ext cx="8229600" cy="56388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altLang="en-US" sz="2400" dirty="0">
                <a:latin typeface="Times New Roman" pitchFamily="18" charset="0"/>
                <a:cs typeface="Times New Roman" pitchFamily="18" charset="0"/>
              </a:rPr>
              <a:t>UX design refers to the term “</a:t>
            </a:r>
            <a:r>
              <a:rPr lang="en-US" altLang="en-US" sz="2400" b="1" dirty="0">
                <a:latin typeface="Times New Roman" pitchFamily="18" charset="0"/>
                <a:cs typeface="Times New Roman" pitchFamily="18" charset="0"/>
              </a:rPr>
              <a:t>user experience design</a:t>
            </a:r>
            <a:r>
              <a:rPr lang="en-US" altLang="en-US" sz="2400" dirty="0">
                <a:latin typeface="Times New Roman" pitchFamily="18" charset="0"/>
                <a:cs typeface="Times New Roman" pitchFamily="18" charset="0"/>
              </a:rPr>
              <a:t>”, while UI stands for “user interface design”. Both elements are crucial to a product and work closely together. </a:t>
            </a:r>
          </a:p>
          <a:p>
            <a:pPr algn="just"/>
            <a:r>
              <a:rPr lang="en-US" altLang="en-US" sz="2400" dirty="0">
                <a:latin typeface="Times New Roman" pitchFamily="18" charset="0"/>
                <a:cs typeface="Times New Roman" pitchFamily="18" charset="0"/>
              </a:rPr>
              <a:t>But despite their professional relationship, the roles themselves are quite different, referring to very different aspects of the product development process and the design discipline.</a:t>
            </a:r>
          </a:p>
          <a:p>
            <a:pPr algn="just" fontAlgn="auto">
              <a:spcAft>
                <a:spcPts val="0"/>
              </a:spcAft>
              <a:defRPr/>
            </a:pPr>
            <a:r>
              <a:rPr lang="en-US" sz="2400" dirty="0">
                <a:latin typeface="Times New Roman" pitchFamily="18" charset="0"/>
                <a:cs typeface="Times New Roman" pitchFamily="18" charset="0"/>
              </a:rPr>
              <a:t>User experience design is a human-first way of designing products. Don Norman, a cognitive scientist and co-founder of the </a:t>
            </a:r>
            <a:r>
              <a:rPr lang="en-US" sz="2400" b="1" dirty="0">
                <a:latin typeface="Times New Roman" pitchFamily="18" charset="0"/>
                <a:cs typeface="Times New Roman" pitchFamily="18" charset="0"/>
              </a:rPr>
              <a:t>Nielsen Norman Group Design Consultancy</a:t>
            </a:r>
            <a:r>
              <a:rPr lang="en-US" sz="2400" dirty="0">
                <a:latin typeface="Times New Roman" pitchFamily="18" charset="0"/>
                <a:cs typeface="Times New Roman" pitchFamily="18" charset="0"/>
              </a:rPr>
              <a:t>, is credited with coining the term “user experience” in the late 1990s. Here’s how he describes it:</a:t>
            </a:r>
          </a:p>
          <a:p>
            <a:pPr algn="just" fontAlgn="auto">
              <a:spcAft>
                <a:spcPts val="0"/>
              </a:spcAft>
              <a:defRPr/>
            </a:pPr>
            <a:r>
              <a:rPr lang="en-US" sz="2400" dirty="0">
                <a:latin typeface="Times New Roman" pitchFamily="18" charset="0"/>
                <a:cs typeface="Times New Roman" pitchFamily="18" charset="0"/>
              </a:rPr>
              <a:t>“User experience encompasses all aspects of the end-user’s interaction with the company, its services, and its products.”</a:t>
            </a:r>
          </a:p>
          <a:p>
            <a:pPr marL="0" indent="0">
              <a:buNone/>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76E54FA-BDF4-432C-BA2F-79263F86510F}"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44</a:t>
            </a:fld>
            <a:endParaRPr lang="en-US"/>
          </a:p>
        </p:txBody>
      </p:sp>
      <p:sp>
        <p:nvSpPr>
          <p:cNvPr id="6" name="Footer Placeholder 5">
            <a:extLst>
              <a:ext uri="{FF2B5EF4-FFF2-40B4-BE49-F238E27FC236}">
                <a16:creationId xmlns:a16="http://schemas.microsoft.com/office/drawing/2014/main" xmlns="" id="{D42F0F8C-5420-47E9-9F8C-32241A0D6944}"/>
              </a:ext>
            </a:extLst>
          </p:cNvPr>
          <p:cNvSpPr>
            <a:spLocks noGrp="1"/>
          </p:cNvSpPr>
          <p:nvPr>
            <p:ph type="ftr" sz="quarter" idx="11"/>
          </p:nvPr>
        </p:nvSpPr>
        <p:spPr/>
        <p:txBody>
          <a:bodyPr/>
          <a:lstStyle/>
          <a:p>
            <a:r>
              <a:rPr lang="en-US"/>
              <a:t>Dr.B.Madhura, MBA</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User Experience Design</a:t>
            </a:r>
            <a:r>
              <a:rPr lang="en-US" sz="2800" cap="none" dirty="0">
                <a:latin typeface="Times New Roman" pitchFamily="18" charset="0"/>
                <a:cs typeface="Times New Roman" pitchFamily="18" charset="0"/>
              </a:rPr>
              <a:t>. </a:t>
            </a:r>
            <a:r>
              <a:rPr lang="en-US" sz="2800" b="0" cap="none" spc="0" dirty="0">
                <a:ln>
                  <a:noFill/>
                </a:ln>
                <a:solidFill>
                  <a:schemeClr val="tx1"/>
                </a:solidFill>
                <a:effectLst/>
                <a:latin typeface="Times New Roman" pitchFamily="18" charset="0"/>
                <a:cs typeface="Times New Roman" pitchFamily="18" charset="0"/>
              </a:rPr>
              <a:t>(Cont..)</a:t>
            </a:r>
            <a:endParaRPr lang="en-US" sz="2800" b="0" cap="none" spc="0" dirty="0">
              <a:ln>
                <a:noFill/>
              </a:ln>
              <a:solidFill>
                <a:schemeClr val="tx1"/>
              </a:solidFill>
              <a:effectLst/>
            </a:endParaRPr>
          </a:p>
        </p:txBody>
      </p:sp>
      <p:sp>
        <p:nvSpPr>
          <p:cNvPr id="3" name="Content Placeholder 2"/>
          <p:cNvSpPr>
            <a:spLocks noGrp="1"/>
          </p:cNvSpPr>
          <p:nvPr>
            <p:ph idx="1"/>
          </p:nvPr>
        </p:nvSpPr>
        <p:spPr>
          <a:xfrm>
            <a:off x="457200" y="990600"/>
            <a:ext cx="8229600" cy="5638800"/>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8418BA4-1C50-4C08-852C-C7EC82B61C89}"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45</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143000"/>
            <a:ext cx="7924800" cy="5257800"/>
          </a:xfrm>
          <a:prstGeom prst="rect">
            <a:avLst/>
          </a:prstGeom>
          <a:ln/>
        </p:spPr>
        <p:style>
          <a:lnRef idx="2">
            <a:schemeClr val="accent1"/>
          </a:lnRef>
          <a:fillRef idx="1">
            <a:schemeClr val="lt1"/>
          </a:fillRef>
          <a:effectRef idx="0">
            <a:schemeClr val="accent1"/>
          </a:effectRef>
          <a:fontRef idx="minor">
            <a:schemeClr val="dk1"/>
          </a:fontRef>
        </p:style>
      </p:pic>
      <p:sp>
        <p:nvSpPr>
          <p:cNvPr id="6" name="Footer Placeholder 5">
            <a:extLst>
              <a:ext uri="{FF2B5EF4-FFF2-40B4-BE49-F238E27FC236}">
                <a16:creationId xmlns:a16="http://schemas.microsoft.com/office/drawing/2014/main" xmlns="" id="{F6690EF9-4FEF-442E-A7C6-DDEC2CEF52D1}"/>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9437646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57200" y="274638"/>
            <a:ext cx="8229600" cy="4873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Frame Your Design Challenge</a:t>
            </a:r>
            <a:endParaRPr lang="en-US" sz="2800" cap="none" spc="0" dirty="0">
              <a:ln>
                <a:noFill/>
              </a:ln>
              <a:solidFill>
                <a:schemeClr val="tx1"/>
              </a:solidFill>
              <a:effectLst/>
            </a:endParaRPr>
          </a:p>
        </p:txBody>
      </p:sp>
      <p:sp>
        <p:nvSpPr>
          <p:cNvPr id="11" name="Date Placeholder 10"/>
          <p:cNvSpPr>
            <a:spLocks noGrp="1"/>
          </p:cNvSpPr>
          <p:nvPr>
            <p:ph type="dt" sz="half" idx="10"/>
          </p:nvPr>
        </p:nvSpPr>
        <p:spPr/>
        <p:txBody>
          <a:bodyPr/>
          <a:lstStyle/>
          <a:p>
            <a:fld id="{397321F0-59F0-4104-896E-B68F9F331DF4}" type="datetime1">
              <a:rPr lang="en-US" smtClean="0"/>
              <a:t>7/8/2026</a:t>
            </a:fld>
            <a:endParaRPr lang="en-US"/>
          </a:p>
        </p:txBody>
      </p:sp>
      <p:sp>
        <p:nvSpPr>
          <p:cNvPr id="12" name="Slide Number Placeholder 11"/>
          <p:cNvSpPr>
            <a:spLocks noGrp="1"/>
          </p:cNvSpPr>
          <p:nvPr>
            <p:ph type="sldNum" sz="quarter" idx="12"/>
          </p:nvPr>
        </p:nvSpPr>
        <p:spPr/>
        <p:txBody>
          <a:bodyPr/>
          <a:lstStyle/>
          <a:p>
            <a:fld id="{D4EFF482-3786-46E7-9869-AFA9F18680F5}" type="slidenum">
              <a:rPr lang="en-US" smtClean="0"/>
              <a:pPr/>
              <a:t>46</a:t>
            </a:fld>
            <a:endParaRPr lang="en-US"/>
          </a:p>
        </p:txBody>
      </p:sp>
      <p:sp>
        <p:nvSpPr>
          <p:cNvPr id="16" name="Content Placeholder 15"/>
          <p:cNvSpPr>
            <a:spLocks noGrp="1"/>
          </p:cNvSpPr>
          <p:nvPr>
            <p:ph sz="half" idx="1"/>
          </p:nvPr>
        </p:nvSpPr>
        <p:spPr>
          <a:xfrm>
            <a:off x="457200" y="838200"/>
            <a:ext cx="8229600" cy="5791200"/>
          </a:xfrm>
        </p:spPr>
        <p:style>
          <a:lnRef idx="2">
            <a:schemeClr val="accent2"/>
          </a:lnRef>
          <a:fillRef idx="1">
            <a:schemeClr val="lt1"/>
          </a:fillRef>
          <a:effectRef idx="0">
            <a:schemeClr val="accent2"/>
          </a:effectRef>
          <a:fontRef idx="minor">
            <a:schemeClr val="dk1"/>
          </a:fontRef>
        </p:style>
        <p:txBody>
          <a:bodyPr>
            <a:noAutofit/>
          </a:bodyPr>
          <a:lstStyle/>
          <a:p>
            <a:pPr>
              <a:buFont typeface="Wingdings" pitchFamily="2" charset="2"/>
              <a:buChar char="v"/>
            </a:pPr>
            <a:r>
              <a:rPr lang="en-US" sz="2400" dirty="0">
                <a:latin typeface="Times New Roman" pitchFamily="18" charset="0"/>
                <a:cs typeface="Times New Roman" pitchFamily="18" charset="0"/>
              </a:rPr>
              <a:t>A Design Challenge is phrased in a human-centered way with a sense of possibility. </a:t>
            </a:r>
          </a:p>
          <a:p>
            <a:pPr>
              <a:buFont typeface="Wingdings" pitchFamily="2" charset="2"/>
              <a:buChar char="v"/>
            </a:pPr>
            <a:r>
              <a:rPr lang="en-US" sz="2400" dirty="0">
                <a:solidFill>
                  <a:srgbClr val="C00000"/>
                </a:solidFill>
                <a:latin typeface="Times New Roman" pitchFamily="18" charset="0"/>
                <a:cs typeface="Times New Roman" pitchFamily="18" charset="0"/>
              </a:rPr>
              <a:t>For example</a:t>
            </a:r>
            <a:r>
              <a:rPr lang="en-US" sz="2400" dirty="0">
                <a:latin typeface="Times New Roman" pitchFamily="18" charset="0"/>
                <a:cs typeface="Times New Roman" pitchFamily="18" charset="0"/>
              </a:rPr>
              <a:t>: “Create savings and investment products that are appropriate for people living in rural areas.”</a:t>
            </a:r>
          </a:p>
          <a:p>
            <a:pPr>
              <a:buFont typeface="Wingdings" pitchFamily="2" charset="2"/>
              <a:buChar char="v"/>
            </a:pPr>
            <a:r>
              <a:rPr lang="en-US" sz="2400" dirty="0">
                <a:latin typeface="Times New Roman" pitchFamily="18" charset="0"/>
                <a:cs typeface="Times New Roman" pitchFamily="18" charset="0"/>
              </a:rPr>
              <a:t>The Design Challenge can be decided by organizational leadership or can be developed through a team-based approach. </a:t>
            </a:r>
          </a:p>
          <a:p>
            <a:pPr>
              <a:buNone/>
            </a:pPr>
            <a:r>
              <a:rPr lang="en-US" sz="2400" dirty="0">
                <a:solidFill>
                  <a:srgbClr val="C00000"/>
                </a:solidFill>
                <a:latin typeface="Times New Roman" pitchFamily="18" charset="0"/>
                <a:cs typeface="Times New Roman" pitchFamily="18" charset="0"/>
              </a:rPr>
              <a:t>A good Design Challenge should be:</a:t>
            </a:r>
          </a:p>
          <a:p>
            <a:pPr marL="457200" indent="-457200">
              <a:buFont typeface="+mj-lt"/>
              <a:buAutoNum type="arabicPeriod"/>
            </a:pPr>
            <a:r>
              <a:rPr lang="en-US" sz="2400" dirty="0">
                <a:latin typeface="Times New Roman" pitchFamily="18" charset="0"/>
                <a:cs typeface="Times New Roman" pitchFamily="18" charset="0"/>
              </a:rPr>
              <a:t>Framed in human terms (rather than technology, product, or service functionality).</a:t>
            </a:r>
          </a:p>
          <a:p>
            <a:pPr marL="457200" indent="-457200">
              <a:buFont typeface="+mj-lt"/>
              <a:buAutoNum type="arabicPeriod"/>
            </a:pPr>
            <a:r>
              <a:rPr lang="en-US" sz="2400" dirty="0">
                <a:latin typeface="Times New Roman" pitchFamily="18" charset="0"/>
                <a:cs typeface="Times New Roman" pitchFamily="18" charset="0"/>
              </a:rPr>
              <a:t>Broad enough to allow you to discover the areas of unexpected value.</a:t>
            </a:r>
          </a:p>
          <a:p>
            <a:pPr marL="457200" indent="-457200">
              <a:buFont typeface="+mj-lt"/>
              <a:buAutoNum type="arabicPeriod"/>
            </a:pPr>
            <a:r>
              <a:rPr lang="en-US" sz="2400" dirty="0">
                <a:latin typeface="Times New Roman" pitchFamily="18" charset="0"/>
                <a:cs typeface="Times New Roman" pitchFamily="18" charset="0"/>
              </a:rPr>
              <a:t>Narrow enough to make the topic manageable.</a:t>
            </a:r>
          </a:p>
          <a:p>
            <a:endParaRPr lang="en-US" sz="2000" dirty="0"/>
          </a:p>
        </p:txBody>
      </p:sp>
      <p:sp>
        <p:nvSpPr>
          <p:cNvPr id="2" name="Footer Placeholder 1">
            <a:extLst>
              <a:ext uri="{FF2B5EF4-FFF2-40B4-BE49-F238E27FC236}">
                <a16:creationId xmlns:a16="http://schemas.microsoft.com/office/drawing/2014/main" xmlns="" id="{905A1C69-97D6-463C-A1BD-B7F56B9B7A1C}"/>
              </a:ext>
            </a:extLst>
          </p:cNvPr>
          <p:cNvSpPr>
            <a:spLocks noGrp="1"/>
          </p:cNvSpPr>
          <p:nvPr>
            <p:ph type="ftr" sz="quarter" idx="11"/>
          </p:nvPr>
        </p:nvSpPr>
        <p:spPr/>
        <p:txBody>
          <a:bodyPr/>
          <a:lstStyle/>
          <a:p>
            <a:r>
              <a:rPr lang="en-US"/>
              <a:t>Dr.B.Madhura, MBA</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57200" y="274638"/>
            <a:ext cx="8229600" cy="4873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Frame Your Design Challenge</a:t>
            </a:r>
            <a:endParaRPr lang="en-US" sz="2800" cap="none" spc="0" dirty="0">
              <a:ln>
                <a:noFill/>
              </a:ln>
              <a:solidFill>
                <a:schemeClr val="tx1"/>
              </a:solidFill>
              <a:effectLst/>
            </a:endParaRPr>
          </a:p>
        </p:txBody>
      </p:sp>
      <p:sp>
        <p:nvSpPr>
          <p:cNvPr id="11" name="Date Placeholder 10"/>
          <p:cNvSpPr>
            <a:spLocks noGrp="1"/>
          </p:cNvSpPr>
          <p:nvPr>
            <p:ph type="dt" sz="half" idx="10"/>
          </p:nvPr>
        </p:nvSpPr>
        <p:spPr/>
        <p:txBody>
          <a:bodyPr/>
          <a:lstStyle/>
          <a:p>
            <a:fld id="{BD4A6825-B101-49E2-8C6C-AA535383C3E7}" type="datetime1">
              <a:rPr lang="en-US" smtClean="0"/>
              <a:t>7/8/2026</a:t>
            </a:fld>
            <a:endParaRPr lang="en-US"/>
          </a:p>
        </p:txBody>
      </p:sp>
      <p:sp>
        <p:nvSpPr>
          <p:cNvPr id="12" name="Slide Number Placeholder 11"/>
          <p:cNvSpPr>
            <a:spLocks noGrp="1"/>
          </p:cNvSpPr>
          <p:nvPr>
            <p:ph type="sldNum" sz="quarter" idx="12"/>
          </p:nvPr>
        </p:nvSpPr>
        <p:spPr/>
        <p:txBody>
          <a:bodyPr/>
          <a:lstStyle/>
          <a:p>
            <a:fld id="{D4EFF482-3786-46E7-9869-AFA9F18680F5}" type="slidenum">
              <a:rPr lang="en-US" smtClean="0"/>
              <a:pPr/>
              <a:t>47</a:t>
            </a:fld>
            <a:endParaRPr lang="en-US"/>
          </a:p>
        </p:txBody>
      </p:sp>
      <p:pic>
        <p:nvPicPr>
          <p:cNvPr id="2" name="Content Placeholder 1"/>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7200" y="838200"/>
            <a:ext cx="8229600" cy="5791200"/>
          </a:xfrm>
        </p:spPr>
        <p:style>
          <a:lnRef idx="2">
            <a:schemeClr val="accent2"/>
          </a:lnRef>
          <a:fillRef idx="1">
            <a:schemeClr val="lt1"/>
          </a:fillRef>
          <a:effectRef idx="0">
            <a:schemeClr val="accent2"/>
          </a:effectRef>
          <a:fontRef idx="minor">
            <a:schemeClr val="dk1"/>
          </a:fontRef>
        </p:style>
      </p:pic>
      <p:sp>
        <p:nvSpPr>
          <p:cNvPr id="3" name="Footer Placeholder 2">
            <a:extLst>
              <a:ext uri="{FF2B5EF4-FFF2-40B4-BE49-F238E27FC236}">
                <a16:creationId xmlns:a16="http://schemas.microsoft.com/office/drawing/2014/main" xmlns="" id="{40B1D39E-A4BB-4D86-9AC3-265377795CD8}"/>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38186166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57200" y="274638"/>
            <a:ext cx="8229600" cy="487362"/>
          </a:xfrm>
        </p:spPr>
        <p:style>
          <a:lnRef idx="2">
            <a:schemeClr val="accent1"/>
          </a:lnRef>
          <a:fillRef idx="1">
            <a:schemeClr val="lt1"/>
          </a:fillRef>
          <a:effectRef idx="0">
            <a:schemeClr val="accent1"/>
          </a:effectRef>
          <a:fontRef idx="minor">
            <a:schemeClr val="dk1"/>
          </a:fontRef>
        </p:style>
        <p:txBody>
          <a:bodyPr/>
          <a:lstStyle/>
          <a:p>
            <a:r>
              <a:rPr lang="en-US" sz="2800" cap="none" spc="0" dirty="0">
                <a:ln>
                  <a:noFill/>
                </a:ln>
                <a:solidFill>
                  <a:schemeClr val="tx1"/>
                </a:solidFill>
                <a:effectLst/>
                <a:latin typeface="Times New Roman" pitchFamily="18" charset="0"/>
                <a:cs typeface="Times New Roman" pitchFamily="18" charset="0"/>
              </a:rPr>
              <a:t>Frame Your Design Challenge</a:t>
            </a:r>
            <a:endParaRPr lang="en-US" sz="2800" cap="none" spc="0" dirty="0">
              <a:ln>
                <a:noFill/>
              </a:ln>
              <a:solidFill>
                <a:schemeClr val="tx1"/>
              </a:solidFill>
              <a:effectLst/>
            </a:endParaRPr>
          </a:p>
        </p:txBody>
      </p:sp>
      <p:sp>
        <p:nvSpPr>
          <p:cNvPr id="11" name="Date Placeholder 10"/>
          <p:cNvSpPr>
            <a:spLocks noGrp="1"/>
          </p:cNvSpPr>
          <p:nvPr>
            <p:ph type="dt" sz="half" idx="10"/>
          </p:nvPr>
        </p:nvSpPr>
        <p:spPr/>
        <p:txBody>
          <a:bodyPr/>
          <a:lstStyle/>
          <a:p>
            <a:fld id="{8779D20F-561A-4F6A-B4A5-A592B99F787C}" type="datetime1">
              <a:rPr lang="en-US" smtClean="0"/>
              <a:t>7/8/2026</a:t>
            </a:fld>
            <a:endParaRPr lang="en-US"/>
          </a:p>
        </p:txBody>
      </p:sp>
      <p:sp>
        <p:nvSpPr>
          <p:cNvPr id="12" name="Slide Number Placeholder 11"/>
          <p:cNvSpPr>
            <a:spLocks noGrp="1"/>
          </p:cNvSpPr>
          <p:nvPr>
            <p:ph type="sldNum" sz="quarter" idx="12"/>
          </p:nvPr>
        </p:nvSpPr>
        <p:spPr/>
        <p:txBody>
          <a:bodyPr/>
          <a:lstStyle/>
          <a:p>
            <a:fld id="{D4EFF482-3786-46E7-9869-AFA9F18680F5}" type="slidenum">
              <a:rPr lang="en-US" smtClean="0"/>
              <a:pPr/>
              <a:t>48</a:t>
            </a:fld>
            <a:endParaRPr lang="en-US"/>
          </a:p>
        </p:txBody>
      </p:sp>
      <p:sp>
        <p:nvSpPr>
          <p:cNvPr id="4" name="Rounded Rectangle 3"/>
          <p:cNvSpPr/>
          <p:nvPr/>
        </p:nvSpPr>
        <p:spPr>
          <a:xfrm>
            <a:off x="2057400" y="955110"/>
            <a:ext cx="4953000" cy="7285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p:cNvSpPr/>
          <p:nvPr/>
        </p:nvSpPr>
        <p:spPr>
          <a:xfrm>
            <a:off x="1219200" y="1970240"/>
            <a:ext cx="6705600" cy="83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9" name="Rounded Rectangle 8"/>
          <p:cNvSpPr/>
          <p:nvPr/>
        </p:nvSpPr>
        <p:spPr>
          <a:xfrm>
            <a:off x="1181100" y="3149310"/>
            <a:ext cx="6743700" cy="83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1219200" y="4305300"/>
            <a:ext cx="6705600" cy="83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1905000" y="5486400"/>
            <a:ext cx="5638800" cy="83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219200" y="1970240"/>
            <a:ext cx="6705600" cy="923330"/>
          </a:xfrm>
          <a:prstGeom prst="rect">
            <a:avLst/>
          </a:prstGeom>
        </p:spPr>
        <p:txBody>
          <a:bodyPr wrap="square">
            <a:spAutoFit/>
          </a:bodyPr>
          <a:lstStyle/>
          <a:p>
            <a:r>
              <a:rPr lang="en-US" b="1" dirty="0">
                <a:solidFill>
                  <a:schemeClr val="bg1"/>
                </a:solidFill>
                <a:latin typeface="Times New Roman" pitchFamily="18" charset="0"/>
                <a:cs typeface="Times New Roman" pitchFamily="18" charset="0"/>
              </a:rPr>
              <a:t>Step 2:</a:t>
            </a:r>
            <a:r>
              <a:rPr lang="en-US" dirty="0">
                <a:solidFill>
                  <a:schemeClr val="bg1"/>
                </a:solidFill>
                <a:latin typeface="Times New Roman" pitchFamily="18" charset="0"/>
                <a:cs typeface="Times New Roman" pitchFamily="18" charset="0"/>
              </a:rPr>
              <a:t> hand out post-it notes to the design team, and ask them to write what they already know about the topic. have one piece of information per post-it not</a:t>
            </a:r>
          </a:p>
        </p:txBody>
      </p:sp>
      <p:sp>
        <p:nvSpPr>
          <p:cNvPr id="6" name="Rectangle 5"/>
          <p:cNvSpPr/>
          <p:nvPr/>
        </p:nvSpPr>
        <p:spPr>
          <a:xfrm>
            <a:off x="2057400" y="990600"/>
            <a:ext cx="4953000" cy="646331"/>
          </a:xfrm>
          <a:prstGeom prst="rect">
            <a:avLst/>
          </a:prstGeom>
        </p:spPr>
        <p:txBody>
          <a:bodyPr wrap="square">
            <a:spAutoFit/>
          </a:bodyPr>
          <a:lstStyle/>
          <a:p>
            <a:pPr algn="ctr"/>
            <a:r>
              <a:rPr lang="en-US" b="1" dirty="0">
                <a:solidFill>
                  <a:schemeClr val="bg1"/>
                </a:solidFill>
                <a:latin typeface="Times New Roman" pitchFamily="18" charset="0"/>
                <a:cs typeface="Times New Roman" pitchFamily="18" charset="0"/>
              </a:rPr>
              <a:t>Step 1: </a:t>
            </a:r>
            <a:r>
              <a:rPr lang="en-US" dirty="0">
                <a:solidFill>
                  <a:schemeClr val="bg1"/>
                </a:solidFill>
                <a:latin typeface="Times New Roman" pitchFamily="18" charset="0"/>
                <a:cs typeface="Times New Roman" pitchFamily="18" charset="0"/>
              </a:rPr>
              <a:t>Post the design challenge so that the</a:t>
            </a:r>
            <a:br>
              <a:rPr lang="en-US" dirty="0">
                <a:solidFill>
                  <a:schemeClr val="bg1"/>
                </a:solidFill>
                <a:latin typeface="Times New Roman" pitchFamily="18" charset="0"/>
                <a:cs typeface="Times New Roman" pitchFamily="18" charset="0"/>
              </a:rPr>
            </a:br>
            <a:r>
              <a:rPr lang="en-US" dirty="0">
                <a:solidFill>
                  <a:schemeClr val="bg1"/>
                </a:solidFill>
                <a:latin typeface="Times New Roman" pitchFamily="18" charset="0"/>
                <a:cs typeface="Times New Roman" pitchFamily="18" charset="0"/>
              </a:rPr>
              <a:t>team can see it.</a:t>
            </a:r>
          </a:p>
        </p:txBody>
      </p:sp>
      <p:sp>
        <p:nvSpPr>
          <p:cNvPr id="7" name="Rectangle 6"/>
          <p:cNvSpPr/>
          <p:nvPr/>
        </p:nvSpPr>
        <p:spPr>
          <a:xfrm>
            <a:off x="1143000" y="3124200"/>
            <a:ext cx="6781800" cy="923330"/>
          </a:xfrm>
          <a:prstGeom prst="rect">
            <a:avLst/>
          </a:prstGeom>
        </p:spPr>
        <p:txBody>
          <a:bodyPr wrap="square">
            <a:spAutoFit/>
          </a:bodyPr>
          <a:lstStyle/>
          <a:p>
            <a:r>
              <a:rPr lang="en-US" b="1" dirty="0">
                <a:solidFill>
                  <a:schemeClr val="bg1"/>
                </a:solidFill>
                <a:latin typeface="Times New Roman" pitchFamily="18" charset="0"/>
                <a:cs typeface="Times New Roman" pitchFamily="18" charset="0"/>
              </a:rPr>
              <a:t>Step 3:</a:t>
            </a:r>
            <a:r>
              <a:rPr lang="en-US" dirty="0">
                <a:solidFill>
                  <a:schemeClr val="bg1"/>
                </a:solidFill>
                <a:latin typeface="Times New Roman" pitchFamily="18" charset="0"/>
                <a:cs typeface="Times New Roman" pitchFamily="18" charset="0"/>
              </a:rPr>
              <a:t> Ask each person to read their notes, and post them under the design challenge. Ask others to disagree or challenge any of the assumptions that come out.</a:t>
            </a:r>
          </a:p>
        </p:txBody>
      </p:sp>
      <p:cxnSp>
        <p:nvCxnSpPr>
          <p:cNvPr id="16" name="Straight Arrow Connector 15"/>
          <p:cNvCxnSpPr>
            <a:stCxn id="4" idx="2"/>
          </p:cNvCxnSpPr>
          <p:nvPr/>
        </p:nvCxnSpPr>
        <p:spPr>
          <a:xfrm>
            <a:off x="4533900" y="1683707"/>
            <a:ext cx="0" cy="2865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9" idx="0"/>
          </p:cNvCxnSpPr>
          <p:nvPr/>
        </p:nvCxnSpPr>
        <p:spPr>
          <a:xfrm>
            <a:off x="4533900" y="2808440"/>
            <a:ext cx="19050" cy="3408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4555819" y="3987510"/>
            <a:ext cx="0" cy="3177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143000" y="4325453"/>
            <a:ext cx="6781800" cy="923330"/>
          </a:xfrm>
          <a:prstGeom prst="rect">
            <a:avLst/>
          </a:prstGeom>
        </p:spPr>
        <p:txBody>
          <a:bodyPr wrap="square">
            <a:spAutoFit/>
          </a:bodyPr>
          <a:lstStyle/>
          <a:p>
            <a:r>
              <a:rPr lang="en-US" b="1" dirty="0">
                <a:solidFill>
                  <a:schemeClr val="bg1"/>
                </a:solidFill>
                <a:latin typeface="Times New Roman" pitchFamily="18" charset="0"/>
                <a:cs typeface="Times New Roman" pitchFamily="18" charset="0"/>
              </a:rPr>
              <a:t>Step 4:</a:t>
            </a:r>
            <a:r>
              <a:rPr lang="en-US" dirty="0">
                <a:solidFill>
                  <a:schemeClr val="bg1"/>
                </a:solidFill>
                <a:latin typeface="Times New Roman" pitchFamily="18" charset="0"/>
                <a:cs typeface="Times New Roman" pitchFamily="18" charset="0"/>
              </a:rPr>
              <a:t> Ask the team to write down on post-it notes what they don’t know about the challenge and read their notes. post these notes in</a:t>
            </a:r>
            <a:br>
              <a:rPr lang="en-US" dirty="0">
                <a:solidFill>
                  <a:schemeClr val="bg1"/>
                </a:solidFill>
                <a:latin typeface="Times New Roman" pitchFamily="18" charset="0"/>
                <a:cs typeface="Times New Roman" pitchFamily="18" charset="0"/>
              </a:rPr>
            </a:br>
            <a:r>
              <a:rPr lang="en-US" dirty="0">
                <a:solidFill>
                  <a:schemeClr val="bg1"/>
                </a:solidFill>
                <a:latin typeface="Times New Roman" pitchFamily="18" charset="0"/>
                <a:cs typeface="Times New Roman" pitchFamily="18" charset="0"/>
              </a:rPr>
              <a:t>a different area.</a:t>
            </a:r>
          </a:p>
        </p:txBody>
      </p:sp>
      <p:sp>
        <p:nvSpPr>
          <p:cNvPr id="28" name="Rectangle 27"/>
          <p:cNvSpPr/>
          <p:nvPr/>
        </p:nvSpPr>
        <p:spPr>
          <a:xfrm>
            <a:off x="1905000" y="5486400"/>
            <a:ext cx="5638800" cy="923330"/>
          </a:xfrm>
          <a:prstGeom prst="rect">
            <a:avLst/>
          </a:prstGeom>
        </p:spPr>
        <p:txBody>
          <a:bodyPr wrap="square">
            <a:spAutoFit/>
          </a:bodyPr>
          <a:lstStyle/>
          <a:p>
            <a:r>
              <a:rPr lang="en-US" b="1" dirty="0">
                <a:solidFill>
                  <a:schemeClr val="bg1"/>
                </a:solidFill>
                <a:latin typeface="Times New Roman" pitchFamily="18" charset="0"/>
                <a:cs typeface="Times New Roman" pitchFamily="18" charset="0"/>
              </a:rPr>
              <a:t>Step 5:</a:t>
            </a:r>
            <a:r>
              <a:rPr lang="en-US" dirty="0">
                <a:solidFill>
                  <a:schemeClr val="bg1"/>
                </a:solidFill>
                <a:latin typeface="Times New Roman" pitchFamily="18" charset="0"/>
                <a:cs typeface="Times New Roman" pitchFamily="18" charset="0"/>
              </a:rPr>
              <a:t> group the post-it notes into themes to help the team develop research methods, a recruiting plan, and the interview guide</a:t>
            </a:r>
            <a:r>
              <a:rPr lang="en-US" dirty="0"/>
              <a:t>.</a:t>
            </a:r>
          </a:p>
        </p:txBody>
      </p:sp>
      <p:cxnSp>
        <p:nvCxnSpPr>
          <p:cNvPr id="30" name="Straight Arrow Connector 29"/>
          <p:cNvCxnSpPr/>
          <p:nvPr/>
        </p:nvCxnSpPr>
        <p:spPr>
          <a:xfrm flipH="1">
            <a:off x="4592877" y="5143500"/>
            <a:ext cx="1" cy="3429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xmlns="" id="{14F0EC56-6969-4D78-ADDF-9A865BDB9BB1}"/>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12297422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458200" cy="5715000"/>
          </a:xfrm>
        </p:spPr>
        <p:style>
          <a:lnRef idx="2">
            <a:schemeClr val="accent1"/>
          </a:lnRef>
          <a:fillRef idx="1">
            <a:schemeClr val="lt1"/>
          </a:fillRef>
          <a:effectRef idx="0">
            <a:schemeClr val="accent1"/>
          </a:effectRef>
          <a:fontRef idx="minor">
            <a:schemeClr val="dk1"/>
          </a:fontRef>
        </p:style>
        <p:txBody>
          <a:bodyPr>
            <a:noAutofit/>
          </a:bodyPr>
          <a:lstStyle/>
          <a:p>
            <a:pPr marL="0" indent="0" algn="just">
              <a:buNone/>
            </a:pPr>
            <a:r>
              <a:rPr lang="en-US" sz="2400" dirty="0">
                <a:latin typeface="Times New Roman" pitchFamily="18" charset="0"/>
                <a:cs typeface="Times New Roman" pitchFamily="18" charset="0"/>
              </a:rPr>
              <a:t>Empathy means deep understanding of the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problems and realities of the people you are designing for. It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is important to do research across many different groups of</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people and to “walk in their shoes’’ before the Create phase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if employing empathic design methods.</a:t>
            </a:r>
          </a:p>
          <a:p>
            <a:pPr marL="0" indent="0" algn="just">
              <a:buNone/>
            </a:pPr>
            <a:endParaRPr lang="en-US" sz="2400" dirty="0">
              <a:latin typeface="Times New Roman" pitchFamily="18" charset="0"/>
              <a:cs typeface="Times New Roman" pitchFamily="18" charset="0"/>
            </a:endParaRPr>
          </a:p>
          <a:p>
            <a:pPr marL="0" indent="0" algn="just">
              <a:buNone/>
            </a:pPr>
            <a:endParaRPr lang="en-US" sz="2400" dirty="0">
              <a:latin typeface="Times New Roman" pitchFamily="18" charset="0"/>
              <a:cs typeface="Times New Roman" pitchFamily="18" charset="0"/>
            </a:endParaRPr>
          </a:p>
        </p:txBody>
      </p:sp>
      <p:sp>
        <p:nvSpPr>
          <p:cNvPr id="4" name="Title 1"/>
          <p:cNvSpPr>
            <a:spLocks noGrp="1"/>
          </p:cNvSpPr>
          <p:nvPr>
            <p:ph type="title"/>
          </p:nvPr>
        </p:nvSpPr>
        <p:spPr>
          <a:xfrm>
            <a:off x="457200" y="304800"/>
            <a:ext cx="8458200" cy="487362"/>
          </a:xfrm>
        </p:spPr>
        <p:style>
          <a:lnRef idx="2">
            <a:schemeClr val="accent1"/>
          </a:lnRef>
          <a:fillRef idx="1">
            <a:schemeClr val="lt1"/>
          </a:fillRef>
          <a:effectRef idx="0">
            <a:schemeClr val="accent1"/>
          </a:effectRef>
          <a:fontRef idx="minor">
            <a:schemeClr val="dk1"/>
          </a:fontRef>
        </p:style>
        <p:txBody>
          <a:bodyPr/>
          <a:lstStyle/>
          <a:p>
            <a:r>
              <a:rPr lang="en-US" sz="2800" dirty="0">
                <a:latin typeface="Times New Roman" pitchFamily="18" charset="0"/>
                <a:cs typeface="Times New Roman" pitchFamily="18" charset="0"/>
              </a:rPr>
              <a:t/>
            </a:r>
            <a:br>
              <a:rPr lang="en-US" sz="2800" dirty="0">
                <a:latin typeface="Times New Roman" pitchFamily="18" charset="0"/>
                <a:cs typeface="Times New Roman" pitchFamily="18" charset="0"/>
              </a:rPr>
            </a:br>
            <a:r>
              <a:rPr lang="en-US" sz="2800" cap="none" spc="0" dirty="0">
                <a:ln>
                  <a:noFill/>
                </a:ln>
                <a:solidFill>
                  <a:schemeClr val="tx1"/>
                </a:solidFill>
                <a:effectLst/>
                <a:latin typeface="Times New Roman" pitchFamily="18" charset="0"/>
                <a:cs typeface="Times New Roman" pitchFamily="18" charset="0"/>
              </a:rPr>
              <a:t>Empathy Tools And Techniques.</a:t>
            </a:r>
            <a:br>
              <a:rPr lang="en-US" sz="2800" cap="none" spc="0" dirty="0">
                <a:ln>
                  <a:noFill/>
                </a:ln>
                <a:solidFill>
                  <a:schemeClr val="tx1"/>
                </a:solidFill>
                <a:effectLst/>
                <a:latin typeface="Times New Roman" pitchFamily="18" charset="0"/>
                <a:cs typeface="Times New Roman" pitchFamily="18" charset="0"/>
              </a:rPr>
            </a:br>
            <a:endParaRPr lang="en-US" sz="2800" cap="none" spc="0" dirty="0">
              <a:ln>
                <a:noFill/>
              </a:ln>
              <a:solidFill>
                <a:schemeClr val="tx1"/>
              </a:solidFill>
              <a:effectLst/>
            </a:endParaRPr>
          </a:p>
        </p:txBody>
      </p:sp>
      <p:sp>
        <p:nvSpPr>
          <p:cNvPr id="2" name="Date Placeholder 1"/>
          <p:cNvSpPr>
            <a:spLocks noGrp="1"/>
          </p:cNvSpPr>
          <p:nvPr>
            <p:ph type="dt" sz="half" idx="10"/>
          </p:nvPr>
        </p:nvSpPr>
        <p:spPr/>
        <p:txBody>
          <a:bodyPr/>
          <a:lstStyle/>
          <a:p>
            <a:fld id="{14797E08-A965-4435-9AF3-D6637CB3CB91}" type="datetime1">
              <a:rPr lang="en-US" smtClean="0"/>
              <a:t>7/8/2026</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49</a:t>
            </a:fld>
            <a:endParaRPr lang="en-US"/>
          </a:p>
        </p:txBody>
      </p:sp>
      <p:graphicFrame>
        <p:nvGraphicFramePr>
          <p:cNvPr id="6" name="Table 5"/>
          <p:cNvGraphicFramePr>
            <a:graphicFrameLocks noGrp="1"/>
          </p:cNvGraphicFramePr>
          <p:nvPr/>
        </p:nvGraphicFramePr>
        <p:xfrm>
          <a:off x="914400" y="2819400"/>
          <a:ext cx="7467600" cy="33528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xmlns="" val="20000"/>
                    </a:ext>
                  </a:extLst>
                </a:gridCol>
                <a:gridCol w="5410200">
                  <a:extLst>
                    <a:ext uri="{9D8B030D-6E8A-4147-A177-3AD203B41FA5}">
                      <a16:colId xmlns:a16="http://schemas.microsoft.com/office/drawing/2014/main" xmlns="" val="20001"/>
                    </a:ext>
                  </a:extLst>
                </a:gridCol>
              </a:tblGrid>
              <a:tr h="838200">
                <a:tc>
                  <a:txBody>
                    <a:bodyPr/>
                    <a:lstStyle/>
                    <a:p>
                      <a:r>
                        <a:rPr kumimoji="0" lang="en-US" kern="1200" dirty="0">
                          <a:solidFill>
                            <a:schemeClr val="bg1"/>
                          </a:solidFill>
                          <a:latin typeface="+mn-lt"/>
                          <a:ea typeface="+mn-ea"/>
                          <a:cs typeface="+mn-cs"/>
                        </a:rPr>
                        <a:t>Empathy Map</a:t>
                      </a:r>
                      <a:endParaRPr lang="en-US" dirty="0">
                        <a:solidFill>
                          <a:schemeClr val="bg1"/>
                        </a:solidFill>
                      </a:endParaRPr>
                    </a:p>
                  </a:txBody>
                  <a:tcPr/>
                </a:tc>
                <a:tc>
                  <a:txBody>
                    <a:bodyPr/>
                    <a:lstStyle/>
                    <a:p>
                      <a:r>
                        <a:rPr kumimoji="0" lang="en-US" kern="1200" dirty="0">
                          <a:solidFill>
                            <a:schemeClr val="bg1"/>
                          </a:solidFill>
                          <a:latin typeface="+mn-lt"/>
                          <a:ea typeface="+mn-ea"/>
                          <a:cs typeface="+mn-cs"/>
                        </a:rPr>
                        <a:t>Empathy Maps help team members understand the user’s Mindset</a:t>
                      </a:r>
                      <a:endParaRPr lang="en-US" dirty="0">
                        <a:solidFill>
                          <a:schemeClr val="bg1"/>
                        </a:solidFill>
                      </a:endParaRPr>
                    </a:p>
                  </a:txBody>
                  <a:tcPr/>
                </a:tc>
                <a:extLst>
                  <a:ext uri="{0D108BD9-81ED-4DB2-BD59-A6C34878D82A}">
                    <a16:rowId xmlns:a16="http://schemas.microsoft.com/office/drawing/2014/main" xmlns="" val="10000"/>
                  </a:ext>
                </a:extLst>
              </a:tr>
              <a:tr h="838200">
                <a:tc>
                  <a:txBody>
                    <a:bodyPr/>
                    <a:lstStyle/>
                    <a:p>
                      <a:r>
                        <a:rPr kumimoji="0" lang="en-US" kern="1200" dirty="0">
                          <a:solidFill>
                            <a:schemeClr val="tx1"/>
                          </a:solidFill>
                          <a:latin typeface="+mn-lt"/>
                          <a:ea typeface="+mn-ea"/>
                          <a:cs typeface="+mn-cs"/>
                        </a:rPr>
                        <a:t>Customer Journey</a:t>
                      </a:r>
                      <a:r>
                        <a:rPr lang="en-US" dirty="0">
                          <a:solidFill>
                            <a:schemeClr val="tx1"/>
                          </a:solidFill>
                        </a:rPr>
                        <a:t/>
                      </a:r>
                      <a:br>
                        <a:rPr lang="en-US" dirty="0">
                          <a:solidFill>
                            <a:schemeClr val="tx1"/>
                          </a:solidFill>
                        </a:rPr>
                      </a:br>
                      <a:r>
                        <a:rPr kumimoji="0" lang="en-US" kern="1200" dirty="0">
                          <a:solidFill>
                            <a:schemeClr val="tx1"/>
                          </a:solidFill>
                          <a:latin typeface="+mn-lt"/>
                          <a:ea typeface="+mn-ea"/>
                          <a:cs typeface="+mn-cs"/>
                        </a:rPr>
                        <a:t>map</a:t>
                      </a:r>
                      <a:endParaRPr lang="en-US" dirty="0">
                        <a:solidFill>
                          <a:schemeClr val="tx1"/>
                        </a:solidFill>
                      </a:endParaRPr>
                    </a:p>
                  </a:txBody>
                  <a:tcPr/>
                </a:tc>
                <a:tc>
                  <a:txBody>
                    <a:bodyPr/>
                    <a:lstStyle/>
                    <a:p>
                      <a:r>
                        <a:rPr kumimoji="0" lang="en-US" kern="1200" dirty="0">
                          <a:solidFill>
                            <a:schemeClr val="dk1"/>
                          </a:solidFill>
                          <a:latin typeface="+mn-lt"/>
                          <a:ea typeface="+mn-ea"/>
                          <a:cs typeface="+mn-cs"/>
                        </a:rPr>
                        <a:t>Customer journey maps Focus on a specific customer’s</a:t>
                      </a:r>
                      <a:r>
                        <a:rPr lang="en-US" dirty="0"/>
                        <a:t/>
                      </a:r>
                      <a:br>
                        <a:rPr lang="en-US" dirty="0"/>
                      </a:br>
                      <a:r>
                        <a:rPr kumimoji="0" lang="en-US" kern="1200" dirty="0">
                          <a:solidFill>
                            <a:schemeClr val="dk1"/>
                          </a:solidFill>
                          <a:latin typeface="+mn-lt"/>
                          <a:ea typeface="+mn-ea"/>
                          <a:cs typeface="+mn-cs"/>
                        </a:rPr>
                        <a:t>interaction with a product or service</a:t>
                      </a:r>
                      <a:endParaRPr lang="en-US" dirty="0"/>
                    </a:p>
                  </a:txBody>
                  <a:tcPr/>
                </a:tc>
                <a:extLst>
                  <a:ext uri="{0D108BD9-81ED-4DB2-BD59-A6C34878D82A}">
                    <a16:rowId xmlns:a16="http://schemas.microsoft.com/office/drawing/2014/main" xmlns="" val="10001"/>
                  </a:ext>
                </a:extLst>
              </a:tr>
              <a:tr h="838200">
                <a:tc>
                  <a:txBody>
                    <a:bodyPr/>
                    <a:lstStyle/>
                    <a:p>
                      <a:r>
                        <a:rPr kumimoji="0" lang="en-US" kern="1200" dirty="0">
                          <a:solidFill>
                            <a:schemeClr val="tx1"/>
                          </a:solidFill>
                          <a:latin typeface="+mn-lt"/>
                          <a:ea typeface="+mn-ea"/>
                          <a:cs typeface="+mn-cs"/>
                        </a:rPr>
                        <a:t>Experience Map</a:t>
                      </a:r>
                      <a:endParaRPr lang="en-US" dirty="0">
                        <a:solidFill>
                          <a:schemeClr val="tx1"/>
                        </a:solidFill>
                      </a:endParaRPr>
                    </a:p>
                  </a:txBody>
                  <a:tcPr/>
                </a:tc>
                <a:tc>
                  <a:txBody>
                    <a:bodyPr/>
                    <a:lstStyle/>
                    <a:p>
                      <a:r>
                        <a:rPr kumimoji="0" lang="en-US" kern="1200" dirty="0">
                          <a:solidFill>
                            <a:schemeClr val="dk1"/>
                          </a:solidFill>
                          <a:latin typeface="+mn-lt"/>
                          <a:ea typeface="+mn-ea"/>
                          <a:cs typeface="+mn-cs"/>
                        </a:rPr>
                        <a:t>Experience Maps generalize the concept of customer-journey maps across user types and products.</a:t>
                      </a:r>
                      <a:endParaRPr lang="en-US" dirty="0"/>
                    </a:p>
                  </a:txBody>
                  <a:tcPr/>
                </a:tc>
                <a:extLst>
                  <a:ext uri="{0D108BD9-81ED-4DB2-BD59-A6C34878D82A}">
                    <a16:rowId xmlns:a16="http://schemas.microsoft.com/office/drawing/2014/main" xmlns="" val="10002"/>
                  </a:ext>
                </a:extLst>
              </a:tr>
              <a:tr h="838200">
                <a:tc>
                  <a:txBody>
                    <a:bodyPr/>
                    <a:lstStyle/>
                    <a:p>
                      <a:r>
                        <a:rPr kumimoji="0" lang="en-US" kern="1200" dirty="0">
                          <a:solidFill>
                            <a:schemeClr val="tx1"/>
                          </a:solidFill>
                          <a:latin typeface="+mn-lt"/>
                          <a:ea typeface="+mn-ea"/>
                          <a:cs typeface="+mn-cs"/>
                        </a:rPr>
                        <a:t>Service Map</a:t>
                      </a:r>
                      <a:endParaRPr lang="en-US" dirty="0">
                        <a:solidFill>
                          <a:schemeClr val="tx1"/>
                        </a:solidFill>
                      </a:endParaRPr>
                    </a:p>
                  </a:txBody>
                  <a:tcPr/>
                </a:tc>
                <a:tc>
                  <a:txBody>
                    <a:bodyPr/>
                    <a:lstStyle/>
                    <a:p>
                      <a:r>
                        <a:rPr kumimoji="0" lang="en-US" kern="1200" dirty="0">
                          <a:solidFill>
                            <a:schemeClr val="dk1"/>
                          </a:solidFill>
                          <a:latin typeface="+mn-lt"/>
                          <a:ea typeface="+mn-ea"/>
                          <a:cs typeface="+mn-cs"/>
                        </a:rPr>
                        <a:t>Service blueprints are counterparts to customer journey maps, focuses on the employees.</a:t>
                      </a:r>
                      <a:endParaRPr lang="en-US" dirty="0"/>
                    </a:p>
                  </a:txBody>
                  <a:tcPr/>
                </a:tc>
                <a:extLst>
                  <a:ext uri="{0D108BD9-81ED-4DB2-BD59-A6C34878D82A}">
                    <a16:rowId xmlns:a16="http://schemas.microsoft.com/office/drawing/2014/main" xmlns="" val="10003"/>
                  </a:ext>
                </a:extLst>
              </a:tr>
            </a:tbl>
          </a:graphicData>
        </a:graphic>
      </p:graphicFrame>
      <p:sp>
        <p:nvSpPr>
          <p:cNvPr id="7" name="Footer Placeholder 6">
            <a:extLst>
              <a:ext uri="{FF2B5EF4-FFF2-40B4-BE49-F238E27FC236}">
                <a16:creationId xmlns:a16="http://schemas.microsoft.com/office/drawing/2014/main" xmlns="" id="{E9E024EE-5610-4F7B-8D45-52C6A13D8637}"/>
              </a:ext>
            </a:extLst>
          </p:cNvPr>
          <p:cNvSpPr>
            <a:spLocks noGrp="1"/>
          </p:cNvSpPr>
          <p:nvPr>
            <p:ph type="ftr" sz="quarter" idx="11"/>
          </p:nvPr>
        </p:nvSpPr>
        <p:spPr/>
        <p:txBody>
          <a:bodyPr/>
          <a:lstStyle/>
          <a:p>
            <a:r>
              <a:rPr lang="en-US"/>
              <a:t>Dr.B.Madhura, MBA</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C2B932-D029-4FB9-B176-E0DB038CF3B2}" type="datetime1">
              <a:rPr lang="en-US" smtClean="0"/>
              <a:t>7/8/2026</a:t>
            </a:fld>
            <a:endParaRPr lang="en-US"/>
          </a:p>
        </p:txBody>
      </p:sp>
      <p:sp>
        <p:nvSpPr>
          <p:cNvPr id="3" name="Slide Number Placeholder 2"/>
          <p:cNvSpPr>
            <a:spLocks noGrp="1"/>
          </p:cNvSpPr>
          <p:nvPr>
            <p:ph type="sldNum" sz="quarter" idx="12"/>
          </p:nvPr>
        </p:nvSpPr>
        <p:spPr/>
        <p:txBody>
          <a:bodyPr/>
          <a:lstStyle/>
          <a:p>
            <a:fld id="{D4EFF482-3786-46E7-9869-AFA9F18680F5}" type="slidenum">
              <a:rPr lang="en-US" smtClean="0"/>
              <a:pPr/>
              <a:t>50</a:t>
            </a:fld>
            <a:endParaRPr lang="en-US"/>
          </a:p>
        </p:txBody>
      </p:sp>
      <p:pic>
        <p:nvPicPr>
          <p:cNvPr id="4" name="Picture 2"/>
          <p:cNvPicPr>
            <a:picLocks noChangeAspect="1" noChangeArrowheads="1"/>
          </p:cNvPicPr>
          <p:nvPr/>
        </p:nvPicPr>
        <p:blipFill>
          <a:blip r:embed="rId2"/>
          <a:srcRect t="15625" r="31250" b="38542"/>
          <a:stretch>
            <a:fillRect/>
          </a:stretch>
        </p:blipFill>
        <p:spPr bwMode="auto">
          <a:xfrm>
            <a:off x="457200" y="381000"/>
            <a:ext cx="8305800" cy="6096000"/>
          </a:xfrm>
          <a:prstGeom prst="rect">
            <a:avLst/>
          </a:prstGeom>
          <a:ln w="25400" cap="flat" cmpd="sng" algn="ctr">
            <a:solidFill>
              <a:schemeClr val="accent1"/>
            </a:solidFill>
            <a:prstDash val="solid"/>
            <a:headEnd/>
            <a:tailEnd/>
          </a:ln>
        </p:spPr>
        <p:style>
          <a:lnRef idx="2">
            <a:schemeClr val="accent1"/>
          </a:lnRef>
          <a:fillRef idx="1">
            <a:schemeClr val="lt1"/>
          </a:fillRef>
          <a:effectRef idx="0">
            <a:schemeClr val="accent1"/>
          </a:effectRef>
          <a:fontRef idx="minor">
            <a:schemeClr val="dk1"/>
          </a:fontRef>
        </p:style>
      </p:pic>
      <p:sp>
        <p:nvSpPr>
          <p:cNvPr id="5" name="Footer Placeholder 4">
            <a:extLst>
              <a:ext uri="{FF2B5EF4-FFF2-40B4-BE49-F238E27FC236}">
                <a16:creationId xmlns:a16="http://schemas.microsoft.com/office/drawing/2014/main" xmlns="" id="{E8AFBA9A-F3F6-47AC-9508-6DF9C068FBAD}"/>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15631260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17284D-0620-4A0E-89DA-9FEAF4E238F4}" type="datetime1">
              <a:rPr lang="en-US" smtClean="0"/>
              <a:t>7/8/2026</a:t>
            </a:fld>
            <a:endParaRPr lang="en-US"/>
          </a:p>
        </p:txBody>
      </p:sp>
      <p:sp>
        <p:nvSpPr>
          <p:cNvPr id="3" name="Slide Number Placeholder 2"/>
          <p:cNvSpPr>
            <a:spLocks noGrp="1"/>
          </p:cNvSpPr>
          <p:nvPr>
            <p:ph type="sldNum" sz="quarter" idx="12"/>
          </p:nvPr>
        </p:nvSpPr>
        <p:spPr/>
        <p:txBody>
          <a:bodyPr/>
          <a:lstStyle/>
          <a:p>
            <a:fld id="{D4EFF482-3786-46E7-9869-AFA9F18680F5}" type="slidenum">
              <a:rPr lang="en-US" smtClean="0"/>
              <a:pPr/>
              <a:t>51</a:t>
            </a:fld>
            <a:endParaRPr lang="en-US"/>
          </a:p>
        </p:txBody>
      </p:sp>
      <p:pic>
        <p:nvPicPr>
          <p:cNvPr id="4" name="Picture 2"/>
          <p:cNvPicPr>
            <a:picLocks noChangeAspect="1" noChangeArrowheads="1"/>
          </p:cNvPicPr>
          <p:nvPr/>
        </p:nvPicPr>
        <p:blipFill>
          <a:blip r:embed="rId2"/>
          <a:srcRect l="8594" t="15625" r="41406" b="37500"/>
          <a:stretch>
            <a:fillRect/>
          </a:stretch>
        </p:blipFill>
        <p:spPr bwMode="blackGray">
          <a:xfrm>
            <a:off x="457200" y="381000"/>
            <a:ext cx="8305800" cy="6019800"/>
          </a:xfrm>
          <a:prstGeom prst="rect">
            <a:avLst/>
          </a:prstGeom>
          <a:ln w="25400" cap="flat" cmpd="sng" algn="ctr">
            <a:solidFill>
              <a:schemeClr val="accent1"/>
            </a:solidFill>
            <a:prstDash val="solid"/>
            <a:headEnd/>
            <a:tailEnd/>
          </a:ln>
        </p:spPr>
        <p:style>
          <a:lnRef idx="2">
            <a:schemeClr val="accent1"/>
          </a:lnRef>
          <a:fillRef idx="1">
            <a:schemeClr val="lt1"/>
          </a:fillRef>
          <a:effectRef idx="0">
            <a:schemeClr val="accent1"/>
          </a:effectRef>
          <a:fontRef idx="minor">
            <a:schemeClr val="dk1"/>
          </a:fontRef>
        </p:style>
      </p:pic>
      <p:sp>
        <p:nvSpPr>
          <p:cNvPr id="5" name="Footer Placeholder 4">
            <a:extLst>
              <a:ext uri="{FF2B5EF4-FFF2-40B4-BE49-F238E27FC236}">
                <a16:creationId xmlns:a16="http://schemas.microsoft.com/office/drawing/2014/main" xmlns="" id="{7E12FAA8-770E-4532-8E39-6D43AE6A2248}"/>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24392470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706254-E356-49FA-ABF5-F23C1A8CFFCE}" type="datetime1">
              <a:rPr lang="en-US" smtClean="0"/>
              <a:t>7/8/2026</a:t>
            </a:fld>
            <a:endParaRPr lang="en-US"/>
          </a:p>
        </p:txBody>
      </p:sp>
      <p:sp>
        <p:nvSpPr>
          <p:cNvPr id="3" name="Slide Number Placeholder 2"/>
          <p:cNvSpPr>
            <a:spLocks noGrp="1"/>
          </p:cNvSpPr>
          <p:nvPr>
            <p:ph type="sldNum" sz="quarter" idx="12"/>
          </p:nvPr>
        </p:nvSpPr>
        <p:spPr/>
        <p:txBody>
          <a:bodyPr/>
          <a:lstStyle/>
          <a:p>
            <a:fld id="{D4EFF482-3786-46E7-9869-AFA9F18680F5}" type="slidenum">
              <a:rPr lang="en-US" smtClean="0"/>
              <a:pPr/>
              <a:t>52</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14400"/>
            <a:ext cx="8305800" cy="5334001"/>
          </a:xfrm>
          <a:prstGeom prst="rect">
            <a:avLst/>
          </a:prstGeom>
          <a:ln/>
        </p:spPr>
        <p:style>
          <a:lnRef idx="2">
            <a:schemeClr val="accent1"/>
          </a:lnRef>
          <a:fillRef idx="1">
            <a:schemeClr val="lt1"/>
          </a:fillRef>
          <a:effectRef idx="0">
            <a:schemeClr val="accent1"/>
          </a:effectRef>
          <a:fontRef idx="minor">
            <a:schemeClr val="dk1"/>
          </a:fontRef>
        </p:style>
      </p:pic>
      <p:sp>
        <p:nvSpPr>
          <p:cNvPr id="5" name="Rectangle 4"/>
          <p:cNvSpPr/>
          <p:nvPr/>
        </p:nvSpPr>
        <p:spPr>
          <a:xfrm>
            <a:off x="457200" y="318463"/>
            <a:ext cx="83058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b="1" dirty="0"/>
              <a:t>Empathy Map</a:t>
            </a:r>
            <a:endParaRPr lang="en-US" dirty="0"/>
          </a:p>
        </p:txBody>
      </p:sp>
      <p:sp>
        <p:nvSpPr>
          <p:cNvPr id="4" name="Footer Placeholder 3">
            <a:extLst>
              <a:ext uri="{FF2B5EF4-FFF2-40B4-BE49-F238E27FC236}">
                <a16:creationId xmlns:a16="http://schemas.microsoft.com/office/drawing/2014/main" xmlns="" id="{185B057E-3314-426C-9797-CA43E298908C}"/>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6719435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AC474-EDA8-45BA-B921-18499A6DAA82}" type="datetime1">
              <a:rPr lang="en-US" smtClean="0"/>
              <a:t>7/8/2026</a:t>
            </a:fld>
            <a:endParaRPr lang="en-US"/>
          </a:p>
        </p:txBody>
      </p:sp>
      <p:sp>
        <p:nvSpPr>
          <p:cNvPr id="3" name="Slide Number Placeholder 2"/>
          <p:cNvSpPr>
            <a:spLocks noGrp="1"/>
          </p:cNvSpPr>
          <p:nvPr>
            <p:ph type="sldNum" sz="quarter" idx="12"/>
          </p:nvPr>
        </p:nvSpPr>
        <p:spPr/>
        <p:txBody>
          <a:bodyPr/>
          <a:lstStyle/>
          <a:p>
            <a:fld id="{D4EFF482-3786-46E7-9869-AFA9F18680F5}" type="slidenum">
              <a:rPr lang="en-US" smtClean="0"/>
              <a:pPr/>
              <a:t>53</a:t>
            </a:fld>
            <a:endParaRPr lang="en-US"/>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1649" t="10864" r="25334" b="15952"/>
          <a:stretch/>
        </p:blipFill>
        <p:spPr bwMode="auto">
          <a:xfrm>
            <a:off x="330896" y="381000"/>
            <a:ext cx="8199329" cy="6096000"/>
          </a:xfrm>
          <a:prstGeom prst="rect">
            <a:avLst/>
          </a:prstGeom>
          <a:ln/>
        </p:spPr>
        <p:style>
          <a:lnRef idx="2">
            <a:schemeClr val="accent1"/>
          </a:lnRef>
          <a:fillRef idx="1">
            <a:schemeClr val="lt1"/>
          </a:fillRef>
          <a:effectRef idx="0">
            <a:schemeClr val="accent1"/>
          </a:effectRef>
          <a:fontRef idx="minor">
            <a:schemeClr val="dk1"/>
          </a:fontRef>
        </p:style>
      </p:pic>
      <p:sp>
        <p:nvSpPr>
          <p:cNvPr id="4" name="Footer Placeholder 3">
            <a:extLst>
              <a:ext uri="{FF2B5EF4-FFF2-40B4-BE49-F238E27FC236}">
                <a16:creationId xmlns:a16="http://schemas.microsoft.com/office/drawing/2014/main" xmlns="" id="{90B72407-BCAB-481C-A7EF-09D3C34C6EDC}"/>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30067284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C3D320-4E54-444C-BBB7-4A000AD36320}" type="datetime1">
              <a:rPr lang="en-US" smtClean="0"/>
              <a:t>7/8/2026</a:t>
            </a:fld>
            <a:endParaRPr lang="en-US"/>
          </a:p>
        </p:txBody>
      </p:sp>
      <p:sp>
        <p:nvSpPr>
          <p:cNvPr id="3" name="Slide Number Placeholder 2"/>
          <p:cNvSpPr>
            <a:spLocks noGrp="1"/>
          </p:cNvSpPr>
          <p:nvPr>
            <p:ph type="sldNum" sz="quarter" idx="12"/>
          </p:nvPr>
        </p:nvSpPr>
        <p:spPr/>
        <p:txBody>
          <a:bodyPr/>
          <a:lstStyle/>
          <a:p>
            <a:fld id="{D4EFF482-3786-46E7-9869-AFA9F18680F5}" type="slidenum">
              <a:rPr lang="en-US" smtClean="0"/>
              <a:pPr/>
              <a:t>54</a:t>
            </a:fld>
            <a:endParaRPr lang="en-US"/>
          </a:p>
        </p:txBody>
      </p:sp>
      <p:pic>
        <p:nvPicPr>
          <p:cNvPr id="4" name="Picture 2"/>
          <p:cNvPicPr>
            <a:picLocks noChangeAspect="1" noChangeArrowheads="1"/>
          </p:cNvPicPr>
          <p:nvPr/>
        </p:nvPicPr>
        <p:blipFill>
          <a:blip r:embed="rId2"/>
          <a:srcRect t="15625" r="29688" b="37500"/>
          <a:stretch>
            <a:fillRect/>
          </a:stretch>
        </p:blipFill>
        <p:spPr bwMode="auto">
          <a:xfrm>
            <a:off x="457200" y="381000"/>
            <a:ext cx="8305800" cy="6096000"/>
          </a:xfrm>
          <a:prstGeom prst="rect">
            <a:avLst/>
          </a:prstGeom>
          <a:ln>
            <a:headEnd/>
            <a:tailEnd/>
          </a:ln>
        </p:spPr>
        <p:style>
          <a:lnRef idx="2">
            <a:schemeClr val="accent1"/>
          </a:lnRef>
          <a:fillRef idx="1">
            <a:schemeClr val="lt1"/>
          </a:fillRef>
          <a:effectRef idx="0">
            <a:schemeClr val="accent1"/>
          </a:effectRef>
          <a:fontRef idx="minor">
            <a:schemeClr val="dk1"/>
          </a:fontRef>
        </p:style>
      </p:pic>
      <p:sp>
        <p:nvSpPr>
          <p:cNvPr id="5" name="Footer Placeholder 4">
            <a:extLst>
              <a:ext uri="{FF2B5EF4-FFF2-40B4-BE49-F238E27FC236}">
                <a16:creationId xmlns:a16="http://schemas.microsoft.com/office/drawing/2014/main" xmlns="" id="{7976FB58-C505-4610-A86C-07C506B03167}"/>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35651079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BD96A1-16F8-4075-B14D-81E6C116CBC0}" type="datetime1">
              <a:rPr lang="en-US" smtClean="0"/>
              <a:t>7/8/2026</a:t>
            </a:fld>
            <a:endParaRPr lang="en-US"/>
          </a:p>
        </p:txBody>
      </p:sp>
      <p:sp>
        <p:nvSpPr>
          <p:cNvPr id="3" name="Slide Number Placeholder 2"/>
          <p:cNvSpPr>
            <a:spLocks noGrp="1"/>
          </p:cNvSpPr>
          <p:nvPr>
            <p:ph type="sldNum" sz="quarter" idx="12"/>
          </p:nvPr>
        </p:nvSpPr>
        <p:spPr/>
        <p:txBody>
          <a:bodyPr/>
          <a:lstStyle/>
          <a:p>
            <a:fld id="{D4EFF482-3786-46E7-9869-AFA9F18680F5}" type="slidenum">
              <a:rPr lang="en-US" smtClean="0"/>
              <a:pPr/>
              <a:t>55</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581400"/>
            <a:ext cx="8229600" cy="2895600"/>
          </a:xfrm>
          <a:prstGeom prst="rect">
            <a:avLst/>
          </a:prstGeom>
          <a:ln/>
        </p:spPr>
        <p:style>
          <a:lnRef idx="2">
            <a:schemeClr val="accent1"/>
          </a:lnRef>
          <a:fillRef idx="1">
            <a:schemeClr val="lt1"/>
          </a:fillRef>
          <a:effectRef idx="0">
            <a:schemeClr val="accent1"/>
          </a:effectRef>
          <a:fontRef idx="minor">
            <a:schemeClr val="dk1"/>
          </a:fontRef>
        </p:style>
      </p:pic>
      <p:sp>
        <p:nvSpPr>
          <p:cNvPr id="4" name="Rectangle 3"/>
          <p:cNvSpPr/>
          <p:nvPr/>
        </p:nvSpPr>
        <p:spPr>
          <a:xfrm>
            <a:off x="533400" y="295167"/>
            <a:ext cx="8229600" cy="304698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latin typeface="Times New Roman" pitchFamily="18" charset="0"/>
                <a:cs typeface="Times New Roman" pitchFamily="18" charset="0"/>
              </a:rPr>
              <a:t>Mind Maps are more convenient than traditional linear notes because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Traditional notes writing is time wasted and energy wasted</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Other information may be missed while noting down one idea</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It takes longer to read and review</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Associations and connections between key words and ideas not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readily apparent.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It lacks color and other visual qualities</a:t>
            </a:r>
          </a:p>
        </p:txBody>
      </p:sp>
      <p:sp>
        <p:nvSpPr>
          <p:cNvPr id="5" name="Footer Placeholder 4">
            <a:extLst>
              <a:ext uri="{FF2B5EF4-FFF2-40B4-BE49-F238E27FC236}">
                <a16:creationId xmlns:a16="http://schemas.microsoft.com/office/drawing/2014/main" xmlns="" id="{B6070608-F527-4439-BF77-D7F175899D13}"/>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36843484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_rels/them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theme1.xml><?xml version="1.0" encoding="utf-8"?>
<a:theme xmlns:a="http://schemas.openxmlformats.org/drawingml/2006/main" name="Calligraphy">
  <a:themeElements>
    <a:clrScheme name="Calligraphy">
      <a:dk1>
        <a:sysClr val="windowText" lastClr="000000"/>
      </a:dk1>
      <a:lt1>
        <a:sysClr val="window" lastClr="FFFFFF"/>
      </a:lt1>
      <a:dk2>
        <a:srgbClr val="411401"/>
      </a:dk2>
      <a:lt2>
        <a:srgbClr val="FFE6E6"/>
      </a:lt2>
      <a:accent1>
        <a:srgbClr val="A24A48"/>
      </a:accent1>
      <a:accent2>
        <a:srgbClr val="B2935C"/>
      </a:accent2>
      <a:accent3>
        <a:srgbClr val="6A9A9A"/>
      </a:accent3>
      <a:accent4>
        <a:srgbClr val="B2B787"/>
      </a:accent4>
      <a:accent5>
        <a:srgbClr val="91644B"/>
      </a:accent5>
      <a:accent6>
        <a:srgbClr val="654A76"/>
      </a:accent6>
      <a:hlink>
        <a:srgbClr val="00A800"/>
      </a:hlink>
      <a:folHlink>
        <a:srgbClr val="FF00FF"/>
      </a:folHlink>
    </a:clrScheme>
    <a:fontScheme name="Calligraphy">
      <a:majorFont>
        <a:latin typeface="Cambria"/>
        <a:ea typeface=""/>
        <a:cs typeface=""/>
        <a:font script="Jpan" typeface="ＭＳ Ｐゴシック"/>
        <a:font script="Hang" typeface="맑은 고딕"/>
        <a:font script="Hans" typeface="华文行楷"/>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明朝"/>
        <a:font script="Hang" typeface="HY견명조"/>
        <a:font script="Hans" typeface="华文行楷"/>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lligraphy">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100000"/>
                <a:shade val="80000"/>
                <a:hueMod val="100000"/>
                <a:satMod val="300000"/>
              </a:schemeClr>
            </a:gs>
            <a:gs pos="72000">
              <a:schemeClr val="phClr">
                <a:tint val="100000"/>
                <a:shade val="100000"/>
                <a:hueMod val="100000"/>
                <a:satMod val="100000"/>
              </a:schemeClr>
            </a:gs>
            <a:gs pos="81000">
              <a:schemeClr val="phClr">
                <a:tint val="98000"/>
                <a:shade val="100000"/>
                <a:hueMod val="100000"/>
                <a:satMod val="150000"/>
              </a:schemeClr>
            </a:gs>
            <a:gs pos="100000">
              <a:schemeClr val="phClr">
                <a:tint val="100000"/>
                <a:shade val="100000"/>
                <a:hueMod val="100000"/>
                <a:satMod val="200000"/>
              </a:schemeClr>
            </a:gs>
          </a:gsLst>
          <a:lin ang="16200000" scaled="1"/>
        </a:gradFill>
        <a:blipFill>
          <a:blip xmlns:r="http://schemas.openxmlformats.org/officeDocument/2006/relationships" r:embed="rId1">
            <a:duotone>
              <a:schemeClr val="phClr">
                <a:tint val="100000"/>
                <a:shade val="39000"/>
                <a:hueMod val="100000"/>
                <a:satMod val="150000"/>
              </a:schemeClr>
              <a:schemeClr val="phClr">
                <a:tint val="90000"/>
                <a:shade val="100000"/>
                <a:hueMod val="100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1_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3_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2138</TotalTime>
  <Words>2822</Words>
  <Application>Microsoft Office PowerPoint</Application>
  <PresentationFormat>On-screen Show (4:3)</PresentationFormat>
  <Paragraphs>484</Paragraphs>
  <Slides>55</Slides>
  <Notes>1</Notes>
  <HiddenSlides>0</HiddenSlides>
  <MMClips>0</MMClips>
  <ScaleCrop>false</ScaleCrop>
  <HeadingPairs>
    <vt:vector size="4" baseType="variant">
      <vt:variant>
        <vt:lpstr>Theme</vt:lpstr>
      </vt:variant>
      <vt:variant>
        <vt:i4>4</vt:i4>
      </vt:variant>
      <vt:variant>
        <vt:lpstr>Slide Titles</vt:lpstr>
      </vt:variant>
      <vt:variant>
        <vt:i4>55</vt:i4>
      </vt:variant>
    </vt:vector>
  </HeadingPairs>
  <TitlesOfParts>
    <vt:vector size="59" baseType="lpstr">
      <vt:lpstr>Calligraphy</vt:lpstr>
      <vt:lpstr>Civic</vt:lpstr>
      <vt:lpstr>1_Civic</vt:lpstr>
      <vt:lpstr>3_Civic</vt:lpstr>
      <vt:lpstr>CO – CREATION AND PRODUCT DESIGN</vt:lpstr>
      <vt:lpstr>CO – CREATION AND PRODUCT DESIGN   CO – CREATION AND PRODUCT DESIGN   CO – CREATION AND PRODUCT DESIGN    CO – CREATION AND PRODUCT DESIGN   CCO – CREATION AND PRODUCT DESIGN </vt:lpstr>
      <vt:lpstr>Understanding User and Customer        Perspectives</vt:lpstr>
      <vt:lpstr>Understanding User and Customer        Perspectives</vt:lpstr>
      <vt:lpstr>Understanding User and Customer        Perspectives</vt:lpstr>
      <vt:lpstr>The User Perspective</vt:lpstr>
      <vt:lpstr>The Customer Perspective</vt:lpstr>
      <vt:lpstr>Understanding User and Customer        Perspectives</vt:lpstr>
      <vt:lpstr>Understanding User and Customer        Perspectives</vt:lpstr>
      <vt:lpstr>Understanding User and Customer        Perspectives</vt:lpstr>
      <vt:lpstr>Understanding User and Customer Perspectives</vt:lpstr>
      <vt:lpstr>Human-Centered Design</vt:lpstr>
      <vt:lpstr>Human-Centered Design</vt:lpstr>
      <vt:lpstr>Human-Centered Design</vt:lpstr>
      <vt:lpstr>Human-Centered Design</vt:lpstr>
      <vt:lpstr>Human-Centered Design</vt:lpstr>
      <vt:lpstr>Human-Centered Design</vt:lpstr>
      <vt:lpstr>Understanding User and Customer Perspectives</vt:lpstr>
      <vt:lpstr>Understanding User and Customer Perspectives</vt:lpstr>
      <vt:lpstr>PowerPoint Presentation</vt:lpstr>
      <vt:lpstr>PowerPoint Presentation</vt:lpstr>
      <vt:lpstr>Identify Insights And Opportunities</vt:lpstr>
      <vt:lpstr>Identify Insights  and  Opportunities</vt:lpstr>
      <vt:lpstr>Identify Insights And Opportunities</vt:lpstr>
      <vt:lpstr>Identify Insights And Opportunities</vt:lpstr>
      <vt:lpstr>Identify Insights And Opportunities</vt:lpstr>
      <vt:lpstr>Identify Insights And Opportunities</vt:lpstr>
      <vt:lpstr>Identify Insights And Opportunities</vt:lpstr>
      <vt:lpstr>Methods for Identifying Opportunities </vt:lpstr>
      <vt:lpstr>Identify Insights And Opportunities</vt:lpstr>
      <vt:lpstr>Identify Insights And Opportunities</vt:lpstr>
      <vt:lpstr>Identify Insights And Opportunities</vt:lpstr>
      <vt:lpstr>Identify Insights And Opportunities</vt:lpstr>
      <vt:lpstr>Cont…</vt:lpstr>
      <vt:lpstr>Cont…</vt:lpstr>
      <vt:lpstr>Interviewing</vt:lpstr>
      <vt:lpstr>Interviewing</vt:lpstr>
      <vt:lpstr>(Cont.…)</vt:lpstr>
      <vt:lpstr>(Cont.…)</vt:lpstr>
      <vt:lpstr>(Cont.…)</vt:lpstr>
      <vt:lpstr>(Cont.…)</vt:lpstr>
      <vt:lpstr>(Cont.…)</vt:lpstr>
      <vt:lpstr>(Cont.…)</vt:lpstr>
      <vt:lpstr> User Experience Design.  </vt:lpstr>
      <vt:lpstr>User Experience Design. (Cont..)</vt:lpstr>
      <vt:lpstr>Frame Your Design Challenge</vt:lpstr>
      <vt:lpstr>Frame Your Design Challenge</vt:lpstr>
      <vt:lpstr>Frame Your Design Challenge</vt:lpstr>
      <vt:lpstr> Empathy Tools And Techniques.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Dr.Vijay</cp:lastModifiedBy>
  <cp:revision>201</cp:revision>
  <dcterms:created xsi:type="dcterms:W3CDTF">2022-05-14T06:32:11Z</dcterms:created>
  <dcterms:modified xsi:type="dcterms:W3CDTF">2026-07-08T08:44:16Z</dcterms:modified>
  <cp:contentStatus/>
</cp:coreProperties>
</file>