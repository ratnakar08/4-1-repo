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78" r:id="rId4"/>
    <p:sldId id="277" r:id="rId5"/>
    <p:sldId id="279" r:id="rId6"/>
    <p:sldId id="280" r:id="rId7"/>
    <p:sldId id="276" r:id="rId8"/>
    <p:sldId id="287" r:id="rId9"/>
    <p:sldId id="275" r:id="rId10"/>
    <p:sldId id="281" r:id="rId11"/>
    <p:sldId id="284" r:id="rId12"/>
    <p:sldId id="282" r:id="rId13"/>
    <p:sldId id="283" r:id="rId14"/>
    <p:sldId id="274" r:id="rId15"/>
    <p:sldId id="285" r:id="rId16"/>
    <p:sldId id="273" r:id="rId17"/>
    <p:sldId id="286" r:id="rId18"/>
    <p:sldId id="272" r:id="rId19"/>
    <p:sldId id="271" r:id="rId20"/>
    <p:sldId id="288" r:id="rId21"/>
    <p:sldId id="270" r:id="rId22"/>
    <p:sldId id="26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7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E72F4E-896A-4EB7-B494-3B3048C89595}" type="datetimeFigureOut">
              <a:rPr lang="en-US" smtClean="0"/>
              <a:pPr/>
              <a:t>8/27/2024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0C876A-E9FA-4361-A13F-EF46E2799DBB}" type="slidenum">
              <a:rPr lang="en-US" smtClean="0"/>
              <a:pPr/>
              <a:t>‹#›</a:t>
            </a:fld>
            <a:endParaRPr lang="en-US"/>
          </a:p>
        </p:txBody>
      </p:sp>
    </p:spTree>
    <p:extLst>
      <p:ext uri="{BB962C8B-B14F-4D97-AF65-F5344CB8AC3E}">
        <p14:creationId xmlns:p14="http://schemas.microsoft.com/office/powerpoint/2010/main" val="230170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en-US"/>
              <a:t>Click to edit Master title style</a:t>
            </a:r>
          </a:p>
        </p:txBody>
      </p:sp>
      <p:sp>
        <p:nvSpPr>
          <p:cNvPr id="3" name="Subtitle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4" name="Date Placeholder 3"/>
          <p:cNvSpPr>
            <a:spLocks noGrp="1"/>
          </p:cNvSpPr>
          <p:nvPr>
            <p:ph type="dt" sz="half" idx="10"/>
          </p:nvPr>
        </p:nvSpPr>
        <p:spPr/>
        <p:txBody>
          <a:bodyPr/>
          <a:lstStyle/>
          <a:p>
            <a:fld id="{DE805BEB-437F-44B0-B7AB-26C830EB3945}" type="datetime1">
              <a:rPr lang="en-US" smtClean="0"/>
              <a:t>8/27/2024</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D06FD69-8D1D-4013-8E3F-C1F910240E5C}" type="datetime1">
              <a:rPr lang="en-US" smtClean="0"/>
              <a:t>8/27/2024</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3854150"/>
            <a:ext cx="7772400" cy="1860850"/>
          </a:xfrm>
        </p:spPr>
        <p:txBody>
          <a:bodyPr anchor="t"/>
          <a:lstStyle>
            <a:lvl1pPr algn="l">
              <a:defRPr sz="4400" b="1" cap="all"/>
            </a:lvl1pPr>
          </a:lstStyle>
          <a:p>
            <a:r>
              <a:rPr kumimoji="0" lang="en-US"/>
              <a:t>Click to edit Master title style</a:t>
            </a:r>
          </a:p>
        </p:txBody>
      </p:sp>
      <p:sp>
        <p:nvSpPr>
          <p:cNvPr id="3" name="Text Placeholder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69B0B45-B418-45CA-A1D1-F13EC86281A5}" type="datetime1">
              <a:rPr lang="en-US" smtClean="0"/>
              <a:t>8/27/2024</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3E38F79-E498-49E9-8233-85AA3A5FD2E1}" type="datetime1">
              <a:rPr lang="en-US" smtClean="0"/>
              <a:t>8/27/2024</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B2495D6-78D5-46E6-962A-4CDDEBBB246E}" type="datetime1">
              <a:rPr lang="en-US" smtClean="0"/>
              <a:t>8/27/2024</a:t>
            </a:fld>
            <a:endParaRPr lang="en-US"/>
          </a:p>
        </p:txBody>
      </p:sp>
      <p:sp>
        <p:nvSpPr>
          <p:cNvPr id="8" name="Footer Placeholder 7"/>
          <p:cNvSpPr>
            <a:spLocks noGrp="1"/>
          </p:cNvSpPr>
          <p:nvPr>
            <p:ph type="ftr" sz="quarter" idx="11"/>
          </p:nvPr>
        </p:nvSpPr>
        <p:spPr/>
        <p:txBody>
          <a:bodyPr/>
          <a:lstStyle/>
          <a:p>
            <a:r>
              <a:rPr lang="en-US"/>
              <a:t>Dr.B.Madhura, MBA</a:t>
            </a:r>
          </a:p>
        </p:txBody>
      </p:sp>
      <p:sp>
        <p:nvSpPr>
          <p:cNvPr id="9" name="Slide Number Placeholder 8"/>
          <p:cNvSpPr>
            <a:spLocks noGrp="1"/>
          </p:cNvSpPr>
          <p:nvPr>
            <p:ph type="sldNum" sz="quarter" idx="12"/>
          </p:nvPr>
        </p:nvSpPr>
        <p:spPr/>
        <p:txBody>
          <a:bodyPr/>
          <a:lstStyle/>
          <a:p>
            <a:fld id="{D4EFF482-3786-46E7-9869-AFA9F18680F5}" type="slidenum">
              <a:rPr lang="en-US" smtClean="0"/>
              <a:pPr/>
              <a:t>‹#›</a:t>
            </a:fld>
            <a:endParaRPr lang="en-US"/>
          </a:p>
        </p:txBody>
      </p:sp>
      <p:sp>
        <p:nvSpPr>
          <p:cNvPr id="2" name="Title 1"/>
          <p:cNvSpPr>
            <a:spLocks noGrp="1"/>
          </p:cNvSpPr>
          <p:nvPr>
            <p:ph type="title"/>
          </p:nvPr>
        </p:nvSpPr>
        <p:spPr/>
        <p:txBody>
          <a:bodyPr/>
          <a:lstStyle>
            <a:lvl1pPr>
              <a:defRPr/>
            </a:lvl1pPr>
          </a:lstStyle>
          <a:p>
            <a:r>
              <a:rPr kumimoji="0"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417296F-404D-4765-B6BC-D157BC498E24}" type="datetime1">
              <a:rPr lang="en-US" smtClean="0"/>
              <a:t>8/27/2024</a:t>
            </a:fld>
            <a:endParaRPr lang="en-US"/>
          </a:p>
        </p:txBody>
      </p:sp>
      <p:sp>
        <p:nvSpPr>
          <p:cNvPr id="4" name="Footer Placeholder 3"/>
          <p:cNvSpPr>
            <a:spLocks noGrp="1"/>
          </p:cNvSpPr>
          <p:nvPr>
            <p:ph type="ftr" sz="quarter" idx="11"/>
          </p:nvPr>
        </p:nvSpPr>
        <p:spPr/>
        <p:txBody>
          <a:bodyPr/>
          <a:lstStyle/>
          <a:p>
            <a:r>
              <a:rPr lang="en-US"/>
              <a:t>Dr.B.Madhura, MBA</a:t>
            </a:r>
          </a:p>
        </p:txBody>
      </p:sp>
      <p:sp>
        <p:nvSpPr>
          <p:cNvPr id="5" name="Slide Number Placeholder 4"/>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1AE99-0D58-437A-BACD-443B4B7754B2}" type="datetime1">
              <a:rPr lang="en-US" smtClean="0"/>
              <a:t>8/27/2024</a:t>
            </a:fld>
            <a:endParaRPr lang="en-US"/>
          </a:p>
        </p:txBody>
      </p:sp>
      <p:sp>
        <p:nvSpPr>
          <p:cNvPr id="3" name="Footer Placeholder 2"/>
          <p:cNvSpPr>
            <a:spLocks noGrp="1"/>
          </p:cNvSpPr>
          <p:nvPr>
            <p:ph type="ftr" sz="quarter" idx="11"/>
          </p:nvPr>
        </p:nvSpPr>
        <p:spPr/>
        <p:txBody>
          <a:bodyPr/>
          <a:lstStyle/>
          <a:p>
            <a:r>
              <a:rPr lang="en-US"/>
              <a:t>Dr.B.Madhura, MBA</a:t>
            </a:r>
          </a:p>
        </p:txBody>
      </p:sp>
      <p:sp>
        <p:nvSpPr>
          <p:cNvPr id="4" name="Slide Number Placeholder 3"/>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en-US"/>
              <a:t>Click to edit Master title style</a:t>
            </a:r>
          </a:p>
        </p:txBody>
      </p:sp>
      <p:sp>
        <p:nvSpPr>
          <p:cNvPr id="3" name="Content Placeholder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7505EC6-3B2C-4A71-A67F-83DE561D8356}" type="datetime1">
              <a:rPr lang="en-US" smtClean="0"/>
              <a:t>8/27/2024</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0474" y="553734"/>
            <a:ext cx="7349244" cy="4741531"/>
            <a:chOff x="428596" y="553734"/>
            <a:chExt cx="7349244" cy="4741531"/>
          </a:xfrm>
        </p:grpSpPr>
        <p:sp>
          <p:nvSpPr>
            <p:cNvPr id="16" name="Rectangle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Rectangle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Rectangle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Picture Placeholder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useBgFill="1">
        <p:nvSpPr>
          <p:cNvPr id="2" name="Title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en-US"/>
              <a:t>Click to edit Master title style</a:t>
            </a:r>
          </a:p>
        </p:txBody>
      </p:sp>
      <p:sp>
        <p:nvSpPr>
          <p:cNvPr id="4" name="Text Placeholder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0EE8CA4-96D8-4B9F-8C44-F9D183D2D9A3}" type="datetime1">
              <a:rPr lang="en-US" smtClean="0"/>
              <a:t>8/27/2024</a:t>
            </a:fld>
            <a:endParaRPr lang="en-US"/>
          </a:p>
        </p:txBody>
      </p:sp>
      <p:sp>
        <p:nvSpPr>
          <p:cNvPr id="6" name="Footer Placeholder 5"/>
          <p:cNvSpPr>
            <a:spLocks noGrp="1"/>
          </p:cNvSpPr>
          <p:nvPr>
            <p:ph type="ftr" sz="quarter" idx="11"/>
          </p:nvPr>
        </p:nvSpPr>
        <p:spPr/>
        <p:txBody>
          <a:bodyPr/>
          <a:lstStyle/>
          <a:p>
            <a:r>
              <a:rPr lang="en-US"/>
              <a:t>Dr.B.Madhura, MBA</a:t>
            </a:r>
          </a:p>
        </p:txBody>
      </p:sp>
      <p:sp>
        <p:nvSpPr>
          <p:cNvPr id="7" name="Slide Number Placeholder 6"/>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07CB947-5BC3-4AA9-A1A7-AF84279BC71E}" type="datetime1">
              <a:rPr lang="en-US" smtClean="0"/>
              <a:t>8/27/2024</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en-US"/>
              <a:t>Click to edit Master title style</a:t>
            </a:r>
          </a:p>
        </p:txBody>
      </p:sp>
      <p:sp>
        <p:nvSpPr>
          <p:cNvPr id="3" name="Vertical Text Placeholder 2"/>
          <p:cNvSpPr>
            <a:spLocks noGrp="1"/>
          </p:cNvSpPr>
          <p:nvPr>
            <p:ph type="body" orient="vert" idx="1"/>
          </p:nvPr>
        </p:nvSpPr>
        <p:spPr>
          <a:xfrm>
            <a:off x="457200" y="274640"/>
            <a:ext cx="6829444"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C3A6CBE-DCEF-470A-BC71-51365BC2D518}" type="datetime1">
              <a:rPr lang="en-US" smtClean="0"/>
              <a:t>8/27/2024</a:t>
            </a:fld>
            <a:endParaRPr lang="en-US"/>
          </a:p>
        </p:txBody>
      </p:sp>
      <p:sp>
        <p:nvSpPr>
          <p:cNvPr id="5" name="Footer Placeholder 4"/>
          <p:cNvSpPr>
            <a:spLocks noGrp="1"/>
          </p:cNvSpPr>
          <p:nvPr>
            <p:ph type="ftr" sz="quarter" idx="11"/>
          </p:nvPr>
        </p:nvSpPr>
        <p:spPr/>
        <p:txBody>
          <a:bodyPr/>
          <a:lstStyle/>
          <a:p>
            <a:r>
              <a:rPr lang="en-US"/>
              <a:t>Dr.B.Madhura, MBA</a:t>
            </a:r>
          </a:p>
        </p:txBody>
      </p:sp>
      <p:sp>
        <p:nvSpPr>
          <p:cNvPr id="6" name="Slide Number Placeholder 5"/>
          <p:cNvSpPr>
            <a:spLocks noGrp="1"/>
          </p:cNvSpPr>
          <p:nvPr>
            <p:ph type="sldNum" sz="quarter" idx="12"/>
          </p:nvPr>
        </p:nvSpPr>
        <p:spPr/>
        <p:txBody>
          <a:bodyPr/>
          <a:lstStyle/>
          <a:p>
            <a:fld id="{D4EFF482-3786-46E7-9869-AFA9F18680F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en-US"/>
              <a:t>Click to edit Master title style</a:t>
            </a:r>
          </a:p>
        </p:txBody>
      </p:sp>
      <p:sp>
        <p:nvSpPr>
          <p:cNvPr id="3" name="Text Placeholder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C5FCDF4C-A09F-47ED-B4F9-7A98E393E183}" type="datetime1">
              <a:rPr lang="en-US" smtClean="0"/>
              <a:t>8/27/2024</a:t>
            </a:fld>
            <a:endParaRPr lang="en-US"/>
          </a:p>
        </p:txBody>
      </p:sp>
      <p:sp>
        <p:nvSpPr>
          <p:cNvPr id="5" name="Footer Placeholder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r>
              <a:rPr lang="en-US"/>
              <a:t>Dr.B.Madhura, MBA</a:t>
            </a:r>
          </a:p>
        </p:txBody>
      </p:sp>
      <p:sp>
        <p:nvSpPr>
          <p:cNvPr id="6" name="Slide Number Placeholder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D4EFF482-3786-46E7-9869-AFA9F18680F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0"/>
            <a:ext cx="8686800" cy="1143000"/>
          </a:xfrm>
        </p:spPr>
        <p:style>
          <a:lnRef idx="2">
            <a:schemeClr val="accent1"/>
          </a:lnRef>
          <a:fillRef idx="1">
            <a:schemeClr val="lt1"/>
          </a:fillRef>
          <a:effectRef idx="0">
            <a:schemeClr val="accent1"/>
          </a:effectRef>
          <a:fontRef idx="minor">
            <a:schemeClr val="dk1"/>
          </a:fontRef>
        </p:style>
        <p:txBody>
          <a:bodyPr/>
          <a:lstStyle/>
          <a:p>
            <a:r>
              <a:rPr lang="en-US" sz="2800" dirty="0">
                <a:effectLst/>
              </a:rPr>
              <a:t>CO – CREATION AND PRODUCT DESIGN</a:t>
            </a:r>
            <a:br>
              <a:rPr lang="en-US" sz="2800" dirty="0">
                <a:effectLst/>
              </a:rPr>
            </a:br>
            <a:r>
              <a:rPr lang="en-US" sz="2800" dirty="0">
                <a:effectLst/>
              </a:rPr>
              <a:t> </a:t>
            </a:r>
            <a:br>
              <a:rPr lang="en-US" sz="2800" dirty="0">
                <a:effectLst/>
              </a:rPr>
            </a:br>
            <a:r>
              <a:rPr lang="en-US" sz="2800" dirty="0">
                <a:effectLst/>
              </a:rPr>
              <a:t>CO – CREATION AND PRODUCT DESIGN</a:t>
            </a:r>
            <a:br>
              <a:rPr lang="en-US" sz="2800" dirty="0">
                <a:effectLst/>
              </a:rPr>
            </a:br>
            <a:r>
              <a:rPr lang="en-US" sz="2800" dirty="0">
                <a:effectLst/>
              </a:rPr>
              <a:t> </a:t>
            </a:r>
            <a:br>
              <a:rPr lang="en-US" sz="2800" dirty="0">
                <a:effectLst/>
              </a:rPr>
            </a:br>
            <a:br>
              <a:rPr lang="en-US" sz="2800" dirty="0">
                <a:effectLst/>
              </a:rPr>
            </a:br>
            <a:r>
              <a:rPr lang="en-US" sz="2800" dirty="0">
                <a:effectLst/>
              </a:rPr>
              <a:t> </a:t>
            </a:r>
            <a:br>
              <a:rPr lang="en-US" sz="2800" dirty="0">
                <a:effectLst/>
              </a:rPr>
            </a:br>
            <a:r>
              <a:rPr lang="en-US" sz="2800" dirty="0">
                <a:effectLst/>
              </a:rPr>
              <a:t> </a:t>
            </a:r>
            <a:br>
              <a:rPr lang="en-US" sz="2800" dirty="0">
                <a:effectLst/>
              </a:rPr>
            </a:br>
            <a:r>
              <a:rPr lang="en-US" sz="2800" dirty="0">
                <a:effectLst/>
              </a:rPr>
              <a:t> </a:t>
            </a:r>
            <a:br>
              <a:rPr lang="en-US" sz="2800" dirty="0">
                <a:effectLst/>
              </a:rPr>
            </a:br>
            <a:r>
              <a:rPr lang="en-US" sz="2800" dirty="0">
                <a:effectLst/>
                <a:latin typeface="Times New Roman" pitchFamily="18" charset="0"/>
                <a:cs typeface="Times New Roman" pitchFamily="18" charset="0"/>
              </a:rPr>
              <a:t>C</a:t>
            </a:r>
            <a:r>
              <a:rPr lang="en-US" sz="2800" cap="none" spc="0" dirty="0">
                <a:ln>
                  <a:noFill/>
                </a:ln>
                <a:solidFill>
                  <a:schemeClr val="tx1"/>
                </a:solidFill>
                <a:effectLst/>
                <a:latin typeface="Times New Roman" pitchFamily="18" charset="0"/>
                <a:cs typeface="Times New Roman" pitchFamily="18" charset="0"/>
              </a:rPr>
              <a:t>CO – CREATION AND PRODUCT DESIGN</a:t>
            </a:r>
            <a:br>
              <a:rPr lang="en-US" sz="2800" cap="none" spc="0" dirty="0">
                <a:ln>
                  <a:noFill/>
                </a:ln>
                <a:solidFill>
                  <a:schemeClr val="tx1"/>
                </a:solidFill>
                <a:effectLst/>
                <a:latin typeface="Times New Roman" pitchFamily="18" charset="0"/>
                <a:cs typeface="Times New Roman" pitchFamily="18" charset="0"/>
              </a:rPr>
            </a:br>
            <a:endParaRPr lang="en-US" sz="2800" cap="none" spc="0" dirty="0">
              <a:ln>
                <a:noFill/>
              </a:ln>
              <a:solidFill>
                <a:schemeClr val="tx1"/>
              </a:solidFill>
              <a:effectLst/>
              <a:latin typeface="Times New Roman" pitchFamily="18" charset="0"/>
              <a:cs typeface="Times New Roman" pitchFamily="18" charset="0"/>
            </a:endParaRPr>
          </a:p>
        </p:txBody>
      </p:sp>
      <p:sp>
        <p:nvSpPr>
          <p:cNvPr id="3" name="Subtitle 2"/>
          <p:cNvSpPr>
            <a:spLocks noGrp="1"/>
          </p:cNvSpPr>
          <p:nvPr>
            <p:ph type="subTitle" idx="1"/>
          </p:nvPr>
        </p:nvSpPr>
        <p:spPr>
          <a:xfrm>
            <a:off x="1371600" y="1524000"/>
            <a:ext cx="6400800" cy="4953000"/>
          </a:xfrm>
        </p:spPr>
        <p:style>
          <a:lnRef idx="2">
            <a:schemeClr val="accent1"/>
          </a:lnRef>
          <a:fillRef idx="1">
            <a:schemeClr val="lt1"/>
          </a:fillRef>
          <a:effectRef idx="0">
            <a:schemeClr val="accent1"/>
          </a:effectRef>
          <a:fontRef idx="minor">
            <a:schemeClr val="dk1"/>
          </a:fontRef>
        </p:style>
        <p:txBody>
          <a:bodyPr>
            <a:normAutofit/>
          </a:bodyPr>
          <a:lstStyle/>
          <a:p>
            <a:r>
              <a:rPr lang="en-US" b="1" dirty="0">
                <a:latin typeface="Times New Roman" pitchFamily="18" charset="0"/>
                <a:cs typeface="Times New Roman" pitchFamily="18" charset="0"/>
              </a:rPr>
              <a:t>Unit – II: IDEATION PROCESS  </a:t>
            </a:r>
          </a:p>
          <a:p>
            <a:pPr algn="l"/>
            <a:r>
              <a:rPr lang="en-US" b="1">
                <a:latin typeface="Times New Roman" pitchFamily="18" charset="0"/>
                <a:cs typeface="Times New Roman" pitchFamily="18" charset="0"/>
              </a:rPr>
              <a:t>Contents:</a:t>
            </a:r>
          </a:p>
          <a:p>
            <a:pPr marL="457200" indent="-457200" algn="l">
              <a:buFont typeface="+mj-lt"/>
              <a:buAutoNum type="arabicPeriod"/>
            </a:pPr>
            <a:r>
              <a:rPr lang="en-US">
                <a:latin typeface="Times New Roman" pitchFamily="18" charset="0"/>
                <a:cs typeface="Times New Roman" pitchFamily="18" charset="0"/>
              </a:rPr>
              <a:t>Articulation </a:t>
            </a:r>
            <a:r>
              <a:rPr lang="en-US" dirty="0">
                <a:latin typeface="Times New Roman" pitchFamily="18" charset="0"/>
                <a:cs typeface="Times New Roman" pitchFamily="18" charset="0"/>
              </a:rPr>
              <a:t>of Problem Statement, </a:t>
            </a:r>
          </a:p>
          <a:p>
            <a:pPr marL="457200" indent="-457200" algn="l">
              <a:buFont typeface="+mj-lt"/>
              <a:buAutoNum type="arabicPeriod"/>
            </a:pPr>
            <a:r>
              <a:rPr lang="en-US" dirty="0">
                <a:latin typeface="Times New Roman" pitchFamily="18" charset="0"/>
                <a:cs typeface="Times New Roman" pitchFamily="18" charset="0"/>
              </a:rPr>
              <a:t>Visualizing Ideas, </a:t>
            </a:r>
          </a:p>
          <a:p>
            <a:pPr marL="457200" indent="-457200" algn="l">
              <a:buFont typeface="+mj-lt"/>
              <a:buAutoNum type="arabicPeriod"/>
            </a:pPr>
            <a:r>
              <a:rPr lang="en-US" dirty="0">
                <a:latin typeface="Times New Roman" pitchFamily="18" charset="0"/>
                <a:cs typeface="Times New Roman" pitchFamily="18" charset="0"/>
              </a:rPr>
              <a:t>Communicating ideas and compelling story telling, </a:t>
            </a:r>
          </a:p>
          <a:p>
            <a:pPr marL="457200" indent="-457200" algn="l">
              <a:buFont typeface="+mj-lt"/>
              <a:buAutoNum type="arabicPeriod"/>
            </a:pPr>
            <a:r>
              <a:rPr lang="en-US" dirty="0">
                <a:latin typeface="Times New Roman" pitchFamily="18" charset="0"/>
                <a:cs typeface="Times New Roman" pitchFamily="18" charset="0"/>
              </a:rPr>
              <a:t>Brainstorming, </a:t>
            </a:r>
          </a:p>
          <a:p>
            <a:pPr marL="457200" indent="-457200" algn="l">
              <a:buFont typeface="+mj-lt"/>
              <a:buAutoNum type="arabicPeriod"/>
            </a:pPr>
            <a:r>
              <a:rPr lang="en-US" dirty="0">
                <a:latin typeface="Times New Roman" pitchFamily="18" charset="0"/>
                <a:cs typeface="Times New Roman" pitchFamily="18" charset="0"/>
              </a:rPr>
              <a:t>Divergent thinking in exploring solutions, </a:t>
            </a:r>
          </a:p>
          <a:p>
            <a:pPr marL="457200" indent="-457200" algn="l">
              <a:buFont typeface="+mj-lt"/>
              <a:buAutoNum type="arabicPeriod"/>
            </a:pPr>
            <a:r>
              <a:rPr lang="en-US" dirty="0">
                <a:latin typeface="Times New Roman" pitchFamily="18" charset="0"/>
                <a:cs typeface="Times New Roman" pitchFamily="18" charset="0"/>
              </a:rPr>
              <a:t>3- Box Thinking, </a:t>
            </a:r>
          </a:p>
          <a:p>
            <a:pPr marL="457200" indent="-457200" algn="l">
              <a:buFont typeface="+mj-lt"/>
              <a:buAutoNum type="arabicPeriod"/>
            </a:pPr>
            <a:r>
              <a:rPr lang="en-US" dirty="0">
                <a:latin typeface="Times New Roman" pitchFamily="18" charset="0"/>
                <a:cs typeface="Times New Roman" pitchFamily="18" charset="0"/>
              </a:rPr>
              <a:t>3- Box Framework and </a:t>
            </a:r>
          </a:p>
          <a:p>
            <a:pPr marL="457200" indent="-457200" algn="l">
              <a:buFont typeface="+mj-lt"/>
              <a:buAutoNum type="arabicPeriod"/>
            </a:pPr>
            <a:r>
              <a:rPr lang="en-US" dirty="0">
                <a:latin typeface="Times New Roman" pitchFamily="18" charset="0"/>
                <a:cs typeface="Times New Roman" pitchFamily="18" charset="0"/>
              </a:rPr>
              <a:t>Box-3 Ideation. </a:t>
            </a:r>
          </a:p>
        </p:txBody>
      </p:sp>
      <p:sp>
        <p:nvSpPr>
          <p:cNvPr id="4" name="Date Placeholder 3"/>
          <p:cNvSpPr>
            <a:spLocks noGrp="1"/>
          </p:cNvSpPr>
          <p:nvPr>
            <p:ph type="dt" sz="half" idx="10"/>
          </p:nvPr>
        </p:nvSpPr>
        <p:spPr/>
        <p:txBody>
          <a:bodyPr/>
          <a:lstStyle/>
          <a:p>
            <a:fld id="{648CE5EF-D89C-4B5B-8DC5-BCBEB3FB7AA4}"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a:t>
            </a:fld>
            <a:endParaRPr lang="en-US"/>
          </a:p>
        </p:txBody>
      </p:sp>
      <p:sp>
        <p:nvSpPr>
          <p:cNvPr id="6" name="Footer Placeholder 5">
            <a:extLst>
              <a:ext uri="{FF2B5EF4-FFF2-40B4-BE49-F238E27FC236}">
                <a16:creationId xmlns:a16="http://schemas.microsoft.com/office/drawing/2014/main" id="{7A0E271A-2BF7-403C-B443-42FF1F042E83}"/>
              </a:ext>
            </a:extLst>
          </p:cNvPr>
          <p:cNvSpPr>
            <a:spLocks noGrp="1"/>
          </p:cNvSpPr>
          <p:nvPr>
            <p:ph type="ftr" sz="quarter" idx="11"/>
          </p:nvPr>
        </p:nvSpPr>
        <p:spPr/>
        <p:txBody>
          <a:bodyPr/>
          <a:lstStyle/>
          <a:p>
            <a:r>
              <a:rPr lang="en-US"/>
              <a:t>Dr.B.Madhura, MBA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Articulation of Problem Statement</a:t>
            </a:r>
            <a:endParaRPr lang="en-US" dirty="0"/>
          </a:p>
        </p:txBody>
      </p:sp>
      <p:sp>
        <p:nvSpPr>
          <p:cNvPr id="3" name="Content Placeholder 2"/>
          <p:cNvSpPr>
            <a:spLocks noGrp="1"/>
          </p:cNvSpPr>
          <p:nvPr>
            <p:ph idx="1"/>
          </p:nvPr>
        </p:nvSpPr>
        <p:spPr>
          <a:xfrm>
            <a:off x="457200" y="838200"/>
            <a:ext cx="8229600" cy="5638800"/>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lgn="just"/>
            <a:r>
              <a:rPr lang="en-US" b="1" dirty="0">
                <a:latin typeface="Times New Roman" pitchFamily="18" charset="0"/>
                <a:cs typeface="Times New Roman" pitchFamily="18" charset="0"/>
              </a:rPr>
              <a:t>Point of view</a:t>
            </a:r>
            <a:r>
              <a:rPr lang="en-US" dirty="0">
                <a:latin typeface="Times New Roman" pitchFamily="18" charset="0"/>
                <a:cs typeface="Times New Roman" pitchFamily="18" charset="0"/>
              </a:rPr>
              <a:t>, or POV, in design thinking is a written, actionable statement that expresses the problem that the design team is trying to address. This is also often called a </a:t>
            </a:r>
            <a:r>
              <a:rPr lang="en-US" b="1" dirty="0">
                <a:latin typeface="Times New Roman" pitchFamily="18" charset="0"/>
                <a:cs typeface="Times New Roman" pitchFamily="18" charset="0"/>
              </a:rPr>
              <a:t>problem statement.</a:t>
            </a:r>
          </a:p>
          <a:p>
            <a:pPr algn="just"/>
            <a:r>
              <a:rPr lang="en-US" sz="3300" dirty="0">
                <a:latin typeface="Times New Roman" pitchFamily="18" charset="0"/>
                <a:cs typeface="Times New Roman" pitchFamily="18" charset="0"/>
              </a:rPr>
              <a:t>That is, an expression of the problem (or problems that customers identified the Empathize stage, In fact, crafting a POV statement is the central purpose of the </a:t>
            </a:r>
            <a:r>
              <a:rPr lang="en-US" sz="3300" b="1" dirty="0">
                <a:latin typeface="Times New Roman" pitchFamily="18" charset="0"/>
                <a:cs typeface="Times New Roman" pitchFamily="18" charset="0"/>
              </a:rPr>
              <a:t>Define </a:t>
            </a:r>
            <a:r>
              <a:rPr lang="en-US" sz="3300" dirty="0">
                <a:latin typeface="Times New Roman" pitchFamily="18" charset="0"/>
                <a:cs typeface="Times New Roman" pitchFamily="18" charset="0"/>
              </a:rPr>
              <a:t>stage of design thinking. It provides a framework for designers to use in later brainstorming sessions. </a:t>
            </a:r>
          </a:p>
          <a:p>
            <a:pPr algn="just"/>
            <a:r>
              <a:rPr lang="en-US" sz="3300" b="1" i="1" dirty="0">
                <a:latin typeface="Times New Roman" pitchFamily="18" charset="0"/>
                <a:cs typeface="Times New Roman" pitchFamily="18" charset="0"/>
              </a:rPr>
              <a:t>“If I had an hour to solve a problem, I’d spend 55 minutes thinking about the problem and five minutes thinking about solutions.” – Albert Einstein </a:t>
            </a:r>
            <a:endParaRPr lang="en-US" sz="3300" dirty="0">
              <a:latin typeface="Times New Roman" pitchFamily="18" charset="0"/>
              <a:cs typeface="Times New Roman" pitchFamily="18" charset="0"/>
            </a:endParaRPr>
          </a:p>
          <a:p>
            <a:pPr algn="just"/>
            <a:endParaRPr lang="en-US" sz="3300" dirty="0">
              <a:latin typeface="Times New Roman" pitchFamily="18" charset="0"/>
              <a:cs typeface="Times New Roman" pitchFamily="18" charset="0"/>
            </a:endParaRPr>
          </a:p>
          <a:p>
            <a:pPr marL="0" indent="0">
              <a:buNone/>
            </a:pPr>
            <a:endParaRPr lang="en-US" dirty="0"/>
          </a:p>
        </p:txBody>
      </p:sp>
      <p:sp>
        <p:nvSpPr>
          <p:cNvPr id="4" name="Date Placeholder 3"/>
          <p:cNvSpPr>
            <a:spLocks noGrp="1"/>
          </p:cNvSpPr>
          <p:nvPr>
            <p:ph type="dt" sz="half" idx="10"/>
          </p:nvPr>
        </p:nvSpPr>
        <p:spPr/>
        <p:txBody>
          <a:bodyPr/>
          <a:lstStyle/>
          <a:p>
            <a:fld id="{BADBFDFD-ED22-44A1-B730-20F8837879CF}"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a:t>
            </a:fld>
            <a:endParaRPr lang="en-US"/>
          </a:p>
        </p:txBody>
      </p:sp>
      <p:sp>
        <p:nvSpPr>
          <p:cNvPr id="6" name="Footer Placeholder 5">
            <a:extLst>
              <a:ext uri="{FF2B5EF4-FFF2-40B4-BE49-F238E27FC236}">
                <a16:creationId xmlns:a16="http://schemas.microsoft.com/office/drawing/2014/main" id="{724187EE-14ED-4F38-A632-9167DF15AFA9}"/>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405434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Articulation of Problem Statement</a:t>
            </a:r>
            <a:endParaRPr lang="en-US" dirty="0"/>
          </a:p>
        </p:txBody>
      </p:sp>
      <p:sp>
        <p:nvSpPr>
          <p:cNvPr id="3" name="Content Placeholder 2"/>
          <p:cNvSpPr>
            <a:spLocks noGrp="1"/>
          </p:cNvSpPr>
          <p:nvPr>
            <p:ph idx="1"/>
          </p:nvPr>
        </p:nvSpPr>
        <p:spPr>
          <a:xfrm>
            <a:off x="457200" y="8382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b="1" dirty="0">
                <a:latin typeface="Times New Roman" pitchFamily="18" charset="0"/>
                <a:cs typeface="Times New Roman" pitchFamily="18" charset="0"/>
              </a:rPr>
              <a:t>User need statements</a:t>
            </a:r>
            <a:r>
              <a:rPr lang="en-US" sz="2400" dirty="0">
                <a:latin typeface="Times New Roman" pitchFamily="18" charset="0"/>
                <a:cs typeface="Times New Roman" pitchFamily="18" charset="0"/>
              </a:rPr>
              <a:t>, also often called </a:t>
            </a:r>
            <a:r>
              <a:rPr lang="en-US" sz="2400" b="1" dirty="0">
                <a:latin typeface="Times New Roman" pitchFamily="18" charset="0"/>
                <a:cs typeface="Times New Roman" pitchFamily="18" charset="0"/>
              </a:rPr>
              <a:t>problem statements </a:t>
            </a:r>
            <a:r>
              <a:rPr lang="en-US" sz="2400" dirty="0">
                <a:latin typeface="Times New Roman" pitchFamily="18" charset="0"/>
                <a:cs typeface="Times New Roman" pitchFamily="18" charset="0"/>
              </a:rPr>
              <a:t>or </a:t>
            </a:r>
            <a:r>
              <a:rPr lang="en-US" sz="2400" b="1" dirty="0">
                <a:latin typeface="Times New Roman" pitchFamily="18" charset="0"/>
                <a:cs typeface="Times New Roman" pitchFamily="18" charset="0"/>
              </a:rPr>
              <a:t>point-of-view statements</a:t>
            </a:r>
            <a:r>
              <a:rPr lang="en-US" sz="2400" dirty="0">
                <a:latin typeface="Times New Roman" pitchFamily="18" charset="0"/>
                <a:cs typeface="Times New Roman" pitchFamily="18" charset="0"/>
              </a:rPr>
              <a:t>, are the primary tool in the second stage of design thinking — the define stage. </a:t>
            </a:r>
          </a:p>
          <a:p>
            <a:pPr algn="just"/>
            <a:r>
              <a:rPr lang="en-US" sz="2400" dirty="0">
                <a:latin typeface="Times New Roman" pitchFamily="18" charset="0"/>
                <a:cs typeface="Times New Roman" pitchFamily="18" charset="0"/>
              </a:rPr>
              <a:t>It defines what you want to solve before you move on to generating potential solutions, in order to </a:t>
            </a:r>
          </a:p>
          <a:p>
            <a:pPr marL="0" indent="0" algn="just">
              <a:buNone/>
            </a:pPr>
            <a:r>
              <a:rPr lang="en-US" sz="2400" dirty="0">
                <a:latin typeface="Times New Roman" pitchFamily="18" charset="0"/>
                <a:cs typeface="Times New Roman" pitchFamily="18" charset="0"/>
              </a:rPr>
              <a:t>1) Condense your perspective on </a:t>
            </a:r>
          </a:p>
          <a:p>
            <a:pPr marL="0" indent="0" algn="just">
              <a:buNone/>
            </a:pPr>
            <a:r>
              <a:rPr lang="en-US" sz="2400" dirty="0">
                <a:latin typeface="Times New Roman" pitchFamily="18" charset="0"/>
                <a:cs typeface="Times New Roman" pitchFamily="18" charset="0"/>
              </a:rPr>
              <a:t>2) Provide a metric for success to be used throughout the design thinking process. </a:t>
            </a: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algn="just"/>
            <a:endParaRPr lang="en-US" sz="3300" dirty="0">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8A3AD05D-DA25-4EDF-A961-F07DBD13B36F}"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167188"/>
            <a:ext cx="7467600" cy="1476375"/>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id="{B0495AF4-0FBF-4ED0-9A96-2226882BB517}"/>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500007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1722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b="1" dirty="0">
                <a:latin typeface="Times New Roman" pitchFamily="18" charset="0"/>
                <a:cs typeface="Times New Roman" pitchFamily="18" charset="0"/>
              </a:rPr>
              <a:t>Steps for creating POV: </a:t>
            </a:r>
            <a:endParaRPr lang="en-US" sz="2400" dirty="0">
              <a:latin typeface="Times New Roman" pitchFamily="18" charset="0"/>
              <a:cs typeface="Times New Roman" pitchFamily="18" charset="0"/>
            </a:endParaRPr>
          </a:p>
          <a:p>
            <a:pPr marL="0" indent="0">
              <a:buNone/>
            </a:pPr>
            <a:r>
              <a:rPr lang="en-US" sz="2400" b="1" dirty="0">
                <a:solidFill>
                  <a:srgbClr val="C00000"/>
                </a:solidFill>
                <a:latin typeface="Times New Roman" pitchFamily="18" charset="0"/>
                <a:cs typeface="Times New Roman" pitchFamily="18" charset="0"/>
              </a:rPr>
              <a:t>Step 1: Identify Users, Needs &amp; Insights : </a:t>
            </a:r>
            <a:r>
              <a:rPr lang="en-US" sz="2400" dirty="0">
                <a:latin typeface="Times New Roman" pitchFamily="18" charset="0"/>
                <a:cs typeface="Times New Roman" pitchFamily="18" charset="0"/>
              </a:rPr>
              <a:t>There are three key components that make up the POV statement: </a:t>
            </a:r>
          </a:p>
          <a:p>
            <a:r>
              <a:rPr lang="en-US" sz="2400" b="1" dirty="0">
                <a:latin typeface="Times New Roman" pitchFamily="18" charset="0"/>
                <a:cs typeface="Times New Roman" pitchFamily="18" charset="0"/>
              </a:rPr>
              <a:t>User: </a:t>
            </a:r>
            <a:r>
              <a:rPr lang="en-US" sz="2400" dirty="0">
                <a:latin typeface="Times New Roman" pitchFamily="18" charset="0"/>
                <a:cs typeface="Times New Roman" pitchFamily="18" charset="0"/>
              </a:rPr>
              <a:t>Defines the type of specific user whom writing POV about. </a:t>
            </a:r>
          </a:p>
          <a:p>
            <a:r>
              <a:rPr lang="en-US" sz="2400" b="1" dirty="0">
                <a:latin typeface="Times New Roman" pitchFamily="18" charset="0"/>
                <a:cs typeface="Times New Roman" pitchFamily="18" charset="0"/>
              </a:rPr>
              <a:t>Need: </a:t>
            </a:r>
            <a:r>
              <a:rPr lang="en-US" sz="2400" dirty="0">
                <a:latin typeface="Times New Roman" pitchFamily="18" charset="0"/>
                <a:cs typeface="Times New Roman" pitchFamily="18" charset="0"/>
              </a:rPr>
              <a:t>Identifies the users’ essential needs/goals. </a:t>
            </a:r>
          </a:p>
          <a:p>
            <a:r>
              <a:rPr lang="en-US" sz="2400" b="1" dirty="0">
                <a:latin typeface="Times New Roman" pitchFamily="18" charset="0"/>
                <a:cs typeface="Times New Roman" pitchFamily="18" charset="0"/>
              </a:rPr>
              <a:t>Surprising Insight: </a:t>
            </a:r>
            <a:r>
              <a:rPr lang="en-US" sz="2400" dirty="0">
                <a:latin typeface="Times New Roman" pitchFamily="18" charset="0"/>
                <a:cs typeface="Times New Roman" pitchFamily="18" charset="0"/>
              </a:rPr>
              <a:t>Synthesizes the gathered information into a key takeaway. This statement can be used to design a solution. </a:t>
            </a:r>
          </a:p>
          <a:p>
            <a:pPr marL="0" indent="0">
              <a:buNone/>
            </a:pPr>
            <a:r>
              <a:rPr lang="en-US" sz="2400" b="1" dirty="0">
                <a:solidFill>
                  <a:srgbClr val="C00000"/>
                </a:solidFill>
                <a:latin typeface="Times New Roman" pitchFamily="18" charset="0"/>
                <a:cs typeface="Times New Roman" pitchFamily="18" charset="0"/>
              </a:rPr>
              <a:t>Step 2: Create Your Chart: </a:t>
            </a:r>
            <a:r>
              <a:rPr lang="en-US" sz="2400" dirty="0">
                <a:latin typeface="Times New Roman" pitchFamily="18" charset="0"/>
                <a:cs typeface="Times New Roman" pitchFamily="18" charset="0"/>
              </a:rPr>
              <a:t>Place your scenario into a template like the example below. This creates a guide for structuring your POV statement. </a:t>
            </a:r>
          </a:p>
          <a:p>
            <a:endParaRPr lang="en-US" dirty="0"/>
          </a:p>
        </p:txBody>
      </p:sp>
      <p:sp>
        <p:nvSpPr>
          <p:cNvPr id="4" name="Date Placeholder 3"/>
          <p:cNvSpPr>
            <a:spLocks noGrp="1"/>
          </p:cNvSpPr>
          <p:nvPr>
            <p:ph type="dt" sz="half" idx="10"/>
          </p:nvPr>
        </p:nvSpPr>
        <p:spPr/>
        <p:txBody>
          <a:bodyPr/>
          <a:lstStyle/>
          <a:p>
            <a:fld id="{F92F8B86-4615-4F1A-B7A8-957871F24208}"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4</a:t>
            </a:fld>
            <a:endParaRPr lang="en-US"/>
          </a:p>
        </p:txBody>
      </p:sp>
      <p:sp>
        <p:nvSpPr>
          <p:cNvPr id="2" name="Footer Placeholder 1">
            <a:extLst>
              <a:ext uri="{FF2B5EF4-FFF2-40B4-BE49-F238E27FC236}">
                <a16:creationId xmlns:a16="http://schemas.microsoft.com/office/drawing/2014/main" id="{1ACF7722-0466-4278-BABB-0BD921C49750}"/>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831138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416" y="76200"/>
            <a:ext cx="8791184" cy="6477000"/>
          </a:xfrm>
        </p:spPr>
        <p:style>
          <a:lnRef idx="2">
            <a:schemeClr val="accent1"/>
          </a:lnRef>
          <a:fillRef idx="1">
            <a:schemeClr val="lt1"/>
          </a:fillRef>
          <a:effectRef idx="0">
            <a:schemeClr val="accent1"/>
          </a:effectRef>
          <a:fontRef idx="minor">
            <a:schemeClr val="dk1"/>
          </a:fontRef>
        </p:style>
        <p:txBody>
          <a:bodyPr>
            <a:normAutofit/>
          </a:bodyPr>
          <a:lstStyle/>
          <a:p>
            <a:endParaRPr lang="en-US" b="1" dirty="0"/>
          </a:p>
          <a:p>
            <a:endParaRPr lang="en-US" b="1" dirty="0"/>
          </a:p>
          <a:p>
            <a:endParaRPr lang="en-US" b="1" dirty="0"/>
          </a:p>
          <a:p>
            <a:endParaRPr lang="en-US" b="1" dirty="0"/>
          </a:p>
          <a:p>
            <a:endParaRPr lang="en-US" b="1" dirty="0"/>
          </a:p>
          <a:p>
            <a:pPr marL="0" indent="0">
              <a:buNone/>
            </a:pPr>
            <a:endParaRPr lang="en-US" b="1" dirty="0"/>
          </a:p>
          <a:p>
            <a:pPr marL="0" indent="0">
              <a:buNone/>
            </a:pPr>
            <a:r>
              <a:rPr lang="en-US" sz="2400" b="1" dirty="0">
                <a:solidFill>
                  <a:srgbClr val="C00000"/>
                </a:solidFill>
                <a:latin typeface="Times New Roman" pitchFamily="18" charset="0"/>
                <a:cs typeface="Times New Roman" pitchFamily="18" charset="0"/>
              </a:rPr>
              <a:t>Step 3: Form Your POV Statement : </a:t>
            </a:r>
            <a:r>
              <a:rPr lang="en-US" sz="2400" dirty="0">
                <a:latin typeface="Times New Roman" pitchFamily="18" charset="0"/>
                <a:cs typeface="Times New Roman" pitchFamily="18" charset="0"/>
              </a:rPr>
              <a:t>This is the fun part where you combine your user, needs and insight into a concise POV statement. If necessary, condense your statements to create a good story. </a:t>
            </a:r>
          </a:p>
        </p:txBody>
      </p:sp>
      <p:sp>
        <p:nvSpPr>
          <p:cNvPr id="4" name="Date Placeholder 3"/>
          <p:cNvSpPr>
            <a:spLocks noGrp="1"/>
          </p:cNvSpPr>
          <p:nvPr>
            <p:ph type="dt" sz="half" idx="10"/>
          </p:nvPr>
        </p:nvSpPr>
        <p:spPr/>
        <p:txBody>
          <a:bodyPr/>
          <a:lstStyle/>
          <a:p>
            <a:fld id="{745E0615-D431-431D-AC87-124D5BFB22CF}"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860" y="228600"/>
            <a:ext cx="8458200" cy="3352800"/>
          </a:xfrm>
          <a:prstGeom prst="rect">
            <a:avLst/>
          </a:prstGeom>
          <a:ln/>
        </p:spPr>
        <p:style>
          <a:lnRef idx="2">
            <a:schemeClr val="accent1"/>
          </a:lnRef>
          <a:fillRef idx="1">
            <a:schemeClr val="lt1"/>
          </a:fillRef>
          <a:effectRef idx="0">
            <a:schemeClr val="accent1"/>
          </a:effectRef>
          <a:fontRef idx="minor">
            <a:schemeClr val="dk1"/>
          </a:fontRef>
        </p:style>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800600"/>
            <a:ext cx="7620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a:extLst>
              <a:ext uri="{FF2B5EF4-FFF2-40B4-BE49-F238E27FC236}">
                <a16:creationId xmlns:a16="http://schemas.microsoft.com/office/drawing/2014/main" id="{733B8424-35A9-46D9-9FC6-B08723D306C6}"/>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45756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416" y="76200"/>
            <a:ext cx="8791184" cy="64770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dirty="0">
                <a:latin typeface="Times New Roman" pitchFamily="18" charset="0"/>
                <a:cs typeface="Times New Roman" pitchFamily="18" charset="0"/>
              </a:rPr>
              <a:t>A good problem statement should thus have the following traits. It should be: </a:t>
            </a:r>
          </a:p>
          <a:p>
            <a:pPr marL="457200" indent="-457200" algn="just">
              <a:buFont typeface="+mj-lt"/>
              <a:buAutoNum type="arabicPeriod"/>
            </a:pPr>
            <a:r>
              <a:rPr lang="en-US" sz="2400" b="1" dirty="0">
                <a:latin typeface="Times New Roman" pitchFamily="18" charset="0"/>
                <a:cs typeface="Times New Roman" pitchFamily="18" charset="0"/>
              </a:rPr>
              <a:t>Human - Centered. </a:t>
            </a:r>
            <a:r>
              <a:rPr lang="en-US" sz="2400" dirty="0">
                <a:latin typeface="Times New Roman" pitchFamily="18" charset="0"/>
                <a:cs typeface="Times New Roman" pitchFamily="18" charset="0"/>
              </a:rPr>
              <a:t>This requires you to frame your problem statement according to specific users, their needs and the insights that your team has gained in the Empathize phase. </a:t>
            </a:r>
          </a:p>
          <a:p>
            <a:pPr marL="457200" indent="-457200" algn="just">
              <a:buFont typeface="+mj-lt"/>
              <a:buAutoNum type="arabicPeriod"/>
            </a:pPr>
            <a:r>
              <a:rPr lang="en-US" sz="2400" b="1" dirty="0">
                <a:latin typeface="Times New Roman" pitchFamily="18" charset="0"/>
                <a:cs typeface="Times New Roman" pitchFamily="18" charset="0"/>
              </a:rPr>
              <a:t>Broad enough for creative freedom. </a:t>
            </a:r>
            <a:r>
              <a:rPr lang="en-US" sz="2400" dirty="0">
                <a:latin typeface="Times New Roman" pitchFamily="18" charset="0"/>
                <a:cs typeface="Times New Roman" pitchFamily="18" charset="0"/>
              </a:rPr>
              <a:t>This means that the problem statement should not focus too narrowly on a specific method regarding the implementation of the solution.</a:t>
            </a:r>
          </a:p>
          <a:p>
            <a:pPr marL="457200" indent="-457200" algn="just">
              <a:buFont typeface="+mj-lt"/>
              <a:buAutoNum type="arabicPeriod"/>
            </a:pPr>
            <a:r>
              <a:rPr lang="en-US" sz="2400" b="1" dirty="0">
                <a:latin typeface="Times New Roman" pitchFamily="18" charset="0"/>
                <a:cs typeface="Times New Roman" pitchFamily="18" charset="0"/>
              </a:rPr>
              <a:t>Narrow enough to make it manageable. </a:t>
            </a:r>
            <a:r>
              <a:rPr lang="en-US" sz="2400" dirty="0">
                <a:latin typeface="Times New Roman" pitchFamily="18" charset="0"/>
                <a:cs typeface="Times New Roman" pitchFamily="18" charset="0"/>
              </a:rPr>
              <a:t>On the other hand, a problem statement such as, “Improve the human condition,” is too broad and will likely cause team members to easily feel daunted. </a:t>
            </a:r>
          </a:p>
          <a:p>
            <a:pPr marL="457200" indent="-457200">
              <a:buFont typeface="+mj-lt"/>
              <a:buAutoNum type="arabicPeriod"/>
            </a:pPr>
            <a:endParaRPr lang="en-US" sz="2400" dirty="0"/>
          </a:p>
          <a:p>
            <a:pPr algn="just"/>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BDE0C88-E489-4DF2-83B7-00CBF659EB7E}"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6</a:t>
            </a:fld>
            <a:endParaRPr lang="en-US"/>
          </a:p>
        </p:txBody>
      </p:sp>
      <p:sp>
        <p:nvSpPr>
          <p:cNvPr id="2" name="Footer Placeholder 1">
            <a:extLst>
              <a:ext uri="{FF2B5EF4-FFF2-40B4-BE49-F238E27FC236}">
                <a16:creationId xmlns:a16="http://schemas.microsoft.com/office/drawing/2014/main" id="{A93E65F4-A2C9-44F4-A7B3-4EBD512BA416}"/>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598144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b="0" cap="none" spc="0" dirty="0">
                <a:ln>
                  <a:noFill/>
                </a:ln>
                <a:solidFill>
                  <a:schemeClr val="tx1"/>
                </a:solidFill>
                <a:effectLst/>
                <a:latin typeface="Times New Roman" pitchFamily="18" charset="0"/>
                <a:cs typeface="Times New Roman" pitchFamily="18" charset="0"/>
              </a:rPr>
              <a:t>Visualizing Ideas </a:t>
            </a:r>
            <a:br>
              <a:rPr lang="en-US" b="0" cap="none" spc="0" dirty="0">
                <a:ln>
                  <a:noFill/>
                </a:ln>
                <a:solidFill>
                  <a:schemeClr val="tx1"/>
                </a:solidFill>
                <a:effectLst/>
                <a:latin typeface="Times New Roman" pitchFamily="18" charset="0"/>
                <a:cs typeface="Times New Roman" pitchFamily="18" charset="0"/>
              </a:rPr>
            </a:br>
            <a:endParaRPr lang="en-US" b="0" cap="none" spc="0" dirty="0">
              <a:ln>
                <a:noFill/>
              </a:ln>
              <a:solidFill>
                <a:schemeClr val="tx1"/>
              </a:solidFill>
              <a:effectLst/>
            </a:endParaRPr>
          </a:p>
        </p:txBody>
      </p:sp>
      <p:sp>
        <p:nvSpPr>
          <p:cNvPr id="3" name="Content Placeholder 2"/>
          <p:cNvSpPr>
            <a:spLocks noGrp="1"/>
          </p:cNvSpPr>
          <p:nvPr>
            <p:ph idx="1"/>
          </p:nvPr>
        </p:nvSpPr>
        <p:spPr>
          <a:xfrm>
            <a:off x="457200" y="990600"/>
            <a:ext cx="8229600" cy="5562600"/>
          </a:xfrm>
        </p:spPr>
        <p:style>
          <a:lnRef idx="2">
            <a:schemeClr val="accent1"/>
          </a:lnRef>
          <a:fillRef idx="1">
            <a:schemeClr val="lt1"/>
          </a:fillRef>
          <a:effectRef idx="0">
            <a:schemeClr val="accent1"/>
          </a:effectRef>
          <a:fontRef idx="minor">
            <a:schemeClr val="dk1"/>
          </a:fontRef>
        </p:style>
        <p:txBody>
          <a:bodyPr/>
          <a:lstStyle/>
          <a:p>
            <a:pPr marL="0" indent="0">
              <a:buNone/>
            </a:pPr>
            <a:endParaRPr lang="en-US" dirty="0"/>
          </a:p>
        </p:txBody>
      </p:sp>
      <p:sp>
        <p:nvSpPr>
          <p:cNvPr id="4" name="Date Placeholder 3"/>
          <p:cNvSpPr>
            <a:spLocks noGrp="1"/>
          </p:cNvSpPr>
          <p:nvPr>
            <p:ph type="dt" sz="half" idx="10"/>
          </p:nvPr>
        </p:nvSpPr>
        <p:spPr/>
        <p:txBody>
          <a:bodyPr/>
          <a:lstStyle/>
          <a:p>
            <a:fld id="{342AF4F5-FF5A-4269-B130-51F2F972179C}"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7</a:t>
            </a:fld>
            <a:endParaRPr lang="en-US"/>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973" t="23211" r="24632" b="15393"/>
          <a:stretch/>
        </p:blipFill>
        <p:spPr bwMode="auto">
          <a:xfrm>
            <a:off x="609600" y="1143000"/>
            <a:ext cx="7924800" cy="4876800"/>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id="{08FA9213-5361-4DAC-A53E-7035B25D9A31}"/>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323049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9120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600" b="1" dirty="0">
                <a:solidFill>
                  <a:srgbClr val="FF0000"/>
                </a:solidFill>
                <a:latin typeface="Times New Roman" pitchFamily="18" charset="0"/>
                <a:cs typeface="Times New Roman" pitchFamily="18" charset="0"/>
              </a:rPr>
              <a:t>Ideation Will Help You:</a:t>
            </a:r>
          </a:p>
          <a:p>
            <a:pPr marL="514350" indent="-514350">
              <a:buFont typeface="+mj-lt"/>
              <a:buAutoNum type="arabicPeriod"/>
            </a:pPr>
            <a:r>
              <a:rPr lang="en-US" sz="2600" dirty="0">
                <a:latin typeface="Times New Roman" pitchFamily="18" charset="0"/>
                <a:cs typeface="Times New Roman" pitchFamily="18" charset="0"/>
              </a:rPr>
              <a:t>Ask the right questions and innovate.</a:t>
            </a:r>
          </a:p>
          <a:p>
            <a:pPr marL="514350" indent="-514350">
              <a:buFont typeface="+mj-lt"/>
              <a:buAutoNum type="arabicPeriod"/>
            </a:pPr>
            <a:r>
              <a:rPr lang="en-US" sz="2600" dirty="0">
                <a:latin typeface="Times New Roman" pitchFamily="18" charset="0"/>
                <a:cs typeface="Times New Roman" pitchFamily="18" charset="0"/>
              </a:rPr>
              <a:t>Step beyond the obvious solutions and therefore increase the innovation potential of your solution.</a:t>
            </a:r>
          </a:p>
          <a:p>
            <a:pPr marL="514350" indent="-514350">
              <a:buFont typeface="+mj-lt"/>
              <a:buAutoNum type="arabicPeriod"/>
            </a:pPr>
            <a:r>
              <a:rPr lang="en-US" sz="2600" dirty="0">
                <a:latin typeface="Times New Roman" pitchFamily="18" charset="0"/>
                <a:cs typeface="Times New Roman" pitchFamily="18" charset="0"/>
              </a:rPr>
              <a:t>Bring together perspectives and strengths of team members.</a:t>
            </a:r>
          </a:p>
          <a:p>
            <a:pPr marL="514350" indent="-514350">
              <a:buFont typeface="+mj-lt"/>
              <a:buAutoNum type="arabicPeriod"/>
            </a:pPr>
            <a:r>
              <a:rPr lang="en-US" sz="2600" dirty="0">
                <a:latin typeface="Times New Roman" pitchFamily="18" charset="0"/>
                <a:cs typeface="Times New Roman" pitchFamily="18" charset="0"/>
              </a:rPr>
              <a:t>Uncover unexpected areas of innovation.</a:t>
            </a:r>
          </a:p>
          <a:p>
            <a:pPr marL="514350" indent="-514350">
              <a:buFont typeface="+mj-lt"/>
              <a:buAutoNum type="arabicPeriod"/>
            </a:pPr>
            <a:r>
              <a:rPr lang="en-US" sz="2600" dirty="0">
                <a:latin typeface="Times New Roman" pitchFamily="18" charset="0"/>
                <a:cs typeface="Times New Roman" pitchFamily="18" charset="0"/>
              </a:rPr>
              <a:t>Create volume and variety in your innovation options.</a:t>
            </a:r>
          </a:p>
          <a:p>
            <a:pPr marL="514350" indent="-514350">
              <a:buFont typeface="+mj-lt"/>
              <a:buAutoNum type="arabicPeriod"/>
            </a:pPr>
            <a:r>
              <a:rPr lang="en-US" sz="2600" dirty="0">
                <a:latin typeface="Times New Roman" pitchFamily="18" charset="0"/>
                <a:cs typeface="Times New Roman" pitchFamily="18" charset="0"/>
              </a:rPr>
              <a:t>Get obvious solutions out of your heads, and drive your team beyond them.</a:t>
            </a:r>
          </a:p>
          <a:p>
            <a:endParaRPr lang="en-US" dirty="0"/>
          </a:p>
        </p:txBody>
      </p:sp>
      <p:sp>
        <p:nvSpPr>
          <p:cNvPr id="4" name="Date Placeholder 3"/>
          <p:cNvSpPr>
            <a:spLocks noGrp="1"/>
          </p:cNvSpPr>
          <p:nvPr>
            <p:ph type="dt" sz="half" idx="10"/>
          </p:nvPr>
        </p:nvSpPr>
        <p:spPr/>
        <p:txBody>
          <a:bodyPr/>
          <a:lstStyle/>
          <a:p>
            <a:fld id="{57AD2C24-B764-41C7-9FAE-824889FB7527}"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8</a:t>
            </a:fld>
            <a:endParaRPr lang="en-US"/>
          </a:p>
        </p:txBody>
      </p:sp>
      <p:sp>
        <p:nvSpPr>
          <p:cNvPr id="2" name="Footer Placeholder 1">
            <a:extLst>
              <a:ext uri="{FF2B5EF4-FFF2-40B4-BE49-F238E27FC236}">
                <a16:creationId xmlns:a16="http://schemas.microsoft.com/office/drawing/2014/main" id="{9F7930DB-1435-41A8-91B5-D1BE43084923}"/>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945051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sz="3200" b="0" cap="none" spc="0" dirty="0">
                <a:ln>
                  <a:noFill/>
                </a:ln>
                <a:solidFill>
                  <a:schemeClr val="tx1"/>
                </a:solidFill>
                <a:effectLst/>
                <a:latin typeface="Times New Roman" pitchFamily="18" charset="0"/>
                <a:cs typeface="Times New Roman" pitchFamily="18" charset="0"/>
              </a:rPr>
              <a:t>Communicating Ideas and Compelling Story Telling </a:t>
            </a:r>
            <a:br>
              <a:rPr lang="en-US" sz="3200" b="0" cap="none" spc="0" dirty="0">
                <a:ln>
                  <a:noFill/>
                </a:ln>
                <a:solidFill>
                  <a:schemeClr val="tx1"/>
                </a:solidFill>
                <a:effectLst/>
                <a:latin typeface="Times New Roman" pitchFamily="18" charset="0"/>
                <a:cs typeface="Times New Roman" pitchFamily="18" charset="0"/>
              </a:rPr>
            </a:br>
            <a:endParaRPr lang="en-US" sz="3200" b="0" cap="none" spc="0" dirty="0">
              <a:ln>
                <a:noFill/>
              </a:ln>
              <a:solidFill>
                <a:schemeClr val="tx1"/>
              </a:solidFill>
              <a:effectLst/>
            </a:endParaRPr>
          </a:p>
        </p:txBody>
      </p:sp>
      <p:sp>
        <p:nvSpPr>
          <p:cNvPr id="3" name="Content Placeholder 2"/>
          <p:cNvSpPr>
            <a:spLocks noGrp="1"/>
          </p:cNvSpPr>
          <p:nvPr>
            <p:ph idx="1"/>
          </p:nvPr>
        </p:nvSpPr>
        <p:spPr>
          <a:xfrm>
            <a:off x="457200" y="1371600"/>
            <a:ext cx="8229600" cy="5181600"/>
          </a:xfrm>
        </p:spPr>
        <p:style>
          <a:lnRef idx="2">
            <a:schemeClr val="accent1"/>
          </a:lnRef>
          <a:fillRef idx="1">
            <a:schemeClr val="lt1"/>
          </a:fillRef>
          <a:effectRef idx="0">
            <a:schemeClr val="accent1"/>
          </a:effectRef>
          <a:fontRef idx="minor">
            <a:schemeClr val="dk1"/>
          </a:fontRef>
        </p:style>
        <p:txBody>
          <a:bodyPr>
            <a:normAutofit fontScale="92500"/>
          </a:bodyPr>
          <a:lstStyle/>
          <a:p>
            <a:pPr algn="just"/>
            <a:r>
              <a:rPr lang="en-US" sz="2400" dirty="0">
                <a:latin typeface="Times New Roman" pitchFamily="18" charset="0"/>
                <a:cs typeface="Times New Roman" pitchFamily="18" charset="0"/>
              </a:rPr>
              <a:t>Storytelling is the art of using language, and storytelling as a communication tool is the means to achieve certain communication goals. </a:t>
            </a:r>
          </a:p>
          <a:p>
            <a:pPr algn="just"/>
            <a:r>
              <a:rPr lang="en-US" sz="2400" dirty="0">
                <a:latin typeface="Times New Roman" pitchFamily="18" charset="0"/>
                <a:cs typeface="Times New Roman" pitchFamily="18" charset="0"/>
              </a:rPr>
              <a:t>In a business context, storytelling has many uses and a multitude of </a:t>
            </a:r>
            <a:r>
              <a:rPr lang="en-US" sz="2400" b="1" dirty="0">
                <a:solidFill>
                  <a:srgbClr val="C00000"/>
                </a:solidFill>
                <a:latin typeface="Times New Roman" pitchFamily="18" charset="0"/>
                <a:cs typeface="Times New Roman" pitchFamily="18" charset="0"/>
              </a:rPr>
              <a:t>Benefits:</a:t>
            </a:r>
          </a:p>
          <a:p>
            <a:pPr marL="457200" indent="-457200" algn="just">
              <a:buFont typeface="+mj-lt"/>
              <a:buAutoNum type="arabicPeriod"/>
            </a:pPr>
            <a:r>
              <a:rPr lang="en-US" sz="2400" dirty="0">
                <a:latin typeface="Times New Roman" pitchFamily="18" charset="0"/>
                <a:cs typeface="Times New Roman" pitchFamily="18" charset="0"/>
              </a:rPr>
              <a:t>Stories—about products, customers, employees—make brands relatable to stakeholders. “That girl in the commercial is frustrated with her car insurance, just like me!” </a:t>
            </a:r>
          </a:p>
          <a:p>
            <a:pPr marL="457200" indent="-457200" algn="just">
              <a:buFont typeface="+mj-lt"/>
              <a:buAutoNum type="arabicPeriod"/>
            </a:pPr>
            <a:r>
              <a:rPr lang="en-US" sz="2400" dirty="0">
                <a:latin typeface="Times New Roman" pitchFamily="18" charset="0"/>
                <a:cs typeface="Times New Roman" pitchFamily="18" charset="0"/>
              </a:rPr>
              <a:t>Stories—about business approaches, attitudes and promises—build brand loyalty. “That guy in the testimonial was so happy about his purchase; I’ve got to check that company out.” </a:t>
            </a:r>
          </a:p>
          <a:p>
            <a:pPr marL="457200" indent="-457200" algn="just">
              <a:buFont typeface="+mj-lt"/>
              <a:buAutoNum type="arabicPeriod"/>
            </a:pPr>
            <a:r>
              <a:rPr lang="en-US" sz="2400" dirty="0">
                <a:latin typeface="Times New Roman" pitchFamily="18" charset="0"/>
                <a:cs typeface="Times New Roman" pitchFamily="18" charset="0"/>
              </a:rPr>
              <a:t>Stories—about recent events and announcements—create awareness. “I just read on their blog that they have a new program and it sounds like it could be fun. We should try it out!</a:t>
            </a:r>
          </a:p>
        </p:txBody>
      </p:sp>
      <p:sp>
        <p:nvSpPr>
          <p:cNvPr id="4" name="Date Placeholder 3"/>
          <p:cNvSpPr>
            <a:spLocks noGrp="1"/>
          </p:cNvSpPr>
          <p:nvPr>
            <p:ph type="dt" sz="half" idx="10"/>
          </p:nvPr>
        </p:nvSpPr>
        <p:spPr/>
        <p:txBody>
          <a:bodyPr/>
          <a:lstStyle/>
          <a:p>
            <a:fld id="{10E44C0B-F0DD-4921-86D0-4FD08E546E28}"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9</a:t>
            </a:fld>
            <a:endParaRPr lang="en-US"/>
          </a:p>
        </p:txBody>
      </p:sp>
      <p:sp>
        <p:nvSpPr>
          <p:cNvPr id="6" name="Footer Placeholder 5">
            <a:extLst>
              <a:ext uri="{FF2B5EF4-FFF2-40B4-BE49-F238E27FC236}">
                <a16:creationId xmlns:a16="http://schemas.microsoft.com/office/drawing/2014/main" id="{BE667E6F-E3D8-4819-A5F6-88E76F38A333}"/>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142356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7921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sz="2800" b="0" cap="none" spc="0" dirty="0">
                <a:ln>
                  <a:noFill/>
                </a:ln>
                <a:solidFill>
                  <a:schemeClr val="tx1"/>
                </a:solidFill>
                <a:effectLst/>
                <a:latin typeface="Times New Roman" pitchFamily="18" charset="0"/>
                <a:cs typeface="Times New Roman" pitchFamily="18" charset="0"/>
              </a:rPr>
              <a:t>Communicating Ideas and Compelling Story Telling </a:t>
            </a:r>
            <a:br>
              <a:rPr lang="en-US" sz="2800" b="0" cap="none" spc="0" dirty="0">
                <a:ln>
                  <a:noFill/>
                </a:ln>
                <a:solidFill>
                  <a:schemeClr val="tx1"/>
                </a:solidFill>
                <a:effectLst/>
                <a:latin typeface="Times New Roman" pitchFamily="18" charset="0"/>
                <a:cs typeface="Times New Roman" pitchFamily="18" charset="0"/>
              </a:rPr>
            </a:br>
            <a:endParaRPr lang="en-US" sz="2800" b="0" cap="none" spc="0" dirty="0">
              <a:ln>
                <a:noFill/>
              </a:ln>
              <a:solidFill>
                <a:schemeClr val="tx1"/>
              </a:solidFill>
              <a:effectLst/>
            </a:endParaRPr>
          </a:p>
        </p:txBody>
      </p:sp>
      <p:sp>
        <p:nvSpPr>
          <p:cNvPr id="3" name="Content Placeholder 2"/>
          <p:cNvSpPr>
            <a:spLocks noGrp="1"/>
          </p:cNvSpPr>
          <p:nvPr>
            <p:ph idx="1"/>
          </p:nvPr>
        </p:nvSpPr>
        <p:spPr>
          <a:xfrm>
            <a:off x="457200" y="1143000"/>
            <a:ext cx="8458200" cy="5410200"/>
          </a:xfrm>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2400" dirty="0">
                <a:latin typeface="Times New Roman" pitchFamily="18" charset="0"/>
                <a:cs typeface="Times New Roman" pitchFamily="18" charset="0"/>
              </a:rPr>
              <a:t>“The Story Factor” author Annette Simmons suggests that there are </a:t>
            </a:r>
            <a:r>
              <a:rPr lang="en-US" sz="2400" dirty="0">
                <a:solidFill>
                  <a:srgbClr val="C00000"/>
                </a:solidFill>
                <a:latin typeface="Times New Roman" pitchFamily="18" charset="0"/>
                <a:cs typeface="Times New Roman" pitchFamily="18" charset="0"/>
              </a:rPr>
              <a:t>Six Kinds Of Stories </a:t>
            </a:r>
            <a:r>
              <a:rPr lang="en-US" sz="2400" dirty="0">
                <a:latin typeface="Times New Roman" pitchFamily="18" charset="0"/>
                <a:cs typeface="Times New Roman" pitchFamily="18" charset="0"/>
              </a:rPr>
              <a:t>that all business leaders and communicators should be able to tell well.</a:t>
            </a:r>
          </a:p>
          <a:p>
            <a:pPr marL="457200" indent="-457200">
              <a:buFont typeface="+mj-lt"/>
              <a:buAutoNum type="arabicPeriod"/>
            </a:pPr>
            <a:r>
              <a:rPr lang="en-US" sz="2000" b="1" dirty="0">
                <a:solidFill>
                  <a:srgbClr val="C00000"/>
                </a:solidFill>
                <a:latin typeface="Times New Roman" pitchFamily="18" charset="0"/>
                <a:cs typeface="Times New Roman" pitchFamily="18" charset="0"/>
              </a:rPr>
              <a:t>Who I Am </a:t>
            </a:r>
            <a:r>
              <a:rPr lang="en-US" sz="2000" dirty="0">
                <a:latin typeface="Times New Roman" pitchFamily="18" charset="0"/>
                <a:cs typeface="Times New Roman" pitchFamily="18" charset="0"/>
              </a:rPr>
              <a:t> – Stories of self revelation, like how a business came to be.</a:t>
            </a:r>
          </a:p>
          <a:p>
            <a:pPr marL="457200" indent="-457200">
              <a:buFont typeface="+mj-lt"/>
              <a:buAutoNum type="arabicPeriod"/>
            </a:pPr>
            <a:r>
              <a:rPr lang="en-US" sz="2000" b="1" dirty="0">
                <a:solidFill>
                  <a:srgbClr val="C00000"/>
                </a:solidFill>
                <a:latin typeface="Times New Roman" pitchFamily="18" charset="0"/>
                <a:cs typeface="Times New Roman" pitchFamily="18" charset="0"/>
              </a:rPr>
              <a:t>Why I am Here </a:t>
            </a:r>
            <a:r>
              <a:rPr lang="en-US" sz="2000" dirty="0">
                <a:latin typeface="Times New Roman" pitchFamily="18" charset="0"/>
                <a:cs typeface="Times New Roman" pitchFamily="18" charset="0"/>
              </a:rPr>
              <a:t> – Stories of motivation, like why a customer decided to buy.</a:t>
            </a:r>
          </a:p>
          <a:p>
            <a:pPr marL="457200" indent="-457200">
              <a:buFont typeface="+mj-lt"/>
              <a:buAutoNum type="arabicPeriod"/>
            </a:pPr>
            <a:r>
              <a:rPr lang="en-US" sz="2000" b="1" dirty="0">
                <a:solidFill>
                  <a:srgbClr val="C00000"/>
                </a:solidFill>
                <a:latin typeface="Times New Roman" pitchFamily="18" charset="0"/>
                <a:cs typeface="Times New Roman" pitchFamily="18" charset="0"/>
              </a:rPr>
              <a:t>The Vision </a:t>
            </a:r>
            <a:r>
              <a:rPr lang="en-US" sz="2000" dirty="0">
                <a:latin typeface="Times New Roman" pitchFamily="18" charset="0"/>
                <a:cs typeface="Times New Roman" pitchFamily="18" charset="0"/>
              </a:rPr>
              <a:t> – Tales of where we are going, like the announcement of a new product.</a:t>
            </a:r>
          </a:p>
          <a:p>
            <a:pPr marL="457200" indent="-457200">
              <a:buFont typeface="+mj-lt"/>
              <a:buAutoNum type="arabicPeriod"/>
            </a:pPr>
            <a:r>
              <a:rPr lang="en-US" sz="2000" b="1" dirty="0">
                <a:solidFill>
                  <a:srgbClr val="C00000"/>
                </a:solidFill>
                <a:latin typeface="Times New Roman" pitchFamily="18" charset="0"/>
                <a:cs typeface="Times New Roman" pitchFamily="18" charset="0"/>
              </a:rPr>
              <a:t>Teaching Stories </a:t>
            </a:r>
            <a:r>
              <a:rPr lang="en-US" sz="2000" dirty="0">
                <a:latin typeface="Times New Roman" pitchFamily="18" charset="0"/>
                <a:cs typeface="Times New Roman" pitchFamily="18" charset="0"/>
              </a:rPr>
              <a:t> – Tales of why and how, like tutorials on how best to use a brand’s service.</a:t>
            </a:r>
          </a:p>
          <a:p>
            <a:pPr marL="457200" indent="-457200">
              <a:buFont typeface="+mj-lt"/>
              <a:buAutoNum type="arabicPeriod"/>
            </a:pPr>
            <a:r>
              <a:rPr lang="en-US" sz="2000" b="1" dirty="0">
                <a:solidFill>
                  <a:srgbClr val="C00000"/>
                </a:solidFill>
                <a:latin typeface="Times New Roman" pitchFamily="18" charset="0"/>
                <a:cs typeface="Times New Roman" pitchFamily="18" charset="0"/>
              </a:rPr>
              <a:t>Values in Action </a:t>
            </a:r>
            <a:r>
              <a:rPr lang="en-US" sz="2000" dirty="0">
                <a:latin typeface="Times New Roman" pitchFamily="18" charset="0"/>
                <a:cs typeface="Times New Roman" pitchFamily="18" charset="0"/>
              </a:rPr>
              <a:t> – Stories of how values intersect the real world, like how a nonprofit helps its community through its programs.</a:t>
            </a:r>
          </a:p>
          <a:p>
            <a:pPr marL="457200" indent="-457200">
              <a:buFont typeface="+mj-lt"/>
              <a:buAutoNum type="arabicPeriod" startAt="6"/>
            </a:pPr>
            <a:r>
              <a:rPr lang="en-US" sz="2000" b="1" dirty="0">
                <a:solidFill>
                  <a:srgbClr val="C00000"/>
                </a:solidFill>
                <a:latin typeface="Times New Roman" pitchFamily="18" charset="0"/>
                <a:cs typeface="Times New Roman" pitchFamily="18" charset="0"/>
              </a:rPr>
              <a:t>I Know What You are Thinking </a:t>
            </a:r>
            <a:r>
              <a:rPr lang="en-US" sz="2000" dirty="0">
                <a:latin typeface="Times New Roman" pitchFamily="18" charset="0"/>
                <a:cs typeface="Times New Roman" pitchFamily="18" charset="0"/>
              </a:rPr>
              <a:t>– Tales to overcome objections, like a political ad addressing an opponent.</a:t>
            </a:r>
          </a:p>
          <a:p>
            <a:pPr algn="just"/>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4B0F269-83CF-4297-B1DA-E45EACB76DDA}"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10</a:t>
            </a:fld>
            <a:endParaRPr lang="en-US"/>
          </a:p>
        </p:txBody>
      </p:sp>
      <p:sp>
        <p:nvSpPr>
          <p:cNvPr id="6" name="Footer Placeholder 5">
            <a:extLst>
              <a:ext uri="{FF2B5EF4-FFF2-40B4-BE49-F238E27FC236}">
                <a16:creationId xmlns:a16="http://schemas.microsoft.com/office/drawing/2014/main" id="{2866862D-F646-4BA0-A426-F66894E93AE8}"/>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0332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4873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sz="2800" b="0" cap="none" spc="0" dirty="0">
                <a:ln>
                  <a:noFill/>
                </a:ln>
                <a:solidFill>
                  <a:schemeClr val="tx1"/>
                </a:solidFill>
                <a:effectLst/>
                <a:latin typeface="Times New Roman" pitchFamily="18" charset="0"/>
                <a:cs typeface="Times New Roman" pitchFamily="18" charset="0"/>
              </a:rPr>
              <a:t>Communicating Ideas and Compelling Story Telling </a:t>
            </a:r>
            <a:br>
              <a:rPr lang="en-US" sz="2800" b="0" cap="none" spc="0" dirty="0">
                <a:ln>
                  <a:noFill/>
                </a:ln>
                <a:solidFill>
                  <a:schemeClr val="tx1"/>
                </a:solidFill>
                <a:effectLst/>
                <a:latin typeface="Times New Roman" pitchFamily="18" charset="0"/>
                <a:cs typeface="Times New Roman" pitchFamily="18" charset="0"/>
              </a:rPr>
            </a:br>
            <a:endParaRPr lang="en-US" sz="2800" b="0" cap="none" spc="0" dirty="0">
              <a:ln>
                <a:noFill/>
              </a:ln>
              <a:solidFill>
                <a:schemeClr val="tx1"/>
              </a:solidFill>
              <a:effectLst/>
            </a:endParaRPr>
          </a:p>
        </p:txBody>
      </p:sp>
      <p:sp>
        <p:nvSpPr>
          <p:cNvPr id="3" name="Content Placeholder 2"/>
          <p:cNvSpPr>
            <a:spLocks noGrp="1"/>
          </p:cNvSpPr>
          <p:nvPr>
            <p:ph idx="1"/>
          </p:nvPr>
        </p:nvSpPr>
        <p:spPr>
          <a:xfrm>
            <a:off x="457200" y="838200"/>
            <a:ext cx="8458200" cy="5715000"/>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buNone/>
            </a:pPr>
            <a:r>
              <a:rPr lang="en-US" sz="2400" dirty="0">
                <a:solidFill>
                  <a:srgbClr val="C00000"/>
                </a:solidFill>
                <a:latin typeface="Times New Roman" pitchFamily="18" charset="0"/>
                <a:cs typeface="Times New Roman" pitchFamily="18" charset="0"/>
              </a:rPr>
              <a:t>Characteristics Of A Great Story</a:t>
            </a:r>
          </a:p>
          <a:p>
            <a:pPr marL="457200" indent="-457200" algn="just">
              <a:buFont typeface="+mj-lt"/>
              <a:buAutoNum type="arabicPeriod"/>
            </a:pPr>
            <a:r>
              <a:rPr lang="en-US" sz="2400" dirty="0">
                <a:latin typeface="Times New Roman" pitchFamily="18" charset="0"/>
                <a:cs typeface="Times New Roman" pitchFamily="18" charset="0"/>
              </a:rPr>
              <a:t>Seth Godin - A story worth telling is worth telling well</a:t>
            </a:r>
          </a:p>
          <a:p>
            <a:pPr marL="457200" indent="-457200" algn="just">
              <a:buFont typeface="+mj-lt"/>
              <a:buAutoNum type="arabicPeriod"/>
            </a:pPr>
            <a:r>
              <a:rPr lang="en-US" sz="2400" dirty="0">
                <a:latin typeface="Times New Roman" pitchFamily="18" charset="0"/>
                <a:cs typeface="Times New Roman" pitchFamily="18" charset="0"/>
              </a:rPr>
              <a:t>A great story is true. Not necessarily because it’s factual, but because it’s consistent and authentic.</a:t>
            </a:r>
          </a:p>
          <a:p>
            <a:pPr marL="457200" indent="-457200" algn="just">
              <a:buFont typeface="+mj-lt"/>
              <a:buAutoNum type="arabicPeriod"/>
            </a:pPr>
            <a:r>
              <a:rPr lang="en-US" sz="2400" dirty="0">
                <a:latin typeface="Times New Roman" pitchFamily="18" charset="0"/>
                <a:cs typeface="Times New Roman" pitchFamily="18" charset="0"/>
              </a:rPr>
              <a:t>Great stories are trusted. no marketer succeeds in telling a story unless he has earned the credibility to tell that story.</a:t>
            </a:r>
          </a:p>
          <a:p>
            <a:pPr marL="457200" indent="-457200" algn="just">
              <a:buFont typeface="+mj-lt"/>
              <a:buAutoNum type="arabicPeriod"/>
            </a:pPr>
            <a:r>
              <a:rPr lang="en-US" sz="2400" dirty="0">
                <a:latin typeface="Times New Roman" pitchFamily="18" charset="0"/>
                <a:cs typeface="Times New Roman" pitchFamily="18" charset="0"/>
              </a:rPr>
              <a:t>Great stories happen fast. First impressions are far more powerful than we give them credit for. </a:t>
            </a:r>
          </a:p>
          <a:p>
            <a:pPr marL="457200" indent="-457200" algn="just">
              <a:buFont typeface="+mj-lt"/>
              <a:buAutoNum type="arabicPeriod"/>
            </a:pPr>
            <a:r>
              <a:rPr lang="en-US" sz="2400" dirty="0">
                <a:latin typeface="Times New Roman" pitchFamily="18" charset="0"/>
                <a:cs typeface="Times New Roman" pitchFamily="18" charset="0"/>
              </a:rPr>
              <a:t>Great stories don’t appeal to logic, but they often appeal to our senses.</a:t>
            </a:r>
          </a:p>
          <a:p>
            <a:pPr marL="457200" indent="-457200" algn="just">
              <a:buFont typeface="+mj-lt"/>
              <a:buAutoNum type="arabicPeriod"/>
            </a:pPr>
            <a:r>
              <a:rPr lang="en-US" sz="2400" dirty="0">
                <a:latin typeface="Times New Roman" pitchFamily="18" charset="0"/>
                <a:cs typeface="Times New Roman" pitchFamily="18" charset="0"/>
              </a:rPr>
              <a:t>Great stories are rarely aimed at everyone.</a:t>
            </a:r>
          </a:p>
          <a:p>
            <a:pPr marL="457200" indent="-457200" algn="just">
              <a:buFont typeface="+mj-lt"/>
              <a:buAutoNum type="arabicPeriod"/>
            </a:pPr>
            <a:r>
              <a:rPr lang="en-US" sz="2400" dirty="0">
                <a:latin typeface="Times New Roman" pitchFamily="18" charset="0"/>
                <a:cs typeface="Times New Roman" pitchFamily="18" charset="0"/>
              </a:rPr>
              <a:t>Great stories agree with our world view. The best stories don’t teach people anything new. Instead, the best stories agree with what the audience already believes.</a:t>
            </a:r>
          </a:p>
        </p:txBody>
      </p:sp>
      <p:sp>
        <p:nvSpPr>
          <p:cNvPr id="4" name="Date Placeholder 3"/>
          <p:cNvSpPr>
            <a:spLocks noGrp="1"/>
          </p:cNvSpPr>
          <p:nvPr>
            <p:ph type="dt" sz="half" idx="10"/>
          </p:nvPr>
        </p:nvSpPr>
        <p:spPr/>
        <p:txBody>
          <a:bodyPr/>
          <a:lstStyle/>
          <a:p>
            <a:fld id="{C32F99EB-47B7-4FBF-A3CA-E6F9B27C202E}"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11</a:t>
            </a:fld>
            <a:endParaRPr lang="en-US"/>
          </a:p>
        </p:txBody>
      </p:sp>
      <p:sp>
        <p:nvSpPr>
          <p:cNvPr id="6" name="Footer Placeholder 5">
            <a:extLst>
              <a:ext uri="{FF2B5EF4-FFF2-40B4-BE49-F238E27FC236}">
                <a16:creationId xmlns:a16="http://schemas.microsoft.com/office/drawing/2014/main" id="{0D482933-CC59-4B2B-AF75-D7D448C8FE4C}"/>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4154829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7921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sz="2800" b="0" cap="none" spc="0" dirty="0">
                <a:ln>
                  <a:noFill/>
                </a:ln>
                <a:solidFill>
                  <a:schemeClr val="tx1"/>
                </a:solidFill>
                <a:effectLst/>
                <a:latin typeface="Times New Roman" pitchFamily="18" charset="0"/>
                <a:cs typeface="Times New Roman" pitchFamily="18" charset="0"/>
              </a:rPr>
              <a:t>Communicating Ideas and Compelling Story Telling </a:t>
            </a:r>
            <a:br>
              <a:rPr lang="en-US" sz="2800" b="0" cap="none" spc="0" dirty="0">
                <a:ln>
                  <a:noFill/>
                </a:ln>
                <a:solidFill>
                  <a:schemeClr val="tx1"/>
                </a:solidFill>
                <a:effectLst/>
                <a:latin typeface="Times New Roman" pitchFamily="18" charset="0"/>
                <a:cs typeface="Times New Roman" pitchFamily="18" charset="0"/>
              </a:rPr>
            </a:br>
            <a:endParaRPr lang="en-US" sz="2800" b="0" cap="none" spc="0" dirty="0">
              <a:ln>
                <a:noFill/>
              </a:ln>
              <a:solidFill>
                <a:schemeClr val="tx1"/>
              </a:solidFill>
              <a:effectLst/>
            </a:endParaRPr>
          </a:p>
        </p:txBody>
      </p:sp>
      <p:sp>
        <p:nvSpPr>
          <p:cNvPr id="3" name="Content Placeholder 2"/>
          <p:cNvSpPr>
            <a:spLocks noGrp="1"/>
          </p:cNvSpPr>
          <p:nvPr>
            <p:ph idx="1"/>
          </p:nvPr>
        </p:nvSpPr>
        <p:spPr>
          <a:xfrm>
            <a:off x="457200" y="1143000"/>
            <a:ext cx="8458200" cy="5410200"/>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buNone/>
            </a:pPr>
            <a:r>
              <a:rPr lang="en-US" sz="2400" dirty="0">
                <a:latin typeface="Times New Roman" pitchFamily="18" charset="0"/>
                <a:cs typeface="Times New Roman" pitchFamily="18" charset="0"/>
              </a:rPr>
              <a:t>For example, consider these topics that double as storytelling strategies: </a:t>
            </a:r>
          </a:p>
          <a:p>
            <a:pPr marL="457200" indent="-457200" algn="just">
              <a:buFont typeface="+mj-lt"/>
              <a:buAutoNum type="arabicPeriod"/>
            </a:pPr>
            <a:r>
              <a:rPr lang="en-US" sz="2400" dirty="0">
                <a:latin typeface="Times New Roman" pitchFamily="18" charset="0"/>
                <a:cs typeface="Times New Roman" pitchFamily="18" charset="0"/>
              </a:rPr>
              <a:t>Breaking News</a:t>
            </a:r>
          </a:p>
          <a:p>
            <a:pPr marL="457200" indent="-457200" algn="just">
              <a:buFont typeface="+mj-lt"/>
              <a:buAutoNum type="arabicPeriod"/>
            </a:pPr>
            <a:r>
              <a:rPr lang="en-US" sz="2400" dirty="0">
                <a:latin typeface="Times New Roman" pitchFamily="18" charset="0"/>
                <a:cs typeface="Times New Roman" pitchFamily="18" charset="0"/>
              </a:rPr>
              <a:t>Educational</a:t>
            </a:r>
          </a:p>
          <a:p>
            <a:pPr marL="457200" indent="-457200" algn="just">
              <a:buFont typeface="+mj-lt"/>
              <a:buAutoNum type="arabicPeriod"/>
            </a:pPr>
            <a:r>
              <a:rPr lang="en-US" sz="2400" dirty="0">
                <a:latin typeface="Times New Roman" pitchFamily="18" charset="0"/>
                <a:cs typeface="Times New Roman" pitchFamily="18" charset="0"/>
              </a:rPr>
              <a:t>Thought Leadership</a:t>
            </a:r>
          </a:p>
          <a:p>
            <a:pPr marL="457200" indent="-457200" algn="just">
              <a:buFont typeface="+mj-lt"/>
              <a:buAutoNum type="arabicPeriod"/>
            </a:pPr>
            <a:r>
              <a:rPr lang="en-US" sz="2400" dirty="0">
                <a:latin typeface="Times New Roman" pitchFamily="18" charset="0"/>
                <a:cs typeface="Times New Roman" pitchFamily="18" charset="0"/>
              </a:rPr>
              <a:t>Product Launch</a:t>
            </a:r>
          </a:p>
          <a:p>
            <a:pPr marL="457200" indent="-457200" algn="just">
              <a:buFont typeface="+mj-lt"/>
              <a:buAutoNum type="arabicPeriod"/>
            </a:pPr>
            <a:r>
              <a:rPr lang="en-US" sz="2400" dirty="0">
                <a:latin typeface="Times New Roman" pitchFamily="18" charset="0"/>
                <a:cs typeface="Times New Roman" pitchFamily="18" charset="0"/>
              </a:rPr>
              <a:t>Brand Awareness</a:t>
            </a:r>
          </a:p>
          <a:p>
            <a:pPr marL="457200" indent="-457200" algn="just">
              <a:buFont typeface="+mj-lt"/>
              <a:buAutoNum type="arabicPeriod"/>
            </a:pPr>
            <a:r>
              <a:rPr lang="en-US" sz="2400" dirty="0">
                <a:latin typeface="Times New Roman" pitchFamily="18" charset="0"/>
                <a:cs typeface="Times New Roman" pitchFamily="18" charset="0"/>
              </a:rPr>
              <a:t>Crisis Management</a:t>
            </a:r>
          </a:p>
          <a:p>
            <a:pPr marL="457200" indent="-457200" algn="just">
              <a:buFont typeface="+mj-lt"/>
              <a:buAutoNum type="arabicPeriod"/>
            </a:pPr>
            <a:r>
              <a:rPr lang="en-US" sz="2400" dirty="0">
                <a:latin typeface="Times New Roman" pitchFamily="18" charset="0"/>
                <a:cs typeface="Times New Roman" pitchFamily="18" charset="0"/>
              </a:rPr>
              <a:t>Persistent Presence</a:t>
            </a:r>
          </a:p>
          <a:p>
            <a:pPr marL="457200" indent="-457200" algn="just">
              <a:buFont typeface="+mj-lt"/>
              <a:buAutoNum type="arabicPeriod"/>
            </a:pPr>
            <a:r>
              <a:rPr lang="en-US" sz="2400" dirty="0">
                <a:latin typeface="Times New Roman" pitchFamily="18" charset="0"/>
                <a:cs typeface="Times New Roman" pitchFamily="18" charset="0"/>
              </a:rPr>
              <a:t>Community Relations</a:t>
            </a:r>
          </a:p>
          <a:p>
            <a:pPr marL="457200" indent="-457200" algn="just">
              <a:buFont typeface="+mj-lt"/>
              <a:buAutoNum type="arabicPeriod"/>
            </a:pPr>
            <a:r>
              <a:rPr lang="en-US" sz="2400" dirty="0">
                <a:latin typeface="Times New Roman" pitchFamily="18" charset="0"/>
                <a:cs typeface="Times New Roman" pitchFamily="18" charset="0"/>
              </a:rPr>
              <a:t>Corporate Social Responsibility</a:t>
            </a:r>
          </a:p>
        </p:txBody>
      </p:sp>
      <p:sp>
        <p:nvSpPr>
          <p:cNvPr id="4" name="Date Placeholder 3"/>
          <p:cNvSpPr>
            <a:spLocks noGrp="1"/>
          </p:cNvSpPr>
          <p:nvPr>
            <p:ph type="dt" sz="half" idx="10"/>
          </p:nvPr>
        </p:nvSpPr>
        <p:spPr/>
        <p:txBody>
          <a:bodyPr/>
          <a:lstStyle/>
          <a:p>
            <a:fld id="{CA6598F1-E6EA-4D3C-82A5-DF561BB9D6C2}"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12</a:t>
            </a:fld>
            <a:endParaRPr lang="en-US"/>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5110" r="3847" b="10996"/>
          <a:stretch/>
        </p:blipFill>
        <p:spPr>
          <a:xfrm>
            <a:off x="5753100" y="1685795"/>
            <a:ext cx="2667000" cy="1981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2637" y="4191000"/>
            <a:ext cx="2447925" cy="1866900"/>
          </a:xfrm>
          <a:prstGeom prst="rect">
            <a:avLst/>
          </a:prstGeom>
        </p:spPr>
      </p:pic>
      <p:sp>
        <p:nvSpPr>
          <p:cNvPr id="8" name="Footer Placeholder 7">
            <a:extLst>
              <a:ext uri="{FF2B5EF4-FFF2-40B4-BE49-F238E27FC236}">
                <a16:creationId xmlns:a16="http://schemas.microsoft.com/office/drawing/2014/main" id="{A62CBEF0-F823-4EDD-AA3A-F9658748EEE9}"/>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858486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7921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sz="2800" b="0" cap="none" spc="0" dirty="0">
                <a:ln>
                  <a:noFill/>
                </a:ln>
                <a:solidFill>
                  <a:schemeClr val="tx1"/>
                </a:solidFill>
                <a:effectLst/>
                <a:latin typeface="Times New Roman" pitchFamily="18" charset="0"/>
                <a:cs typeface="Times New Roman" pitchFamily="18" charset="0"/>
              </a:rPr>
              <a:t>Communicating Ideas and Compelling Story Telling </a:t>
            </a:r>
            <a:br>
              <a:rPr lang="en-US" sz="2800" b="0" cap="none" spc="0" dirty="0">
                <a:ln>
                  <a:noFill/>
                </a:ln>
                <a:solidFill>
                  <a:schemeClr val="tx1"/>
                </a:solidFill>
                <a:effectLst/>
                <a:latin typeface="Times New Roman" pitchFamily="18" charset="0"/>
                <a:cs typeface="Times New Roman" pitchFamily="18" charset="0"/>
              </a:rPr>
            </a:br>
            <a:endParaRPr lang="en-US" sz="2800" b="0" cap="none" spc="0" dirty="0">
              <a:ln>
                <a:noFill/>
              </a:ln>
              <a:solidFill>
                <a:schemeClr val="tx1"/>
              </a:solidFill>
              <a:effectLst/>
            </a:endParaRPr>
          </a:p>
        </p:txBody>
      </p:sp>
      <p:sp>
        <p:nvSpPr>
          <p:cNvPr id="3" name="Content Placeholder 2"/>
          <p:cNvSpPr>
            <a:spLocks noGrp="1"/>
          </p:cNvSpPr>
          <p:nvPr>
            <p:ph idx="1"/>
          </p:nvPr>
        </p:nvSpPr>
        <p:spPr>
          <a:xfrm>
            <a:off x="457200" y="1143000"/>
            <a:ext cx="8458200" cy="5410200"/>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buNone/>
            </a:pPr>
            <a:r>
              <a:rPr lang="en-US" sz="2400" dirty="0">
                <a:latin typeface="Times New Roman" pitchFamily="18" charset="0"/>
                <a:cs typeface="Times New Roman" pitchFamily="18" charset="0"/>
              </a:rPr>
              <a:t>Measuring the effectiveness of your stories is simple—benchmark them with goals and consider the stories your brand has created in comparison to those who have elected to tell your stories for you.</a:t>
            </a:r>
          </a:p>
          <a:p>
            <a:pPr marL="0" indent="0" algn="just">
              <a:buNone/>
            </a:pPr>
            <a:r>
              <a:rPr lang="en-US" sz="2400" dirty="0">
                <a:latin typeface="Times New Roman" pitchFamily="18" charset="0"/>
                <a:cs typeface="Times New Roman" pitchFamily="18" charset="0"/>
              </a:rPr>
              <a:t>Website traffic, social media conversations, email conversions, sales figures—these are all great indicators for doing so.</a:t>
            </a:r>
          </a:p>
          <a:p>
            <a:pPr marL="0" indent="0" algn="just">
              <a:buNone/>
            </a:pPr>
            <a:r>
              <a:rPr lang="en-US" sz="2400" dirty="0">
                <a:latin typeface="Times New Roman" pitchFamily="18" charset="0"/>
                <a:cs typeface="Times New Roman" pitchFamily="18" charset="0"/>
              </a:rPr>
              <a:t>Telling a story also requires that you involve your listener by building the story around them, talking of a situation they are most likely to be in. </a:t>
            </a:r>
          </a:p>
          <a:p>
            <a:pPr marL="0" indent="0" algn="just">
              <a:buNone/>
            </a:pPr>
            <a:r>
              <a:rPr lang="en-US" sz="2400" dirty="0">
                <a:latin typeface="Times New Roman" pitchFamily="18" charset="0"/>
                <a:cs typeface="Times New Roman" pitchFamily="18" charset="0"/>
              </a:rPr>
              <a:t>Depending on the medium, you can even get them to participate in the storytelling process—social media platforms, comment enabling on product sites and blogs, customer satisfaction surveys.</a:t>
            </a:r>
          </a:p>
        </p:txBody>
      </p:sp>
      <p:sp>
        <p:nvSpPr>
          <p:cNvPr id="4" name="Date Placeholder 3"/>
          <p:cNvSpPr>
            <a:spLocks noGrp="1"/>
          </p:cNvSpPr>
          <p:nvPr>
            <p:ph type="dt" sz="half" idx="10"/>
          </p:nvPr>
        </p:nvSpPr>
        <p:spPr/>
        <p:txBody>
          <a:bodyPr/>
          <a:lstStyle/>
          <a:p>
            <a:fld id="{97B0F5D1-6558-4D69-9424-F3F5493C422C}"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13</a:t>
            </a:fld>
            <a:endParaRPr lang="en-US"/>
          </a:p>
        </p:txBody>
      </p:sp>
      <p:sp>
        <p:nvSpPr>
          <p:cNvPr id="6" name="Footer Placeholder 5">
            <a:extLst>
              <a:ext uri="{FF2B5EF4-FFF2-40B4-BE49-F238E27FC236}">
                <a16:creationId xmlns:a16="http://schemas.microsoft.com/office/drawing/2014/main" id="{E2AFDCC9-5884-42C2-B5AC-C605B056F8D1}"/>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388807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Brainstorming</a:t>
            </a:r>
            <a:endParaRPr lang="en-US" b="0" cap="none" spc="0" dirty="0">
              <a:ln>
                <a:noFill/>
              </a:ln>
              <a:solidFill>
                <a:schemeClr val="tx1"/>
              </a:solidFill>
              <a:effectLst/>
            </a:endParaRPr>
          </a:p>
        </p:txBody>
      </p:sp>
      <p:sp>
        <p:nvSpPr>
          <p:cNvPr id="3" name="Content Placeholder 2"/>
          <p:cNvSpPr>
            <a:spLocks noGrp="1"/>
          </p:cNvSpPr>
          <p:nvPr>
            <p:ph idx="1"/>
          </p:nvPr>
        </p:nvSpPr>
        <p:spPr>
          <a:xfrm>
            <a:off x="457200" y="914400"/>
            <a:ext cx="8229600" cy="54102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US" sz="2400" dirty="0">
                <a:latin typeface="Times New Roman" pitchFamily="18" charset="0"/>
                <a:cs typeface="Times New Roman" pitchFamily="18" charset="0"/>
              </a:rPr>
              <a:t>Brainstorming gives permission to think expansively and without any organizational, operational, or technological constraints</a:t>
            </a:r>
            <a:r>
              <a:rPr lang="en-US" dirty="0"/>
              <a:t>.</a:t>
            </a:r>
          </a:p>
          <a:p>
            <a:pPr marL="0" indent="0" algn="just">
              <a:buNone/>
            </a:pPr>
            <a:r>
              <a:rPr lang="en-US" sz="2400" dirty="0">
                <a:latin typeface="Times New Roman" pitchFamily="18" charset="0"/>
                <a:cs typeface="Times New Roman" pitchFamily="18" charset="0"/>
              </a:rPr>
              <a:t>Brainstorms require generating 100 ideas (many of which are silly or impossible) in order to come up with those three truly inspirational solutions.</a:t>
            </a:r>
          </a:p>
          <a:p>
            <a:pPr marL="0" indent="0" algn="just">
              <a:buNone/>
            </a:pPr>
            <a:r>
              <a:rPr lang="en-US" sz="2400" b="1" dirty="0">
                <a:solidFill>
                  <a:srgbClr val="C00000"/>
                </a:solidFill>
                <a:latin typeface="Times New Roman" pitchFamily="18" charset="0"/>
                <a:cs typeface="Times New Roman" pitchFamily="18" charset="0"/>
              </a:rPr>
              <a:t>“7” Brainstorming Rules</a:t>
            </a:r>
          </a:p>
          <a:p>
            <a:pPr marL="457200" indent="-457200">
              <a:buFont typeface="+mj-lt"/>
              <a:buAutoNum type="arabicPeriod"/>
            </a:pPr>
            <a:r>
              <a:rPr lang="en-US" sz="2400" b="1" dirty="0">
                <a:solidFill>
                  <a:srgbClr val="C00000"/>
                </a:solidFill>
                <a:latin typeface="Times New Roman" pitchFamily="18" charset="0"/>
                <a:cs typeface="Times New Roman" pitchFamily="18" charset="0"/>
              </a:rPr>
              <a:t>Defer judgment </a:t>
            </a:r>
            <a:r>
              <a:rPr lang="en-US" sz="2400" dirty="0">
                <a:latin typeface="Times New Roman" pitchFamily="18" charset="0"/>
                <a:cs typeface="Times New Roman" pitchFamily="18" charset="0"/>
              </a:rPr>
              <a:t>There are no bad ideas at this point. There will be plenty of time to judge ideas later.</a:t>
            </a:r>
          </a:p>
          <a:p>
            <a:pPr marL="457200" indent="-457200">
              <a:buFont typeface="+mj-lt"/>
              <a:buAutoNum type="arabicPeriod"/>
            </a:pPr>
            <a:r>
              <a:rPr lang="en-US" sz="2400" b="1" dirty="0">
                <a:solidFill>
                  <a:srgbClr val="C00000"/>
                </a:solidFill>
                <a:latin typeface="Times New Roman" pitchFamily="18" charset="0"/>
                <a:cs typeface="Times New Roman" pitchFamily="18" charset="0"/>
              </a:rPr>
              <a:t>Encourage wild ideas </a:t>
            </a:r>
            <a:r>
              <a:rPr lang="en-US" sz="2400" dirty="0">
                <a:latin typeface="Times New Roman" pitchFamily="18" charset="0"/>
                <a:cs typeface="Times New Roman" pitchFamily="18" charset="0"/>
              </a:rPr>
              <a:t>It’s the wild ideas that often create real innovation. It is always easy to bring ideas down to earth later!</a:t>
            </a:r>
          </a:p>
          <a:p>
            <a:pPr marL="457200" indent="-457200">
              <a:buFont typeface="+mj-lt"/>
              <a:buAutoNum type="arabicPeriod"/>
            </a:pPr>
            <a:r>
              <a:rPr lang="en-US" sz="2400" b="1" dirty="0">
                <a:solidFill>
                  <a:srgbClr val="C00000"/>
                </a:solidFill>
                <a:latin typeface="Times New Roman" pitchFamily="18" charset="0"/>
                <a:cs typeface="Times New Roman" pitchFamily="18" charset="0"/>
              </a:rPr>
              <a:t>Build on the ideas of others </a:t>
            </a:r>
            <a:r>
              <a:rPr lang="en-US" sz="2400" dirty="0">
                <a:latin typeface="Times New Roman" pitchFamily="18" charset="0"/>
                <a:cs typeface="Times New Roman" pitchFamily="18" charset="0"/>
              </a:rPr>
              <a:t>Think in terms of ‘and’ instead of ‘but.’ If you dislike someone’s idea, challenge yourself to build on it and make it better.</a:t>
            </a:r>
          </a:p>
        </p:txBody>
      </p:sp>
      <p:sp>
        <p:nvSpPr>
          <p:cNvPr id="4" name="Date Placeholder 3"/>
          <p:cNvSpPr>
            <a:spLocks noGrp="1"/>
          </p:cNvSpPr>
          <p:nvPr>
            <p:ph type="dt" sz="half" idx="10"/>
          </p:nvPr>
        </p:nvSpPr>
        <p:spPr/>
        <p:txBody>
          <a:bodyPr/>
          <a:lstStyle/>
          <a:p>
            <a:fld id="{1B21CCC9-F661-4D56-89AC-8AD4932BEA6C}"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14</a:t>
            </a:fld>
            <a:endParaRPr lang="en-US"/>
          </a:p>
        </p:txBody>
      </p:sp>
      <p:sp>
        <p:nvSpPr>
          <p:cNvPr id="6" name="Footer Placeholder 5">
            <a:extLst>
              <a:ext uri="{FF2B5EF4-FFF2-40B4-BE49-F238E27FC236}">
                <a16:creationId xmlns:a16="http://schemas.microsoft.com/office/drawing/2014/main" id="{15DE652C-48B0-494A-AB8B-E8C4F8AE9689}"/>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539052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82000" cy="4873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Brainstorming</a:t>
            </a:r>
            <a:endParaRPr lang="en-US" b="0" cap="none" spc="0" dirty="0">
              <a:ln>
                <a:noFill/>
              </a:ln>
              <a:solidFill>
                <a:schemeClr val="tx1"/>
              </a:solidFill>
              <a:effectLst/>
            </a:endParaRPr>
          </a:p>
        </p:txBody>
      </p:sp>
      <p:sp>
        <p:nvSpPr>
          <p:cNvPr id="3" name="Content Placeholder 2"/>
          <p:cNvSpPr>
            <a:spLocks noGrp="1"/>
          </p:cNvSpPr>
          <p:nvPr>
            <p:ph idx="1"/>
          </p:nvPr>
        </p:nvSpPr>
        <p:spPr>
          <a:xfrm>
            <a:off x="457200" y="914400"/>
            <a:ext cx="4495800" cy="5562600"/>
          </a:xfrm>
        </p:spPr>
        <p:style>
          <a:lnRef idx="2">
            <a:schemeClr val="accent1"/>
          </a:lnRef>
          <a:fillRef idx="1">
            <a:schemeClr val="lt1"/>
          </a:fillRef>
          <a:effectRef idx="0">
            <a:schemeClr val="accent1"/>
          </a:effectRef>
          <a:fontRef idx="minor">
            <a:schemeClr val="dk1"/>
          </a:fontRef>
        </p:style>
        <p:txBody>
          <a:bodyPr>
            <a:normAutofit fontScale="92500"/>
          </a:bodyPr>
          <a:lstStyle/>
          <a:p>
            <a:pPr marL="457200" indent="-457200" algn="just">
              <a:buFont typeface="+mj-lt"/>
              <a:buAutoNum type="arabicPeriod" startAt="4"/>
            </a:pPr>
            <a:r>
              <a:rPr lang="en-US" sz="2400" b="1" dirty="0">
                <a:solidFill>
                  <a:srgbClr val="C00000"/>
                </a:solidFill>
                <a:latin typeface="Times New Roman" pitchFamily="18" charset="0"/>
                <a:cs typeface="Times New Roman" pitchFamily="18" charset="0"/>
              </a:rPr>
              <a:t>Stay focused on topic </a:t>
            </a:r>
            <a:r>
              <a:rPr lang="en-US" sz="2400" dirty="0">
                <a:latin typeface="Times New Roman" pitchFamily="18" charset="0"/>
                <a:cs typeface="Times New Roman" pitchFamily="18" charset="0"/>
              </a:rPr>
              <a:t>You will get better output if everyone is disciplined.</a:t>
            </a:r>
          </a:p>
          <a:p>
            <a:pPr marL="457200" indent="-457200" algn="just">
              <a:buFont typeface="+mj-lt"/>
              <a:buAutoNum type="arabicPeriod" startAt="5"/>
            </a:pPr>
            <a:r>
              <a:rPr lang="en-US" sz="2400" b="1" dirty="0">
                <a:solidFill>
                  <a:srgbClr val="C00000"/>
                </a:solidFill>
                <a:latin typeface="Times New Roman" pitchFamily="18" charset="0"/>
                <a:cs typeface="Times New Roman" pitchFamily="18" charset="0"/>
              </a:rPr>
              <a:t>Be visual </a:t>
            </a:r>
            <a:r>
              <a:rPr lang="en-US" sz="2400" dirty="0">
                <a:latin typeface="Times New Roman" pitchFamily="18" charset="0"/>
                <a:cs typeface="Times New Roman" pitchFamily="18" charset="0"/>
              </a:rPr>
              <a:t>Try to engage the logical and the creative sides</a:t>
            </a:r>
          </a:p>
          <a:p>
            <a:pPr marL="0" indent="0" algn="just">
              <a:buNone/>
            </a:pPr>
            <a:r>
              <a:rPr lang="en-US" sz="2400" dirty="0">
                <a:latin typeface="Times New Roman" pitchFamily="18" charset="0"/>
                <a:cs typeface="Times New Roman" pitchFamily="18" charset="0"/>
              </a:rPr>
              <a:t>      of the brain.</a:t>
            </a:r>
          </a:p>
          <a:p>
            <a:pPr marL="457200" indent="-457200" algn="just">
              <a:buFont typeface="+mj-lt"/>
              <a:buAutoNum type="arabicPeriod" startAt="6"/>
            </a:pPr>
            <a:r>
              <a:rPr lang="en-US" sz="2400" b="1" dirty="0">
                <a:solidFill>
                  <a:srgbClr val="C00000"/>
                </a:solidFill>
                <a:latin typeface="Times New Roman" pitchFamily="18" charset="0"/>
                <a:cs typeface="Times New Roman" pitchFamily="18" charset="0"/>
              </a:rPr>
              <a:t>One conversation at a time </a:t>
            </a:r>
            <a:r>
              <a:rPr lang="en-US" sz="2400" dirty="0">
                <a:latin typeface="Times New Roman" pitchFamily="18" charset="0"/>
                <a:cs typeface="Times New Roman" pitchFamily="18" charset="0"/>
              </a:rPr>
              <a:t>Allow ideas to be heard and built upon.</a:t>
            </a:r>
          </a:p>
          <a:p>
            <a:pPr marL="457200" indent="-457200" algn="just">
              <a:buFont typeface="+mj-lt"/>
              <a:buAutoNum type="arabicPeriod" startAt="7"/>
            </a:pPr>
            <a:r>
              <a:rPr lang="en-US" sz="2400" b="1" dirty="0">
                <a:solidFill>
                  <a:srgbClr val="C00000"/>
                </a:solidFill>
                <a:latin typeface="Times New Roman" pitchFamily="18" charset="0"/>
                <a:cs typeface="Times New Roman" pitchFamily="18" charset="0"/>
              </a:rPr>
              <a:t>Go for quantity </a:t>
            </a:r>
            <a:r>
              <a:rPr lang="en-US" sz="2400" dirty="0">
                <a:latin typeface="Times New Roman" pitchFamily="18" charset="0"/>
                <a:cs typeface="Times New Roman" pitchFamily="18" charset="0"/>
              </a:rPr>
              <a:t>Set a big goal for number of ideas and surpass it! Remember there is no need to make a lengthy case for your idea since no one is judging. Ideas should flow quickly.</a:t>
            </a:r>
          </a:p>
        </p:txBody>
      </p:sp>
      <p:sp>
        <p:nvSpPr>
          <p:cNvPr id="4" name="Date Placeholder 3"/>
          <p:cNvSpPr>
            <a:spLocks noGrp="1"/>
          </p:cNvSpPr>
          <p:nvPr>
            <p:ph type="dt" sz="half" idx="10"/>
          </p:nvPr>
        </p:nvSpPr>
        <p:spPr/>
        <p:txBody>
          <a:bodyPr/>
          <a:lstStyle/>
          <a:p>
            <a:fld id="{D1EB93C8-FEBF-466E-BCB6-7D599B022D2B}"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15</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707" t="32705" r="9598" b="21290"/>
          <a:stretch/>
        </p:blipFill>
        <p:spPr bwMode="auto">
          <a:xfrm>
            <a:off x="5029200" y="914400"/>
            <a:ext cx="3886200" cy="5562600"/>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id="{358681FF-6DE8-43B0-AA7C-0F876D5E3ADC}"/>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2551993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839200" cy="411162"/>
          </a:xfrm>
        </p:spPr>
        <p:style>
          <a:lnRef idx="2">
            <a:schemeClr val="accent1"/>
          </a:lnRef>
          <a:fillRef idx="1">
            <a:schemeClr val="lt1"/>
          </a:fillRef>
          <a:effectRef idx="0">
            <a:schemeClr val="accent1"/>
          </a:effectRef>
          <a:fontRef idx="minor">
            <a:schemeClr val="dk1"/>
          </a:fontRef>
        </p:style>
        <p:txBody>
          <a:bodyPr/>
          <a:lstStyle/>
          <a:p>
            <a:r>
              <a:rPr lang="en-US" sz="3600" b="0" cap="none" spc="0" dirty="0">
                <a:ln>
                  <a:noFill/>
                </a:ln>
                <a:solidFill>
                  <a:schemeClr val="tx1"/>
                </a:solidFill>
                <a:effectLst/>
                <a:latin typeface="Times New Roman" pitchFamily="18" charset="0"/>
                <a:cs typeface="Times New Roman" pitchFamily="18" charset="0"/>
              </a:rPr>
              <a:t>Divergent Thinking In Exploring Solutions</a:t>
            </a:r>
            <a:endParaRPr lang="en-US" sz="3600" b="0" cap="none" spc="0" dirty="0">
              <a:ln>
                <a:noFill/>
              </a:ln>
              <a:solidFill>
                <a:schemeClr val="tx1"/>
              </a:solidFill>
              <a:effectLst/>
            </a:endParaRPr>
          </a:p>
        </p:txBody>
      </p:sp>
      <p:sp>
        <p:nvSpPr>
          <p:cNvPr id="3" name="Content Placeholder 2"/>
          <p:cNvSpPr>
            <a:spLocks noGrp="1"/>
          </p:cNvSpPr>
          <p:nvPr>
            <p:ph idx="1"/>
          </p:nvPr>
        </p:nvSpPr>
        <p:spPr>
          <a:xfrm>
            <a:off x="228600" y="685800"/>
            <a:ext cx="4419600" cy="5867400"/>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0" indent="0" algn="just">
              <a:buNone/>
            </a:pPr>
            <a:r>
              <a:rPr lang="en-US" dirty="0">
                <a:latin typeface="Times New Roman" pitchFamily="18" charset="0"/>
                <a:cs typeface="Times New Roman" pitchFamily="18" charset="0"/>
              </a:rPr>
              <a:t>Divergent thinking is the process of generating multiple ideas to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maximize the range of possible solutions, applications, examples,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etc. </a:t>
            </a:r>
          </a:p>
          <a:p>
            <a:pPr marL="0" indent="0" algn="just">
              <a:buNone/>
            </a:pPr>
            <a:r>
              <a:rPr lang="en-US" dirty="0">
                <a:latin typeface="Times New Roman" pitchFamily="18" charset="0"/>
                <a:cs typeface="Times New Roman" pitchFamily="18" charset="0"/>
              </a:rPr>
              <a:t>It is the initial stage of creative problem solving where learners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have the space and freedom to explore out-of-the-box ideas, take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risks, push beyond obvious answers, probe deeper, and defy some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of the conventional boundaries and constraints of a particular</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discipline. </a:t>
            </a:r>
          </a:p>
          <a:p>
            <a:pPr marL="0" indent="0" algn="just">
              <a:buNone/>
            </a:pPr>
            <a:endParaRPr lang="en-US"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Typically, divergent thinking involves brainstorming,</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collecting spontaneous and random associations with a given topic,</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and increasingly expansive ideation</a:t>
            </a:r>
          </a:p>
        </p:txBody>
      </p:sp>
      <p:sp>
        <p:nvSpPr>
          <p:cNvPr id="4" name="Date Placeholder 3"/>
          <p:cNvSpPr>
            <a:spLocks noGrp="1"/>
          </p:cNvSpPr>
          <p:nvPr>
            <p:ph type="dt" sz="half" idx="10"/>
          </p:nvPr>
        </p:nvSpPr>
        <p:spPr/>
        <p:txBody>
          <a:bodyPr/>
          <a:lstStyle/>
          <a:p>
            <a:fld id="{E6887CFA-604A-48B9-9E86-DDFC9978F449}"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16</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685800"/>
            <a:ext cx="4267200" cy="5867400"/>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id="{B0CFDB0A-46EB-4988-AC5F-F2C67D120C57}"/>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60033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839200" cy="411162"/>
          </a:xfrm>
        </p:spPr>
        <p:style>
          <a:lnRef idx="2">
            <a:schemeClr val="accent1"/>
          </a:lnRef>
          <a:fillRef idx="1">
            <a:schemeClr val="lt1"/>
          </a:fillRef>
          <a:effectRef idx="0">
            <a:schemeClr val="accent1"/>
          </a:effectRef>
          <a:fontRef idx="minor">
            <a:schemeClr val="dk1"/>
          </a:fontRef>
        </p:style>
        <p:txBody>
          <a:bodyPr/>
          <a:lstStyle/>
          <a:p>
            <a:r>
              <a:rPr lang="en-US" sz="3600" b="0" cap="none" spc="0" dirty="0">
                <a:ln>
                  <a:noFill/>
                </a:ln>
                <a:solidFill>
                  <a:schemeClr val="tx1"/>
                </a:solidFill>
                <a:effectLst/>
                <a:latin typeface="Times New Roman" pitchFamily="18" charset="0"/>
                <a:cs typeface="Times New Roman" pitchFamily="18" charset="0"/>
              </a:rPr>
              <a:t>Divergent Thinking In Exploring Solutions</a:t>
            </a:r>
            <a:endParaRPr lang="en-US" sz="3600" b="0" cap="none" spc="0" dirty="0">
              <a:ln>
                <a:noFill/>
              </a:ln>
              <a:solidFill>
                <a:schemeClr val="tx1"/>
              </a:solidFill>
              <a:effectLst/>
            </a:endParaRPr>
          </a:p>
        </p:txBody>
      </p:sp>
      <p:sp>
        <p:nvSpPr>
          <p:cNvPr id="3" name="Content Placeholder 2"/>
          <p:cNvSpPr>
            <a:spLocks noGrp="1"/>
          </p:cNvSpPr>
          <p:nvPr>
            <p:ph idx="1"/>
          </p:nvPr>
        </p:nvSpPr>
        <p:spPr>
          <a:xfrm>
            <a:off x="228600" y="685800"/>
            <a:ext cx="5029200" cy="5867400"/>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marL="0" indent="0">
              <a:buNone/>
            </a:pPr>
            <a:r>
              <a:rPr lang="en-US" sz="2400" b="1" dirty="0">
                <a:solidFill>
                  <a:srgbClr val="C00000"/>
                </a:solidFill>
                <a:latin typeface="Times New Roman" pitchFamily="18" charset="0"/>
                <a:cs typeface="Times New Roman" pitchFamily="18" charset="0"/>
              </a:rPr>
              <a:t>DIVERGENT THINKING -  IMPORTANT</a:t>
            </a:r>
          </a:p>
          <a:p>
            <a:pPr marL="0" indent="0">
              <a:buNone/>
            </a:pP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Opens possibilities of innovative ways to solve more complex problems, overcoming the tendency of many learners to only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work within the confines of first impressions or latent assumptions.</a:t>
            </a:r>
          </a:p>
          <a:p>
            <a:pPr marL="0" indent="0">
              <a:buNone/>
            </a:pP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Fosters empathic understanding of difference and appreciation of varying perspectives.</a:t>
            </a:r>
          </a:p>
          <a:p>
            <a:pPr marL="0" indent="0">
              <a:buNone/>
            </a:pP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Builds on learners’ curiosity, encouraging experimentation, risk taking, perseverance through failure, and self-expression.</a:t>
            </a:r>
          </a:p>
          <a:p>
            <a:pPr marL="0" indent="0">
              <a:buNone/>
            </a:pP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Develops creativity, which is often cited as one of the most in-demand skills by employers.</a:t>
            </a:r>
          </a:p>
          <a:p>
            <a:pPr marL="0" indent="0">
              <a:buNone/>
            </a:pPr>
            <a:r>
              <a:rPr lang="en-US" sz="2400" b="1" dirty="0">
                <a:latin typeface="Times New Roman" pitchFamily="18" charset="0"/>
                <a:cs typeface="Times New Roman" pitchFamily="18" charset="0"/>
              </a:rPr>
              <a:t>Apple, Netflix, Amazon, </a:t>
            </a:r>
            <a:r>
              <a:rPr lang="en-US" sz="2400" b="1" dirty="0" err="1">
                <a:latin typeface="Times New Roman" pitchFamily="18" charset="0"/>
                <a:cs typeface="Times New Roman" pitchFamily="18" charset="0"/>
              </a:rPr>
              <a:t>Tencent</a:t>
            </a:r>
            <a:r>
              <a:rPr lang="en-US" sz="2400" b="1" dirty="0">
                <a:latin typeface="Times New Roman" pitchFamily="18" charset="0"/>
                <a:cs typeface="Times New Roman" pitchFamily="18" charset="0"/>
              </a:rPr>
              <a:t>, Unity, </a:t>
            </a:r>
            <a:r>
              <a:rPr lang="en-US" sz="2400" b="1" dirty="0" err="1">
                <a:latin typeface="Times New Roman" pitchFamily="18" charset="0"/>
                <a:cs typeface="Times New Roman" pitchFamily="18" charset="0"/>
              </a:rPr>
              <a:t>SpaceX</a:t>
            </a:r>
            <a:r>
              <a:rPr lang="en-US" sz="2400" b="1" dirty="0">
                <a:latin typeface="Times New Roman" pitchFamily="18" charset="0"/>
                <a:cs typeface="Times New Roman" pitchFamily="18" charset="0"/>
              </a:rPr>
              <a:t>, Unreal</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2EB02D7-26F5-4D27-8374-10570118539E}"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17</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685800"/>
            <a:ext cx="3543300" cy="5867400"/>
          </a:xfrm>
          <a:prstGeom prst="rect">
            <a:avLst/>
          </a:prstGeom>
          <a:ln/>
        </p:spPr>
        <p:style>
          <a:lnRef idx="2">
            <a:schemeClr val="accent1"/>
          </a:lnRef>
          <a:fillRef idx="1">
            <a:schemeClr val="lt1"/>
          </a:fillRef>
          <a:effectRef idx="0">
            <a:schemeClr val="accent1"/>
          </a:effectRef>
          <a:fontRef idx="minor">
            <a:schemeClr val="dk1"/>
          </a:fontRef>
        </p:style>
      </p:pic>
      <p:sp>
        <p:nvSpPr>
          <p:cNvPr id="6" name="Footer Placeholder 5">
            <a:extLst>
              <a:ext uri="{FF2B5EF4-FFF2-40B4-BE49-F238E27FC236}">
                <a16:creationId xmlns:a16="http://schemas.microsoft.com/office/drawing/2014/main" id="{ED738DE9-F1DA-485A-9CE0-C15A272AB3E6}"/>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834875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style>
          <a:lnRef idx="2">
            <a:schemeClr val="accent1"/>
          </a:lnRef>
          <a:fillRef idx="1">
            <a:schemeClr val="lt1"/>
          </a:fillRef>
          <a:effectRef idx="0">
            <a:schemeClr val="accent1"/>
          </a:effectRef>
          <a:fontRef idx="minor">
            <a:schemeClr val="dk1"/>
          </a:fontRef>
        </p:style>
        <p:txBody>
          <a:bodyPr/>
          <a:lstStyle/>
          <a:p>
            <a:br>
              <a:rPr lang="en-US" b="0" cap="none" spc="0" dirty="0">
                <a:ln>
                  <a:noFill/>
                </a:ln>
                <a:solidFill>
                  <a:schemeClr val="tx1"/>
                </a:solidFill>
                <a:effectLst/>
                <a:latin typeface="Times New Roman" pitchFamily="18" charset="0"/>
                <a:cs typeface="Times New Roman" pitchFamily="18" charset="0"/>
              </a:rPr>
            </a:br>
            <a:r>
              <a:rPr lang="en-US" b="0" cap="none" spc="0" dirty="0">
                <a:ln>
                  <a:noFill/>
                </a:ln>
                <a:solidFill>
                  <a:schemeClr val="tx1"/>
                </a:solidFill>
                <a:effectLst/>
                <a:latin typeface="Times New Roman" pitchFamily="18" charset="0"/>
                <a:cs typeface="Times New Roman" pitchFamily="18" charset="0"/>
              </a:rPr>
              <a:t>3- Box Thinking </a:t>
            </a:r>
            <a:br>
              <a:rPr lang="en-US" b="0" cap="none" spc="0" dirty="0">
                <a:ln>
                  <a:noFill/>
                </a:ln>
                <a:solidFill>
                  <a:schemeClr val="tx1"/>
                </a:solidFill>
                <a:effectLst/>
                <a:latin typeface="Times New Roman" pitchFamily="18" charset="0"/>
                <a:cs typeface="Times New Roman" pitchFamily="18" charset="0"/>
              </a:rPr>
            </a:br>
            <a:endParaRPr lang="en-US" b="0" cap="none" spc="0" dirty="0">
              <a:ln>
                <a:noFill/>
              </a:ln>
              <a:solidFill>
                <a:schemeClr val="tx1"/>
              </a:solidFill>
              <a:effectLst/>
            </a:endParaRPr>
          </a:p>
        </p:txBody>
      </p:sp>
      <p:sp>
        <p:nvSpPr>
          <p:cNvPr id="3" name="Content Placeholder 2"/>
          <p:cNvSpPr>
            <a:spLocks noGrp="1"/>
          </p:cNvSpPr>
          <p:nvPr>
            <p:ph idx="1"/>
          </p:nvPr>
        </p:nvSpPr>
        <p:spPr>
          <a:xfrm>
            <a:off x="457200" y="914400"/>
            <a:ext cx="8229600" cy="5410200"/>
          </a:xfrm>
        </p:spPr>
        <p:style>
          <a:lnRef idx="2">
            <a:schemeClr val="accent1"/>
          </a:lnRef>
          <a:fillRef idx="1">
            <a:schemeClr val="lt1"/>
          </a:fillRef>
          <a:effectRef idx="0">
            <a:schemeClr val="accent1"/>
          </a:effectRef>
          <a:fontRef idx="minor">
            <a:schemeClr val="dk1"/>
          </a:fontRef>
        </p:style>
        <p:txBody>
          <a:bodyPr/>
          <a:lstStyle/>
          <a:p>
            <a:endParaRPr lang="en-US" dirty="0"/>
          </a:p>
        </p:txBody>
      </p:sp>
      <p:sp>
        <p:nvSpPr>
          <p:cNvPr id="4" name="Date Placeholder 3"/>
          <p:cNvSpPr>
            <a:spLocks noGrp="1"/>
          </p:cNvSpPr>
          <p:nvPr>
            <p:ph type="dt" sz="half" idx="10"/>
          </p:nvPr>
        </p:nvSpPr>
        <p:spPr/>
        <p:txBody>
          <a:bodyPr/>
          <a:lstStyle/>
          <a:p>
            <a:fld id="{6B5620F1-8BED-4B8E-81E3-786DF0A55538}"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18</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76313"/>
            <a:ext cx="6477000"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5">
            <a:extLst>
              <a:ext uri="{FF2B5EF4-FFF2-40B4-BE49-F238E27FC236}">
                <a16:creationId xmlns:a16="http://schemas.microsoft.com/office/drawing/2014/main" id="{4231ACBC-E7AE-40A0-A8B5-B9F90668E7DD}"/>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211088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3- Box Framework</a:t>
            </a:r>
            <a:endParaRPr lang="en-US" b="0" cap="none" spc="0" dirty="0">
              <a:ln>
                <a:noFill/>
              </a:ln>
              <a:solidFill>
                <a:schemeClr val="tx1"/>
              </a:solidFill>
              <a:effectLst/>
            </a:endParaRPr>
          </a:p>
        </p:txBody>
      </p:sp>
      <p:sp>
        <p:nvSpPr>
          <p:cNvPr id="3" name="Content Placeholder 2"/>
          <p:cNvSpPr>
            <a:spLocks noGrp="1"/>
          </p:cNvSpPr>
          <p:nvPr>
            <p:ph idx="1"/>
          </p:nvPr>
        </p:nvSpPr>
        <p:spPr>
          <a:xfrm>
            <a:off x="457200" y="838200"/>
            <a:ext cx="8229600" cy="5486400"/>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lgn="just"/>
            <a:r>
              <a:rPr lang="en-US" sz="2800" b="1" dirty="0">
                <a:latin typeface="Times New Roman" pitchFamily="18" charset="0"/>
                <a:cs typeface="Times New Roman" pitchFamily="18" charset="0"/>
              </a:rPr>
              <a:t>Vijay </a:t>
            </a:r>
            <a:r>
              <a:rPr lang="en-US" sz="2800" b="1" dirty="0" err="1">
                <a:latin typeface="Times New Roman" pitchFamily="18" charset="0"/>
                <a:cs typeface="Times New Roman" pitchFamily="18" charset="0"/>
              </a:rPr>
              <a:t>Govindarajan</a:t>
            </a:r>
            <a:r>
              <a:rPr lang="en-US" sz="2800" dirty="0">
                <a:latin typeface="Times New Roman" pitchFamily="18" charset="0"/>
                <a:cs typeface="Times New Roman" pitchFamily="18" charset="0"/>
              </a:rPr>
              <a:t> - The Three-Box Solution: A Strategy for Leading Innovation.</a:t>
            </a:r>
          </a:p>
          <a:p>
            <a:pPr algn="just"/>
            <a:r>
              <a:rPr lang="en-US" sz="2800" b="1" dirty="0">
                <a:latin typeface="Times New Roman" pitchFamily="18" charset="0"/>
                <a:cs typeface="Times New Roman" pitchFamily="18" charset="0"/>
              </a:rPr>
              <a:t>Manage the present, box one; selectively abandon the past, box two; and create the future, box three</a:t>
            </a:r>
            <a:r>
              <a:rPr lang="en-US" sz="2800" dirty="0">
                <a:latin typeface="Times New Roman" pitchFamily="18" charset="0"/>
                <a:cs typeface="Times New Roman" pitchFamily="18" charset="0"/>
              </a:rPr>
              <a:t>. Box one is competition for the present, that's all about efficiency . Box two, box three is competition for the future, that's all about innovation</a:t>
            </a:r>
            <a:r>
              <a:rPr lang="en-US" dirty="0"/>
              <a:t>.</a:t>
            </a:r>
          </a:p>
          <a:p>
            <a:pPr algn="just"/>
            <a:r>
              <a:rPr lang="en-US" b="1" dirty="0"/>
              <a:t>Amazon is a great example of box 3 balance</a:t>
            </a:r>
            <a:r>
              <a:rPr lang="en-US" dirty="0"/>
              <a:t>, because they have expanded their product and services offerings (competing with </a:t>
            </a:r>
            <a:r>
              <a:rPr lang="en-US" dirty="0" err="1"/>
              <a:t>Walmart</a:t>
            </a:r>
            <a:r>
              <a:rPr lang="en-US" dirty="0"/>
              <a:t> in retailing, competing with IBM for data storage, and competing with Apple as a device maker). Companies have to constantly maintain the three box balance in the tech industry</a:t>
            </a:r>
          </a:p>
        </p:txBody>
      </p:sp>
      <p:sp>
        <p:nvSpPr>
          <p:cNvPr id="4" name="Date Placeholder 3"/>
          <p:cNvSpPr>
            <a:spLocks noGrp="1"/>
          </p:cNvSpPr>
          <p:nvPr>
            <p:ph type="dt" sz="half" idx="10"/>
          </p:nvPr>
        </p:nvSpPr>
        <p:spPr/>
        <p:txBody>
          <a:bodyPr/>
          <a:lstStyle/>
          <a:p>
            <a:fld id="{DCA08B96-A140-42A0-9605-1954402C1EDA}"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19</a:t>
            </a:fld>
            <a:endParaRPr lang="en-US"/>
          </a:p>
        </p:txBody>
      </p:sp>
      <p:sp>
        <p:nvSpPr>
          <p:cNvPr id="6" name="Footer Placeholder 5">
            <a:extLst>
              <a:ext uri="{FF2B5EF4-FFF2-40B4-BE49-F238E27FC236}">
                <a16:creationId xmlns:a16="http://schemas.microsoft.com/office/drawing/2014/main" id="{ED31B439-3EB4-4C3E-816D-31042EA54041}"/>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799412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endParaRPr lang="en-US" dirty="0"/>
          </a:p>
        </p:txBody>
      </p:sp>
      <p:sp>
        <p:nvSpPr>
          <p:cNvPr id="4" name="Date Placeholder 3"/>
          <p:cNvSpPr>
            <a:spLocks noGrp="1"/>
          </p:cNvSpPr>
          <p:nvPr>
            <p:ph type="dt" sz="half" idx="10"/>
          </p:nvPr>
        </p:nvSpPr>
        <p:spPr/>
        <p:txBody>
          <a:bodyPr/>
          <a:lstStyle/>
          <a:p>
            <a:fld id="{560497D0-FF43-4E15-91F8-9F50D82C742C}"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95450"/>
            <a:ext cx="7848600"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457200" y="274638"/>
            <a:ext cx="8229600" cy="7921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3- Box Framework</a:t>
            </a:r>
            <a:endParaRPr lang="en-US" b="0" cap="none" spc="0" dirty="0">
              <a:ln>
                <a:noFill/>
              </a:ln>
              <a:solidFill>
                <a:schemeClr val="tx1"/>
              </a:solidFill>
              <a:effectLst/>
            </a:endParaRPr>
          </a:p>
        </p:txBody>
      </p:sp>
      <p:sp>
        <p:nvSpPr>
          <p:cNvPr id="2" name="Footer Placeholder 1">
            <a:extLst>
              <a:ext uri="{FF2B5EF4-FFF2-40B4-BE49-F238E27FC236}">
                <a16:creationId xmlns:a16="http://schemas.microsoft.com/office/drawing/2014/main" id="{5883E28C-C23F-43CB-89A5-6ACA813B3C12}"/>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449387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style>
          <a:lnRef idx="2">
            <a:schemeClr val="accent1"/>
          </a:lnRef>
          <a:fillRef idx="1">
            <a:schemeClr val="lt1"/>
          </a:fillRef>
          <a:effectRef idx="0">
            <a:schemeClr val="accent1"/>
          </a:effectRef>
          <a:fontRef idx="minor">
            <a:schemeClr val="dk1"/>
          </a:fontRef>
        </p:style>
        <p:txBody>
          <a:bodyPr/>
          <a:lstStyle/>
          <a:p>
            <a:r>
              <a:rPr lang="en-US" b="0" cap="none" spc="0" dirty="0">
                <a:ln>
                  <a:noFill/>
                </a:ln>
                <a:solidFill>
                  <a:schemeClr val="tx1"/>
                </a:solidFill>
                <a:effectLst/>
                <a:latin typeface="Times New Roman" pitchFamily="18" charset="0"/>
                <a:cs typeface="Times New Roman" pitchFamily="18" charset="0"/>
              </a:rPr>
              <a:t>Box-3 Ideation</a:t>
            </a:r>
            <a:endParaRPr lang="en-US" b="0" cap="none" spc="0" dirty="0">
              <a:ln>
                <a:noFill/>
              </a:ln>
              <a:solidFill>
                <a:schemeClr val="tx1"/>
              </a:solidFill>
              <a:effectLst/>
            </a:endParaRPr>
          </a:p>
        </p:txBody>
      </p:sp>
      <p:sp>
        <p:nvSpPr>
          <p:cNvPr id="3" name="Content Placeholder 2"/>
          <p:cNvSpPr>
            <a:spLocks noGrp="1"/>
          </p:cNvSpPr>
          <p:nvPr>
            <p:ph idx="1"/>
          </p:nvPr>
        </p:nvSpPr>
        <p:spPr>
          <a:xfrm>
            <a:off x="457200" y="990600"/>
            <a:ext cx="8229600" cy="5334000"/>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sz="2400" dirty="0">
                <a:latin typeface="Times New Roman" pitchFamily="18" charset="0"/>
                <a:cs typeface="Times New Roman" pitchFamily="18" charset="0"/>
              </a:rPr>
              <a:t>The Idea Box is </a:t>
            </a:r>
            <a:r>
              <a:rPr lang="en-US" sz="2400" b="1" dirty="0">
                <a:latin typeface="Times New Roman" pitchFamily="18" charset="0"/>
                <a:cs typeface="Times New Roman" pitchFamily="18" charset="0"/>
              </a:rPr>
              <a:t>a matrix tool in which you insert all of the different parameters of a design so that you can see them clearly</a:t>
            </a:r>
            <a:r>
              <a:rPr lang="en-US" sz="2400" dirty="0">
                <a:latin typeface="Times New Roman" pitchFamily="18" charset="0"/>
                <a:cs typeface="Times New Roman" pitchFamily="18" charset="0"/>
              </a:rPr>
              <a:t>. An Idea Box is </a:t>
            </a:r>
            <a:r>
              <a:rPr lang="en-US" sz="2400" b="1" dirty="0">
                <a:latin typeface="Times New Roman" pitchFamily="18" charset="0"/>
                <a:cs typeface="Times New Roman" pitchFamily="18" charset="0"/>
              </a:rPr>
              <a:t>a little box filled with wood coins that hold activities, ideas, chores, story starters and more</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AC6A436-DFCB-45DC-8218-8B02847B9DF5}"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2438400"/>
            <a:ext cx="4438650"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5">
            <a:extLst>
              <a:ext uri="{FF2B5EF4-FFF2-40B4-BE49-F238E27FC236}">
                <a16:creationId xmlns:a16="http://schemas.microsoft.com/office/drawing/2014/main" id="{874F6FEC-6A04-468D-9580-AAA84997CF1E}"/>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283006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86800" cy="5943600"/>
          </a:xfrm>
        </p:spPr>
        <p:style>
          <a:lnRef idx="2">
            <a:schemeClr val="accent1"/>
          </a:lnRef>
          <a:fillRef idx="1">
            <a:schemeClr val="lt1"/>
          </a:fillRef>
          <a:effectRef idx="0">
            <a:schemeClr val="accent1"/>
          </a:effectRef>
          <a:fontRef idx="minor">
            <a:schemeClr val="dk1"/>
          </a:fontRef>
        </p:style>
        <p:txBody>
          <a:bodyPr>
            <a:noAutofit/>
          </a:bodyPr>
          <a:lstStyle/>
          <a:p>
            <a:pPr marL="457200" indent="-457200" algn="just">
              <a:buFont typeface="+mj-lt"/>
              <a:buAutoNum type="arabicPeriod"/>
            </a:pPr>
            <a:r>
              <a:rPr lang="en-US" sz="2400" dirty="0">
                <a:latin typeface="Times New Roman" pitchFamily="18" charset="0"/>
                <a:cs typeface="Times New Roman" pitchFamily="18" charset="0"/>
              </a:rPr>
              <a:t>To be a good idea, it needs to be focused on the people, are how the idea fits the needs, problems, and their goals. </a:t>
            </a:r>
          </a:p>
          <a:p>
            <a:pPr marL="457200" indent="-457200" algn="just">
              <a:buFont typeface="+mj-lt"/>
              <a:buAutoNum type="arabicPeriod"/>
            </a:pPr>
            <a:r>
              <a:rPr lang="en-US" sz="2400" dirty="0">
                <a:latin typeface="Times New Roman" pitchFamily="18" charset="0"/>
                <a:cs typeface="Times New Roman" pitchFamily="18" charset="0"/>
              </a:rPr>
              <a:t>That is why it is important to understand how the ideas gives values and the usefulness to the beautiful or feasible solution.</a:t>
            </a:r>
          </a:p>
          <a:p>
            <a:pPr marL="457200" indent="-457200" algn="just">
              <a:buFont typeface="+mj-lt"/>
              <a:buAutoNum type="arabicPeriod"/>
            </a:pPr>
            <a:r>
              <a:rPr lang="en-US" sz="2400" dirty="0">
                <a:latin typeface="Times New Roman" pitchFamily="18" charset="0"/>
                <a:cs typeface="Times New Roman" pitchFamily="18" charset="0"/>
              </a:rPr>
              <a:t>This ideate phase of the design thinking processes is the most interesting and perhaps, the most rigorous as well.</a:t>
            </a:r>
          </a:p>
          <a:p>
            <a:pPr marL="457200" indent="-457200" algn="just">
              <a:buFont typeface="+mj-lt"/>
              <a:buAutoNum type="arabicPeriod"/>
            </a:pPr>
            <a:r>
              <a:rPr lang="en-US" sz="2400" dirty="0">
                <a:latin typeface="Times New Roman" pitchFamily="18" charset="0"/>
                <a:cs typeface="Times New Roman" pitchFamily="18" charset="0"/>
              </a:rPr>
              <a:t>In this phase designer or designers supposed to bring to the table as many ideas as possible.</a:t>
            </a:r>
          </a:p>
          <a:p>
            <a:pPr marL="457200" indent="-457200">
              <a:buFont typeface="+mj-lt"/>
              <a:buAutoNum type="arabicPeriod"/>
            </a:pPr>
            <a:r>
              <a:rPr lang="en-US" sz="2400" dirty="0">
                <a:latin typeface="Times New Roman" pitchFamily="18" charset="0"/>
                <a:cs typeface="Times New Roman" pitchFamily="18" charset="0"/>
              </a:rPr>
              <a:t>The ideate stage is important because it is when a design team moves from understanding and defining consumer/user/client/customer problems to coming up with solutions for those needs.</a:t>
            </a:r>
          </a:p>
          <a:p>
            <a:pPr marL="457200" indent="-457200">
              <a:buFont typeface="+mj-lt"/>
              <a:buAutoNum type="arabicPeriod"/>
            </a:pPr>
            <a:r>
              <a:rPr lang="en-US" sz="2400" dirty="0">
                <a:latin typeface="Times New Roman" pitchFamily="18" charset="0"/>
                <a:cs typeface="Times New Roman" pitchFamily="18" charset="0"/>
              </a:rPr>
              <a:t>Without the ideate stage the problem remains just the problem.</a:t>
            </a:r>
          </a:p>
          <a:p>
            <a:pPr marL="457200" indent="-457200">
              <a:buFont typeface="+mj-lt"/>
              <a:buAutoNum type="arabicPeriod"/>
            </a:pPr>
            <a:r>
              <a:rPr lang="en-US" sz="2400" dirty="0">
                <a:latin typeface="Times New Roman" pitchFamily="18" charset="0"/>
                <a:cs typeface="Times New Roman" pitchFamily="18" charset="0"/>
              </a:rPr>
              <a:t>Design team consider creative ways to address the needs of the user in the empathize stage and outlines in the Define stage</a:t>
            </a:r>
          </a:p>
          <a:p>
            <a:pPr marL="457200" indent="-457200">
              <a:buFont typeface="+mj-lt"/>
              <a:buAutoNum type="arabicPeriod"/>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A1D5E7F-3A42-4F16-ABC7-B0FB08C0451C}" type="datetime1">
              <a:rPr lang="en-US" smtClean="0"/>
              <a:t>8/27/2024</a:t>
            </a:fld>
            <a:endParaRPr lang="en-US"/>
          </a:p>
        </p:txBody>
      </p:sp>
      <p:sp>
        <p:nvSpPr>
          <p:cNvPr id="5" name="Slide Number Placeholder 4"/>
          <p:cNvSpPr>
            <a:spLocks noGrp="1"/>
          </p:cNvSpPr>
          <p:nvPr>
            <p:ph type="sldNum" sz="quarter" idx="12"/>
          </p:nvPr>
        </p:nvSpPr>
        <p:spPr/>
        <p:txBody>
          <a:bodyPr/>
          <a:lstStyle/>
          <a:p>
            <a:fld id="{D4EFF482-3786-46E7-9869-AFA9F18680F5}" type="slidenum">
              <a:rPr lang="en-US" smtClean="0"/>
              <a:pPr/>
              <a:t>22</a:t>
            </a:fld>
            <a:endParaRPr lang="en-US"/>
          </a:p>
        </p:txBody>
      </p:sp>
      <p:sp>
        <p:nvSpPr>
          <p:cNvPr id="2" name="Footer Placeholder 1">
            <a:extLst>
              <a:ext uri="{FF2B5EF4-FFF2-40B4-BE49-F238E27FC236}">
                <a16:creationId xmlns:a16="http://schemas.microsoft.com/office/drawing/2014/main" id="{BF598CCA-8144-4C67-B922-4217E7A54756}"/>
              </a:ext>
            </a:extLst>
          </p:cNvPr>
          <p:cNvSpPr>
            <a:spLocks noGrp="1"/>
          </p:cNvSpPr>
          <p:nvPr>
            <p:ph type="ftr" sz="quarter" idx="11"/>
          </p:nvPr>
        </p:nvSpPr>
        <p:spPr/>
        <p:txBody>
          <a:bodyPr/>
          <a:lstStyle/>
          <a:p>
            <a:r>
              <a:rPr lang="en-US"/>
              <a:t>Dr.B.Madhura, MBA</a:t>
            </a:r>
          </a:p>
        </p:txBody>
      </p:sp>
    </p:spTree>
    <p:extLst>
      <p:ext uri="{BB962C8B-B14F-4D97-AF65-F5344CB8AC3E}">
        <p14:creationId xmlns:p14="http://schemas.microsoft.com/office/powerpoint/2010/main" val="12185755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lligraphy">
  <a:themeElements>
    <a:clrScheme name="Calligraphy">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Calligraphy">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lligraphy">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tf00001201</Template>
  <TotalTime>1956</TotalTime>
  <Words>2161</Words>
  <Application>Microsoft Office PowerPoint</Application>
  <PresentationFormat>On-screen Show (4:3)</PresentationFormat>
  <Paragraphs>192</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Times New Roman</vt:lpstr>
      <vt:lpstr>Wingdings 2</vt:lpstr>
      <vt:lpstr>Calligraphy</vt:lpstr>
      <vt:lpstr>CO – CREATION AND PRODUCT DESIGN   CO – CREATION AND PRODUCT DESIGN          CCO – CREATION AND PRODUCT DESIGN </vt:lpstr>
      <vt:lpstr>Articulation of Problem Statement</vt:lpstr>
      <vt:lpstr>Articulation of Problem Statement</vt:lpstr>
      <vt:lpstr>PowerPoint Presentation</vt:lpstr>
      <vt:lpstr>PowerPoint Presentation</vt:lpstr>
      <vt:lpstr>PowerPoint Presentation</vt:lpstr>
      <vt:lpstr> Visualizing Ideas  </vt:lpstr>
      <vt:lpstr>PowerPoint Presentation</vt:lpstr>
      <vt:lpstr> Communicating Ideas and Compelling Story Telling  </vt:lpstr>
      <vt:lpstr> Communicating Ideas and Compelling Story Telling  </vt:lpstr>
      <vt:lpstr> Communicating Ideas and Compelling Story Telling  </vt:lpstr>
      <vt:lpstr> Communicating Ideas and Compelling Story Telling  </vt:lpstr>
      <vt:lpstr> Communicating Ideas and Compelling Story Telling  </vt:lpstr>
      <vt:lpstr>Brainstorming</vt:lpstr>
      <vt:lpstr>Brainstorming</vt:lpstr>
      <vt:lpstr>Divergent Thinking In Exploring Solutions</vt:lpstr>
      <vt:lpstr>Divergent Thinking In Exploring Solutions</vt:lpstr>
      <vt:lpstr> 3- Box Thinking  </vt:lpstr>
      <vt:lpstr>3- Box Framework</vt:lpstr>
      <vt:lpstr>3- Box Framework</vt:lpstr>
      <vt:lpstr>Box-3 Ideation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User</cp:lastModifiedBy>
  <cp:revision>219</cp:revision>
  <dcterms:created xsi:type="dcterms:W3CDTF">2022-05-14T06:32:11Z</dcterms:created>
  <dcterms:modified xsi:type="dcterms:W3CDTF">2024-08-27T13:01:13Z</dcterms:modified>
  <cp:contentStatus/>
</cp:coreProperties>
</file>