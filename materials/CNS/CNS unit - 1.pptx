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35"/>
  </p:notesMasterIdLst>
  <p:sldIdLst>
    <p:sldId id="256" r:id="rId3"/>
    <p:sldId id="293" r:id="rId4"/>
    <p:sldId id="294" r:id="rId5"/>
    <p:sldId id="296" r:id="rId6"/>
    <p:sldId id="295" r:id="rId7"/>
    <p:sldId id="257" r:id="rId8"/>
    <p:sldId id="258" r:id="rId9"/>
    <p:sldId id="259" r:id="rId10"/>
    <p:sldId id="260" r:id="rId11"/>
    <p:sldId id="261" r:id="rId12"/>
    <p:sldId id="262" r:id="rId13"/>
    <p:sldId id="271" r:id="rId14"/>
    <p:sldId id="272" r:id="rId15"/>
    <p:sldId id="273" r:id="rId16"/>
    <p:sldId id="274" r:id="rId17"/>
    <p:sldId id="275" r:id="rId18"/>
    <p:sldId id="276" r:id="rId19"/>
    <p:sldId id="288" r:id="rId20"/>
    <p:sldId id="280" r:id="rId21"/>
    <p:sldId id="277" r:id="rId22"/>
    <p:sldId id="283" r:id="rId23"/>
    <p:sldId id="281" r:id="rId24"/>
    <p:sldId id="287" r:id="rId25"/>
    <p:sldId id="284" r:id="rId26"/>
    <p:sldId id="278" r:id="rId27"/>
    <p:sldId id="263" r:id="rId28"/>
    <p:sldId id="264" r:id="rId29"/>
    <p:sldId id="265" r:id="rId30"/>
    <p:sldId id="267" r:id="rId31"/>
    <p:sldId id="286" r:id="rId32"/>
    <p:sldId id="268" r:id="rId33"/>
    <p:sldId id="285" r:id="rId3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1pPr>
    <a:lvl2pPr marL="742950" lvl="1" indent="-28575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2pPr>
    <a:lvl3pPr marL="1143000" lvl="2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3pPr>
    <a:lvl4pPr marL="1600200" lvl="3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4pPr>
    <a:lvl5pPr marL="2057400" lvl="4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-228600" algn="l" defTabSz="449580" rtl="0" eaLnBrk="0" fontAlgn="base" latinLnBrk="0" hangingPunct="0">
      <a:lnSpc>
        <a:spcPct val="100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buNone/>
      <a:defRPr sz="2400" b="0" i="0" u="none" kern="1200" baseline="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FBE1"/>
    <a:srgbClr val="C0E399"/>
    <a:srgbClr val="F6D0F3"/>
    <a:srgbClr val="FFE2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482" y="48"/>
      </p:cViewPr>
      <p:guideLst>
        <p:guide orient="horz" pos="2152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/>
          </a:p>
        </p:txBody>
      </p:sp>
      <p:sp>
        <p:nvSpPr>
          <p:cNvPr id="2051" name="Text Box 2"/>
          <p:cNvSpPr txBox="1"/>
          <p:nvPr/>
        </p:nvSpPr>
        <p:spPr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/>
          </a:p>
        </p:txBody>
      </p:sp>
      <p:sp>
        <p:nvSpPr>
          <p:cNvPr id="2052" name="Text Box 3"/>
          <p:cNvSpPr txBox="1"/>
          <p:nvPr/>
        </p:nvSpPr>
        <p:spPr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/>
          </a:p>
        </p:txBody>
      </p:sp>
      <p:sp>
        <p:nvSpPr>
          <p:cNvPr id="2053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/>
          <p:nvPr/>
        </p:nvSpPr>
        <p:spPr>
          <a:xfrm>
            <a:off x="0" y="8683625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‹#›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1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4099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4100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6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7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8195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8196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8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10243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10244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9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1229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12292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10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14339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14340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11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1638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16388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20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5000" rIns="90000" bIns="45000" anchor="b"/>
          <a:lstStyle/>
          <a:p>
            <a:pPr marL="0" marR="0" lvl="0" indent="0" algn="l" defTabSz="44958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1.#</a:t>
            </a:r>
          </a:p>
        </p:txBody>
      </p:sp>
      <p:sp>
        <p:nvSpPr>
          <p:cNvPr id="2662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>
              <a:alpha val="100000"/>
            </a:srgbClr>
          </a:solidFill>
        </p:spPr>
      </p:sp>
      <p:sp>
        <p:nvSpPr>
          <p:cNvPr id="26629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1588" cy="1588"/>
          </a:xfrm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26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33795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33796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27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35843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35844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28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3789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37892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29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39939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39940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</a:rPr>
              <a:t>31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4301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43012" name="Rectangle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208463"/>
          </a:xfrm>
        </p:spPr>
        <p:txBody>
          <a:bodyPr wrap="none" lIns="90000" tIns="46800" rIns="90000" bIns="4680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1513" cy="5484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4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Dr. K. Shirisha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1513" cy="5484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4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Dr. K. Shirisha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0813" cy="41132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  <a:p>
            <a:pPr lvl="4"/>
            <a:r>
              <a:rPr lang="en-GB" altLang="en-US" dirty="0"/>
              <a:t>Eighth Outline Level</a:t>
            </a:r>
          </a:p>
          <a:p>
            <a:pPr lvl="4"/>
            <a:r>
              <a:rPr lang="en-GB" altLang="en-US" dirty="0"/>
              <a:t>Ninth Outline Level</a:t>
            </a:r>
          </a:p>
        </p:txBody>
      </p:sp>
      <p:sp>
        <p:nvSpPr>
          <p:cNvPr id="1028" name="Text Box 3"/>
          <p:cNvSpPr txBox="1"/>
          <p:nvPr/>
        </p:nvSpPr>
        <p:spPr>
          <a:xfrm>
            <a:off x="685800" y="6248400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903413" cy="4556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0813" cy="11414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0813" cy="41132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  <a:p>
            <a:pPr lvl="4"/>
            <a:r>
              <a:rPr lang="en-GB" altLang="en-US" dirty="0"/>
              <a:t>Eighth Outline Level</a:t>
            </a:r>
          </a:p>
          <a:p>
            <a:pPr lvl="4"/>
            <a:r>
              <a:rPr lang="en-GB" altLang="en-US" dirty="0"/>
              <a:t>Ninth Outline Level</a:t>
            </a:r>
          </a:p>
        </p:txBody>
      </p:sp>
      <p:sp>
        <p:nvSpPr>
          <p:cNvPr id="1028" name="Text Box 3"/>
          <p:cNvSpPr txBox="1"/>
          <p:nvPr/>
        </p:nvSpPr>
        <p:spPr>
          <a:xfrm>
            <a:off x="685800" y="6248400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903413" cy="4556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‹#›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Times New Roman" panose="02020603050405020304" pitchFamily="18" charset="0"/>
          <a:ea typeface="DejaVu Sans" charset="0"/>
          <a:cs typeface="DejaVu Sans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81000" y="38100"/>
            <a:ext cx="8305800" cy="37719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72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Cryptography and Network  Security</a:t>
            </a:r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533900"/>
            <a:ext cx="1154113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Rectangle 4"/>
          <p:cNvSpPr/>
          <p:nvPr/>
        </p:nvSpPr>
        <p:spPr>
          <a:xfrm>
            <a:off x="3886200" y="6248400"/>
            <a:ext cx="1219200" cy="3048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78" name="Slide Number Placeholder 5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Course Outcomes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345170" cy="4113530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 sz="2400"/>
              <a:t>After completion of this course student will be able to:</a:t>
            </a:r>
          </a:p>
          <a:p>
            <a:pPr marL="0" indent="0">
              <a:buNone/>
            </a:pPr>
            <a:r>
              <a:rPr lang="en-US" altLang="en-US" sz="2000"/>
              <a:t>1. Classify the security attacks, security services and also describe the model for</a:t>
            </a:r>
          </a:p>
          <a:p>
            <a:pPr marL="0" indent="0">
              <a:buNone/>
            </a:pPr>
            <a:r>
              <a:rPr lang="en-US" altLang="en-US" sz="2000"/>
              <a:t>network Security.[L2]-U1</a:t>
            </a:r>
          </a:p>
          <a:p>
            <a:pPr marL="0" indent="0">
              <a:buNone/>
            </a:pPr>
            <a:r>
              <a:rPr lang="en-US" altLang="en-US" sz="2000"/>
              <a:t>2. Analyze conventional and Public cryptographic techniques.[L4]-U2</a:t>
            </a:r>
          </a:p>
          <a:p>
            <a:pPr marL="0" indent="0">
              <a:buNone/>
            </a:pPr>
            <a:r>
              <a:rPr lang="en-US" altLang="en-US" sz="2000"/>
              <a:t>3. Classify and analyze Message Authentication, Secure Hash functions and outline the</a:t>
            </a:r>
          </a:p>
          <a:p>
            <a:pPr marL="0" indent="0">
              <a:buNone/>
            </a:pPr>
            <a:r>
              <a:rPr lang="en-US" altLang="en-US" sz="2000"/>
              <a:t>concepts of Kerberos and email privacy.[L3]-U3</a:t>
            </a:r>
          </a:p>
          <a:p>
            <a:pPr marL="0" indent="0">
              <a:buNone/>
            </a:pPr>
            <a:r>
              <a:rPr lang="en-US" altLang="en-US" sz="2000"/>
              <a:t>4. Examine architecture, key management and header formats of IPsec and Outline the</a:t>
            </a:r>
          </a:p>
          <a:p>
            <a:pPr marL="0" indent="0">
              <a:buNone/>
            </a:pPr>
            <a:r>
              <a:rPr lang="en-US" altLang="en-US" sz="2000"/>
              <a:t>various web security threats and protocols.[L3]-U4,U5</a:t>
            </a:r>
          </a:p>
          <a:p>
            <a:pPr marL="0" indent="0">
              <a:buNone/>
            </a:pPr>
            <a:r>
              <a:rPr lang="en-US" altLang="en-US" sz="2000"/>
              <a:t>5. Interpret Intrusion Detection System and Design principles of Firewalls.[L3]-U6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524000"/>
            <a:ext cx="8183245" cy="41135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/>
              <a:t>UNIT – I : Security Attacks (Interruption, Interception, Modification and Fabrication), Security Services (Confidentiality, Authentication, Integrity, Non-repudiation, access Control and Availability) and Mechanisms, A model for Internetwork security, Internet Standards and RFCs.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UNIT – II: Conventional Encryption Principles, Conventional encryption algorithms: DES, TDES, AES, RC4, cipher block modes of operation, location of encryption devices, key distribution, Public key cryptography principles, public key cryptography algorithms: RSA, DIFFIE</a:t>
            </a:r>
          </a:p>
          <a:p>
            <a:pPr marL="0" indent="0">
              <a:buNone/>
            </a:pPr>
            <a:r>
              <a:rPr lang="en-US" altLang="en-US" sz="1800" dirty="0"/>
              <a:t>HELL MAN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UNIT – III: Digital signatures, digital Certificates, Certificate Authority and key management, Approaches of Message Authentication, Secure Hash Functions: SHA1 and HMAC Kerberos, X.509 Directory Authentication Service. Email privacy: Pretty Good Privacy (PGP) and S/MIME.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3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1" y="1524000"/>
            <a:ext cx="7924800" cy="411353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/>
              <a:t>UNIT – IV: IP Security Overview, IP Security Architecture, Authentication Header, Encapsulating Security Payload, Combining Security Associations and Key Management.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UNIT – V: Web Security Requirements, Secure Socket Layer (SSL) and Transport Layer Security (TLS), Secure Electronic Transaction (SET). Intruders, Viruses and related threats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UNIT – VI: Firewall Design principles, Trusted Systems. Intrusion Detection Systems.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TEXT BOOKS:</a:t>
            </a:r>
          </a:p>
          <a:p>
            <a:pPr marL="0" indent="0">
              <a:buNone/>
            </a:pPr>
            <a:r>
              <a:rPr lang="en-US" altLang="en-US" sz="1800" dirty="0"/>
              <a:t>1. Network Security Essentials (Applications and Standards) by William Stallings</a:t>
            </a:r>
          </a:p>
          <a:p>
            <a:pPr marL="0" indent="0">
              <a:buNone/>
            </a:pPr>
            <a:r>
              <a:rPr lang="en-US" altLang="en-US" sz="1800" dirty="0"/>
              <a:t>Pearson Education, 4th Edition.</a:t>
            </a:r>
          </a:p>
          <a:p>
            <a:pPr marL="0" indent="0">
              <a:buNone/>
            </a:pPr>
            <a:r>
              <a:rPr lang="en-US" altLang="en-US" sz="1800" dirty="0"/>
              <a:t>2. Hack Proofing your network by Ryan Russell, Dan Kaminsky, Rain Forest Puppy,</a:t>
            </a:r>
          </a:p>
          <a:p>
            <a:pPr marL="0" indent="0">
              <a:buNone/>
            </a:pPr>
            <a:r>
              <a:rPr lang="en-US" altLang="en-US" sz="1800" dirty="0"/>
              <a:t>Joe Grand, David Ahmad, Hal Flynn </a:t>
            </a:r>
            <a:r>
              <a:rPr lang="en-US" altLang="en-US" sz="1800" dirty="0" err="1"/>
              <a:t>Ido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Dubrawsky</a:t>
            </a:r>
            <a:r>
              <a:rPr lang="en-US" altLang="en-US" sz="1800" dirty="0"/>
              <a:t>, Steve </a:t>
            </a:r>
            <a:r>
              <a:rPr lang="en-US" altLang="en-US" sz="1800" dirty="0" err="1"/>
              <a:t>W.Manzuik</a:t>
            </a:r>
            <a:r>
              <a:rPr lang="en-US" altLang="en-US" sz="1800" dirty="0"/>
              <a:t> and Ryan</a:t>
            </a:r>
          </a:p>
          <a:p>
            <a:pPr marL="0" indent="0">
              <a:buNone/>
            </a:pPr>
            <a:r>
              <a:rPr lang="en-US" altLang="en-US" sz="1800" dirty="0" err="1"/>
              <a:t>Permeh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wiley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Dreamtech</a:t>
            </a:r>
            <a:endParaRPr lang="en-US" alt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4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1 Contents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en-US">
                <a:sym typeface="+mn-ea"/>
              </a:rPr>
              <a:t>Security Attacks: Interruption, Interception, Modification and Fabrication</a:t>
            </a:r>
          </a:p>
          <a:p>
            <a:pPr marL="514350" indent="-514350">
              <a:buAutoNum type="arabicPeriod"/>
            </a:pPr>
            <a:r>
              <a:rPr lang="en-US" altLang="en-US">
                <a:sym typeface="+mn-ea"/>
              </a:rPr>
              <a:t>Security Services: Confidentiality, Authentication, Integrity, Non-repudiation, access Control and Availability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>
                <a:sym typeface="+mn-ea"/>
              </a:rPr>
              <a:t>Security Mechanisms,</a:t>
            </a:r>
          </a:p>
          <a:p>
            <a:pPr marL="514350" indent="-514350">
              <a:buAutoNum type="arabicPeriod"/>
            </a:pPr>
            <a:r>
              <a:rPr lang="en-US" altLang="en-US">
                <a:sym typeface="+mn-ea"/>
              </a:rPr>
              <a:t>A model for Internetwork security, </a:t>
            </a:r>
          </a:p>
          <a:p>
            <a:pPr marL="514350" indent="-514350">
              <a:buAutoNum type="arabicPeriod"/>
            </a:pPr>
            <a:r>
              <a:rPr lang="en-US" altLang="en-US">
                <a:sym typeface="+mn-ea"/>
              </a:rPr>
              <a:t>Internet Standards and RFCs.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5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685800" y="358775"/>
            <a:ext cx="7772400" cy="2103438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Attacks, Services and Mechanisms</a:t>
            </a:r>
            <a:br>
              <a:rPr kumimoji="0" lang="en-US" sz="44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n-US" sz="44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	</a:t>
            </a:r>
          </a:p>
        </p:txBody>
      </p:sp>
      <p:sp>
        <p:nvSpPr>
          <p:cNvPr id="5124" name="Text Box 3"/>
          <p:cNvSpPr txBox="1"/>
          <p:nvPr/>
        </p:nvSpPr>
        <p:spPr>
          <a:xfrm>
            <a:off x="457200" y="1981200"/>
            <a:ext cx="83820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1630" indent="-341630" defTabSz="449580">
              <a:lnSpc>
                <a:spcPct val="90000"/>
              </a:lnSpc>
              <a:spcBef>
                <a:spcPts val="7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Security Attack: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Any action that compromises the security of information.</a:t>
            </a:r>
          </a:p>
          <a:p>
            <a:pPr marL="341630" indent="-341630" defTabSz="449580">
              <a:lnSpc>
                <a:spcPct val="90000"/>
              </a:lnSpc>
              <a:spcBef>
                <a:spcPts val="7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Security Mechanism: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A mechanism that is designed to </a:t>
            </a:r>
            <a:r>
              <a:rPr lang="en-US" alt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detect, prevent, or recover</a:t>
            </a: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 from a security attack.</a:t>
            </a:r>
          </a:p>
          <a:p>
            <a:pPr marL="341630" indent="-341630" defTabSz="449580">
              <a:lnSpc>
                <a:spcPct val="90000"/>
              </a:lnSpc>
              <a:spcBef>
                <a:spcPts val="7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Security Service: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A service that enhances the security of data processing systems and information transfers.  A security service makes use of one or more security mechanisms.</a:t>
            </a:r>
          </a:p>
          <a:p>
            <a:pPr marL="341630" indent="-341630" defTabSz="449580">
              <a:lnSpc>
                <a:spcPct val="90000"/>
              </a:lnSpc>
              <a:spcBef>
                <a:spcPts val="700"/>
              </a:spcBef>
              <a:buFont typeface="Comic Sans MS" panose="030F0702030302020204" pitchFamily="6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125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6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Security Threats</a:t>
            </a:r>
          </a:p>
        </p:txBody>
      </p:sp>
      <p:pic>
        <p:nvPicPr>
          <p:cNvPr id="717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6477000" cy="480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7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Security Threats</a:t>
            </a:r>
          </a:p>
        </p:txBody>
      </p:sp>
      <p:sp>
        <p:nvSpPr>
          <p:cNvPr id="9220" name="Text Box 3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1630" indent="-341630" defTabSz="449580">
              <a:lnSpc>
                <a:spcPct val="90000"/>
              </a:lnSpc>
              <a:spcBef>
                <a:spcPts val="8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Interruption: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This is an attack on availability</a:t>
            </a:r>
          </a:p>
          <a:p>
            <a:pPr marL="341630" indent="-341630" defTabSz="449580">
              <a:lnSpc>
                <a:spcPct val="90000"/>
              </a:lnSpc>
              <a:spcBef>
                <a:spcPts val="8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Interception: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This is an attack on confidentiality</a:t>
            </a:r>
          </a:p>
          <a:p>
            <a:pPr marL="341630" indent="-341630" defTabSz="449580">
              <a:lnSpc>
                <a:spcPct val="90000"/>
              </a:lnSpc>
              <a:spcBef>
                <a:spcPts val="8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Modification: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This is an attack on integrity</a:t>
            </a:r>
          </a:p>
          <a:p>
            <a:pPr marL="341630" indent="-341630" defTabSz="449580">
              <a:lnSpc>
                <a:spcPct val="90000"/>
              </a:lnSpc>
              <a:spcBef>
                <a:spcPts val="8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Fabrication:</a:t>
            </a: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 This is an attack on authenticity</a:t>
            </a:r>
          </a:p>
          <a:p>
            <a:pPr marL="341630" indent="-341630" defTabSz="449580">
              <a:lnSpc>
                <a:spcPct val="90000"/>
              </a:lnSpc>
              <a:spcBef>
                <a:spcPts val="800"/>
              </a:spcBef>
              <a:buFont typeface="Comic Sans MS" panose="030F0702030302020204" pitchFamily="6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32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9221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8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Security Goals</a:t>
            </a:r>
          </a:p>
        </p:txBody>
      </p:sp>
      <p:sp>
        <p:nvSpPr>
          <p:cNvPr id="11268" name="Oval 3"/>
          <p:cNvSpPr/>
          <p:nvPr/>
        </p:nvSpPr>
        <p:spPr>
          <a:xfrm>
            <a:off x="3048000" y="1905000"/>
            <a:ext cx="3276600" cy="2971800"/>
          </a:xfrm>
          <a:prstGeom prst="ellipse">
            <a:avLst/>
          </a:prstGeom>
          <a:solidFill>
            <a:srgbClr val="99CCFF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1269" name="Oval 4"/>
          <p:cNvSpPr/>
          <p:nvPr/>
        </p:nvSpPr>
        <p:spPr>
          <a:xfrm>
            <a:off x="1600200" y="3276600"/>
            <a:ext cx="3276600" cy="2971800"/>
          </a:xfrm>
          <a:prstGeom prst="ellipse">
            <a:avLst/>
          </a:prstGeom>
          <a:solidFill>
            <a:srgbClr val="FF0000">
              <a:alpha val="50195"/>
            </a:srgbClr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1270" name="Oval 5"/>
          <p:cNvSpPr/>
          <p:nvPr/>
        </p:nvSpPr>
        <p:spPr>
          <a:xfrm>
            <a:off x="4419600" y="3352800"/>
            <a:ext cx="3276600" cy="2971800"/>
          </a:xfrm>
          <a:prstGeom prst="ellipse">
            <a:avLst/>
          </a:prstGeom>
          <a:solidFill>
            <a:srgbClr val="00FF00">
              <a:alpha val="50195"/>
            </a:srgbClr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1271" name="Text Box 6"/>
          <p:cNvSpPr txBox="1"/>
          <p:nvPr/>
        </p:nvSpPr>
        <p:spPr>
          <a:xfrm>
            <a:off x="2057400" y="4953000"/>
            <a:ext cx="1981200" cy="460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mic Sans MS" panose="030F0702030302020204" pitchFamily="66" charset="0"/>
              </a:rPr>
              <a:t>Integrity</a:t>
            </a:r>
          </a:p>
        </p:txBody>
      </p:sp>
      <p:sp>
        <p:nvSpPr>
          <p:cNvPr id="11272" name="Text Box 7"/>
          <p:cNvSpPr txBox="1"/>
          <p:nvPr/>
        </p:nvSpPr>
        <p:spPr>
          <a:xfrm>
            <a:off x="3581400" y="2590800"/>
            <a:ext cx="2438400" cy="8255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mic Sans MS" panose="030F0702030302020204" pitchFamily="66" charset="0"/>
              </a:rPr>
              <a:t>Confidentiality</a:t>
            </a:r>
          </a:p>
        </p:txBody>
      </p:sp>
      <p:sp>
        <p:nvSpPr>
          <p:cNvPr id="11273" name="Text Box 8"/>
          <p:cNvSpPr txBox="1"/>
          <p:nvPr/>
        </p:nvSpPr>
        <p:spPr>
          <a:xfrm>
            <a:off x="5410200" y="5105400"/>
            <a:ext cx="2057400" cy="8255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defTabSz="4495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mic Sans MS" panose="030F0702030302020204" pitchFamily="66" charset="0"/>
              </a:rPr>
              <a:t>Avalaibility</a:t>
            </a:r>
          </a:p>
        </p:txBody>
      </p:sp>
      <p:sp>
        <p:nvSpPr>
          <p:cNvPr id="11274" name="Slide Number Placeholder 9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9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31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7924800" cy="4800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Security Attacks</a:t>
            </a:r>
          </a:p>
        </p:txBody>
      </p:sp>
      <p:sp>
        <p:nvSpPr>
          <p:cNvPr id="13317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10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Security Services</a:t>
            </a: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round/>
          </a:ln>
        </p:spPr>
        <p:txBody>
          <a:bodyPr/>
          <a:lstStyle/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Confidentiality (privacy)</a:t>
            </a:r>
          </a:p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Authentication (who created or sent the data)</a:t>
            </a:r>
          </a:p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Integrity (has not been altered)</a:t>
            </a:r>
          </a:p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Non-repudiation (the order is final)</a:t>
            </a:r>
          </a:p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Access control (prevent misuse of resources)</a:t>
            </a:r>
          </a:p>
          <a:p>
            <a:pPr marL="457200" marR="0" indent="-457200" defTabSz="44958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+mj-lt"/>
              <a:buAutoNum type="alphaU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kern="1200" cap="none" spc="0" normalizeH="0" baseline="0" noProof="0" dirty="0">
                <a:solidFill>
                  <a:srgbClr val="000000"/>
                </a:solidFill>
                <a:latin typeface="Comic Sans MS" panose="030F0702030302020204" pitchFamily="66" charset="0"/>
                <a:ea typeface="+mn-ea"/>
                <a:cs typeface="+mn-cs"/>
              </a:rPr>
              <a:t>Availability (permanence, non-erasure)</a:t>
            </a:r>
          </a:p>
          <a:p>
            <a:pPr marL="741680" marR="0" lvl="1" indent="-284480" algn="l" defTabSz="44958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Denial of Service Attacks</a:t>
            </a:r>
          </a:p>
          <a:p>
            <a:pPr marL="741680" marR="0" lvl="1" indent="-284480" algn="l" defTabSz="44958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Comic Sans MS" panose="030F0702030302020204" pitchFamily="66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Virus that deletes files</a:t>
            </a:r>
          </a:p>
          <a:p>
            <a:pPr marL="341630" marR="0" indent="-341630" defTabSz="449580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Comic Sans MS" panose="030F0702030302020204" pitchFamily="66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kumimoji="0" lang="en-US" kern="1200" cap="none" spc="0" normalizeH="0" baseline="0" noProof="0" dirty="0">
              <a:solidFill>
                <a:srgbClr val="000000"/>
              </a:solidFill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15365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11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0813" cy="533400"/>
          </a:xfrm>
        </p:spPr>
        <p:txBody>
          <a:bodyPr vert="horz" wrap="square" lIns="90000" tIns="46800" rIns="90000" bIns="46800" anchor="ctr" anchorCtr="0"/>
          <a:lstStyle/>
          <a:p>
            <a:r>
              <a:rPr lang="en-US" altLang="en-US" b="1" dirty="0"/>
              <a:t>A. Data confidentiality</a:t>
            </a:r>
            <a:r>
              <a:rPr lang="en-US" altLang="en-US" dirty="0"/>
              <a:t> 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0813" cy="5027613"/>
          </a:xfrm>
        </p:spPr>
        <p:txBody>
          <a:bodyPr vert="horz" wrap="square" lIns="90000" tIns="46800" rIns="90000" bIns="46800" anchor="t" anchorCtr="0"/>
          <a:lstStyle/>
          <a:p>
            <a:pPr>
              <a:buNone/>
            </a:pPr>
            <a:r>
              <a:rPr lang="en-US" altLang="en-US" sz="1800" dirty="0"/>
              <a:t>These services provide for the protection of data from unauthorized disclosure as described below </a:t>
            </a:r>
          </a:p>
          <a:p>
            <a:pPr>
              <a:buNone/>
            </a:pPr>
            <a:endParaRPr lang="en-US" altLang="en-US" sz="1800" dirty="0"/>
          </a:p>
          <a:p>
            <a:pPr>
              <a:buFont typeface="Times New Roman" panose="02020603050405020304" pitchFamily="18" charset="0"/>
              <a:buAutoNum type="alphaLcParenR"/>
            </a:pPr>
            <a:r>
              <a:rPr lang="en-US" altLang="en-US" sz="1800" b="1" dirty="0"/>
              <a:t>Connection confidentiality</a:t>
            </a:r>
            <a:r>
              <a:rPr lang="en-US" altLang="en-US" sz="1800" dirty="0"/>
              <a:t> - provides for the confidentiality of all user-data on a connection </a:t>
            </a:r>
          </a:p>
          <a:p>
            <a:pPr>
              <a:buFont typeface="Times New Roman" panose="02020603050405020304" pitchFamily="18" charset="0"/>
              <a:buAutoNum type="alphaLcParenR"/>
            </a:pPr>
            <a:endParaRPr lang="en-US" altLang="en-US" sz="1800" dirty="0"/>
          </a:p>
          <a:p>
            <a:pPr>
              <a:buFont typeface="Times New Roman" panose="02020603050405020304" pitchFamily="18" charset="0"/>
              <a:buAutoNum type="alphaLcParenR"/>
            </a:pPr>
            <a:r>
              <a:rPr lang="en-US" altLang="en-US" sz="1800" b="1" i="1" dirty="0"/>
              <a:t>Connectionless confidentiality</a:t>
            </a:r>
            <a:r>
              <a:rPr lang="en-US" altLang="en-US" sz="1800" b="1" dirty="0"/>
              <a:t> </a:t>
            </a:r>
            <a:r>
              <a:rPr lang="en-US" altLang="en-US" sz="1800" dirty="0"/>
              <a:t>- provides for the confidentiality of all user-data in a single data block.</a:t>
            </a:r>
          </a:p>
          <a:p>
            <a:pPr>
              <a:buFont typeface="Times New Roman" panose="02020603050405020304" pitchFamily="18" charset="0"/>
              <a:buAutoNum type="alphaLcParenR"/>
            </a:pPr>
            <a:endParaRPr lang="en-US" altLang="en-US" sz="1800" dirty="0"/>
          </a:p>
          <a:p>
            <a:pPr>
              <a:buFont typeface="Times New Roman" panose="02020603050405020304" pitchFamily="18" charset="0"/>
              <a:buAutoNum type="alphaLcParenR"/>
            </a:pPr>
            <a:r>
              <a:rPr lang="en-US" altLang="en-US" sz="1800" b="1" dirty="0"/>
              <a:t>Selective field confidentiality</a:t>
            </a:r>
            <a:r>
              <a:rPr lang="en-US" altLang="en-US" sz="1800" dirty="0"/>
              <a:t> - provides for the confidentiality of selected fields within the user-data on a connection or in a single data block.</a:t>
            </a:r>
          </a:p>
          <a:p>
            <a:pPr>
              <a:buFont typeface="Times New Roman" panose="02020603050405020304" pitchFamily="18" charset="0"/>
              <a:buAutoNum type="alphaLcParenR"/>
            </a:pPr>
            <a:endParaRPr lang="en-US" altLang="en-US" sz="1800" dirty="0"/>
          </a:p>
          <a:p>
            <a:pPr>
              <a:buFont typeface="Times New Roman" panose="02020603050405020304" pitchFamily="18" charset="0"/>
              <a:buAutoNum type="alphaLcParenR"/>
            </a:pPr>
            <a:r>
              <a:rPr lang="en-US" altLang="en-US" sz="1800" b="1" dirty="0"/>
              <a:t>Traffic flow confidentiality</a:t>
            </a:r>
            <a:r>
              <a:rPr lang="en-US" altLang="en-US" sz="1800" dirty="0"/>
              <a:t> This service provides for the protection of the information which might be derived from observation of traffic flows. </a:t>
            </a:r>
          </a:p>
        </p:txBody>
      </p:sp>
      <p:sp>
        <p:nvSpPr>
          <p:cNvPr id="17412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12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0000" tIns="46800" rIns="90000" bIns="46800" anchor="ctr" anchorCtr="0"/>
          <a:lstStyle/>
          <a:p>
            <a:r>
              <a:rPr lang="en-US" altLang="en-US" dirty="0">
                <a:latin typeface="Comic Sans MS" panose="030F0702030302020204" pitchFamily="66" charset="0"/>
              </a:rPr>
              <a:t>B. Authentication</a:t>
            </a:r>
            <a:endParaRPr lang="en-US" alt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0000" tIns="46800" rIns="90000" bIns="46800" anchor="t" anchorCtr="0"/>
          <a:lstStyle/>
          <a:p>
            <a:pPr>
              <a:buNone/>
            </a:pPr>
            <a:r>
              <a:rPr lang="en-US" altLang="en-US" sz="2000" dirty="0"/>
              <a:t>The Assurance that the communicating entity is the one that it claims it to be.</a:t>
            </a:r>
          </a:p>
          <a:p>
            <a:pPr>
              <a:buNone/>
            </a:pPr>
            <a:endParaRPr lang="en-US" altLang="en-US" sz="2000" dirty="0"/>
          </a:p>
          <a:p>
            <a:pPr marL="857250" lvl="1" indent="-457200">
              <a:buFont typeface="Times New Roman" panose="02020603050405020304" pitchFamily="18" charset="0"/>
              <a:buAutoNum type="alphaLcParenR"/>
            </a:pPr>
            <a:r>
              <a:rPr lang="en-US" altLang="en-US" sz="2000" b="1" dirty="0"/>
              <a:t>Peer entity authentication</a:t>
            </a:r>
            <a:r>
              <a:rPr lang="en-US" altLang="en-US" sz="2000" dirty="0"/>
              <a:t> This service, when provided by the (N)-layer, provides validation to the (N - 1)-entity that the peer entity is the claimed (N)-entity.  </a:t>
            </a:r>
          </a:p>
          <a:p>
            <a:pPr marL="857250" lvl="1" indent="-457200">
              <a:buFont typeface="Times New Roman" panose="02020603050405020304" pitchFamily="18" charset="0"/>
              <a:buAutoNum type="alphaLcParenR"/>
            </a:pPr>
            <a:endParaRPr lang="en-US" altLang="en-US" sz="2000" b="1" dirty="0"/>
          </a:p>
          <a:p>
            <a:pPr marL="857250" lvl="1" indent="-457200">
              <a:buFont typeface="Times New Roman" panose="02020603050405020304" pitchFamily="18" charset="0"/>
              <a:buAutoNum type="alphaLcParenR"/>
            </a:pPr>
            <a:r>
              <a:rPr lang="en-US" altLang="en-US" sz="2000" b="1" dirty="0"/>
              <a:t>Data origin authentication</a:t>
            </a:r>
            <a:r>
              <a:rPr lang="en-US" altLang="en-US" sz="2000" dirty="0"/>
              <a:t> (</a:t>
            </a:r>
            <a:r>
              <a:rPr lang="en-US" altLang="en-US" sz="2000" i="1" dirty="0"/>
              <a:t>aka </a:t>
            </a:r>
            <a:r>
              <a:rPr lang="en-US" altLang="en-US" sz="2000" dirty="0"/>
              <a:t>Message Authentication) -Assurance that the source of the data or information is verified. It is based on the idea that a block of data is only processed and recorded by one node..</a:t>
            </a:r>
          </a:p>
        </p:txBody>
      </p:sp>
      <p:sp>
        <p:nvSpPr>
          <p:cNvPr id="18436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13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0813" cy="533400"/>
          </a:xfrm>
        </p:spPr>
        <p:txBody>
          <a:bodyPr vert="horz" wrap="square" lIns="90000" tIns="46800" rIns="90000" bIns="46800" anchor="ctr" anchorCtr="0"/>
          <a:lstStyle/>
          <a:p>
            <a:r>
              <a:rPr lang="en-US" altLang="en-US" dirty="0"/>
              <a:t>C. </a:t>
            </a:r>
            <a:r>
              <a:rPr lang="en-US" altLang="en-US" dirty="0">
                <a:latin typeface="Comic Sans MS" panose="030F0702030302020204" pitchFamily="66" charset="0"/>
              </a:rPr>
              <a:t>Integrity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151813" cy="5256213"/>
          </a:xfrm>
        </p:spPr>
        <p:txBody>
          <a:bodyPr vert="horz" wrap="square" lIns="90000" tIns="46800" rIns="90000" bIns="46800" numCol="1" anchor="t" anchorCtr="0" compatLnSpc="1"/>
          <a:lstStyle/>
          <a:p>
            <a:pPr marL="342900" marR="0" lvl="0" indent="-34290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Assurance that data received are exactly as sent by an unauthorized entity (i.e. contain no modification, insertion, deletion or replay.</a:t>
            </a:r>
          </a:p>
          <a:p>
            <a:pPr marL="342900" marR="0" lvl="0" indent="-34290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LcParenR"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Connection integrity with recovery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319530" marR="0" lvl="1" indent="-23368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provides for the integrity of all user-data on a connection </a:t>
            </a:r>
          </a:p>
          <a:p>
            <a:pPr marL="1319530" marR="0" lvl="1" indent="-23368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detects any modification, insertion, deletion or replay of any data within an  entire data sequence (with recovery attempted). </a:t>
            </a:r>
          </a:p>
          <a:p>
            <a:pPr marL="1319530" marR="0" lvl="1" indent="-23368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b)  Connection integrity without recovery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200150" marR="0" lvl="2" indent="-11303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the previous one but with no recovery attempted. </a:t>
            </a: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c)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Selective field connection integrity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</a:t>
            </a:r>
          </a:p>
          <a:p>
            <a:pPr marL="1143000" marR="0" lvl="2" indent="-2286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provides for the integrity of selected fields within the user data of data block transferred over a connection and determine whether the selected fields have been modified, inserted, deleted or replayed.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14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0000" tIns="46800" rIns="90000" bIns="46800" anchor="ctr" anchorCtr="0"/>
          <a:lstStyle/>
          <a:p>
            <a:r>
              <a:rPr lang="en-US" altLang="en-US" dirty="0"/>
              <a:t>C. </a:t>
            </a:r>
            <a:r>
              <a:rPr lang="en-US" altLang="en-US" dirty="0">
                <a:latin typeface="Comic Sans MS" panose="030F0702030302020204" pitchFamily="66" charset="0"/>
              </a:rPr>
              <a:t>Integrity (contd..)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0000" tIns="46800" rIns="90000" bIns="46800" numCol="1" anchor="t" anchorCtr="0" compatLnSpc="1"/>
          <a:lstStyle/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AutoNum type="alphaLcParenR" startAt="4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Connectionless integrity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provides for the integrity of a single data block </a:t>
            </a: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determine whether a received data block has been modified. </a:t>
            </a: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Additionally, a limited form of detection of replay may be provided. </a:t>
            </a:r>
          </a:p>
          <a:p>
            <a:pPr marL="742950" marR="0" lvl="1" indent="-28575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LcParenR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  Selective field connectionless integrity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143000" marR="0" lvl="2" indent="-2286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provides for the integrity of selected fields within a single connectionless data block </a:t>
            </a:r>
          </a:p>
          <a:p>
            <a:pPr marL="1143000" marR="0" lvl="2" indent="-2286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determine whether the selected fields have been modified.</a:t>
            </a:r>
          </a:p>
          <a:p>
            <a:pPr marL="342900" marR="0" lvl="0" indent="-34290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4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15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0000" tIns="46800" rIns="90000" bIns="46800" anchor="ctr" anchorCtr="0"/>
          <a:lstStyle/>
          <a:p>
            <a:r>
              <a:rPr lang="en-US" altLang="en-US" dirty="0"/>
              <a:t>D. </a:t>
            </a:r>
            <a:r>
              <a:rPr lang="en-US" altLang="en-US" dirty="0">
                <a:latin typeface="Comic Sans MS" panose="030F0702030302020204" pitchFamily="66" charset="0"/>
              </a:rPr>
              <a:t>Non-repudiation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153400" cy="4113213"/>
          </a:xfrm>
        </p:spPr>
        <p:txBody>
          <a:bodyPr vert="horz" wrap="square" lIns="90000" tIns="46800" rIns="90000" bIns="46800" numCol="1" anchor="t" anchorCtr="0" compatLnSpc="1"/>
          <a:lstStyle/>
          <a:p>
            <a:pPr marL="342900" marR="0" lvl="0" indent="-34290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Provides protection against denial by one of the entities involved in a communication of having participated in all or part of the  communication.</a:t>
            </a:r>
          </a:p>
          <a:p>
            <a:pPr marL="342900" marR="0" lvl="0" indent="-34290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LcParenR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Non-repudiation ,  Origin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200150" marR="0" lvl="2" indent="-3429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Proof that the message was sent by the specified party   -  </a:t>
            </a:r>
          </a:p>
          <a:p>
            <a:pPr marL="1657350" marR="0" lvl="3" indent="-342900" algn="l" defTabSz="44958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will protect against any attempt by the sender to falsely deny sending the data or its contents.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LcParenR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lphaLcParenR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Non-repudiation, Destination </a:t>
            </a:r>
          </a:p>
          <a:p>
            <a:pPr marL="800100" marR="0" lvl="1" indent="11430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Proof that the message was message was received by the specified party  </a:t>
            </a:r>
          </a:p>
          <a:p>
            <a:pPr marL="2114550" marR="0" lvl="4" indent="-342900" algn="l" defTabSz="44958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will protect against any subsequent attempt by the recipient to falsely deny receiving the data or its contents.</a:t>
            </a:r>
          </a:p>
        </p:txBody>
      </p:sp>
      <p:sp>
        <p:nvSpPr>
          <p:cNvPr id="21508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16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0000" tIns="46800" rIns="90000" bIns="46800" anchor="ctr" anchorCtr="0"/>
          <a:lstStyle/>
          <a:p>
            <a:r>
              <a:rPr lang="en-US" altLang="en-US" dirty="0"/>
              <a:t>E. </a:t>
            </a:r>
            <a:r>
              <a:rPr lang="en-US" altLang="en-US" dirty="0">
                <a:latin typeface="Comic Sans MS" panose="030F0702030302020204" pitchFamily="66" charset="0"/>
              </a:rPr>
              <a:t>Access control </a:t>
            </a:r>
            <a:endParaRPr lang="en-US" altLang="en-US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0000" tIns="46800" rIns="90000" bIns="46800" anchor="t" anchorCtr="0"/>
          <a:lstStyle/>
          <a:p>
            <a:pPr>
              <a:buNone/>
            </a:pPr>
            <a:r>
              <a:rPr lang="en-US" altLang="en-US" sz="2000" dirty="0"/>
              <a:t>Provides protection against unauthorized use of resources accessible </a:t>
            </a:r>
          </a:p>
          <a:p>
            <a:pPr>
              <a:buNone/>
            </a:pPr>
            <a:r>
              <a:rPr lang="en-US" altLang="en-US" sz="2000" dirty="0"/>
              <a:t>	</a:t>
            </a:r>
          </a:p>
          <a:p>
            <a:pPr>
              <a:buNone/>
            </a:pPr>
            <a:r>
              <a:rPr lang="en-US" altLang="en-US" sz="2000" dirty="0"/>
              <a:t>	Example: the service controls who can have access to a resource, under what circumstances, and what those accessing the resource are allowed to do.</a:t>
            </a:r>
          </a:p>
        </p:txBody>
      </p:sp>
      <p:sp>
        <p:nvSpPr>
          <p:cNvPr id="22532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17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770813" cy="1141413"/>
          </a:xfrm>
        </p:spPr>
        <p:txBody>
          <a:bodyPr vert="horz" wrap="square" lIns="90000" tIns="46800" rIns="90000" bIns="46800" anchor="ctr" anchorCtr="0"/>
          <a:lstStyle/>
          <a:p>
            <a:r>
              <a:rPr lang="en-US" altLang="en-US" dirty="0">
                <a:latin typeface="Comic Sans MS" panose="030F0702030302020204" pitchFamily="66" charset="0"/>
              </a:rPr>
              <a:t>F. Availability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0000" tIns="46800" rIns="90000" bIns="46800" anchor="t" anchorCtr="0"/>
          <a:lstStyle/>
          <a:p>
            <a:r>
              <a:rPr lang="en-US" altLang="en-US" dirty="0"/>
              <a:t>The property of a system or a system resource being accessible and usable upon demand by an authorized system entity. </a:t>
            </a:r>
          </a:p>
          <a:p>
            <a:pPr>
              <a:buNone/>
            </a:pPr>
            <a:endParaRPr lang="en-US" altLang="en-US" dirty="0"/>
          </a:p>
        </p:txBody>
      </p:sp>
      <p:sp>
        <p:nvSpPr>
          <p:cNvPr id="23556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18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0813" cy="1141413"/>
          </a:xfrm>
        </p:spPr>
        <p:txBody>
          <a:bodyPr vert="horz" wrap="square" lIns="90000" tIns="46800" rIns="90000" bIns="46800" anchor="ctr" anchorCtr="0"/>
          <a:lstStyle/>
          <a:p>
            <a:r>
              <a:rPr lang="en-US" altLang="en-US" dirty="0">
                <a:solidFill>
                  <a:srgbClr val="C00000"/>
                </a:solidFill>
              </a:rPr>
              <a:t>Security Mechanisms</a:t>
            </a:r>
          </a:p>
        </p:txBody>
      </p:sp>
      <p:sp>
        <p:nvSpPr>
          <p:cNvPr id="24579" name="Rectangle 4"/>
          <p:cNvSpPr/>
          <p:nvPr/>
        </p:nvSpPr>
        <p:spPr>
          <a:xfrm>
            <a:off x="533400" y="1600200"/>
            <a:ext cx="83058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000000"/>
                </a:solidFill>
                <a:latin typeface="Comic Sans MS" panose="030F0702030302020204" pitchFamily="66" charset="0"/>
              </a:rPr>
              <a:t>Security Mechanism:</a:t>
            </a:r>
            <a:r>
              <a:rPr lang="en-US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 A mechanism that is designed to detect, prevent, or recover from a security attack.</a:t>
            </a:r>
          </a:p>
        </p:txBody>
      </p:sp>
      <p:grpSp>
        <p:nvGrpSpPr>
          <p:cNvPr id="24580" name="Group 20"/>
          <p:cNvGrpSpPr/>
          <p:nvPr/>
        </p:nvGrpSpPr>
        <p:grpSpPr>
          <a:xfrm>
            <a:off x="533400" y="2895600"/>
            <a:ext cx="8153400" cy="3733800"/>
            <a:chOff x="533400" y="2895600"/>
            <a:chExt cx="8153400" cy="3733800"/>
          </a:xfrm>
        </p:grpSpPr>
        <p:sp>
          <p:nvSpPr>
            <p:cNvPr id="24582" name="Flowchart: Process 5"/>
            <p:cNvSpPr/>
            <p:nvPr/>
          </p:nvSpPr>
          <p:spPr>
            <a:xfrm>
              <a:off x="3124200" y="2895600"/>
              <a:ext cx="3048000" cy="533400"/>
            </a:xfrm>
            <a:prstGeom prst="flowChartProcess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r>
                <a:rPr lang="en-US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Sec. Mech. Types</a:t>
              </a:r>
            </a:p>
          </p:txBody>
        </p:sp>
        <p:sp>
          <p:nvSpPr>
            <p:cNvPr id="24583" name="Flowchart: Process 6"/>
            <p:cNvSpPr/>
            <p:nvPr/>
          </p:nvSpPr>
          <p:spPr>
            <a:xfrm>
              <a:off x="1981200" y="3962400"/>
              <a:ext cx="2133600" cy="762000"/>
            </a:xfrm>
            <a:prstGeom prst="flowChartProcess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en-US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Specific security mechanisms </a:t>
              </a:r>
            </a:p>
            <a:p>
              <a:pPr algn="ctr"/>
              <a:endPara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4" name="Flowchart: Process 7"/>
            <p:cNvSpPr/>
            <p:nvPr/>
          </p:nvSpPr>
          <p:spPr>
            <a:xfrm>
              <a:off x="5105400" y="3962400"/>
              <a:ext cx="2133600" cy="762000"/>
            </a:xfrm>
            <a:prstGeom prst="flowChartProcess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en-US" altLang="en-US" sz="2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Pervasive security mechanisms </a:t>
              </a:r>
            </a:p>
            <a:p>
              <a:pPr algn="ctr"/>
              <a:endPara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4585" name="Straight Arrow Connector 10"/>
            <p:cNvCxnSpPr>
              <a:stCxn id="24582" idx="2"/>
              <a:endCxn id="24583" idx="0"/>
            </p:cNvCxnSpPr>
            <p:nvPr/>
          </p:nvCxnSpPr>
          <p:spPr>
            <a:xfrm rot="5400000">
              <a:off x="3581400" y="2895600"/>
              <a:ext cx="533400" cy="160020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24586" name="Straight Arrow Connector 12"/>
            <p:cNvCxnSpPr>
              <a:stCxn id="24582" idx="2"/>
              <a:endCxn id="24584" idx="0"/>
            </p:cNvCxnSpPr>
            <p:nvPr/>
          </p:nvCxnSpPr>
          <p:spPr>
            <a:xfrm rot="-5400000" flipH="1">
              <a:off x="5143500" y="2933700"/>
              <a:ext cx="533400" cy="152400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24587" name="Rounded Rectangular Callout 13"/>
            <p:cNvSpPr/>
            <p:nvPr/>
          </p:nvSpPr>
          <p:spPr>
            <a:xfrm>
              <a:off x="533400" y="5410200"/>
              <a:ext cx="3657600" cy="1219200"/>
            </a:xfrm>
            <a:prstGeom prst="wedgeRoundRectCallout">
              <a:avLst>
                <a:gd name="adj1" fmla="val -4375"/>
                <a:gd name="adj2" fmla="val -107069"/>
                <a:gd name="adj3" fmla="val 16667"/>
              </a:avLst>
            </a:prstGeom>
            <a:noFill/>
            <a:ln w="15875" cap="flat" cmpd="sng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r>
                <a:rPr lang="en-US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May be incorporated into the appropriate protocol layer in order to provide some of the OSI security services</a:t>
              </a:r>
              <a:r>
                <a: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</a:p>
            <a:p>
              <a:endPara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8" name="Rounded Rectangular Callout 14"/>
            <p:cNvSpPr/>
            <p:nvPr/>
          </p:nvSpPr>
          <p:spPr>
            <a:xfrm>
              <a:off x="5105400" y="5410200"/>
              <a:ext cx="3581400" cy="1219200"/>
            </a:xfrm>
            <a:prstGeom prst="wedgeRoundRectCallout">
              <a:avLst>
                <a:gd name="adj1" fmla="val 7398"/>
                <a:gd name="adj2" fmla="val -101898"/>
                <a:gd name="adj3" fmla="val 16667"/>
              </a:avLst>
            </a:prstGeom>
            <a:noFill/>
            <a:ln w="15875" cap="flat" cmpd="sng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r>
                <a:rPr lang="en-US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Mechanisms that are not specific to any particular OSI security service or protocol layer. </a:t>
              </a:r>
            </a:p>
            <a:p>
              <a:endPara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1" name="Slide Number Placeholder 21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19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rgbClr val="C0504D"/>
          </a:soli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rgbClr val="C0504D"/>
              </a:gs>
              <a:gs pos="100000">
                <a:srgbClr val="FFFFFF"/>
              </a:gs>
            </a:gsLst>
            <a:lin ang="0" scaled="1"/>
            <a:tileRect/>
          </a:gra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3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rgbClr val="800080"/>
          </a:soli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5" name="Rectangle 4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rgbClr val="800080"/>
              </a:gs>
              <a:gs pos="100000">
                <a:srgbClr val="FFFFFF"/>
              </a:gs>
            </a:gsLst>
            <a:lin ang="0" scaled="1"/>
            <a:tileRect/>
          </a:gra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6" name="Rectangle 5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00FF"/>
              </a:gs>
            </a:gsLst>
            <a:lin ang="18900000" scaled="1"/>
            <a:tileRect/>
          </a:gra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7" name="Rectangle 6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rgbClr val="EEECE1"/>
          </a:soli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8" name="Rectangle 7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rgbClr val="EEECE1"/>
              </a:gs>
              <a:gs pos="100000">
                <a:srgbClr val="FFFFFF"/>
              </a:gs>
            </a:gsLst>
            <a:lin ang="0" scaled="1"/>
            <a:tileRect/>
          </a:gradFill>
          <a:ln w="9360">
            <a:noFill/>
          </a:ln>
        </p:spPr>
        <p:txBody>
          <a:bodyPr wrap="none" anchor="ctr" anchorCtr="0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5609" name="Rectangle 8"/>
          <p:cNvSpPr/>
          <p:nvPr/>
        </p:nvSpPr>
        <p:spPr>
          <a:xfrm>
            <a:off x="1143000" y="0"/>
            <a:ext cx="6705600" cy="579438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defTabSz="449580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Specific Security Mechanisms</a:t>
            </a:r>
          </a:p>
        </p:txBody>
      </p:sp>
      <p:pic>
        <p:nvPicPr>
          <p:cNvPr id="256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22288"/>
            <a:ext cx="6557963" cy="6335712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25611" name="Slide Number Placeholder 12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20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9144000" cy="705643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Mechanisms 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 panose="020F05020202040302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Explanation 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 panose="020F05020202040302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22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Encipherment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use of mathematical algorithms to transform data into a form that is not readily intelligible. The transformation and subsequent recovery of the data depend on an algorithm and zero or more encryption keys.</a:t>
                      </a:r>
                      <a:endParaRPr lang="en-US" sz="16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22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Digital Signature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appended to, or a cryptographic transformation of, a data unit that allows a recipient of the data unit to prove the source and integrity of the data unit and protect against forgery (e.g., by the recipient).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hlinkClick r:id="" action="ppaction://noaction"/>
                        </a:rPr>
                        <a:t>See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Access Control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Mechanisms that enforce access rights to resources.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Integrity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Mechanisms used to assure the integrity of a data unit or stream of data units.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Authentication Exchange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 mechanism intended to ensure the identity of an entity by means of information exchange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8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Traffic Padding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insertion of bits into gaps in a data stream to frustrate traffic analysis attempts.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64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Routing Control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Enables selection of particular physically secure routes for certain data and allows routing changes, especially when a breach of security is suspected.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8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Notarization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use of a trusted third party to assure certain properties of a data exchange.</a:t>
                      </a:r>
                      <a:endParaRPr lang="en-US" sz="16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82" name="Slide Number Placeholder 2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21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" y="304800"/>
          <a:ext cx="8991601" cy="6553202"/>
        </p:xfrm>
        <a:graphic>
          <a:graphicData uri="http://schemas.openxmlformats.org/drawingml/2006/table">
            <a:tbl>
              <a:tblPr/>
              <a:tblGrid>
                <a:gridCol w="1407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90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869"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Mechanism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3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Service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Encipherment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Digital Signature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Access Control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Integrity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Authentication Exchange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Traffic Padding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Routing Control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Notarization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  <a:alpha val="9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Peer entity authentication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2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origin authentication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Access control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Confidentiality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9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Traffic flow confidentiality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integrity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Nonrepudiation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Availability</a:t>
                      </a:r>
                      <a:endParaRPr lang="en-US" sz="14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lang="en-US" sz="2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000" dirty="0">
                        <a:latin typeface="Calibri" panose="020F0502020204030204"/>
                      </a:endParaRPr>
                    </a:p>
                  </a:txBody>
                  <a:tcPr marL="24042" marR="24042" marT="24042" marB="2404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778" name="TextBox 3"/>
          <p:cNvSpPr txBox="1"/>
          <p:nvPr/>
        </p:nvSpPr>
        <p:spPr>
          <a:xfrm>
            <a:off x="838200" y="-80962"/>
            <a:ext cx="83058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Relationship between Security Services and Mechanisms </a:t>
            </a:r>
            <a:endParaRPr lang="en-US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79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22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1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23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29699" name="AutoShape 2" descr="Image result for digital signature"/>
          <p:cNvSpPr>
            <a:spLocks noChangeAspect="1"/>
          </p:cNvSpPr>
          <p:nvPr/>
        </p:nvSpPr>
        <p:spPr>
          <a:xfrm>
            <a:off x="168275" y="-1825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700" name="AutoShape 4" descr="Image result for digital signature"/>
          <p:cNvSpPr>
            <a:spLocks noChangeAspect="1"/>
          </p:cNvSpPr>
          <p:nvPr/>
        </p:nvSpPr>
        <p:spPr>
          <a:xfrm>
            <a:off x="168275" y="-1825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701" name="AutoShape 6" descr="Image result for digital signature"/>
          <p:cNvSpPr>
            <a:spLocks noChangeAspect="1"/>
          </p:cNvSpPr>
          <p:nvPr/>
        </p:nvSpPr>
        <p:spPr>
          <a:xfrm>
            <a:off x="168275" y="-1825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pic>
        <p:nvPicPr>
          <p:cNvPr id="29702" name="Picture 8" descr="http://inveronica.com/wp-content/uploads/2014/12/Signature_Pro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1066800"/>
            <a:ext cx="8670925" cy="579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Content Placeholder 2"/>
          <p:cNvSpPr txBox="1"/>
          <p:nvPr/>
        </p:nvSpPr>
        <p:spPr>
          <a:xfrm>
            <a:off x="0" y="2209800"/>
            <a:ext cx="2286000" cy="2362200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342900" marR="0" indent="-342900" defTabSz="44958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defRPr/>
            </a:pPr>
            <a:r>
              <a:rPr kumimoji="0" lang="en-US" sz="3200" b="1" kern="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digital signature</a:t>
            </a:r>
            <a:r>
              <a:rPr kumimoji="0" lang="en-US" sz="3200" kern="0" cap="none" spc="0" normalizeH="0" baseline="0" noProof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sz="3200" kern="0" cap="none" spc="0" normalizeH="0" baseline="0" noProof="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–  mathematical scheme for demonstrating the authenticity of a </a:t>
            </a:r>
            <a:r>
              <a:rPr kumimoji="0" lang="en-US" sz="3200" b="1" kern="0" cap="none" spc="0" normalizeH="0" baseline="0" noProof="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digital</a:t>
            </a:r>
            <a:r>
              <a:rPr kumimoji="0" lang="en-US" sz="3200" kern="0" cap="none" spc="0" normalizeH="0" baseline="0" noProof="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message or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8600"/>
            <a:ext cx="79248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US" sz="3200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Digital Signature</a:t>
            </a:r>
            <a:endParaRPr kumimoji="0" lang="en-US" sz="3200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28600" y="1524000"/>
          <a:ext cx="8915400" cy="4614863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Mechanisms 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 panose="020F05020202040302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rgbClr val="C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Explanation 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 panose="020F0502020204030204"/>
                        <a:ea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8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Trusted Functionality</a:t>
                      </a:r>
                      <a:endParaRPr lang="en-US" sz="1600" b="1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That which is perceived to be correct with respect to some criteria (e.g., as established by a security policy). </a:t>
                      </a:r>
                      <a:endParaRPr lang="en-US" sz="16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8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Security Label</a:t>
                      </a:r>
                      <a:endParaRPr lang="en-US" sz="1600" b="1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The marking bound to a resource (which may be a data unit) that names or designates the security attributes of that resource. </a:t>
                      </a:r>
                      <a:endParaRPr lang="en-US" sz="16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Event Detection</a:t>
                      </a:r>
                      <a:endParaRPr lang="en-US" sz="1600" b="1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Detection of security-relevant events. </a:t>
                      </a:r>
                      <a:endParaRPr lang="en-US" sz="16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58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Security Audit Trail</a:t>
                      </a:r>
                      <a:endParaRPr lang="en-US" sz="1600" b="1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 collected and potentially used to facilitate a security audit, which is an independent review and examination of system records and activities. </a:t>
                      </a:r>
                      <a:endParaRPr lang="en-US" sz="16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1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Security Recovery</a:t>
                      </a:r>
                      <a:endParaRPr lang="en-US" sz="1600" b="1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Deals with requests from mechanisms, such as event handling and management functions, and takes recovery actions. </a:t>
                      </a:r>
                      <a:endParaRPr lang="en-US" sz="16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47625" marR="47625" marT="47622" marB="4762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F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45" name="TextBox 2"/>
          <p:cNvSpPr txBox="1"/>
          <p:nvPr/>
        </p:nvSpPr>
        <p:spPr>
          <a:xfrm>
            <a:off x="1676400" y="381000"/>
            <a:ext cx="6324600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en-US" sz="3200" dirty="0">
                <a:solidFill>
                  <a:srgbClr val="C00000"/>
                </a:solidFill>
                <a:latin typeface="High Tower Text" panose="02040502050506030303" pitchFamily="18" charset="0"/>
              </a:rPr>
              <a:t>Pervasive security mechanisms </a:t>
            </a:r>
          </a:p>
          <a:p>
            <a:pPr algn="ctr"/>
            <a:endParaRPr lang="en-US" altLang="en-US" sz="3200" dirty="0">
              <a:latin typeface="High Tower Text" panose="02040502050506030303" pitchFamily="18" charset="0"/>
            </a:endParaRPr>
          </a:p>
        </p:txBody>
      </p:sp>
      <p:sp>
        <p:nvSpPr>
          <p:cNvPr id="30746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24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/>
          </p:cNvPicPr>
          <p:nvPr/>
        </p:nvPicPr>
        <p:blipFill>
          <a:blip r:embed="rId2"/>
          <a:srcRect l="5624" t="14844" r="8125" b="1484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25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Henric Johnson</a:t>
            </a:r>
          </a:p>
        </p:txBody>
      </p:sp>
      <p:sp>
        <p:nvSpPr>
          <p:cNvPr id="32771" name="Text Box 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26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77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3" y="341313"/>
            <a:ext cx="8726487" cy="6173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26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27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481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3" y="660400"/>
            <a:ext cx="8739187" cy="551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Slide Number Placeholder 3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27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34821" name="Oval 4"/>
          <p:cNvSpPr/>
          <p:nvPr/>
        </p:nvSpPr>
        <p:spPr>
          <a:xfrm>
            <a:off x="4343400" y="5638800"/>
            <a:ext cx="838200" cy="685800"/>
          </a:xfrm>
          <a:prstGeom prst="ellipse">
            <a:avLst/>
          </a:prstGeom>
          <a:noFill/>
          <a:ln w="9525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28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Methods of Defence</a:t>
            </a:r>
          </a:p>
        </p:txBody>
      </p:sp>
      <p:sp>
        <p:nvSpPr>
          <p:cNvPr id="36868" name="Text Box 3"/>
          <p:cNvSpPr txBox="1"/>
          <p:nvPr/>
        </p:nvSpPr>
        <p:spPr>
          <a:xfrm>
            <a:off x="685800" y="1600200"/>
            <a:ext cx="8077200" cy="449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Encryption</a:t>
            </a: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Software Controls (access limitations in a data base, in operating system protect each user from other users)</a:t>
            </a: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Hardware Controls (smartcard)</a:t>
            </a: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Policies (frequent changes of passwords)</a:t>
            </a: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514350" indent="-514350" defTabSz="449580">
              <a:lnSpc>
                <a:spcPct val="90000"/>
              </a:lnSpc>
              <a:spcBef>
                <a:spcPts val="800"/>
              </a:spcBef>
              <a:buFont typeface="Times New Roman" panose="02020603050405020304" pitchFamily="18" charset="0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Physical Controls</a:t>
            </a:r>
          </a:p>
        </p:txBody>
      </p:sp>
      <p:sp>
        <p:nvSpPr>
          <p:cNvPr id="36869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28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29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85800" y="465138"/>
            <a:ext cx="7772400" cy="14319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44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Internet standards and RFCs</a:t>
            </a:r>
          </a:p>
        </p:txBody>
      </p:sp>
      <p:sp>
        <p:nvSpPr>
          <p:cNvPr id="38916" name="Text Box 3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1630" indent="-341630" defTabSz="449580">
              <a:spcBef>
                <a:spcPts val="800"/>
              </a:spcBef>
              <a:buFont typeface="Comic Sans MS" panose="030F0702030302020204" pitchFamily="6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3200" dirty="0">
                <a:solidFill>
                  <a:srgbClr val="000000"/>
                </a:solidFill>
                <a:latin typeface="Comic Sans MS" panose="030F0702030302020204" pitchFamily="66" charset="0"/>
              </a:rPr>
              <a:t>The Internet society – coordinating committee for Internet design, engineering, mgmt.</a:t>
            </a:r>
          </a:p>
          <a:p>
            <a:pPr marL="741680" lvl="1" indent="-284480" defTabSz="449580">
              <a:spcBef>
                <a:spcPts val="700"/>
              </a:spcBef>
              <a:buFont typeface="Comic Sans MS" panose="030F0702030302020204" pitchFamily="66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Internet Architecture Board (IAB)</a:t>
            </a:r>
          </a:p>
          <a:p>
            <a:pPr marL="741680" lvl="1" indent="-284480" defTabSz="449580">
              <a:spcBef>
                <a:spcPts val="700"/>
              </a:spcBef>
              <a:buFont typeface="Comic Sans MS" panose="030F0702030302020204" pitchFamily="66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Internet Engineering Task Force (IETF)</a:t>
            </a:r>
          </a:p>
          <a:p>
            <a:pPr marL="741680" lvl="1" indent="-284480" defTabSz="449580">
              <a:spcBef>
                <a:spcPts val="700"/>
              </a:spcBef>
              <a:buFont typeface="Comic Sans MS" panose="030F0702030302020204" pitchFamily="66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Internet Engineering Steering Group (IESG)</a:t>
            </a:r>
          </a:p>
        </p:txBody>
      </p:sp>
      <p:sp>
        <p:nvSpPr>
          <p:cNvPr id="38917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29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0813" cy="457200"/>
          </a:xfrm>
        </p:spPr>
        <p:txBody>
          <a:bodyPr vert="horz" wrap="square" lIns="90000" tIns="46800" rIns="90000" bIns="46800" anchor="ctr" anchorCtr="0"/>
          <a:lstStyle/>
          <a:p>
            <a:pPr eaLnBrk="1" hangingPunct="1"/>
            <a:r>
              <a:rPr lang="en-US" altLang="en-US" sz="3200" b="1" dirty="0"/>
              <a:t>Technical Specifications</a:t>
            </a:r>
          </a:p>
        </p:txBody>
      </p:sp>
      <p:grpSp>
        <p:nvGrpSpPr>
          <p:cNvPr id="40963" name="Group 4"/>
          <p:cNvGrpSpPr/>
          <p:nvPr/>
        </p:nvGrpSpPr>
        <p:grpSpPr>
          <a:xfrm>
            <a:off x="304800" y="762000"/>
            <a:ext cx="8534400" cy="5638800"/>
            <a:chOff x="304800" y="762000"/>
            <a:chExt cx="8534400" cy="5638800"/>
          </a:xfrm>
        </p:grpSpPr>
        <p:pic>
          <p:nvPicPr>
            <p:cNvPr id="40964" name="Picture 3" descr="Fig12-02"/>
            <p:cNvPicPr>
              <a:picLocks noChangeAspect="1"/>
            </p:cNvPicPr>
            <p:nvPr/>
          </p:nvPicPr>
          <p:blipFill>
            <a:blip r:embed="rId2"/>
            <a:srcRect t="5797" b="7246"/>
            <a:stretch>
              <a:fillRect/>
            </a:stretch>
          </p:blipFill>
          <p:spPr>
            <a:xfrm>
              <a:off x="457200" y="762000"/>
              <a:ext cx="8382000" cy="55626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65" name="TextBox 3"/>
            <p:cNvSpPr txBox="1"/>
            <p:nvPr/>
          </p:nvSpPr>
          <p:spPr>
            <a:xfrm>
              <a:off x="304800" y="5939135"/>
              <a:ext cx="1295400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lvl="0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  <a:t>30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31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85800" y="152400"/>
            <a:ext cx="7772400" cy="67786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marR="0" algn="ctr" defTabSz="44958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32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Internet RFC Publication Process</a:t>
            </a:r>
          </a:p>
        </p:txBody>
      </p:sp>
      <p:pic>
        <p:nvPicPr>
          <p:cNvPr id="41988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1538"/>
            <a:ext cx="8686800" cy="5757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Slide Number Placeholder 4"/>
          <p:cNvSpPr txBox="1">
            <a:spLocks noGrp="1"/>
          </p:cNvSpPr>
          <p:nvPr>
            <p:ph type="sldNum" idx="10"/>
          </p:nvPr>
        </p:nvSpPr>
        <p:spPr/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31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 txBox="1"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 altLang="en-US" dirty="0"/>
              <a:t>Dr. K. Shirisha</a:t>
            </a:r>
          </a:p>
        </p:txBody>
      </p:sp>
      <p:sp>
        <p:nvSpPr>
          <p:cNvPr id="44035" name="Slide Number Placeholder 5"/>
          <p:cNvSpPr txBox="1">
            <a:spLocks noGrp="1"/>
          </p:cNvSpPr>
          <p:nvPr>
            <p:ph type="sldNum" idx="10"/>
          </p:nvPr>
        </p:nvSpPr>
        <p:spPr>
          <a:xfrm>
            <a:off x="6553200" y="6248400"/>
            <a:ext cx="1905000" cy="457200"/>
          </a:xfrm>
        </p:spPr>
        <p:txBody>
          <a:bodyPr lIns="90000" tIns="46800" rIns="90000" bIns="46800"/>
          <a:lstStyle>
            <a:lvl1pPr marL="0" lvl="0" indent="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</a:defRPr>
            </a:lvl1pPr>
            <a:lvl2pPr marL="742950" lvl="1" indent="-28575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lvl="2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lvl="3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lvl="4" indent="-228600" algn="l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2400" b="0" i="0" u="none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</a:rPr>
              <a:t>32</a:t>
            </a:fld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000" tIns="46800" rIns="90000" bIns="46800" numCol="1" anchor="ctr" anchorCtr="0" compatLnSpc="1"/>
          <a:lstStyle/>
          <a:p>
            <a:pPr marL="0" marR="0" lvl="0" indent="0" algn="ctr" defTabSz="4495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sv-SE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+mj-ea"/>
                <a:cs typeface="+mj-cs"/>
              </a:rPr>
              <a:t>Recommended Reading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+mj-ea"/>
              <a:cs typeface="+mj-cs"/>
            </a:endParaRPr>
          </a:p>
        </p:txBody>
      </p:sp>
      <p:sp>
        <p:nvSpPr>
          <p:cNvPr id="44037" name="Rectangle 3"/>
          <p:cNvSpPr>
            <a:spLocks noGrp="1"/>
          </p:cNvSpPr>
          <p:nvPr>
            <p:ph idx="1"/>
          </p:nvPr>
        </p:nvSpPr>
        <p:spPr>
          <a:solidFill>
            <a:schemeClr val="folHlink">
              <a:alpha val="100000"/>
            </a:schemeClr>
          </a:solidFill>
          <a:ln>
            <a:solidFill>
              <a:schemeClr val="tx1">
                <a:alpha val="100000"/>
              </a:schemeClr>
            </a:solidFill>
          </a:ln>
        </p:spPr>
        <p:txBody>
          <a:bodyPr vert="horz" wrap="square" lIns="90000" tIns="46800" rIns="90000" bIns="46800" anchor="t" anchorCtr="0"/>
          <a:lstStyle/>
          <a:p>
            <a:r>
              <a:rPr lang="sv-SE" altLang="en-US" dirty="0">
                <a:latin typeface="Comic Sans MS" panose="030F0702030302020204" pitchFamily="66" charset="0"/>
              </a:rPr>
              <a:t>Pfleeger, C. </a:t>
            </a:r>
            <a:r>
              <a:rPr lang="sv-SE" altLang="en-US" i="1" dirty="0">
                <a:latin typeface="Comic Sans MS" panose="030F0702030302020204" pitchFamily="66" charset="0"/>
              </a:rPr>
              <a:t>Security in Computing.</a:t>
            </a:r>
            <a:r>
              <a:rPr lang="sv-SE" altLang="en-US" dirty="0">
                <a:latin typeface="Comic Sans MS" panose="030F0702030302020204" pitchFamily="66" charset="0"/>
              </a:rPr>
              <a:t> Prentice Hall, 1997.</a:t>
            </a:r>
          </a:p>
          <a:p>
            <a:pPr>
              <a:buFontTx/>
              <a:buNone/>
            </a:pPr>
            <a:endParaRPr lang="sv-SE" altLang="en-US" dirty="0">
              <a:latin typeface="Comic Sans MS" panose="030F0702030302020204" pitchFamily="66" charset="0"/>
            </a:endParaRPr>
          </a:p>
          <a:p>
            <a:r>
              <a:rPr lang="sv-SE" altLang="en-US" dirty="0">
                <a:latin typeface="Comic Sans MS" panose="030F0702030302020204" pitchFamily="66" charset="0"/>
              </a:rPr>
              <a:t>Mel, H.X. Baker, D. </a:t>
            </a:r>
            <a:r>
              <a:rPr lang="sv-SE" altLang="en-US" i="1" dirty="0">
                <a:latin typeface="Comic Sans MS" panose="030F0702030302020204" pitchFamily="66" charset="0"/>
              </a:rPr>
              <a:t>Cryptography Decrypted</a:t>
            </a:r>
            <a:r>
              <a:rPr lang="sv-SE" altLang="en-US" dirty="0">
                <a:latin typeface="Comic Sans MS" panose="030F0702030302020204" pitchFamily="66" charset="0"/>
              </a:rPr>
              <a:t>. Addison Wesley, 2001.</a:t>
            </a:r>
            <a:endParaRPr lang="en-US" altLang="en-US" dirty="0">
              <a:latin typeface="Comic Sans MS" panose="030F0702030302020204" pitchFamily="66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DejaVu Sans"/>
        <a:cs typeface="DejaVu Sans"/>
      </a:majorFont>
      <a:minorFont>
        <a:latin typeface="Times New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DejaVu Sans"/>
        <a:cs typeface="DejaVu Sans"/>
      </a:majorFont>
      <a:minorFont>
        <a:latin typeface="Times New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1547</Words>
  <Application>Microsoft Office PowerPoint</Application>
  <PresentationFormat>On-screen Show (4:3)</PresentationFormat>
  <Paragraphs>274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Comic Sans MS</vt:lpstr>
      <vt:lpstr>High Tower Text</vt:lpstr>
      <vt:lpstr>Times New Roman</vt:lpstr>
      <vt:lpstr>Wingdings</vt:lpstr>
      <vt:lpstr>Office Theme</vt:lpstr>
      <vt:lpstr>1_Office Theme</vt:lpstr>
      <vt:lpstr>PowerPoint Presentation</vt:lpstr>
      <vt:lpstr>Course Outcomes</vt:lpstr>
      <vt:lpstr>Contents</vt:lpstr>
      <vt:lpstr>Contents (2)</vt:lpstr>
      <vt:lpstr>Unit 1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A. Data confidentiality </vt:lpstr>
      <vt:lpstr>B. Authentication</vt:lpstr>
      <vt:lpstr>C. Integrity </vt:lpstr>
      <vt:lpstr>C. Integrity (contd..)</vt:lpstr>
      <vt:lpstr>D. Non-repudiation </vt:lpstr>
      <vt:lpstr>E. Access control </vt:lpstr>
      <vt:lpstr>F. Availability</vt:lpstr>
      <vt:lpstr>Security Mechanisms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Technical Specifications</vt:lpstr>
      <vt:lpstr>PowerPoint Presentation</vt:lpstr>
      <vt:lpstr>Recommended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</dc:title>
  <dc:creator>Vicky</dc:creator>
  <cp:lastModifiedBy>user</cp:lastModifiedBy>
  <cp:revision>50</cp:revision>
  <dcterms:created xsi:type="dcterms:W3CDTF">2001-06-06T20:52:00Z</dcterms:created>
  <dcterms:modified xsi:type="dcterms:W3CDTF">2025-09-14T10:10:05Z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5AB7ED41E95C4E0AAE5775B734208FC0_12</vt:lpwstr>
  </property>
  <property fmtid="{D5CDD505-2E9C-101B-9397-08002B2CF9AE}" pid="3" name="KSOProductBuildVer">
    <vt:lpwstr>1033-12.2.0.22549</vt:lpwstr>
  </property>
</Properties>
</file>