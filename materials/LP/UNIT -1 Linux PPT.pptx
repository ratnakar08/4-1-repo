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2"/>
  </p:notesMasterIdLst>
  <p:sldIdLst>
    <p:sldId id="877" r:id="rId2"/>
    <p:sldId id="290" r:id="rId3"/>
    <p:sldId id="259" r:id="rId4"/>
    <p:sldId id="261" r:id="rId5"/>
    <p:sldId id="292" r:id="rId6"/>
    <p:sldId id="431" r:id="rId7"/>
    <p:sldId id="262" r:id="rId8"/>
    <p:sldId id="263" r:id="rId9"/>
    <p:sldId id="264" r:id="rId10"/>
    <p:sldId id="265" r:id="rId11"/>
    <p:sldId id="432" r:id="rId12"/>
    <p:sldId id="266" r:id="rId13"/>
    <p:sldId id="425" r:id="rId14"/>
    <p:sldId id="426" r:id="rId15"/>
    <p:sldId id="428" r:id="rId16"/>
    <p:sldId id="853" r:id="rId17"/>
    <p:sldId id="855" r:id="rId18"/>
    <p:sldId id="523" r:id="rId19"/>
    <p:sldId id="814" r:id="rId20"/>
    <p:sldId id="815" r:id="rId21"/>
    <p:sldId id="866" r:id="rId22"/>
    <p:sldId id="816" r:id="rId23"/>
    <p:sldId id="867" r:id="rId24"/>
    <p:sldId id="817" r:id="rId25"/>
    <p:sldId id="818" r:id="rId26"/>
    <p:sldId id="819" r:id="rId27"/>
    <p:sldId id="681" r:id="rId28"/>
    <p:sldId id="682" r:id="rId29"/>
    <p:sldId id="683" r:id="rId30"/>
    <p:sldId id="684" r:id="rId31"/>
    <p:sldId id="685" r:id="rId32"/>
    <p:sldId id="686" r:id="rId33"/>
    <p:sldId id="687" r:id="rId34"/>
    <p:sldId id="688" r:id="rId35"/>
    <p:sldId id="689" r:id="rId36"/>
    <p:sldId id="690" r:id="rId37"/>
    <p:sldId id="691" r:id="rId38"/>
    <p:sldId id="692" r:id="rId39"/>
    <p:sldId id="693" r:id="rId40"/>
    <p:sldId id="694" r:id="rId41"/>
    <p:sldId id="695" r:id="rId42"/>
    <p:sldId id="696" r:id="rId43"/>
    <p:sldId id="697" r:id="rId44"/>
    <p:sldId id="698" r:id="rId45"/>
    <p:sldId id="699" r:id="rId46"/>
    <p:sldId id="700" r:id="rId47"/>
    <p:sldId id="701" r:id="rId48"/>
    <p:sldId id="708" r:id="rId49"/>
    <p:sldId id="709" r:id="rId50"/>
    <p:sldId id="710" r:id="rId51"/>
    <p:sldId id="711" r:id="rId52"/>
    <p:sldId id="714" r:id="rId53"/>
    <p:sldId id="715" r:id="rId54"/>
    <p:sldId id="716" r:id="rId55"/>
    <p:sldId id="717" r:id="rId56"/>
    <p:sldId id="718" r:id="rId57"/>
    <p:sldId id="720" r:id="rId58"/>
    <p:sldId id="880" r:id="rId59"/>
    <p:sldId id="721" r:id="rId60"/>
    <p:sldId id="722" r:id="rId61"/>
    <p:sldId id="878" r:id="rId62"/>
    <p:sldId id="723" r:id="rId63"/>
    <p:sldId id="724" r:id="rId64"/>
    <p:sldId id="725" r:id="rId65"/>
    <p:sldId id="804" r:id="rId66"/>
    <p:sldId id="726" r:id="rId67"/>
    <p:sldId id="806" r:id="rId68"/>
    <p:sldId id="879" r:id="rId69"/>
    <p:sldId id="805" r:id="rId70"/>
    <p:sldId id="729" r:id="rId71"/>
    <p:sldId id="730" r:id="rId72"/>
    <p:sldId id="731" r:id="rId73"/>
    <p:sldId id="733" r:id="rId74"/>
    <p:sldId id="734" r:id="rId75"/>
    <p:sldId id="735" r:id="rId76"/>
    <p:sldId id="876" r:id="rId77"/>
    <p:sldId id="736" r:id="rId78"/>
    <p:sldId id="739" r:id="rId79"/>
    <p:sldId id="749" r:id="rId80"/>
    <p:sldId id="750" r:id="rId81"/>
    <p:sldId id="881" r:id="rId82"/>
    <p:sldId id="751" r:id="rId83"/>
    <p:sldId id="752" r:id="rId84"/>
    <p:sldId id="753" r:id="rId85"/>
    <p:sldId id="754" r:id="rId86"/>
    <p:sldId id="755" r:id="rId87"/>
    <p:sldId id="807" r:id="rId88"/>
    <p:sldId id="756" r:id="rId89"/>
    <p:sldId id="757" r:id="rId90"/>
    <p:sldId id="758" r:id="rId91"/>
    <p:sldId id="759" r:id="rId92"/>
    <p:sldId id="760" r:id="rId93"/>
    <p:sldId id="761" r:id="rId94"/>
    <p:sldId id="762" r:id="rId95"/>
    <p:sldId id="763" r:id="rId96"/>
    <p:sldId id="766" r:id="rId97"/>
    <p:sldId id="767" r:id="rId98"/>
    <p:sldId id="768" r:id="rId99"/>
    <p:sldId id="820" r:id="rId100"/>
    <p:sldId id="821" r:id="rId101"/>
    <p:sldId id="822" r:id="rId102"/>
    <p:sldId id="823" r:id="rId103"/>
    <p:sldId id="824" r:id="rId104"/>
    <p:sldId id="825" r:id="rId105"/>
    <p:sldId id="827" r:id="rId106"/>
    <p:sldId id="840" r:id="rId107"/>
    <p:sldId id="841" r:id="rId108"/>
    <p:sldId id="842" r:id="rId109"/>
    <p:sldId id="843" r:id="rId110"/>
    <p:sldId id="844" r:id="rId1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4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8" d="100"/>
          <a:sy n="68" d="100"/>
        </p:scale>
        <p:origin x="144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a:defRPr/>
            </a:pPr>
            <a:fld id="{027A4670-3EC6-4807-A515-9B9F247A546E}" type="datetimeFigureOut">
              <a:rPr lang="en-US"/>
              <a:t>7/17/2026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pPr>
              <a:defRPr/>
            </a:pPr>
            <a:fld id="{8027DDF8-4D75-4012-BEF3-A32CE79871E1}"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D4FD3B3-4AAA-45F6-BCF1-DEF9124C4C5F}" type="slidenum">
              <a:rPr lang="en-US" smtClean="0"/>
              <a:t>1</a:t>
            </a:fld>
            <a:endParaRPr lang="en-US"/>
          </a:p>
        </p:txBody>
      </p:sp>
      <p:sp>
        <p:nvSpPr>
          <p:cNvPr id="5" name="Header Placeholder 4"/>
          <p:cNvSpPr>
            <a:spLocks noGrp="1"/>
          </p:cNvSpPr>
          <p:nvPr>
            <p:ph type="hdr" sz="quarter" idx="11"/>
          </p:nvPr>
        </p:nvSpPr>
        <p:spPr/>
        <p:txBody>
          <a:bodyPr/>
          <a:lstStyle/>
          <a:p>
            <a:r>
              <a:rPr lang="en-US" smtClean="0"/>
              <a:t>Dr.R.Umamaheshwar Rao</a:t>
            </a:r>
            <a:endParaRPr lang="en-US"/>
          </a:p>
        </p:txBody>
      </p:sp>
      <p:sp>
        <p:nvSpPr>
          <p:cNvPr id="6" name="Date Placeholder 5"/>
          <p:cNvSpPr>
            <a:spLocks noGrp="1"/>
          </p:cNvSpPr>
          <p:nvPr>
            <p:ph type="dt" idx="12"/>
          </p:nvPr>
        </p:nvSpPr>
        <p:spPr/>
        <p:txBody>
          <a:bodyPr/>
          <a:lstStyle/>
          <a:p>
            <a:fld id="{F1456EBA-D0A1-4590-9F4C-083087F21EA0}" type="datetime1">
              <a:rPr lang="en-US" smtClean="0"/>
              <a:t>7/17/2026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bwMode="auto">
          <a:noFill/>
          <a:ln>
            <a:miter lim="800000"/>
          </a:ln>
        </p:spPr>
        <p:txBody>
          <a:bodyPr wrap="square" numCol="1" anchorCtr="0" compatLnSpc="1"/>
          <a:lstStyle/>
          <a:p>
            <a:fld id="{AED91A68-7A65-4A48-B0DC-D5B9C21D6C94}" type="slidenum">
              <a:rPr lang="en-US" smtClean="0"/>
              <a:t>6</a:t>
            </a:fld>
            <a:endParaRPr lang="en-US" smtClean="0"/>
          </a:p>
        </p:txBody>
      </p:sp>
      <p:sp>
        <p:nvSpPr>
          <p:cNvPr id="379907" name="Rectangle 2"/>
          <p:cNvSpPr>
            <a:spLocks noGrp="1" noRot="1" noChangeAspect="1" noChangeArrowheads="1" noTextEdit="1"/>
          </p:cNvSpPr>
          <p:nvPr>
            <p:ph type="sldImg"/>
          </p:nvPr>
        </p:nvSpPr>
        <p:spPr bwMode="auto">
          <a:noFill/>
          <a:ln>
            <a:solidFill>
              <a:srgbClr val="000000"/>
            </a:solidFill>
            <a:miter lim="800000"/>
          </a:ln>
        </p:spPr>
      </p:sp>
      <p:sp>
        <p:nvSpPr>
          <p:cNvPr id="379908"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pPr eaLnBrk="1" hangingPunct="1"/>
            <a:endParaRPr lang="en-US" smtClean="0"/>
          </a:p>
          <a:p>
            <a:pPr eaLnBrk="1" hangingPunct="1"/>
            <a:r>
              <a:rPr lang="en-US" smtClean="0"/>
              <a:t>Also different volumes can be used by different users at the same time.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Slide Image Placeholder 1"/>
          <p:cNvSpPr>
            <a:spLocks noGrp="1" noRot="1" noChangeAspect="1" noTextEdit="1"/>
          </p:cNvSpPr>
          <p:nvPr>
            <p:ph type="sldImg"/>
          </p:nvPr>
        </p:nvSpPr>
        <p:spPr bwMode="auto">
          <a:noFill/>
          <a:ln>
            <a:solidFill>
              <a:srgbClr val="000000"/>
            </a:solidFill>
            <a:miter lim="800000"/>
          </a:ln>
        </p:spPr>
      </p:sp>
      <p:sp>
        <p:nvSpPr>
          <p:cNvPr id="381955"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smtClean="0"/>
          </a:p>
        </p:txBody>
      </p:sp>
      <p:sp>
        <p:nvSpPr>
          <p:cNvPr id="381956" name="Slide Number Placeholder 3"/>
          <p:cNvSpPr>
            <a:spLocks noGrp="1"/>
          </p:cNvSpPr>
          <p:nvPr>
            <p:ph type="sldNum" sz="quarter" idx="5"/>
          </p:nvPr>
        </p:nvSpPr>
        <p:spPr bwMode="auto">
          <a:noFill/>
          <a:ln>
            <a:miter lim="800000"/>
          </a:ln>
        </p:spPr>
        <p:txBody>
          <a:bodyPr wrap="square" numCol="1" anchorCtr="0" compatLnSpc="1"/>
          <a:lstStyle/>
          <a:p>
            <a:fld id="{A9EEAF00-BF57-431C-8DD7-17B2FF148B0E}" type="slidenum">
              <a:rPr lang="en-US" smtClean="0"/>
              <a:t>29</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p:cNvSpPr>
            <a:spLocks noGrp="1" noChangeArrowheads="1"/>
          </p:cNvSpPr>
          <p:nvPr>
            <p:ph type="sldNum" sz="quarter" idx="5"/>
          </p:nvPr>
        </p:nvSpPr>
        <p:spPr bwMode="auto">
          <a:noFill/>
          <a:ln>
            <a:miter lim="800000"/>
          </a:ln>
        </p:spPr>
        <p:txBody>
          <a:bodyPr wrap="square" numCol="1" anchorCtr="0" compatLnSpc="1"/>
          <a:lstStyle/>
          <a:p>
            <a:fld id="{36D5398D-5102-4EA8-A883-7E639DEFEF9E}" type="slidenum">
              <a:rPr lang="en-US" smtClean="0"/>
              <a:t>33</a:t>
            </a:fld>
            <a:endParaRPr lang="en-US" smtClean="0"/>
          </a:p>
        </p:txBody>
      </p:sp>
      <p:sp>
        <p:nvSpPr>
          <p:cNvPr id="382979" name="Rectangle 2"/>
          <p:cNvSpPr>
            <a:spLocks noGrp="1" noRot="1" noChangeAspect="1" noChangeArrowheads="1" noTextEdit="1"/>
          </p:cNvSpPr>
          <p:nvPr>
            <p:ph type="sldImg"/>
          </p:nvPr>
        </p:nvSpPr>
        <p:spPr bwMode="auto">
          <a:noFill/>
          <a:ln>
            <a:solidFill>
              <a:srgbClr val="000000"/>
            </a:solidFill>
            <a:miter lim="800000"/>
          </a:ln>
        </p:spPr>
      </p:sp>
      <p:sp>
        <p:nvSpPr>
          <p:cNvPr id="382980"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Slide Image Placeholder 1"/>
          <p:cNvSpPr>
            <a:spLocks noGrp="1" noRot="1" noChangeAspect="1" noTextEdit="1"/>
          </p:cNvSpPr>
          <p:nvPr>
            <p:ph type="sldImg"/>
          </p:nvPr>
        </p:nvSpPr>
        <p:spPr bwMode="auto">
          <a:noFill/>
          <a:ln>
            <a:solidFill>
              <a:srgbClr val="000000"/>
            </a:solidFill>
            <a:miter lim="800000"/>
          </a:ln>
        </p:spPr>
      </p:sp>
      <p:sp>
        <p:nvSpPr>
          <p:cNvPr id="384003" name="Notes Placeholder 2"/>
          <p:cNvSpPr>
            <a:spLocks noGrp="1"/>
          </p:cNvSpPr>
          <p:nvPr>
            <p:ph type="body" idx="1"/>
          </p:nvPr>
        </p:nvSpPr>
        <p:spPr bwMode="auto">
          <a:noFill/>
        </p:spPr>
        <p:txBody>
          <a:bodyPr wrap="square" numCol="1" anchor="t" anchorCtr="0" compatLnSpc="1"/>
          <a:lstStyle/>
          <a:p>
            <a:endParaRPr lang="en-US" smtClean="0"/>
          </a:p>
        </p:txBody>
      </p:sp>
      <p:sp>
        <p:nvSpPr>
          <p:cNvPr id="384004" name="Slide Number Placeholder 3"/>
          <p:cNvSpPr>
            <a:spLocks noGrp="1"/>
          </p:cNvSpPr>
          <p:nvPr>
            <p:ph type="sldNum" sz="quarter" idx="5"/>
          </p:nvPr>
        </p:nvSpPr>
        <p:spPr bwMode="auto">
          <a:noFill/>
          <a:ln>
            <a:miter lim="800000"/>
          </a:ln>
        </p:spPr>
        <p:txBody>
          <a:bodyPr wrap="square" numCol="1" anchorCtr="0" compatLnSpc="1"/>
          <a:lstStyle/>
          <a:p>
            <a:fld id="{0F7BA659-D4EC-4DFA-B7F6-8315E77B4330}" type="slidenum">
              <a:rPr lang="en-US" smtClean="0"/>
              <a:t>47</a:t>
            </a:fld>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Slide Image Placeholder 1"/>
          <p:cNvSpPr>
            <a:spLocks noGrp="1" noRot="1" noChangeAspect="1" noTextEdit="1"/>
          </p:cNvSpPr>
          <p:nvPr>
            <p:ph type="sldImg"/>
          </p:nvPr>
        </p:nvSpPr>
        <p:spPr bwMode="auto">
          <a:noFill/>
          <a:ln>
            <a:solidFill>
              <a:srgbClr val="000000"/>
            </a:solidFill>
            <a:miter lim="800000"/>
          </a:ln>
        </p:spPr>
      </p:sp>
      <p:sp>
        <p:nvSpPr>
          <p:cNvPr id="385027" name="Notes Placeholder 2"/>
          <p:cNvSpPr>
            <a:spLocks noGrp="1"/>
          </p:cNvSpPr>
          <p:nvPr>
            <p:ph type="body" idx="1"/>
          </p:nvPr>
        </p:nvSpPr>
        <p:spPr bwMode="auto">
          <a:noFill/>
        </p:spPr>
        <p:txBody>
          <a:bodyPr wrap="square" numCol="1" anchor="t" anchorCtr="0" compatLnSpc="1"/>
          <a:lstStyle/>
          <a:p>
            <a:endParaRPr lang="en-US" smtClean="0"/>
          </a:p>
        </p:txBody>
      </p:sp>
      <p:sp>
        <p:nvSpPr>
          <p:cNvPr id="385028" name="Slide Number Placeholder 3"/>
          <p:cNvSpPr>
            <a:spLocks noGrp="1"/>
          </p:cNvSpPr>
          <p:nvPr>
            <p:ph type="sldNum" sz="quarter" idx="5"/>
          </p:nvPr>
        </p:nvSpPr>
        <p:spPr bwMode="auto">
          <a:noFill/>
          <a:ln>
            <a:miter lim="800000"/>
          </a:ln>
        </p:spPr>
        <p:txBody>
          <a:bodyPr wrap="square" numCol="1" anchorCtr="0" compatLnSpc="1"/>
          <a:lstStyle/>
          <a:p>
            <a:fld id="{A5E0668D-241D-464E-A4E8-980595603C45}" type="slidenum">
              <a:rPr lang="en-US" smtClean="0"/>
              <a:t>54</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Slide Image Placeholder 1"/>
          <p:cNvSpPr>
            <a:spLocks noGrp="1" noRot="1" noChangeAspect="1" noTextEdit="1"/>
          </p:cNvSpPr>
          <p:nvPr>
            <p:ph type="sldImg"/>
          </p:nvPr>
        </p:nvSpPr>
        <p:spPr bwMode="auto">
          <a:noFill/>
          <a:ln>
            <a:solidFill>
              <a:srgbClr val="000000"/>
            </a:solidFill>
            <a:miter lim="800000"/>
          </a:ln>
        </p:spPr>
      </p:sp>
      <p:sp>
        <p:nvSpPr>
          <p:cNvPr id="386051"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smtClean="0"/>
          </a:p>
        </p:txBody>
      </p:sp>
      <p:sp>
        <p:nvSpPr>
          <p:cNvPr id="386052" name="Slide Number Placeholder 3"/>
          <p:cNvSpPr>
            <a:spLocks noGrp="1"/>
          </p:cNvSpPr>
          <p:nvPr>
            <p:ph type="sldNum" sz="quarter" idx="5"/>
          </p:nvPr>
        </p:nvSpPr>
        <p:spPr bwMode="auto">
          <a:noFill/>
          <a:ln>
            <a:miter lim="800000"/>
          </a:ln>
        </p:spPr>
        <p:txBody>
          <a:bodyPr wrap="square" numCol="1" anchorCtr="0" compatLnSpc="1"/>
          <a:lstStyle/>
          <a:p>
            <a:fld id="{3579A67F-D2EA-4EB2-90F7-D91D5E8819FC}" type="slidenum">
              <a:rPr lang="en-US" smtClean="0"/>
              <a:t>60</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Rot="1" noChangeAspect="1" noChangeArrowheads="1" noTextEdit="1"/>
          </p:cNvSpPr>
          <p:nvPr>
            <p:ph type="sldImg"/>
          </p:nvPr>
        </p:nvSpPr>
        <p:spPr bwMode="auto">
          <a:noFill/>
          <a:ln>
            <a:solidFill>
              <a:srgbClr val="000000"/>
            </a:solidFill>
            <a:miter lim="800000"/>
          </a:ln>
        </p:spPr>
      </p:sp>
      <p:sp>
        <p:nvSpPr>
          <p:cNvPr id="387075"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Rot="1" noChangeAspect="1" noChangeArrowheads="1" noTextEdit="1"/>
          </p:cNvSpPr>
          <p:nvPr>
            <p:ph type="sldImg"/>
          </p:nvPr>
        </p:nvSpPr>
        <p:spPr bwMode="auto">
          <a:noFill/>
          <a:ln>
            <a:solidFill>
              <a:srgbClr val="000000"/>
            </a:solidFill>
            <a:miter lim="800000"/>
          </a:ln>
        </p:spPr>
      </p:sp>
      <p:sp>
        <p:nvSpPr>
          <p:cNvPr id="388099"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Rot="1" noChangeAspect="1" noChangeArrowheads="1" noTextEdit="1"/>
          </p:cNvSpPr>
          <p:nvPr>
            <p:ph type="sldImg"/>
          </p:nvPr>
        </p:nvSpPr>
        <p:spPr bwMode="auto">
          <a:noFill/>
          <a:ln>
            <a:solidFill>
              <a:srgbClr val="000000"/>
            </a:solidFill>
            <a:miter lim="800000"/>
          </a:ln>
        </p:spPr>
      </p:sp>
      <p:sp>
        <p:nvSpPr>
          <p:cNvPr id="389123"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Rot="1" noChangeAspect="1" noChangeArrowheads="1" noTextEdit="1"/>
          </p:cNvSpPr>
          <p:nvPr>
            <p:ph type="sldImg"/>
          </p:nvPr>
        </p:nvSpPr>
        <p:spPr bwMode="auto">
          <a:noFill/>
          <a:ln>
            <a:solidFill>
              <a:srgbClr val="000000"/>
            </a:solidFill>
            <a:miter lim="800000"/>
          </a:ln>
        </p:spPr>
      </p:sp>
      <p:sp>
        <p:nvSpPr>
          <p:cNvPr id="391171"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spect="1" noChangeArrowheads="1" noTextEdit="1"/>
          </p:cNvSpPr>
          <p:nvPr>
            <p:ph type="sldImg"/>
          </p:nvPr>
        </p:nvSpPr>
        <p:spPr bwMode="auto">
          <a:noFill/>
          <a:ln>
            <a:solidFill>
              <a:srgbClr val="000000"/>
            </a:solidFill>
            <a:miter lim="800000"/>
          </a:ln>
        </p:spPr>
      </p:sp>
      <p:sp>
        <p:nvSpPr>
          <p:cNvPr id="392195"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Rot="1" noChangeAspect="1" noChangeArrowheads="1" noTextEdit="1"/>
          </p:cNvSpPr>
          <p:nvPr>
            <p:ph type="sldImg"/>
          </p:nvPr>
        </p:nvSpPr>
        <p:spPr bwMode="auto">
          <a:noFill/>
          <a:ln>
            <a:solidFill>
              <a:srgbClr val="000000"/>
            </a:solidFill>
            <a:miter lim="800000"/>
          </a:ln>
        </p:spPr>
      </p:sp>
      <p:sp>
        <p:nvSpPr>
          <p:cNvPr id="393219"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Rot="1" noChangeAspect="1" noChangeArrowheads="1" noTextEdit="1"/>
          </p:cNvSpPr>
          <p:nvPr>
            <p:ph type="sldImg"/>
          </p:nvPr>
        </p:nvSpPr>
        <p:spPr bwMode="auto">
          <a:noFill/>
          <a:ln>
            <a:solidFill>
              <a:srgbClr val="000000"/>
            </a:solidFill>
            <a:miter lim="800000"/>
          </a:ln>
        </p:spPr>
      </p:sp>
      <p:sp>
        <p:nvSpPr>
          <p:cNvPr id="394243"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Rot="1" noChangeAspect="1" noChangeArrowheads="1" noTextEdit="1"/>
          </p:cNvSpPr>
          <p:nvPr>
            <p:ph type="sldImg"/>
          </p:nvPr>
        </p:nvSpPr>
        <p:spPr bwMode="auto">
          <a:noFill/>
          <a:ln>
            <a:solidFill>
              <a:srgbClr val="000000"/>
            </a:solidFill>
            <a:miter lim="800000"/>
          </a:ln>
        </p:spPr>
      </p:sp>
      <p:sp>
        <p:nvSpPr>
          <p:cNvPr id="395267"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Rot="1" noChangeAspect="1" noChangeArrowheads="1" noTextEdit="1"/>
          </p:cNvSpPr>
          <p:nvPr>
            <p:ph type="sldImg"/>
          </p:nvPr>
        </p:nvSpPr>
        <p:spPr bwMode="auto">
          <a:noFill/>
          <a:ln>
            <a:solidFill>
              <a:srgbClr val="000000"/>
            </a:solidFill>
            <a:miter lim="800000"/>
          </a:ln>
        </p:spPr>
      </p:sp>
      <p:sp>
        <p:nvSpPr>
          <p:cNvPr id="396291"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Rot="1" noChangeAspect="1" noChangeArrowheads="1" noTextEdit="1"/>
          </p:cNvSpPr>
          <p:nvPr>
            <p:ph type="sldImg"/>
          </p:nvPr>
        </p:nvSpPr>
        <p:spPr bwMode="auto">
          <a:noFill/>
          <a:ln>
            <a:solidFill>
              <a:srgbClr val="000000"/>
            </a:solidFill>
            <a:miter lim="800000"/>
          </a:ln>
        </p:spPr>
      </p:sp>
      <p:sp>
        <p:nvSpPr>
          <p:cNvPr id="397315"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Rot="1" noChangeAspect="1" noChangeArrowheads="1" noTextEdit="1"/>
          </p:cNvSpPr>
          <p:nvPr>
            <p:ph type="sldImg"/>
          </p:nvPr>
        </p:nvSpPr>
        <p:spPr bwMode="auto">
          <a:noFill/>
          <a:ln>
            <a:solidFill>
              <a:srgbClr val="000000"/>
            </a:solidFill>
            <a:miter lim="800000"/>
          </a:ln>
        </p:spPr>
      </p:sp>
      <p:sp>
        <p:nvSpPr>
          <p:cNvPr id="398339"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6"/>
          <p:cNvSpPr>
            <a:spLocks noGrp="1" noChangeArrowheads="1"/>
          </p:cNvSpPr>
          <p:nvPr>
            <p:ph type="ftr" sz="quarter" idx="4"/>
          </p:nvPr>
        </p:nvSpPr>
        <p:spPr bwMode="auto">
          <a:noFill/>
          <a:ln>
            <a:miter lim="800000"/>
          </a:ln>
        </p:spPr>
        <p:txBody>
          <a:bodyPr wrap="square" numCol="1" anchorCtr="0" compatLnSpc="1"/>
          <a:lstStyle/>
          <a:p>
            <a:r>
              <a:rPr lang="en-US" smtClean="0"/>
              <a:t>ER/CORP/CRS/LA06/003</a:t>
            </a:r>
          </a:p>
        </p:txBody>
      </p:sp>
      <p:sp>
        <p:nvSpPr>
          <p:cNvPr id="402435" name="Rectangle 7"/>
          <p:cNvSpPr>
            <a:spLocks noGrp="1" noChangeArrowheads="1"/>
          </p:cNvSpPr>
          <p:nvPr>
            <p:ph type="sldNum" sz="quarter" idx="5"/>
          </p:nvPr>
        </p:nvSpPr>
        <p:spPr bwMode="auto">
          <a:noFill/>
          <a:ln>
            <a:miter lim="800000"/>
          </a:ln>
        </p:spPr>
        <p:txBody>
          <a:bodyPr wrap="square" numCol="1" anchorCtr="0" compatLnSpc="1"/>
          <a:lstStyle/>
          <a:p>
            <a:fld id="{5E4E4162-38D2-4AD4-B568-834577EAA0A9}" type="slidenum">
              <a:rPr lang="en-US" smtClean="0"/>
              <a:t>107</a:t>
            </a:fld>
            <a:endParaRPr lang="en-US" smtClean="0"/>
          </a:p>
        </p:txBody>
      </p:sp>
      <p:sp>
        <p:nvSpPr>
          <p:cNvPr id="402436" name="Rectangle 2"/>
          <p:cNvSpPr>
            <a:spLocks noGrp="1" noRot="1" noChangeAspect="1" noChangeArrowheads="1" noTextEdit="1"/>
          </p:cNvSpPr>
          <p:nvPr>
            <p:ph type="sldImg"/>
          </p:nvPr>
        </p:nvSpPr>
        <p:spPr bwMode="auto">
          <a:noFill/>
          <a:ln>
            <a:solidFill>
              <a:srgbClr val="000000"/>
            </a:solidFill>
            <a:miter lim="800000"/>
          </a:ln>
        </p:spPr>
      </p:sp>
      <p:sp>
        <p:nvSpPr>
          <p:cNvPr id="402437" name="Rectangle 3"/>
          <p:cNvSpPr>
            <a:spLocks noGrp="1" noChangeArrowheads="1"/>
          </p:cNvSpPr>
          <p:nvPr>
            <p:ph type="body" idx="1"/>
          </p:nvPr>
        </p:nvSpPr>
        <p:spPr bwMode="auto">
          <a:noFill/>
        </p:spPr>
        <p:txBody>
          <a:bodyPr wrap="square" numCol="1" anchor="t" anchorCtr="0" compatLnSpc="1"/>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385FB236-7786-4C00-A0E6-8B036ADECD45}" type="datetime1">
              <a:rPr lang="en-US" smtClean="0"/>
              <a:t>7/17/2026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926EF-2906-4D03-ACE2-C3243ABAF3CC}"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125A3FC-1510-4BE1-B506-64AFA9755815}" type="datetime1">
              <a:rPr lang="en-US" smtClean="0"/>
              <a:t>7/17/2026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6" name="Slide Number Placeholder 5"/>
          <p:cNvSpPr>
            <a:spLocks noGrp="1"/>
          </p:cNvSpPr>
          <p:nvPr>
            <p:ph type="sldNum" sz="quarter" idx="12"/>
          </p:nvPr>
        </p:nvSpPr>
        <p:spPr/>
        <p:txBody>
          <a:bodyPr/>
          <a:lstStyle>
            <a:lvl1pPr>
              <a:defRPr/>
            </a:lvl1pPr>
          </a:lstStyle>
          <a:p>
            <a:pPr>
              <a:defRPr/>
            </a:pPr>
            <a:fld id="{6765E2DB-2636-44F0-B762-2446197705E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5D4DCDFA-7E27-4068-AA5D-E678272CB5E7}" type="datetime1">
              <a:rPr lang="en-US" smtClean="0"/>
              <a:t>7/17/2026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6" name="Slide Number Placeholder 5"/>
          <p:cNvSpPr>
            <a:spLocks noGrp="1"/>
          </p:cNvSpPr>
          <p:nvPr>
            <p:ph type="sldNum" sz="quarter" idx="12"/>
          </p:nvPr>
        </p:nvSpPr>
        <p:spPr/>
        <p:txBody>
          <a:bodyPr/>
          <a:lstStyle>
            <a:lvl1pPr>
              <a:defRPr/>
            </a:lvl1pPr>
          </a:lstStyle>
          <a:p>
            <a:pPr>
              <a:defRPr/>
            </a:pPr>
            <a:fld id="{078590D6-B1E6-437F-804A-A1D5A473B3D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AD262E63-DB58-41E0-A6DA-CA623CFBA071}" type="datetime1">
              <a:rPr lang="en-US" smtClean="0"/>
              <a:t>7/17/2026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7" name="Slide Number Placeholder 5"/>
          <p:cNvSpPr>
            <a:spLocks noGrp="1"/>
          </p:cNvSpPr>
          <p:nvPr>
            <p:ph type="sldNum" sz="quarter" idx="12"/>
          </p:nvPr>
        </p:nvSpPr>
        <p:spPr/>
        <p:txBody>
          <a:bodyPr/>
          <a:lstStyle>
            <a:lvl1pPr>
              <a:defRPr/>
            </a:lvl1pPr>
          </a:lstStyle>
          <a:p>
            <a:pPr>
              <a:defRPr/>
            </a:pPr>
            <a:fld id="{DDCAC569-B711-4570-97F7-5B9FC03A2CE1}"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54F34675-2D27-421B-B5B8-6173AA2CCC80}" type="datetime1">
              <a:rPr lang="en-US" smtClean="0"/>
              <a:t>7/17/2026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9" name="Slide Number Placeholder 5"/>
          <p:cNvSpPr>
            <a:spLocks noGrp="1"/>
          </p:cNvSpPr>
          <p:nvPr>
            <p:ph type="sldNum" sz="quarter" idx="12"/>
          </p:nvPr>
        </p:nvSpPr>
        <p:spPr/>
        <p:txBody>
          <a:bodyPr/>
          <a:lstStyle>
            <a:lvl1pPr>
              <a:defRPr/>
            </a:lvl1pPr>
          </a:lstStyle>
          <a:p>
            <a:pPr>
              <a:defRPr/>
            </a:pPr>
            <a:fld id="{06277D25-8EC0-4B48-8BE4-6FC2F880C9BD}"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D9AFBA62-D5F6-49D3-B72E-C6440AEC1911}" type="datetime1">
              <a:rPr lang="en-US" smtClean="0"/>
              <a:t>7/17/2026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5" name="Slide Number Placeholder 5"/>
          <p:cNvSpPr>
            <a:spLocks noGrp="1"/>
          </p:cNvSpPr>
          <p:nvPr>
            <p:ph type="sldNum" sz="quarter" idx="12"/>
          </p:nvPr>
        </p:nvSpPr>
        <p:spPr/>
        <p:txBody>
          <a:bodyPr/>
          <a:lstStyle>
            <a:lvl1pPr>
              <a:defRPr/>
            </a:lvl1pPr>
          </a:lstStyle>
          <a:p>
            <a:pPr>
              <a:defRPr/>
            </a:pPr>
            <a:fld id="{D5D879C6-AA31-465B-97C5-4A5DAD8C146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4A70D91-9852-455B-B765-9611486C4448}" type="datetime1">
              <a:rPr lang="en-US" smtClean="0"/>
              <a:t>7/17/2026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4" name="Slide Number Placeholder 5"/>
          <p:cNvSpPr>
            <a:spLocks noGrp="1"/>
          </p:cNvSpPr>
          <p:nvPr>
            <p:ph type="sldNum" sz="quarter" idx="12"/>
          </p:nvPr>
        </p:nvSpPr>
        <p:spPr/>
        <p:txBody>
          <a:bodyPr/>
          <a:lstStyle>
            <a:lvl1pPr>
              <a:defRPr/>
            </a:lvl1pPr>
          </a:lstStyle>
          <a:p>
            <a:pPr>
              <a:defRPr/>
            </a:pPr>
            <a:fld id="{F76B98A9-B8C7-49DB-9787-C88E08BDD27C}"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10FF3E0-DA73-420C-AAC9-71756D8351A8}" type="datetime1">
              <a:rPr lang="en-US" smtClean="0"/>
              <a:t>7/17/2026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7" name="Slide Number Placeholder 5"/>
          <p:cNvSpPr>
            <a:spLocks noGrp="1"/>
          </p:cNvSpPr>
          <p:nvPr>
            <p:ph type="sldNum" sz="quarter" idx="12"/>
          </p:nvPr>
        </p:nvSpPr>
        <p:spPr/>
        <p:txBody>
          <a:bodyPr/>
          <a:lstStyle>
            <a:lvl1pPr>
              <a:defRPr/>
            </a:lvl1pPr>
          </a:lstStyle>
          <a:p>
            <a:pPr>
              <a:defRPr/>
            </a:pPr>
            <a:fld id="{4377440F-D2FE-4D33-AC5D-603BC2080E8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938C464-B635-4CFB-BCD8-4DDD4C5A4936}" type="datetime1">
              <a:rPr lang="en-US" smtClean="0"/>
              <a:t>7/17/2026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7" name="Slide Number Placeholder 5"/>
          <p:cNvSpPr>
            <a:spLocks noGrp="1"/>
          </p:cNvSpPr>
          <p:nvPr>
            <p:ph type="sldNum" sz="quarter" idx="12"/>
          </p:nvPr>
        </p:nvSpPr>
        <p:spPr/>
        <p:txBody>
          <a:bodyPr/>
          <a:lstStyle>
            <a:lvl1pPr>
              <a:defRPr/>
            </a:lvl1pPr>
          </a:lstStyle>
          <a:p>
            <a:pPr>
              <a:defRPr/>
            </a:pPr>
            <a:fld id="{327CF2C7-183B-42BC-AC29-A9C668BE9438}"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ED069BC-3694-4E0A-B77F-5330A46D6586}" type="datetime1">
              <a:rPr lang="en-US" smtClean="0"/>
              <a:t>7/17/2026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6" name="Slide Number Placeholder 5"/>
          <p:cNvSpPr>
            <a:spLocks noGrp="1"/>
          </p:cNvSpPr>
          <p:nvPr>
            <p:ph type="sldNum" sz="quarter" idx="12"/>
          </p:nvPr>
        </p:nvSpPr>
        <p:spPr/>
        <p:txBody>
          <a:bodyPr/>
          <a:lstStyle>
            <a:lvl1pPr>
              <a:defRPr/>
            </a:lvl1pPr>
          </a:lstStyle>
          <a:p>
            <a:pPr>
              <a:defRPr/>
            </a:pPr>
            <a:fld id="{E1025FD1-A952-4E7A-AFF3-8730050FAA43}"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ADFEE62-B148-4152-B4BC-021E4219BA7A}" type="datetime1">
              <a:rPr lang="en-US" smtClean="0"/>
              <a:t>7/17/2026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suma</a:t>
            </a:r>
            <a:endParaRPr lang="en-US"/>
          </a:p>
        </p:txBody>
      </p:sp>
      <p:sp>
        <p:nvSpPr>
          <p:cNvPr id="6" name="Slide Number Placeholder 5"/>
          <p:cNvSpPr>
            <a:spLocks noGrp="1"/>
          </p:cNvSpPr>
          <p:nvPr>
            <p:ph type="sldNum" sz="quarter" idx="12"/>
          </p:nvPr>
        </p:nvSpPr>
        <p:spPr/>
        <p:txBody>
          <a:bodyPr/>
          <a:lstStyle>
            <a:lvl1pPr>
              <a:defRPr/>
            </a:lvl1pPr>
          </a:lstStyle>
          <a:p>
            <a:pPr>
              <a:defRPr/>
            </a:pPr>
            <a:fld id="{61CABF88-28F5-4E03-8493-F501B167CF98}"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14325" y="239713"/>
            <a:ext cx="8574088" cy="512762"/>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304800" y="990600"/>
            <a:ext cx="4191000" cy="24495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990600"/>
            <a:ext cx="4191000" cy="24495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304800" y="3592513"/>
            <a:ext cx="4191000" cy="2449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592513"/>
            <a:ext cx="4191000" cy="2449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90"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smtClean="0"/>
              <a:t>Click to edit Master title style</a:t>
            </a:r>
          </a:p>
        </p:txBody>
      </p:sp>
      <p:sp>
        <p:nvSpPr>
          <p:cNvPr id="12291"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pPr>
              <a:defRPr/>
            </a:pPr>
            <a:fld id="{B47FA52D-AEDE-40E2-A033-ABA9DB0FF7C9}" type="datetime1">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pPr>
              <a:defRPr/>
            </a:pPr>
            <a:r>
              <a:rPr lang="en-US" smtClean="0"/>
              <a:t>suma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pPr>
              <a:defRPr/>
            </a:pPr>
            <a:fld id="{BD9185BB-3D43-4D50-8872-26DD2369666E}"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1981200"/>
            <a:ext cx="2971800" cy="707886"/>
          </a:xfrm>
          <a:prstGeom prst="rect">
            <a:avLst/>
          </a:prstGeom>
          <a:noFill/>
        </p:spPr>
        <p:txBody>
          <a:bodyPr wrap="square" rtlCol="0">
            <a:spAutoFit/>
          </a:bodyPr>
          <a:lstStyle/>
          <a:p>
            <a:r>
              <a:rPr lang="en-US" sz="4000" dirty="0" smtClean="0">
                <a:solidFill>
                  <a:srgbClr val="00B050"/>
                </a:solidFill>
                <a:latin typeface="Arial Black" panose="020B0A04020102020204" pitchFamily="34" charset="0"/>
              </a:rPr>
              <a:t>Lecture-1</a:t>
            </a:r>
            <a:endParaRPr lang="en-US" sz="4000" dirty="0">
              <a:solidFill>
                <a:srgbClr val="00B050"/>
              </a:solidFill>
              <a:latin typeface="Arial Black" panose="020B0A04020102020204" pitchFamily="34" charset="0"/>
            </a:endParaRPr>
          </a:p>
        </p:txBody>
      </p:sp>
      <p:sp>
        <p:nvSpPr>
          <p:cNvPr id="5" name="TextBox 4"/>
          <p:cNvSpPr txBox="1"/>
          <p:nvPr/>
        </p:nvSpPr>
        <p:spPr>
          <a:xfrm>
            <a:off x="3505200" y="381002"/>
            <a:ext cx="5181600" cy="646331"/>
          </a:xfrm>
          <a:prstGeom prst="rect">
            <a:avLst/>
          </a:prstGeom>
          <a:gradFill>
            <a:gsLst>
              <a:gs pos="0">
                <a:schemeClr val="tx2">
                  <a:lumMod val="40000"/>
                  <a:lumOff val="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gn="ctr"/>
            <a:r>
              <a:rPr lang="en-US" sz="3600" dirty="0" smtClean="0">
                <a:latin typeface="Algerian" panose="04020705040A02060702" pitchFamily="82" charset="0"/>
              </a:rPr>
              <a:t>Engineering </a:t>
            </a:r>
            <a:endParaRPr lang="en-US" sz="3600" dirty="0">
              <a:latin typeface="Algerian" panose="04020705040A02060702" pitchFamily="82" charset="0"/>
            </a:endParaRPr>
          </a:p>
        </p:txBody>
      </p:sp>
      <p:sp>
        <p:nvSpPr>
          <p:cNvPr id="6" name="TextBox 5"/>
          <p:cNvSpPr txBox="1"/>
          <p:nvPr/>
        </p:nvSpPr>
        <p:spPr>
          <a:xfrm>
            <a:off x="4648200" y="1828800"/>
            <a:ext cx="2362200" cy="769441"/>
          </a:xfrm>
          <a:prstGeom prst="rect">
            <a:avLst/>
          </a:prstGeom>
          <a:noFill/>
        </p:spPr>
        <p:txBody>
          <a:bodyPr wrap="square" rtlCol="0">
            <a:spAutoFit/>
          </a:bodyPr>
          <a:lstStyle/>
          <a:p>
            <a:r>
              <a:rPr lang="en-US" sz="4000" b="1" dirty="0" smtClean="0">
                <a:solidFill>
                  <a:srgbClr val="0070C0"/>
                </a:solidFill>
                <a:latin typeface="Arial Black" panose="020B0A04020102020204" pitchFamily="34" charset="0"/>
              </a:rPr>
              <a:t>Unit-</a:t>
            </a:r>
            <a:r>
              <a:rPr lang="en-US" sz="4400" b="1" dirty="0" smtClean="0">
                <a:solidFill>
                  <a:srgbClr val="0070C0"/>
                </a:solidFill>
                <a:latin typeface="Arial Black" panose="020B0A04020102020204" pitchFamily="34" charset="0"/>
              </a:rPr>
              <a:t>I</a:t>
            </a:r>
            <a:endParaRPr lang="en-US" sz="5400" b="1" dirty="0">
              <a:solidFill>
                <a:srgbClr val="0070C0"/>
              </a:solidFill>
              <a:latin typeface="Arial Black" panose="020B0A04020102020204" pitchFamily="34" charset="0"/>
            </a:endParaRPr>
          </a:p>
        </p:txBody>
      </p:sp>
      <p:pic>
        <p:nvPicPr>
          <p:cNvPr id="8" name="Picture 7" descr="snist autonomous logo"/>
          <p:cNvPicPr>
            <a:picLocks noChangeAspect="1" noChangeArrowheads="1"/>
          </p:cNvPicPr>
          <p:nvPr/>
        </p:nvPicPr>
        <p:blipFill>
          <a:blip r:embed="rId3" cstate="print"/>
          <a:srcRect/>
          <a:stretch>
            <a:fillRect/>
          </a:stretch>
        </p:blipFill>
        <p:spPr bwMode="auto">
          <a:xfrm>
            <a:off x="457200" y="457200"/>
            <a:ext cx="2895600" cy="1295400"/>
          </a:xfrm>
          <a:prstGeom prst="rect">
            <a:avLst/>
          </a:prstGeom>
          <a:noFill/>
          <a:ln w="9525">
            <a:noFill/>
            <a:miter lim="800000"/>
            <a:headEnd/>
            <a:tailEnd/>
          </a:ln>
        </p:spPr>
      </p:pic>
      <p:grpSp>
        <p:nvGrpSpPr>
          <p:cNvPr id="2" name="Group 14"/>
          <p:cNvGrpSpPr/>
          <p:nvPr/>
        </p:nvGrpSpPr>
        <p:grpSpPr>
          <a:xfrm>
            <a:off x="703385" y="3738049"/>
            <a:ext cx="7543800" cy="2488591"/>
            <a:chOff x="750584" y="3828104"/>
            <a:chExt cx="7543800" cy="2521242"/>
          </a:xfrm>
        </p:grpSpPr>
        <p:sp>
          <p:nvSpPr>
            <p:cNvPr id="9" name="TextBox 8"/>
            <p:cNvSpPr txBox="1"/>
            <p:nvPr/>
          </p:nvSpPr>
          <p:spPr>
            <a:xfrm>
              <a:off x="750584" y="3828104"/>
              <a:ext cx="7543800" cy="717174"/>
            </a:xfrm>
            <a:prstGeom prst="rect">
              <a:avLst/>
            </a:prstGeom>
            <a:solidFill>
              <a:srgbClr val="FFFF00"/>
            </a:solidFill>
          </p:spPr>
          <p:txBody>
            <a:bodyPr wrap="square" rtlCol="0">
              <a:spAutoFit/>
            </a:bodyPr>
            <a:lstStyle/>
            <a:p>
              <a:pPr algn="ctr"/>
              <a:r>
                <a:rPr lang="en-US" sz="4000" dirty="0" smtClean="0">
                  <a:solidFill>
                    <a:srgbClr val="0070C0"/>
                  </a:solidFill>
                  <a:latin typeface="Arial Rounded MT Bold" panose="020F0704030504030204" pitchFamily="34" charset="0"/>
                </a:rPr>
                <a:t>NAME</a:t>
              </a:r>
              <a:r>
                <a:rPr lang="en-US" sz="4000" dirty="0" smtClean="0">
                  <a:solidFill>
                    <a:srgbClr val="7030A0"/>
                  </a:solidFill>
                  <a:latin typeface="Arial Rounded MT Bold" panose="020F0704030504030204" pitchFamily="34" charset="0"/>
                </a:rPr>
                <a:t> : </a:t>
              </a:r>
              <a:r>
                <a:rPr lang="en-US" sz="4000" dirty="0" smtClean="0">
                  <a:solidFill>
                    <a:srgbClr val="FF0000"/>
                  </a:solidFill>
                  <a:latin typeface="Arial Rounded MT Bold" panose="020F0704030504030204" pitchFamily="34" charset="0"/>
                </a:rPr>
                <a:t>P. Mahesh Kumar</a:t>
              </a:r>
              <a:endParaRPr lang="en-US" sz="4000" dirty="0">
                <a:solidFill>
                  <a:srgbClr val="FF0000"/>
                </a:solidFill>
                <a:latin typeface="Arial Rounded MT Bold" panose="020F0704030504030204" pitchFamily="34" charset="0"/>
              </a:endParaRPr>
            </a:p>
          </p:txBody>
        </p:sp>
        <p:sp>
          <p:nvSpPr>
            <p:cNvPr id="10" name="TextBox 9"/>
            <p:cNvSpPr txBox="1"/>
            <p:nvPr/>
          </p:nvSpPr>
          <p:spPr>
            <a:xfrm>
              <a:off x="1647399" y="4572003"/>
              <a:ext cx="6172199" cy="1777343"/>
            </a:xfrm>
            <a:prstGeom prst="rect">
              <a:avLst/>
            </a:prstGeom>
            <a:noFill/>
          </p:spPr>
          <p:txBody>
            <a:bodyPr wrap="square" rtlCol="0">
              <a:spAutoFit/>
            </a:bodyPr>
            <a:lstStyle/>
            <a:p>
              <a:pPr algn="ctr"/>
              <a:r>
                <a:rPr lang="en-US" sz="4000" b="1" dirty="0" smtClean="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Assistant Professor</a:t>
              </a:r>
            </a:p>
            <a:p>
              <a:pPr algn="ctr"/>
              <a:r>
                <a:rPr lang="en-US" sz="2800" b="1" dirty="0" smtClean="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Faculty of Information Technology</a:t>
              </a:r>
            </a:p>
            <a:p>
              <a:pPr algn="ctr"/>
              <a:r>
                <a:rPr lang="en-US" sz="4000" b="1" dirty="0" smtClean="0">
                  <a:solidFill>
                    <a:srgbClr val="00B050"/>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4000" b="1" dirty="0" smtClean="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SNIST</a:t>
              </a:r>
              <a:endParaRPr lang="en-US" sz="4000" b="1" dirty="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sp>
        <p:nvSpPr>
          <p:cNvPr id="12" name="Slide Number Placeholder 11"/>
          <p:cNvSpPr>
            <a:spLocks noGrp="1"/>
          </p:cNvSpPr>
          <p:nvPr>
            <p:ph type="sldNum" sz="quarter" idx="12"/>
          </p:nvPr>
        </p:nvSpPr>
        <p:spPr/>
        <p:txBody>
          <a:bodyPr/>
          <a:lstStyle/>
          <a:p>
            <a:fld id="{2ACB67AF-FA68-48A3-A671-088D82C8D98B}" type="slidenum">
              <a:rPr lang="en-US" smtClean="0"/>
              <a:t>1</a:t>
            </a:fld>
            <a:endParaRPr lang="en-US"/>
          </a:p>
        </p:txBody>
      </p:sp>
      <p:sp>
        <p:nvSpPr>
          <p:cNvPr id="14" name="Rectangle 13"/>
          <p:cNvSpPr/>
          <p:nvPr/>
        </p:nvSpPr>
        <p:spPr>
          <a:xfrm>
            <a:off x="381000" y="2895600"/>
            <a:ext cx="8382000" cy="923330"/>
          </a:xfrm>
          <a:prstGeom prst="rect">
            <a:avLst/>
          </a:prstGeom>
        </p:spPr>
        <p:txBody>
          <a:bodyPr wrap="square">
            <a:spAutoFit/>
          </a:bodyPr>
          <a:lstStyle/>
          <a:p>
            <a:pPr lvl="0" algn="ctr" fontAlgn="base">
              <a:spcBef>
                <a:spcPct val="0"/>
              </a:spcBef>
              <a:spcAft>
                <a:spcPct val="0"/>
              </a:spcAft>
            </a:pPr>
            <a:r>
              <a:rPr lang="en-US" sz="5400" b="1" dirty="0" smtClean="0">
                <a:solidFill>
                  <a:schemeClr val="accent2">
                    <a:lumMod val="75000"/>
                  </a:schemeClr>
                </a:solidFill>
              </a:rPr>
              <a:t>LINUX UTILITES</a:t>
            </a:r>
            <a:endParaRPr lang="en-US" sz="5400" b="1"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
          <p:cNvSpPr txBox="1">
            <a:spLocks noChangeArrowheads="1"/>
          </p:cNvSpPr>
          <p:nvPr/>
        </p:nvSpPr>
        <p:spPr bwMode="auto">
          <a:xfrm>
            <a:off x="914400" y="762000"/>
            <a:ext cx="7620000" cy="1200150"/>
          </a:xfrm>
          <a:prstGeom prst="rect">
            <a:avLst/>
          </a:prstGeom>
          <a:noFill/>
          <a:ln w="9525">
            <a:noFill/>
            <a:miter lim="800000"/>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15363" name="TextBox 3"/>
          <p:cNvSpPr txBox="1">
            <a:spLocks noChangeArrowheads="1"/>
          </p:cNvSpPr>
          <p:nvPr/>
        </p:nvSpPr>
        <p:spPr bwMode="auto">
          <a:xfrm>
            <a:off x="838200" y="990600"/>
            <a:ext cx="7848600" cy="5077460"/>
          </a:xfrm>
          <a:prstGeom prst="rect">
            <a:avLst/>
          </a:prstGeom>
          <a:noFill/>
          <a:ln w="9525">
            <a:noFill/>
            <a:miter lim="800000"/>
          </a:ln>
        </p:spPr>
        <p:txBody>
          <a:bodyPr>
            <a:spAutoFit/>
          </a:bodyPr>
          <a:lstStyle/>
          <a:p>
            <a:r>
              <a:rPr lang="en-US" b="1" dirty="0">
                <a:latin typeface="Lucida Bright" panose="02040602050505020304" pitchFamily="18" charset="0"/>
              </a:rPr>
              <a:t>1.Introduction</a:t>
            </a:r>
            <a:endParaRPr lang="en-US" dirty="0">
              <a:latin typeface="Lucida Bright" panose="02040602050505020304" pitchFamily="18" charset="0"/>
            </a:endParaRPr>
          </a:p>
          <a:p>
            <a:r>
              <a:rPr lang="en-US" dirty="0">
                <a:latin typeface="Lucida Bright" panose="02040602050505020304" pitchFamily="18" charset="0"/>
              </a:rPr>
              <a:t> </a:t>
            </a:r>
          </a:p>
          <a:p>
            <a:r>
              <a:rPr lang="en-US" dirty="0">
                <a:latin typeface="Lucida Bright" panose="02040602050505020304" pitchFamily="18" charset="0"/>
              </a:rPr>
              <a:t>1.1 History of UNIX</a:t>
            </a:r>
          </a:p>
          <a:p>
            <a:r>
              <a:rPr lang="en-US" dirty="0">
                <a:latin typeface="Lucida Bright" panose="02040602050505020304" pitchFamily="18" charset="0"/>
              </a:rPr>
              <a:t> </a:t>
            </a:r>
          </a:p>
          <a:p>
            <a:pPr>
              <a:buFont typeface="Arial" panose="020B0604020202020204" pitchFamily="34" charset="0"/>
              <a:buChar char="•"/>
            </a:pPr>
            <a:r>
              <a:rPr lang="en-US" dirty="0">
                <a:latin typeface="Lucida Bright" panose="02040602050505020304" pitchFamily="18" charset="0"/>
              </a:rPr>
              <a:t>  UNIX is an Operating System (OS).</a:t>
            </a:r>
          </a:p>
          <a:p>
            <a:pPr>
              <a:buFont typeface="Arial" panose="020B0604020202020204" pitchFamily="34" charset="0"/>
              <a:buChar char="•"/>
            </a:pPr>
            <a:r>
              <a:rPr lang="en-US" dirty="0">
                <a:latin typeface="Lucida Bright" panose="02040602050505020304" pitchFamily="18" charset="0"/>
              </a:rPr>
              <a:t>  UNIX was developed </a:t>
            </a:r>
            <a:r>
              <a:rPr lang="en-US">
                <a:latin typeface="Lucida Bright" panose="02040602050505020304" pitchFamily="18" charset="0"/>
              </a:rPr>
              <a:t>about 5</a:t>
            </a:r>
            <a:r>
              <a:rPr lang="en-US" smtClean="0">
                <a:latin typeface="Lucida Bright" panose="02040602050505020304" pitchFamily="18" charset="0"/>
              </a:rPr>
              <a:t>0 </a:t>
            </a:r>
            <a:r>
              <a:rPr lang="en-US" dirty="0">
                <a:latin typeface="Lucida Bright" panose="02040602050505020304" pitchFamily="18" charset="0"/>
              </a:rPr>
              <a:t>years ago i.e., 1969 </a:t>
            </a:r>
            <a:r>
              <a:rPr lang="en-US" dirty="0" smtClean="0">
                <a:latin typeface="Lucida Bright" panose="02040602050505020304" pitchFamily="18" charset="0"/>
              </a:rPr>
              <a:t>at  </a:t>
            </a:r>
            <a:r>
              <a:rPr lang="en-US" dirty="0" err="1" smtClean="0">
                <a:latin typeface="Lucida Bright" panose="02040602050505020304" pitchFamily="18" charset="0"/>
              </a:rPr>
              <a:t>AT</a:t>
            </a:r>
            <a:r>
              <a:rPr lang="en-US" dirty="0" smtClean="0">
                <a:latin typeface="Lucida Bright" panose="02040602050505020304" pitchFamily="18" charset="0"/>
              </a:rPr>
              <a:t> NT&amp; </a:t>
            </a:r>
            <a:r>
              <a:rPr lang="en-US" dirty="0">
                <a:latin typeface="Lucida Bright" panose="02040602050505020304" pitchFamily="18" charset="0"/>
              </a:rPr>
              <a:t>Bell                   </a:t>
            </a:r>
            <a:r>
              <a:rPr lang="en-US" dirty="0" smtClean="0">
                <a:latin typeface="Lucida Bright" panose="02040602050505020304" pitchFamily="18" charset="0"/>
              </a:rPr>
              <a:t>   	Labs </a:t>
            </a:r>
            <a:r>
              <a:rPr lang="en-US" dirty="0">
                <a:latin typeface="Lucida Bright" panose="02040602050505020304" pitchFamily="18" charset="0"/>
              </a:rPr>
              <a:t>by Ken Thompson and Dennis </a:t>
            </a:r>
            <a:r>
              <a:rPr lang="en-US" dirty="0" smtClean="0">
                <a:latin typeface="Lucida Bright" panose="02040602050505020304" pitchFamily="18" charset="0"/>
              </a:rPr>
              <a:t>Ritchie.</a:t>
            </a:r>
            <a:endParaRPr lang="en-US" dirty="0">
              <a:latin typeface="Lucida Bright" panose="02040602050505020304" pitchFamily="18" charset="0"/>
            </a:endParaRPr>
          </a:p>
          <a:p>
            <a:pPr>
              <a:buFont typeface="Arial" panose="020B0604020202020204" pitchFamily="34" charset="0"/>
              <a:buChar char="•"/>
            </a:pPr>
            <a:r>
              <a:rPr lang="en-US" dirty="0">
                <a:latin typeface="Lucida Bright" panose="02040602050505020304" pitchFamily="18" charset="0"/>
              </a:rPr>
              <a:t>  It is a Command Line Interpreter.</a:t>
            </a:r>
          </a:p>
          <a:p>
            <a:pPr>
              <a:buFont typeface="Arial" panose="020B0604020202020204" pitchFamily="34" charset="0"/>
              <a:buChar char="•"/>
            </a:pPr>
            <a:r>
              <a:rPr lang="en-US" dirty="0">
                <a:latin typeface="Lucida Bright" panose="02040602050505020304" pitchFamily="18" charset="0"/>
              </a:rPr>
              <a:t>  It was developed for the Mini-Computers as a time sharing system.</a:t>
            </a:r>
          </a:p>
          <a:p>
            <a:pPr>
              <a:buFont typeface="Arial" panose="020B0604020202020204" pitchFamily="34" charset="0"/>
              <a:buChar char="•"/>
            </a:pPr>
            <a:r>
              <a:rPr lang="en-US" dirty="0">
                <a:latin typeface="Lucida Bright" panose="02040602050505020304" pitchFamily="18" charset="0"/>
              </a:rPr>
              <a:t>  UNIX was the predecessor of LINUX.</a:t>
            </a:r>
          </a:p>
          <a:p>
            <a:endParaRPr lang="en-US" dirty="0">
              <a:latin typeface="Lucida Bright" panose="02040602050505020304" pitchFamily="18" charset="0"/>
            </a:endParaRPr>
          </a:p>
          <a:p>
            <a:r>
              <a:rPr lang="en-US" dirty="0">
                <a:latin typeface="Lucida Bright" panose="02040602050505020304" pitchFamily="18" charset="0"/>
              </a:rPr>
              <a:t>1.2  History of  LINUX</a:t>
            </a:r>
          </a:p>
          <a:p>
            <a:r>
              <a:rPr lang="en-US" dirty="0">
                <a:latin typeface="Lucida Bright" panose="02040602050505020304" pitchFamily="18" charset="0"/>
              </a:rPr>
              <a:t> </a:t>
            </a:r>
          </a:p>
          <a:p>
            <a:pPr>
              <a:buFont typeface="Arial" panose="020B0604020202020204" pitchFamily="34" charset="0"/>
              <a:buChar char="•"/>
            </a:pPr>
            <a:r>
              <a:rPr lang="en-US" dirty="0">
                <a:latin typeface="Lucida Bright" panose="02040602050505020304" pitchFamily="18" charset="0"/>
              </a:rPr>
              <a:t>  LINUX was created by </a:t>
            </a:r>
            <a:r>
              <a:rPr lang="en-US" dirty="0" err="1">
                <a:latin typeface="Lucida Bright" panose="02040602050505020304" pitchFamily="18" charset="0"/>
              </a:rPr>
              <a:t>Linus</a:t>
            </a:r>
            <a:r>
              <a:rPr lang="en-US" dirty="0">
                <a:latin typeface="Lucida Bright" panose="02040602050505020304" pitchFamily="18" charset="0"/>
              </a:rPr>
              <a:t> </a:t>
            </a:r>
            <a:r>
              <a:rPr lang="en-US" dirty="0" err="1">
                <a:latin typeface="Lucida Bright" panose="02040602050505020304" pitchFamily="18" charset="0"/>
              </a:rPr>
              <a:t>Torvalds</a:t>
            </a:r>
            <a:r>
              <a:rPr lang="en-US" dirty="0">
                <a:latin typeface="Lucida Bright" panose="02040602050505020304" pitchFamily="18" charset="0"/>
              </a:rPr>
              <a:t> in 1991.</a:t>
            </a:r>
          </a:p>
          <a:p>
            <a:pPr>
              <a:buFont typeface="Arial" panose="020B0604020202020204" pitchFamily="34" charset="0"/>
              <a:buChar char="•"/>
            </a:pPr>
            <a:r>
              <a:rPr lang="en-US" dirty="0">
                <a:latin typeface="Lucida Bright" panose="02040602050505020304" pitchFamily="18" charset="0"/>
              </a:rPr>
              <a:t>  LINUX is a open source.</a:t>
            </a:r>
          </a:p>
          <a:p>
            <a:pPr>
              <a:buFont typeface="Arial" panose="020B0604020202020204" pitchFamily="34" charset="0"/>
              <a:buChar char="•"/>
            </a:pPr>
            <a:r>
              <a:rPr lang="en-US" dirty="0">
                <a:latin typeface="Lucida Bright" panose="02040602050505020304" pitchFamily="18" charset="0"/>
              </a:rPr>
              <a:t>  LINUX is a variant of UNIX.</a:t>
            </a:r>
          </a:p>
          <a:p>
            <a:r>
              <a:rPr lang="en-US" dirty="0">
                <a:latin typeface="Lucida Bright" panose="02040602050505020304" pitchFamily="18" charset="0"/>
              </a:rPr>
              <a:t> </a:t>
            </a:r>
          </a:p>
          <a:p>
            <a:endParaRPr lang="en-US" dirty="0">
              <a:latin typeface="Lucida Bright" panose="02040602050505020304" pitchFamily="18" charset="0"/>
            </a:endParaRPr>
          </a:p>
        </p:txBody>
      </p:sp>
      <p:sp>
        <p:nvSpPr>
          <p:cNvPr id="15364"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b="1" dirty="0" smtClean="0"/>
          </a:p>
          <a:p>
            <a:pPr algn="ctr">
              <a:lnSpc>
                <a:spcPct val="150000"/>
              </a:lnSpc>
            </a:pPr>
            <a:r>
              <a:rPr lang="en-US" sz="4000" b="1" dirty="0" smtClean="0"/>
              <a:t>Introduction</a:t>
            </a:r>
            <a:endParaRPr lang="en-US" sz="2400" dirty="0" smtClean="0"/>
          </a:p>
          <a:p>
            <a:pPr algn="ctr">
              <a:lnSpc>
                <a:spcPct val="150000"/>
              </a:lnSpc>
            </a:pPr>
            <a:endParaRPr lang="en-US" sz="40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a:latin typeface="Lucida Sans Unicode" panose="020B0602030504020204" pitchFamily="34" charset="0"/>
            </a:endParaRPr>
          </a:p>
        </p:txBody>
      </p:sp>
      <p:sp>
        <p:nvSpPr>
          <p:cNvPr id="16388" name="Text Box 3"/>
          <p:cNvSpPr txBox="1">
            <a:spLocks noChangeArrowheads="1"/>
          </p:cNvSpPr>
          <p:nvPr/>
        </p:nvSpPr>
        <p:spPr bwMode="auto">
          <a:xfrm>
            <a:off x="228600" y="0"/>
            <a:ext cx="8915400" cy="1824923"/>
          </a:xfrm>
          <a:prstGeom prst="rect">
            <a:avLst/>
          </a:prstGeom>
          <a:noFill/>
          <a:ln w="9525">
            <a:noFill/>
            <a:miter lim="800000"/>
          </a:ln>
        </p:spPr>
        <p:txBody>
          <a:bodyPr>
            <a:spAutoFit/>
          </a:bodyPr>
          <a:lstStyle/>
          <a:p>
            <a:pPr algn="ctr">
              <a:lnSpc>
                <a:spcPct val="150000"/>
              </a:lnSpc>
            </a:pPr>
            <a:r>
              <a:rPr lang="en-US" sz="4000" b="1" dirty="0" smtClean="0"/>
              <a:t>Introduction</a:t>
            </a:r>
            <a:endParaRPr lang="en-US" sz="2400" dirty="0" smtClean="0"/>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304800" y="1066800"/>
            <a:ext cx="8686800" cy="5216813"/>
          </a:xfrm>
          <a:prstGeom prst="rect">
            <a:avLst/>
          </a:prstGeom>
          <a:noFill/>
          <a:ln w="9525">
            <a:noFill/>
            <a:miter lim="800000"/>
          </a:ln>
          <a:effectLst/>
        </p:spPr>
        <p:txBody>
          <a:bodyPr anchor="ctr">
            <a:spAutoFit/>
          </a:bodyPr>
          <a:lstStyle/>
          <a:p>
            <a:pPr>
              <a:lnSpc>
                <a:spcPct val="150000"/>
              </a:lnSpc>
              <a:defRPr/>
            </a:pPr>
            <a:r>
              <a:rPr lang="en-US" dirty="0" smtClean="0">
                <a:latin typeface="Lucida Bright" panose="02040602050505020304" pitchFamily="18" charset="0"/>
                <a:cs typeface="Arial" panose="020B0604020202020204" pitchFamily="34" charset="0"/>
              </a:rPr>
              <a:t>1.3  </a:t>
            </a:r>
            <a:r>
              <a:rPr lang="en-US" dirty="0">
                <a:latin typeface="Lucida Bright" panose="02040602050505020304" pitchFamily="18" charset="0"/>
                <a:cs typeface="Arial" panose="020B0604020202020204" pitchFamily="34" charset="0"/>
              </a:rPr>
              <a:t>Why LINUX/UNIX?</a:t>
            </a:r>
          </a:p>
          <a:p>
            <a:pPr>
              <a:lnSpc>
                <a:spcPct val="150000"/>
              </a:lnSpc>
              <a:defRPr/>
            </a:pPr>
            <a:r>
              <a:rPr lang="en-US" dirty="0">
                <a:latin typeface="Lucida Bright" panose="02040602050505020304" pitchFamily="18" charset="0"/>
                <a:cs typeface="Arial" panose="020B0604020202020204" pitchFamily="34" charset="0"/>
              </a:rPr>
              <a:t> </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LINUX is free.</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Can view and edit the source code of OS</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It is fully customizable.</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Most Important Feature is Stability</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a:t>
            </a:r>
            <a:r>
              <a:rPr lang="en-US" dirty="0" smtClean="0">
                <a:latin typeface="Lucida Bright" panose="02040602050505020304" pitchFamily="18" charset="0"/>
                <a:cs typeface="Arial" panose="020B0604020202020204" pitchFamily="34" charset="0"/>
              </a:rPr>
              <a:t>Important </a:t>
            </a:r>
            <a:r>
              <a:rPr lang="en-US" dirty="0">
                <a:latin typeface="Lucida Bright" panose="02040602050505020304" pitchFamily="18" charset="0"/>
                <a:cs typeface="Arial" panose="020B0604020202020204" pitchFamily="34" charset="0"/>
              </a:rPr>
              <a:t>in shared environments and critical applications</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LINUX has better security structure.</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High Portability</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Easy to port new H/W Platform</a:t>
            </a:r>
          </a:p>
          <a:p>
            <a:pPr>
              <a:lnSpc>
                <a:spcPct val="150000"/>
              </a:lnSpc>
              <a:buFont typeface="Arial" panose="020B0604020202020204" pitchFamily="34" charset="0"/>
              <a:buChar char="•"/>
              <a:defRPr/>
            </a:pPr>
            <a:r>
              <a:rPr lang="en-US" dirty="0">
                <a:latin typeface="Lucida Bright" panose="02040602050505020304" pitchFamily="18" charset="0"/>
                <a:cs typeface="Arial" panose="020B0604020202020204" pitchFamily="34" charset="0"/>
              </a:rPr>
              <a:t>  Written in C which is highly portable</a:t>
            </a:r>
          </a:p>
          <a:p>
            <a:pPr algn="just" fontAlgn="auto">
              <a:lnSpc>
                <a:spcPct val="150000"/>
              </a:lnSpc>
              <a:spcBef>
                <a:spcPts val="0"/>
              </a:spcBef>
              <a:spcAft>
                <a:spcPts val="0"/>
              </a:spcAft>
              <a:defRPr/>
            </a:pPr>
            <a:endParaRPr lang="en-US" sz="2400" i="1" dirty="0">
              <a:effectLst>
                <a:outerShdw blurRad="38100" dist="38100" dir="2700000" algn="tl">
                  <a:srgbClr val="C0C0C0"/>
                </a:outerShdw>
              </a:effectLst>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17412" name="TextBox 10"/>
          <p:cNvSpPr txBox="1">
            <a:spLocks noChangeArrowheads="1"/>
          </p:cNvSpPr>
          <p:nvPr/>
        </p:nvSpPr>
        <p:spPr bwMode="auto">
          <a:xfrm>
            <a:off x="304800" y="914400"/>
            <a:ext cx="8229600" cy="6246376"/>
          </a:xfrm>
          <a:prstGeom prst="rect">
            <a:avLst/>
          </a:prstGeom>
          <a:noFill/>
          <a:ln w="9525">
            <a:noFill/>
            <a:miter lim="800000"/>
          </a:ln>
        </p:spPr>
        <p:txBody>
          <a:bodyPr wrap="square">
            <a:spAutoFit/>
          </a:bodyPr>
          <a:lstStyle/>
          <a:p>
            <a:pPr marL="347980" indent="-347980">
              <a:spcAft>
                <a:spcPts val="1200"/>
              </a:spcAft>
            </a:pPr>
            <a:r>
              <a:rPr lang="en-US" dirty="0">
                <a:latin typeface="Lucida Bright" panose="02040602050505020304" pitchFamily="18" charset="0"/>
              </a:rPr>
              <a:t>File handling Utilities can be classified  in to following </a:t>
            </a:r>
            <a:r>
              <a:rPr lang="en-US" dirty="0" smtClean="0">
                <a:latin typeface="Lucida Bright" panose="02040602050505020304" pitchFamily="18" charset="0"/>
              </a:rPr>
              <a:t>categories </a:t>
            </a:r>
            <a:r>
              <a:rPr lang="en-US" dirty="0">
                <a:latin typeface="Lucida Bright" panose="02040602050505020304" pitchFamily="18" charset="0"/>
              </a:rPr>
              <a:t>They are ,</a:t>
            </a:r>
          </a:p>
          <a:p>
            <a:pPr marL="347980" indent="-347980">
              <a:spcAft>
                <a:spcPts val="1200"/>
              </a:spcAft>
              <a:buFontTx/>
              <a:buAutoNum type="arabicParenR"/>
            </a:pPr>
            <a:r>
              <a:rPr lang="en-US" dirty="0">
                <a:latin typeface="Lucida Bright" panose="02040602050505020304" pitchFamily="18" charset="0"/>
              </a:rPr>
              <a:t>File creating and deleting </a:t>
            </a:r>
          </a:p>
          <a:p>
            <a:pPr marL="347980" indent="-347980">
              <a:spcAft>
                <a:spcPts val="1200"/>
              </a:spcAft>
              <a:buFontTx/>
              <a:buAutoNum type="arabicParenR"/>
            </a:pPr>
            <a:r>
              <a:rPr lang="en-US" dirty="0">
                <a:latin typeface="Lucida Bright" panose="02040602050505020304" pitchFamily="18" charset="0"/>
              </a:rPr>
              <a:t>File naming or renaming</a:t>
            </a:r>
          </a:p>
          <a:p>
            <a:pPr marL="347980" indent="-347980">
              <a:spcAft>
                <a:spcPts val="1200"/>
              </a:spcAft>
              <a:buFontTx/>
              <a:buAutoNum type="arabicParenR"/>
            </a:pPr>
            <a:r>
              <a:rPr lang="en-US" dirty="0">
                <a:latin typeface="Lucida Bright" panose="02040602050505020304" pitchFamily="18" charset="0"/>
              </a:rPr>
              <a:t>Editing files</a:t>
            </a:r>
          </a:p>
          <a:p>
            <a:pPr marL="347980" indent="-347980">
              <a:spcAft>
                <a:spcPts val="1200"/>
              </a:spcAft>
              <a:buFontTx/>
              <a:buAutoNum type="arabicParenR"/>
            </a:pPr>
            <a:r>
              <a:rPr lang="en-US" dirty="0">
                <a:latin typeface="Lucida Bright" panose="02040602050505020304" pitchFamily="18" charset="0"/>
              </a:rPr>
              <a:t>File access permissions</a:t>
            </a:r>
          </a:p>
          <a:p>
            <a:pPr marL="347980" indent="-347980">
              <a:spcAft>
                <a:spcPts val="1200"/>
              </a:spcAft>
            </a:pPr>
            <a:endParaRPr lang="en-US" dirty="0" smtClean="0">
              <a:latin typeface="Lucida Bright" panose="02040602050505020304" pitchFamily="18" charset="0"/>
            </a:endParaRPr>
          </a:p>
          <a:p>
            <a:pPr marL="347980" indent="-347980">
              <a:spcAft>
                <a:spcPts val="1200"/>
              </a:spcAft>
            </a:pPr>
            <a:r>
              <a:rPr lang="en-US" dirty="0" smtClean="0">
                <a:latin typeface="Lucida Bright" panose="02040602050505020304" pitchFamily="18" charset="0"/>
              </a:rPr>
              <a:t>1</a:t>
            </a:r>
            <a:r>
              <a:rPr lang="en-US" dirty="0">
                <a:latin typeface="Lucida Bright" panose="02040602050505020304" pitchFamily="18" charset="0"/>
              </a:rPr>
              <a:t>) File creating and deleting </a:t>
            </a:r>
          </a:p>
          <a:p>
            <a:pPr marL="347980" indent="-347980">
              <a:spcAft>
                <a:spcPts val="1200"/>
              </a:spcAft>
            </a:pPr>
            <a:r>
              <a:rPr lang="en-US" dirty="0">
                <a:latin typeface="Lucida Bright" panose="02040602050505020304" pitchFamily="18" charset="0"/>
              </a:rPr>
              <a:t>Commands for creating and deleting the files are cat and </a:t>
            </a:r>
            <a:r>
              <a:rPr lang="en-US" dirty="0" err="1">
                <a:latin typeface="Lucida Bright" panose="02040602050505020304" pitchFamily="18" charset="0"/>
              </a:rPr>
              <a:t>rm</a:t>
            </a:r>
            <a:r>
              <a:rPr lang="en-US" dirty="0">
                <a:latin typeface="Lucida Bright" panose="02040602050505020304" pitchFamily="18" charset="0"/>
              </a:rPr>
              <a:t> respectively.</a:t>
            </a:r>
          </a:p>
          <a:p>
            <a:pPr marL="347980" indent="-347980">
              <a:spcAft>
                <a:spcPts val="1200"/>
              </a:spcAft>
            </a:pPr>
            <a:r>
              <a:rPr lang="en-US" dirty="0">
                <a:latin typeface="Lucida Bright" panose="02040602050505020304" pitchFamily="18" charset="0"/>
              </a:rPr>
              <a:t>Creating: $ cat &gt; file1</a:t>
            </a:r>
          </a:p>
          <a:p>
            <a:pPr marL="347980" indent="-347980">
              <a:spcAft>
                <a:spcPts val="1200"/>
              </a:spcAft>
            </a:pPr>
            <a:r>
              <a:rPr lang="en-US" dirty="0">
                <a:latin typeface="Lucida Bright" panose="02040602050505020304" pitchFamily="18" charset="0"/>
              </a:rPr>
              <a:t>Enter your text</a:t>
            </a:r>
          </a:p>
          <a:p>
            <a:pPr marL="347980" indent="-347980">
              <a:spcAft>
                <a:spcPts val="1200"/>
              </a:spcAft>
            </a:pPr>
            <a:r>
              <a:rPr lang="en-US" dirty="0" err="1">
                <a:latin typeface="Lucida Bright" panose="02040602050505020304" pitchFamily="18" charset="0"/>
              </a:rPr>
              <a:t>Ctrl+d</a:t>
            </a:r>
            <a:endParaRPr lang="en-US" dirty="0">
              <a:latin typeface="Lucida Bright" panose="02040602050505020304" pitchFamily="18" charset="0"/>
            </a:endParaRPr>
          </a:p>
          <a:p>
            <a:pPr marL="347980" indent="-347980">
              <a:spcAft>
                <a:spcPts val="1200"/>
              </a:spcAft>
            </a:pPr>
            <a:r>
              <a:rPr lang="en-US" dirty="0">
                <a:latin typeface="Lucida Bright" panose="02040602050505020304" pitchFamily="18" charset="0"/>
              </a:rPr>
              <a:t>The file1 has been created</a:t>
            </a:r>
          </a:p>
          <a:p>
            <a:pPr marL="347980" indent="-347980">
              <a:spcAft>
                <a:spcPts val="1200"/>
              </a:spcAft>
            </a:pPr>
            <a:endParaRPr lang="en-US" dirty="0">
              <a:latin typeface="Lucida Bright" panose="02040602050505020304" pitchFamily="18" charset="0"/>
            </a:endParaRPr>
          </a:p>
        </p:txBody>
      </p:sp>
      <p:sp>
        <p:nvSpPr>
          <p:cNvPr id="1741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File </a:t>
            </a:r>
            <a:r>
              <a:rPr lang="en-US" sz="4000" b="1" dirty="0"/>
              <a:t>Handling </a:t>
            </a:r>
            <a:r>
              <a:rPr lang="en-US" sz="4000" b="1" dirty="0" smtClean="0"/>
              <a:t>Utilities</a:t>
            </a:r>
            <a:endParaRPr lang="en-US" sz="2400" dirty="0" smtClean="0"/>
          </a:p>
          <a:p>
            <a:pPr algn="ctr"/>
            <a:endParaRPr lang="en-US" sz="40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rot="5400000">
            <a:off x="2667794" y="403780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6286501" y="4533900"/>
            <a:ext cx="228600" cy="3175"/>
          </a:xfrm>
          <a:prstGeom prst="line">
            <a:avLst/>
          </a:prstGeom>
        </p:spPr>
        <p:style>
          <a:lnRef idx="1">
            <a:schemeClr val="accent1"/>
          </a:lnRef>
          <a:fillRef idx="0">
            <a:schemeClr val="accent1"/>
          </a:fillRef>
          <a:effectRef idx="0">
            <a:schemeClr val="accent1"/>
          </a:effectRef>
          <a:fontRef idx="minor">
            <a:schemeClr val="tx1"/>
          </a:fontRef>
        </p:style>
      </p:cxnSp>
      <p:sp>
        <p:nvSpPr>
          <p:cNvPr id="18436"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File </a:t>
            </a:r>
            <a:r>
              <a:rPr lang="en-US" sz="4000" b="1" dirty="0"/>
              <a:t>Handling </a:t>
            </a:r>
            <a:r>
              <a:rPr lang="en-US" sz="4000" b="1" dirty="0" smtClean="0"/>
              <a:t>Utilities </a:t>
            </a:r>
            <a:endParaRPr lang="en-US" sz="4000" b="1" dirty="0"/>
          </a:p>
        </p:txBody>
      </p:sp>
      <p:sp>
        <p:nvSpPr>
          <p:cNvPr id="18437" name="Rectangle 34"/>
          <p:cNvSpPr>
            <a:spLocks noChangeArrowheads="1"/>
          </p:cNvSpPr>
          <p:nvPr/>
        </p:nvSpPr>
        <p:spPr bwMode="auto">
          <a:xfrm>
            <a:off x="304800" y="914400"/>
            <a:ext cx="8610600" cy="6338888"/>
          </a:xfrm>
          <a:prstGeom prst="rect">
            <a:avLst/>
          </a:prstGeom>
          <a:noFill/>
          <a:ln w="9525">
            <a:noFill/>
            <a:miter lim="800000"/>
          </a:ln>
        </p:spPr>
        <p:txBody>
          <a:bodyPr wrap="square">
            <a:spAutoFit/>
          </a:bodyPr>
          <a:lstStyle/>
          <a:p>
            <a:r>
              <a:rPr lang="en-US" dirty="0">
                <a:latin typeface="Lucida Bright" panose="02040602050505020304" pitchFamily="18" charset="0"/>
              </a:rPr>
              <a:t>Deleting:$ </a:t>
            </a:r>
            <a:r>
              <a:rPr lang="en-US" dirty="0" err="1">
                <a:latin typeface="Lucida Bright" panose="02040602050505020304" pitchFamily="18" charset="0"/>
              </a:rPr>
              <a:t>rm</a:t>
            </a:r>
            <a:r>
              <a:rPr lang="en-US" dirty="0">
                <a:latin typeface="Lucida Bright" panose="02040602050505020304" pitchFamily="18" charset="0"/>
              </a:rPr>
              <a:t> file1</a:t>
            </a:r>
          </a:p>
          <a:p>
            <a:r>
              <a:rPr lang="en-US" dirty="0">
                <a:latin typeface="Lucida Bright" panose="02040602050505020304" pitchFamily="18" charset="0"/>
              </a:rPr>
              <a:t>The file1 has been deleted</a:t>
            </a:r>
          </a:p>
          <a:p>
            <a:endParaRPr lang="en-US" dirty="0">
              <a:latin typeface="Lucida Bright" panose="02040602050505020304" pitchFamily="18" charset="0"/>
            </a:endParaRPr>
          </a:p>
          <a:p>
            <a:r>
              <a:rPr lang="en-US" dirty="0">
                <a:latin typeface="Lucida Bright" panose="02040602050505020304" pitchFamily="18" charset="0"/>
              </a:rPr>
              <a:t>2) File naming or renaming</a:t>
            </a:r>
          </a:p>
          <a:p>
            <a:r>
              <a:rPr lang="en-US" dirty="0">
                <a:latin typeface="Lucida Bright" panose="02040602050505020304" pitchFamily="18" charset="0"/>
              </a:rPr>
              <a:t>     Unix support following command for renaming the file as,</a:t>
            </a:r>
          </a:p>
          <a:p>
            <a:r>
              <a:rPr lang="en-US" dirty="0">
                <a:latin typeface="Lucida Bright" panose="02040602050505020304" pitchFamily="18" charset="0"/>
              </a:rPr>
              <a:t>      $ </a:t>
            </a:r>
            <a:r>
              <a:rPr lang="en-US" dirty="0" err="1">
                <a:latin typeface="Lucida Bright" panose="02040602050505020304" pitchFamily="18" charset="0"/>
              </a:rPr>
              <a:t>mv</a:t>
            </a:r>
            <a:r>
              <a:rPr lang="en-US" dirty="0">
                <a:latin typeface="Lucida Bright" panose="02040602050505020304" pitchFamily="18" charset="0"/>
              </a:rPr>
              <a:t> file1 </a:t>
            </a:r>
            <a:r>
              <a:rPr lang="en-US" dirty="0" err="1">
                <a:latin typeface="Lucida Bright" panose="02040602050505020304" pitchFamily="18" charset="0"/>
              </a:rPr>
              <a:t>newfile</a:t>
            </a:r>
            <a:r>
              <a:rPr lang="en-US" dirty="0">
                <a:latin typeface="Lucida Bright" panose="02040602050505020304" pitchFamily="18" charset="0"/>
              </a:rPr>
              <a:t> </a:t>
            </a:r>
          </a:p>
          <a:p>
            <a:r>
              <a:rPr lang="en-US" dirty="0">
                <a:latin typeface="Lucida Bright" panose="02040602050505020304" pitchFamily="18" charset="0"/>
              </a:rPr>
              <a:t>      file1 renamed as </a:t>
            </a:r>
            <a:r>
              <a:rPr lang="en-US" dirty="0" err="1">
                <a:latin typeface="Lucida Bright" panose="02040602050505020304" pitchFamily="18" charset="0"/>
              </a:rPr>
              <a:t>newfile</a:t>
            </a:r>
            <a:endParaRPr lang="en-US" dirty="0">
              <a:latin typeface="Lucida Bright" panose="02040602050505020304" pitchFamily="18" charset="0"/>
            </a:endParaRPr>
          </a:p>
          <a:p>
            <a:r>
              <a:rPr lang="en-US" dirty="0">
                <a:latin typeface="Lucida Bright" panose="02040602050505020304" pitchFamily="18" charset="0"/>
              </a:rPr>
              <a:t>3) Editing files</a:t>
            </a:r>
          </a:p>
          <a:p>
            <a:r>
              <a:rPr lang="en-US" dirty="0">
                <a:latin typeface="Lucida Bright" panose="02040602050505020304" pitchFamily="18" charset="0"/>
              </a:rPr>
              <a:t>     Unix operating system  allows the user to edit a file, with the help of vi   editor. The user can append the data, update the existing data by using    different commands of vi editor. </a:t>
            </a:r>
          </a:p>
          <a:p>
            <a:r>
              <a:rPr lang="en-US" dirty="0">
                <a:latin typeface="Lucida Bright" panose="02040602050505020304" pitchFamily="18" charset="0"/>
              </a:rPr>
              <a:t> </a:t>
            </a:r>
            <a:r>
              <a:rPr lang="en-US" b="1" dirty="0">
                <a:latin typeface="Lucida Bright" panose="02040602050505020304" pitchFamily="18" charset="0"/>
              </a:rPr>
              <a:t>old file</a:t>
            </a:r>
            <a:r>
              <a:rPr lang="en-US" dirty="0">
                <a:latin typeface="Lucida Bright" panose="02040602050505020304" pitchFamily="18" charset="0"/>
              </a:rPr>
              <a:t>:$ vi f1.txt   (edit the file)</a:t>
            </a:r>
          </a:p>
          <a:p>
            <a:r>
              <a:rPr lang="en-US" dirty="0">
                <a:latin typeface="Lucida Bright" panose="02040602050505020304" pitchFamily="18" charset="0"/>
              </a:rPr>
              <a:t>     </a:t>
            </a:r>
            <a:r>
              <a:rPr lang="en-US" dirty="0" err="1">
                <a:latin typeface="Lucida Bright" panose="02040602050505020304" pitchFamily="18" charset="0"/>
              </a:rPr>
              <a:t>kljdf</a:t>
            </a:r>
            <a:r>
              <a:rPr lang="en-US" dirty="0">
                <a:latin typeface="Lucida Bright" panose="02040602050505020304" pitchFamily="18" charset="0"/>
              </a:rPr>
              <a:t> </a:t>
            </a:r>
            <a:r>
              <a:rPr lang="en-US" dirty="0" err="1">
                <a:latin typeface="Lucida Bright" panose="02040602050505020304" pitchFamily="18" charset="0"/>
              </a:rPr>
              <a:t>jfd</a:t>
            </a:r>
            <a:endParaRPr lang="en-US" dirty="0">
              <a:latin typeface="Lucida Bright" panose="02040602050505020304" pitchFamily="18" charset="0"/>
            </a:endParaRPr>
          </a:p>
          <a:p>
            <a:r>
              <a:rPr lang="en-US" dirty="0" err="1">
                <a:latin typeface="Lucida Bright" panose="02040602050505020304" pitchFamily="18" charset="0"/>
              </a:rPr>
              <a:t>Kjgf</a:t>
            </a:r>
            <a:r>
              <a:rPr lang="en-US" dirty="0">
                <a:latin typeface="Lucida Bright" panose="02040602050505020304" pitchFamily="18" charset="0"/>
              </a:rPr>
              <a:t> </a:t>
            </a:r>
            <a:r>
              <a:rPr lang="en-US" dirty="0" err="1">
                <a:latin typeface="Lucida Bright" panose="02040602050505020304" pitchFamily="18" charset="0"/>
              </a:rPr>
              <a:t>jhkfg</a:t>
            </a:r>
            <a:endParaRPr lang="en-US" dirty="0">
              <a:latin typeface="Lucida Bright" panose="02040602050505020304" pitchFamily="18" charset="0"/>
            </a:endParaRPr>
          </a:p>
          <a:p>
            <a:r>
              <a:rPr lang="en-US" b="1" dirty="0" err="1">
                <a:latin typeface="Lucida Bright" panose="02040602050505020304" pitchFamily="18" charset="0"/>
              </a:rPr>
              <a:t>Newfile</a:t>
            </a:r>
            <a:r>
              <a:rPr lang="en-US" b="1" dirty="0">
                <a:latin typeface="Lucida Bright" panose="02040602050505020304" pitchFamily="18" charset="0"/>
              </a:rPr>
              <a:t>:</a:t>
            </a:r>
            <a:r>
              <a:rPr lang="en-US" dirty="0">
                <a:latin typeface="Lucida Bright" panose="02040602050505020304" pitchFamily="18" charset="0"/>
              </a:rPr>
              <a:t>$ cat f1.txt  (appending new line)</a:t>
            </a:r>
          </a:p>
          <a:p>
            <a:r>
              <a:rPr lang="en-US" dirty="0">
                <a:latin typeface="Lucida Bright" panose="02040602050505020304" pitchFamily="18" charset="0"/>
              </a:rPr>
              <a:t>   </a:t>
            </a:r>
            <a:r>
              <a:rPr lang="en-US" dirty="0" err="1">
                <a:latin typeface="Lucida Bright" panose="02040602050505020304" pitchFamily="18" charset="0"/>
              </a:rPr>
              <a:t>kljdf</a:t>
            </a:r>
            <a:r>
              <a:rPr lang="en-US" dirty="0">
                <a:latin typeface="Lucida Bright" panose="02040602050505020304" pitchFamily="18" charset="0"/>
              </a:rPr>
              <a:t> </a:t>
            </a:r>
            <a:r>
              <a:rPr lang="en-US" dirty="0" err="1">
                <a:latin typeface="Lucida Bright" panose="02040602050505020304" pitchFamily="18" charset="0"/>
              </a:rPr>
              <a:t>jfd</a:t>
            </a:r>
            <a:endParaRPr lang="en-US" dirty="0">
              <a:latin typeface="Lucida Bright" panose="02040602050505020304" pitchFamily="18" charset="0"/>
            </a:endParaRPr>
          </a:p>
          <a:p>
            <a:r>
              <a:rPr lang="en-US" dirty="0" err="1">
                <a:latin typeface="Lucida Bright" panose="02040602050505020304" pitchFamily="18" charset="0"/>
              </a:rPr>
              <a:t>Kjgf</a:t>
            </a:r>
            <a:r>
              <a:rPr lang="en-US" dirty="0">
                <a:latin typeface="Lucida Bright" panose="02040602050505020304" pitchFamily="18" charset="0"/>
              </a:rPr>
              <a:t> </a:t>
            </a:r>
            <a:r>
              <a:rPr lang="en-US" dirty="0" err="1">
                <a:latin typeface="Lucida Bright" panose="02040602050505020304" pitchFamily="18" charset="0"/>
              </a:rPr>
              <a:t>jhkfg</a:t>
            </a:r>
            <a:endParaRPr lang="en-US" dirty="0">
              <a:latin typeface="Lucida Bright" panose="02040602050505020304" pitchFamily="18" charset="0"/>
            </a:endParaRPr>
          </a:p>
          <a:p>
            <a:r>
              <a:rPr lang="en-US" dirty="0" err="1">
                <a:latin typeface="Lucida Bright" panose="02040602050505020304" pitchFamily="18" charset="0"/>
              </a:rPr>
              <a:t>Hipo;iopte</a:t>
            </a:r>
            <a:endParaRPr lang="en-US" dirty="0">
              <a:latin typeface="Lucida Bright" panose="02040602050505020304" pitchFamily="18" charset="0"/>
            </a:endParaRPr>
          </a:p>
          <a:p>
            <a:r>
              <a:rPr lang="en-US" dirty="0">
                <a:latin typeface="Lucida Bright" panose="02040602050505020304" pitchFamily="18" charset="0"/>
              </a:rPr>
              <a:t>4) File access permissions</a:t>
            </a:r>
          </a:p>
          <a:p>
            <a:r>
              <a:rPr lang="en-US" dirty="0">
                <a:latin typeface="Lucida Bright" panose="02040602050505020304" pitchFamily="18" charset="0"/>
              </a:rPr>
              <a:t>     Unix operating system supports three types of users. They are,</a:t>
            </a:r>
          </a:p>
          <a:p>
            <a:r>
              <a:rPr lang="en-US" dirty="0">
                <a:latin typeface="Lucida Bright" panose="02040602050505020304" pitchFamily="18" charset="0"/>
              </a:rPr>
              <a:t> 	</a:t>
            </a:r>
          </a:p>
          <a:p>
            <a:r>
              <a:rPr lang="en-US" dirty="0">
                <a:latin typeface="Lucida Bright" panose="02040602050505020304" pitchFamily="18" charset="0"/>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File </a:t>
            </a:r>
            <a:r>
              <a:rPr lang="en-US" sz="4000" b="1" dirty="0"/>
              <a:t>Handling </a:t>
            </a:r>
            <a:r>
              <a:rPr lang="en-US" sz="4000" b="1" dirty="0" smtClean="0"/>
              <a:t>Utilities </a:t>
            </a:r>
            <a:endParaRPr lang="en-US" sz="2400" dirty="0" smtClean="0"/>
          </a:p>
          <a:p>
            <a:pPr algn="ctr"/>
            <a:endParaRPr lang="en-US" sz="4000" b="1" dirty="0"/>
          </a:p>
        </p:txBody>
      </p:sp>
      <p:sp>
        <p:nvSpPr>
          <p:cNvPr id="19459" name="Content Placeholder 56"/>
          <p:cNvSpPr>
            <a:spLocks noGrp="1"/>
          </p:cNvSpPr>
          <p:nvPr>
            <p:ph sz="quarter" idx="3"/>
          </p:nvPr>
        </p:nvSpPr>
        <p:spPr>
          <a:xfrm>
            <a:off x="228600" y="1066800"/>
            <a:ext cx="8763000" cy="5638800"/>
          </a:xfrm>
        </p:spPr>
        <p:txBody>
          <a:bodyPr/>
          <a:lstStyle/>
          <a:p>
            <a:pPr marL="400050" indent="-400050">
              <a:lnSpc>
                <a:spcPct val="150000"/>
              </a:lnSpc>
              <a:buFont typeface="Arial" panose="020B0604020202020204" pitchFamily="34" charset="0"/>
              <a:buAutoNum type="romanLcParenR"/>
            </a:pPr>
            <a:r>
              <a:rPr lang="en-US" sz="1800" dirty="0" smtClean="0">
                <a:latin typeface="Lucida Bright" panose="02040602050505020304" pitchFamily="18" charset="0"/>
              </a:rPr>
              <a:t>Owner 	 ii)Group  	 iii) others</a:t>
            </a:r>
          </a:p>
          <a:p>
            <a:pPr marL="400050" indent="-400050">
              <a:lnSpc>
                <a:spcPct val="150000"/>
              </a:lnSpc>
              <a:buFont typeface="Arial" panose="020B0604020202020204" pitchFamily="34" charset="0"/>
              <a:buNone/>
            </a:pPr>
            <a:r>
              <a:rPr lang="en-US" sz="1800" dirty="0" smtClean="0">
                <a:latin typeface="Lucida Bright" panose="02040602050505020304" pitchFamily="18" charset="0"/>
              </a:rPr>
              <a:t>Unix file system has three different file access permissions. They are,</a:t>
            </a:r>
          </a:p>
          <a:p>
            <a:pPr marL="400050" indent="-400050">
              <a:lnSpc>
                <a:spcPct val="150000"/>
              </a:lnSpc>
              <a:buFont typeface="Arial" panose="020B0604020202020204" pitchFamily="34" charset="0"/>
              <a:buAutoNum type="romanLcParenR"/>
            </a:pPr>
            <a:r>
              <a:rPr lang="en-US" sz="1800" dirty="0" smtClean="0">
                <a:latin typeface="Lucida Bright" panose="02040602050505020304" pitchFamily="18" charset="0"/>
              </a:rPr>
              <a:t>Read 		ii) Write		iii) Execute</a:t>
            </a:r>
          </a:p>
          <a:p>
            <a:pPr marL="400050" indent="-400050">
              <a:lnSpc>
                <a:spcPct val="150000"/>
              </a:lnSpc>
              <a:buFont typeface="Arial" panose="020B0604020202020204" pitchFamily="34" charset="0"/>
              <a:buNone/>
            </a:pPr>
            <a:r>
              <a:rPr lang="en-US" sz="1800" dirty="0" smtClean="0">
                <a:latin typeface="Lucida Bright" panose="02040602050505020304" pitchFamily="18" charset="0"/>
              </a:rPr>
              <a:t>The  combination of file access permissions can be applied on above users by using </a:t>
            </a:r>
            <a:r>
              <a:rPr lang="en-US" sz="1800" b="1" dirty="0" err="1" smtClean="0">
                <a:latin typeface="Lucida Bright" panose="02040602050505020304" pitchFamily="18" charset="0"/>
              </a:rPr>
              <a:t>chmod</a:t>
            </a:r>
            <a:r>
              <a:rPr lang="en-US" sz="1800" dirty="0" smtClean="0">
                <a:latin typeface="Lucida Bright" panose="02040602050505020304" pitchFamily="18" charset="0"/>
              </a:rPr>
              <a:t> command </a:t>
            </a:r>
          </a:p>
          <a:p>
            <a:pPr marL="400050" indent="-400050">
              <a:lnSpc>
                <a:spcPct val="150000"/>
              </a:lnSpc>
              <a:buFont typeface="Arial" panose="020B0604020202020204" pitchFamily="34" charset="0"/>
              <a:buNone/>
            </a:pPr>
            <a:r>
              <a:rPr lang="en-US" sz="1800" dirty="0" smtClean="0">
                <a:latin typeface="Lucida Bright" panose="02040602050505020304" pitchFamily="18" charset="0"/>
              </a:rPr>
              <a:t>Syntax:  $</a:t>
            </a:r>
            <a:r>
              <a:rPr lang="en-US" sz="1800" dirty="0" err="1" smtClean="0">
                <a:latin typeface="Lucida Bright" panose="02040602050505020304" pitchFamily="18" charset="0"/>
              </a:rPr>
              <a:t>chmod</a:t>
            </a:r>
            <a:r>
              <a:rPr lang="en-US" sz="1800" dirty="0" smtClean="0">
                <a:latin typeface="Lucida Bright" panose="02040602050505020304" pitchFamily="18" charset="0"/>
              </a:rPr>
              <a:t> a + </a:t>
            </a:r>
            <a:r>
              <a:rPr lang="en-US" sz="1800" dirty="0" err="1" smtClean="0">
                <a:latin typeface="Lucida Bright" panose="02040602050505020304" pitchFamily="18" charset="0"/>
              </a:rPr>
              <a:t>rwx</a:t>
            </a:r>
            <a:r>
              <a:rPr lang="en-US" sz="1800" dirty="0" smtClean="0">
                <a:latin typeface="Lucida Bright" panose="02040602050505020304" pitchFamily="18" charset="0"/>
              </a:rPr>
              <a:t> </a:t>
            </a:r>
            <a:r>
              <a:rPr lang="en-US" sz="1800" dirty="0" err="1" smtClean="0">
                <a:latin typeface="Lucida Bright" panose="02040602050505020304" pitchFamily="18" charset="0"/>
              </a:rPr>
              <a:t>newfile</a:t>
            </a:r>
            <a:endParaRPr lang="en-US" sz="1800" dirty="0" smtClean="0">
              <a:latin typeface="Lucida Bright" panose="02040602050505020304" pitchFamily="18" charset="0"/>
            </a:endParaRPr>
          </a:p>
          <a:p>
            <a:pPr marL="400050" indent="-400050">
              <a:lnSpc>
                <a:spcPct val="150000"/>
              </a:lnSpc>
              <a:buFont typeface="Arial" panose="020B0604020202020204" pitchFamily="34" charset="0"/>
              <a:buNone/>
            </a:pPr>
            <a:r>
              <a:rPr lang="en-US" sz="1800" dirty="0" smtClean="0">
                <a:latin typeface="Lucida Bright" panose="02040602050505020304" pitchFamily="18" charset="0"/>
              </a:rPr>
              <a:t>The new file can be accessed by any user. These file access permissions provides security for user files. In file maintaining system owner is the super user, so he can restrict other  users from accessing the files.</a:t>
            </a:r>
          </a:p>
          <a:p>
            <a:pPr marL="400050" indent="-400050">
              <a:buFont typeface="Arial" panose="020B0604020202020204" pitchFamily="34" charset="0"/>
              <a:buNone/>
            </a:pPr>
            <a:endParaRPr lang="en-US" sz="1800"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a:latin typeface="Times New Roman" panose="02020603050405020304" pitchFamily="18" charset="0"/>
              <a:cs typeface="Times New Roman" panose="02020603050405020304" pitchFamily="18" charset="0"/>
            </a:endParaRPr>
          </a:p>
        </p:txBody>
      </p:sp>
      <p:sp>
        <p:nvSpPr>
          <p:cNvPr id="20484" name="Text Box 3"/>
          <p:cNvSpPr txBox="1">
            <a:spLocks noChangeArrowheads="1"/>
          </p:cNvSpPr>
          <p:nvPr/>
        </p:nvSpPr>
        <p:spPr bwMode="auto">
          <a:xfrm>
            <a:off x="2895600" y="152400"/>
            <a:ext cx="2911374" cy="1323439"/>
          </a:xfrm>
          <a:prstGeom prst="rect">
            <a:avLst/>
          </a:prstGeom>
          <a:noFill/>
          <a:ln w="9525">
            <a:noFill/>
            <a:miter lim="800000"/>
          </a:ln>
        </p:spPr>
        <p:txBody>
          <a:bodyPr wrap="none">
            <a:spAutoFit/>
          </a:bodyPr>
          <a:lstStyle/>
          <a:p>
            <a:r>
              <a:rPr lang="en-US" sz="4000" dirty="0" smtClean="0"/>
              <a:t>Commands</a:t>
            </a:r>
            <a:endParaRPr lang="en-US" sz="2400" dirty="0" smtClean="0">
              <a:effectLst>
                <a:outerShdw blurRad="38100" dist="38100" dir="2700000" algn="tl">
                  <a:srgbClr val="C0C0C0"/>
                </a:outerShdw>
              </a:effectLst>
            </a:endParaRPr>
          </a:p>
          <a:p>
            <a:endParaRPr lang="en-US" sz="4000" dirty="0"/>
          </a:p>
        </p:txBody>
      </p:sp>
      <p:sp>
        <p:nvSpPr>
          <p:cNvPr id="20485"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Times New Roman" panose="02020603050405020304" pitchFamily="18" charset="0"/>
              <a:cs typeface="Times New Roman" panose="02020603050405020304" pitchFamily="18" charset="0"/>
            </a:endParaRPr>
          </a:p>
        </p:txBody>
      </p:sp>
      <p:sp>
        <p:nvSpPr>
          <p:cNvPr id="592901" name="Rectangle 5"/>
          <p:cNvSpPr>
            <a:spLocks noChangeArrowheads="1"/>
          </p:cNvSpPr>
          <p:nvPr/>
        </p:nvSpPr>
        <p:spPr bwMode="auto">
          <a:xfrm>
            <a:off x="304800" y="1067222"/>
            <a:ext cx="8382000" cy="6323965"/>
          </a:xfrm>
          <a:prstGeom prst="rect">
            <a:avLst/>
          </a:prstGeom>
          <a:noFill/>
          <a:ln w="9525">
            <a:noFill/>
            <a:miter lim="800000"/>
          </a:ln>
          <a:effectLst/>
        </p:spPr>
        <p:txBody>
          <a:bodyPr anchor="ctr">
            <a:spAutoFit/>
          </a:bodyPr>
          <a:lstStyle/>
          <a:p>
            <a:pPr>
              <a:lnSpc>
                <a:spcPct val="150000"/>
              </a:lnSpc>
              <a:defRPr/>
            </a:pPr>
            <a:r>
              <a:rPr lang="en-US" b="1" dirty="0" err="1">
                <a:latin typeface="Lucida Bright" panose="02040602050505020304" pitchFamily="18" charset="0"/>
                <a:cs typeface="Arial" panose="020B0604020202020204" pitchFamily="34" charset="0"/>
              </a:rPr>
              <a:t>ln</a:t>
            </a:r>
            <a:r>
              <a:rPr lang="en-US" b="1" dirty="0">
                <a:latin typeface="Lucida Bright" panose="02040602050505020304" pitchFamily="18" charset="0"/>
                <a:cs typeface="Arial" panose="020B0604020202020204" pitchFamily="34" charset="0"/>
              </a:rPr>
              <a:t> COMMAND:</a:t>
            </a:r>
            <a:r>
              <a:rPr lang="en-US" dirty="0">
                <a:latin typeface="Lucida Bright" panose="02040602050505020304" pitchFamily="18" charset="0"/>
                <a:cs typeface="Arial" panose="020B0604020202020204" pitchFamily="34" charset="0"/>
              </a:rPr>
              <a:t> </a:t>
            </a:r>
          </a:p>
          <a:p>
            <a:pPr>
              <a:lnSpc>
                <a:spcPct val="150000"/>
              </a:lnSpc>
              <a:defRPr/>
            </a:pPr>
            <a:r>
              <a:rPr lang="en-US" dirty="0" err="1">
                <a:latin typeface="Lucida Bright" panose="02040602050505020304" pitchFamily="18" charset="0"/>
                <a:cs typeface="Arial" panose="020B0604020202020204" pitchFamily="34" charset="0"/>
              </a:rPr>
              <a:t>ln</a:t>
            </a:r>
            <a:r>
              <a:rPr lang="en-US" dirty="0">
                <a:latin typeface="Lucida Bright" panose="02040602050505020304" pitchFamily="18" charset="0"/>
                <a:cs typeface="Arial" panose="020B0604020202020204" pitchFamily="34" charset="0"/>
              </a:rPr>
              <a:t> command is used to create link to a file (or) directory. </a:t>
            </a:r>
          </a:p>
          <a:p>
            <a:pPr>
              <a:lnSpc>
                <a:spcPct val="150000"/>
              </a:lnSpc>
              <a:defRPr/>
            </a:pPr>
            <a:r>
              <a:rPr lang="en-US" sz="1400" b="1" dirty="0">
                <a:latin typeface="Lucida Bright" panose="02040602050505020304" pitchFamily="18" charset="0"/>
                <a:cs typeface="Arial" panose="020B0604020202020204" pitchFamily="34" charset="0"/>
              </a:rPr>
              <a:t>SYNTAX:</a:t>
            </a: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ln</a:t>
            </a:r>
            <a:r>
              <a:rPr lang="en-US" dirty="0">
                <a:latin typeface="Lucida Bright" panose="02040602050505020304" pitchFamily="18" charset="0"/>
                <a:cs typeface="Arial" panose="020B0604020202020204" pitchFamily="34" charset="0"/>
              </a:rPr>
              <a:t> [options] </a:t>
            </a:r>
            <a:r>
              <a:rPr lang="en-US" dirty="0" err="1">
                <a:latin typeface="Lucida Bright" panose="02040602050505020304" pitchFamily="18" charset="0"/>
                <a:cs typeface="Arial" panose="020B0604020202020204" pitchFamily="34" charset="0"/>
              </a:rPr>
              <a:t>existingfile</a:t>
            </a:r>
            <a:r>
              <a:rPr lang="en-US" dirty="0">
                <a:latin typeface="Lucida Bright" panose="02040602050505020304" pitchFamily="18" charset="0"/>
                <a:cs typeface="Arial" panose="020B0604020202020204" pitchFamily="34" charset="0"/>
              </a:rPr>
              <a:t>(or directory)name Link</a:t>
            </a:r>
            <a:r>
              <a:rPr lang="en-US" dirty="0" err="1">
                <a:latin typeface="Lucida Bright" panose="02040602050505020304" pitchFamily="18" charset="0"/>
                <a:cs typeface="Arial" panose="020B0604020202020204" pitchFamily="34" charset="0"/>
              </a:rPr>
              <a:t>file</a:t>
            </a:r>
            <a:r>
              <a:rPr lang="en-US" dirty="0">
                <a:latin typeface="Lucida Bright" panose="02040602050505020304" pitchFamily="18" charset="0"/>
                <a:cs typeface="Arial" panose="020B0604020202020204" pitchFamily="34" charset="0"/>
              </a:rPr>
              <a:t>(or directory)</a:t>
            </a:r>
            <a:endParaRPr lang="en-US" dirty="0" smtClean="0">
              <a:latin typeface="Lucida Bright" panose="02040602050505020304" pitchFamily="18" charset="0"/>
              <a:cs typeface="Arial" panose="020B0604020202020204" pitchFamily="34" charset="0"/>
            </a:endParaRPr>
          </a:p>
          <a:p>
            <a:pPr>
              <a:lnSpc>
                <a:spcPct val="150000"/>
              </a:lnSpc>
              <a:defRPr/>
            </a:pPr>
            <a:r>
              <a:rPr lang="en-US" dirty="0" smtClean="0">
                <a:latin typeface="Lucida Bright" panose="02040602050505020304" pitchFamily="18" charset="0"/>
                <a:cs typeface="Arial" panose="020B0604020202020204" pitchFamily="34" charset="0"/>
              </a:rPr>
              <a:t>OPTIONS</a:t>
            </a:r>
            <a:r>
              <a:rPr lang="en-US" dirty="0">
                <a:latin typeface="Lucida Bright" panose="02040602050505020304" pitchFamily="18" charset="0"/>
                <a:cs typeface="Arial" panose="020B0604020202020204" pitchFamily="34" charset="0"/>
              </a:rPr>
              <a:t>: </a:t>
            </a:r>
          </a:p>
          <a:p>
            <a:pPr marL="457200" lvl="1" indent="457200">
              <a:lnSpc>
                <a:spcPct val="150000"/>
              </a:lnSpc>
              <a:defRPr/>
            </a:pPr>
            <a:r>
              <a:rPr lang="en-US" dirty="0" smtClean="0">
                <a:latin typeface="Lucida Bright" panose="02040602050505020304" pitchFamily="18" charset="0"/>
                <a:cs typeface="Arial" panose="020B0604020202020204" pitchFamily="34" charset="0"/>
              </a:rPr>
              <a:t>1. Soft Link(</a:t>
            </a:r>
            <a:r>
              <a:rPr lang="en-US" dirty="0" err="1" smtClean="0">
                <a:latin typeface="Lucida Bright" panose="02040602050505020304" pitchFamily="18" charset="0"/>
                <a:cs typeface="Arial" panose="020B0604020202020204" pitchFamily="34" charset="0"/>
              </a:rPr>
              <a:t>symbolic)</a:t>
            </a:r>
            <a:endParaRPr lang="en-US" dirty="0" smtClean="0">
              <a:latin typeface="Lucida Bright" panose="02040602050505020304" pitchFamily="18" charset="0"/>
              <a:cs typeface="Arial" panose="020B0604020202020204" pitchFamily="34" charset="0"/>
            </a:endParaRPr>
          </a:p>
          <a:p>
            <a:pPr marL="457200" lvl="1" indent="457200">
              <a:lnSpc>
                <a:spcPct val="150000"/>
              </a:lnSpc>
              <a:defRPr/>
            </a:pPr>
            <a:r>
              <a:rPr lang="en-US" dirty="0" smtClean="0">
                <a:latin typeface="Lucida Bright" panose="02040602050505020304" pitchFamily="18" charset="0"/>
                <a:cs typeface="Arial" panose="020B0604020202020204" pitchFamily="34" charset="0"/>
              </a:rPr>
              <a:t>2. Hard Link</a:t>
            </a:r>
          </a:p>
          <a:p>
            <a:pPr>
              <a:lnSpc>
                <a:spcPct val="150000"/>
              </a:lnSpc>
              <a:defRPr/>
            </a:pPr>
            <a:r>
              <a:rPr lang="en-US" b="1" dirty="0" smtClean="0">
                <a:latin typeface="Lucida Bright" panose="02040602050505020304" pitchFamily="18" charset="0"/>
                <a:cs typeface="Arial" panose="020B0604020202020204" pitchFamily="34" charset="0"/>
              </a:rPr>
              <a:t>1. SOFT link:</a:t>
            </a:r>
            <a:r>
              <a:rPr lang="en-US" dirty="0" smtClean="0">
                <a:latin typeface="Lucida Bright" panose="02040602050505020304" pitchFamily="18" charset="0"/>
                <a:cs typeface="Arial" panose="020B0604020202020204" pitchFamily="34" charset="0"/>
              </a:rPr>
              <a:t> it is coated by using –s option. It represents logical file some where else in the system.</a:t>
            </a:r>
          </a:p>
          <a:p>
            <a:pPr>
              <a:lnSpc>
                <a:spcPct val="150000"/>
              </a:lnSpc>
              <a:defRPr/>
            </a:pPr>
            <a:r>
              <a:rPr lang="en-US" dirty="0" smtClean="0">
                <a:latin typeface="Lucida Bright" panose="02040602050505020304" pitchFamily="18" charset="0"/>
                <a:cs typeface="Arial" panose="020B0604020202020204" pitchFamily="34" charset="0"/>
              </a:rPr>
              <a:t>Syntax: ln  -s [original filename] [link name] </a:t>
            </a:r>
          </a:p>
          <a:p>
            <a:pPr>
              <a:lnSpc>
                <a:spcPct val="150000"/>
              </a:lnSpc>
              <a:defRPr/>
            </a:pPr>
            <a:r>
              <a:rPr lang="en-US" b="1" dirty="0" smtClean="0">
                <a:latin typeface="Lucida Bright" panose="02040602050505020304" pitchFamily="18" charset="0"/>
                <a:sym typeface="+mn-ea"/>
              </a:rPr>
              <a:t>EXAMPLE</a:t>
            </a:r>
            <a:r>
              <a:rPr lang="en-US" b="1" dirty="0">
                <a:latin typeface="Lucida Bright" panose="02040602050505020304" pitchFamily="18" charset="0"/>
                <a:sym typeface="+mn-ea"/>
              </a:rPr>
              <a:t>: </a:t>
            </a:r>
            <a:endParaRPr lang="en-US" b="1" dirty="0">
              <a:latin typeface="Lucida Bright" panose="02040602050505020304" pitchFamily="18" charset="0"/>
              <a:cs typeface="Arial" panose="020B0604020202020204" pitchFamily="34" charset="0"/>
            </a:endParaRPr>
          </a:p>
          <a:p>
            <a:pPr marL="342900" indent="-342900">
              <a:lnSpc>
                <a:spcPct val="150000"/>
              </a:lnSpc>
              <a:buFontTx/>
              <a:buAutoNum type="arabicPeriod"/>
              <a:defRPr/>
            </a:pPr>
            <a:r>
              <a:rPr lang="en-US" dirty="0" err="1">
                <a:latin typeface="Lucida Bright" panose="02040602050505020304" pitchFamily="18" charset="0"/>
                <a:sym typeface="+mn-ea"/>
              </a:rPr>
              <a:t>ln</a:t>
            </a:r>
            <a:r>
              <a:rPr lang="en-US" dirty="0">
                <a:latin typeface="Lucida Bright" panose="02040602050505020304" pitchFamily="18" charset="0"/>
                <a:sym typeface="+mn-ea"/>
              </a:rPr>
              <a:t> -s file1.txt file2.txt </a:t>
            </a:r>
            <a:endParaRPr lang="en-US" dirty="0">
              <a:latin typeface="Lucida Bright" panose="02040602050505020304" pitchFamily="18" charset="0"/>
              <a:cs typeface="Arial" panose="020B0604020202020204" pitchFamily="34" charset="0"/>
            </a:endParaRPr>
          </a:p>
          <a:p>
            <a:pPr marL="342900" indent="-342900">
              <a:lnSpc>
                <a:spcPct val="150000"/>
              </a:lnSpc>
              <a:defRPr/>
            </a:pPr>
            <a:r>
              <a:rPr lang="en-US" dirty="0">
                <a:latin typeface="Lucida Bright" panose="02040602050505020304" pitchFamily="18" charset="0"/>
                <a:sym typeface="+mn-ea"/>
              </a:rPr>
              <a:t>     Creates a symbolic link to 'file1.txt' with the name of 'file2.txt'. Here </a:t>
            </a:r>
            <a:r>
              <a:rPr lang="en-US" dirty="0" err="1">
                <a:latin typeface="Lucida Bright" panose="02040602050505020304" pitchFamily="18" charset="0"/>
                <a:sym typeface="+mn-ea"/>
              </a:rPr>
              <a:t>inode</a:t>
            </a:r>
            <a:r>
              <a:rPr lang="en-US" dirty="0">
                <a:latin typeface="Lucida Bright" panose="02040602050505020304" pitchFamily="18" charset="0"/>
                <a:sym typeface="+mn-ea"/>
              </a:rPr>
              <a:t> for 'file1.txt' and 'file2.txt' will be different.</a:t>
            </a:r>
            <a:endParaRPr lang="en-US" dirty="0">
              <a:latin typeface="Lucida Bright" panose="02040602050505020304" pitchFamily="18" charset="0"/>
              <a:cs typeface="Arial" panose="020B0604020202020204" pitchFamily="34" charset="0"/>
            </a:endParaRPr>
          </a:p>
          <a:p>
            <a:pPr>
              <a:lnSpc>
                <a:spcPct val="150000"/>
              </a:lnSpc>
              <a:defRPr/>
            </a:pPr>
            <a:endParaRPr lang="en-US" dirty="0">
              <a:latin typeface="Lucida Bright" panose="02040602050505020304" pitchFamily="18" charset="0"/>
              <a:cs typeface="Arial" panose="020B0604020202020204" pitchFamily="34" charset="0"/>
            </a:endParaRPr>
          </a:p>
          <a:p>
            <a:pPr marL="514350" indent="-514350" algn="just" fontAlgn="auto">
              <a:lnSpc>
                <a:spcPct val="150000"/>
              </a:lnSpc>
              <a:spcBef>
                <a:spcPts val="0"/>
              </a:spcBef>
              <a:spcAft>
                <a:spcPts val="0"/>
              </a:spcAft>
              <a:defRPr/>
            </a:pPr>
            <a:endParaRPr lang="en-US" dirty="0">
              <a:effectLst>
                <a:outerShdw blurRad="38100" dist="38100" dir="2700000" algn="tl">
                  <a:srgbClr val="C0C0C0"/>
                </a:outerShdw>
              </a:effectLst>
              <a:latin typeface="Lucida Bright" panose="02040602050505020304" pitchFamily="18"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Commands</a:t>
            </a:r>
            <a:endParaRPr lang="en-US" sz="4000" dirty="0"/>
          </a:p>
        </p:txBody>
      </p:sp>
      <p:sp>
        <p:nvSpPr>
          <p:cNvPr id="21508" name="TextBox 4"/>
          <p:cNvSpPr txBox="1">
            <a:spLocks noChangeArrowheads="1"/>
          </p:cNvSpPr>
          <p:nvPr/>
        </p:nvSpPr>
        <p:spPr bwMode="auto">
          <a:xfrm>
            <a:off x="228600" y="990600"/>
            <a:ext cx="8458200" cy="369888"/>
          </a:xfrm>
          <a:prstGeom prst="rect">
            <a:avLst/>
          </a:prstGeom>
          <a:noFill/>
          <a:ln w="9525">
            <a:noFill/>
            <a:miter lim="800000"/>
          </a:ln>
        </p:spPr>
        <p:txBody>
          <a:bodyPr>
            <a:spAutoFit/>
          </a:bodyPr>
          <a:lstStyle/>
          <a:p>
            <a:endParaRPr lang="en-US"/>
          </a:p>
        </p:txBody>
      </p:sp>
      <p:sp>
        <p:nvSpPr>
          <p:cNvPr id="7" name="Rectangle 6"/>
          <p:cNvSpPr/>
          <p:nvPr/>
        </p:nvSpPr>
        <p:spPr>
          <a:xfrm>
            <a:off x="381000" y="1066800"/>
            <a:ext cx="8534400" cy="5492750"/>
          </a:xfrm>
          <a:prstGeom prst="rect">
            <a:avLst/>
          </a:prstGeom>
        </p:spPr>
        <p:txBody>
          <a:bodyPr>
            <a:spAutoFit/>
          </a:bodyPr>
          <a:lstStyle/>
          <a:p>
            <a:pPr>
              <a:lnSpc>
                <a:spcPct val="150000"/>
              </a:lnSpc>
              <a:defRPr/>
            </a:pPr>
            <a:r>
              <a:rPr lang="en-US" b="1" dirty="0" smtClean="0">
                <a:latin typeface="Lucida Bright" panose="02040602050505020304" pitchFamily="18" charset="0"/>
                <a:sym typeface="+mn-ea"/>
              </a:rPr>
              <a:t>1. HARD link:</a:t>
            </a:r>
            <a:r>
              <a:rPr lang="en-US" dirty="0" smtClean="0">
                <a:latin typeface="Lucida Bright" panose="02040602050505020304" pitchFamily="18" charset="0"/>
                <a:sym typeface="+mn-ea"/>
              </a:rPr>
              <a:t> </a:t>
            </a:r>
            <a:r>
              <a:rPr lang="pl-PL" dirty="0">
                <a:latin typeface="Lucida Bright" panose="02040602050505020304" pitchFamily="18" charset="0"/>
                <a:cs typeface="Arial" panose="020B0604020202020204" pitchFamily="34" charset="0"/>
              </a:rPr>
              <a:t>Each hard linked file is assigned the same Inode value as the original, therefore they reference the same physical file location. Hard links more flexible and remain linked even if the original or linked files are moved throughout the file system</a:t>
            </a:r>
          </a:p>
          <a:p>
            <a:pPr>
              <a:lnSpc>
                <a:spcPct val="150000"/>
              </a:lnSpc>
              <a:defRPr/>
            </a:pPr>
            <a:r>
              <a:rPr lang="en-US" dirty="0" smtClean="0">
                <a:latin typeface="Lucida Bright" panose="02040602050505020304" pitchFamily="18" charset="0"/>
                <a:sym typeface="+mn-ea"/>
              </a:rPr>
              <a:t>Syntax: </a:t>
            </a:r>
            <a:r>
              <a:rPr lang="pl-PL" dirty="0">
                <a:latin typeface="Lucida Bright" panose="02040602050505020304" pitchFamily="18" charset="0"/>
                <a:cs typeface="Arial" panose="020B0604020202020204" pitchFamily="34" charset="0"/>
              </a:rPr>
              <a:t>ln  [original filename] [link name] </a:t>
            </a:r>
          </a:p>
          <a:p>
            <a:pPr>
              <a:lnSpc>
                <a:spcPct val="150000"/>
              </a:lnSpc>
              <a:defRPr/>
            </a:pPr>
            <a:r>
              <a:rPr lang="en-US" b="1" dirty="0" smtClean="0">
                <a:latin typeface="Lucida Bright" panose="02040602050505020304" pitchFamily="18" charset="0"/>
                <a:sym typeface="+mn-ea"/>
              </a:rPr>
              <a:t>EXAMPLE</a:t>
            </a:r>
            <a:r>
              <a:rPr lang="en-US" b="1" dirty="0">
                <a:latin typeface="Lucida Bright" panose="02040602050505020304" pitchFamily="18" charset="0"/>
                <a:sym typeface="+mn-ea"/>
              </a:rPr>
              <a:t>: </a:t>
            </a:r>
            <a:endParaRPr lang="en-US" b="1" dirty="0">
              <a:latin typeface="Lucida Bright" panose="02040602050505020304" pitchFamily="18" charset="0"/>
              <a:cs typeface="Arial" panose="020B0604020202020204" pitchFamily="34" charset="0"/>
            </a:endParaRPr>
          </a:p>
          <a:p>
            <a:pPr marL="342900" indent="-342900">
              <a:lnSpc>
                <a:spcPct val="150000"/>
              </a:lnSpc>
              <a:buFontTx/>
              <a:buAutoNum type="arabicPeriod"/>
              <a:defRPr/>
            </a:pPr>
            <a:r>
              <a:rPr lang="en-US" dirty="0" err="1">
                <a:latin typeface="Lucida Bright" panose="02040602050505020304" pitchFamily="18" charset="0"/>
                <a:sym typeface="+mn-ea"/>
              </a:rPr>
              <a:t>ln</a:t>
            </a:r>
            <a:r>
              <a:rPr lang="en-US" dirty="0">
                <a:latin typeface="Lucida Bright" panose="02040602050505020304" pitchFamily="18" charset="0"/>
                <a:sym typeface="+mn-ea"/>
              </a:rPr>
              <a:t> file3.txt file4.txt </a:t>
            </a:r>
            <a:endParaRPr lang="pl-PL" dirty="0">
              <a:latin typeface="Lucida Bright" panose="02040602050505020304" pitchFamily="18" charset="0"/>
              <a:cs typeface="Arial" panose="020B0604020202020204" pitchFamily="34" charset="0"/>
            </a:endParaRPr>
          </a:p>
          <a:p>
            <a:pPr>
              <a:lnSpc>
                <a:spcPct val="150000"/>
              </a:lnSpc>
              <a:defRPr/>
            </a:pPr>
            <a:r>
              <a:rPr lang="en-US" b="1" dirty="0">
                <a:solidFill>
                  <a:srgbClr val="FF0000"/>
                </a:solidFill>
                <a:latin typeface="Lucida Bright" panose="02040602050505020304" pitchFamily="18" charset="0"/>
                <a:cs typeface="Arial" panose="020B0604020202020204" pitchFamily="34" charset="0"/>
              </a:rPr>
              <a:t>For example,</a:t>
            </a:r>
            <a:r>
              <a:rPr lang="en-US" dirty="0">
                <a:latin typeface="Lucida Bright" panose="02040602050505020304" pitchFamily="18" charset="0"/>
                <a:cs typeface="Arial" panose="020B0604020202020204" pitchFamily="34" charset="0"/>
              </a:rPr>
              <a:t> if we have a file a.txt. If we create a hard link to the file and then delete the file, we can still access the file using hard link. But if we create a soft link of the file and then delete the file, we can’t access the file through soft link and soft link becomes dangling. Basically hard link increases reference count of a location while soft links work as a shortcut (like in Windows)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2532" name="TextBox 10"/>
          <p:cNvSpPr txBox="1">
            <a:spLocks noChangeArrowheads="1"/>
          </p:cNvSpPr>
          <p:nvPr/>
        </p:nvSpPr>
        <p:spPr bwMode="auto">
          <a:xfrm>
            <a:off x="381000" y="1066800"/>
            <a:ext cx="8534400" cy="5025735"/>
          </a:xfrm>
          <a:prstGeom prst="rect">
            <a:avLst/>
          </a:prstGeom>
          <a:noFill/>
          <a:ln w="9525">
            <a:noFill/>
            <a:miter lim="800000"/>
          </a:ln>
        </p:spPr>
        <p:txBody>
          <a:bodyPr>
            <a:spAutoFit/>
          </a:bodyPr>
          <a:lstStyle/>
          <a:p>
            <a:pPr>
              <a:lnSpc>
                <a:spcPct val="150000"/>
              </a:lnSpc>
            </a:pPr>
            <a:r>
              <a:rPr lang="en-US" b="1" dirty="0" err="1" smtClean="0">
                <a:latin typeface="Lucida Bright" panose="02040602050505020304" pitchFamily="18" charset="0"/>
              </a:rPr>
              <a:t>mv</a:t>
            </a:r>
            <a:r>
              <a:rPr lang="en-US" dirty="0" smtClean="0">
                <a:latin typeface="Lucida Bright" panose="02040602050505020304" pitchFamily="18" charset="0"/>
              </a:rPr>
              <a:t> </a:t>
            </a:r>
            <a:r>
              <a:rPr lang="en-US" dirty="0">
                <a:latin typeface="Lucida Bright" panose="02040602050505020304" pitchFamily="18" charset="0"/>
              </a:rPr>
              <a:t>COMMAND: </a:t>
            </a:r>
          </a:p>
          <a:p>
            <a:pPr>
              <a:lnSpc>
                <a:spcPct val="150000"/>
              </a:lnSpc>
            </a:pPr>
            <a:r>
              <a:rPr lang="en-US" dirty="0" err="1">
                <a:latin typeface="Lucida Bright" panose="02040602050505020304" pitchFamily="18" charset="0"/>
              </a:rPr>
              <a:t>mv</a:t>
            </a:r>
            <a:r>
              <a:rPr lang="en-US" dirty="0">
                <a:latin typeface="Lucida Bright" panose="02040602050505020304" pitchFamily="18" charset="0"/>
              </a:rPr>
              <a:t> command which is short for move. It is used to move/rename file from one directory to another. </a:t>
            </a:r>
            <a:r>
              <a:rPr lang="en-US" dirty="0" err="1">
                <a:latin typeface="Lucida Bright" panose="02040602050505020304" pitchFamily="18" charset="0"/>
              </a:rPr>
              <a:t>mv</a:t>
            </a:r>
            <a:r>
              <a:rPr lang="en-US" dirty="0">
                <a:latin typeface="Lucida Bright" panose="02040602050505020304" pitchFamily="18" charset="0"/>
              </a:rPr>
              <a:t> command is different from cp command as it completely removes the file from the source and moves to the directory specified, where cp command just copies the content from one file to another. </a:t>
            </a:r>
          </a:p>
          <a:p>
            <a:pPr>
              <a:lnSpc>
                <a:spcPct val="150000"/>
              </a:lnSpc>
            </a:pPr>
            <a:r>
              <a:rPr lang="en-US" dirty="0">
                <a:latin typeface="Lucida Bright" panose="02040602050505020304" pitchFamily="18" charset="0"/>
              </a:rPr>
              <a:t>SYNTAX: $</a:t>
            </a:r>
            <a:r>
              <a:rPr lang="en-US" dirty="0" err="1">
                <a:latin typeface="Lucida Bright" panose="02040602050505020304" pitchFamily="18" charset="0"/>
              </a:rPr>
              <a:t>mv</a:t>
            </a:r>
            <a:r>
              <a:rPr lang="en-US" dirty="0">
                <a:latin typeface="Lucida Bright" panose="02040602050505020304" pitchFamily="18" charset="0"/>
              </a:rPr>
              <a:t> [-f] [-</a:t>
            </a:r>
            <a:r>
              <a:rPr lang="en-US" dirty="0" err="1">
                <a:latin typeface="Lucida Bright" panose="02040602050505020304" pitchFamily="18" charset="0"/>
              </a:rPr>
              <a:t>i</a:t>
            </a:r>
            <a:r>
              <a:rPr lang="en-US" dirty="0">
                <a:latin typeface="Lucida Bright" panose="02040602050505020304" pitchFamily="18" charset="0"/>
              </a:rPr>
              <a:t>] </a:t>
            </a:r>
            <a:r>
              <a:rPr lang="en-US" dirty="0" err="1">
                <a:latin typeface="Lucida Bright" panose="02040602050505020304" pitchFamily="18" charset="0"/>
              </a:rPr>
              <a:t>oldname</a:t>
            </a:r>
            <a:r>
              <a:rPr lang="en-US" dirty="0">
                <a:latin typeface="Lucida Bright" panose="02040602050505020304" pitchFamily="18" charset="0"/>
              </a:rPr>
              <a:t> </a:t>
            </a:r>
            <a:r>
              <a:rPr lang="en-US" dirty="0" err="1">
                <a:latin typeface="Lucida Bright" panose="02040602050505020304" pitchFamily="18" charset="0"/>
              </a:rPr>
              <a:t>newname</a:t>
            </a:r>
            <a:r>
              <a:rPr lang="en-US" dirty="0">
                <a:latin typeface="Lucida Bright" panose="02040602050505020304" pitchFamily="18" charset="0"/>
              </a:rPr>
              <a:t> </a:t>
            </a:r>
          </a:p>
          <a:p>
            <a:pPr>
              <a:lnSpc>
                <a:spcPct val="150000"/>
              </a:lnSpc>
            </a:pPr>
            <a:r>
              <a:rPr lang="en-US" dirty="0">
                <a:latin typeface="Lucida Bright" panose="02040602050505020304" pitchFamily="18" charset="0"/>
              </a:rPr>
              <a:t>OPTIONS: </a:t>
            </a:r>
          </a:p>
          <a:p>
            <a:pPr>
              <a:lnSpc>
                <a:spcPct val="150000"/>
              </a:lnSpc>
            </a:pPr>
            <a:r>
              <a:rPr lang="en-US" dirty="0">
                <a:latin typeface="Lucida Bright" panose="02040602050505020304" pitchFamily="18" charset="0"/>
              </a:rPr>
              <a:t>-f    This will not prompt before overwriting (equivalent to --reply=yes). </a:t>
            </a:r>
            <a:r>
              <a:rPr lang="en-US" dirty="0" err="1">
                <a:latin typeface="Lucida Bright" panose="02040602050505020304" pitchFamily="18" charset="0"/>
              </a:rPr>
              <a:t>mv</a:t>
            </a:r>
            <a:r>
              <a:rPr lang="en-US" dirty="0">
                <a:latin typeface="Lucida Bright" panose="02040602050505020304" pitchFamily="18" charset="0"/>
              </a:rPr>
              <a:t> -f will move the file(s) without prompting even if it is writing over an existing target. 	</a:t>
            </a:r>
          </a:p>
          <a:p>
            <a:pPr>
              <a:lnSpc>
                <a:spcPct val="150000"/>
              </a:lnSpc>
            </a:pPr>
            <a:r>
              <a:rPr lang="en-US" dirty="0">
                <a:latin typeface="Lucida Bright" panose="02040602050505020304" pitchFamily="18" charset="0"/>
              </a:rPr>
              <a:t>-I      Prompts before overwriting another file. 	</a:t>
            </a: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Commands</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30725" name="TextBox 11"/>
          <p:cNvSpPr txBox="1">
            <a:spLocks noChangeArrowheads="1"/>
          </p:cNvSpPr>
          <p:nvPr/>
        </p:nvSpPr>
        <p:spPr bwMode="auto">
          <a:xfrm>
            <a:off x="0" y="914400"/>
            <a:ext cx="8839200" cy="6553200"/>
          </a:xfrm>
          <a:prstGeom prst="rect">
            <a:avLst/>
          </a:prstGeom>
          <a:noFill/>
          <a:ln w="9525">
            <a:noFill/>
            <a:miter lim="800000"/>
          </a:ln>
        </p:spPr>
        <p:txBody>
          <a:bodyPr wrap="square">
            <a:spAutoFit/>
          </a:bodyPr>
          <a:lstStyle/>
          <a:p>
            <a:pPr>
              <a:lnSpc>
                <a:spcPct val="150000"/>
              </a:lnSpc>
              <a:defRPr/>
            </a:pPr>
            <a:r>
              <a:rPr lang="en-US" b="1" dirty="0">
                <a:latin typeface="Lucida Bright" panose="02040602050505020304" pitchFamily="18" charset="0"/>
                <a:cs typeface="Arial" panose="020B0604020202020204" pitchFamily="34" charset="0"/>
              </a:rPr>
              <a:t>EXAMPLE: </a:t>
            </a:r>
          </a:p>
          <a:p>
            <a:pPr marL="457200" indent="-457200">
              <a:lnSpc>
                <a:spcPct val="150000"/>
              </a:lnSpc>
              <a:buFontTx/>
              <a:buAutoNum type="arabicPeriod"/>
              <a:defRPr/>
            </a:pPr>
            <a:r>
              <a:rPr lang="en-US" dirty="0">
                <a:latin typeface="Lucida Bright" panose="02040602050505020304" pitchFamily="18" charset="0"/>
                <a:cs typeface="Arial" panose="020B0604020202020204" pitchFamily="34" charset="0"/>
              </a:rPr>
              <a:t>To Rename / Move a file: </a:t>
            </a:r>
          </a:p>
          <a:p>
            <a:pPr>
              <a:lnSpc>
                <a:spcPct val="150000"/>
              </a:lnSpc>
              <a:defRPr/>
            </a:pPr>
            <a:r>
              <a:rPr lang="en-US" dirty="0" err="1">
                <a:latin typeface="Lucida Bright" panose="02040602050505020304" pitchFamily="18" charset="0"/>
                <a:cs typeface="Arial" panose="020B0604020202020204" pitchFamily="34" charset="0"/>
              </a:rPr>
              <a:t>mv</a:t>
            </a:r>
            <a:r>
              <a:rPr lang="en-US" dirty="0">
                <a:latin typeface="Lucida Bright" panose="02040602050505020304" pitchFamily="18" charset="0"/>
                <a:cs typeface="Arial" panose="020B0604020202020204" pitchFamily="34" charset="0"/>
              </a:rPr>
              <a:t> file1.txt file2.txt </a:t>
            </a:r>
          </a:p>
          <a:p>
            <a:pPr>
              <a:lnSpc>
                <a:spcPct val="150000"/>
              </a:lnSpc>
              <a:defRPr/>
            </a:pPr>
            <a:r>
              <a:rPr lang="en-US" dirty="0">
                <a:latin typeface="Lucida Bright" panose="02040602050505020304" pitchFamily="18" charset="0"/>
                <a:cs typeface="Arial" panose="020B0604020202020204" pitchFamily="34" charset="0"/>
              </a:rPr>
              <a:t>This command renames file1.txt as file2.txt </a:t>
            </a:r>
          </a:p>
          <a:p>
            <a:pPr>
              <a:lnSpc>
                <a:spcPct val="150000"/>
              </a:lnSpc>
              <a:defRPr/>
            </a:pPr>
            <a:r>
              <a:rPr lang="en-US" dirty="0">
                <a:latin typeface="Lucida Bright" panose="02040602050505020304" pitchFamily="18" charset="0"/>
                <a:cs typeface="Arial" panose="020B0604020202020204" pitchFamily="34" charset="0"/>
              </a:rPr>
              <a:t>2. To move a directory </a:t>
            </a:r>
          </a:p>
          <a:p>
            <a:pPr>
              <a:lnSpc>
                <a:spcPct val="150000"/>
              </a:lnSpc>
              <a:defRPr/>
            </a:pPr>
            <a:r>
              <a:rPr lang="en-US" dirty="0" err="1">
                <a:latin typeface="Lucida Bright" panose="02040602050505020304" pitchFamily="18" charset="0"/>
                <a:cs typeface="Arial" panose="020B0604020202020204" pitchFamily="34" charset="0"/>
              </a:rPr>
              <a:t>mv</a:t>
            </a: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hscripts</a:t>
            </a: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 </a:t>
            </a:r>
          </a:p>
          <a:p>
            <a:pPr>
              <a:lnSpc>
                <a:spcPct val="150000"/>
              </a:lnSpc>
              <a:defRPr/>
            </a:pPr>
            <a:r>
              <a:rPr lang="en-US" dirty="0">
                <a:latin typeface="Lucida Bright" panose="02040602050505020304" pitchFamily="18" charset="0"/>
                <a:cs typeface="Arial" panose="020B0604020202020204" pitchFamily="34" charset="0"/>
              </a:rPr>
              <a:t>In the above line </a:t>
            </a:r>
            <a:r>
              <a:rPr lang="en-US" dirty="0" err="1">
                <a:latin typeface="Lucida Bright" panose="02040602050505020304" pitchFamily="18" charset="0"/>
                <a:cs typeface="Arial" panose="020B0604020202020204" pitchFamily="34" charset="0"/>
              </a:rPr>
              <a:t>mv</a:t>
            </a:r>
            <a:r>
              <a:rPr lang="en-US" dirty="0">
                <a:latin typeface="Lucida Bright" panose="02040602050505020304" pitchFamily="18" charset="0"/>
                <a:cs typeface="Arial" panose="020B0604020202020204" pitchFamily="34" charset="0"/>
              </a:rPr>
              <a:t> command moves all the files, directories and sub-directories from </a:t>
            </a:r>
            <a:r>
              <a:rPr lang="en-US" dirty="0" err="1">
                <a:latin typeface="Lucida Bright" panose="02040602050505020304" pitchFamily="18" charset="0"/>
                <a:cs typeface="Arial" panose="020B0604020202020204" pitchFamily="34" charset="0"/>
              </a:rPr>
              <a:t>hscripts</a:t>
            </a:r>
            <a:r>
              <a:rPr lang="en-US" dirty="0">
                <a:latin typeface="Lucida Bright" panose="02040602050505020304" pitchFamily="18" charset="0"/>
                <a:cs typeface="Arial" panose="020B0604020202020204" pitchFamily="34" charset="0"/>
              </a:rPr>
              <a:t> folder/directory to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 directory if the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 directory already exists. If there is no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 directory it rename's the </a:t>
            </a:r>
            <a:r>
              <a:rPr lang="en-US" dirty="0" err="1">
                <a:latin typeface="Lucida Bright" panose="02040602050505020304" pitchFamily="18" charset="0"/>
                <a:cs typeface="Arial" panose="020B0604020202020204" pitchFamily="34" charset="0"/>
              </a:rPr>
              <a:t>hscripts</a:t>
            </a:r>
            <a:r>
              <a:rPr lang="en-US" dirty="0">
                <a:latin typeface="Lucida Bright" panose="02040602050505020304" pitchFamily="18" charset="0"/>
                <a:cs typeface="Arial" panose="020B0604020202020204" pitchFamily="34" charset="0"/>
              </a:rPr>
              <a:t> directory as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 directory. </a:t>
            </a:r>
          </a:p>
          <a:p>
            <a:pPr>
              <a:lnSpc>
                <a:spcPct val="150000"/>
              </a:lnSpc>
              <a:defRPr/>
            </a:pPr>
            <a:r>
              <a:rPr lang="en-US" dirty="0">
                <a:latin typeface="Lucida Bright" panose="02040602050505020304" pitchFamily="18" charset="0"/>
                <a:cs typeface="Arial" panose="020B0604020202020204" pitchFamily="34" charset="0"/>
              </a:rPr>
              <a:t>3. To Move multiple files/More files into another directory </a:t>
            </a:r>
          </a:p>
          <a:p>
            <a:pPr>
              <a:lnSpc>
                <a:spcPct val="150000"/>
              </a:lnSpc>
              <a:defRPr/>
            </a:pPr>
            <a:r>
              <a:rPr lang="en-US" dirty="0" err="1">
                <a:latin typeface="Lucida Bright" panose="02040602050505020304" pitchFamily="18" charset="0"/>
                <a:cs typeface="Arial" panose="020B0604020202020204" pitchFamily="34" charset="0"/>
              </a:rPr>
              <a:t>mv</a:t>
            </a:r>
            <a:r>
              <a:rPr lang="en-US" dirty="0">
                <a:latin typeface="Lucida Bright" panose="02040602050505020304" pitchFamily="18" charset="0"/>
                <a:cs typeface="Arial" panose="020B0604020202020204" pitchFamily="34" charset="0"/>
              </a:rPr>
              <a:t> file1.txt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/file2.txt </a:t>
            </a:r>
            <a:r>
              <a:rPr lang="en-US" dirty="0" err="1">
                <a:latin typeface="Lucida Bright" panose="02040602050505020304" pitchFamily="18" charset="0"/>
                <a:cs typeface="Arial" panose="020B0604020202020204" pitchFamily="34" charset="0"/>
              </a:rPr>
              <a:t>newdir</a:t>
            </a:r>
            <a:r>
              <a:rPr lang="en-US" dirty="0">
                <a:latin typeface="Lucida Bright" panose="02040602050505020304" pitchFamily="18" charset="0"/>
                <a:cs typeface="Arial" panose="020B0604020202020204" pitchFamily="34" charset="0"/>
              </a:rPr>
              <a:t> </a:t>
            </a:r>
          </a:p>
          <a:p>
            <a:pPr>
              <a:lnSpc>
                <a:spcPct val="150000"/>
              </a:lnSpc>
              <a:defRPr/>
            </a:pPr>
            <a:r>
              <a:rPr lang="en-US" dirty="0">
                <a:latin typeface="Lucida Bright" panose="02040602050505020304" pitchFamily="18" charset="0"/>
                <a:cs typeface="Arial" panose="020B0604020202020204" pitchFamily="34" charset="0"/>
              </a:rPr>
              <a:t>This command moves the files file1.txt from the current directory and file2.txt from the </a:t>
            </a:r>
            <a:r>
              <a:rPr lang="en-US" dirty="0" err="1">
                <a:latin typeface="Lucida Bright" panose="02040602050505020304" pitchFamily="18" charset="0"/>
                <a:cs typeface="Arial" panose="020B0604020202020204" pitchFamily="34" charset="0"/>
              </a:rPr>
              <a:t>tmp</a:t>
            </a:r>
            <a:r>
              <a:rPr lang="en-US" dirty="0">
                <a:latin typeface="Lucida Bright" panose="02040602050505020304" pitchFamily="18" charset="0"/>
                <a:cs typeface="Arial" panose="020B0604020202020204" pitchFamily="34" charset="0"/>
              </a:rPr>
              <a:t> folder/directory to </a:t>
            </a:r>
            <a:r>
              <a:rPr lang="en-US" dirty="0" err="1">
                <a:latin typeface="Lucida Bright" panose="02040602050505020304" pitchFamily="18" charset="0"/>
                <a:cs typeface="Arial" panose="020B0604020202020204" pitchFamily="34" charset="0"/>
              </a:rPr>
              <a:t>newdir</a:t>
            </a:r>
            <a:r>
              <a:rPr lang="en-US" dirty="0">
                <a:latin typeface="Lucida Bright" panose="02040602050505020304" pitchFamily="18" charset="0"/>
                <a:cs typeface="Arial" panose="020B0604020202020204" pitchFamily="34" charset="0"/>
              </a:rPr>
              <a:t>. </a:t>
            </a:r>
          </a:p>
          <a:p>
            <a:pPr>
              <a:lnSpc>
                <a:spcPct val="150000"/>
              </a:lnSpc>
              <a:defRPr/>
            </a:pPr>
            <a:endParaRPr lang="en-US" dirty="0">
              <a:latin typeface="Lucida Bright" panose="02040602050505020304" pitchFamily="18" charset="0"/>
              <a:cs typeface="Arial" panose="020B0604020202020204" pitchFamily="34" charset="0"/>
            </a:endParaRPr>
          </a:p>
        </p:txBody>
      </p:sp>
      <p:sp>
        <p:nvSpPr>
          <p:cNvPr id="2355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Commands </a:t>
            </a:r>
            <a:endParaRPr lang="en-US" sz="2400" dirty="0" smtClean="0">
              <a:effectLst>
                <a:outerShdw blurRad="38100" dist="38100" dir="2700000" algn="tl">
                  <a:srgbClr val="C0C0C0"/>
                </a:outerShdw>
              </a:effectLst>
            </a:endParaRPr>
          </a:p>
          <a:p>
            <a:pPr algn="ctr"/>
            <a:endParaRPr 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4"/>
          <p:cNvSpPr txBox="1">
            <a:spLocks noChangeArrowheads="1"/>
          </p:cNvSpPr>
          <p:nvPr/>
        </p:nvSpPr>
        <p:spPr bwMode="auto">
          <a:xfrm>
            <a:off x="152400" y="990600"/>
            <a:ext cx="8763000" cy="6324600"/>
          </a:xfrm>
          <a:prstGeom prst="rect">
            <a:avLst/>
          </a:prstGeom>
          <a:noFill/>
          <a:ln w="12700">
            <a:noFill/>
            <a:miter lim="800000"/>
          </a:ln>
        </p:spPr>
        <p:txBody>
          <a:bodyPr>
            <a:spAutoFit/>
          </a:bodyPr>
          <a:lstStyle/>
          <a:p>
            <a:pPr>
              <a:lnSpc>
                <a:spcPct val="150000"/>
              </a:lnSpc>
              <a:defRPr/>
            </a:pPr>
            <a:r>
              <a:rPr lang="en-US" dirty="0" err="1">
                <a:latin typeface="Lucida Bright" panose="02040602050505020304" pitchFamily="18" charset="0"/>
                <a:cs typeface="Arial" panose="020B0604020202020204" pitchFamily="34" charset="0"/>
              </a:rPr>
              <a:t>rm</a:t>
            </a:r>
            <a:r>
              <a:rPr lang="en-US" dirty="0">
                <a:latin typeface="Lucida Bright" panose="02040602050505020304" pitchFamily="18" charset="0"/>
                <a:cs typeface="Arial" panose="020B0604020202020204" pitchFamily="34" charset="0"/>
              </a:rPr>
              <a:t> </a:t>
            </a:r>
            <a:r>
              <a:rPr lang="en-US" dirty="0" smtClean="0">
                <a:latin typeface="Lucida Bright" panose="02040602050505020304" pitchFamily="18" charset="0"/>
                <a:cs typeface="Arial" panose="020B0604020202020204" pitchFamily="34" charset="0"/>
              </a:rPr>
              <a:t>COMMAND</a:t>
            </a:r>
            <a:r>
              <a:rPr lang="en-US" dirty="0">
                <a:latin typeface="Lucida Bright" panose="02040602050505020304" pitchFamily="18" charset="0"/>
                <a:cs typeface="Arial" panose="020B0604020202020204" pitchFamily="34" charset="0"/>
              </a:rPr>
              <a:t>:</a:t>
            </a:r>
          </a:p>
          <a:p>
            <a:pPr>
              <a:lnSpc>
                <a:spcPct val="150000"/>
              </a:lnSpc>
              <a:defRPr/>
            </a:pPr>
            <a:r>
              <a:rPr lang="en-US" dirty="0" err="1">
                <a:latin typeface="Lucida Bright" panose="02040602050505020304" pitchFamily="18" charset="0"/>
                <a:cs typeface="Arial" panose="020B0604020202020204" pitchFamily="34" charset="0"/>
              </a:rPr>
              <a:t>rm</a:t>
            </a: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linux</a:t>
            </a:r>
            <a:r>
              <a:rPr lang="en-US" dirty="0">
                <a:latin typeface="Lucida Bright" panose="02040602050505020304" pitchFamily="18" charset="0"/>
                <a:cs typeface="Arial" panose="020B0604020202020204" pitchFamily="34" charset="0"/>
              </a:rPr>
              <a:t> command is used to remove/delete the file from the directory.</a:t>
            </a:r>
          </a:p>
          <a:p>
            <a:pPr>
              <a:lnSpc>
                <a:spcPct val="150000"/>
              </a:lnSpc>
              <a:defRPr/>
            </a:pPr>
            <a:r>
              <a:rPr lang="en-US" dirty="0">
                <a:latin typeface="Lucida Bright" panose="02040602050505020304" pitchFamily="18" charset="0"/>
                <a:cs typeface="Arial" panose="020B0604020202020204" pitchFamily="34" charset="0"/>
              </a:rPr>
              <a:t>SYNTAX: $</a:t>
            </a:r>
            <a:r>
              <a:rPr lang="en-US" dirty="0" err="1">
                <a:latin typeface="Lucida Bright" panose="02040602050505020304" pitchFamily="18" charset="0"/>
                <a:cs typeface="Arial" panose="020B0604020202020204" pitchFamily="34" charset="0"/>
              </a:rPr>
              <a:t>rm</a:t>
            </a:r>
            <a:r>
              <a:rPr lang="en-US" dirty="0">
                <a:latin typeface="Lucida Bright" panose="02040602050505020304" pitchFamily="18" charset="0"/>
                <a:cs typeface="Arial" panose="020B0604020202020204" pitchFamily="34" charset="0"/>
              </a:rPr>
              <a:t> [options..] [file | directory] </a:t>
            </a:r>
          </a:p>
          <a:p>
            <a:pPr>
              <a:lnSpc>
                <a:spcPct val="150000"/>
              </a:lnSpc>
              <a:defRPr/>
            </a:pPr>
            <a:r>
              <a:rPr lang="en-US" dirty="0">
                <a:latin typeface="Lucida Bright" panose="02040602050505020304" pitchFamily="18" charset="0"/>
                <a:cs typeface="Arial" panose="020B0604020202020204" pitchFamily="34" charset="0"/>
              </a:rPr>
              <a:t>OPTIONS: </a:t>
            </a:r>
          </a:p>
          <a:p>
            <a:pPr>
              <a:lnSpc>
                <a:spcPct val="150000"/>
              </a:lnSpc>
              <a:defRPr/>
            </a:pPr>
            <a:r>
              <a:rPr lang="en-US" dirty="0">
                <a:latin typeface="Lucida Bright" panose="02040602050505020304" pitchFamily="18" charset="0"/>
                <a:cs typeface="Arial" panose="020B0604020202020204" pitchFamily="34" charset="0"/>
              </a:rPr>
              <a:t>-f   Remove all files in a directory without prompting the user. 	</a:t>
            </a:r>
          </a:p>
          <a:p>
            <a:pPr>
              <a:lnSpc>
                <a:spcPct val="150000"/>
              </a:lnSpc>
              <a:defRPr/>
            </a:pPr>
            <a:r>
              <a:rPr lang="en-US" dirty="0">
                <a:latin typeface="Lucida Bright" panose="02040602050505020304" pitchFamily="18" charset="0"/>
                <a:cs typeface="Arial" panose="020B0604020202020204" pitchFamily="34" charset="0"/>
              </a:rPr>
              <a:t>-I    Interactive. With this option, </a:t>
            </a:r>
            <a:r>
              <a:rPr lang="en-US" dirty="0" err="1">
                <a:latin typeface="Lucida Bright" panose="02040602050505020304" pitchFamily="18" charset="0"/>
                <a:cs typeface="Arial" panose="020B0604020202020204" pitchFamily="34" charset="0"/>
              </a:rPr>
              <a:t>rm</a:t>
            </a:r>
            <a:r>
              <a:rPr lang="en-US" dirty="0">
                <a:latin typeface="Lucida Bright" panose="02040602050505020304" pitchFamily="18" charset="0"/>
                <a:cs typeface="Arial" panose="020B0604020202020204" pitchFamily="34" charset="0"/>
              </a:rPr>
              <a:t> prompts for confirmation before removing any files. 	</a:t>
            </a:r>
          </a:p>
          <a:p>
            <a:pPr>
              <a:lnSpc>
                <a:spcPct val="150000"/>
              </a:lnSpc>
              <a:defRPr/>
            </a:pPr>
            <a:r>
              <a:rPr lang="en-US" dirty="0">
                <a:latin typeface="Lucida Bright" panose="02040602050505020304" pitchFamily="18" charset="0"/>
                <a:cs typeface="Arial" panose="020B0604020202020204" pitchFamily="34" charset="0"/>
              </a:rPr>
              <a:t>-r (or) –R  Recursively remove directories and subdirectories in the argument list. The directory will be emptied of files and removed. The user is normally prompted for removal of any write-protected files which the directory contains. 	</a:t>
            </a:r>
          </a:p>
          <a:p>
            <a:pPr>
              <a:lnSpc>
                <a:spcPct val="150000"/>
              </a:lnSpc>
              <a:defRPr/>
            </a:pPr>
            <a:r>
              <a:rPr lang="en-US" dirty="0">
                <a:latin typeface="Lucida Bright" panose="02040602050505020304" pitchFamily="18" charset="0"/>
                <a:cs typeface="Arial" panose="020B0604020202020204" pitchFamily="34" charset="0"/>
              </a:rPr>
              <a:t>EXAMPLE:  1)  To Remove / Delete a file: </a:t>
            </a:r>
          </a:p>
          <a:p>
            <a:pPr marL="342900" indent="-342900">
              <a:lnSpc>
                <a:spcPct val="150000"/>
              </a:lnSpc>
              <a:defRPr/>
            </a:pPr>
            <a:r>
              <a:rPr lang="en-US" dirty="0" err="1">
                <a:latin typeface="Lucida Bright" panose="02040602050505020304" pitchFamily="18" charset="0"/>
                <a:cs typeface="Arial" panose="020B0604020202020204" pitchFamily="34" charset="0"/>
              </a:rPr>
              <a:t>rm</a:t>
            </a:r>
            <a:r>
              <a:rPr lang="en-US" dirty="0">
                <a:latin typeface="Lucida Bright" panose="02040602050505020304" pitchFamily="18" charset="0"/>
                <a:cs typeface="Arial" panose="020B0604020202020204" pitchFamily="34" charset="0"/>
              </a:rPr>
              <a:t> file1.txt </a:t>
            </a:r>
          </a:p>
          <a:p>
            <a:pPr>
              <a:lnSpc>
                <a:spcPct val="150000"/>
              </a:lnSpc>
              <a:defRPr/>
            </a:pPr>
            <a:r>
              <a:rPr lang="en-US" dirty="0">
                <a:latin typeface="Lucida Bright" panose="02040602050505020304" pitchFamily="18" charset="0"/>
                <a:cs typeface="Arial" panose="020B0604020202020204" pitchFamily="34" charset="0"/>
              </a:rPr>
              <a:t>Here </a:t>
            </a:r>
            <a:r>
              <a:rPr lang="en-US" dirty="0" err="1">
                <a:latin typeface="Lucida Bright" panose="02040602050505020304" pitchFamily="18" charset="0"/>
                <a:cs typeface="Arial" panose="020B0604020202020204" pitchFamily="34" charset="0"/>
              </a:rPr>
              <a:t>rm</a:t>
            </a:r>
            <a:r>
              <a:rPr lang="en-US" dirty="0">
                <a:latin typeface="Lucida Bright" panose="02040602050505020304" pitchFamily="18" charset="0"/>
                <a:cs typeface="Arial" panose="020B0604020202020204" pitchFamily="34" charset="0"/>
              </a:rPr>
              <a:t> command will remove/delete the file file1.txt. </a:t>
            </a:r>
          </a:p>
          <a:p>
            <a:pPr>
              <a:lnSpc>
                <a:spcPct val="150000"/>
              </a:lnSpc>
              <a:defRPr/>
            </a:pPr>
            <a:endParaRPr lang="en-US" dirty="0">
              <a:latin typeface="Lucida Bright" panose="02040602050505020304" pitchFamily="18" charset="0"/>
              <a:cs typeface="Arial" panose="020B0604020202020204" pitchFamily="34" charset="0"/>
            </a:endParaRPr>
          </a:p>
        </p:txBody>
      </p:sp>
      <p:sp>
        <p:nvSpPr>
          <p:cNvPr id="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Commands</a:t>
            </a:r>
            <a:endParaRPr lang="en-US" sz="2400" dirty="0" smtClean="0">
              <a:effectLst>
                <a:outerShdw blurRad="38100" dist="38100" dir="2700000" algn="tl">
                  <a:srgbClr val="C0C0C0"/>
                </a:outerShdw>
              </a:effectLst>
            </a:endParaRPr>
          </a:p>
          <a:p>
            <a:pPr algn="ctr"/>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Box 7"/>
          <p:cNvSpPr txBox="1">
            <a:spLocks noChangeArrowheads="1"/>
          </p:cNvSpPr>
          <p:nvPr/>
        </p:nvSpPr>
        <p:spPr bwMode="auto">
          <a:xfrm>
            <a:off x="533400" y="990600"/>
            <a:ext cx="8001000" cy="3416320"/>
          </a:xfrm>
          <a:prstGeom prst="rect">
            <a:avLst/>
          </a:prstGeom>
          <a:noFill/>
          <a:ln w="9525">
            <a:noFill/>
            <a:miter lim="800000"/>
          </a:ln>
        </p:spPr>
        <p:txBody>
          <a:bodyPr wrap="square">
            <a:spAutoFit/>
          </a:bodyPr>
          <a:lstStyle/>
          <a:p>
            <a:pPr>
              <a:lnSpc>
                <a:spcPct val="150000"/>
              </a:lnSpc>
            </a:pPr>
            <a:r>
              <a:rPr lang="en-US" dirty="0">
                <a:latin typeface="Lucida Bright" panose="02040602050505020304" pitchFamily="18" charset="0"/>
              </a:rPr>
              <a:t>2. To delete a directory tree: </a:t>
            </a:r>
          </a:p>
          <a:p>
            <a:pPr>
              <a:lnSpc>
                <a:spcPct val="150000"/>
              </a:lnSpc>
            </a:pPr>
            <a:r>
              <a:rPr lang="en-US" dirty="0" err="1">
                <a:latin typeface="Lucida Bright" panose="02040602050505020304" pitchFamily="18" charset="0"/>
              </a:rPr>
              <a:t>rm</a:t>
            </a:r>
            <a:r>
              <a:rPr lang="en-US" dirty="0">
                <a:latin typeface="Lucida Bright" panose="02040602050505020304" pitchFamily="18" charset="0"/>
              </a:rPr>
              <a:t> -</a:t>
            </a:r>
            <a:r>
              <a:rPr lang="en-US" dirty="0" err="1">
                <a:latin typeface="Lucida Bright" panose="02040602050505020304" pitchFamily="18" charset="0"/>
              </a:rPr>
              <a:t>ir</a:t>
            </a:r>
            <a:r>
              <a:rPr lang="en-US" dirty="0">
                <a:latin typeface="Lucida Bright" panose="02040602050505020304" pitchFamily="18" charset="0"/>
              </a:rPr>
              <a:t> </a:t>
            </a:r>
            <a:r>
              <a:rPr lang="en-US" dirty="0" err="1">
                <a:latin typeface="Lucida Bright" panose="02040602050505020304" pitchFamily="18" charset="0"/>
              </a:rPr>
              <a:t>tmp</a:t>
            </a:r>
            <a:r>
              <a:rPr lang="en-US" dirty="0">
                <a:latin typeface="Lucida Bright" panose="02040602050505020304" pitchFamily="18" charset="0"/>
              </a:rPr>
              <a:t> </a:t>
            </a:r>
          </a:p>
          <a:p>
            <a:pPr>
              <a:lnSpc>
                <a:spcPct val="150000"/>
              </a:lnSpc>
            </a:pPr>
            <a:r>
              <a:rPr lang="en-US" dirty="0">
                <a:latin typeface="Lucida Bright" panose="02040602050505020304" pitchFamily="18" charset="0"/>
              </a:rPr>
              <a:t>This </a:t>
            </a:r>
            <a:r>
              <a:rPr lang="en-US" dirty="0" err="1">
                <a:latin typeface="Lucida Bright" panose="02040602050505020304" pitchFamily="18" charset="0"/>
              </a:rPr>
              <a:t>rm</a:t>
            </a:r>
            <a:r>
              <a:rPr lang="en-US" dirty="0">
                <a:latin typeface="Lucida Bright" panose="02040602050505020304" pitchFamily="18" charset="0"/>
              </a:rPr>
              <a:t> command recursively removes the contents of all subdirectories of the </a:t>
            </a:r>
            <a:r>
              <a:rPr lang="en-US" dirty="0" err="1">
                <a:latin typeface="Lucida Bright" panose="02040602050505020304" pitchFamily="18" charset="0"/>
              </a:rPr>
              <a:t>tmp</a:t>
            </a:r>
            <a:r>
              <a:rPr lang="en-US" dirty="0">
                <a:latin typeface="Lucida Bright" panose="02040602050505020304" pitchFamily="18" charset="0"/>
              </a:rPr>
              <a:t> directory, prompting you regarding the removal of each file, and then removes the </a:t>
            </a:r>
            <a:r>
              <a:rPr lang="en-US" dirty="0" err="1">
                <a:latin typeface="Lucida Bright" panose="02040602050505020304" pitchFamily="18" charset="0"/>
              </a:rPr>
              <a:t>tmp</a:t>
            </a:r>
            <a:r>
              <a:rPr lang="en-US" dirty="0">
                <a:latin typeface="Lucida Bright" panose="02040602050505020304" pitchFamily="18" charset="0"/>
              </a:rPr>
              <a:t> directory itself. </a:t>
            </a:r>
          </a:p>
          <a:p>
            <a:pPr>
              <a:lnSpc>
                <a:spcPct val="150000"/>
              </a:lnSpc>
            </a:pPr>
            <a:r>
              <a:rPr lang="en-US" dirty="0">
                <a:latin typeface="Lucida Bright" panose="02040602050505020304" pitchFamily="18" charset="0"/>
              </a:rPr>
              <a:t>3. To remove more files at once </a:t>
            </a:r>
          </a:p>
          <a:p>
            <a:pPr>
              <a:lnSpc>
                <a:spcPct val="150000"/>
              </a:lnSpc>
            </a:pPr>
            <a:r>
              <a:rPr lang="en-US" dirty="0" err="1">
                <a:latin typeface="Lucida Bright" panose="02040602050505020304" pitchFamily="18" charset="0"/>
              </a:rPr>
              <a:t>rm</a:t>
            </a:r>
            <a:r>
              <a:rPr lang="en-US" dirty="0">
                <a:latin typeface="Lucida Bright" panose="02040602050505020304" pitchFamily="18" charset="0"/>
              </a:rPr>
              <a:t> file1.txt file2.txt </a:t>
            </a:r>
          </a:p>
          <a:p>
            <a:pPr>
              <a:lnSpc>
                <a:spcPct val="150000"/>
              </a:lnSpc>
            </a:pPr>
            <a:r>
              <a:rPr lang="en-US" dirty="0" err="1">
                <a:latin typeface="Lucida Bright" panose="02040602050505020304" pitchFamily="18" charset="0"/>
              </a:rPr>
              <a:t>rm</a:t>
            </a:r>
            <a:r>
              <a:rPr lang="en-US" dirty="0">
                <a:latin typeface="Lucida Bright" panose="02040602050505020304" pitchFamily="18" charset="0"/>
              </a:rPr>
              <a:t> command removes file1.txt and file2.txt files at the same time. </a:t>
            </a:r>
          </a:p>
        </p:txBody>
      </p:sp>
      <p:sp>
        <p:nvSpPr>
          <p:cNvPr id="25604" name="Rectangle 8"/>
          <p:cNvSpPr>
            <a:spLocks noChangeArrowheads="1"/>
          </p:cNvSpPr>
          <p:nvPr/>
        </p:nvSpPr>
        <p:spPr bwMode="auto">
          <a:xfrm>
            <a:off x="0" y="457200"/>
            <a:ext cx="9144000" cy="457200"/>
          </a:xfrm>
          <a:prstGeom prst="rect">
            <a:avLst/>
          </a:prstGeom>
          <a:noFill/>
          <a:ln w="9525">
            <a:noFill/>
            <a:miter lim="800000"/>
          </a:ln>
        </p:spPr>
        <p:txBody>
          <a:bodyPr wrap="none" anchor="ctr">
            <a:spAutoFit/>
          </a:bodyPr>
          <a:lstStyle/>
          <a:p>
            <a:pPr eaLnBrk="0" hangingPunct="0"/>
            <a:r>
              <a:rPr lang="en-US"/>
              <a:t/>
            </a:r>
            <a:br>
              <a:rPr lang="en-US"/>
            </a:br>
            <a:endParaRPr lang="en-US"/>
          </a:p>
          <a:p>
            <a:pPr eaLnBrk="0" hangingPunct="0"/>
            <a:r>
              <a:rPr lang="en-US" sz="1200">
                <a:latin typeface="Verdana" panose="020B0604030504040204" pitchFamily="34" charset="0"/>
                <a:cs typeface="Times New Roman" panose="02020603050405020304" pitchFamily="18" charset="0"/>
              </a:rPr>
              <a:t> </a:t>
            </a:r>
            <a:endParaRPr lang="en-US" sz="1100"/>
          </a:p>
          <a:p>
            <a:pPr eaLnBrk="0" hangingPunct="0"/>
            <a:endParaRPr lang="en-US"/>
          </a:p>
        </p:txBody>
      </p:sp>
      <p:sp>
        <p:nvSpPr>
          <p:cNvPr id="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lang="en-US" sz="4000" dirty="0">
                <a:latin typeface="Arial" panose="020B0604020202020204" pitchFamily="34" charset="0"/>
                <a:cs typeface="Arial" panose="020B0604020202020204" pitchFamily="34" charset="0"/>
              </a:rPr>
              <a:t>Commands </a:t>
            </a:r>
            <a:endParaRPr lang="en-US" sz="2400"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609600"/>
            <a:ext cx="9144000" cy="6324600"/>
          </a:xfrm>
          <a:prstGeom prst="rect">
            <a:avLst/>
          </a:prstGeom>
        </p:spPr>
        <p:style>
          <a:lnRef idx="0">
            <a:scrgbClr r="0" g="0" b="0"/>
          </a:lnRef>
          <a:fillRef idx="1001">
            <a:schemeClr val="lt1"/>
          </a:fillRef>
          <a:effectRef idx="0">
            <a:scrgbClr r="0" g="0" b="0"/>
          </a:effectRef>
          <a:fontRef idx="major"/>
        </p:style>
        <p:txBody>
          <a:bodyPr>
            <a:spAutoFit/>
          </a:bodyPr>
          <a:lstStyle/>
          <a:p>
            <a:pPr>
              <a:lnSpc>
                <a:spcPct val="150000"/>
              </a:lnSpc>
              <a:defRPr/>
            </a:pPr>
            <a:r>
              <a:rPr lang="en-US" b="1" dirty="0" err="1">
                <a:latin typeface="Lucida Bright" panose="02040602050505020304" pitchFamily="18" charset="0"/>
              </a:rPr>
              <a:t>mkdir</a:t>
            </a:r>
            <a:r>
              <a:rPr lang="en-US" b="1" dirty="0">
                <a:latin typeface="Lucida Bright" panose="02040602050505020304" pitchFamily="18" charset="0"/>
              </a:rPr>
              <a:t> COMMAND:</a:t>
            </a:r>
          </a:p>
          <a:p>
            <a:pPr>
              <a:lnSpc>
                <a:spcPct val="150000"/>
              </a:lnSpc>
              <a:defRPr/>
            </a:pPr>
            <a:r>
              <a:rPr lang="en-US" dirty="0" err="1">
                <a:latin typeface="Lucida Bright" panose="02040602050505020304" pitchFamily="18" charset="0"/>
              </a:rPr>
              <a:t>mkdir</a:t>
            </a:r>
            <a:r>
              <a:rPr lang="en-US" dirty="0">
                <a:latin typeface="Lucida Bright" panose="02040602050505020304" pitchFamily="18" charset="0"/>
              </a:rPr>
              <a:t> command is used to create one or more directories.</a:t>
            </a:r>
            <a:r>
              <a:rPr lang="en-US" b="1" dirty="0">
                <a:latin typeface="Lucida Bright" panose="02040602050505020304" pitchFamily="18" charset="0"/>
              </a:rPr>
              <a:t> </a:t>
            </a:r>
          </a:p>
          <a:p>
            <a:pPr>
              <a:lnSpc>
                <a:spcPct val="150000"/>
              </a:lnSpc>
              <a:defRPr/>
            </a:pPr>
            <a:r>
              <a:rPr lang="en-US" b="1" dirty="0">
                <a:latin typeface="Lucida Bright" panose="02040602050505020304" pitchFamily="18" charset="0"/>
              </a:rPr>
              <a:t>SYNTAX: </a:t>
            </a:r>
            <a:r>
              <a:rPr lang="en-US" b="1" dirty="0" err="1">
                <a:latin typeface="Lucida Bright" panose="02040602050505020304" pitchFamily="18" charset="0"/>
              </a:rPr>
              <a:t>mkdir</a:t>
            </a:r>
            <a:r>
              <a:rPr lang="en-US" b="1" dirty="0">
                <a:latin typeface="Lucida Bright" panose="02040602050505020304" pitchFamily="18" charset="0"/>
              </a:rPr>
              <a:t> [options] directories </a:t>
            </a:r>
          </a:p>
          <a:p>
            <a:pPr>
              <a:lnSpc>
                <a:spcPct val="150000"/>
              </a:lnSpc>
              <a:defRPr/>
            </a:pPr>
            <a:r>
              <a:rPr lang="en-US" b="1" dirty="0">
                <a:latin typeface="Lucida Bright" panose="02040602050505020304" pitchFamily="18" charset="0"/>
              </a:rPr>
              <a:t>OPTIONS:</a:t>
            </a:r>
          </a:p>
          <a:p>
            <a:pPr>
              <a:lnSpc>
                <a:spcPct val="150000"/>
              </a:lnSpc>
              <a:defRPr/>
            </a:pPr>
            <a:r>
              <a:rPr lang="en-US" dirty="0">
                <a:latin typeface="Lucida Bright" panose="02040602050505020304" pitchFamily="18" charset="0"/>
              </a:rPr>
              <a:t>-m 	Set the access mode for the new directories. 	</a:t>
            </a:r>
          </a:p>
          <a:p>
            <a:pPr>
              <a:lnSpc>
                <a:spcPct val="150000"/>
              </a:lnSpc>
              <a:defRPr/>
            </a:pPr>
            <a:r>
              <a:rPr lang="en-US" dirty="0">
                <a:latin typeface="Lucida Bright" panose="02040602050505020304" pitchFamily="18" charset="0"/>
              </a:rPr>
              <a:t>-p 	Create intervening parent directories if they don't exist. 	</a:t>
            </a:r>
          </a:p>
          <a:p>
            <a:pPr>
              <a:lnSpc>
                <a:spcPct val="150000"/>
              </a:lnSpc>
              <a:defRPr/>
            </a:pPr>
            <a:r>
              <a:rPr lang="en-US" dirty="0">
                <a:latin typeface="Lucida Bright" panose="02040602050505020304" pitchFamily="18" charset="0"/>
              </a:rPr>
              <a:t>-v 	Print help message for each directory created. 	</a:t>
            </a:r>
          </a:p>
          <a:p>
            <a:pPr>
              <a:lnSpc>
                <a:spcPct val="150000"/>
              </a:lnSpc>
              <a:defRPr/>
            </a:pPr>
            <a:r>
              <a:rPr lang="en-US" b="1" dirty="0">
                <a:latin typeface="Lucida Bright" panose="02040602050505020304" pitchFamily="18" charset="0"/>
              </a:rPr>
              <a:t>EXAMPLE: </a:t>
            </a:r>
          </a:p>
          <a:p>
            <a:pPr marL="342900" indent="-342900">
              <a:lnSpc>
                <a:spcPct val="150000"/>
              </a:lnSpc>
              <a:buFontTx/>
              <a:buAutoNum type="arabicPeriod"/>
              <a:defRPr/>
            </a:pPr>
            <a:r>
              <a:rPr lang="en-US" dirty="0">
                <a:latin typeface="Lucida Bright" panose="02040602050505020304" pitchFamily="18" charset="0"/>
              </a:rPr>
              <a:t>Create directory: </a:t>
            </a:r>
          </a:p>
          <a:p>
            <a:pPr marL="342900" indent="-342900">
              <a:lnSpc>
                <a:spcPct val="150000"/>
              </a:lnSpc>
              <a:defRPr/>
            </a:pPr>
            <a:r>
              <a:rPr lang="en-US" dirty="0" err="1">
                <a:latin typeface="Lucida Bright" panose="02040602050505020304" pitchFamily="18" charset="0"/>
              </a:rPr>
              <a:t>mkdir</a:t>
            </a:r>
            <a:r>
              <a:rPr lang="en-US" dirty="0">
                <a:latin typeface="Lucida Bright" panose="02040602050505020304" pitchFamily="18" charset="0"/>
              </a:rPr>
              <a:t> test </a:t>
            </a:r>
          </a:p>
          <a:p>
            <a:pPr>
              <a:lnSpc>
                <a:spcPct val="150000"/>
              </a:lnSpc>
              <a:defRPr/>
            </a:pPr>
            <a:r>
              <a:rPr lang="en-US" dirty="0">
                <a:latin typeface="Lucida Bright" panose="02040602050505020304" pitchFamily="18" charset="0"/>
              </a:rPr>
              <a:t>The above command is used to create the directory 'test'. </a:t>
            </a:r>
          </a:p>
          <a:p>
            <a:pPr>
              <a:lnSpc>
                <a:spcPct val="150000"/>
              </a:lnSpc>
              <a:defRPr/>
            </a:pPr>
            <a:r>
              <a:rPr lang="en-US" dirty="0">
                <a:latin typeface="Lucida Bright" panose="02040602050505020304" pitchFamily="18" charset="0"/>
              </a:rPr>
              <a:t>2. Create directory and set permissions: </a:t>
            </a:r>
          </a:p>
          <a:p>
            <a:pPr>
              <a:lnSpc>
                <a:spcPct val="150000"/>
              </a:lnSpc>
              <a:defRPr/>
            </a:pPr>
            <a:r>
              <a:rPr lang="en-US" dirty="0">
                <a:latin typeface="Lucida Bright" panose="02040602050505020304" pitchFamily="18" charset="0"/>
              </a:rPr>
              <a:t> </a:t>
            </a:r>
            <a:r>
              <a:rPr lang="en-US" dirty="0" err="1">
                <a:latin typeface="Lucida Bright" panose="02040602050505020304" pitchFamily="18" charset="0"/>
              </a:rPr>
              <a:t>mkdir</a:t>
            </a:r>
            <a:r>
              <a:rPr lang="en-US" dirty="0">
                <a:latin typeface="Lucida Bright" panose="02040602050505020304" pitchFamily="18" charset="0"/>
              </a:rPr>
              <a:t> -m 666 test </a:t>
            </a:r>
          </a:p>
          <a:p>
            <a:pPr>
              <a:lnSpc>
                <a:spcPct val="150000"/>
              </a:lnSpc>
              <a:defRPr/>
            </a:pPr>
            <a:r>
              <a:rPr lang="en-US" dirty="0">
                <a:latin typeface="Lucida Bright" panose="02040602050505020304" pitchFamily="18" charset="0"/>
              </a:rPr>
              <a:t>The above command is used to create the directory 'test' and set the read and write permission.</a:t>
            </a:r>
            <a:endParaRPr lang="en-US" b="1" dirty="0">
              <a:latin typeface="Lucida Bright" panose="02040602050505020304" pitchFamily="18" charset="0"/>
            </a:endParaRPr>
          </a:p>
        </p:txBody>
      </p:sp>
      <p:sp>
        <p:nvSpPr>
          <p:cNvPr id="7" name="Rectangle 2"/>
          <p:cNvSpPr>
            <a:spLocks noChangeArrowheads="1"/>
          </p:cNvSpPr>
          <p:nvPr/>
        </p:nvSpPr>
        <p:spPr bwMode="auto">
          <a:xfrm>
            <a:off x="0" y="0"/>
            <a:ext cx="9144000" cy="685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lang="en-US" sz="4000" dirty="0" smtClean="0">
                <a:latin typeface="Arial" panose="020B0604020202020204" pitchFamily="34" charset="0"/>
                <a:cs typeface="Arial" panose="020B0604020202020204" pitchFamily="34" charset="0"/>
              </a:rPr>
              <a:t>Commands </a:t>
            </a:r>
            <a:endParaRPr lang="en-US" sz="2400"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990600"/>
            <a:ext cx="9144000" cy="5441950"/>
          </a:xfrm>
          <a:prstGeom prst="rect">
            <a:avLst/>
          </a:prstGeom>
        </p:spPr>
        <p:style>
          <a:lnRef idx="0">
            <a:scrgbClr r="0" g="0" b="0"/>
          </a:lnRef>
          <a:fillRef idx="1001">
            <a:schemeClr val="lt1"/>
          </a:fillRef>
          <a:effectRef idx="0">
            <a:scrgbClr r="0" g="0" b="0"/>
          </a:effectRef>
          <a:fontRef idx="major"/>
        </p:style>
        <p:txBody>
          <a:bodyPr>
            <a:spAutoFit/>
          </a:bodyPr>
          <a:lstStyle/>
          <a:p>
            <a:pPr>
              <a:lnSpc>
                <a:spcPct val="150000"/>
              </a:lnSpc>
              <a:defRPr/>
            </a:pPr>
            <a:r>
              <a:rPr lang="en-US" dirty="0" err="1">
                <a:latin typeface="Lucida Bright" panose="02040602050505020304" pitchFamily="18" charset="0"/>
              </a:rPr>
              <a:t>rmdir</a:t>
            </a:r>
            <a:r>
              <a:rPr lang="en-US" dirty="0">
                <a:latin typeface="Lucida Bright" panose="02040602050505020304" pitchFamily="18" charset="0"/>
              </a:rPr>
              <a:t> COMMAND:</a:t>
            </a:r>
          </a:p>
          <a:p>
            <a:pPr>
              <a:lnSpc>
                <a:spcPct val="150000"/>
              </a:lnSpc>
              <a:defRPr/>
            </a:pPr>
            <a:r>
              <a:rPr lang="en-US" dirty="0" err="1">
                <a:latin typeface="Lucida Bright" panose="02040602050505020304" pitchFamily="18" charset="0"/>
              </a:rPr>
              <a:t>rmdir</a:t>
            </a:r>
            <a:r>
              <a:rPr lang="en-US" dirty="0">
                <a:latin typeface="Lucida Bright" panose="02040602050505020304" pitchFamily="18" charset="0"/>
              </a:rPr>
              <a:t> command is used to delete/remove a directory and its subdirectories.</a:t>
            </a:r>
          </a:p>
          <a:p>
            <a:pPr>
              <a:lnSpc>
                <a:spcPct val="150000"/>
              </a:lnSpc>
              <a:defRPr/>
            </a:pPr>
            <a:r>
              <a:rPr lang="en-US" dirty="0">
                <a:latin typeface="Lucida Bright" panose="02040602050505020304" pitchFamily="18" charset="0"/>
              </a:rPr>
              <a:t>SYNTAX: The Syntax is </a:t>
            </a:r>
            <a:r>
              <a:rPr lang="en-US" dirty="0" err="1">
                <a:latin typeface="Lucida Bright" panose="02040602050505020304" pitchFamily="18" charset="0"/>
              </a:rPr>
              <a:t>rmdir</a:t>
            </a:r>
            <a:r>
              <a:rPr lang="en-US" dirty="0">
                <a:latin typeface="Lucida Bright" panose="02040602050505020304" pitchFamily="18" charset="0"/>
              </a:rPr>
              <a:t> [options..] Directory OPTIONS: -p 	Allow users to remove the directory </a:t>
            </a:r>
            <a:r>
              <a:rPr lang="en-US" dirty="0" err="1">
                <a:latin typeface="Lucida Bright" panose="02040602050505020304" pitchFamily="18" charset="0"/>
              </a:rPr>
              <a:t>dirname</a:t>
            </a:r>
            <a:r>
              <a:rPr lang="en-US" dirty="0">
                <a:latin typeface="Lucida Bright" panose="02040602050505020304" pitchFamily="18" charset="0"/>
              </a:rPr>
              <a:t> and its parent directories which become empty. </a:t>
            </a:r>
          </a:p>
          <a:p>
            <a:pPr>
              <a:lnSpc>
                <a:spcPct val="150000"/>
              </a:lnSpc>
              <a:defRPr/>
            </a:pPr>
            <a:r>
              <a:rPr lang="en-US" dirty="0">
                <a:latin typeface="Lucida Bright" panose="02040602050505020304" pitchFamily="18" charset="0"/>
              </a:rPr>
              <a:t>EXAMPLE:</a:t>
            </a:r>
          </a:p>
          <a:p>
            <a:pPr>
              <a:lnSpc>
                <a:spcPct val="150000"/>
              </a:lnSpc>
              <a:defRPr/>
            </a:pPr>
            <a:r>
              <a:rPr lang="en-US" dirty="0">
                <a:latin typeface="Lucida Bright" panose="02040602050505020304" pitchFamily="18" charset="0"/>
              </a:rPr>
              <a:t>1. To delete/remove a directory </a:t>
            </a:r>
          </a:p>
          <a:p>
            <a:pPr>
              <a:lnSpc>
                <a:spcPct val="150000"/>
              </a:lnSpc>
              <a:defRPr/>
            </a:pPr>
            <a:r>
              <a:rPr lang="en-US" dirty="0" err="1">
                <a:latin typeface="Lucida Bright" panose="02040602050505020304" pitchFamily="18" charset="0"/>
              </a:rPr>
              <a:t>rmdir</a:t>
            </a:r>
            <a:r>
              <a:rPr lang="en-US" dirty="0">
                <a:latin typeface="Lucida Bright" panose="02040602050505020304" pitchFamily="18" charset="0"/>
              </a:rPr>
              <a:t> </a:t>
            </a:r>
            <a:r>
              <a:rPr lang="en-US" dirty="0" err="1">
                <a:latin typeface="Lucida Bright" panose="02040602050505020304" pitchFamily="18" charset="0"/>
              </a:rPr>
              <a:t>tmp</a:t>
            </a:r>
            <a:r>
              <a:rPr lang="en-US" dirty="0">
                <a:latin typeface="Lucida Bright" panose="02040602050505020304" pitchFamily="18" charset="0"/>
              </a:rPr>
              <a:t> </a:t>
            </a:r>
          </a:p>
          <a:p>
            <a:pPr>
              <a:lnSpc>
                <a:spcPct val="150000"/>
              </a:lnSpc>
              <a:defRPr/>
            </a:pPr>
            <a:r>
              <a:rPr lang="en-US" dirty="0" err="1">
                <a:latin typeface="Lucida Bright" panose="02040602050505020304" pitchFamily="18" charset="0"/>
              </a:rPr>
              <a:t>rmdir</a:t>
            </a:r>
            <a:r>
              <a:rPr lang="en-US" dirty="0">
                <a:latin typeface="Lucida Bright" panose="02040602050505020304" pitchFamily="18" charset="0"/>
              </a:rPr>
              <a:t> command will remove/delete the directory </a:t>
            </a:r>
            <a:r>
              <a:rPr lang="en-US" dirty="0" err="1">
                <a:latin typeface="Lucida Bright" panose="02040602050505020304" pitchFamily="18" charset="0"/>
              </a:rPr>
              <a:t>tmp</a:t>
            </a:r>
            <a:r>
              <a:rPr lang="en-US" dirty="0">
                <a:latin typeface="Lucida Bright" panose="02040602050505020304" pitchFamily="18" charset="0"/>
              </a:rPr>
              <a:t> if the directory is empty. </a:t>
            </a:r>
          </a:p>
          <a:p>
            <a:pPr>
              <a:lnSpc>
                <a:spcPct val="150000"/>
              </a:lnSpc>
              <a:defRPr/>
            </a:pPr>
            <a:r>
              <a:rPr lang="en-US" dirty="0">
                <a:latin typeface="Lucida Bright" panose="02040602050505020304" pitchFamily="18" charset="0"/>
              </a:rPr>
              <a:t>2. To delete a directory tree: </a:t>
            </a:r>
          </a:p>
          <a:p>
            <a:pPr>
              <a:lnSpc>
                <a:spcPct val="150000"/>
              </a:lnSpc>
              <a:defRPr/>
            </a:pPr>
            <a:r>
              <a:rPr lang="en-US" dirty="0" err="1">
                <a:latin typeface="Lucida Bright" panose="02040602050505020304" pitchFamily="18" charset="0"/>
              </a:rPr>
              <a:t>rm</a:t>
            </a:r>
            <a:r>
              <a:rPr lang="en-US" dirty="0">
                <a:latin typeface="Lucida Bright" panose="02040602050505020304" pitchFamily="18" charset="0"/>
              </a:rPr>
              <a:t> -</a:t>
            </a:r>
            <a:r>
              <a:rPr lang="en-US" dirty="0" err="1">
                <a:latin typeface="Lucida Bright" panose="02040602050505020304" pitchFamily="18" charset="0"/>
              </a:rPr>
              <a:t>ir</a:t>
            </a:r>
            <a:r>
              <a:rPr lang="en-US" dirty="0">
                <a:latin typeface="Lucida Bright" panose="02040602050505020304" pitchFamily="18" charset="0"/>
              </a:rPr>
              <a:t> </a:t>
            </a:r>
            <a:r>
              <a:rPr lang="en-US" dirty="0" err="1">
                <a:latin typeface="Lucida Bright" panose="02040602050505020304" pitchFamily="18" charset="0"/>
              </a:rPr>
              <a:t>tmp</a:t>
            </a:r>
            <a:r>
              <a:rPr lang="en-US" dirty="0">
                <a:latin typeface="Lucida Bright" panose="02040602050505020304" pitchFamily="18" charset="0"/>
              </a:rPr>
              <a:t> </a:t>
            </a:r>
          </a:p>
          <a:p>
            <a:pPr>
              <a:lnSpc>
                <a:spcPct val="150000"/>
              </a:lnSpc>
              <a:defRPr/>
            </a:pPr>
            <a:r>
              <a:rPr lang="en-US" dirty="0">
                <a:latin typeface="Lucida Bright" panose="02040602050505020304" pitchFamily="18" charset="0"/>
              </a:rPr>
              <a:t>This command recursively removes the contents of all subdirectories of the </a:t>
            </a:r>
            <a:r>
              <a:rPr lang="en-US" dirty="0" err="1">
                <a:latin typeface="Lucida Bright" panose="02040602050505020304" pitchFamily="18" charset="0"/>
              </a:rPr>
              <a:t>tmp</a:t>
            </a:r>
            <a:r>
              <a:rPr lang="en-US" dirty="0">
                <a:latin typeface="Lucida Bright" panose="02040602050505020304" pitchFamily="18" charset="0"/>
              </a:rPr>
              <a:t> directory, prompting you regarding the removal of each file, and then removes the </a:t>
            </a:r>
            <a:r>
              <a:rPr lang="en-US" dirty="0" err="1">
                <a:latin typeface="Lucida Bright" panose="02040602050505020304" pitchFamily="18" charset="0"/>
              </a:rPr>
              <a:t>tmp</a:t>
            </a:r>
            <a:r>
              <a:rPr lang="en-US" dirty="0">
                <a:latin typeface="Lucida Bright" panose="02040602050505020304" pitchFamily="18" charset="0"/>
              </a:rPr>
              <a:t> directory itself.</a:t>
            </a:r>
          </a:p>
        </p:txBody>
      </p:sp>
      <p:sp>
        <p:nvSpPr>
          <p:cNvPr id="4"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lang="en-US" sz="4000" dirty="0" smtClean="0">
                <a:latin typeface="Arial" panose="020B0604020202020204" pitchFamily="34" charset="0"/>
                <a:cs typeface="Arial" panose="020B0604020202020204" pitchFamily="34" charset="0"/>
              </a:rPr>
              <a:t>Commands</a:t>
            </a:r>
            <a:endParaRPr lang="en-US" sz="2400"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defRPr/>
            </a:pPr>
            <a:r>
              <a:rPr lang="en-US" sz="4000" b="1" dirty="0">
                <a:latin typeface="Arial" panose="020B0604020202020204" pitchFamily="34" charset="0"/>
                <a:cs typeface="Arial" panose="020B0604020202020204" pitchFamily="34" charset="0"/>
              </a:rPr>
              <a:t>		</a:t>
            </a:r>
            <a:r>
              <a:rPr lang="en-US" sz="4000" b="1" dirty="0" smtClean="0">
                <a:latin typeface="Arial" panose="020B0604020202020204" pitchFamily="34" charset="0"/>
                <a:cs typeface="Arial" panose="020B0604020202020204" pitchFamily="34" charset="0"/>
              </a:rPr>
              <a:t>Commands </a:t>
            </a:r>
            <a:endParaRPr lang="en-US" sz="2400" dirty="0" smtClean="0">
              <a:effectLst>
                <a:outerShdw blurRad="38100" dist="38100" dir="2700000" algn="tl">
                  <a:srgbClr val="C0C0C0"/>
                </a:outerShdw>
              </a:effectLst>
            </a:endParaRPr>
          </a:p>
          <a:p>
            <a:pPr>
              <a:defRPr/>
            </a:pPr>
            <a:endParaRPr lang="en-US" sz="2400" dirty="0">
              <a:effectLst>
                <a:outerShdw blurRad="38100" dist="38100" dir="2700000" algn="tl">
                  <a:srgbClr val="C0C0C0"/>
                </a:outerShdw>
              </a:effectLst>
            </a:endParaRPr>
          </a:p>
        </p:txBody>
      </p:sp>
      <p:sp>
        <p:nvSpPr>
          <p:cNvPr id="12" name="TextBox 11"/>
          <p:cNvSpPr txBox="1"/>
          <p:nvPr/>
        </p:nvSpPr>
        <p:spPr>
          <a:xfrm>
            <a:off x="0" y="990600"/>
            <a:ext cx="9144000" cy="5494338"/>
          </a:xfrm>
          <a:prstGeom prst="rect">
            <a:avLst/>
          </a:prstGeom>
        </p:spPr>
        <p:style>
          <a:lnRef idx="0">
            <a:scrgbClr r="0" g="0" b="0"/>
          </a:lnRef>
          <a:fillRef idx="1001">
            <a:schemeClr val="lt1"/>
          </a:fillRef>
          <a:effectRef idx="0">
            <a:scrgbClr r="0" g="0" b="0"/>
          </a:effectRef>
          <a:fontRef idx="major"/>
        </p:style>
        <p:txBody>
          <a:bodyPr>
            <a:spAutoFit/>
          </a:bodyPr>
          <a:lstStyle/>
          <a:p>
            <a:pPr>
              <a:lnSpc>
                <a:spcPct val="150000"/>
              </a:lnSpc>
              <a:defRPr/>
            </a:pPr>
            <a:r>
              <a:rPr lang="en-US" dirty="0">
                <a:latin typeface="Lucida Bright" panose="02040602050505020304" pitchFamily="18" charset="0"/>
              </a:rPr>
              <a:t>cp COMMAND:</a:t>
            </a:r>
          </a:p>
          <a:p>
            <a:pPr>
              <a:lnSpc>
                <a:spcPct val="150000"/>
              </a:lnSpc>
              <a:defRPr/>
            </a:pPr>
            <a:r>
              <a:rPr lang="en-US" dirty="0">
                <a:latin typeface="Lucida Bright" panose="02040602050505020304" pitchFamily="18" charset="0"/>
              </a:rPr>
              <a:t>cp command copy files from one location to another. If the destination is an existing file, then the file is overwritten; if the destination is an existing directory, the file is copied into the directory (the directory is not overwritten). SYNTAX: $cp [OPTIONS]... SOURCE DEST </a:t>
            </a:r>
          </a:p>
          <a:p>
            <a:pPr>
              <a:lnSpc>
                <a:spcPct val="150000"/>
              </a:lnSpc>
              <a:defRPr/>
            </a:pPr>
            <a:r>
              <a:rPr lang="en-US" dirty="0">
                <a:latin typeface="Lucida Bright" panose="02040602050505020304" pitchFamily="18" charset="0"/>
              </a:rPr>
              <a:t>cp [OPTIONS]... SOURCE... DIRECTORY </a:t>
            </a:r>
          </a:p>
          <a:p>
            <a:pPr>
              <a:lnSpc>
                <a:spcPct val="150000"/>
              </a:lnSpc>
              <a:defRPr/>
            </a:pPr>
            <a:r>
              <a:rPr lang="en-US" dirty="0">
                <a:latin typeface="Lucida Bright" panose="02040602050505020304" pitchFamily="18" charset="0"/>
              </a:rPr>
              <a:t>cp [OPTIONS]... --target-directory=DIRECTORY SOURCE... </a:t>
            </a:r>
          </a:p>
          <a:p>
            <a:pPr>
              <a:lnSpc>
                <a:spcPct val="150000"/>
              </a:lnSpc>
              <a:defRPr/>
            </a:pPr>
            <a:r>
              <a:rPr lang="en-US" dirty="0">
                <a:latin typeface="Lucida Bright" panose="02040602050505020304" pitchFamily="18" charset="0"/>
              </a:rPr>
              <a:t>OPTIONS: </a:t>
            </a:r>
          </a:p>
          <a:p>
            <a:pPr>
              <a:lnSpc>
                <a:spcPct val="150000"/>
              </a:lnSpc>
              <a:defRPr/>
            </a:pPr>
            <a:r>
              <a:rPr lang="en-US" dirty="0">
                <a:latin typeface="Lucida Bright" panose="02040602050505020304" pitchFamily="18" charset="0"/>
              </a:rPr>
              <a:t>--a   same as -</a:t>
            </a:r>
            <a:r>
              <a:rPr lang="en-US" dirty="0" err="1">
                <a:latin typeface="Lucida Bright" panose="02040602050505020304" pitchFamily="18" charset="0"/>
              </a:rPr>
              <a:t>dpR</a:t>
            </a:r>
            <a:r>
              <a:rPr lang="en-US" dirty="0">
                <a:latin typeface="Lucida Bright" panose="02040602050505020304" pitchFamily="18" charset="0"/>
              </a:rPr>
              <a:t>. 	</a:t>
            </a:r>
          </a:p>
          <a:p>
            <a:pPr>
              <a:lnSpc>
                <a:spcPct val="150000"/>
              </a:lnSpc>
              <a:defRPr/>
            </a:pPr>
            <a:r>
              <a:rPr lang="en-US" dirty="0">
                <a:latin typeface="Lucida Bright" panose="02040602050505020304" pitchFamily="18" charset="0"/>
              </a:rPr>
              <a:t>--backup[=CONTROL] 	make a backup of each existing destination file 	</a:t>
            </a:r>
          </a:p>
          <a:p>
            <a:pPr>
              <a:lnSpc>
                <a:spcPct val="150000"/>
              </a:lnSpc>
              <a:defRPr/>
            </a:pPr>
            <a:r>
              <a:rPr lang="en-US" dirty="0">
                <a:latin typeface="Lucida Bright" panose="02040602050505020304" pitchFamily="18" charset="0"/>
              </a:rPr>
              <a:t>-b  like --backup but does not accept an argument. 	</a:t>
            </a:r>
          </a:p>
          <a:p>
            <a:pPr>
              <a:lnSpc>
                <a:spcPct val="150000"/>
              </a:lnSpc>
              <a:defRPr/>
            </a:pPr>
            <a:r>
              <a:rPr lang="en-US" dirty="0">
                <a:latin typeface="Lucida Bright" panose="02040602050505020304" pitchFamily="18" charset="0"/>
              </a:rPr>
              <a:t>-f   if an existing destination file cannot be opened, remove it and try 	</a:t>
            </a:r>
          </a:p>
          <a:p>
            <a:pPr>
              <a:lnSpc>
                <a:spcPct val="150000"/>
              </a:lnSpc>
              <a:defRPr/>
            </a:pPr>
            <a:endParaRPr lang="en-US"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defRPr/>
            </a:pPr>
            <a:r>
              <a:rPr lang="en-US" sz="4000" b="1" dirty="0">
                <a:latin typeface="Arial" panose="020B0604020202020204" pitchFamily="34" charset="0"/>
                <a:cs typeface="Arial" panose="020B0604020202020204" pitchFamily="34" charset="0"/>
              </a:rPr>
              <a:t>		</a:t>
            </a:r>
            <a:r>
              <a:rPr lang="en-US" sz="4000" b="1" dirty="0" smtClean="0">
                <a:latin typeface="Arial" panose="020B0604020202020204" pitchFamily="34" charset="0"/>
                <a:cs typeface="Arial" panose="020B0604020202020204" pitchFamily="34" charset="0"/>
              </a:rPr>
              <a:t>	Commands </a:t>
            </a:r>
            <a:endParaRPr lang="en-US" sz="2400" dirty="0" smtClean="0">
              <a:effectLst>
                <a:outerShdw blurRad="38100" dist="38100" dir="2700000" algn="tl">
                  <a:srgbClr val="C0C0C0"/>
                </a:outerShdw>
              </a:effectLst>
            </a:endParaRPr>
          </a:p>
          <a:p>
            <a:pPr>
              <a:defRPr/>
            </a:pPr>
            <a:endParaRPr lang="en-US" sz="2400" dirty="0">
              <a:effectLst>
                <a:outerShdw blurRad="38100" dist="38100" dir="2700000" algn="tl">
                  <a:srgbClr val="C0C0C0"/>
                </a:outerShdw>
              </a:effectLst>
            </a:endParaRPr>
          </a:p>
        </p:txBody>
      </p:sp>
      <p:sp>
        <p:nvSpPr>
          <p:cNvPr id="12" name="TextBox 11"/>
          <p:cNvSpPr txBox="1"/>
          <p:nvPr/>
        </p:nvSpPr>
        <p:spPr>
          <a:xfrm>
            <a:off x="0" y="990600"/>
            <a:ext cx="9144000" cy="5493812"/>
          </a:xfrm>
          <a:prstGeom prst="rect">
            <a:avLst/>
          </a:prstGeom>
        </p:spPr>
        <p:style>
          <a:lnRef idx="0">
            <a:scrgbClr r="0" g="0" b="0"/>
          </a:lnRef>
          <a:fillRef idx="1001">
            <a:schemeClr val="lt1"/>
          </a:fillRef>
          <a:effectRef idx="0">
            <a:scrgbClr r="0" g="0" b="0"/>
          </a:effectRef>
          <a:fontRef idx="major"/>
        </p:style>
        <p:txBody>
          <a:bodyPr>
            <a:spAutoFit/>
          </a:bodyPr>
          <a:lstStyle/>
          <a:p>
            <a:pPr>
              <a:lnSpc>
                <a:spcPct val="150000"/>
              </a:lnSpc>
            </a:pPr>
            <a:r>
              <a:rPr lang="en-US" dirty="0" smtClean="0">
                <a:latin typeface="Lucida Bright" panose="02040602050505020304" pitchFamily="18" charset="0"/>
              </a:rPr>
              <a:t>Example4:Search for a file name test.txt and its permissions are 775 in a given box</a:t>
            </a:r>
          </a:p>
          <a:p>
            <a:pPr>
              <a:lnSpc>
                <a:spcPct val="150000"/>
              </a:lnSpc>
            </a:pPr>
            <a:r>
              <a:rPr lang="en-US" dirty="0" smtClean="0">
                <a:latin typeface="Lucida Bright" panose="02040602050505020304" pitchFamily="18" charset="0"/>
              </a:rPr>
              <a:t>find / -perm 775 –name test.txt </a:t>
            </a:r>
          </a:p>
          <a:p>
            <a:pPr>
              <a:lnSpc>
                <a:spcPct val="150000"/>
              </a:lnSpc>
            </a:pPr>
            <a:r>
              <a:rPr lang="en-US" dirty="0" smtClean="0">
                <a:latin typeface="Lucida Bright" panose="02040602050505020304" pitchFamily="18" charset="0"/>
              </a:rPr>
              <a:t>Example5: How about </a:t>
            </a:r>
            <a:r>
              <a:rPr lang="en-US" dirty="0" err="1" smtClean="0">
                <a:latin typeface="Lucida Bright" panose="02040602050505020304" pitchFamily="18" charset="0"/>
              </a:rPr>
              <a:t>searcing</a:t>
            </a:r>
            <a:r>
              <a:rPr lang="en-US" dirty="0" smtClean="0">
                <a:latin typeface="Lucida Bright" panose="02040602050505020304" pitchFamily="18" charset="0"/>
              </a:rPr>
              <a:t> files with SUID bit set and file permissions are 755?</a:t>
            </a:r>
          </a:p>
          <a:p>
            <a:pPr>
              <a:lnSpc>
                <a:spcPct val="150000"/>
              </a:lnSpc>
            </a:pPr>
            <a:r>
              <a:rPr lang="en-US" dirty="0" smtClean="0">
                <a:latin typeface="Lucida Bright" panose="02040602050505020304" pitchFamily="18" charset="0"/>
              </a:rPr>
              <a:t>find / -perm 4755 </a:t>
            </a:r>
          </a:p>
          <a:p>
            <a:pPr>
              <a:lnSpc>
                <a:spcPct val="150000"/>
              </a:lnSpc>
            </a:pPr>
            <a:r>
              <a:rPr lang="en-US" dirty="0" smtClean="0">
                <a:latin typeface="Lucida Bright" panose="02040602050505020304" pitchFamily="18" charset="0"/>
              </a:rPr>
              <a:t>Example6: Search for all the files with name test.txt and the owner of this file is </a:t>
            </a:r>
            <a:r>
              <a:rPr lang="en-US" dirty="0" err="1" smtClean="0">
                <a:latin typeface="Lucida Bright" panose="02040602050505020304" pitchFamily="18" charset="0"/>
              </a:rPr>
              <a:t>amar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find / -user </a:t>
            </a:r>
            <a:r>
              <a:rPr lang="en-US" dirty="0" err="1" smtClean="0">
                <a:latin typeface="Lucida Bright" panose="02040602050505020304" pitchFamily="18" charset="0"/>
              </a:rPr>
              <a:t>Surendra</a:t>
            </a:r>
            <a:r>
              <a:rPr lang="en-US" dirty="0" smtClean="0">
                <a:latin typeface="Lucida Bright" panose="02040602050505020304" pitchFamily="18" charset="0"/>
              </a:rPr>
              <a:t> –name test.txt </a:t>
            </a:r>
          </a:p>
          <a:p>
            <a:pPr>
              <a:lnSpc>
                <a:spcPct val="150000"/>
              </a:lnSpc>
            </a:pPr>
            <a:r>
              <a:rPr lang="en-US" dirty="0" smtClean="0">
                <a:latin typeface="Lucida Bright" panose="02040602050505020304" pitchFamily="18" charset="0"/>
              </a:rPr>
              <a:t>Example7: find all the files </a:t>
            </a:r>
            <a:r>
              <a:rPr lang="en-US" dirty="0" err="1" smtClean="0">
                <a:latin typeface="Lucida Bright" panose="02040602050505020304" pitchFamily="18" charset="0"/>
              </a:rPr>
              <a:t>whos</a:t>
            </a:r>
            <a:r>
              <a:rPr lang="en-US" dirty="0" smtClean="0">
                <a:latin typeface="Lucida Bright" panose="02040602050505020304" pitchFamily="18" charset="0"/>
              </a:rPr>
              <a:t> name is test.txt and owned by a group called </a:t>
            </a:r>
            <a:r>
              <a:rPr lang="en-US" dirty="0" err="1" smtClean="0">
                <a:latin typeface="Lucida Bright" panose="02040602050505020304" pitchFamily="18" charset="0"/>
              </a:rPr>
              <a:t>redcluster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find / -group </a:t>
            </a:r>
            <a:r>
              <a:rPr lang="en-US" dirty="0" err="1" smtClean="0">
                <a:latin typeface="Lucida Bright" panose="02040602050505020304" pitchFamily="18" charset="0"/>
              </a:rPr>
              <a:t>redcluster</a:t>
            </a:r>
            <a:r>
              <a:rPr lang="en-US" dirty="0" smtClean="0">
                <a:latin typeface="Lucida Bright" panose="02040602050505020304" pitchFamily="18" charset="0"/>
              </a:rPr>
              <a:t> –name test.txt </a:t>
            </a:r>
          </a:p>
          <a:p>
            <a:pPr>
              <a:lnSpc>
                <a:spcPct val="150000"/>
              </a:lnSpc>
            </a:pPr>
            <a:endParaRPr lang="en-US"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defRPr/>
            </a:pPr>
            <a:r>
              <a:rPr lang="en-US" sz="4000" b="1" dirty="0">
                <a:latin typeface="Arial" panose="020B0604020202020204" pitchFamily="34" charset="0"/>
                <a:cs typeface="Arial" panose="020B0604020202020204" pitchFamily="34" charset="0"/>
              </a:rPr>
              <a:t>		</a:t>
            </a:r>
            <a:r>
              <a:rPr lang="en-US" sz="4000" b="1" dirty="0" smtClean="0">
                <a:latin typeface="Arial" panose="020B0604020202020204" pitchFamily="34" charset="0"/>
                <a:cs typeface="Arial" panose="020B0604020202020204" pitchFamily="34" charset="0"/>
              </a:rPr>
              <a:t>	Commands</a:t>
            </a:r>
            <a:endParaRPr lang="en-US" sz="2400" dirty="0" smtClean="0">
              <a:effectLst>
                <a:outerShdw blurRad="38100" dist="38100" dir="2700000" algn="tl">
                  <a:srgbClr val="C0C0C0"/>
                </a:outerShdw>
              </a:effectLst>
            </a:endParaRPr>
          </a:p>
          <a:p>
            <a:pPr>
              <a:defRPr/>
            </a:pPr>
            <a:endParaRPr lang="en-US" sz="2400" dirty="0">
              <a:effectLst>
                <a:outerShdw blurRad="38100" dist="38100" dir="2700000" algn="tl">
                  <a:srgbClr val="C0C0C0"/>
                </a:outerShdw>
              </a:effectLst>
            </a:endParaRPr>
          </a:p>
        </p:txBody>
      </p:sp>
      <p:sp>
        <p:nvSpPr>
          <p:cNvPr id="12" name="TextBox 11"/>
          <p:cNvSpPr txBox="1"/>
          <p:nvPr/>
        </p:nvSpPr>
        <p:spPr>
          <a:xfrm>
            <a:off x="0" y="990600"/>
            <a:ext cx="9144000" cy="4247317"/>
          </a:xfrm>
          <a:prstGeom prst="rect">
            <a:avLst/>
          </a:prstGeom>
        </p:spPr>
        <p:style>
          <a:lnRef idx="0">
            <a:scrgbClr r="0" g="0" b="0"/>
          </a:lnRef>
          <a:fillRef idx="1001">
            <a:schemeClr val="lt1"/>
          </a:fillRef>
          <a:effectRef idx="0">
            <a:scrgbClr r="0" g="0" b="0"/>
          </a:effectRef>
          <a:fontRef idx="major"/>
        </p:style>
        <p:txBody>
          <a:bodyPr>
            <a:spAutoFit/>
          </a:bodyPr>
          <a:lstStyle/>
          <a:p>
            <a:pPr>
              <a:lnSpc>
                <a:spcPct val="150000"/>
              </a:lnSpc>
            </a:pPr>
            <a:r>
              <a:rPr lang="en-US" dirty="0" err="1" smtClean="0">
                <a:latin typeface="Lucida Bright" panose="02040602050505020304" pitchFamily="18" charset="0"/>
              </a:rPr>
              <a:t>Pwd</a:t>
            </a:r>
            <a:r>
              <a:rPr lang="en-US" dirty="0" smtClean="0">
                <a:latin typeface="Lucida Bright" panose="02040602050505020304" pitchFamily="18" charset="0"/>
              </a:rPr>
              <a:t> COMMAND:</a:t>
            </a:r>
          </a:p>
          <a:p>
            <a:pPr>
              <a:lnSpc>
                <a:spcPct val="150000"/>
              </a:lnSpc>
            </a:pPr>
            <a:r>
              <a:rPr lang="en-US" dirty="0" smtClean="0">
                <a:latin typeface="Lucida Bright" panose="02040602050505020304" pitchFamily="18" charset="0"/>
              </a:rPr>
              <a:t>Short for print working directory the </a:t>
            </a:r>
            <a:r>
              <a:rPr lang="en-US" dirty="0" err="1" smtClean="0">
                <a:latin typeface="Lucida Bright" panose="02040602050505020304" pitchFamily="18" charset="0"/>
              </a:rPr>
              <a:t>pwd</a:t>
            </a:r>
            <a:r>
              <a:rPr lang="en-US" dirty="0" smtClean="0">
                <a:latin typeface="Lucida Bright" panose="02040602050505020304" pitchFamily="18" charset="0"/>
              </a:rPr>
              <a:t> command displays the name of the current working directory.</a:t>
            </a:r>
          </a:p>
          <a:p>
            <a:pPr>
              <a:lnSpc>
                <a:spcPct val="150000"/>
              </a:lnSpc>
            </a:pPr>
            <a:r>
              <a:rPr lang="en-US" dirty="0" smtClean="0">
                <a:latin typeface="Lucida Bright" panose="02040602050505020304" pitchFamily="18" charset="0"/>
              </a:rPr>
              <a:t>Syntax</a:t>
            </a:r>
          </a:p>
          <a:p>
            <a:pPr>
              <a:lnSpc>
                <a:spcPct val="150000"/>
              </a:lnSpc>
            </a:pPr>
            <a:r>
              <a:rPr lang="en-US" dirty="0" err="1" smtClean="0">
                <a:latin typeface="Lucida Bright" panose="02040602050505020304" pitchFamily="18" charset="0"/>
              </a:rPr>
              <a:t>pwd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Examples</a:t>
            </a:r>
          </a:p>
          <a:p>
            <a:pPr>
              <a:lnSpc>
                <a:spcPct val="150000"/>
              </a:lnSpc>
            </a:pPr>
            <a:r>
              <a:rPr lang="en-US" b="1" dirty="0" err="1" smtClean="0">
                <a:latin typeface="Lucida Bright" panose="02040602050505020304" pitchFamily="18" charset="0"/>
              </a:rPr>
              <a:t>pwd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Typing </a:t>
            </a:r>
            <a:r>
              <a:rPr lang="en-US" dirty="0" err="1" smtClean="0">
                <a:latin typeface="Lucida Bright" panose="02040602050505020304" pitchFamily="18" charset="0"/>
              </a:rPr>
              <a:t>pwd</a:t>
            </a:r>
            <a:r>
              <a:rPr lang="en-US" dirty="0" smtClean="0">
                <a:latin typeface="Lucida Bright" panose="02040602050505020304" pitchFamily="18" charset="0"/>
              </a:rPr>
              <a:t> at the prompt would give you something similar to:</a:t>
            </a:r>
          </a:p>
          <a:p>
            <a:pPr>
              <a:lnSpc>
                <a:spcPct val="150000"/>
              </a:lnSpc>
            </a:pPr>
            <a:r>
              <a:rPr lang="en-US" dirty="0" smtClean="0">
                <a:latin typeface="Lucida Bright" panose="02040602050505020304" pitchFamily="18" charset="0"/>
              </a:rPr>
              <a:t>/home/</a:t>
            </a:r>
            <a:r>
              <a:rPr lang="en-US" dirty="0" err="1" smtClean="0">
                <a:latin typeface="Lucida Bright" panose="02040602050505020304" pitchFamily="18" charset="0"/>
              </a:rPr>
              <a:t>computerhope</a:t>
            </a:r>
            <a:r>
              <a:rPr lang="en-US" dirty="0" smtClean="0">
                <a:latin typeface="Lucida Bright" panose="02040602050505020304" pitchFamily="18" charset="0"/>
              </a:rPr>
              <a:t>/</a:t>
            </a:r>
            <a:r>
              <a:rPr lang="en-US" dirty="0" err="1" smtClean="0">
                <a:latin typeface="Lucida Bright" panose="02040602050505020304" pitchFamily="18" charset="0"/>
              </a:rPr>
              <a:t>public_html</a:t>
            </a:r>
            <a:endParaRPr lang="en-US" dirty="0" smtClean="0">
              <a:latin typeface="Lucida Bright" panose="02040602050505020304" pitchFamily="18" charset="0"/>
            </a:endParaRPr>
          </a:p>
          <a:p>
            <a:pPr>
              <a:lnSpc>
                <a:spcPct val="150000"/>
              </a:lnSpc>
            </a:pPr>
            <a:endParaRPr lang="en-US"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defRPr/>
            </a:pPr>
            <a:r>
              <a:rPr lang="en-US" sz="4000" b="1" dirty="0">
                <a:latin typeface="Arial" panose="020B0604020202020204" pitchFamily="34" charset="0"/>
                <a:cs typeface="Arial" panose="020B0604020202020204" pitchFamily="34" charset="0"/>
              </a:rPr>
              <a:t>	</a:t>
            </a:r>
            <a:endParaRPr lang="en-US" sz="4000" b="1" dirty="0" smtClean="0">
              <a:latin typeface="Arial" panose="020B0604020202020204" pitchFamily="34" charset="0"/>
              <a:cs typeface="Arial" panose="020B0604020202020204" pitchFamily="34" charset="0"/>
            </a:endParaRPr>
          </a:p>
          <a:p>
            <a:pPr>
              <a:defRPr/>
            </a:pPr>
            <a:r>
              <a:rPr lang="en-US" sz="4000" b="1" dirty="0" smtClean="0">
                <a:latin typeface="Arial" panose="020B0604020202020204" pitchFamily="34" charset="0"/>
                <a:cs typeface="Arial" panose="020B0604020202020204" pitchFamily="34" charset="0"/>
              </a:rPr>
              <a:t>Security </a:t>
            </a:r>
            <a:r>
              <a:rPr lang="en-US" sz="4000" b="1" dirty="0">
                <a:latin typeface="Arial" panose="020B0604020202020204" pitchFamily="34" charset="0"/>
                <a:cs typeface="Arial" panose="020B0604020202020204" pitchFamily="34" charset="0"/>
              </a:rPr>
              <a:t>by file </a:t>
            </a:r>
            <a:r>
              <a:rPr lang="en-US" sz="4000" b="1" dirty="0" smtClean="0">
                <a:latin typeface="Arial" panose="020B0604020202020204" pitchFamily="34" charset="0"/>
                <a:cs typeface="Arial" panose="020B0604020202020204" pitchFamily="34" charset="0"/>
              </a:rPr>
              <a:t>permissions </a:t>
            </a:r>
            <a:endParaRPr lang="en-US" sz="2400" dirty="0" smtClean="0">
              <a:effectLst>
                <a:outerShdw blurRad="38100" dist="38100" dir="2700000" algn="tl">
                  <a:srgbClr val="C0C0C0"/>
                </a:outerShdw>
              </a:effectLst>
            </a:endParaRPr>
          </a:p>
          <a:p>
            <a:pPr>
              <a:defRPr/>
            </a:pPr>
            <a:endParaRPr lang="en-US" sz="4000" dirty="0">
              <a:latin typeface="Arial" panose="020B0604020202020204" pitchFamily="34" charset="0"/>
              <a:cs typeface="Arial" panose="020B0604020202020204" pitchFamily="34" charset="0"/>
            </a:endParaRPr>
          </a:p>
          <a:p>
            <a:pPr>
              <a:defRPr/>
            </a:pPr>
            <a:endParaRPr lang="en-US" sz="2400" dirty="0">
              <a:effectLst>
                <a:outerShdw blurRad="38100" dist="38100" dir="2700000" algn="tl">
                  <a:srgbClr val="C0C0C0"/>
                </a:outerShdw>
              </a:effectLst>
            </a:endParaRPr>
          </a:p>
        </p:txBody>
      </p:sp>
      <p:sp>
        <p:nvSpPr>
          <p:cNvPr id="4" name="TextBox 3"/>
          <p:cNvSpPr txBox="1"/>
          <p:nvPr/>
        </p:nvSpPr>
        <p:spPr>
          <a:xfrm>
            <a:off x="0" y="838200"/>
            <a:ext cx="9144000" cy="6740525"/>
          </a:xfrm>
          <a:prstGeom prst="rect">
            <a:avLst/>
          </a:prstGeom>
        </p:spPr>
        <p:style>
          <a:lnRef idx="0">
            <a:scrgbClr r="0" g="0" b="0"/>
          </a:lnRef>
          <a:fillRef idx="1001">
            <a:schemeClr val="lt1"/>
          </a:fillRef>
          <a:effectRef idx="0">
            <a:scrgbClr r="0" g="0" b="0"/>
          </a:effectRef>
          <a:fontRef idx="major"/>
        </p:style>
        <p:txBody>
          <a:bodyPr>
            <a:spAutoFit/>
          </a:bodyPr>
          <a:lstStyle/>
          <a:p>
            <a:pPr>
              <a:lnSpc>
                <a:spcPct val="150000"/>
              </a:lnSpc>
              <a:defRPr/>
            </a:pPr>
            <a:r>
              <a:rPr lang="en-US" dirty="0">
                <a:latin typeface="Lucida Bright" panose="02040602050505020304" pitchFamily="18" charset="0"/>
              </a:rPr>
              <a:t>File ownership is an important component of UNIX that provides a secure method for storing files. Every file in UNIX has the following attributes:</a:t>
            </a:r>
          </a:p>
          <a:p>
            <a:pPr>
              <a:lnSpc>
                <a:spcPct val="150000"/>
              </a:lnSpc>
              <a:defRPr/>
            </a:pPr>
            <a:r>
              <a:rPr lang="en-US" b="1" dirty="0">
                <a:latin typeface="Lucida Bright" panose="02040602050505020304" pitchFamily="18" charset="0"/>
              </a:rPr>
              <a:t>Owner permissions:</a:t>
            </a:r>
            <a:r>
              <a:rPr lang="en-US" dirty="0">
                <a:latin typeface="Lucida Bright" panose="02040602050505020304" pitchFamily="18" charset="0"/>
              </a:rPr>
              <a:t> The owner's permissions determine what actions the owner of the file can perform on the file.</a:t>
            </a:r>
          </a:p>
          <a:p>
            <a:pPr>
              <a:lnSpc>
                <a:spcPct val="150000"/>
              </a:lnSpc>
              <a:defRPr/>
            </a:pPr>
            <a:r>
              <a:rPr lang="en-US" b="1" dirty="0">
                <a:latin typeface="Lucida Bright" panose="02040602050505020304" pitchFamily="18" charset="0"/>
              </a:rPr>
              <a:t>Group permissions:</a:t>
            </a:r>
            <a:r>
              <a:rPr lang="en-US" dirty="0">
                <a:latin typeface="Lucida Bright" panose="02040602050505020304" pitchFamily="18" charset="0"/>
              </a:rPr>
              <a:t> The group's permissions determine what actions a user, who is a member of the group that a file belongs to, can perform on the file.</a:t>
            </a:r>
          </a:p>
          <a:p>
            <a:pPr>
              <a:lnSpc>
                <a:spcPct val="150000"/>
              </a:lnSpc>
              <a:defRPr/>
            </a:pPr>
            <a:r>
              <a:rPr lang="en-US" b="1" dirty="0">
                <a:latin typeface="Lucida Bright" panose="02040602050505020304" pitchFamily="18" charset="0"/>
              </a:rPr>
              <a:t>Other (world) permissions:</a:t>
            </a:r>
            <a:r>
              <a:rPr lang="en-US" dirty="0">
                <a:latin typeface="Lucida Bright" panose="02040602050505020304" pitchFamily="18" charset="0"/>
              </a:rPr>
              <a:t> The permissions for others indicate what action all other users can perform on the file.</a:t>
            </a:r>
          </a:p>
          <a:p>
            <a:pPr>
              <a:lnSpc>
                <a:spcPct val="150000"/>
              </a:lnSpc>
              <a:defRPr/>
            </a:pPr>
            <a:r>
              <a:rPr lang="en-US" b="1" dirty="0">
                <a:latin typeface="Lucida Bright" panose="02040602050505020304" pitchFamily="18" charset="0"/>
              </a:rPr>
              <a:t>The Permission Indicators:</a:t>
            </a:r>
          </a:p>
          <a:p>
            <a:pPr>
              <a:lnSpc>
                <a:spcPct val="150000"/>
              </a:lnSpc>
              <a:defRPr/>
            </a:pPr>
            <a:r>
              <a:rPr lang="en-US" dirty="0">
                <a:latin typeface="Lucida Bright" panose="02040602050505020304" pitchFamily="18" charset="0"/>
              </a:rPr>
              <a:t>While using </a:t>
            </a:r>
            <a:r>
              <a:rPr lang="en-US" b="1" dirty="0" err="1">
                <a:latin typeface="Lucida Bright" panose="02040602050505020304" pitchFamily="18" charset="0"/>
              </a:rPr>
              <a:t>ls</a:t>
            </a:r>
            <a:r>
              <a:rPr lang="en-US" b="1" dirty="0">
                <a:latin typeface="Lucida Bright" panose="02040602050505020304" pitchFamily="18" charset="0"/>
              </a:rPr>
              <a:t> -l</a:t>
            </a:r>
            <a:r>
              <a:rPr lang="en-US" dirty="0">
                <a:latin typeface="Lucida Bright" panose="02040602050505020304" pitchFamily="18" charset="0"/>
              </a:rPr>
              <a:t> command it displays various information related to file permission as follows:</a:t>
            </a:r>
          </a:p>
          <a:p>
            <a:pPr>
              <a:lnSpc>
                <a:spcPct val="150000"/>
              </a:lnSpc>
              <a:defRPr/>
            </a:pPr>
            <a:r>
              <a:rPr lang="en-US" b="1" dirty="0">
                <a:latin typeface="Lucida Bright" panose="02040602050505020304" pitchFamily="18" charset="0"/>
              </a:rPr>
              <a:t>$</a:t>
            </a:r>
            <a:r>
              <a:rPr lang="en-US" b="1" dirty="0" err="1">
                <a:latin typeface="Lucida Bright" panose="02040602050505020304" pitchFamily="18" charset="0"/>
              </a:rPr>
              <a:t>ls</a:t>
            </a:r>
            <a:r>
              <a:rPr lang="en-US" b="1" dirty="0">
                <a:latin typeface="Lucida Bright" panose="02040602050505020304" pitchFamily="18" charset="0"/>
              </a:rPr>
              <a:t> -l -</a:t>
            </a:r>
            <a:r>
              <a:rPr lang="en-US" b="1" dirty="0" err="1">
                <a:latin typeface="Lucida Bright" panose="02040602050505020304" pitchFamily="18" charset="0"/>
              </a:rPr>
              <a:t>rwxr-xr</a:t>
            </a:r>
            <a:r>
              <a:rPr lang="en-US" b="1" dirty="0">
                <a:latin typeface="Lucida Bright" panose="02040602050505020304" pitchFamily="18" charset="0"/>
              </a:rPr>
              <a:t>--  1 root   users 1024  Nov 2 00:10  </a:t>
            </a:r>
            <a:r>
              <a:rPr lang="en-US" b="1" dirty="0" err="1">
                <a:latin typeface="Lucida Bright" panose="02040602050505020304" pitchFamily="18" charset="0"/>
              </a:rPr>
              <a:t>myfile</a:t>
            </a:r>
            <a:endParaRPr lang="en-US" b="1" dirty="0">
              <a:latin typeface="Lucida Bright" panose="02040602050505020304" pitchFamily="18" charset="0"/>
            </a:endParaRPr>
          </a:p>
          <a:p>
            <a:pPr>
              <a:lnSpc>
                <a:spcPct val="150000"/>
              </a:lnSpc>
              <a:defRPr/>
            </a:pPr>
            <a:r>
              <a:rPr lang="en-US" b="1" dirty="0" err="1">
                <a:latin typeface="Lucida Bright" panose="02040602050505020304" pitchFamily="18" charset="0"/>
              </a:rPr>
              <a:t>drwxr-xr</a:t>
            </a:r>
            <a:r>
              <a:rPr lang="en-US" b="1" dirty="0">
                <a:latin typeface="Lucida Bright" panose="02040602050505020304" pitchFamily="18" charset="0"/>
              </a:rPr>
              <a:t>--- 1 root   users 1024  Nov 2 00:10  </a:t>
            </a:r>
            <a:r>
              <a:rPr lang="en-US" b="1" dirty="0" err="1">
                <a:latin typeface="Lucida Bright" panose="02040602050505020304" pitchFamily="18" charset="0"/>
              </a:rPr>
              <a:t>mydir</a:t>
            </a:r>
            <a:r>
              <a:rPr lang="en-US" dirty="0">
                <a:latin typeface="Lucida Bright" panose="02040602050505020304" pitchFamily="18" charset="0"/>
              </a:rPr>
              <a:t> </a:t>
            </a:r>
          </a:p>
          <a:p>
            <a:pPr>
              <a:lnSpc>
                <a:spcPct val="150000"/>
              </a:lnSpc>
              <a:defRPr/>
            </a:pPr>
            <a:r>
              <a:rPr lang="en-US" dirty="0">
                <a:latin typeface="Lucida Bright" panose="02040602050505020304" pitchFamily="18" charset="0"/>
              </a:rPr>
              <a:t>Here first column represents different access mode </a:t>
            </a:r>
            <a:r>
              <a:rPr lang="en-US" dirty="0" err="1">
                <a:latin typeface="Lucida Bright" panose="02040602050505020304" pitchFamily="18" charset="0"/>
              </a:rPr>
              <a:t>ie</a:t>
            </a:r>
            <a:r>
              <a:rPr lang="en-US" dirty="0">
                <a:latin typeface="Lucida Bright" panose="02040602050505020304" pitchFamily="18" charset="0"/>
              </a:rPr>
              <a:t>. permission associated with a file or directory.</a:t>
            </a:r>
          </a:p>
          <a:p>
            <a:pPr>
              <a:lnSpc>
                <a:spcPct val="150000"/>
              </a:lnSpc>
              <a:defRPr/>
            </a:pPr>
            <a:endParaRPr lang="en-US" dirty="0">
              <a:latin typeface="Lucida Bright" panose="02040602050505020304" pitchFamily="18" charset="0"/>
            </a:endParaRPr>
          </a:p>
        </p:txBody>
      </p:sp>
      <p:sp>
        <p:nvSpPr>
          <p:cNvPr id="5" name="Slide Number Placeholder 9"/>
          <p:cNvSpPr txBox="1"/>
          <p:nvPr/>
        </p:nvSpPr>
        <p:spPr>
          <a:xfrm>
            <a:off x="6705600" y="6508750"/>
            <a:ext cx="2133600" cy="365125"/>
          </a:xfrm>
          <a:prstGeom prst="rect">
            <a:avLst/>
          </a:prstGeom>
        </p:spPr>
        <p:txBody>
          <a:bodyPr anchor="ctr"/>
          <a:lstStyle/>
          <a:p>
            <a:pPr algn="r">
              <a:defRPr/>
            </a:pPr>
            <a:fld id="{1E06DCE8-9C08-4F32-BFDF-5D70626635A5}" type="slidenum">
              <a:rPr lang="en-US" sz="1200">
                <a:solidFill>
                  <a:schemeClr val="tx1">
                    <a:tint val="75000"/>
                  </a:schemeClr>
                </a:solidFill>
              </a:rPr>
              <a:t>18</a:t>
            </a:fld>
            <a:endParaRPr lang="en-US" sz="1200">
              <a:solidFill>
                <a:schemeClr val="tx1">
                  <a:tint val="75000"/>
                </a:schemeClr>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Box 7"/>
          <p:cNvSpPr txBox="1">
            <a:spLocks noChangeArrowheads="1"/>
          </p:cNvSpPr>
          <p:nvPr/>
        </p:nvSpPr>
        <p:spPr bwMode="auto">
          <a:xfrm>
            <a:off x="0" y="762000"/>
            <a:ext cx="9144000" cy="6687728"/>
          </a:xfrm>
          <a:prstGeom prst="rect">
            <a:avLst/>
          </a:prstGeom>
          <a:noFill/>
          <a:ln w="9525">
            <a:noFill/>
            <a:miter lim="800000"/>
          </a:ln>
        </p:spPr>
        <p:txBody>
          <a:bodyPr>
            <a:spAutoFit/>
          </a:bodyPr>
          <a:lstStyle/>
          <a:p>
            <a:pPr>
              <a:lnSpc>
                <a:spcPct val="150000"/>
              </a:lnSpc>
            </a:pPr>
            <a:r>
              <a:rPr lang="en-US" b="1" dirty="0">
                <a:latin typeface="Lucida Bright" panose="02040602050505020304" pitchFamily="18" charset="0"/>
              </a:rPr>
              <a:t>File Access Modes:</a:t>
            </a:r>
          </a:p>
          <a:p>
            <a:pPr>
              <a:lnSpc>
                <a:spcPct val="150000"/>
              </a:lnSpc>
            </a:pPr>
            <a:r>
              <a:rPr lang="en-US" dirty="0">
                <a:latin typeface="Lucida Bright" panose="02040602050505020304" pitchFamily="18" charset="0"/>
              </a:rPr>
              <a:t>The permissions of a file are the first line of defense in the security of a Unix system. The basic building blocks of Unix permissions are the </a:t>
            </a:r>
            <a:r>
              <a:rPr lang="en-US" b="1" dirty="0">
                <a:latin typeface="Lucida Bright" panose="02040602050505020304" pitchFamily="18" charset="0"/>
              </a:rPr>
              <a:t>read</a:t>
            </a:r>
            <a:r>
              <a:rPr lang="en-US" dirty="0">
                <a:latin typeface="Lucida Bright" panose="02040602050505020304" pitchFamily="18" charset="0"/>
              </a:rPr>
              <a:t>, </a:t>
            </a:r>
            <a:r>
              <a:rPr lang="en-US" b="1" dirty="0">
                <a:latin typeface="Lucida Bright" panose="02040602050505020304" pitchFamily="18" charset="0"/>
              </a:rPr>
              <a:t>write</a:t>
            </a:r>
            <a:r>
              <a:rPr lang="en-US" dirty="0">
                <a:latin typeface="Lucida Bright" panose="02040602050505020304" pitchFamily="18" charset="0"/>
              </a:rPr>
              <a:t>, and </a:t>
            </a:r>
            <a:r>
              <a:rPr lang="en-US" b="1" dirty="0">
                <a:latin typeface="Lucida Bright" panose="02040602050505020304" pitchFamily="18" charset="0"/>
              </a:rPr>
              <a:t>execute</a:t>
            </a:r>
            <a:r>
              <a:rPr lang="en-US" dirty="0">
                <a:latin typeface="Lucida Bright" panose="02040602050505020304" pitchFamily="18" charset="0"/>
              </a:rPr>
              <a:t> permissions, which are described below:</a:t>
            </a:r>
          </a:p>
          <a:p>
            <a:pPr>
              <a:lnSpc>
                <a:spcPct val="150000"/>
              </a:lnSpc>
            </a:pPr>
            <a:r>
              <a:rPr lang="en-US" b="1" dirty="0">
                <a:latin typeface="Lucida Bright" panose="02040602050505020304" pitchFamily="18" charset="0"/>
              </a:rPr>
              <a:t> Read:	</a:t>
            </a:r>
            <a:r>
              <a:rPr lang="en-US" dirty="0">
                <a:latin typeface="Lucida Bright" panose="02040602050505020304" pitchFamily="18" charset="0"/>
              </a:rPr>
              <a:t>Grants the capability to read </a:t>
            </a:r>
            <a:r>
              <a:rPr lang="en-US" dirty="0" err="1">
                <a:latin typeface="Lucida Bright" panose="02040602050505020304" pitchFamily="18" charset="0"/>
              </a:rPr>
              <a:t>ie</a:t>
            </a:r>
            <a:r>
              <a:rPr lang="en-US" dirty="0">
                <a:latin typeface="Lucida Bright" panose="02040602050505020304" pitchFamily="18" charset="0"/>
              </a:rPr>
              <a:t>. view the contents of the file.</a:t>
            </a:r>
          </a:p>
          <a:p>
            <a:pPr>
              <a:lnSpc>
                <a:spcPct val="150000"/>
              </a:lnSpc>
            </a:pPr>
            <a:r>
              <a:rPr lang="en-US" b="1" dirty="0">
                <a:latin typeface="Lucida Bright" panose="02040602050505020304" pitchFamily="18" charset="0"/>
              </a:rPr>
              <a:t>Write:	</a:t>
            </a:r>
            <a:r>
              <a:rPr lang="en-US" dirty="0">
                <a:latin typeface="Lucida Bright" panose="02040602050505020304" pitchFamily="18" charset="0"/>
              </a:rPr>
              <a:t>Grants the capability to modify, or remove the content of the file.</a:t>
            </a:r>
          </a:p>
          <a:p>
            <a:pPr>
              <a:lnSpc>
                <a:spcPct val="150000"/>
              </a:lnSpc>
            </a:pPr>
            <a:r>
              <a:rPr lang="en-US" b="1" dirty="0">
                <a:latin typeface="Lucida Bright" panose="02040602050505020304" pitchFamily="18" charset="0"/>
              </a:rPr>
              <a:t>Execute:	</a:t>
            </a:r>
            <a:r>
              <a:rPr lang="en-US" dirty="0">
                <a:latin typeface="Lucida Bright" panose="02040602050505020304" pitchFamily="18" charset="0"/>
              </a:rPr>
              <a:t>User with execute permissions can run a file as a program</a:t>
            </a:r>
          </a:p>
          <a:p>
            <a:pPr>
              <a:lnSpc>
                <a:spcPct val="150000"/>
              </a:lnSpc>
            </a:pPr>
            <a:r>
              <a:rPr lang="en-US" b="1" dirty="0">
                <a:latin typeface="Lucida Bright" panose="02040602050505020304" pitchFamily="18" charset="0"/>
              </a:rPr>
              <a:t>Changing Permissions:</a:t>
            </a:r>
          </a:p>
          <a:p>
            <a:pPr>
              <a:lnSpc>
                <a:spcPct val="150000"/>
              </a:lnSpc>
            </a:pPr>
            <a:r>
              <a:rPr lang="en-US" dirty="0">
                <a:latin typeface="Lucida Bright" panose="02040602050505020304" pitchFamily="18" charset="0"/>
              </a:rPr>
              <a:t>To change file or directory permissions, you use the </a:t>
            </a:r>
            <a:r>
              <a:rPr lang="en-US" b="1" dirty="0" err="1">
                <a:latin typeface="Lucida Bright" panose="02040602050505020304" pitchFamily="18" charset="0"/>
              </a:rPr>
              <a:t>chmod</a:t>
            </a:r>
            <a:r>
              <a:rPr lang="en-US" dirty="0">
                <a:latin typeface="Lucida Bright" panose="02040602050505020304" pitchFamily="18" charset="0"/>
              </a:rPr>
              <a:t> (change mode) command. There are two ways to use </a:t>
            </a:r>
            <a:r>
              <a:rPr lang="en-US" dirty="0" err="1">
                <a:latin typeface="Lucida Bright" panose="02040602050505020304" pitchFamily="18" charset="0"/>
              </a:rPr>
              <a:t>chmod</a:t>
            </a:r>
            <a:r>
              <a:rPr lang="en-US" dirty="0">
                <a:latin typeface="Lucida Bright" panose="02040602050505020304" pitchFamily="18" charset="0"/>
              </a:rPr>
              <a:t>: symbolic mode and absolute mode.</a:t>
            </a:r>
          </a:p>
          <a:p>
            <a:pPr>
              <a:lnSpc>
                <a:spcPct val="150000"/>
              </a:lnSpc>
            </a:pPr>
            <a:r>
              <a:rPr lang="en-US" b="1" dirty="0">
                <a:latin typeface="Lucida Bright" panose="02040602050505020304" pitchFamily="18" charset="0"/>
              </a:rPr>
              <a:t>Using </a:t>
            </a:r>
            <a:r>
              <a:rPr lang="en-US" b="1" dirty="0" err="1">
                <a:latin typeface="Lucida Bright" panose="02040602050505020304" pitchFamily="18" charset="0"/>
              </a:rPr>
              <a:t>chmod</a:t>
            </a:r>
            <a:r>
              <a:rPr lang="en-US" b="1" dirty="0">
                <a:latin typeface="Lucida Bright" panose="02040602050505020304" pitchFamily="18" charset="0"/>
              </a:rPr>
              <a:t> in Symbolic Mode:</a:t>
            </a:r>
          </a:p>
          <a:p>
            <a:pPr>
              <a:lnSpc>
                <a:spcPct val="150000"/>
              </a:lnSpc>
            </a:pPr>
            <a:r>
              <a:rPr lang="en-US" dirty="0">
                <a:latin typeface="Lucida Bright" panose="02040602050505020304" pitchFamily="18" charset="0"/>
              </a:rPr>
              <a:t>The easiest way for a beginner to modify file or directory permissions is to use the symbolic mode. With symbolic permissions you can add, delete, or specify the permission set you want by using the operators in the following table.</a:t>
            </a:r>
          </a:p>
          <a:p>
            <a:pPr>
              <a:lnSpc>
                <a:spcPct val="150000"/>
              </a:lnSpc>
            </a:pPr>
            <a:endParaRPr lang="en-US" dirty="0">
              <a:latin typeface="Lucida Bright" panose="02040602050505020304" pitchFamily="18" charset="0"/>
            </a:endParaRPr>
          </a:p>
        </p:txBody>
      </p:sp>
      <p:sp>
        <p:nvSpPr>
          <p:cNvPr id="51204"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defRPr/>
            </a:pPr>
            <a:endParaRPr lang="en-US" sz="4000" b="1" dirty="0">
              <a:latin typeface="Arial" panose="020B0604020202020204" pitchFamily="34" charset="0"/>
              <a:cs typeface="Arial" panose="020B0604020202020204" pitchFamily="34" charset="0"/>
            </a:endParaRPr>
          </a:p>
          <a:p>
            <a:pPr>
              <a:defRPr/>
            </a:pPr>
            <a:r>
              <a:rPr lang="en-US" sz="4000" b="1" dirty="0" smtClean="0">
                <a:latin typeface="Arial" panose="020B0604020202020204" pitchFamily="34" charset="0"/>
                <a:cs typeface="Arial" panose="020B0604020202020204" pitchFamily="34" charset="0"/>
              </a:rPr>
              <a:t>Security </a:t>
            </a:r>
            <a:r>
              <a:rPr lang="en-US" sz="4000" b="1" dirty="0">
                <a:latin typeface="Arial" panose="020B0604020202020204" pitchFamily="34" charset="0"/>
                <a:cs typeface="Arial" panose="020B0604020202020204" pitchFamily="34" charset="0"/>
              </a:rPr>
              <a:t>by file </a:t>
            </a:r>
            <a:r>
              <a:rPr lang="en-US" sz="4000" b="1" dirty="0" smtClean="0">
                <a:latin typeface="Arial" panose="020B0604020202020204" pitchFamily="34" charset="0"/>
                <a:cs typeface="Arial" panose="020B0604020202020204" pitchFamily="34" charset="0"/>
              </a:rPr>
              <a:t>permissions </a:t>
            </a:r>
            <a:endParaRPr lang="en-US" sz="2400" dirty="0" smtClean="0">
              <a:effectLst>
                <a:outerShdw blurRad="38100" dist="38100" dir="2700000" algn="tl">
                  <a:srgbClr val="C0C0C0"/>
                </a:outerShdw>
              </a:effectLst>
            </a:endParaRPr>
          </a:p>
          <a:p>
            <a:pPr>
              <a:defRPr/>
            </a:pPr>
            <a:endParaRPr lang="en-US" sz="4000" b="1" dirty="0">
              <a:latin typeface="Arial" panose="020B0604020202020204" pitchFamily="34" charset="0"/>
              <a:cs typeface="Arial" panose="020B0604020202020204" pitchFamily="34" charset="0"/>
            </a:endParaRPr>
          </a:p>
          <a:p>
            <a:pPr>
              <a:defRPr/>
            </a:pPr>
            <a:endParaRPr lang="en-US" sz="2400"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71684" name="TextBox 11"/>
          <p:cNvSpPr txBox="1">
            <a:spLocks noChangeArrowheads="1"/>
          </p:cNvSpPr>
          <p:nvPr/>
        </p:nvSpPr>
        <p:spPr bwMode="auto">
          <a:xfrm>
            <a:off x="0" y="838200"/>
            <a:ext cx="9144000" cy="3831818"/>
          </a:xfrm>
          <a:prstGeom prst="rect">
            <a:avLst/>
          </a:prstGeom>
          <a:noFill/>
          <a:ln w="9525">
            <a:noFill/>
            <a:miter lim="800000"/>
          </a:ln>
        </p:spPr>
        <p:txBody>
          <a:bodyPr>
            <a:spAutoFit/>
          </a:bodyPr>
          <a:lstStyle/>
          <a:p>
            <a:pPr>
              <a:lnSpc>
                <a:spcPct val="150000"/>
              </a:lnSpc>
            </a:pPr>
            <a:r>
              <a:rPr lang="en-US" b="1" dirty="0" err="1" smtClean="0">
                <a:latin typeface="Lucida Bright" panose="02040602050505020304" pitchFamily="18" charset="0"/>
              </a:rPr>
              <a:t>Chmod</a:t>
            </a:r>
            <a:r>
              <a:rPr lang="en-US" b="1" dirty="0" smtClean="0">
                <a:latin typeface="Lucida Bright" panose="02040602050505020304" pitchFamily="18" charset="0"/>
              </a:rPr>
              <a:t> operator	Description</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dirty="0" smtClean="0">
                <a:latin typeface="Lucida Bright" panose="02040602050505020304" pitchFamily="18" charset="0"/>
              </a:rPr>
              <a:t>Adds the designated permission(s) to a file or directory.</a:t>
            </a:r>
          </a:p>
          <a:p>
            <a:pPr>
              <a:lnSpc>
                <a:spcPct val="150000"/>
              </a:lnSpc>
            </a:pPr>
            <a:r>
              <a:rPr lang="en-US" b="1" dirty="0" smtClean="0">
                <a:latin typeface="Lucida Bright" panose="02040602050505020304" pitchFamily="18" charset="0"/>
              </a:rPr>
              <a:t>-		</a:t>
            </a:r>
            <a:r>
              <a:rPr lang="en-US" dirty="0" smtClean="0">
                <a:latin typeface="Lucida Bright" panose="02040602050505020304" pitchFamily="18" charset="0"/>
              </a:rPr>
              <a:t>Removes the designated permission(s) from a file or directory.</a:t>
            </a:r>
          </a:p>
          <a:p>
            <a:pPr>
              <a:lnSpc>
                <a:spcPct val="150000"/>
              </a:lnSpc>
            </a:pPr>
            <a:r>
              <a:rPr lang="en-US" b="1" dirty="0" smtClean="0">
                <a:latin typeface="Lucida Bright" panose="02040602050505020304" pitchFamily="18" charset="0"/>
              </a:rPr>
              <a:t>=		</a:t>
            </a:r>
            <a:r>
              <a:rPr lang="en-US" dirty="0" smtClean="0">
                <a:latin typeface="Lucida Bright" panose="02040602050505020304" pitchFamily="18" charset="0"/>
              </a:rPr>
              <a:t>Sets the designated permission(s).</a:t>
            </a:r>
          </a:p>
          <a:p>
            <a:pPr>
              <a:lnSpc>
                <a:spcPct val="150000"/>
              </a:lnSpc>
            </a:pPr>
            <a:r>
              <a:rPr lang="en-US" dirty="0" smtClean="0">
                <a:latin typeface="Lucida Bright" panose="02040602050505020304" pitchFamily="18" charset="0"/>
              </a:rPr>
              <a:t>Here's </a:t>
            </a:r>
            <a:r>
              <a:rPr lang="en-US" dirty="0">
                <a:latin typeface="Lucida Bright" panose="02040602050505020304" pitchFamily="18" charset="0"/>
              </a:rPr>
              <a:t>an example using </a:t>
            </a:r>
            <a:r>
              <a:rPr lang="en-US" dirty="0" err="1">
                <a:latin typeface="Lucida Bright" panose="02040602050505020304" pitchFamily="18" charset="0"/>
              </a:rPr>
              <a:t>testfile</a:t>
            </a:r>
            <a:r>
              <a:rPr lang="en-US" dirty="0">
                <a:latin typeface="Lucida Bright" panose="02040602050505020304" pitchFamily="18" charset="0"/>
              </a:rPr>
              <a:t>. Running </a:t>
            </a:r>
            <a:r>
              <a:rPr lang="en-US" dirty="0" err="1">
                <a:latin typeface="Lucida Bright" panose="02040602050505020304" pitchFamily="18" charset="0"/>
              </a:rPr>
              <a:t>ls</a:t>
            </a:r>
            <a:r>
              <a:rPr lang="en-US" dirty="0">
                <a:latin typeface="Lucida Bright" panose="02040602050505020304" pitchFamily="18" charset="0"/>
              </a:rPr>
              <a:t> -1 on </a:t>
            </a:r>
            <a:r>
              <a:rPr lang="en-US" dirty="0" err="1">
                <a:latin typeface="Lucida Bright" panose="02040602050505020304" pitchFamily="18" charset="0"/>
              </a:rPr>
              <a:t>testfile</a:t>
            </a:r>
            <a:r>
              <a:rPr lang="en-US" dirty="0">
                <a:latin typeface="Lucida Bright" panose="02040602050505020304" pitchFamily="18" charset="0"/>
              </a:rPr>
              <a:t> shows that the file's permissions are as follows:</a:t>
            </a: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ls</a:t>
            </a:r>
            <a:r>
              <a:rPr lang="en-US" b="1" dirty="0">
                <a:latin typeface="Lucida Bright" panose="02040602050505020304" pitchFamily="18" charset="0"/>
              </a:rPr>
              <a:t> -l </a:t>
            </a:r>
            <a:r>
              <a:rPr lang="en-US" b="1" dirty="0" err="1">
                <a:latin typeface="Lucida Bright" panose="02040602050505020304" pitchFamily="18" charset="0"/>
              </a:rPr>
              <a:t>testfile-rwxrwxr</a:t>
            </a:r>
            <a:r>
              <a:rPr lang="en-US" b="1" dirty="0">
                <a:latin typeface="Lucida Bright" panose="02040602050505020304" pitchFamily="18" charset="0"/>
              </a:rPr>
              <a:t>--  1 </a:t>
            </a:r>
            <a:r>
              <a:rPr lang="en-US" b="1" dirty="0" err="1">
                <a:latin typeface="Lucida Bright" panose="02040602050505020304" pitchFamily="18" charset="0"/>
              </a:rPr>
              <a:t>amrood</a:t>
            </a:r>
            <a:r>
              <a:rPr lang="en-US" b="1" dirty="0">
                <a:latin typeface="Lucida Bright" panose="02040602050505020304" pitchFamily="18" charset="0"/>
              </a:rPr>
              <a:t>   users 1024  Nov 2 00:10  </a:t>
            </a:r>
            <a:r>
              <a:rPr lang="en-US" b="1" dirty="0" err="1">
                <a:latin typeface="Lucida Bright" panose="02040602050505020304" pitchFamily="18" charset="0"/>
              </a:rPr>
              <a:t>testfile</a:t>
            </a:r>
            <a:r>
              <a:rPr lang="en-US" dirty="0">
                <a:latin typeface="Lucida Bright" panose="02040602050505020304" pitchFamily="18" charset="0"/>
              </a:rPr>
              <a:t> Then each example </a:t>
            </a:r>
            <a:r>
              <a:rPr lang="en-US" dirty="0" err="1">
                <a:latin typeface="Lucida Bright" panose="02040602050505020304" pitchFamily="18" charset="0"/>
              </a:rPr>
              <a:t>chmod</a:t>
            </a:r>
            <a:r>
              <a:rPr lang="en-US" dirty="0">
                <a:latin typeface="Lucida Bright" panose="02040602050505020304" pitchFamily="18" charset="0"/>
              </a:rPr>
              <a:t> command from the preceding table is run on </a:t>
            </a:r>
            <a:r>
              <a:rPr lang="en-US" dirty="0" err="1">
                <a:latin typeface="Lucida Bright" panose="02040602050505020304" pitchFamily="18" charset="0"/>
              </a:rPr>
              <a:t>testfile</a:t>
            </a:r>
            <a:r>
              <a:rPr lang="en-US" dirty="0">
                <a:latin typeface="Lucida Bright" panose="02040602050505020304" pitchFamily="18" charset="0"/>
              </a:rPr>
              <a:t>, followed by </a:t>
            </a:r>
            <a:r>
              <a:rPr lang="en-US" dirty="0" err="1">
                <a:latin typeface="Lucida Bright" panose="02040602050505020304" pitchFamily="18" charset="0"/>
              </a:rPr>
              <a:t>ls</a:t>
            </a:r>
            <a:r>
              <a:rPr lang="en-US" dirty="0">
                <a:latin typeface="Lucida Bright" panose="02040602050505020304" pitchFamily="18" charset="0"/>
              </a:rPr>
              <a:t> -l so you can see the permission changes</a:t>
            </a:r>
            <a:r>
              <a:rPr lang="en-US" dirty="0" smtClean="0">
                <a:latin typeface="Lucida Bright" panose="02040602050505020304" pitchFamily="18" charset="0"/>
              </a:rPr>
              <a:t>:</a:t>
            </a:r>
            <a:endParaRPr lang="en-US" dirty="0">
              <a:latin typeface="Lucida Bright" panose="02040602050505020304" pitchFamily="18" charset="0"/>
            </a:endParaRPr>
          </a:p>
        </p:txBody>
      </p:sp>
      <p:sp>
        <p:nvSpPr>
          <p:cNvPr id="71685"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Security </a:t>
            </a:r>
            <a:r>
              <a:rPr lang="en-US" sz="4000" dirty="0"/>
              <a:t>by file permissions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71684" name="TextBox 11"/>
          <p:cNvSpPr txBox="1">
            <a:spLocks noChangeArrowheads="1"/>
          </p:cNvSpPr>
          <p:nvPr/>
        </p:nvSpPr>
        <p:spPr bwMode="auto">
          <a:xfrm>
            <a:off x="0" y="838200"/>
            <a:ext cx="9144000" cy="3779240"/>
          </a:xfrm>
          <a:prstGeom prst="rect">
            <a:avLst/>
          </a:prstGeom>
          <a:noFill/>
          <a:ln w="9525">
            <a:noFill/>
            <a:miter lim="800000"/>
          </a:ln>
        </p:spPr>
        <p:txBody>
          <a:bodyPr>
            <a:spAutoFit/>
          </a:bodyPr>
          <a:lstStyle/>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chmod</a:t>
            </a:r>
            <a:r>
              <a:rPr lang="en-US" dirty="0" smtClean="0">
                <a:latin typeface="Lucida Bright" panose="02040602050505020304" pitchFamily="18" charset="0"/>
              </a:rPr>
              <a:t> </a:t>
            </a:r>
            <a:r>
              <a:rPr lang="en-US" dirty="0" err="1" smtClean="0">
                <a:latin typeface="Lucida Bright" panose="02040602050505020304" pitchFamily="18" charset="0"/>
              </a:rPr>
              <a:t>o+wx</a:t>
            </a:r>
            <a:r>
              <a:rPr lang="en-US" dirty="0" smtClean="0">
                <a:latin typeface="Lucida Bright" panose="02040602050505020304" pitchFamily="18" charset="0"/>
              </a:rPr>
              <a:t> </a:t>
            </a:r>
            <a:r>
              <a:rPr lang="en-US" dirty="0" err="1" smtClean="0">
                <a:latin typeface="Lucida Bright" panose="02040602050505020304" pitchFamily="18" charset="0"/>
              </a:rPr>
              <a:t>testfile</a:t>
            </a:r>
            <a:r>
              <a:rPr lang="en-US" dirty="0" smtClean="0">
                <a:latin typeface="Lucida Bright" panose="02040602050505020304" pitchFamily="18" charset="0"/>
              </a:rPr>
              <a:t> </a:t>
            </a: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ls</a:t>
            </a:r>
            <a:r>
              <a:rPr lang="en-US" dirty="0" smtClean="0">
                <a:latin typeface="Lucida Bright" panose="02040602050505020304" pitchFamily="18" charset="0"/>
              </a:rPr>
              <a:t> -l </a:t>
            </a:r>
            <a:r>
              <a:rPr lang="en-US" dirty="0" err="1" smtClean="0">
                <a:latin typeface="Lucida Bright" panose="02040602050505020304" pitchFamily="18" charset="0"/>
              </a:rPr>
              <a:t>testfile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rwxrwxrwx</a:t>
            </a:r>
            <a:r>
              <a:rPr lang="en-US" dirty="0" smtClean="0">
                <a:latin typeface="Lucida Bright" panose="02040602050505020304" pitchFamily="18" charset="0"/>
              </a:rPr>
              <a:t>  1 root   users 1024  Nov 2 00:10  </a:t>
            </a:r>
            <a:r>
              <a:rPr lang="en-US" dirty="0" err="1" smtClean="0">
                <a:latin typeface="Lucida Bright" panose="02040602050505020304" pitchFamily="18" charset="0"/>
              </a:rPr>
              <a:t>testfile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chmod</a:t>
            </a:r>
            <a:r>
              <a:rPr lang="en-US" dirty="0" smtClean="0">
                <a:latin typeface="Lucida Bright" panose="02040602050505020304" pitchFamily="18" charset="0"/>
              </a:rPr>
              <a:t> u-x </a:t>
            </a:r>
            <a:r>
              <a:rPr lang="en-US" dirty="0" err="1" smtClean="0">
                <a:latin typeface="Lucida Bright" panose="02040602050505020304" pitchFamily="18" charset="0"/>
              </a:rPr>
              <a:t>testfile</a:t>
            </a:r>
            <a:r>
              <a:rPr lang="en-US" dirty="0" smtClean="0">
                <a:latin typeface="Lucida Bright" panose="02040602050505020304" pitchFamily="18" charset="0"/>
              </a:rPr>
              <a:t> </a:t>
            </a: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ls</a:t>
            </a:r>
            <a:r>
              <a:rPr lang="en-US" dirty="0" smtClean="0">
                <a:latin typeface="Lucida Bright" panose="02040602050505020304" pitchFamily="18" charset="0"/>
              </a:rPr>
              <a:t> -l </a:t>
            </a:r>
            <a:r>
              <a:rPr lang="en-US" dirty="0" err="1" smtClean="0">
                <a:latin typeface="Lucida Bright" panose="02040602050505020304" pitchFamily="18" charset="0"/>
              </a:rPr>
              <a:t>testfile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rw-rwxrwx</a:t>
            </a:r>
            <a:r>
              <a:rPr lang="en-US" dirty="0" smtClean="0">
                <a:latin typeface="Lucida Bright" panose="02040602050505020304" pitchFamily="18" charset="0"/>
              </a:rPr>
              <a:t>  1 root   users 1024  Nov 2 00:10  </a:t>
            </a:r>
            <a:r>
              <a:rPr lang="en-US" dirty="0" err="1" smtClean="0">
                <a:latin typeface="Lucida Bright" panose="02040602050505020304" pitchFamily="18" charset="0"/>
              </a:rPr>
              <a:t>testfile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chmod</a:t>
            </a:r>
            <a:r>
              <a:rPr lang="en-US" dirty="0" smtClean="0">
                <a:latin typeface="Lucida Bright" panose="02040602050505020304" pitchFamily="18" charset="0"/>
              </a:rPr>
              <a:t> g=r-x </a:t>
            </a:r>
            <a:r>
              <a:rPr lang="en-US" dirty="0" err="1" smtClean="0">
                <a:latin typeface="Lucida Bright" panose="02040602050505020304" pitchFamily="18" charset="0"/>
              </a:rPr>
              <a:t>testfile</a:t>
            </a:r>
            <a:r>
              <a:rPr lang="en-US" dirty="0" smtClean="0">
                <a:latin typeface="Lucida Bright" panose="02040602050505020304" pitchFamily="18" charset="0"/>
              </a:rPr>
              <a:t> </a:t>
            </a: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ls</a:t>
            </a:r>
            <a:r>
              <a:rPr lang="en-US" dirty="0" smtClean="0">
                <a:latin typeface="Lucida Bright" panose="02040602050505020304" pitchFamily="18" charset="0"/>
              </a:rPr>
              <a:t> -l </a:t>
            </a:r>
            <a:r>
              <a:rPr lang="en-US" dirty="0" err="1" smtClean="0">
                <a:latin typeface="Lucida Bright" panose="02040602050505020304" pitchFamily="18" charset="0"/>
              </a:rPr>
              <a:t>testfile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t>
            </a:r>
            <a:r>
              <a:rPr lang="en-US" dirty="0" err="1" smtClean="0">
                <a:latin typeface="Lucida Bright" panose="02040602050505020304" pitchFamily="18" charset="0"/>
              </a:rPr>
              <a:t>rw</a:t>
            </a:r>
            <a:r>
              <a:rPr lang="en-US" dirty="0" smtClean="0">
                <a:latin typeface="Lucida Bright" panose="02040602050505020304" pitchFamily="18" charset="0"/>
              </a:rPr>
              <a:t>-r-</a:t>
            </a:r>
            <a:r>
              <a:rPr lang="en-US" dirty="0" err="1" smtClean="0">
                <a:latin typeface="Lucida Bright" panose="02040602050505020304" pitchFamily="18" charset="0"/>
              </a:rPr>
              <a:t>xrwx</a:t>
            </a:r>
            <a:r>
              <a:rPr lang="en-US" dirty="0" smtClean="0">
                <a:latin typeface="Lucida Bright" panose="02040602050505020304" pitchFamily="18" charset="0"/>
              </a:rPr>
              <a:t>  1 root   users 1024  Nov 2 00:10  </a:t>
            </a:r>
            <a:r>
              <a:rPr lang="en-US" dirty="0" err="1" smtClean="0">
                <a:latin typeface="Lucida Bright" panose="02040602050505020304" pitchFamily="18" charset="0"/>
              </a:rPr>
              <a:t>testfile</a:t>
            </a:r>
            <a:endParaRPr lang="en-US" dirty="0">
              <a:latin typeface="Lucida Bright" panose="02040602050505020304" pitchFamily="18" charset="0"/>
            </a:endParaRPr>
          </a:p>
        </p:txBody>
      </p:sp>
      <p:sp>
        <p:nvSpPr>
          <p:cNvPr id="71685"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Security </a:t>
            </a:r>
            <a:r>
              <a:rPr lang="en-US" sz="4000" b="1" dirty="0"/>
              <a:t>by file permissions </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53252" name="Rectangle 3"/>
          <p:cNvSpPr>
            <a:spLocks noChangeArrowheads="1"/>
          </p:cNvSpPr>
          <p:nvPr/>
        </p:nvSpPr>
        <p:spPr bwMode="auto">
          <a:xfrm>
            <a:off x="0" y="838200"/>
            <a:ext cx="9144000" cy="4610236"/>
          </a:xfrm>
          <a:prstGeom prst="rect">
            <a:avLst/>
          </a:prstGeom>
          <a:noFill/>
          <a:ln w="9525">
            <a:noFill/>
            <a:miter lim="800000"/>
          </a:ln>
        </p:spPr>
        <p:txBody>
          <a:bodyPr>
            <a:spAutoFit/>
          </a:bodyPr>
          <a:lstStyle/>
          <a:p>
            <a:pPr>
              <a:lnSpc>
                <a:spcPct val="150000"/>
              </a:lnSpc>
              <a:defRPr/>
            </a:pPr>
            <a:r>
              <a:rPr lang="en-US" dirty="0">
                <a:latin typeface="Lucida Bright" panose="02040602050505020304" pitchFamily="18" charset="0"/>
                <a:cs typeface="Arial" panose="020B0604020202020204" pitchFamily="34" charset="0"/>
              </a:rPr>
              <a:t>Here's how you could combine these commands on a single line:</a:t>
            </a:r>
          </a:p>
          <a:p>
            <a:pPr>
              <a:lnSpc>
                <a:spcPct val="150000"/>
              </a:lnSpc>
              <a:defRPr/>
            </a:pPr>
            <a:r>
              <a:rPr lang="en-US" b="1" dirty="0">
                <a:latin typeface="Lucida Bright" panose="02040602050505020304" pitchFamily="18" charset="0"/>
                <a:cs typeface="Arial" panose="020B0604020202020204" pitchFamily="34" charset="0"/>
              </a:rPr>
              <a:t>$</a:t>
            </a:r>
            <a:r>
              <a:rPr lang="en-US" b="1" dirty="0" err="1">
                <a:latin typeface="Lucida Bright" panose="02040602050505020304" pitchFamily="18" charset="0"/>
                <a:cs typeface="Arial" panose="020B0604020202020204" pitchFamily="34" charset="0"/>
              </a:rPr>
              <a:t>chmod</a:t>
            </a:r>
            <a:r>
              <a:rPr lang="en-US" b="1" dirty="0">
                <a:latin typeface="Lucida Bright" panose="02040602050505020304" pitchFamily="18" charset="0"/>
                <a:cs typeface="Arial" panose="020B0604020202020204" pitchFamily="34" charset="0"/>
              </a:rPr>
              <a:t> </a:t>
            </a:r>
            <a:r>
              <a:rPr lang="en-US" b="1" dirty="0" err="1">
                <a:latin typeface="Lucida Bright" panose="02040602050505020304" pitchFamily="18" charset="0"/>
                <a:cs typeface="Arial" panose="020B0604020202020204" pitchFamily="34" charset="0"/>
              </a:rPr>
              <a:t>o+wx,u-x,g</a:t>
            </a:r>
            <a:r>
              <a:rPr lang="en-US" b="1" dirty="0">
                <a:latin typeface="Lucida Bright" panose="02040602050505020304" pitchFamily="18" charset="0"/>
                <a:cs typeface="Arial" panose="020B0604020202020204" pitchFamily="34" charset="0"/>
              </a:rPr>
              <a:t>=r-x </a:t>
            </a:r>
            <a:r>
              <a:rPr lang="en-US" b="1" dirty="0" err="1">
                <a:latin typeface="Lucida Bright" panose="02040602050505020304" pitchFamily="18" charset="0"/>
                <a:cs typeface="Arial" panose="020B0604020202020204" pitchFamily="34" charset="0"/>
              </a:rPr>
              <a:t>testfile</a:t>
            </a:r>
            <a:endParaRPr lang="en-US" b="1" dirty="0">
              <a:latin typeface="Lucida Bright" panose="02040602050505020304" pitchFamily="18" charset="0"/>
              <a:cs typeface="Arial" panose="020B0604020202020204" pitchFamily="34" charset="0"/>
            </a:endParaRPr>
          </a:p>
          <a:p>
            <a:pPr>
              <a:lnSpc>
                <a:spcPct val="150000"/>
              </a:lnSpc>
              <a:defRPr/>
            </a:pPr>
            <a:r>
              <a:rPr lang="en-US" b="1" dirty="0">
                <a:latin typeface="Lucida Bright" panose="02040602050505020304" pitchFamily="18" charset="0"/>
                <a:cs typeface="Arial" panose="020B0604020202020204" pitchFamily="34" charset="0"/>
              </a:rPr>
              <a:t>$</a:t>
            </a:r>
            <a:r>
              <a:rPr lang="en-US" b="1" dirty="0" err="1">
                <a:latin typeface="Lucida Bright" panose="02040602050505020304" pitchFamily="18" charset="0"/>
                <a:cs typeface="Arial" panose="020B0604020202020204" pitchFamily="34" charset="0"/>
              </a:rPr>
              <a:t>ls</a:t>
            </a:r>
            <a:r>
              <a:rPr lang="en-US" b="1" dirty="0">
                <a:latin typeface="Lucida Bright" panose="02040602050505020304" pitchFamily="18" charset="0"/>
                <a:cs typeface="Arial" panose="020B0604020202020204" pitchFamily="34" charset="0"/>
              </a:rPr>
              <a:t> -l </a:t>
            </a:r>
            <a:r>
              <a:rPr lang="en-US" b="1" dirty="0" err="1">
                <a:latin typeface="Lucida Bright" panose="02040602050505020304" pitchFamily="18" charset="0"/>
                <a:cs typeface="Arial" panose="020B0604020202020204" pitchFamily="34" charset="0"/>
              </a:rPr>
              <a:t>testfile</a:t>
            </a:r>
            <a:endParaRPr lang="en-US" b="1" dirty="0">
              <a:latin typeface="Lucida Bright" panose="02040602050505020304" pitchFamily="18" charset="0"/>
              <a:cs typeface="Arial" panose="020B0604020202020204" pitchFamily="34" charset="0"/>
            </a:endParaRPr>
          </a:p>
          <a:p>
            <a:pPr>
              <a:lnSpc>
                <a:spcPct val="150000"/>
              </a:lnSpc>
              <a:defRPr/>
            </a:pPr>
            <a:r>
              <a:rPr lang="en-US" b="1" dirty="0">
                <a:latin typeface="Lucida Bright" panose="02040602050505020304" pitchFamily="18" charset="0"/>
                <a:cs typeface="Arial" panose="020B0604020202020204" pitchFamily="34" charset="0"/>
              </a:rPr>
              <a:t>-</a:t>
            </a:r>
            <a:r>
              <a:rPr lang="en-US" b="1" dirty="0" err="1">
                <a:latin typeface="Lucida Bright" panose="02040602050505020304" pitchFamily="18" charset="0"/>
                <a:cs typeface="Arial" panose="020B0604020202020204" pitchFamily="34" charset="0"/>
              </a:rPr>
              <a:t>rw</a:t>
            </a:r>
            <a:r>
              <a:rPr lang="en-US" b="1" dirty="0">
                <a:latin typeface="Lucida Bright" panose="02040602050505020304" pitchFamily="18" charset="0"/>
                <a:cs typeface="Arial" panose="020B0604020202020204" pitchFamily="34" charset="0"/>
              </a:rPr>
              <a:t>-r-</a:t>
            </a:r>
            <a:r>
              <a:rPr lang="en-US" b="1" dirty="0" err="1">
                <a:latin typeface="Lucida Bright" panose="02040602050505020304" pitchFamily="18" charset="0"/>
                <a:cs typeface="Arial" panose="020B0604020202020204" pitchFamily="34" charset="0"/>
              </a:rPr>
              <a:t>xrwx</a:t>
            </a:r>
            <a:r>
              <a:rPr lang="en-US" b="1" dirty="0">
                <a:latin typeface="Lucida Bright" panose="02040602050505020304" pitchFamily="18" charset="0"/>
                <a:cs typeface="Arial" panose="020B0604020202020204" pitchFamily="34" charset="0"/>
              </a:rPr>
              <a:t>  1 root   users 1024  Nov 2 00:10  </a:t>
            </a:r>
            <a:r>
              <a:rPr lang="en-US" b="1" dirty="0" err="1">
                <a:latin typeface="Lucida Bright" panose="02040602050505020304" pitchFamily="18" charset="0"/>
                <a:cs typeface="Arial" panose="020B0604020202020204" pitchFamily="34" charset="0"/>
              </a:rPr>
              <a:t>testfile</a:t>
            </a:r>
            <a:r>
              <a:rPr lang="en-US" dirty="0">
                <a:latin typeface="Lucida Bright" panose="02040602050505020304" pitchFamily="18" charset="0"/>
                <a:cs typeface="Arial" panose="020B0604020202020204" pitchFamily="34" charset="0"/>
              </a:rPr>
              <a:t> </a:t>
            </a:r>
          </a:p>
          <a:p>
            <a:pPr>
              <a:lnSpc>
                <a:spcPct val="150000"/>
              </a:lnSpc>
              <a:defRPr/>
            </a:pPr>
            <a:r>
              <a:rPr lang="en-US" b="1" dirty="0">
                <a:latin typeface="Lucida Bright" panose="02040602050505020304" pitchFamily="18" charset="0"/>
                <a:cs typeface="Arial" panose="020B0604020202020204" pitchFamily="34" charset="0"/>
              </a:rPr>
              <a:t>Using </a:t>
            </a:r>
            <a:r>
              <a:rPr lang="en-US" b="1" dirty="0" err="1">
                <a:latin typeface="Lucida Bright" panose="02040602050505020304" pitchFamily="18" charset="0"/>
                <a:cs typeface="Arial" panose="020B0604020202020204" pitchFamily="34" charset="0"/>
              </a:rPr>
              <a:t>chmod</a:t>
            </a:r>
            <a:r>
              <a:rPr lang="en-US" b="1" dirty="0">
                <a:latin typeface="Lucida Bright" panose="02040602050505020304" pitchFamily="18" charset="0"/>
                <a:cs typeface="Arial" panose="020B0604020202020204" pitchFamily="34" charset="0"/>
              </a:rPr>
              <a:t> with Absolute Permissions:</a:t>
            </a:r>
          </a:p>
          <a:p>
            <a:pPr>
              <a:lnSpc>
                <a:spcPct val="150000"/>
              </a:lnSpc>
              <a:defRPr/>
            </a:pPr>
            <a:r>
              <a:rPr lang="en-US" dirty="0">
                <a:latin typeface="Lucida Bright" panose="02040602050505020304" pitchFamily="18" charset="0"/>
                <a:cs typeface="Arial" panose="020B0604020202020204" pitchFamily="34" charset="0"/>
              </a:rPr>
              <a:t>The second way to modify permissions with the </a:t>
            </a:r>
            <a:r>
              <a:rPr lang="en-US" dirty="0" err="1">
                <a:latin typeface="Lucida Bright" panose="02040602050505020304" pitchFamily="18" charset="0"/>
                <a:cs typeface="Arial" panose="020B0604020202020204" pitchFamily="34" charset="0"/>
              </a:rPr>
              <a:t>chmod</a:t>
            </a:r>
            <a:r>
              <a:rPr lang="en-US" dirty="0">
                <a:latin typeface="Lucida Bright" panose="02040602050505020304" pitchFamily="18" charset="0"/>
                <a:cs typeface="Arial" panose="020B0604020202020204" pitchFamily="34" charset="0"/>
              </a:rPr>
              <a:t> command is to use a number to specify each set of permissions for the file.</a:t>
            </a:r>
          </a:p>
          <a:p>
            <a:pPr>
              <a:lnSpc>
                <a:spcPct val="150000"/>
              </a:lnSpc>
              <a:defRPr/>
            </a:pPr>
            <a:r>
              <a:rPr lang="en-US" dirty="0">
                <a:latin typeface="Lucida Bright" panose="02040602050505020304" pitchFamily="18" charset="0"/>
                <a:cs typeface="Arial" panose="020B0604020202020204" pitchFamily="34" charset="0"/>
              </a:rPr>
              <a:t>Each permission is assigned a value, as the following table shows, and the total of each set of permissions provides a number for that set.</a:t>
            </a:r>
          </a:p>
          <a:p>
            <a:pPr marL="342900" indent="-342900">
              <a:lnSpc>
                <a:spcPct val="150000"/>
              </a:lnSpc>
              <a:buFontTx/>
              <a:buAutoNum type="arabicPlain" startAt="4"/>
              <a:defRPr/>
            </a:pPr>
            <a:endParaRPr lang="en-US" dirty="0">
              <a:latin typeface="Lucida Bright" panose="02040602050505020304" pitchFamily="18" charset="0"/>
              <a:cs typeface="Arial" panose="020B0604020202020204" pitchFamily="34" charset="0"/>
            </a:endParaRPr>
          </a:p>
          <a:p>
            <a:pPr>
              <a:lnSpc>
                <a:spcPct val="150000"/>
              </a:lnSpc>
              <a:defRPr/>
            </a:pPr>
            <a:endParaRPr lang="en-US" dirty="0">
              <a:latin typeface="Lucida Bright" panose="02040602050505020304" pitchFamily="18" charset="0"/>
              <a:cs typeface="Arial" panose="020B0604020202020204" pitchFamily="34" charset="0"/>
            </a:endParaRPr>
          </a:p>
        </p:txBody>
      </p:sp>
      <p:sp>
        <p:nvSpPr>
          <p:cNvPr id="72709"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Security </a:t>
            </a:r>
            <a:r>
              <a:rPr lang="en-US" sz="4000" b="1" dirty="0"/>
              <a:t>by file </a:t>
            </a:r>
            <a:r>
              <a:rPr lang="en-US" sz="4000" b="1" dirty="0" smtClean="0"/>
              <a:t>permissions </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53252" name="Rectangle 3"/>
          <p:cNvSpPr>
            <a:spLocks noChangeArrowheads="1"/>
          </p:cNvSpPr>
          <p:nvPr/>
        </p:nvSpPr>
        <p:spPr bwMode="auto">
          <a:xfrm>
            <a:off x="0" y="838200"/>
            <a:ext cx="9144000" cy="4247317"/>
          </a:xfrm>
          <a:prstGeom prst="rect">
            <a:avLst/>
          </a:prstGeom>
          <a:noFill/>
          <a:ln w="9525">
            <a:noFill/>
            <a:miter lim="800000"/>
          </a:ln>
        </p:spPr>
        <p:txBody>
          <a:bodyPr>
            <a:spAutoFit/>
          </a:bodyPr>
          <a:lstStyle/>
          <a:p>
            <a:pPr>
              <a:lnSpc>
                <a:spcPct val="150000"/>
              </a:lnSpc>
              <a:defRPr/>
            </a:pPr>
            <a:r>
              <a:rPr lang="en-US" b="1" dirty="0" smtClean="0">
                <a:latin typeface="Lucida Bright" panose="02040602050505020304" pitchFamily="18" charset="0"/>
                <a:cs typeface="Arial" panose="020B0604020202020204" pitchFamily="34" charset="0"/>
              </a:rPr>
              <a:t>Number    Octal Permission Representation			Ref</a:t>
            </a:r>
            <a:endParaRPr lang="en-US" dirty="0" smtClean="0">
              <a:latin typeface="Lucida Bright" panose="02040602050505020304" pitchFamily="18" charset="0"/>
              <a:cs typeface="Arial" panose="020B0604020202020204" pitchFamily="34" charset="0"/>
            </a:endParaRPr>
          </a:p>
          <a:p>
            <a:pPr>
              <a:lnSpc>
                <a:spcPct val="150000"/>
              </a:lnSpc>
              <a:defRPr/>
            </a:pPr>
            <a:r>
              <a:rPr lang="en-US" b="1" dirty="0" smtClean="0">
                <a:latin typeface="Lucida Bright" panose="02040602050505020304" pitchFamily="18" charset="0"/>
                <a:cs typeface="Arial" panose="020B0604020202020204" pitchFamily="34" charset="0"/>
              </a:rPr>
              <a:t>0	</a:t>
            </a:r>
            <a:r>
              <a:rPr lang="en-US" dirty="0" smtClean="0">
                <a:latin typeface="Lucida Bright" panose="02040602050505020304" pitchFamily="18" charset="0"/>
                <a:cs typeface="Arial" panose="020B0604020202020204" pitchFamily="34" charset="0"/>
              </a:rPr>
              <a:t>No permission						---</a:t>
            </a:r>
          </a:p>
          <a:p>
            <a:pPr>
              <a:lnSpc>
                <a:spcPct val="150000"/>
              </a:lnSpc>
              <a:defRPr/>
            </a:pPr>
            <a:r>
              <a:rPr lang="en-US" b="1" dirty="0" smtClean="0">
                <a:latin typeface="Lucida Bright" panose="02040602050505020304" pitchFamily="18" charset="0"/>
                <a:cs typeface="Arial" panose="020B0604020202020204" pitchFamily="34" charset="0"/>
              </a:rPr>
              <a:t>1	</a:t>
            </a:r>
            <a:r>
              <a:rPr lang="en-US" dirty="0" smtClean="0">
                <a:latin typeface="Lucida Bright" panose="02040602050505020304" pitchFamily="18" charset="0"/>
                <a:cs typeface="Arial" panose="020B0604020202020204" pitchFamily="34" charset="0"/>
              </a:rPr>
              <a:t>Execute permission					--x</a:t>
            </a:r>
          </a:p>
          <a:p>
            <a:pPr>
              <a:lnSpc>
                <a:spcPct val="150000"/>
              </a:lnSpc>
              <a:defRPr/>
            </a:pPr>
            <a:r>
              <a:rPr lang="en-US" b="1" dirty="0" smtClean="0">
                <a:latin typeface="Lucida Bright" panose="02040602050505020304" pitchFamily="18" charset="0"/>
                <a:cs typeface="Arial" panose="020B0604020202020204" pitchFamily="34" charset="0"/>
              </a:rPr>
              <a:t>2	</a:t>
            </a:r>
            <a:r>
              <a:rPr lang="en-US" dirty="0" smtClean="0">
                <a:latin typeface="Lucida Bright" panose="02040602050505020304" pitchFamily="18" charset="0"/>
                <a:cs typeface="Arial" panose="020B0604020202020204" pitchFamily="34" charset="0"/>
              </a:rPr>
              <a:t>Write permission					-w-</a:t>
            </a:r>
          </a:p>
          <a:p>
            <a:pPr>
              <a:lnSpc>
                <a:spcPct val="150000"/>
              </a:lnSpc>
              <a:defRPr/>
            </a:pPr>
            <a:r>
              <a:rPr lang="en-US" b="1" dirty="0" smtClean="0">
                <a:latin typeface="Lucida Bright" panose="02040602050505020304" pitchFamily="18" charset="0"/>
                <a:cs typeface="Arial" panose="020B0604020202020204" pitchFamily="34" charset="0"/>
              </a:rPr>
              <a:t>3	</a:t>
            </a:r>
            <a:r>
              <a:rPr lang="en-US" dirty="0" smtClean="0">
                <a:latin typeface="Lucida Bright" panose="02040602050505020304" pitchFamily="18" charset="0"/>
                <a:cs typeface="Arial" panose="020B0604020202020204" pitchFamily="34" charset="0"/>
              </a:rPr>
              <a:t>Execute and write permission: 1 (execute) + 2 (write) = 3	-</a:t>
            </a:r>
            <a:r>
              <a:rPr lang="en-US" dirty="0" err="1" smtClean="0">
                <a:latin typeface="Lucida Bright" panose="02040602050505020304" pitchFamily="18" charset="0"/>
                <a:cs typeface="Arial" panose="020B0604020202020204" pitchFamily="34" charset="0"/>
              </a:rPr>
              <a:t>wx</a:t>
            </a:r>
            <a:endParaRPr lang="en-US" dirty="0" smtClean="0">
              <a:latin typeface="Lucida Bright" panose="02040602050505020304" pitchFamily="18" charset="0"/>
              <a:cs typeface="Arial" panose="020B0604020202020204" pitchFamily="34" charset="0"/>
            </a:endParaRPr>
          </a:p>
          <a:p>
            <a:pPr>
              <a:lnSpc>
                <a:spcPct val="150000"/>
              </a:lnSpc>
              <a:defRPr/>
            </a:pPr>
            <a:r>
              <a:rPr lang="en-US" b="1" dirty="0" smtClean="0">
                <a:latin typeface="Lucida Bright" panose="02040602050505020304" pitchFamily="18" charset="0"/>
                <a:cs typeface="Arial" panose="020B0604020202020204" pitchFamily="34" charset="0"/>
              </a:rPr>
              <a:t>4	</a:t>
            </a:r>
            <a:r>
              <a:rPr lang="en-US" dirty="0" smtClean="0">
                <a:latin typeface="Lucida Bright" panose="02040602050505020304" pitchFamily="18" charset="0"/>
                <a:cs typeface="Arial" panose="020B0604020202020204" pitchFamily="34" charset="0"/>
              </a:rPr>
              <a:t>Read permission		</a:t>
            </a:r>
            <a:r>
              <a:rPr lang="en-US" b="1" dirty="0" smtClean="0">
                <a:latin typeface="Lucida Bright" panose="02040602050505020304" pitchFamily="18" charset="0"/>
                <a:cs typeface="Arial" panose="020B0604020202020204" pitchFamily="34" charset="0"/>
              </a:rPr>
              <a:t>			</a:t>
            </a:r>
            <a:r>
              <a:rPr lang="en-US" dirty="0" smtClean="0">
                <a:latin typeface="Lucida Bright" panose="02040602050505020304" pitchFamily="18" charset="0"/>
                <a:cs typeface="Arial" panose="020B0604020202020204" pitchFamily="34" charset="0"/>
              </a:rPr>
              <a:t>r--</a:t>
            </a:r>
          </a:p>
          <a:p>
            <a:pPr>
              <a:lnSpc>
                <a:spcPct val="150000"/>
              </a:lnSpc>
              <a:defRPr/>
            </a:pPr>
            <a:r>
              <a:rPr lang="en-US" b="1" dirty="0" smtClean="0">
                <a:latin typeface="Lucida Bright" panose="02040602050505020304" pitchFamily="18" charset="0"/>
                <a:cs typeface="Arial" panose="020B0604020202020204" pitchFamily="34" charset="0"/>
              </a:rPr>
              <a:t>5	</a:t>
            </a:r>
            <a:r>
              <a:rPr lang="en-US" dirty="0" smtClean="0">
                <a:latin typeface="Lucida Bright" panose="02040602050505020304" pitchFamily="18" charset="0"/>
                <a:cs typeface="Arial" panose="020B0604020202020204" pitchFamily="34" charset="0"/>
              </a:rPr>
              <a:t>Read and execute permission: 4 (read) + 1 (execute) = 5	r-x</a:t>
            </a:r>
          </a:p>
          <a:p>
            <a:pPr>
              <a:lnSpc>
                <a:spcPct val="150000"/>
              </a:lnSpc>
              <a:defRPr/>
            </a:pPr>
            <a:r>
              <a:rPr lang="en-US" b="1" dirty="0" smtClean="0">
                <a:latin typeface="Lucida Bright" panose="02040602050505020304" pitchFamily="18" charset="0"/>
                <a:cs typeface="Arial" panose="020B0604020202020204" pitchFamily="34" charset="0"/>
              </a:rPr>
              <a:t>6	</a:t>
            </a:r>
            <a:r>
              <a:rPr lang="en-US" dirty="0" smtClean="0">
                <a:latin typeface="Lucida Bright" panose="02040602050505020304" pitchFamily="18" charset="0"/>
                <a:cs typeface="Arial" panose="020B0604020202020204" pitchFamily="34" charset="0"/>
              </a:rPr>
              <a:t>Read and write permission: 4 (read) + 2 (write) = 6	</a:t>
            </a:r>
            <a:r>
              <a:rPr lang="en-US" dirty="0" err="1" smtClean="0">
                <a:latin typeface="Lucida Bright" panose="02040602050505020304" pitchFamily="18" charset="0"/>
                <a:cs typeface="Arial" panose="020B0604020202020204" pitchFamily="34" charset="0"/>
              </a:rPr>
              <a:t>rw</a:t>
            </a:r>
            <a:r>
              <a:rPr lang="en-US" dirty="0" smtClean="0">
                <a:latin typeface="Lucida Bright" panose="02040602050505020304" pitchFamily="18" charset="0"/>
                <a:cs typeface="Arial" panose="020B0604020202020204" pitchFamily="34" charset="0"/>
              </a:rPr>
              <a:t>-</a:t>
            </a:r>
          </a:p>
          <a:p>
            <a:pPr marL="342900" indent="-342900">
              <a:lnSpc>
                <a:spcPct val="150000"/>
              </a:lnSpc>
              <a:buAutoNum type="arabicPlain" startAt="7"/>
              <a:defRPr/>
            </a:pPr>
            <a:r>
              <a:rPr lang="en-US" dirty="0" smtClean="0">
                <a:latin typeface="Lucida Bright" panose="02040602050505020304" pitchFamily="18" charset="0"/>
                <a:cs typeface="Arial" panose="020B0604020202020204" pitchFamily="34" charset="0"/>
              </a:rPr>
              <a:t>        All permissions: 4 (read) + 2 (write) + 1 (execute) = 7	</a:t>
            </a:r>
            <a:r>
              <a:rPr lang="en-US" dirty="0" err="1" smtClean="0">
                <a:latin typeface="Lucida Bright" panose="02040602050505020304" pitchFamily="18" charset="0"/>
                <a:cs typeface="Arial" panose="020B0604020202020204" pitchFamily="34" charset="0"/>
              </a:rPr>
              <a:t>rwx</a:t>
            </a:r>
            <a:endParaRPr lang="en-US" dirty="0" smtClean="0">
              <a:latin typeface="Lucida Bright" panose="02040602050505020304" pitchFamily="18" charset="0"/>
              <a:cs typeface="Arial" panose="020B0604020202020204" pitchFamily="34" charset="0"/>
            </a:endParaRPr>
          </a:p>
          <a:p>
            <a:pPr marL="342900" indent="-342900">
              <a:lnSpc>
                <a:spcPct val="150000"/>
              </a:lnSpc>
              <a:defRPr/>
            </a:pPr>
            <a:endParaRPr lang="en-US" dirty="0" smtClean="0">
              <a:latin typeface="Lucida Bright" panose="02040602050505020304" pitchFamily="18" charset="0"/>
              <a:cs typeface="Arial" panose="020B0604020202020204" pitchFamily="34" charset="0"/>
            </a:endParaRPr>
          </a:p>
        </p:txBody>
      </p:sp>
      <p:sp>
        <p:nvSpPr>
          <p:cNvPr id="72709"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Security </a:t>
            </a:r>
            <a:r>
              <a:rPr lang="en-US" sz="4000" b="1" dirty="0"/>
              <a:t>by file </a:t>
            </a:r>
            <a:r>
              <a:rPr lang="en-US" sz="4000" b="1" dirty="0" smtClean="0"/>
              <a:t>permissions</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Box 5"/>
          <p:cNvSpPr txBox="1">
            <a:spLocks noChangeArrowheads="1"/>
          </p:cNvSpPr>
          <p:nvPr/>
        </p:nvSpPr>
        <p:spPr bwMode="auto">
          <a:xfrm>
            <a:off x="0" y="838200"/>
            <a:ext cx="9144000" cy="5493812"/>
          </a:xfrm>
          <a:prstGeom prst="rect">
            <a:avLst/>
          </a:prstGeom>
          <a:noFill/>
          <a:ln w="9525">
            <a:noFill/>
            <a:miter lim="800000"/>
          </a:ln>
        </p:spPr>
        <p:txBody>
          <a:bodyPr>
            <a:spAutoFit/>
          </a:bodyPr>
          <a:lstStyle/>
          <a:p>
            <a:pPr>
              <a:lnSpc>
                <a:spcPct val="150000"/>
              </a:lnSpc>
            </a:pPr>
            <a:r>
              <a:rPr lang="en-US" dirty="0">
                <a:latin typeface="Lucida Bright" panose="02040602050505020304" pitchFamily="18" charset="0"/>
              </a:rPr>
              <a:t>Here's an example using </a:t>
            </a:r>
            <a:r>
              <a:rPr lang="en-US" dirty="0" err="1">
                <a:latin typeface="Lucida Bright" panose="02040602050505020304" pitchFamily="18" charset="0"/>
              </a:rPr>
              <a:t>testfile</a:t>
            </a:r>
            <a:r>
              <a:rPr lang="en-US" dirty="0">
                <a:latin typeface="Lucida Bright" panose="02040602050505020304" pitchFamily="18" charset="0"/>
              </a:rPr>
              <a:t>. Running </a:t>
            </a:r>
            <a:r>
              <a:rPr lang="en-US" dirty="0" err="1">
                <a:latin typeface="Lucida Bright" panose="02040602050505020304" pitchFamily="18" charset="0"/>
              </a:rPr>
              <a:t>ls</a:t>
            </a:r>
            <a:r>
              <a:rPr lang="en-US" dirty="0">
                <a:latin typeface="Lucida Bright" panose="02040602050505020304" pitchFamily="18" charset="0"/>
              </a:rPr>
              <a:t> -1 on </a:t>
            </a:r>
            <a:r>
              <a:rPr lang="en-US" dirty="0" err="1">
                <a:latin typeface="Lucida Bright" panose="02040602050505020304" pitchFamily="18" charset="0"/>
              </a:rPr>
              <a:t>testfile</a:t>
            </a:r>
            <a:r>
              <a:rPr lang="en-US" dirty="0">
                <a:latin typeface="Lucida Bright" panose="02040602050505020304" pitchFamily="18" charset="0"/>
              </a:rPr>
              <a:t> shows that the file's permissions are as follows:</a:t>
            </a: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ls</a:t>
            </a:r>
            <a:r>
              <a:rPr lang="en-US" b="1" dirty="0">
                <a:latin typeface="Lucida Bright" panose="02040602050505020304" pitchFamily="18" charset="0"/>
              </a:rPr>
              <a:t> -l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rwxrwxr</a:t>
            </a:r>
            <a:r>
              <a:rPr lang="en-US" b="1" dirty="0">
                <a:latin typeface="Lucida Bright" panose="02040602050505020304" pitchFamily="18" charset="0"/>
              </a:rPr>
              <a:t>--  1 root   users 1024  Nov 2 00:10  </a:t>
            </a:r>
            <a:r>
              <a:rPr lang="en-US" b="1" dirty="0" err="1">
                <a:latin typeface="Lucida Bright" panose="02040602050505020304" pitchFamily="18" charset="0"/>
              </a:rPr>
              <a:t>testfile</a:t>
            </a:r>
            <a:r>
              <a:rPr lang="en-US" dirty="0">
                <a:latin typeface="Lucida Bright" panose="02040602050505020304" pitchFamily="18" charset="0"/>
              </a:rPr>
              <a:t> </a:t>
            </a:r>
          </a:p>
          <a:p>
            <a:pPr>
              <a:lnSpc>
                <a:spcPct val="150000"/>
              </a:lnSpc>
            </a:pPr>
            <a:r>
              <a:rPr lang="en-US" dirty="0">
                <a:latin typeface="Lucida Bright" panose="02040602050505020304" pitchFamily="18" charset="0"/>
              </a:rPr>
              <a:t>Then each example </a:t>
            </a:r>
            <a:r>
              <a:rPr lang="en-US" dirty="0" err="1">
                <a:latin typeface="Lucida Bright" panose="02040602050505020304" pitchFamily="18" charset="0"/>
              </a:rPr>
              <a:t>chmod</a:t>
            </a:r>
            <a:r>
              <a:rPr lang="en-US" dirty="0">
                <a:latin typeface="Lucida Bright" panose="02040602050505020304" pitchFamily="18" charset="0"/>
              </a:rPr>
              <a:t> command from the preceding table is run on </a:t>
            </a:r>
            <a:r>
              <a:rPr lang="en-US" dirty="0" err="1">
                <a:latin typeface="Lucida Bright" panose="02040602050505020304" pitchFamily="18" charset="0"/>
              </a:rPr>
              <a:t>testfile</a:t>
            </a:r>
            <a:r>
              <a:rPr lang="en-US" dirty="0">
                <a:latin typeface="Lucida Bright" panose="02040602050505020304" pitchFamily="18" charset="0"/>
              </a:rPr>
              <a:t>, followed by </a:t>
            </a:r>
            <a:r>
              <a:rPr lang="en-US" dirty="0" err="1">
                <a:latin typeface="Lucida Bright" panose="02040602050505020304" pitchFamily="18" charset="0"/>
              </a:rPr>
              <a:t>ls</a:t>
            </a:r>
            <a:r>
              <a:rPr lang="en-US" dirty="0">
                <a:latin typeface="Lucida Bright" panose="02040602050505020304" pitchFamily="18" charset="0"/>
              </a:rPr>
              <a:t> -l so you can see the permission changes:</a:t>
            </a:r>
          </a:p>
          <a:p>
            <a:pPr>
              <a:lnSpc>
                <a:spcPct val="150000"/>
              </a:lnSpc>
            </a:pPr>
            <a:r>
              <a:rPr lang="en-US" b="1" dirty="0">
                <a:latin typeface="Lucida Bright" panose="02040602050505020304" pitchFamily="18" charset="0"/>
              </a:rPr>
              <a:t>$ </a:t>
            </a:r>
            <a:r>
              <a:rPr lang="en-US" b="1" dirty="0" err="1">
                <a:latin typeface="Lucida Bright" panose="02040602050505020304" pitchFamily="18" charset="0"/>
              </a:rPr>
              <a:t>chmod</a:t>
            </a:r>
            <a:r>
              <a:rPr lang="en-US" b="1" dirty="0">
                <a:latin typeface="Lucida Bright" panose="02040602050505020304" pitchFamily="18" charset="0"/>
              </a:rPr>
              <a:t> 755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ls</a:t>
            </a:r>
            <a:r>
              <a:rPr lang="en-US" b="1" dirty="0">
                <a:latin typeface="Lucida Bright" panose="02040602050505020304" pitchFamily="18" charset="0"/>
              </a:rPr>
              <a:t> -l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dirty="0">
                <a:latin typeface="Lucida Bright" panose="02040602050505020304" pitchFamily="18" charset="0"/>
              </a:rPr>
              <a:t>-</a:t>
            </a:r>
            <a:r>
              <a:rPr lang="en-US" b="1" dirty="0" err="1">
                <a:latin typeface="Lucida Bright" panose="02040602050505020304" pitchFamily="18" charset="0"/>
              </a:rPr>
              <a:t>rwxr</a:t>
            </a:r>
            <a:r>
              <a:rPr lang="en-US" b="1" dirty="0">
                <a:latin typeface="Lucida Bright" panose="02040602050505020304" pitchFamily="18" charset="0"/>
              </a:rPr>
              <a:t>-</a:t>
            </a:r>
            <a:r>
              <a:rPr lang="en-US" b="1" dirty="0" err="1">
                <a:latin typeface="Lucida Bright" panose="02040602050505020304" pitchFamily="18" charset="0"/>
              </a:rPr>
              <a:t>xr</a:t>
            </a:r>
            <a:r>
              <a:rPr lang="en-US" b="1" dirty="0">
                <a:latin typeface="Lucida Bright" panose="02040602050505020304" pitchFamily="18" charset="0"/>
              </a:rPr>
              <a:t>-x  1 root   users 1024  Nov 2 00:10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chmod</a:t>
            </a:r>
            <a:r>
              <a:rPr lang="en-US" b="1" dirty="0">
                <a:latin typeface="Lucida Bright" panose="02040602050505020304" pitchFamily="18" charset="0"/>
              </a:rPr>
              <a:t> 743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ls</a:t>
            </a:r>
            <a:r>
              <a:rPr lang="en-US" b="1" dirty="0">
                <a:latin typeface="Lucida Bright" panose="02040602050505020304" pitchFamily="18" charset="0"/>
              </a:rPr>
              <a:t> -l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rwxr</a:t>
            </a:r>
            <a:r>
              <a:rPr lang="en-US" b="1" dirty="0">
                <a:latin typeface="Lucida Bright" panose="02040602050505020304" pitchFamily="18" charset="0"/>
              </a:rPr>
              <a:t>---</a:t>
            </a:r>
            <a:r>
              <a:rPr lang="en-US" b="1" dirty="0" err="1">
                <a:latin typeface="Lucida Bright" panose="02040602050505020304" pitchFamily="18" charset="0"/>
              </a:rPr>
              <a:t>wx</a:t>
            </a:r>
            <a:r>
              <a:rPr lang="en-US" b="1" dirty="0">
                <a:latin typeface="Lucida Bright" panose="02040602050505020304" pitchFamily="18" charset="0"/>
              </a:rPr>
              <a:t>  1 root   users 1024  Nov 2 00:10  </a:t>
            </a:r>
            <a:r>
              <a:rPr lang="en-US" b="1" dirty="0" err="1">
                <a:latin typeface="Lucida Bright" panose="02040602050505020304" pitchFamily="18" charset="0"/>
              </a:rPr>
              <a:t>testfile</a:t>
            </a:r>
            <a:endParaRPr lang="en-US" b="1" dirty="0">
              <a:latin typeface="Lucida Bright" panose="02040602050505020304" pitchFamily="18" charset="0"/>
            </a:endParaRPr>
          </a:p>
          <a:p>
            <a:pPr>
              <a:lnSpc>
                <a:spcPct val="150000"/>
              </a:lnSpc>
            </a:pPr>
            <a:r>
              <a:rPr lang="en-US" b="1" dirty="0">
                <a:latin typeface="Lucida Bright" panose="02040602050505020304" pitchFamily="18" charset="0"/>
              </a:rPr>
              <a:t>$</a:t>
            </a:r>
            <a:r>
              <a:rPr lang="en-US" b="1" dirty="0" err="1">
                <a:latin typeface="Lucida Bright" panose="02040602050505020304" pitchFamily="18" charset="0"/>
              </a:rPr>
              <a:t>chmod</a:t>
            </a:r>
            <a:r>
              <a:rPr lang="en-US" b="1" dirty="0">
                <a:latin typeface="Lucida Bright" panose="02040602050505020304" pitchFamily="18" charset="0"/>
              </a:rPr>
              <a:t> 043 </a:t>
            </a:r>
            <a:r>
              <a:rPr lang="en-US" b="1" dirty="0" err="1" smtClean="0">
                <a:latin typeface="Lucida Bright" panose="02040602050505020304" pitchFamily="18" charset="0"/>
              </a:rPr>
              <a:t>testfile</a:t>
            </a:r>
            <a:endParaRPr lang="en-US" b="1" dirty="0">
              <a:latin typeface="Lucida Bright" panose="02040602050505020304" pitchFamily="18" charset="0"/>
            </a:endParaRPr>
          </a:p>
        </p:txBody>
      </p:sp>
      <p:sp>
        <p:nvSpPr>
          <p:cNvPr id="73732"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Security </a:t>
            </a:r>
            <a:r>
              <a:rPr lang="en-US" sz="4000" b="1" dirty="0"/>
              <a:t>by file </a:t>
            </a:r>
            <a:r>
              <a:rPr lang="en-US" sz="4000" b="1" dirty="0" smtClean="0"/>
              <a:t>permissions </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74756" name="Rectangle 3"/>
          <p:cNvSpPr>
            <a:spLocks noChangeArrowheads="1"/>
          </p:cNvSpPr>
          <p:nvPr/>
        </p:nvSpPr>
        <p:spPr bwMode="auto">
          <a:xfrm>
            <a:off x="0" y="838200"/>
            <a:ext cx="9144000" cy="5908675"/>
          </a:xfrm>
          <a:prstGeom prst="rect">
            <a:avLst/>
          </a:prstGeom>
          <a:noFill/>
          <a:ln w="9525">
            <a:noFill/>
            <a:miter lim="800000"/>
          </a:ln>
        </p:spPr>
        <p:txBody>
          <a:bodyPr>
            <a:spAutoFit/>
          </a:bodyPr>
          <a:lstStyle/>
          <a:p>
            <a:r>
              <a:rPr lang="en-US" b="1" dirty="0">
                <a:latin typeface="Lucida Bright" panose="02040602050505020304" pitchFamily="18" charset="0"/>
              </a:rPr>
              <a:t>Changing Owners and Groups:</a:t>
            </a:r>
          </a:p>
          <a:p>
            <a:r>
              <a:rPr lang="en-US" dirty="0">
                <a:latin typeface="Lucida Bright" panose="02040602050505020304" pitchFamily="18" charset="0"/>
              </a:rPr>
              <a:t>While creating an account on Unix, it assigns a owner ID and a group ID to each user. All the permissions mentioned above are also assigned based on Owner and Groups.</a:t>
            </a:r>
          </a:p>
          <a:p>
            <a:r>
              <a:rPr lang="en-US" dirty="0">
                <a:latin typeface="Lucida Bright" panose="02040602050505020304" pitchFamily="18" charset="0"/>
              </a:rPr>
              <a:t>Two commands are available to change the owner and the group of files:</a:t>
            </a:r>
          </a:p>
          <a:p>
            <a:r>
              <a:rPr lang="en-US" b="1" dirty="0" err="1">
                <a:latin typeface="Lucida Bright" panose="02040602050505020304" pitchFamily="18" charset="0"/>
              </a:rPr>
              <a:t>chown</a:t>
            </a:r>
            <a:r>
              <a:rPr lang="en-US" b="1" dirty="0">
                <a:latin typeface="Lucida Bright" panose="02040602050505020304" pitchFamily="18" charset="0"/>
              </a:rPr>
              <a:t>:</a:t>
            </a:r>
            <a:r>
              <a:rPr lang="en-US" dirty="0">
                <a:latin typeface="Lucida Bright" panose="02040602050505020304" pitchFamily="18" charset="0"/>
              </a:rPr>
              <a:t> The </a:t>
            </a:r>
            <a:r>
              <a:rPr lang="en-US" dirty="0" err="1">
                <a:latin typeface="Lucida Bright" panose="02040602050505020304" pitchFamily="18" charset="0"/>
              </a:rPr>
              <a:t>chown</a:t>
            </a:r>
            <a:r>
              <a:rPr lang="en-US" dirty="0">
                <a:latin typeface="Lucida Bright" panose="02040602050505020304" pitchFamily="18" charset="0"/>
              </a:rPr>
              <a:t> command stands for "change owner" and is used to change the owner of a file.</a:t>
            </a:r>
          </a:p>
          <a:p>
            <a:r>
              <a:rPr lang="en-US" b="1" dirty="0" err="1">
                <a:latin typeface="Lucida Bright" panose="02040602050505020304" pitchFamily="18" charset="0"/>
              </a:rPr>
              <a:t>chgrp</a:t>
            </a:r>
            <a:r>
              <a:rPr lang="en-US" b="1" dirty="0">
                <a:latin typeface="Lucida Bright" panose="02040602050505020304" pitchFamily="18" charset="0"/>
              </a:rPr>
              <a:t>:</a:t>
            </a:r>
            <a:r>
              <a:rPr lang="en-US" dirty="0">
                <a:latin typeface="Lucida Bright" panose="02040602050505020304" pitchFamily="18" charset="0"/>
              </a:rPr>
              <a:t> The </a:t>
            </a:r>
            <a:r>
              <a:rPr lang="en-US" dirty="0" err="1">
                <a:latin typeface="Lucida Bright" panose="02040602050505020304" pitchFamily="18" charset="0"/>
              </a:rPr>
              <a:t>chgrp</a:t>
            </a:r>
            <a:r>
              <a:rPr lang="en-US" dirty="0">
                <a:latin typeface="Lucida Bright" panose="02040602050505020304" pitchFamily="18" charset="0"/>
              </a:rPr>
              <a:t> command stands for "change group" and is used to change the group of  file.</a:t>
            </a:r>
          </a:p>
          <a:p>
            <a:r>
              <a:rPr lang="en-US" b="1" dirty="0">
                <a:latin typeface="Lucida Bright" panose="02040602050505020304" pitchFamily="18" charset="0"/>
              </a:rPr>
              <a:t>Changing Ownership:</a:t>
            </a:r>
          </a:p>
          <a:p>
            <a:r>
              <a:rPr lang="en-US" dirty="0">
                <a:latin typeface="Lucida Bright" panose="02040602050505020304" pitchFamily="18" charset="0"/>
              </a:rPr>
              <a:t>The </a:t>
            </a:r>
            <a:r>
              <a:rPr lang="en-US" dirty="0" err="1">
                <a:latin typeface="Lucida Bright" panose="02040602050505020304" pitchFamily="18" charset="0"/>
              </a:rPr>
              <a:t>chown</a:t>
            </a:r>
            <a:r>
              <a:rPr lang="en-US" dirty="0">
                <a:latin typeface="Lucida Bright" panose="02040602050505020304" pitchFamily="18" charset="0"/>
              </a:rPr>
              <a:t> command changes the ownership of a file. The basic syntax is as follows:</a:t>
            </a:r>
          </a:p>
          <a:p>
            <a:r>
              <a:rPr lang="en-US" dirty="0">
                <a:latin typeface="Lucida Bright" panose="02040602050505020304" pitchFamily="18" charset="0"/>
              </a:rPr>
              <a:t>$ </a:t>
            </a:r>
            <a:r>
              <a:rPr lang="en-US" dirty="0" err="1">
                <a:latin typeface="Lucida Bright" panose="02040602050505020304" pitchFamily="18" charset="0"/>
              </a:rPr>
              <a:t>chown</a:t>
            </a:r>
            <a:r>
              <a:rPr lang="en-US" dirty="0">
                <a:latin typeface="Lucida Bright" panose="02040602050505020304" pitchFamily="18" charset="0"/>
              </a:rPr>
              <a:t> user </a:t>
            </a:r>
            <a:r>
              <a:rPr lang="en-US" dirty="0" err="1">
                <a:latin typeface="Lucida Bright" panose="02040602050505020304" pitchFamily="18" charset="0"/>
              </a:rPr>
              <a:t>filelist</a:t>
            </a:r>
            <a:r>
              <a:rPr lang="en-US" dirty="0">
                <a:latin typeface="Lucida Bright" panose="02040602050505020304" pitchFamily="18" charset="0"/>
              </a:rPr>
              <a:t> </a:t>
            </a:r>
          </a:p>
          <a:p>
            <a:r>
              <a:rPr lang="en-US" dirty="0">
                <a:latin typeface="Lucida Bright" panose="02040602050505020304" pitchFamily="18" charset="0"/>
              </a:rPr>
              <a:t>The value of user can be either the name of a user on the system or the user id (</a:t>
            </a:r>
            <a:r>
              <a:rPr lang="en-US" dirty="0" err="1">
                <a:latin typeface="Lucida Bright" panose="02040602050505020304" pitchFamily="18" charset="0"/>
              </a:rPr>
              <a:t>uid</a:t>
            </a:r>
            <a:r>
              <a:rPr lang="en-US" dirty="0">
                <a:latin typeface="Lucida Bright" panose="02040602050505020304" pitchFamily="18" charset="0"/>
              </a:rPr>
              <a:t>) of a user on the system.</a:t>
            </a:r>
          </a:p>
          <a:p>
            <a:r>
              <a:rPr lang="en-US" dirty="0">
                <a:latin typeface="Lucida Bright" panose="02040602050505020304" pitchFamily="18" charset="0"/>
              </a:rPr>
              <a:t>Following example:</a:t>
            </a:r>
          </a:p>
          <a:p>
            <a:r>
              <a:rPr lang="en-US" dirty="0">
                <a:latin typeface="Lucida Bright" panose="02040602050505020304" pitchFamily="18" charset="0"/>
              </a:rPr>
              <a:t>$ </a:t>
            </a:r>
            <a:r>
              <a:rPr lang="en-US" dirty="0" err="1">
                <a:latin typeface="Lucida Bright" panose="02040602050505020304" pitchFamily="18" charset="0"/>
              </a:rPr>
              <a:t>chown</a:t>
            </a:r>
            <a:r>
              <a:rPr lang="en-US" dirty="0">
                <a:latin typeface="Lucida Bright" panose="02040602050505020304" pitchFamily="18" charset="0"/>
              </a:rPr>
              <a:t> root1 </a:t>
            </a:r>
            <a:r>
              <a:rPr lang="en-US" dirty="0" err="1">
                <a:latin typeface="Lucida Bright" panose="02040602050505020304" pitchFamily="18" charset="0"/>
              </a:rPr>
              <a:t>testfile</a:t>
            </a:r>
            <a:r>
              <a:rPr lang="en-US" dirty="0">
                <a:latin typeface="Lucida Bright" panose="02040602050505020304" pitchFamily="18" charset="0"/>
              </a:rPr>
              <a:t> </a:t>
            </a:r>
          </a:p>
          <a:p>
            <a:r>
              <a:rPr lang="en-US" dirty="0">
                <a:latin typeface="Lucida Bright" panose="02040602050505020304" pitchFamily="18" charset="0"/>
              </a:rPr>
              <a:t>Changes the owner of the given file to the user </a:t>
            </a:r>
            <a:r>
              <a:rPr lang="en-US" b="1" dirty="0">
                <a:latin typeface="Lucida Bright" panose="02040602050505020304" pitchFamily="18" charset="0"/>
              </a:rPr>
              <a:t>root1</a:t>
            </a:r>
            <a:endParaRPr lang="en-US" dirty="0">
              <a:latin typeface="Lucida Bright" panose="02040602050505020304" pitchFamily="18" charset="0"/>
            </a:endParaRPr>
          </a:p>
          <a:p>
            <a:r>
              <a:rPr lang="en-US" b="1" dirty="0">
                <a:latin typeface="Lucida Bright" panose="02040602050505020304" pitchFamily="18" charset="0"/>
              </a:rPr>
              <a:t>NOTE:</a:t>
            </a:r>
            <a:r>
              <a:rPr lang="en-US" dirty="0">
                <a:latin typeface="Lucida Bright" panose="02040602050505020304" pitchFamily="18" charset="0"/>
              </a:rPr>
              <a:t> The super user, root, has the unrestricted capability to change the ownership of a any file but normal users can change only the owner of files they own.</a:t>
            </a:r>
          </a:p>
        </p:txBody>
      </p:sp>
      <p:sp>
        <p:nvSpPr>
          <p:cNvPr id="74757"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Security </a:t>
            </a:r>
            <a:r>
              <a:rPr lang="en-US" sz="4000" b="1" dirty="0"/>
              <a:t>by file </a:t>
            </a:r>
            <a:r>
              <a:rPr lang="en-US" sz="4000" b="1" dirty="0" smtClean="0"/>
              <a:t>permissions </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11"/>
          <p:cNvSpPr>
            <a:spLocks noGrp="1"/>
          </p:cNvSpPr>
          <p:nvPr>
            <p:ph idx="1"/>
          </p:nvPr>
        </p:nvSpPr>
        <p:spPr>
          <a:xfrm>
            <a:off x="0" y="838200"/>
            <a:ext cx="9144000" cy="5287963"/>
          </a:xfrm>
        </p:spPr>
        <p:txBody>
          <a:bodyPr/>
          <a:lstStyle/>
          <a:p>
            <a:pPr>
              <a:lnSpc>
                <a:spcPct val="150000"/>
              </a:lnSpc>
            </a:pPr>
            <a:r>
              <a:rPr lang="en-US" sz="1800" b="1" dirty="0" smtClean="0">
                <a:latin typeface="Lucida Bright" panose="02040602050505020304" pitchFamily="18" charset="0"/>
              </a:rPr>
              <a:t>Changing Group Ownership:</a:t>
            </a:r>
          </a:p>
          <a:p>
            <a:pPr>
              <a:lnSpc>
                <a:spcPct val="150000"/>
              </a:lnSpc>
            </a:pPr>
            <a:r>
              <a:rPr lang="en-US" sz="1800" dirty="0" smtClean="0">
                <a:latin typeface="Lucida Bright" panose="02040602050505020304" pitchFamily="18" charset="0"/>
              </a:rPr>
              <a:t>The </a:t>
            </a:r>
            <a:r>
              <a:rPr lang="en-US" sz="1800" dirty="0" err="1" smtClean="0">
                <a:latin typeface="Lucida Bright" panose="02040602050505020304" pitchFamily="18" charset="0"/>
              </a:rPr>
              <a:t>chrgp</a:t>
            </a:r>
            <a:r>
              <a:rPr lang="en-US" sz="1800" dirty="0" smtClean="0">
                <a:latin typeface="Lucida Bright" panose="02040602050505020304" pitchFamily="18" charset="0"/>
              </a:rPr>
              <a:t> command changes the group ownership of a file. The basic syntax is as follows:</a:t>
            </a:r>
          </a:p>
          <a:p>
            <a:pPr>
              <a:lnSpc>
                <a:spcPct val="150000"/>
              </a:lnSpc>
            </a:pPr>
            <a:r>
              <a:rPr lang="en-US" sz="1800" dirty="0" smtClean="0">
                <a:latin typeface="Lucida Bright" panose="02040602050505020304" pitchFamily="18" charset="0"/>
              </a:rPr>
              <a:t>$ </a:t>
            </a:r>
            <a:r>
              <a:rPr lang="en-US" sz="1800" dirty="0" err="1" smtClean="0">
                <a:latin typeface="Lucida Bright" panose="02040602050505020304" pitchFamily="18" charset="0"/>
              </a:rPr>
              <a:t>chgrp</a:t>
            </a:r>
            <a:r>
              <a:rPr lang="en-US" sz="1800" dirty="0" smtClean="0">
                <a:latin typeface="Lucida Bright" panose="02040602050505020304" pitchFamily="18" charset="0"/>
              </a:rPr>
              <a:t> group </a:t>
            </a:r>
            <a:r>
              <a:rPr lang="en-US" sz="1800" dirty="0" err="1" smtClean="0">
                <a:latin typeface="Lucida Bright" panose="02040602050505020304" pitchFamily="18" charset="0"/>
              </a:rPr>
              <a:t>filelist</a:t>
            </a:r>
            <a:r>
              <a:rPr lang="en-US" sz="1800" dirty="0" smtClean="0">
                <a:latin typeface="Lucida Bright" panose="02040602050505020304" pitchFamily="18" charset="0"/>
              </a:rPr>
              <a:t> 	The value of group can be the name of a group on the system or the group ID (GID) of a group on the system.</a:t>
            </a:r>
          </a:p>
          <a:p>
            <a:pPr>
              <a:lnSpc>
                <a:spcPct val="150000"/>
              </a:lnSpc>
            </a:pPr>
            <a:r>
              <a:rPr lang="en-US" sz="1800" dirty="0" smtClean="0">
                <a:latin typeface="Lucida Bright" panose="02040602050505020304" pitchFamily="18" charset="0"/>
              </a:rPr>
              <a:t>Following example:</a:t>
            </a:r>
          </a:p>
          <a:p>
            <a:pPr>
              <a:lnSpc>
                <a:spcPct val="150000"/>
              </a:lnSpc>
            </a:pPr>
            <a:r>
              <a:rPr lang="en-US" sz="1800" dirty="0" smtClean="0">
                <a:latin typeface="Lucida Bright" panose="02040602050505020304" pitchFamily="18" charset="0"/>
              </a:rPr>
              <a:t>$ </a:t>
            </a:r>
            <a:r>
              <a:rPr lang="en-US" sz="1800" dirty="0" err="1" smtClean="0">
                <a:latin typeface="Lucida Bright" panose="02040602050505020304" pitchFamily="18" charset="0"/>
              </a:rPr>
              <a:t>chgrp</a:t>
            </a:r>
            <a:r>
              <a:rPr lang="en-US" sz="1800" dirty="0" smtClean="0">
                <a:latin typeface="Lucida Bright" panose="02040602050505020304" pitchFamily="18" charset="0"/>
              </a:rPr>
              <a:t> special </a:t>
            </a:r>
            <a:r>
              <a:rPr lang="en-US" sz="1800" dirty="0" err="1" smtClean="0">
                <a:latin typeface="Lucida Bright" panose="02040602050505020304" pitchFamily="18" charset="0"/>
              </a:rPr>
              <a:t>testfile</a:t>
            </a:r>
            <a:r>
              <a:rPr lang="en-US" sz="1800" dirty="0" smtClean="0">
                <a:latin typeface="Lucida Bright" panose="02040602050505020304" pitchFamily="18" charset="0"/>
              </a:rPr>
              <a:t> </a:t>
            </a:r>
          </a:p>
          <a:p>
            <a:pPr>
              <a:lnSpc>
                <a:spcPct val="150000"/>
              </a:lnSpc>
            </a:pPr>
            <a:r>
              <a:rPr lang="en-US" sz="1800" dirty="0" smtClean="0">
                <a:latin typeface="Lucida Bright" panose="02040602050505020304" pitchFamily="18" charset="0"/>
              </a:rPr>
              <a:t>Changes the group of the given file to </a:t>
            </a:r>
            <a:r>
              <a:rPr lang="en-US" sz="1800" b="1" dirty="0" smtClean="0">
                <a:latin typeface="Lucida Bright" panose="02040602050505020304" pitchFamily="18" charset="0"/>
              </a:rPr>
              <a:t>special</a:t>
            </a:r>
            <a:r>
              <a:rPr lang="en-US" sz="1800" dirty="0" smtClean="0">
                <a:latin typeface="Lucida Bright" panose="02040602050505020304" pitchFamily="18" charset="0"/>
              </a:rPr>
              <a:t> group.</a:t>
            </a:r>
          </a:p>
          <a:p>
            <a:pPr>
              <a:lnSpc>
                <a:spcPct val="150000"/>
              </a:lnSpc>
            </a:pPr>
            <a:endParaRPr lang="en-US" sz="1800" dirty="0" smtClean="0">
              <a:latin typeface="Lucida Bright" panose="02040602050505020304" pitchFamily="18" charset="0"/>
            </a:endParaRPr>
          </a:p>
        </p:txBody>
      </p:sp>
      <p:sp>
        <p:nvSpPr>
          <p:cNvPr id="75780"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75781"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Security </a:t>
            </a:r>
            <a:r>
              <a:rPr lang="en-US" sz="4000" b="1" dirty="0"/>
              <a:t>by file </a:t>
            </a:r>
            <a:r>
              <a:rPr lang="en-US" sz="4000" b="1" dirty="0" smtClean="0"/>
              <a:t>permissions </a:t>
            </a:r>
            <a:endParaRPr lang="en-US" sz="2400" dirty="0" smtClean="0">
              <a:effectLst>
                <a:outerShdw blurRad="38100" dist="38100" dir="2700000" algn="tl">
                  <a:srgbClr val="C0C0C0"/>
                </a:outerShdw>
              </a:effectLst>
            </a:endParaRPr>
          </a:p>
          <a:p>
            <a:pPr algn="ctr"/>
            <a:endParaRPr lang="en-US" sz="40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ChangeArrowheads="1"/>
          </p:cNvSpPr>
          <p:nvPr/>
        </p:nvSpPr>
        <p:spPr bwMode="auto">
          <a:xfrm>
            <a:off x="0" y="457200"/>
            <a:ext cx="9144000" cy="457200"/>
          </a:xfrm>
          <a:prstGeom prst="rect">
            <a:avLst/>
          </a:prstGeom>
          <a:noFill/>
          <a:ln w="9525">
            <a:noFill/>
            <a:miter lim="800000"/>
          </a:ln>
        </p:spPr>
        <p:txBody>
          <a:bodyPr wrap="none" anchor="ctr">
            <a:spAutoFit/>
          </a:bodyPr>
          <a:lstStyle/>
          <a:p>
            <a:pPr eaLnBrk="0" hangingPunct="0"/>
            <a:r>
              <a:rPr lang="en-US"/>
              <a:t/>
            </a:r>
            <a:br>
              <a:rPr lang="en-US"/>
            </a:br>
            <a:endParaRPr lang="en-US"/>
          </a:p>
          <a:p>
            <a:pPr eaLnBrk="0" hangingPunct="0"/>
            <a:r>
              <a:rPr lang="en-US" sz="1200">
                <a:latin typeface="Verdana" panose="020B0604030504040204" pitchFamily="34" charset="0"/>
                <a:cs typeface="Times New Roman" panose="02020603050405020304" pitchFamily="18" charset="0"/>
              </a:rPr>
              <a:t> </a:t>
            </a:r>
            <a:endParaRPr lang="en-US" sz="1100"/>
          </a:p>
          <a:p>
            <a:pPr eaLnBrk="0" hangingPunct="0"/>
            <a:endParaRPr lang="en-US"/>
          </a:p>
        </p:txBody>
      </p:sp>
      <p:sp>
        <p:nvSpPr>
          <p:cNvPr id="49155" name="TextBox 5"/>
          <p:cNvSpPr txBox="1">
            <a:spLocks noChangeArrowheads="1"/>
          </p:cNvSpPr>
          <p:nvPr/>
        </p:nvSpPr>
        <p:spPr bwMode="auto">
          <a:xfrm>
            <a:off x="152400" y="838200"/>
            <a:ext cx="8763000" cy="4662488"/>
          </a:xfrm>
          <a:prstGeom prst="rect">
            <a:avLst/>
          </a:prstGeom>
          <a:noFill/>
          <a:ln w="9525">
            <a:noFill/>
            <a:miter lim="800000"/>
          </a:ln>
        </p:spPr>
        <p:txBody>
          <a:bodyPr>
            <a:spAutoFit/>
          </a:bodyPr>
          <a:lstStyle/>
          <a:p>
            <a:pPr>
              <a:lnSpc>
                <a:spcPct val="150000"/>
              </a:lnSpc>
            </a:pPr>
            <a:r>
              <a:rPr lang="en-US">
                <a:latin typeface="Lucida Bright" panose="02040602050505020304" pitchFamily="18" charset="0"/>
              </a:rPr>
              <a:t>ps COMMAND: </a:t>
            </a:r>
          </a:p>
          <a:p>
            <a:pPr>
              <a:lnSpc>
                <a:spcPct val="150000"/>
              </a:lnSpc>
            </a:pPr>
            <a:r>
              <a:rPr lang="en-US">
                <a:latin typeface="Lucida Bright" panose="02040602050505020304" pitchFamily="18" charset="0"/>
              </a:rPr>
              <a:t>ps command is used to report the process status. ps is the short name for Process Status.</a:t>
            </a:r>
          </a:p>
          <a:p>
            <a:pPr>
              <a:lnSpc>
                <a:spcPct val="150000"/>
              </a:lnSpc>
            </a:pPr>
            <a:r>
              <a:rPr lang="en-US">
                <a:latin typeface="Lucida Bright" panose="02040602050505020304" pitchFamily="18" charset="0"/>
              </a:rPr>
              <a:t>SYNTAX: The Syntax is ps [options] </a:t>
            </a:r>
          </a:p>
          <a:p>
            <a:pPr>
              <a:lnSpc>
                <a:spcPct val="150000"/>
              </a:lnSpc>
            </a:pPr>
            <a:r>
              <a:rPr lang="en-US">
                <a:latin typeface="Lucida Bright" panose="02040602050505020304" pitchFamily="18" charset="0"/>
              </a:rPr>
              <a:t>OPTIONS: </a:t>
            </a:r>
          </a:p>
          <a:p>
            <a:pPr>
              <a:lnSpc>
                <a:spcPct val="150000"/>
              </a:lnSpc>
            </a:pPr>
            <a:r>
              <a:rPr lang="en-US">
                <a:latin typeface="Lucida Bright" panose="02040602050505020304" pitchFamily="18" charset="0"/>
              </a:rPr>
              <a:t>-e 	List information about every process now running. 	</a:t>
            </a:r>
          </a:p>
          <a:p>
            <a:pPr>
              <a:lnSpc>
                <a:spcPct val="150000"/>
              </a:lnSpc>
            </a:pPr>
            <a:r>
              <a:rPr lang="en-US">
                <a:latin typeface="Lucida Bright" panose="02040602050505020304" pitchFamily="18" charset="0"/>
              </a:rPr>
              <a:t>-f 	Generates a full listing.</a:t>
            </a:r>
          </a:p>
          <a:p>
            <a:pPr>
              <a:lnSpc>
                <a:spcPct val="150000"/>
              </a:lnSpc>
            </a:pPr>
            <a:r>
              <a:rPr lang="en-US">
                <a:latin typeface="Lucida Bright" panose="02040602050505020304" pitchFamily="18" charset="0"/>
              </a:rPr>
              <a:t>–u	 option followed by user-id displays the processes owned by 	the user-id. 	</a:t>
            </a:r>
          </a:p>
          <a:p>
            <a:pPr>
              <a:lnSpc>
                <a:spcPct val="150000"/>
              </a:lnSpc>
            </a:pPr>
            <a:r>
              <a:rPr lang="en-US">
                <a:latin typeface="Lucida Bright" panose="02040602050505020304" pitchFamily="18" charset="0"/>
              </a:rPr>
              <a:t>-l 	Generate a long listing. 	</a:t>
            </a:r>
          </a:p>
          <a:p>
            <a:pPr>
              <a:lnSpc>
                <a:spcPct val="150000"/>
              </a:lnSpc>
            </a:pPr>
            <a:endParaRPr lang="en-US">
              <a:latin typeface="Lucida Bright" panose="02040602050505020304" pitchFamily="18" charset="0"/>
            </a:endParaRPr>
          </a:p>
        </p:txBody>
      </p:sp>
      <p:sp>
        <p:nvSpPr>
          <p:cNvPr id="15365"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b="1" dirty="0">
                <a:latin typeface="Arial" panose="020B0604020202020204" pitchFamily="34" charset="0"/>
                <a:cs typeface="Arial" panose="020B0604020202020204" pitchFamily="34" charset="0"/>
              </a:rPr>
              <a:t>Process utilities</a:t>
            </a:r>
            <a:r>
              <a:rPr lang="en-US" sz="4000"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1"/>
          <p:cNvPicPr>
            <a:picLocks noChangeAspect="1" noChangeArrowheads="1"/>
          </p:cNvPicPr>
          <p:nvPr/>
        </p:nvPicPr>
        <p:blipFill>
          <a:blip r:embed="rId2"/>
          <a:srcRect/>
          <a:stretch>
            <a:fillRect/>
          </a:stretch>
        </p:blipFill>
        <p:spPr bwMode="auto">
          <a:xfrm>
            <a:off x="914400" y="2057400"/>
            <a:ext cx="7162800" cy="3124200"/>
          </a:xfrm>
          <a:prstGeom prst="rect">
            <a:avLst/>
          </a:prstGeom>
          <a:noFill/>
          <a:ln w="9525">
            <a:noFill/>
            <a:miter lim="800000"/>
            <a:headEnd/>
            <a:tailEnd/>
          </a:ln>
        </p:spPr>
      </p:pic>
      <p:sp>
        <p:nvSpPr>
          <p:cNvPr id="56323" name="Rectangle 3"/>
          <p:cNvSpPr>
            <a:spLocks noChangeArrowheads="1"/>
          </p:cNvSpPr>
          <p:nvPr/>
        </p:nvSpPr>
        <p:spPr bwMode="auto">
          <a:xfrm>
            <a:off x="0" y="762000"/>
            <a:ext cx="9144000" cy="4939814"/>
          </a:xfrm>
          <a:prstGeom prst="rect">
            <a:avLst/>
          </a:prstGeom>
          <a:ln w="9525">
            <a:noFill/>
            <a:miter lim="800000"/>
          </a:ln>
          <a:effectLst/>
        </p:spPr>
        <p:style>
          <a:lnRef idx="0">
            <a:scrgbClr r="0" g="0" b="0"/>
          </a:lnRef>
          <a:fillRef idx="1001">
            <a:schemeClr val="lt1"/>
          </a:fillRef>
          <a:effectRef idx="0">
            <a:scrgbClr r="0" g="0" b="0"/>
          </a:effectRef>
          <a:fontRef idx="major"/>
        </p:style>
        <p:txBody>
          <a:bodyPr anchor="ctr">
            <a:spAutoFit/>
          </a:bodyPr>
          <a:lstStyle/>
          <a:p>
            <a:pPr>
              <a:lnSpc>
                <a:spcPct val="150000"/>
              </a:lnSpc>
              <a:defRPr/>
            </a:pPr>
            <a:r>
              <a:rPr lang="en-US" dirty="0">
                <a:latin typeface="Lucida Bright" panose="02040602050505020304" pitchFamily="18" charset="0"/>
              </a:rPr>
              <a:t>EXAMPLE: </a:t>
            </a:r>
          </a:p>
          <a:p>
            <a:pPr>
              <a:lnSpc>
                <a:spcPct val="150000"/>
              </a:lnSpc>
              <a:defRPr/>
            </a:pPr>
            <a:r>
              <a:rPr lang="en-US" dirty="0">
                <a:latin typeface="Lucida Bright" panose="02040602050505020304" pitchFamily="18" charset="0"/>
              </a:rPr>
              <a:t>1. </a:t>
            </a:r>
            <a:r>
              <a:rPr lang="en-US" dirty="0" err="1">
                <a:latin typeface="Lucida Bright" panose="02040602050505020304" pitchFamily="18" charset="0"/>
              </a:rPr>
              <a:t>ps</a:t>
            </a:r>
            <a:r>
              <a:rPr lang="en-US" dirty="0">
                <a:latin typeface="Lucida Bright" panose="02040602050505020304" pitchFamily="18" charset="0"/>
              </a:rPr>
              <a:t> </a:t>
            </a:r>
          </a:p>
          <a:p>
            <a:pPr>
              <a:lnSpc>
                <a:spcPct val="150000"/>
              </a:lnSpc>
              <a:defRPr/>
            </a:pPr>
            <a:r>
              <a:rPr lang="en-US" dirty="0">
                <a:latin typeface="Lucida Bright" panose="02040602050505020304" pitchFamily="18" charset="0"/>
              </a:rPr>
              <a:t>Output: </a:t>
            </a:r>
          </a:p>
          <a:p>
            <a:pPr>
              <a:lnSpc>
                <a:spcPct val="150000"/>
              </a:lnSpc>
              <a:defRPr/>
            </a:pPr>
            <a:r>
              <a:rPr lang="en-US" dirty="0">
                <a:latin typeface="Lucida Bright" panose="02040602050505020304" pitchFamily="18" charset="0"/>
              </a:rPr>
              <a:t>PID TTY TIME CMD </a:t>
            </a:r>
          </a:p>
          <a:p>
            <a:pPr>
              <a:lnSpc>
                <a:spcPct val="150000"/>
              </a:lnSpc>
              <a:defRPr/>
            </a:pPr>
            <a:r>
              <a:rPr lang="en-US" dirty="0">
                <a:latin typeface="Lucida Bright" panose="02040602050505020304" pitchFamily="18" charset="0"/>
              </a:rPr>
              <a:t>2540 pts/1 00:00:00 bash </a:t>
            </a:r>
          </a:p>
          <a:p>
            <a:pPr>
              <a:lnSpc>
                <a:spcPct val="150000"/>
              </a:lnSpc>
              <a:defRPr/>
            </a:pPr>
            <a:r>
              <a:rPr lang="en-US" dirty="0">
                <a:latin typeface="Lucida Bright" panose="02040602050505020304" pitchFamily="18" charset="0"/>
              </a:rPr>
              <a:t>2621 pts/1 00:00:00 </a:t>
            </a:r>
            <a:r>
              <a:rPr lang="en-US" dirty="0" err="1">
                <a:latin typeface="Lucida Bright" panose="02040602050505020304" pitchFamily="18" charset="0"/>
              </a:rPr>
              <a:t>ps</a:t>
            </a:r>
            <a:r>
              <a:rPr lang="en-US" dirty="0">
                <a:latin typeface="Lucida Bright" panose="02040602050505020304" pitchFamily="18" charset="0"/>
              </a:rPr>
              <a:t> </a:t>
            </a:r>
          </a:p>
          <a:p>
            <a:pPr>
              <a:lnSpc>
                <a:spcPct val="150000"/>
              </a:lnSpc>
              <a:defRPr/>
            </a:pPr>
            <a:r>
              <a:rPr lang="en-US" dirty="0">
                <a:latin typeface="Lucida Bright" panose="02040602050505020304" pitchFamily="18" charset="0"/>
              </a:rPr>
              <a:t>In the above example, typing </a:t>
            </a:r>
            <a:r>
              <a:rPr lang="en-US" dirty="0" err="1">
                <a:latin typeface="Lucida Bright" panose="02040602050505020304" pitchFamily="18" charset="0"/>
              </a:rPr>
              <a:t>ps</a:t>
            </a:r>
            <a:r>
              <a:rPr lang="en-US" dirty="0">
                <a:latin typeface="Lucida Bright" panose="02040602050505020304" pitchFamily="18" charset="0"/>
              </a:rPr>
              <a:t> alone would list the current running processes.</a:t>
            </a:r>
          </a:p>
          <a:p>
            <a:pPr>
              <a:defRPr/>
            </a:pPr>
            <a:r>
              <a:rPr lang="en-US" dirty="0">
                <a:latin typeface="Lucida Bright" panose="02040602050505020304" pitchFamily="18" charset="0"/>
              </a:rPr>
              <a:t>2. </a:t>
            </a:r>
            <a:r>
              <a:rPr lang="en-US" dirty="0" err="1">
                <a:latin typeface="Lucida Bright" panose="02040602050505020304" pitchFamily="18" charset="0"/>
              </a:rPr>
              <a:t>ps</a:t>
            </a:r>
            <a:r>
              <a:rPr lang="en-US" dirty="0">
                <a:latin typeface="Lucida Bright" panose="02040602050505020304" pitchFamily="18" charset="0"/>
              </a:rPr>
              <a:t> -f </a:t>
            </a:r>
          </a:p>
          <a:p>
            <a:pPr>
              <a:defRPr/>
            </a:pPr>
            <a:r>
              <a:rPr lang="en-US" b="1" dirty="0">
                <a:latin typeface="Lucida Bright" panose="02040602050505020304" pitchFamily="18" charset="0"/>
              </a:rPr>
              <a:t>Output: </a:t>
            </a:r>
          </a:p>
          <a:p>
            <a:pPr>
              <a:defRPr/>
            </a:pPr>
            <a:r>
              <a:rPr lang="en-US" dirty="0">
                <a:latin typeface="Lucida Bright" panose="02040602050505020304" pitchFamily="18" charset="0"/>
              </a:rPr>
              <a:t>UID 		PID 	PPID 	C 	STIME 	TTY 	TIME  	CMD </a:t>
            </a:r>
          </a:p>
          <a:p>
            <a:pPr>
              <a:defRPr/>
            </a:pPr>
            <a:r>
              <a:rPr lang="en-US" dirty="0" err="1">
                <a:latin typeface="Lucida Bright" panose="02040602050505020304" pitchFamily="18" charset="0"/>
              </a:rPr>
              <a:t>abc</a:t>
            </a:r>
            <a:r>
              <a:rPr lang="en-US" dirty="0">
                <a:latin typeface="Lucida Bright" panose="02040602050505020304" pitchFamily="18" charset="0"/>
              </a:rPr>
              <a:t>   		2540 	2536 	0 	15:31 	pts/1 	00:00:00 bash </a:t>
            </a:r>
          </a:p>
          <a:p>
            <a:pPr>
              <a:defRPr/>
            </a:pPr>
            <a:r>
              <a:rPr lang="en-US" dirty="0">
                <a:latin typeface="Lucida Bright" panose="02040602050505020304" pitchFamily="18" charset="0"/>
              </a:rPr>
              <a:t>xyz 		2639 	2540 	0 	15:51 	pts/1 	00:00:00 </a:t>
            </a:r>
            <a:endParaRPr lang="en-US" dirty="0" smtClean="0">
              <a:latin typeface="Lucida Bright" panose="02040602050505020304" pitchFamily="18" charset="0"/>
            </a:endParaRPr>
          </a:p>
          <a:p>
            <a:pPr>
              <a:defRPr/>
            </a:pPr>
            <a:r>
              <a:rPr lang="en-US" dirty="0" err="1" smtClean="0">
                <a:latin typeface="Lucida Bright" panose="02040602050505020304" pitchFamily="18" charset="0"/>
              </a:rPr>
              <a:t>ps</a:t>
            </a:r>
            <a:r>
              <a:rPr lang="en-US" dirty="0" smtClean="0">
                <a:latin typeface="Lucida Bright" panose="02040602050505020304" pitchFamily="18" charset="0"/>
              </a:rPr>
              <a:t> </a:t>
            </a:r>
            <a:r>
              <a:rPr lang="en-US" dirty="0">
                <a:latin typeface="Lucida Bright" panose="02040602050505020304" pitchFamily="18" charset="0"/>
              </a:rPr>
              <a:t>-f </a:t>
            </a:r>
          </a:p>
          <a:p>
            <a:pPr>
              <a:defRPr/>
            </a:pPr>
            <a:r>
              <a:rPr lang="en-US" dirty="0">
                <a:latin typeface="Lucida Bright" panose="02040602050505020304" pitchFamily="18" charset="0"/>
              </a:rPr>
              <a:t>Displays full information about currently running processes.</a:t>
            </a:r>
          </a:p>
        </p:txBody>
      </p:sp>
      <p:sp>
        <p:nvSpPr>
          <p:cNvPr id="16389"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b="1" dirty="0">
                <a:latin typeface="Arial" panose="020B0604020202020204" pitchFamily="34" charset="0"/>
                <a:cs typeface="Arial" panose="020B0604020202020204" pitchFamily="34" charset="0"/>
              </a:rPr>
              <a:t>Process </a:t>
            </a:r>
            <a:r>
              <a:rPr lang="en-US" sz="4000" b="1" dirty="0" smtClean="0">
                <a:latin typeface="Arial" panose="020B0604020202020204" pitchFamily="34" charset="0"/>
                <a:cs typeface="Arial" panose="020B0604020202020204" pitchFamily="34" charset="0"/>
              </a:rPr>
              <a:t>utilities</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Box 2"/>
          <p:cNvSpPr txBox="1">
            <a:spLocks noChangeArrowheads="1"/>
          </p:cNvSpPr>
          <p:nvPr/>
        </p:nvSpPr>
        <p:spPr bwMode="auto">
          <a:xfrm>
            <a:off x="0" y="762000"/>
            <a:ext cx="9144000" cy="6215063"/>
          </a:xfrm>
          <a:prstGeom prst="rect">
            <a:avLst/>
          </a:prstGeom>
          <a:noFill/>
          <a:ln w="9525">
            <a:noFill/>
            <a:miter lim="800000"/>
          </a:ln>
        </p:spPr>
        <p:txBody>
          <a:bodyPr wrap="square">
            <a:spAutoFit/>
          </a:bodyPr>
          <a:lstStyle/>
          <a:p>
            <a:pPr>
              <a:lnSpc>
                <a:spcPct val="150000"/>
              </a:lnSpc>
              <a:defRPr/>
            </a:pPr>
            <a:r>
              <a:rPr lang="en-US" dirty="0">
                <a:latin typeface="Lucida Bright" panose="02040602050505020304" pitchFamily="18" charset="0"/>
                <a:cs typeface="Arial" panose="020B0604020202020204" pitchFamily="34" charset="0"/>
              </a:rPr>
              <a:t>who COMMAND: </a:t>
            </a:r>
          </a:p>
          <a:p>
            <a:pPr>
              <a:lnSpc>
                <a:spcPct val="150000"/>
              </a:lnSpc>
              <a:defRPr/>
            </a:pPr>
            <a:r>
              <a:rPr lang="en-US" dirty="0">
                <a:latin typeface="Lucida Bright" panose="02040602050505020304" pitchFamily="18" charset="0"/>
                <a:cs typeface="Arial" panose="020B0604020202020204" pitchFamily="34" charset="0"/>
              </a:rPr>
              <a:t>who command can list the names of users currently logged in, their terminal, the time they have been logged in, and the name of the host from which they have logged in.</a:t>
            </a:r>
          </a:p>
          <a:p>
            <a:pPr>
              <a:lnSpc>
                <a:spcPct val="150000"/>
              </a:lnSpc>
              <a:defRPr/>
            </a:pPr>
            <a:r>
              <a:rPr lang="en-US" sz="2000" dirty="0">
                <a:latin typeface="Lucida Bright" panose="02040602050505020304" pitchFamily="18" charset="0"/>
                <a:cs typeface="Arial" panose="020B0604020202020204" pitchFamily="34" charset="0"/>
              </a:rPr>
              <a:t>SYNTAX:  who [options] [file]</a:t>
            </a:r>
          </a:p>
          <a:p>
            <a:pPr>
              <a:lnSpc>
                <a:spcPct val="150000"/>
              </a:lnSpc>
              <a:defRPr/>
            </a:pPr>
            <a:r>
              <a:rPr lang="en-US" sz="2000" dirty="0">
                <a:latin typeface="Lucida Bright" panose="02040602050505020304" pitchFamily="18" charset="0"/>
                <a:cs typeface="Arial" panose="020B0604020202020204" pitchFamily="34" charset="0"/>
              </a:rPr>
              <a:t>OPTIONS:</a:t>
            </a:r>
          </a:p>
          <a:p>
            <a:pPr>
              <a:lnSpc>
                <a:spcPct val="150000"/>
              </a:lnSpc>
              <a:defRPr/>
            </a:pPr>
            <a:r>
              <a:rPr lang="en-US" sz="2000" dirty="0">
                <a:latin typeface="Lucida Bright" panose="02040602050505020304" pitchFamily="18" charset="0"/>
                <a:cs typeface="Arial" panose="020B0604020202020204" pitchFamily="34" charset="0"/>
              </a:rPr>
              <a:t>-H 	Print column headings above the output. 	</a:t>
            </a:r>
          </a:p>
          <a:p>
            <a:pPr>
              <a:lnSpc>
                <a:spcPct val="150000"/>
              </a:lnSpc>
              <a:defRPr/>
            </a:pPr>
            <a:r>
              <a:rPr lang="en-US" sz="2000" dirty="0">
                <a:latin typeface="Lucida Bright" panose="02040602050505020304" pitchFamily="18" charset="0"/>
                <a:cs typeface="Arial" panose="020B0604020202020204" pitchFamily="34" charset="0"/>
              </a:rPr>
              <a:t>-u	provides a detailed list</a:t>
            </a:r>
          </a:p>
          <a:p>
            <a:pPr>
              <a:lnSpc>
                <a:spcPct val="150000"/>
              </a:lnSpc>
              <a:defRPr/>
            </a:pPr>
            <a:r>
              <a:rPr lang="en-US" sz="2000" dirty="0">
                <a:latin typeface="Lucida Bright" panose="02040602050505020304" pitchFamily="18" charset="0"/>
                <a:cs typeface="Arial" panose="020B0604020202020204" pitchFamily="34" charset="0"/>
              </a:rPr>
              <a:t>EXAMPLE: </a:t>
            </a:r>
          </a:p>
          <a:p>
            <a:pPr marL="457200" indent="-457200">
              <a:lnSpc>
                <a:spcPct val="150000"/>
              </a:lnSpc>
              <a:buFontTx/>
              <a:buAutoNum type="arabicPeriod"/>
              <a:defRPr/>
            </a:pPr>
            <a:r>
              <a:rPr lang="en-US" sz="2000" dirty="0">
                <a:latin typeface="Lucida Bright" panose="02040602050505020304" pitchFamily="18" charset="0"/>
                <a:cs typeface="Arial" panose="020B0604020202020204" pitchFamily="34" charset="0"/>
              </a:rPr>
              <a:t>who -</a:t>
            </a:r>
            <a:r>
              <a:rPr lang="en-US" sz="2000" dirty="0" err="1">
                <a:latin typeface="Lucida Bright" panose="02040602050505020304" pitchFamily="18" charset="0"/>
                <a:cs typeface="Arial" panose="020B0604020202020204" pitchFamily="34" charset="0"/>
              </a:rPr>
              <a:t>uH</a:t>
            </a:r>
            <a:r>
              <a:rPr lang="en-US" sz="2000" dirty="0">
                <a:latin typeface="Lucida Bright" panose="02040602050505020304" pitchFamily="18" charset="0"/>
                <a:cs typeface="Arial" panose="020B0604020202020204" pitchFamily="34" charset="0"/>
              </a:rPr>
              <a:t> </a:t>
            </a:r>
          </a:p>
          <a:p>
            <a:pPr marL="457200" indent="-457200">
              <a:defRPr/>
            </a:pPr>
            <a:r>
              <a:rPr lang="en-US" sz="2000" dirty="0">
                <a:latin typeface="Lucida Bright" panose="02040602050505020304" pitchFamily="18" charset="0"/>
                <a:cs typeface="Arial" panose="020B0604020202020204" pitchFamily="34" charset="0"/>
              </a:rPr>
              <a:t>Output: </a:t>
            </a:r>
          </a:p>
          <a:p>
            <a:pPr>
              <a:defRPr/>
            </a:pPr>
            <a:r>
              <a:rPr lang="en-US" sz="2000" dirty="0">
                <a:latin typeface="Lucida Bright" panose="02040602050505020304" pitchFamily="18" charset="0"/>
                <a:cs typeface="Arial" panose="020B0604020202020204" pitchFamily="34" charset="0"/>
              </a:rPr>
              <a:t>NAME 	LINE 	TIME	 IDLE	 PID 	COMMENT </a:t>
            </a:r>
          </a:p>
          <a:p>
            <a:pPr>
              <a:defRPr/>
            </a:pPr>
            <a:r>
              <a:rPr lang="sv-SE" sz="2000" dirty="0">
                <a:latin typeface="Lucida Bright" panose="02040602050505020304" pitchFamily="18" charset="0"/>
                <a:cs typeface="Arial" panose="020B0604020202020204" pitchFamily="34" charset="0"/>
              </a:rPr>
              <a:t>hiox 	ttyp3	 Jul 10 11:08 . 4578</a:t>
            </a:r>
            <a:endParaRPr lang="en-US" sz="2000" dirty="0">
              <a:latin typeface="Lucida Bright" panose="02040602050505020304" pitchFamily="18" charset="0"/>
              <a:cs typeface="Arial" panose="020B0604020202020204" pitchFamily="34" charset="0"/>
            </a:endParaRPr>
          </a:p>
          <a:p>
            <a:pPr>
              <a:defRPr/>
            </a:pPr>
            <a:r>
              <a:rPr lang="en-US" dirty="0">
                <a:latin typeface="Lucida Bright" panose="02040602050505020304" pitchFamily="18" charset="0"/>
                <a:cs typeface="Arial" panose="020B0604020202020204" pitchFamily="34" charset="0"/>
              </a:rPr>
              <a:t>This sample output was produced at 11 a.m. The "." </a:t>
            </a:r>
            <a:r>
              <a:rPr lang="en-US" dirty="0" smtClean="0">
                <a:latin typeface="Lucida Bright" panose="02040602050505020304" pitchFamily="18" charset="0"/>
                <a:cs typeface="Arial" panose="020B0604020202020204" pitchFamily="34" charset="0"/>
              </a:rPr>
              <a:t>indicates </a:t>
            </a:r>
            <a:r>
              <a:rPr lang="en-US" dirty="0">
                <a:latin typeface="Lucida Bright" panose="02040602050505020304" pitchFamily="18" charset="0"/>
                <a:cs typeface="Arial" panose="020B0604020202020204" pitchFamily="34" charset="0"/>
              </a:rPr>
              <a:t>activity within the last minute</a:t>
            </a:r>
            <a:r>
              <a:rPr lang="en-US" sz="2000" dirty="0">
                <a:latin typeface="Arial" panose="020B0604020202020204" pitchFamily="34" charset="0"/>
                <a:cs typeface="Arial" panose="020B0604020202020204" pitchFamily="34" charset="0"/>
              </a:rPr>
              <a:t>.</a:t>
            </a:r>
            <a:endParaRPr lang="en-US" sz="2000" dirty="0">
              <a:latin typeface="Lucida Bright" panose="02040602050505020304" pitchFamily="18" charset="0"/>
              <a:cs typeface="Arial" panose="020B0604020202020204" pitchFamily="34" charset="0"/>
            </a:endParaRPr>
          </a:p>
        </p:txBody>
      </p:sp>
      <p:sp>
        <p:nvSpPr>
          <p:cNvPr id="17411"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b="1" dirty="0">
                <a:latin typeface="Arial" panose="020B0604020202020204" pitchFamily="34" charset="0"/>
                <a:cs typeface="Arial" panose="020B0604020202020204" pitchFamily="34" charset="0"/>
              </a:rPr>
              <a:t>Process </a:t>
            </a:r>
            <a:r>
              <a:rPr lang="en-US" sz="4000" b="1" dirty="0" smtClean="0">
                <a:latin typeface="Arial" panose="020B0604020202020204" pitchFamily="34" charset="0"/>
                <a:cs typeface="Arial" panose="020B0604020202020204" pitchFamily="34" charset="0"/>
              </a:rPr>
              <a:t>utilities</a:t>
            </a:r>
            <a:endParaRPr 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b="1" dirty="0">
                <a:latin typeface="Arial" panose="020B0604020202020204" pitchFamily="34" charset="0"/>
                <a:cs typeface="Arial" panose="020B0604020202020204" pitchFamily="34" charset="0"/>
              </a:rPr>
              <a:t>Process </a:t>
            </a:r>
            <a:r>
              <a:rPr lang="en-US" sz="4000" b="1" dirty="0" smtClean="0">
                <a:latin typeface="Arial" panose="020B0604020202020204" pitchFamily="34" charset="0"/>
                <a:cs typeface="Arial" panose="020B0604020202020204" pitchFamily="34" charset="0"/>
              </a:rPr>
              <a:t>utilities</a:t>
            </a:r>
            <a:endParaRPr lang="en-US" sz="2400" dirty="0"/>
          </a:p>
        </p:txBody>
      </p:sp>
      <p:sp>
        <p:nvSpPr>
          <p:cNvPr id="52227" name="TextBox 15"/>
          <p:cNvSpPr txBox="1">
            <a:spLocks noChangeArrowheads="1"/>
          </p:cNvSpPr>
          <p:nvPr/>
        </p:nvSpPr>
        <p:spPr bwMode="auto">
          <a:xfrm>
            <a:off x="0" y="838200"/>
            <a:ext cx="9144000" cy="6602413"/>
          </a:xfrm>
          <a:prstGeom prst="rect">
            <a:avLst/>
          </a:prstGeom>
          <a:noFill/>
          <a:ln w="9525">
            <a:noFill/>
            <a:miter lim="800000"/>
          </a:ln>
        </p:spPr>
        <p:txBody>
          <a:bodyPr>
            <a:spAutoFit/>
          </a:bodyPr>
          <a:lstStyle/>
          <a:p>
            <a:pPr>
              <a:lnSpc>
                <a:spcPct val="150000"/>
              </a:lnSpc>
            </a:pPr>
            <a:r>
              <a:rPr lang="en-US">
                <a:latin typeface="Lucida Bright" panose="02040602050505020304" pitchFamily="18" charset="0"/>
              </a:rPr>
              <a:t>2. $who am i </a:t>
            </a:r>
          </a:p>
          <a:p>
            <a:pPr>
              <a:lnSpc>
                <a:spcPct val="150000"/>
              </a:lnSpc>
            </a:pPr>
            <a:r>
              <a:rPr lang="en-US">
                <a:latin typeface="Lucida Bright" panose="02040602050505020304" pitchFamily="18" charset="0"/>
              </a:rPr>
              <a:t>who am i command prints the user name.</a:t>
            </a:r>
          </a:p>
          <a:p>
            <a:pPr>
              <a:lnSpc>
                <a:spcPct val="150000"/>
              </a:lnSpc>
            </a:pPr>
            <a:r>
              <a:rPr lang="en-US">
                <a:latin typeface="Lucida Bright" panose="02040602050505020304" pitchFamily="18" charset="0"/>
              </a:rPr>
              <a:t>w command:</a:t>
            </a:r>
          </a:p>
          <a:p>
            <a:pPr>
              <a:lnSpc>
                <a:spcPct val="150000"/>
              </a:lnSpc>
            </a:pPr>
            <a:r>
              <a:rPr lang="en-US">
                <a:latin typeface="Lucida Bright" panose="02040602050505020304" pitchFamily="18" charset="0"/>
              </a:rPr>
              <a:t>w - show who is logged on and what they are doing </a:t>
            </a:r>
          </a:p>
          <a:p>
            <a:pPr>
              <a:lnSpc>
                <a:spcPct val="150000"/>
              </a:lnSpc>
            </a:pPr>
            <a:r>
              <a:rPr lang="en-US" b="1">
                <a:latin typeface="Lucida Bright" panose="02040602050505020304" pitchFamily="18" charset="0"/>
              </a:rPr>
              <a:t>DESCRIPTION</a:t>
            </a:r>
          </a:p>
          <a:p>
            <a:pPr>
              <a:lnSpc>
                <a:spcPct val="150000"/>
              </a:lnSpc>
            </a:pPr>
            <a:r>
              <a:rPr lang="en-US" b="1">
                <a:latin typeface="Lucida Bright" panose="02040602050505020304" pitchFamily="18" charset="0"/>
              </a:rPr>
              <a:t>w </a:t>
            </a:r>
            <a:r>
              <a:rPr lang="en-US">
                <a:latin typeface="Lucida Bright" panose="02040602050505020304" pitchFamily="18" charset="0"/>
              </a:rPr>
              <a:t>displays information about the users currently on the machine, and their processes. The header shows, in this order, the current time, how long the system has been running, how many users are currently logged on, and the system load averages for the past 1, 5, and 15 minutes. </a:t>
            </a:r>
          </a:p>
          <a:p>
            <a:pPr>
              <a:lnSpc>
                <a:spcPct val="150000"/>
              </a:lnSpc>
            </a:pPr>
            <a:r>
              <a:rPr lang="en-US">
                <a:latin typeface="Lucida Bright" panose="02040602050505020304" pitchFamily="18" charset="0"/>
              </a:rPr>
              <a:t>Kill COMMAND:</a:t>
            </a:r>
          </a:p>
          <a:p>
            <a:pPr>
              <a:lnSpc>
                <a:spcPct val="150000"/>
              </a:lnSpc>
            </a:pPr>
            <a:r>
              <a:rPr lang="en-US" b="1"/>
              <a:t>Kill command in UNIX</a:t>
            </a:r>
            <a:r>
              <a:rPr lang="en-US"/>
              <a:t> and Linux is normally used to kill a suspended or hanged process or process group.</a:t>
            </a:r>
            <a:br>
              <a:rPr lang="en-US"/>
            </a:br>
            <a:r>
              <a:rPr lang="en-US"/>
              <a:t>Example:</a:t>
            </a:r>
          </a:p>
          <a:p>
            <a:r>
              <a:rPr lang="en-US"/>
              <a:t>“if you issue the ps command and find that one of your processes is hung or if you started a large job that you wish to stop, you can do so with the kill command”</a:t>
            </a:r>
            <a:br>
              <a:rPr lang="en-US"/>
            </a:br>
            <a:endParaRPr lang="en-US">
              <a:latin typeface="Lucida Bright" panose="02040602050505020304" pitchFamily="18" charset="0"/>
            </a:endParaRPr>
          </a:p>
          <a:p>
            <a:endParaRPr lang="en-US" b="1" u="sng">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8"/>
          <p:cNvSpPr>
            <a:spLocks noGrp="1"/>
          </p:cNvSpPr>
          <p:nvPr>
            <p:ph idx="1"/>
          </p:nvPr>
        </p:nvSpPr>
        <p:spPr>
          <a:xfrm>
            <a:off x="0" y="762000"/>
            <a:ext cx="8915400" cy="6096000"/>
          </a:xfrm>
        </p:spPr>
        <p:txBody>
          <a:bodyPr/>
          <a:lstStyle/>
          <a:p>
            <a:pPr>
              <a:lnSpc>
                <a:spcPct val="150000"/>
              </a:lnSpc>
              <a:buFont typeface="Arial" panose="020B0604020202020204" pitchFamily="34" charset="0"/>
              <a:buNone/>
            </a:pPr>
            <a:r>
              <a:rPr lang="en-US" sz="1800" smtClean="0">
                <a:latin typeface="Lucida Bright" panose="02040602050505020304" pitchFamily="18" charset="0"/>
              </a:rPr>
              <a:t>The following example shows how to kill a process,</a:t>
            </a:r>
          </a:p>
          <a:p>
            <a:pPr>
              <a:lnSpc>
                <a:spcPct val="150000"/>
              </a:lnSpc>
              <a:buFont typeface="Arial" panose="020B0604020202020204" pitchFamily="34" charset="0"/>
              <a:buNone/>
            </a:pPr>
            <a:r>
              <a:rPr lang="en-US" sz="1800" smtClean="0">
                <a:latin typeface="Lucida Bright" panose="02040602050505020304" pitchFamily="18" charset="0"/>
              </a:rPr>
              <a:t>$ps –ef | grep sales</a:t>
            </a:r>
          </a:p>
          <a:p>
            <a:pPr>
              <a:lnSpc>
                <a:spcPct val="150000"/>
              </a:lnSpc>
              <a:buFont typeface="Arial" panose="020B0604020202020204" pitchFamily="34" charset="0"/>
              <a:buNone/>
            </a:pPr>
            <a:r>
              <a:rPr lang="en-US" sz="1800" smtClean="0">
                <a:latin typeface="Lucida Bright" panose="02040602050505020304" pitchFamily="18" charset="0"/>
              </a:rPr>
              <a:t>Sales 19336  19334  0	05:24:32	pts/4  0:01  -ksh</a:t>
            </a:r>
          </a:p>
          <a:p>
            <a:pPr>
              <a:lnSpc>
                <a:spcPct val="150000"/>
              </a:lnSpc>
              <a:buFont typeface="Arial" panose="020B0604020202020204" pitchFamily="34" charset="0"/>
              <a:buNone/>
            </a:pPr>
            <a:r>
              <a:rPr lang="en-US" sz="1800" smtClean="0">
                <a:latin typeface="Lucida Bright" panose="02040602050505020304" pitchFamily="18" charset="0"/>
              </a:rPr>
              <a:t>Sales 19426  19336  0	06:01:01	pts/4  0:00  ora</a:t>
            </a:r>
          </a:p>
          <a:p>
            <a:pPr>
              <a:lnSpc>
                <a:spcPct val="150000"/>
              </a:lnSpc>
              <a:buFont typeface="Arial" panose="020B0604020202020204" pitchFamily="34" charset="0"/>
              <a:buNone/>
            </a:pPr>
            <a:r>
              <a:rPr lang="en-US" sz="1800" smtClean="0">
                <a:latin typeface="Lucida Bright" panose="02040602050505020304" pitchFamily="18" charset="0"/>
              </a:rPr>
              <a:t>Kill 19426   This will kill the process ora with PID 19426</a:t>
            </a:r>
          </a:p>
          <a:p>
            <a:pPr>
              <a:lnSpc>
                <a:spcPct val="150000"/>
              </a:lnSpc>
              <a:buFont typeface="Arial" panose="020B0604020202020204" pitchFamily="34" charset="0"/>
              <a:buNone/>
            </a:pPr>
            <a:r>
              <a:rPr lang="en-US" sz="1800" smtClean="0">
                <a:latin typeface="Lucida Bright" panose="02040602050505020304" pitchFamily="18" charset="0"/>
              </a:rPr>
              <a:t>To terminate more than one process at a time, use the following syntax </a:t>
            </a:r>
          </a:p>
          <a:p>
            <a:pPr>
              <a:lnSpc>
                <a:spcPct val="150000"/>
              </a:lnSpc>
              <a:buFont typeface="Arial" panose="020B0604020202020204" pitchFamily="34" charset="0"/>
              <a:buNone/>
            </a:pPr>
            <a:r>
              <a:rPr lang="en-US" sz="1800" smtClean="0">
                <a:latin typeface="Lucida Bright" panose="02040602050505020304" pitchFamily="18" charset="0"/>
              </a:rPr>
              <a:t>$kill signal PID PID PID</a:t>
            </a:r>
          </a:p>
          <a:p>
            <a:pPr>
              <a:lnSpc>
                <a:spcPct val="150000"/>
              </a:lnSpc>
              <a:buFont typeface="Arial" panose="020B0604020202020204" pitchFamily="34" charset="0"/>
              <a:buNone/>
            </a:pPr>
            <a:r>
              <a:rPr lang="en-US" sz="1800" smtClean="0">
                <a:latin typeface="Lucida Bright" panose="02040602050505020304" pitchFamily="18" charset="0"/>
              </a:rPr>
              <a:t>$pkill signal process process process</a:t>
            </a:r>
          </a:p>
          <a:p>
            <a:pPr>
              <a:lnSpc>
                <a:spcPct val="150000"/>
              </a:lnSpc>
              <a:buFont typeface="Arial" panose="020B0604020202020204" pitchFamily="34" charset="0"/>
              <a:buNone/>
            </a:pPr>
            <a:r>
              <a:rPr lang="en-US" sz="1800" smtClean="0">
                <a:latin typeface="Lucida Bright" panose="02040602050505020304" pitchFamily="18" charset="0"/>
              </a:rPr>
              <a:t>In kill utility we will give PID where as in pkill utility we have to give the name of the process</a:t>
            </a:r>
          </a:p>
          <a:p>
            <a:pPr>
              <a:buFont typeface="Arial" panose="020B0604020202020204" pitchFamily="34" charset="0"/>
              <a:buNone/>
            </a:pPr>
            <a:r>
              <a:rPr lang="en-US" sz="1800" smtClean="0">
                <a:latin typeface="Lucida Bright" panose="02040602050505020304" pitchFamily="18" charset="0"/>
              </a:rPr>
              <a:t>kill -9 is used to forcefully terminate a process in Unix. Here is syntax of kill command in UNIX.</a:t>
            </a:r>
          </a:p>
          <a:p>
            <a:pPr>
              <a:buFont typeface="Arial" panose="020B0604020202020204" pitchFamily="34" charset="0"/>
              <a:buNone/>
            </a:pPr>
            <a:r>
              <a:rPr lang="en-US" sz="1800" smtClean="0">
                <a:latin typeface="Lucida Bright" panose="02040602050505020304" pitchFamily="18" charset="0"/>
              </a:rPr>
              <a:t>ps -ef| grep process_identifier // will give you PID</a:t>
            </a:r>
          </a:p>
          <a:p>
            <a:pPr>
              <a:buFont typeface="Arial" panose="020B0604020202020204" pitchFamily="34" charset="0"/>
              <a:buNone/>
            </a:pPr>
            <a:r>
              <a:rPr lang="en-US" sz="1800" smtClean="0">
                <a:latin typeface="Lucida Bright" panose="02040602050505020304" pitchFamily="18" charset="0"/>
              </a:rPr>
              <a:t>kill -9 PID</a:t>
            </a:r>
          </a:p>
          <a:p>
            <a:pPr>
              <a:buFont typeface="Arial" panose="020B0604020202020204" pitchFamily="34" charset="0"/>
              <a:buNone/>
            </a:pPr>
            <a:r>
              <a:rPr lang="en-US" sz="1800" smtClean="0">
                <a:latin typeface="Lucida Bright" panose="02040602050505020304" pitchFamily="18" charset="0"/>
              </a:rPr>
              <a:t/>
            </a:r>
            <a:br>
              <a:rPr lang="en-US" sz="1800" smtClean="0">
                <a:latin typeface="Lucida Bright" panose="02040602050505020304" pitchFamily="18" charset="0"/>
              </a:rPr>
            </a:br>
            <a:r>
              <a:rPr lang="en-US" sz="1800" smtClean="0">
                <a:latin typeface="Lucida Bright" panose="02040602050505020304" pitchFamily="18" charset="0"/>
              </a:rPr>
              <a:t/>
            </a:r>
            <a:br>
              <a:rPr lang="en-US" sz="1800" smtClean="0">
                <a:latin typeface="Lucida Bright" panose="02040602050505020304" pitchFamily="18" charset="0"/>
              </a:rPr>
            </a:br>
            <a:r>
              <a:rPr lang="en-US" sz="1800" smtClean="0">
                <a:latin typeface="Lucida Bright" panose="02040602050505020304" pitchFamily="18" charset="0"/>
              </a:rPr>
              <a:t/>
            </a:r>
            <a:br>
              <a:rPr lang="en-US" sz="1800" smtClean="0">
                <a:latin typeface="Lucida Bright" panose="02040602050505020304" pitchFamily="18" charset="0"/>
              </a:rPr>
            </a:b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
        <p:nvSpPr>
          <p:cNvPr id="53252"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19462"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b="1" dirty="0">
                <a:latin typeface="Arial" panose="020B0604020202020204" pitchFamily="34" charset="0"/>
                <a:cs typeface="Arial" panose="020B0604020202020204" pitchFamily="34" charset="0"/>
              </a:rPr>
              <a:t>Process </a:t>
            </a:r>
            <a:r>
              <a:rPr lang="en-US" sz="4000" b="1" dirty="0" smtClean="0">
                <a:latin typeface="Arial" panose="020B0604020202020204" pitchFamily="34" charset="0"/>
                <a:cs typeface="Arial" panose="020B0604020202020204" pitchFamily="34" charset="0"/>
              </a:rPr>
              <a:t>utilities</a:t>
            </a:r>
            <a:endParaRPr lang="en-US" sz="2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0" y="838200"/>
            <a:ext cx="9144000" cy="5867400"/>
          </a:xfrm>
        </p:spPr>
        <p:txBody>
          <a:bodyPr/>
          <a:lstStyle/>
          <a:p>
            <a:pPr>
              <a:buFont typeface="Arial" panose="020B0604020202020204" pitchFamily="34" charset="0"/>
              <a:buNone/>
              <a:defRPr/>
            </a:pPr>
            <a:r>
              <a:rPr lang="en-US" sz="1800" dirty="0" smtClean="0">
                <a:latin typeface="Lucida Bright" panose="02040602050505020304" pitchFamily="18" charset="0"/>
              </a:rPr>
              <a:t>The utilities which will display the information about the disk is known as the disk utilities.</a:t>
            </a:r>
          </a:p>
          <a:p>
            <a:pPr>
              <a:buFont typeface="Arial" panose="020B0604020202020204" pitchFamily="34" charset="0"/>
              <a:buNone/>
              <a:defRPr/>
            </a:pPr>
            <a:r>
              <a:rPr lang="en-US" sz="1800" dirty="0" smtClean="0">
                <a:latin typeface="Lucida Bright" panose="02040602050505020304" pitchFamily="18" charset="0"/>
              </a:rPr>
              <a:t>The following mentioned are the disk utilities</a:t>
            </a:r>
          </a:p>
          <a:p>
            <a:pPr>
              <a:buFont typeface="Arial" panose="020B0604020202020204" pitchFamily="34" charset="0"/>
              <a:buNone/>
              <a:defRPr/>
            </a:pPr>
            <a:r>
              <a:rPr lang="en-US" sz="1800" dirty="0" smtClean="0">
                <a:latin typeface="Lucida Bright" panose="02040602050505020304" pitchFamily="18" charset="0"/>
              </a:rPr>
              <a:t>which are used in common,</a:t>
            </a:r>
          </a:p>
          <a:p>
            <a:pPr marL="514350" indent="-514350">
              <a:buFont typeface="Arial" panose="020B0604020202020204" pitchFamily="34" charset="0"/>
              <a:buAutoNum type="arabicParenR"/>
              <a:defRPr/>
            </a:pPr>
            <a:r>
              <a:rPr lang="en-US" sz="1800" dirty="0" err="1" smtClean="0">
                <a:latin typeface="Lucida Bright" panose="02040602050505020304" pitchFamily="18" charset="0"/>
              </a:rPr>
              <a:t>df</a:t>
            </a:r>
            <a:endParaRPr lang="en-US" sz="1800" dirty="0" smtClean="0">
              <a:latin typeface="Lucida Bright" panose="02040602050505020304" pitchFamily="18" charset="0"/>
            </a:endParaRPr>
          </a:p>
          <a:p>
            <a:pPr marL="514350" indent="-514350">
              <a:buFont typeface="Arial" panose="020B0604020202020204" pitchFamily="34" charset="0"/>
              <a:buAutoNum type="arabicParenR"/>
              <a:defRPr/>
            </a:pPr>
            <a:r>
              <a:rPr lang="en-US" sz="1800" dirty="0" smtClean="0">
                <a:latin typeface="Lucida Bright" panose="02040602050505020304" pitchFamily="18" charset="0"/>
              </a:rPr>
              <a:t>du</a:t>
            </a:r>
          </a:p>
          <a:p>
            <a:pPr marL="514350" indent="-514350">
              <a:buFont typeface="Arial" panose="020B0604020202020204" pitchFamily="34" charset="0"/>
              <a:buNone/>
              <a:defRPr/>
            </a:pPr>
            <a:r>
              <a:rPr lang="en-US" sz="1800" dirty="0" err="1" smtClean="0">
                <a:latin typeface="Lucida Bright" panose="02040602050505020304" pitchFamily="18" charset="0"/>
              </a:rPr>
              <a:t>df</a:t>
            </a:r>
            <a:r>
              <a:rPr lang="en-US" sz="1800" dirty="0" smtClean="0">
                <a:latin typeface="Lucida Bright" panose="02040602050505020304" pitchFamily="18" charset="0"/>
              </a:rPr>
              <a:t> COMMAND:</a:t>
            </a:r>
          </a:p>
          <a:p>
            <a:pPr marL="514350" indent="-514350">
              <a:buFont typeface="Arial" panose="020B0604020202020204" pitchFamily="34" charset="0"/>
              <a:buNone/>
              <a:defRPr/>
            </a:pPr>
            <a:r>
              <a:rPr lang="en-US" sz="1800" dirty="0" err="1" smtClean="0">
                <a:latin typeface="Lucida Bright" panose="02040602050505020304" pitchFamily="18" charset="0"/>
              </a:rPr>
              <a:t>df</a:t>
            </a:r>
            <a:r>
              <a:rPr lang="en-US" sz="1800" dirty="0" smtClean="0">
                <a:latin typeface="Lucida Bright" panose="02040602050505020304" pitchFamily="18" charset="0"/>
              </a:rPr>
              <a:t>  command is used to find the empty disk space. </a:t>
            </a:r>
            <a:r>
              <a:rPr lang="en-US" sz="1800" dirty="0" err="1" smtClean="0">
                <a:latin typeface="Lucida Bright" panose="02040602050505020304" pitchFamily="18" charset="0"/>
              </a:rPr>
              <a:t>Df</a:t>
            </a:r>
            <a:r>
              <a:rPr lang="en-US" sz="1800" dirty="0" smtClean="0">
                <a:latin typeface="Lucida Bright" panose="02040602050505020304" pitchFamily="18" charset="0"/>
              </a:rPr>
              <a:t> stands for disk free.</a:t>
            </a:r>
          </a:p>
          <a:p>
            <a:pPr marL="514350" indent="-514350">
              <a:buFont typeface="Arial" panose="020B0604020202020204" pitchFamily="34" charset="0"/>
              <a:buNone/>
              <a:defRPr/>
            </a:pPr>
            <a:r>
              <a:rPr lang="en-US" sz="1800" dirty="0" smtClean="0">
                <a:latin typeface="Lucida Bright" panose="02040602050505020304" pitchFamily="18" charset="0"/>
              </a:rPr>
              <a:t>Example:</a:t>
            </a:r>
          </a:p>
          <a:p>
            <a:pPr marL="514350" indent="-514350">
              <a:buFont typeface="Arial" panose="020B0604020202020204" pitchFamily="34" charset="0"/>
              <a:buNone/>
              <a:defRPr/>
            </a:pPr>
            <a:r>
              <a:rPr lang="en-US" sz="1800" dirty="0" smtClean="0"/>
              <a:t> $ </a:t>
            </a:r>
            <a:r>
              <a:rPr lang="en-US" sz="1800" dirty="0" err="1" smtClean="0"/>
              <a:t>df</a:t>
            </a:r>
            <a:r>
              <a:rPr lang="en-US" sz="1800" dirty="0" smtClean="0"/>
              <a:t> </a:t>
            </a:r>
          </a:p>
          <a:p>
            <a:pPr marL="514350" indent="-514350">
              <a:buFont typeface="Arial" panose="020B0604020202020204" pitchFamily="34" charset="0"/>
              <a:buNone/>
              <a:defRPr/>
            </a:pPr>
            <a:r>
              <a:rPr lang="en-US" sz="1800" dirty="0" err="1" smtClean="0"/>
              <a:t>Filesystem</a:t>
            </a:r>
            <a:r>
              <a:rPr lang="en-US" sz="1800" dirty="0" smtClean="0"/>
              <a:t> 	1K-blocks 	Used 	Available 		Use% 	Mounted on </a:t>
            </a:r>
          </a:p>
          <a:p>
            <a:pPr marL="514350" indent="-514350">
              <a:buFont typeface="Arial" panose="020B0604020202020204" pitchFamily="34" charset="0"/>
              <a:buNone/>
              <a:defRPr/>
            </a:pPr>
            <a:r>
              <a:rPr lang="en-US" sz="1800" dirty="0" smtClean="0"/>
              <a:t>/dev/sda1	 132239776 	6210884 119311504 	5% 	/</a:t>
            </a:r>
          </a:p>
          <a:p>
            <a:pPr marL="514350" indent="-514350">
              <a:buFont typeface="Arial" panose="020B0604020202020204" pitchFamily="34" charset="0"/>
              <a:buNone/>
              <a:defRPr/>
            </a:pPr>
            <a:r>
              <a:rPr lang="en-US" sz="1800" dirty="0" smtClean="0"/>
              <a:t>/</a:t>
            </a:r>
            <a:r>
              <a:rPr lang="en-US" sz="1800" dirty="0" err="1" smtClean="0"/>
              <a:t>tmpfs</a:t>
            </a:r>
            <a:r>
              <a:rPr lang="en-US" sz="1800" dirty="0" smtClean="0"/>
              <a:t> 		4021876 		0 	4021876 		0% 	/dev/</a:t>
            </a:r>
            <a:r>
              <a:rPr lang="en-US" sz="1800" dirty="0" err="1" smtClean="0"/>
              <a:t>shm</a:t>
            </a:r>
            <a:r>
              <a:rPr lang="en-US" sz="1800" dirty="0" smtClean="0"/>
              <a:t> </a:t>
            </a:r>
          </a:p>
          <a:p>
            <a:pPr marL="514350" indent="-514350">
              <a:buFont typeface="Arial" panose="020B0604020202020204" pitchFamily="34" charset="0"/>
              <a:buNone/>
              <a:defRPr/>
            </a:pPr>
            <a:r>
              <a:rPr lang="en-US" sz="1800" dirty="0" smtClean="0"/>
              <a:t>/dev/sdb2 	30969600 	117740     29278696 	1%          /home/oracle </a:t>
            </a:r>
          </a:p>
          <a:p>
            <a:pPr marL="514350" indent="-514350">
              <a:buFont typeface="Arial" panose="020B0604020202020204" pitchFamily="34" charset="0"/>
              <a:buNone/>
              <a:defRPr/>
            </a:pPr>
            <a:r>
              <a:rPr lang="en-US" sz="1800" dirty="0" smtClean="0"/>
              <a:t>/dev/sdc1 	576310180 	71232 	546964104 	1% 	/home/data</a:t>
            </a:r>
          </a:p>
          <a:p>
            <a:pPr marL="514350" indent="-514350">
              <a:buFont typeface="Arial" panose="020B0604020202020204" pitchFamily="34" charset="0"/>
              <a:buNone/>
              <a:defRPr/>
            </a:pPr>
            <a:r>
              <a:rPr lang="en-US" sz="1800" dirty="0" smtClean="0"/>
              <a:t>Du COMMAND:</a:t>
            </a:r>
          </a:p>
          <a:p>
            <a:pPr marL="514350" indent="-514350">
              <a:buFont typeface="Arial" panose="020B0604020202020204" pitchFamily="34" charset="0"/>
              <a:buNone/>
              <a:defRPr/>
            </a:pPr>
            <a:r>
              <a:rPr lang="en-US" sz="1800" dirty="0" smtClean="0">
                <a:latin typeface="Lucida Bright" panose="02040602050505020304" pitchFamily="18" charset="0"/>
              </a:rPr>
              <a:t>The du command displays the disk space used by the specified files and directories. </a:t>
            </a:r>
          </a:p>
          <a:p>
            <a:pPr marL="514350" indent="-514350">
              <a:buFont typeface="Arial" panose="020B0604020202020204" pitchFamily="34" charset="0"/>
              <a:buNone/>
              <a:defRPr/>
            </a:pPr>
            <a:endParaRPr lang="en-US" sz="1800" dirty="0" smtClean="0"/>
          </a:p>
          <a:p>
            <a:pPr marL="514350" indent="-514350">
              <a:buFont typeface="Arial" panose="020B0604020202020204" pitchFamily="34" charset="0"/>
              <a:buNone/>
              <a:defRPr/>
            </a:pPr>
            <a:endParaRPr lang="en-US" sz="1800" dirty="0" smtClean="0"/>
          </a:p>
          <a:p>
            <a:pPr marL="514350" indent="-514350">
              <a:buFont typeface="Arial" panose="020B0604020202020204" pitchFamily="34" charset="0"/>
              <a:buNone/>
              <a:defRPr/>
            </a:pPr>
            <a:endParaRPr lang="en-US" sz="1800" dirty="0" smtClean="0"/>
          </a:p>
        </p:txBody>
      </p:sp>
      <p:sp>
        <p:nvSpPr>
          <p:cNvPr id="54276"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0487"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b="1" dirty="0">
                <a:latin typeface="Arial" panose="020B0604020202020204" pitchFamily="34" charset="0"/>
                <a:cs typeface="Arial" panose="020B0604020202020204" pitchFamily="34" charset="0"/>
              </a:rPr>
              <a:t>Disk </a:t>
            </a:r>
            <a:r>
              <a:rPr lang="en-US" sz="4000" b="1" dirty="0" smtClean="0">
                <a:latin typeface="Arial" panose="020B0604020202020204" pitchFamily="34" charset="0"/>
                <a:cs typeface="Arial" panose="020B0604020202020204" pitchFamily="34" charset="0"/>
              </a:rPr>
              <a:t>utilities</a:t>
            </a:r>
            <a:endParaRPr 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0" y="762000"/>
            <a:ext cx="2743200" cy="533400"/>
          </a:xfrm>
          <a:prstGeom prst="rect">
            <a:avLst/>
          </a:prstGeom>
          <a:noFill/>
          <a:ln w="9525">
            <a:noFill/>
            <a:miter lim="800000"/>
          </a:ln>
        </p:spPr>
        <p:txBody>
          <a:bodyPr anchor="b"/>
          <a:lstStyle/>
          <a:p>
            <a:endParaRPr lang="en-US">
              <a:solidFill>
                <a:srgbClr val="0066CC"/>
              </a:solidFill>
            </a:endParaRPr>
          </a:p>
        </p:txBody>
      </p:sp>
      <p:sp>
        <p:nvSpPr>
          <p:cNvPr id="35844" name="Text Box 4"/>
          <p:cNvSpPr txBox="1">
            <a:spLocks noChangeArrowheads="1"/>
          </p:cNvSpPr>
          <p:nvPr/>
        </p:nvSpPr>
        <p:spPr bwMode="auto">
          <a:xfrm>
            <a:off x="0" y="838200"/>
            <a:ext cx="9144000" cy="6602413"/>
          </a:xfrm>
          <a:prstGeom prst="rect">
            <a:avLst/>
          </a:prstGeom>
          <a:noFill/>
          <a:ln w="12700">
            <a:noFill/>
            <a:miter lim="800000"/>
          </a:ln>
        </p:spPr>
        <p:txBody>
          <a:bodyPr>
            <a:spAutoFit/>
          </a:bodyPr>
          <a:lstStyle/>
          <a:p>
            <a:pPr eaLnBrk="0" hangingPunct="0">
              <a:spcBef>
                <a:spcPct val="50000"/>
              </a:spcBef>
              <a:defRPr/>
            </a:pPr>
            <a:r>
              <a:rPr lang="en-US" dirty="0">
                <a:latin typeface="Lucida Bright" panose="02040602050505020304" pitchFamily="18" charset="0"/>
                <a:cs typeface="Arial" panose="020B0604020202020204" pitchFamily="34" charset="0"/>
              </a:rPr>
              <a:t>Syntax:</a:t>
            </a:r>
          </a:p>
          <a:p>
            <a:pPr eaLnBrk="0" hangingPunct="0">
              <a:spcBef>
                <a:spcPct val="50000"/>
              </a:spcBef>
              <a:defRPr/>
            </a:pPr>
            <a:r>
              <a:rPr lang="en-US" dirty="0">
                <a:latin typeface="Lucida Bright" panose="02040602050505020304" pitchFamily="18" charset="0"/>
                <a:cs typeface="Arial" panose="020B0604020202020204" pitchFamily="34" charset="0"/>
              </a:rPr>
              <a:t>du [option]….[file]</a:t>
            </a:r>
          </a:p>
          <a:p>
            <a:pPr eaLnBrk="0" hangingPunct="0">
              <a:spcBef>
                <a:spcPct val="50000"/>
              </a:spcBef>
              <a:defRPr/>
            </a:pPr>
            <a:r>
              <a:rPr lang="en-US" dirty="0">
                <a:latin typeface="Lucida Bright" panose="02040602050505020304" pitchFamily="18" charset="0"/>
                <a:cs typeface="Arial" panose="020B0604020202020204" pitchFamily="34" charset="0"/>
              </a:rPr>
              <a:t>Options:</a:t>
            </a:r>
          </a:p>
          <a:p>
            <a:pPr marL="342900" indent="-342900" eaLnBrk="0" hangingPunct="0">
              <a:spcBef>
                <a:spcPct val="50000"/>
              </a:spcBef>
              <a:buFontTx/>
              <a:buAutoNum type="arabicParenR"/>
              <a:defRPr/>
            </a:pPr>
            <a:r>
              <a:rPr lang="en-US" dirty="0">
                <a:latin typeface="Lucida Bright" panose="02040602050505020304" pitchFamily="18" charset="0"/>
                <a:cs typeface="Arial" panose="020B0604020202020204" pitchFamily="34" charset="0"/>
              </a:rPr>
              <a:t>–a: it writes counts for all files, not just for directories	.</a:t>
            </a:r>
          </a:p>
          <a:p>
            <a:pPr marL="342900" indent="-342900" eaLnBrk="0" hangingPunct="0">
              <a:spcBef>
                <a:spcPct val="50000"/>
              </a:spcBef>
              <a:buFontTx/>
              <a:buAutoNum type="arabicParenR"/>
              <a:defRPr/>
            </a:pPr>
            <a:r>
              <a:rPr lang="en-US" dirty="0">
                <a:latin typeface="Lucida Bright" panose="02040602050505020304" pitchFamily="18" charset="0"/>
                <a:cs typeface="Arial" panose="020B0604020202020204" pitchFamily="34" charset="0"/>
              </a:rPr>
              <a:t>-b: it prints the size in bytes.</a:t>
            </a:r>
          </a:p>
          <a:p>
            <a:pPr marL="342900" indent="-342900" eaLnBrk="0" hangingPunct="0">
              <a:spcBef>
                <a:spcPct val="50000"/>
              </a:spcBef>
              <a:buFontTx/>
              <a:buAutoNum type="arabicParenR"/>
              <a:defRPr/>
            </a:pPr>
            <a:r>
              <a:rPr lang="en-US" dirty="0">
                <a:latin typeface="Lucida Bright" panose="02040602050505020304" pitchFamily="18" charset="0"/>
                <a:cs typeface="Arial" panose="020B0604020202020204" pitchFamily="34" charset="0"/>
              </a:rPr>
              <a:t>-c: it prints the grand total (</a:t>
            </a:r>
            <a:r>
              <a:rPr lang="en-US" dirty="0" err="1">
                <a:latin typeface="Lucida Bright" panose="02040602050505020304" pitchFamily="18" charset="0"/>
                <a:cs typeface="Arial" panose="020B0604020202020204" pitchFamily="34" charset="0"/>
              </a:rPr>
              <a:t>i.e</a:t>
            </a:r>
            <a:r>
              <a:rPr lang="en-US" dirty="0">
                <a:latin typeface="Lucida Bright" panose="02040602050505020304" pitchFamily="18" charset="0"/>
                <a:cs typeface="Arial" panose="020B0604020202020204" pitchFamily="34" charset="0"/>
              </a:rPr>
              <a:t>, the total disk space used by the directory).</a:t>
            </a:r>
          </a:p>
          <a:p>
            <a:pPr marL="342900" indent="-342900" eaLnBrk="0" hangingPunct="0">
              <a:spcBef>
                <a:spcPct val="50000"/>
              </a:spcBef>
              <a:buFontTx/>
              <a:buAutoNum type="arabicParenR"/>
              <a:defRPr/>
            </a:pPr>
            <a:r>
              <a:rPr lang="en-US" dirty="0">
                <a:latin typeface="Lucida Bright" panose="02040602050505020304" pitchFamily="18" charset="0"/>
                <a:cs typeface="Arial" panose="020B0604020202020204" pitchFamily="34" charset="0"/>
              </a:rPr>
              <a:t>-h: it prints the human readable </a:t>
            </a:r>
            <a:r>
              <a:rPr lang="en-US" dirty="0" smtClean="0">
                <a:latin typeface="Lucida Bright" panose="02040602050505020304" pitchFamily="18" charset="0"/>
                <a:cs typeface="Arial" panose="020B0604020202020204" pitchFamily="34" charset="0"/>
              </a:rPr>
              <a:t>formats.example1k,2g</a:t>
            </a:r>
            <a:endParaRPr lang="en-US" dirty="0">
              <a:latin typeface="Lucida Bright" panose="02040602050505020304" pitchFamily="18" charset="0"/>
              <a:cs typeface="Arial" panose="020B0604020202020204" pitchFamily="34" charset="0"/>
            </a:endParaRPr>
          </a:p>
          <a:p>
            <a:pPr marL="342900" indent="-342900" eaLnBrk="0" hangingPunct="0">
              <a:spcBef>
                <a:spcPct val="50000"/>
              </a:spcBef>
              <a:buFontTx/>
              <a:buAutoNum type="arabicParenR"/>
              <a:defRPr/>
            </a:pPr>
            <a:r>
              <a:rPr lang="en-US" dirty="0">
                <a:latin typeface="Lucida Bright" panose="02040602050505020304" pitchFamily="18" charset="0"/>
                <a:cs typeface="Arial" panose="020B0604020202020204" pitchFamily="34" charset="0"/>
              </a:rPr>
              <a:t>-s: it does not show the size of sub-directories.</a:t>
            </a: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a:t>
            </a:r>
            <a:r>
              <a:rPr lang="en-US" dirty="0" err="1">
                <a:latin typeface="Lucida Bright" panose="02040602050505020304" pitchFamily="18" charset="0"/>
                <a:cs typeface="Arial" panose="020B0604020202020204" pitchFamily="34" charset="0"/>
              </a:rPr>
              <a:t>amar@localhost</a:t>
            </a:r>
            <a:r>
              <a:rPr lang="en-US" dirty="0">
                <a:latin typeface="Lucida Bright" panose="02040602050505020304" pitchFamily="18" charset="0"/>
                <a:cs typeface="Arial" panose="020B0604020202020204" pitchFamily="34" charset="0"/>
              </a:rPr>
              <a:t> ~]$ du -a</a:t>
            </a: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8       ./.</a:t>
            </a:r>
            <a:r>
              <a:rPr lang="en-US" dirty="0" err="1">
                <a:latin typeface="Lucida Bright" panose="02040602050505020304" pitchFamily="18" charset="0"/>
                <a:cs typeface="Arial" panose="020B0604020202020204" pitchFamily="34" charset="0"/>
              </a:rPr>
              <a:t>zshrc</a:t>
            </a:r>
            <a:endParaRPr lang="en-US" dirty="0">
              <a:latin typeface="Lucida Bright" panose="02040602050505020304" pitchFamily="18" charset="0"/>
              <a:cs typeface="Arial" panose="020B0604020202020204" pitchFamily="34" charset="0"/>
            </a:endParaRP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8       ./f1</a:t>
            </a: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8       ./.</a:t>
            </a:r>
            <a:r>
              <a:rPr lang="en-US" dirty="0" err="1">
                <a:latin typeface="Lucida Bright" panose="02040602050505020304" pitchFamily="18" charset="0"/>
                <a:cs typeface="Arial" panose="020B0604020202020204" pitchFamily="34" charset="0"/>
              </a:rPr>
              <a:t>bashrc</a:t>
            </a:r>
            <a:endParaRPr lang="en-US" dirty="0">
              <a:latin typeface="Lucida Bright" panose="02040602050505020304" pitchFamily="18" charset="0"/>
              <a:cs typeface="Arial" panose="020B0604020202020204" pitchFamily="34" charset="0"/>
            </a:endParaRP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8       ./.</a:t>
            </a:r>
            <a:r>
              <a:rPr lang="en-US" dirty="0" err="1">
                <a:latin typeface="Lucida Bright" panose="02040602050505020304" pitchFamily="18" charset="0"/>
                <a:cs typeface="Arial" panose="020B0604020202020204" pitchFamily="34" charset="0"/>
              </a:rPr>
              <a:t>kde</a:t>
            </a:r>
            <a:r>
              <a:rPr lang="en-US" dirty="0">
                <a:latin typeface="Lucida Bright" panose="02040602050505020304" pitchFamily="18" charset="0"/>
                <a:cs typeface="Arial" panose="020B0604020202020204" pitchFamily="34" charset="0"/>
              </a:rPr>
              <a:t>/</a:t>
            </a:r>
            <a:r>
              <a:rPr lang="en-US" dirty="0" err="1">
                <a:latin typeface="Lucida Bright" panose="02040602050505020304" pitchFamily="18" charset="0"/>
                <a:cs typeface="Arial" panose="020B0604020202020204" pitchFamily="34" charset="0"/>
              </a:rPr>
              <a:t>Autostart</a:t>
            </a:r>
            <a:r>
              <a:rPr lang="en-US" dirty="0">
                <a:latin typeface="Lucida Bright" panose="02040602050505020304" pitchFamily="18" charset="0"/>
                <a:cs typeface="Arial" panose="020B0604020202020204" pitchFamily="34" charset="0"/>
              </a:rPr>
              <a:t>/.directory</a:t>
            </a: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16      ./.</a:t>
            </a:r>
            <a:r>
              <a:rPr lang="en-US" dirty="0" err="1">
                <a:latin typeface="Lucida Bright" panose="02040602050505020304" pitchFamily="18" charset="0"/>
                <a:cs typeface="Arial" panose="020B0604020202020204" pitchFamily="34" charset="0"/>
              </a:rPr>
              <a:t>kde</a:t>
            </a:r>
            <a:r>
              <a:rPr lang="en-US" dirty="0">
                <a:latin typeface="Lucida Bright" panose="02040602050505020304" pitchFamily="18" charset="0"/>
                <a:cs typeface="Arial" panose="020B0604020202020204" pitchFamily="34" charset="0"/>
              </a:rPr>
              <a:t>/</a:t>
            </a:r>
            <a:r>
              <a:rPr lang="en-US" dirty="0" err="1">
                <a:latin typeface="Lucida Bright" panose="02040602050505020304" pitchFamily="18" charset="0"/>
                <a:cs typeface="Arial" panose="020B0604020202020204" pitchFamily="34" charset="0"/>
              </a:rPr>
              <a:t>Autostart</a:t>
            </a:r>
            <a:endParaRPr lang="en-US" dirty="0">
              <a:latin typeface="Lucida Bright" panose="02040602050505020304" pitchFamily="18" charset="0"/>
              <a:cs typeface="Arial" panose="020B0604020202020204" pitchFamily="34" charset="0"/>
            </a:endParaRP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24      ./.</a:t>
            </a:r>
            <a:r>
              <a:rPr lang="en-US" dirty="0" err="1">
                <a:latin typeface="Lucida Bright" panose="02040602050505020304" pitchFamily="18" charset="0"/>
                <a:cs typeface="Arial" panose="020B0604020202020204" pitchFamily="34" charset="0"/>
              </a:rPr>
              <a:t>kdehst</a:t>
            </a:r>
            <a:endParaRPr lang="en-US" dirty="0">
              <a:latin typeface="Lucida Bright" panose="02040602050505020304" pitchFamily="18" charset="0"/>
              <a:cs typeface="Arial" panose="020B0604020202020204" pitchFamily="34" charset="0"/>
            </a:endParaRPr>
          </a:p>
          <a:p>
            <a:pPr marL="342900" indent="-342900" eaLnBrk="0" hangingPunct="0">
              <a:spcBef>
                <a:spcPct val="50000"/>
              </a:spcBef>
              <a:defRPr/>
            </a:pPr>
            <a:r>
              <a:rPr lang="en-US" dirty="0">
                <a:latin typeface="Lucida Bright" panose="02040602050505020304" pitchFamily="18" charset="0"/>
                <a:cs typeface="Arial" panose="020B0604020202020204" pitchFamily="34" charset="0"/>
              </a:rPr>
              <a:t>			</a:t>
            </a:r>
          </a:p>
        </p:txBody>
      </p:sp>
      <p:sp>
        <p:nvSpPr>
          <p:cNvPr id="55300"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a:t>Disk </a:t>
            </a:r>
            <a:r>
              <a:rPr lang="en-US" sz="4000" b="1" dirty="0" smtClean="0"/>
              <a:t>utilities</a:t>
            </a:r>
            <a:endParaRPr 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5"/>
          <p:cNvSpPr>
            <a:spLocks noGrp="1"/>
          </p:cNvSpPr>
          <p:nvPr>
            <p:ph idx="1"/>
          </p:nvPr>
        </p:nvSpPr>
        <p:spPr>
          <a:xfrm>
            <a:off x="0" y="838200"/>
            <a:ext cx="9144000" cy="6477000"/>
          </a:xfrm>
        </p:spPr>
        <p:txBody>
          <a:bodyPr/>
          <a:lstStyle/>
          <a:p>
            <a:pPr>
              <a:buFont typeface="Arial" panose="020B0604020202020204" pitchFamily="34" charset="0"/>
              <a:buNone/>
            </a:pPr>
            <a:r>
              <a:rPr lang="en-US" sz="1800" dirty="0" smtClean="0">
                <a:latin typeface="Lucida Bright" panose="02040602050505020304" pitchFamily="18" charset="0"/>
              </a:rPr>
              <a:t>The commands which we will use for the communication between more than</a:t>
            </a:r>
          </a:p>
          <a:p>
            <a:pPr>
              <a:buFont typeface="Arial" panose="020B0604020202020204" pitchFamily="34" charset="0"/>
              <a:buNone/>
            </a:pPr>
            <a:r>
              <a:rPr lang="en-US" sz="1800" dirty="0" smtClean="0">
                <a:latin typeface="Lucida Bright" panose="02040602050505020304" pitchFamily="18" charset="0"/>
              </a:rPr>
              <a:t>one system for sharing resources or any other issue are known as the </a:t>
            </a:r>
          </a:p>
          <a:p>
            <a:pPr>
              <a:buFont typeface="Arial" panose="020B0604020202020204" pitchFamily="34" charset="0"/>
              <a:buNone/>
            </a:pPr>
            <a:r>
              <a:rPr lang="en-US" sz="1800" dirty="0" smtClean="0">
                <a:latin typeface="Lucida Bright" panose="02040602050505020304" pitchFamily="18" charset="0"/>
              </a:rPr>
              <a:t>networking commands.</a:t>
            </a:r>
          </a:p>
          <a:p>
            <a:pPr>
              <a:buFont typeface="Arial" panose="020B0604020202020204" pitchFamily="34" charset="0"/>
              <a:buNone/>
            </a:pPr>
            <a:r>
              <a:rPr lang="en-US" sz="1800" dirty="0" smtClean="0">
                <a:latin typeface="Lucida Bright" panose="02040602050505020304" pitchFamily="18" charset="0"/>
              </a:rPr>
              <a:t>Commands such as telnet, ftp, rlogin, finger are commonly used networking      </a:t>
            </a:r>
          </a:p>
          <a:p>
            <a:pPr>
              <a:buFont typeface="Arial" panose="020B0604020202020204" pitchFamily="34" charset="0"/>
              <a:buNone/>
            </a:pPr>
            <a:r>
              <a:rPr lang="en-US" sz="1800" dirty="0" smtClean="0">
                <a:latin typeface="Lucida Bright" panose="02040602050505020304" pitchFamily="18" charset="0"/>
              </a:rPr>
              <a:t>commands.</a:t>
            </a:r>
          </a:p>
          <a:p>
            <a:pPr>
              <a:buFont typeface="Arial" panose="020B0604020202020204" pitchFamily="34" charset="0"/>
              <a:buNone/>
            </a:pPr>
            <a:r>
              <a:rPr lang="en-US" sz="1800" dirty="0" smtClean="0">
                <a:latin typeface="Lucida Bright" panose="02040602050505020304" pitchFamily="18" charset="0"/>
              </a:rPr>
              <a:t>telnet COMMAND:</a:t>
            </a:r>
          </a:p>
          <a:p>
            <a:pPr>
              <a:buFont typeface="Arial" panose="020B0604020202020204" pitchFamily="34" charset="0"/>
              <a:buNone/>
            </a:pPr>
            <a:r>
              <a:rPr lang="en-US" sz="1800" dirty="0" smtClean="0">
                <a:latin typeface="Lucida Bright" panose="02040602050505020304" pitchFamily="18" charset="0"/>
              </a:rPr>
              <a:t>telnet is a internet protocol which enables user to connect a remote system and </a:t>
            </a:r>
          </a:p>
          <a:p>
            <a:pPr>
              <a:buFont typeface="Arial" panose="020B0604020202020204" pitchFamily="34" charset="0"/>
              <a:buNone/>
            </a:pPr>
            <a:r>
              <a:rPr lang="en-US" sz="1800" dirty="0" smtClean="0">
                <a:latin typeface="Lucida Bright" panose="02040602050505020304" pitchFamily="18" charset="0"/>
              </a:rPr>
              <a:t>transfer data.</a:t>
            </a:r>
          </a:p>
          <a:p>
            <a:pPr>
              <a:buFont typeface="Arial" panose="020B0604020202020204" pitchFamily="34" charset="0"/>
              <a:buNone/>
            </a:pPr>
            <a:r>
              <a:rPr lang="en-US" sz="1800" dirty="0" smtClean="0">
                <a:latin typeface="Lucida Bright" panose="02040602050505020304" pitchFamily="18" charset="0"/>
              </a:rPr>
              <a:t>Syntax:   $ telnet hostname or telnet </a:t>
            </a:r>
            <a:r>
              <a:rPr lang="en-US" sz="1800" dirty="0" err="1" smtClean="0">
                <a:latin typeface="Lucida Bright" panose="02040602050505020304" pitchFamily="18" charset="0"/>
              </a:rPr>
              <a:t>ip_address</a:t>
            </a:r>
            <a:endParaRPr lang="en-US" sz="1800" dirty="0" smtClean="0">
              <a:latin typeface="Lucida Bright" panose="02040602050505020304" pitchFamily="18" charset="0"/>
            </a:endParaRPr>
          </a:p>
          <a:p>
            <a:pPr>
              <a:buFont typeface="Arial" panose="020B0604020202020204" pitchFamily="34" charset="0"/>
              <a:buNone/>
            </a:pPr>
            <a:r>
              <a:rPr lang="en-US" sz="1800" dirty="0" smtClean="0">
                <a:latin typeface="Lucida Bright" panose="02040602050505020304" pitchFamily="18" charset="0"/>
              </a:rPr>
              <a:t>Example :	</a:t>
            </a:r>
            <a:r>
              <a:rPr lang="en-US" sz="1800" i="1" dirty="0" smtClean="0">
                <a:latin typeface="Lucida Bright" panose="02040602050505020304" pitchFamily="18" charset="0"/>
              </a:rPr>
              <a:t>$ telnet itctnss0123</a:t>
            </a:r>
          </a:p>
          <a:p>
            <a:pPr>
              <a:buFont typeface="Arial" panose="020B0604020202020204" pitchFamily="34" charset="0"/>
              <a:buNone/>
            </a:pPr>
            <a:r>
              <a:rPr lang="en-US" sz="1800" dirty="0" smtClean="0">
                <a:latin typeface="Lucida Bright" panose="02040602050505020304" pitchFamily="18" charset="0"/>
              </a:rPr>
              <a:t>Trying 164.130….</a:t>
            </a:r>
          </a:p>
          <a:p>
            <a:pPr>
              <a:buFont typeface="Arial" panose="020B0604020202020204" pitchFamily="34" charset="0"/>
              <a:buNone/>
            </a:pPr>
            <a:r>
              <a:rPr lang="en-US" sz="1800" dirty="0" smtClean="0">
                <a:latin typeface="Lucida Bright" panose="02040602050505020304" pitchFamily="18" charset="0"/>
              </a:rPr>
              <a:t>Connected to itctnss0123.</a:t>
            </a:r>
          </a:p>
          <a:p>
            <a:pPr>
              <a:buFont typeface="Arial" panose="020B0604020202020204" pitchFamily="34" charset="0"/>
              <a:buNone/>
            </a:pPr>
            <a:r>
              <a:rPr lang="en-US" sz="1800" dirty="0" smtClean="0">
                <a:latin typeface="Lucida Bright" panose="02040602050505020304" pitchFamily="18" charset="0"/>
              </a:rPr>
              <a:t>Escape character is ‘^]’.</a:t>
            </a:r>
          </a:p>
          <a:p>
            <a:pPr>
              <a:buFont typeface="Arial" panose="020B0604020202020204" pitchFamily="34" charset="0"/>
              <a:buNone/>
            </a:pPr>
            <a:r>
              <a:rPr lang="en-US" sz="1800" dirty="0" smtClean="0">
                <a:latin typeface="Lucida Bright" panose="02040602050505020304" pitchFamily="18" charset="0"/>
              </a:rPr>
              <a:t>SunOS 5.8</a:t>
            </a:r>
          </a:p>
          <a:p>
            <a:pPr>
              <a:buFont typeface="Arial" panose="020B0604020202020204" pitchFamily="34" charset="0"/>
              <a:buNone/>
            </a:pPr>
            <a:r>
              <a:rPr lang="en-US" sz="1800" dirty="0" smtClean="0">
                <a:latin typeface="Lucida Bright" panose="02040602050505020304" pitchFamily="18" charset="0"/>
              </a:rPr>
              <a:t>login: root</a:t>
            </a:r>
          </a:p>
          <a:p>
            <a:pPr>
              <a:buFont typeface="Arial" panose="020B0604020202020204" pitchFamily="34" charset="0"/>
              <a:buNone/>
            </a:pPr>
            <a:r>
              <a:rPr lang="en-US" sz="1800" dirty="0" smtClean="0">
                <a:latin typeface="Lucida Bright" panose="02040602050505020304" pitchFamily="18" charset="0"/>
              </a:rPr>
              <a:t>Password:</a:t>
            </a:r>
          </a:p>
          <a:p>
            <a:pPr>
              <a:buFont typeface="Arial" panose="020B0604020202020204" pitchFamily="34" charset="0"/>
              <a:buNone/>
            </a:pPr>
            <a:r>
              <a:rPr lang="en-US" sz="1800" dirty="0" smtClean="0">
                <a:latin typeface="Lucida Bright" panose="02040602050505020304" pitchFamily="18" charset="0"/>
              </a:rPr>
              <a:t>Last login: Thu Feb 24 16:13:12 from itctnss0123</a:t>
            </a:r>
          </a:p>
          <a:p>
            <a:pPr>
              <a:buFont typeface="Arial" panose="020B0604020202020204" pitchFamily="34" charset="0"/>
              <a:buNone/>
            </a:pPr>
            <a:r>
              <a:rPr lang="en-US" sz="1800" dirty="0" smtClean="0">
                <a:latin typeface="Lucida Bright" panose="02040602050505020304" pitchFamily="18" charset="0"/>
              </a:rPr>
              <a:t>Sun Microsystems Inc. SunOS 5.8 Generic Patch February 2004</a:t>
            </a:r>
            <a:br>
              <a:rPr lang="en-US" sz="1800" dirty="0" smtClean="0">
                <a:latin typeface="Lucida Bright" panose="02040602050505020304" pitchFamily="18" charset="0"/>
              </a:rPr>
            </a:br>
            <a:endParaRPr lang="en-US" sz="1800" dirty="0" smtClean="0">
              <a:latin typeface="Lucida Bright" panose="02040602050505020304" pitchFamily="18" charset="0"/>
            </a:endParaRPr>
          </a:p>
          <a:p>
            <a:pPr>
              <a:buFont typeface="Arial" panose="020B0604020202020204" pitchFamily="34" charset="0"/>
              <a:buNone/>
            </a:pPr>
            <a:endParaRPr lang="en-US" sz="1800" dirty="0" smtClean="0">
              <a:latin typeface="Lucida Bright" panose="02040602050505020304" pitchFamily="18" charset="0"/>
            </a:endParaRPr>
          </a:p>
          <a:p>
            <a:pPr>
              <a:buFont typeface="Arial" panose="020B0604020202020204" pitchFamily="34" charset="0"/>
              <a:buNone/>
            </a:pPr>
            <a:r>
              <a:rPr lang="en-US" sz="1800" dirty="0" smtClean="0">
                <a:latin typeface="Lucida Bright" panose="02040602050505020304" pitchFamily="18" charset="0"/>
              </a:rPr>
              <a:t> </a:t>
            </a:r>
          </a:p>
        </p:txBody>
      </p:sp>
      <p:sp>
        <p:nvSpPr>
          <p:cNvPr id="56324"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latin typeface="Lucida Bright" panose="02040602050505020304" pitchFamily="18" charset="0"/>
              </a:rPr>
              <a:t>Networking </a:t>
            </a:r>
            <a:r>
              <a:rPr lang="en-US" sz="4000" dirty="0" smtClean="0">
                <a:latin typeface="Lucida Bright" panose="02040602050505020304" pitchFamily="18" charset="0"/>
              </a:rPr>
              <a:t>commands</a:t>
            </a:r>
            <a:endParaRPr lang="en-US" sz="2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a:latin typeface="Lucida Sans Unicode" panose="020B0602030504020204" pitchFamily="34" charset="0"/>
            </a:endParaRPr>
          </a:p>
        </p:txBody>
      </p:sp>
      <p:sp>
        <p:nvSpPr>
          <p:cNvPr id="57348" name="Text Box 3"/>
          <p:cNvSpPr txBox="1">
            <a:spLocks noChangeArrowheads="1"/>
          </p:cNvSpPr>
          <p:nvPr/>
        </p:nvSpPr>
        <p:spPr bwMode="auto">
          <a:xfrm>
            <a:off x="1752600" y="152400"/>
            <a:ext cx="6058069" cy="707886"/>
          </a:xfrm>
          <a:prstGeom prst="rect">
            <a:avLst/>
          </a:prstGeom>
          <a:noFill/>
          <a:ln w="9525">
            <a:noFill/>
            <a:miter lim="800000"/>
          </a:ln>
        </p:spPr>
        <p:txBody>
          <a:bodyPr wrap="none">
            <a:spAutoFit/>
          </a:bodyPr>
          <a:lstStyle/>
          <a:p>
            <a:pPr algn="ctr"/>
            <a:r>
              <a:rPr lang="en-US" sz="4000" dirty="0">
                <a:latin typeface="Lucida Bright" panose="02040602050505020304" pitchFamily="18" charset="0"/>
              </a:rPr>
              <a:t>Networking </a:t>
            </a:r>
            <a:r>
              <a:rPr lang="en-US" sz="4000" dirty="0" smtClean="0">
                <a:latin typeface="Lucida Bright" panose="02040602050505020304" pitchFamily="18" charset="0"/>
              </a:rPr>
              <a:t>commands</a:t>
            </a:r>
            <a:endParaRPr lang="en-US" sz="2400" dirty="0"/>
          </a:p>
        </p:txBody>
      </p:sp>
      <p:sp>
        <p:nvSpPr>
          <p:cNvPr id="5734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7350" name="Rectangle 5"/>
          <p:cNvSpPr>
            <a:spLocks noChangeArrowheads="1"/>
          </p:cNvSpPr>
          <p:nvPr/>
        </p:nvSpPr>
        <p:spPr bwMode="auto">
          <a:xfrm>
            <a:off x="0" y="914400"/>
            <a:ext cx="9144000" cy="5632311"/>
          </a:xfrm>
          <a:prstGeom prst="rect">
            <a:avLst/>
          </a:prstGeom>
          <a:noFill/>
          <a:ln w="9525">
            <a:noFill/>
            <a:miter lim="800000"/>
          </a:ln>
        </p:spPr>
        <p:txBody>
          <a:bodyPr anchor="ctr">
            <a:spAutoFit/>
          </a:bodyPr>
          <a:lstStyle/>
          <a:p>
            <a:r>
              <a:rPr lang="en-US" dirty="0">
                <a:latin typeface="Lucida Bright" panose="02040602050505020304" pitchFamily="18" charset="0"/>
              </a:rPr>
              <a:t>Finger COMMAND:</a:t>
            </a:r>
          </a:p>
          <a:p>
            <a:r>
              <a:rPr lang="en-US" dirty="0">
                <a:latin typeface="Lucida Bright" panose="02040602050505020304" pitchFamily="18" charset="0"/>
              </a:rPr>
              <a:t>The finger command </a:t>
            </a:r>
            <a:r>
              <a:rPr lang="en-US" dirty="0" smtClean="0">
                <a:latin typeface="Lucida Bright" panose="02040602050505020304" pitchFamily="18" charset="0"/>
              </a:rPr>
              <a:t>is used to find out the details of a user, on both local and </a:t>
            </a:r>
            <a:r>
              <a:rPr lang="en-US" smtClean="0">
                <a:latin typeface="Lucida Bright" panose="02040602050505020304" pitchFamily="18" charset="0"/>
              </a:rPr>
              <a:t>remote system.</a:t>
            </a:r>
            <a:endParaRPr lang="en-US" dirty="0">
              <a:latin typeface="Lucida Bright" panose="02040602050505020304" pitchFamily="18" charset="0"/>
            </a:endParaRPr>
          </a:p>
          <a:p>
            <a:r>
              <a:rPr lang="en-US" dirty="0">
                <a:latin typeface="Lucida Bright" panose="02040602050505020304" pitchFamily="18" charset="0"/>
              </a:rPr>
              <a:t>Finger may be disabled on other systems for security reasons.</a:t>
            </a:r>
          </a:p>
          <a:p>
            <a:r>
              <a:rPr lang="en-US" dirty="0">
                <a:latin typeface="Lucida Bright" panose="02040602050505020304" pitchFamily="18" charset="0"/>
              </a:rPr>
              <a:t>Following are the simple syntax to use finger command:</a:t>
            </a:r>
          </a:p>
          <a:p>
            <a:r>
              <a:rPr lang="en-US" dirty="0">
                <a:latin typeface="Lucida Bright" panose="02040602050505020304" pitchFamily="18" charset="0"/>
              </a:rPr>
              <a:t>Check all the logged in users on local machine as follows:</a:t>
            </a:r>
          </a:p>
          <a:p>
            <a:r>
              <a:rPr lang="en-US" dirty="0">
                <a:latin typeface="Lucida Bright" panose="02040602050505020304" pitchFamily="18" charset="0"/>
              </a:rPr>
              <a:t>Examples:</a:t>
            </a:r>
          </a:p>
          <a:p>
            <a:r>
              <a:rPr lang="en-US" dirty="0">
                <a:latin typeface="Lucida Bright" panose="02040602050505020304" pitchFamily="18" charset="0"/>
              </a:rPr>
              <a:t>[</a:t>
            </a:r>
            <a:r>
              <a:rPr lang="en-US" dirty="0" err="1">
                <a:latin typeface="Lucida Bright" panose="02040602050505020304" pitchFamily="18" charset="0"/>
              </a:rPr>
              <a:t>amar@localhost</a:t>
            </a:r>
            <a:r>
              <a:rPr lang="en-US" dirty="0">
                <a:latin typeface="Lucida Bright" panose="02040602050505020304" pitchFamily="18" charset="0"/>
              </a:rPr>
              <a:t> ~]$ finger</a:t>
            </a:r>
          </a:p>
          <a:p>
            <a:r>
              <a:rPr lang="en-US" dirty="0">
                <a:latin typeface="Lucida Bright" panose="02040602050505020304" pitchFamily="18" charset="0"/>
              </a:rPr>
              <a:t>Login     Name       </a:t>
            </a:r>
            <a:r>
              <a:rPr lang="en-US" dirty="0" err="1">
                <a:latin typeface="Lucida Bright" panose="02040602050505020304" pitchFamily="18" charset="0"/>
              </a:rPr>
              <a:t>Tty</a:t>
            </a:r>
            <a:r>
              <a:rPr lang="en-US" dirty="0">
                <a:latin typeface="Lucida Bright" panose="02040602050505020304" pitchFamily="18" charset="0"/>
              </a:rPr>
              <a:t>      Idle  Login Time   Office     </a:t>
            </a:r>
            <a:r>
              <a:rPr lang="en-US" dirty="0" err="1">
                <a:latin typeface="Lucida Bright" panose="02040602050505020304" pitchFamily="18" charset="0"/>
              </a:rPr>
              <a:t>Office</a:t>
            </a:r>
            <a:r>
              <a:rPr lang="en-US" dirty="0">
                <a:latin typeface="Lucida Bright" panose="02040602050505020304" pitchFamily="18" charset="0"/>
              </a:rPr>
              <a:t> Phone</a:t>
            </a:r>
          </a:p>
          <a:p>
            <a:r>
              <a:rPr lang="en-US" dirty="0" err="1">
                <a:latin typeface="Lucida Bright" panose="02040602050505020304" pitchFamily="18" charset="0"/>
              </a:rPr>
              <a:t>amar</a:t>
            </a:r>
            <a:r>
              <a:rPr lang="en-US" dirty="0">
                <a:latin typeface="Lucida Bright" panose="02040602050505020304" pitchFamily="18" charset="0"/>
              </a:rPr>
              <a:t>                 pts/1          May 25 10:06 (172.16.10.5)</a:t>
            </a:r>
          </a:p>
          <a:p>
            <a:r>
              <a:rPr lang="en-US" dirty="0">
                <a:latin typeface="Lucida Bright" panose="02040602050505020304" pitchFamily="18" charset="0"/>
              </a:rPr>
              <a:t>root      </a:t>
            </a:r>
            <a:r>
              <a:rPr lang="en-US" dirty="0" err="1">
                <a:latin typeface="Lucida Bright" panose="02040602050505020304" pitchFamily="18" charset="0"/>
              </a:rPr>
              <a:t>root</a:t>
            </a:r>
            <a:r>
              <a:rPr lang="en-US" dirty="0">
                <a:latin typeface="Lucida Bright" panose="02040602050505020304" pitchFamily="18" charset="0"/>
              </a:rPr>
              <a:t>       pts/0      7d  May 16 14:03 (:0.0)</a:t>
            </a:r>
          </a:p>
          <a:p>
            <a:endParaRPr lang="en-US" dirty="0">
              <a:latin typeface="Lucida Bright" panose="02040602050505020304" pitchFamily="18" charset="0"/>
            </a:endParaRPr>
          </a:p>
          <a:p>
            <a:endParaRPr lang="en-US" dirty="0">
              <a:latin typeface="Lucida Bright" panose="02040602050505020304" pitchFamily="18" charset="0"/>
            </a:endParaRPr>
          </a:p>
          <a:p>
            <a:r>
              <a:rPr lang="en-US" dirty="0">
                <a:latin typeface="Lucida Bright" panose="02040602050505020304" pitchFamily="18" charset="0"/>
              </a:rPr>
              <a:t>[</a:t>
            </a:r>
            <a:r>
              <a:rPr lang="en-US" dirty="0" err="1">
                <a:latin typeface="Lucida Bright" panose="02040602050505020304" pitchFamily="18" charset="0"/>
              </a:rPr>
              <a:t>amar@localhost</a:t>
            </a:r>
            <a:r>
              <a:rPr lang="en-US" dirty="0">
                <a:latin typeface="Lucida Bright" panose="02040602050505020304" pitchFamily="18" charset="0"/>
              </a:rPr>
              <a:t> ~]$ finger </a:t>
            </a:r>
            <a:r>
              <a:rPr lang="en-US" dirty="0" err="1">
                <a:latin typeface="Lucida Bright" panose="02040602050505020304" pitchFamily="18" charset="0"/>
              </a:rPr>
              <a:t>amar</a:t>
            </a:r>
            <a:endParaRPr lang="en-US" dirty="0">
              <a:latin typeface="Lucida Bright" panose="02040602050505020304" pitchFamily="18" charset="0"/>
            </a:endParaRPr>
          </a:p>
          <a:p>
            <a:r>
              <a:rPr lang="en-US" dirty="0">
                <a:latin typeface="Lucida Bright" panose="02040602050505020304" pitchFamily="18" charset="0"/>
              </a:rPr>
              <a:t>Login: </a:t>
            </a:r>
            <a:r>
              <a:rPr lang="en-US" dirty="0" err="1">
                <a:latin typeface="Lucida Bright" panose="02040602050505020304" pitchFamily="18" charset="0"/>
              </a:rPr>
              <a:t>amar</a:t>
            </a:r>
            <a:r>
              <a:rPr lang="en-US" dirty="0">
                <a:latin typeface="Lucida Bright" panose="02040602050505020304" pitchFamily="18" charset="0"/>
              </a:rPr>
              <a:t>                             Name: (null)</a:t>
            </a:r>
          </a:p>
          <a:p>
            <a:r>
              <a:rPr lang="en-US" dirty="0">
                <a:latin typeface="Lucida Bright" panose="02040602050505020304" pitchFamily="18" charset="0"/>
              </a:rPr>
              <a:t>Directory: /home/</a:t>
            </a:r>
            <a:r>
              <a:rPr lang="en-US" dirty="0" err="1">
                <a:latin typeface="Lucida Bright" panose="02040602050505020304" pitchFamily="18" charset="0"/>
              </a:rPr>
              <a:t>amar</a:t>
            </a:r>
            <a:r>
              <a:rPr lang="en-US" dirty="0">
                <a:latin typeface="Lucida Bright" panose="02040602050505020304" pitchFamily="18" charset="0"/>
              </a:rPr>
              <a:t>                   Shell: /bin/bash</a:t>
            </a:r>
          </a:p>
          <a:p>
            <a:r>
              <a:rPr lang="en-US" dirty="0">
                <a:latin typeface="Lucida Bright" panose="02040602050505020304" pitchFamily="18" charset="0"/>
              </a:rPr>
              <a:t>On since Sat May 25 10:06 (IST) on pts/1 from 172.16.10.5</a:t>
            </a:r>
          </a:p>
          <a:p>
            <a:r>
              <a:rPr lang="en-US" dirty="0">
                <a:latin typeface="Lucida Bright" panose="02040602050505020304" pitchFamily="18" charset="0"/>
              </a:rPr>
              <a:t>No mail.</a:t>
            </a:r>
          </a:p>
          <a:p>
            <a:r>
              <a:rPr lang="en-US" dirty="0">
                <a:latin typeface="Lucida Bright" panose="02040602050505020304" pitchFamily="18" charset="0"/>
              </a:rPr>
              <a:t>No Plan.</a:t>
            </a:r>
          </a:p>
          <a:p>
            <a:endParaRPr lang="en-US"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6"/>
          <p:cNvSpPr>
            <a:spLocks noGrp="1"/>
          </p:cNvSpPr>
          <p:nvPr>
            <p:ph idx="1"/>
          </p:nvPr>
        </p:nvSpPr>
        <p:spPr>
          <a:xfrm>
            <a:off x="0" y="685800"/>
            <a:ext cx="9144000" cy="6858000"/>
          </a:xfrm>
        </p:spPr>
        <p:txBody>
          <a:bodyPr/>
          <a:lstStyle/>
          <a:p>
            <a:pPr>
              <a:lnSpc>
                <a:spcPct val="150000"/>
              </a:lnSpc>
              <a:buFont typeface="Arial" panose="020B0604020202020204" pitchFamily="34" charset="0"/>
              <a:buNone/>
            </a:pPr>
            <a:r>
              <a:rPr lang="en-US" sz="1800" b="1" smtClean="0">
                <a:latin typeface="Lucida Bright" panose="02040602050505020304" pitchFamily="18" charset="0"/>
              </a:rPr>
              <a:t>Ftp</a:t>
            </a:r>
            <a:r>
              <a:rPr lang="en-US" sz="1800" smtClean="0">
                <a:latin typeface="Lucida Bright" panose="02040602050505020304" pitchFamily="18" charset="0"/>
              </a:rPr>
              <a:t> is the user interface to the </a:t>
            </a:r>
            <a:r>
              <a:rPr lang="en-US" sz="1800" b="1" smtClean="0">
                <a:latin typeface="Lucida Bright" panose="02040602050505020304" pitchFamily="18" charset="0"/>
              </a:rPr>
              <a:t>Internet</a:t>
            </a:r>
            <a:r>
              <a:rPr lang="en-US" sz="1800" smtClean="0">
                <a:latin typeface="Lucida Bright" panose="02040602050505020304" pitchFamily="18" charset="0"/>
              </a:rPr>
              <a:t> standard File Transfer Protocol. The </a:t>
            </a:r>
          </a:p>
          <a:p>
            <a:pPr>
              <a:lnSpc>
                <a:spcPct val="150000"/>
              </a:lnSpc>
              <a:buFont typeface="Arial" panose="020B0604020202020204" pitchFamily="34" charset="0"/>
              <a:buNone/>
            </a:pPr>
            <a:r>
              <a:rPr lang="en-US" sz="1800" smtClean="0">
                <a:latin typeface="Lucida Bright" panose="02040602050505020304" pitchFamily="18" charset="0"/>
              </a:rPr>
              <a:t>program allows a user to transfer files to and from a remote network site. </a:t>
            </a:r>
          </a:p>
          <a:p>
            <a:pPr>
              <a:lnSpc>
                <a:spcPct val="150000"/>
              </a:lnSpc>
              <a:buFont typeface="Arial" panose="020B0604020202020204" pitchFamily="34" charset="0"/>
              <a:buNone/>
            </a:pPr>
            <a:r>
              <a:rPr lang="en-US" sz="1800" smtClean="0">
                <a:latin typeface="Lucida Bright" panose="02040602050505020304" pitchFamily="18" charset="0"/>
              </a:rPr>
              <a:t>This utility helps you to upload and download your file from one computer to </a:t>
            </a:r>
          </a:p>
          <a:p>
            <a:pPr>
              <a:lnSpc>
                <a:spcPct val="150000"/>
              </a:lnSpc>
              <a:buFont typeface="Arial" panose="020B0604020202020204" pitchFamily="34" charset="0"/>
              <a:buNone/>
            </a:pPr>
            <a:r>
              <a:rPr lang="en-US" sz="1800" smtClean="0">
                <a:latin typeface="Lucida Bright" panose="02040602050505020304" pitchFamily="18" charset="0"/>
              </a:rPr>
              <a:t>another computer.</a:t>
            </a:r>
          </a:p>
          <a:p>
            <a:pPr>
              <a:lnSpc>
                <a:spcPct val="150000"/>
              </a:lnSpc>
              <a:buFont typeface="Arial" panose="020B0604020202020204" pitchFamily="34" charset="0"/>
              <a:buNone/>
            </a:pPr>
            <a:r>
              <a:rPr lang="en-US" sz="1800" smtClean="0">
                <a:latin typeface="Lucida Bright" panose="02040602050505020304" pitchFamily="18" charset="0"/>
              </a:rPr>
              <a:t>The ftp utility has its own set of UNIX like commands which allow you to </a:t>
            </a:r>
          </a:p>
          <a:p>
            <a:pPr>
              <a:lnSpc>
                <a:spcPct val="150000"/>
              </a:lnSpc>
              <a:buFont typeface="Arial" panose="020B0604020202020204" pitchFamily="34" charset="0"/>
              <a:buNone/>
            </a:pPr>
            <a:r>
              <a:rPr lang="en-US" sz="1800" smtClean="0">
                <a:latin typeface="Lucida Bright" panose="02040602050505020304" pitchFamily="18" charset="0"/>
              </a:rPr>
              <a:t>perform tasks such as:</a:t>
            </a:r>
          </a:p>
          <a:p>
            <a:pPr>
              <a:lnSpc>
                <a:spcPct val="150000"/>
              </a:lnSpc>
              <a:buFont typeface="Arial" panose="020B0604020202020204" pitchFamily="34" charset="0"/>
              <a:buNone/>
            </a:pPr>
            <a:r>
              <a:rPr lang="en-US" sz="1800" smtClean="0">
                <a:latin typeface="Lucida Bright" panose="02040602050505020304" pitchFamily="18" charset="0"/>
              </a:rPr>
              <a:t>	Connect and login to a remote host.</a:t>
            </a:r>
          </a:p>
          <a:p>
            <a:pPr>
              <a:lnSpc>
                <a:spcPct val="150000"/>
              </a:lnSpc>
              <a:buFont typeface="Arial" panose="020B0604020202020204" pitchFamily="34" charset="0"/>
              <a:buNone/>
            </a:pPr>
            <a:r>
              <a:rPr lang="en-US" sz="1800" smtClean="0">
                <a:latin typeface="Lucida Bright" panose="02040602050505020304" pitchFamily="18" charset="0"/>
              </a:rPr>
              <a:t>	Navigate directories.</a:t>
            </a:r>
          </a:p>
          <a:p>
            <a:pPr>
              <a:lnSpc>
                <a:spcPct val="150000"/>
              </a:lnSpc>
              <a:buFont typeface="Arial" panose="020B0604020202020204" pitchFamily="34" charset="0"/>
              <a:buNone/>
            </a:pPr>
            <a:r>
              <a:rPr lang="en-US" sz="1800" smtClean="0">
                <a:latin typeface="Lucida Bright" panose="02040602050505020304" pitchFamily="18" charset="0"/>
              </a:rPr>
              <a:t>	List directory contents</a:t>
            </a:r>
          </a:p>
          <a:p>
            <a:pPr>
              <a:lnSpc>
                <a:spcPct val="150000"/>
              </a:lnSpc>
              <a:buFont typeface="Arial" panose="020B0604020202020204" pitchFamily="34" charset="0"/>
              <a:buNone/>
            </a:pPr>
            <a:r>
              <a:rPr lang="en-US" sz="1800" smtClean="0">
                <a:latin typeface="Lucida Bright" panose="02040602050505020304" pitchFamily="18" charset="0"/>
              </a:rPr>
              <a:t>	Put and get files</a:t>
            </a:r>
          </a:p>
          <a:p>
            <a:pPr>
              <a:buFont typeface="Arial" panose="020B0604020202020204" pitchFamily="34" charset="0"/>
              <a:buNone/>
            </a:pPr>
            <a:r>
              <a:rPr lang="en-US" sz="1800" smtClean="0">
                <a:latin typeface="Lucida Bright" panose="02040602050505020304" pitchFamily="18" charset="0"/>
              </a:rPr>
              <a:t>	Transfer files as ascii, ebcdic or binary</a:t>
            </a:r>
          </a:p>
          <a:p>
            <a:pPr>
              <a:buFont typeface="Arial" panose="020B0604020202020204" pitchFamily="34" charset="0"/>
              <a:buNone/>
            </a:pPr>
            <a:r>
              <a:rPr lang="en-US" sz="1800" b="1" smtClean="0">
                <a:latin typeface="Lucida Bright" panose="02040602050505020304" pitchFamily="18" charset="0"/>
              </a:rPr>
              <a:t>Syntax:</a:t>
            </a:r>
          </a:p>
          <a:p>
            <a:pPr>
              <a:buFont typeface="Arial" panose="020B0604020202020204" pitchFamily="34" charset="0"/>
              <a:buNone/>
            </a:pPr>
            <a:r>
              <a:rPr lang="en-US" sz="1800" smtClean="0">
                <a:latin typeface="Lucida Bright" panose="02040602050505020304" pitchFamily="18" charset="0"/>
              </a:rPr>
              <a:t>Following is the simple syntax to use </a:t>
            </a:r>
            <a:r>
              <a:rPr lang="en-US" sz="1800" b="1" smtClean="0">
                <a:latin typeface="Lucida Bright" panose="02040602050505020304" pitchFamily="18" charset="0"/>
              </a:rPr>
              <a:t>ping</a:t>
            </a:r>
            <a:r>
              <a:rPr lang="en-US" sz="1800" smtClean="0">
                <a:latin typeface="Lucida Bright" panose="02040602050505020304" pitchFamily="18" charset="0"/>
              </a:rPr>
              <a:t> command:</a:t>
            </a:r>
          </a:p>
          <a:p>
            <a:pPr>
              <a:buFont typeface="Arial" panose="020B0604020202020204" pitchFamily="34" charset="0"/>
              <a:buNone/>
            </a:pPr>
            <a:r>
              <a:rPr lang="en-US" sz="1800" smtClean="0">
                <a:latin typeface="Lucida Bright" panose="02040602050505020304" pitchFamily="18" charset="0"/>
              </a:rPr>
              <a:t>$ftp hostname or ip-address</a:t>
            </a:r>
          </a:p>
        </p:txBody>
      </p:sp>
      <p:sp>
        <p:nvSpPr>
          <p:cNvPr id="58372"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58373"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600" dirty="0">
                <a:latin typeface="Lucida Bright" panose="02040602050505020304" pitchFamily="18" charset="0"/>
              </a:rPr>
              <a:t>Networking </a:t>
            </a:r>
            <a:r>
              <a:rPr lang="en-US" sz="3600" dirty="0" smtClean="0">
                <a:latin typeface="Lucida Bright" panose="02040602050505020304" pitchFamily="18" charset="0"/>
              </a:rPr>
              <a:t>commands</a:t>
            </a:r>
            <a:endParaRPr 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Box 12"/>
          <p:cNvSpPr txBox="1">
            <a:spLocks noChangeArrowheads="1"/>
          </p:cNvSpPr>
          <p:nvPr/>
        </p:nvSpPr>
        <p:spPr bwMode="auto">
          <a:xfrm>
            <a:off x="228600" y="990600"/>
            <a:ext cx="8382000" cy="3200400"/>
          </a:xfrm>
          <a:prstGeom prst="rect">
            <a:avLst/>
          </a:prstGeom>
          <a:noFill/>
          <a:ln w="9525">
            <a:noFill/>
            <a:miter lim="800000"/>
          </a:ln>
        </p:spPr>
        <p:txBody>
          <a:bodyPr>
            <a:spAutoFit/>
          </a:bodyPr>
          <a:lstStyle/>
          <a:p>
            <a:pPr marL="347980" indent="-347980">
              <a:spcAft>
                <a:spcPts val="600"/>
              </a:spcAft>
            </a:pPr>
            <a:r>
              <a:rPr lang="en-US">
                <a:latin typeface="Lucida Bright" panose="02040602050505020304" pitchFamily="18" charset="0"/>
              </a:rPr>
              <a:t>[amar@localhost ~]$ ftp amar</a:t>
            </a:r>
          </a:p>
          <a:p>
            <a:pPr marL="347980" indent="-347980">
              <a:spcAft>
                <a:spcPts val="600"/>
              </a:spcAft>
            </a:pPr>
            <a:r>
              <a:rPr lang="en-US">
                <a:latin typeface="Lucida Bright" panose="02040602050505020304" pitchFamily="18" charset="0"/>
              </a:rPr>
              <a:t>ftp: amar: unknown host</a:t>
            </a:r>
          </a:p>
          <a:p>
            <a:pPr marL="347980" indent="-347980">
              <a:spcAft>
                <a:spcPts val="600"/>
              </a:spcAft>
            </a:pPr>
            <a:r>
              <a:rPr lang="en-US">
                <a:latin typeface="Lucida Bright" panose="02040602050505020304" pitchFamily="18" charset="0"/>
              </a:rPr>
              <a:t>ftp&gt; quit</a:t>
            </a:r>
          </a:p>
          <a:p>
            <a:pPr marL="347980" indent="-347980">
              <a:spcAft>
                <a:spcPts val="600"/>
              </a:spcAft>
            </a:pPr>
            <a:r>
              <a:rPr lang="en-US">
                <a:latin typeface="Lucida Bright" panose="02040602050505020304" pitchFamily="18" charset="0"/>
              </a:rPr>
              <a:t>[amar@localhost ~]$ ftp 172.16.1.254</a:t>
            </a:r>
          </a:p>
          <a:p>
            <a:pPr marL="347980" indent="-347980">
              <a:spcAft>
                <a:spcPts val="600"/>
              </a:spcAft>
            </a:pPr>
            <a:r>
              <a:rPr lang="en-US">
                <a:latin typeface="Lucida Bright" panose="02040602050505020304" pitchFamily="18" charset="0"/>
              </a:rPr>
              <a:t>ftp: connect: Connection refused</a:t>
            </a:r>
          </a:p>
          <a:p>
            <a:pPr marL="347980" indent="-347980">
              <a:spcAft>
                <a:spcPts val="600"/>
              </a:spcAft>
            </a:pPr>
            <a:r>
              <a:rPr lang="en-US">
                <a:latin typeface="Lucida Bright" panose="02040602050505020304" pitchFamily="18" charset="0"/>
              </a:rPr>
              <a:t>ftp&gt;</a:t>
            </a:r>
          </a:p>
          <a:p>
            <a:pPr marL="347980" indent="-347980">
              <a:spcAft>
                <a:spcPts val="600"/>
              </a:spcAft>
            </a:pPr>
            <a:r>
              <a:rPr lang="en-US">
                <a:latin typeface="Lucida Bright" panose="02040602050505020304" pitchFamily="18" charset="0"/>
              </a:rPr>
              <a:t>ftp&gt; quit</a:t>
            </a:r>
          </a:p>
          <a:p>
            <a:pPr marL="347980" indent="-347980">
              <a:spcAft>
                <a:spcPts val="600"/>
              </a:spcAft>
            </a:pPr>
            <a:endParaRPr lang="en-US">
              <a:latin typeface="Lucida Bright" panose="02040602050505020304" pitchFamily="18" charset="0"/>
            </a:endParaRPr>
          </a:p>
          <a:p>
            <a:pPr marL="347980" indent="-347980">
              <a:spcAft>
                <a:spcPts val="600"/>
              </a:spcAft>
            </a:pPr>
            <a:endParaRPr lang="en-US">
              <a:latin typeface="Lucida Bright" panose="02040602050505020304" pitchFamily="18" charset="0"/>
            </a:endParaRPr>
          </a:p>
        </p:txBody>
      </p:sp>
      <p:sp>
        <p:nvSpPr>
          <p:cNvPr id="59395"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latin typeface="Lucida Bright" panose="02040602050505020304" pitchFamily="18" charset="0"/>
              </a:rPr>
              <a:t>Networking </a:t>
            </a:r>
            <a:r>
              <a:rPr lang="en-US" sz="4000" dirty="0" smtClean="0">
                <a:latin typeface="Lucida Bright" panose="02040602050505020304" pitchFamily="18" charset="0"/>
              </a:rPr>
              <a:t>commands</a:t>
            </a:r>
            <a:endParaRPr lang="en-US" sz="2400" dirty="0"/>
          </a:p>
        </p:txBody>
      </p:sp>
      <p:graphicFrame>
        <p:nvGraphicFramePr>
          <p:cNvPr id="5" name="Table 4"/>
          <p:cNvGraphicFramePr>
            <a:graphicFrameLocks noGrp="1"/>
          </p:cNvGraphicFramePr>
          <p:nvPr/>
        </p:nvGraphicFramePr>
        <p:xfrm>
          <a:off x="457200" y="3505200"/>
          <a:ext cx="7162800" cy="3242310"/>
        </p:xfrm>
        <a:graphic>
          <a:graphicData uri="http://schemas.openxmlformats.org/drawingml/2006/table">
            <a:tbl>
              <a:tblPr/>
              <a:tblGrid>
                <a:gridCol w="1790700">
                  <a:extLst>
                    <a:ext uri="{9D8B030D-6E8A-4147-A177-3AD203B41FA5}">
                      <a16:colId xmlns:a16="http://schemas.microsoft.com/office/drawing/2014/main" val="20000"/>
                    </a:ext>
                  </a:extLst>
                </a:gridCol>
                <a:gridCol w="5372100">
                  <a:extLst>
                    <a:ext uri="{9D8B030D-6E8A-4147-A177-3AD203B41FA5}">
                      <a16:colId xmlns:a16="http://schemas.microsoft.com/office/drawing/2014/main" val="20001"/>
                    </a:ext>
                  </a:extLst>
                </a:gridCol>
              </a:tblGrid>
              <a:tr h="132528">
                <a:tc>
                  <a:txBody>
                    <a:bodyPr/>
                    <a:lstStyle/>
                    <a:p>
                      <a:pPr marL="0" marR="0" algn="ctr">
                        <a:spcBef>
                          <a:spcPts val="0"/>
                        </a:spcBef>
                        <a:spcAft>
                          <a:spcPts val="0"/>
                        </a:spcAft>
                      </a:pPr>
                      <a:r>
                        <a:rPr lang="en-US" sz="1200" b="1" dirty="0">
                          <a:latin typeface="Times New Roman" panose="02020603050405020304"/>
                          <a:ea typeface="Times New Roman" panose="02020603050405020304"/>
                          <a:cs typeface="Times New Roman" panose="02020603050405020304"/>
                        </a:rPr>
                        <a:t>Command</a:t>
                      </a:r>
                      <a:endParaRPr lang="en-US" sz="1000" dirty="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lgn="ctr">
                        <a:spcBef>
                          <a:spcPts val="0"/>
                        </a:spcBef>
                        <a:spcAft>
                          <a:spcPts val="0"/>
                        </a:spcAft>
                      </a:pPr>
                      <a:r>
                        <a:rPr lang="en-US" sz="1200" b="1">
                          <a:latin typeface="Times New Roman" panose="02020603050405020304"/>
                          <a:ea typeface="Times New Roman" panose="02020603050405020304"/>
                          <a:cs typeface="Times New Roman" panose="02020603050405020304"/>
                        </a:rPr>
                        <a:t>Description</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0"/>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put filename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Upload filename from local machine to remote machine.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1"/>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get filename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dirty="0">
                          <a:latin typeface="Times New Roman" panose="02020603050405020304"/>
                          <a:ea typeface="Times New Roman" panose="02020603050405020304"/>
                          <a:cs typeface="Times New Roman" panose="02020603050405020304"/>
                        </a:rPr>
                        <a:t>Download filename from remote machine to local machine.</a:t>
                      </a:r>
                      <a:endParaRPr lang="en-US" sz="1000" dirty="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2"/>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mput file list</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Upload more than one files from local machine to remove machine.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3"/>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mget file list</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Download more than one files from remote machine to local machine.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4"/>
                  </a:ext>
                </a:extLst>
              </a:tr>
              <a:tr h="219670">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prompt off</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Turns prompt off, by default you would be prompted to upload or download movies using mput or mget commands.</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5"/>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prompt on</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Turns prompt on.</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6"/>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dir</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List all the files available in the current directory of remote machine.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7"/>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cd dirname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Change directory to dirname on remote machine.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8"/>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lcd dirname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Change directory to dirname on local machine.</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9"/>
                  </a:ext>
                </a:extLst>
              </a:tr>
              <a:tr h="132528">
                <a:tc>
                  <a:txBody>
                    <a:bodyPr/>
                    <a:lstStyle/>
                    <a:p>
                      <a:pPr marL="0" marR="0">
                        <a:spcBef>
                          <a:spcPts val="0"/>
                        </a:spcBef>
                        <a:spcAft>
                          <a:spcPts val="0"/>
                        </a:spcAft>
                      </a:pPr>
                      <a:r>
                        <a:rPr lang="en-US" sz="1200">
                          <a:latin typeface="Times New Roman" panose="02020603050405020304"/>
                          <a:ea typeface="Times New Roman" panose="02020603050405020304"/>
                          <a:cs typeface="Times New Roman" panose="02020603050405020304"/>
                        </a:rPr>
                        <a:t>quit</a:t>
                      </a:r>
                      <a:endParaRPr lang="en-US" sz="100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tc>
                  <a:txBody>
                    <a:bodyPr/>
                    <a:lstStyle/>
                    <a:p>
                      <a:pPr marL="0" marR="0">
                        <a:spcBef>
                          <a:spcPts val="0"/>
                        </a:spcBef>
                        <a:spcAft>
                          <a:spcPts val="0"/>
                        </a:spcAft>
                      </a:pPr>
                      <a:r>
                        <a:rPr lang="en-US" sz="1200" dirty="0">
                          <a:latin typeface="Times New Roman" panose="02020603050405020304"/>
                          <a:ea typeface="Times New Roman" panose="02020603050405020304"/>
                          <a:cs typeface="Times New Roman" panose="02020603050405020304"/>
                        </a:rPr>
                        <a:t>Logout from the current login.</a:t>
                      </a:r>
                      <a:endParaRPr lang="en-US" sz="1000" dirty="0">
                        <a:latin typeface="Calibri" panose="020F0502020204030204"/>
                        <a:ea typeface="Times New Roman" panose="02020603050405020304"/>
                        <a:cs typeface="Times New Roman" panose="02020603050405020304"/>
                      </a:endParaRPr>
                    </a:p>
                  </a:txBody>
                  <a:tcPr marL="47625" marR="47625" marT="47625" marB="47625" anchor="ctr">
                    <a:lnL>
                      <a:noFill/>
                    </a:lnL>
                    <a:lnR>
                      <a:noFill/>
                    </a:lnR>
                    <a:lnT>
                      <a:noFill/>
                    </a:lnT>
                    <a:lnB>
                      <a:noFill/>
                    </a:lnB>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Box 1"/>
          <p:cNvSpPr txBox="1">
            <a:spLocks noChangeArrowheads="1"/>
          </p:cNvSpPr>
          <p:nvPr/>
        </p:nvSpPr>
        <p:spPr bwMode="auto">
          <a:xfrm>
            <a:off x="0" y="685800"/>
            <a:ext cx="9144000" cy="7571303"/>
          </a:xfrm>
          <a:prstGeom prst="rect">
            <a:avLst/>
          </a:prstGeom>
          <a:noFill/>
          <a:ln w="9525">
            <a:noFill/>
            <a:miter lim="800000"/>
          </a:ln>
        </p:spPr>
        <p:txBody>
          <a:bodyPr>
            <a:spAutoFit/>
          </a:bodyPr>
          <a:lstStyle/>
          <a:p>
            <a:pPr>
              <a:lnSpc>
                <a:spcPct val="150000"/>
              </a:lnSpc>
            </a:pPr>
            <a:r>
              <a:rPr lang="en-US" dirty="0">
                <a:latin typeface="Lucida Bright" panose="02040602050505020304" pitchFamily="18" charset="0"/>
              </a:rPr>
              <a:t>rlogin </a:t>
            </a:r>
            <a:r>
              <a:rPr lang="en-US" dirty="0" smtClean="0">
                <a:latin typeface="Lucida Bright" panose="02040602050505020304" pitchFamily="18" charset="0"/>
              </a:rPr>
              <a:t>COMMAND:</a:t>
            </a:r>
            <a:endParaRPr lang="en-US" dirty="0">
              <a:latin typeface="Lucida Bright" panose="02040602050505020304" pitchFamily="18" charset="0"/>
            </a:endParaRPr>
          </a:p>
          <a:p>
            <a:pPr>
              <a:lnSpc>
                <a:spcPct val="150000"/>
              </a:lnSpc>
            </a:pPr>
            <a:r>
              <a:rPr lang="en-US" dirty="0" smtClean="0">
                <a:latin typeface="Lucida Bright" panose="02040602050505020304" pitchFamily="18" charset="0"/>
              </a:rPr>
              <a:t>rlogin command helps the user to log on to his identical remote account, with out using either the username or password.</a:t>
            </a:r>
            <a:endParaRPr lang="en-US" dirty="0">
              <a:latin typeface="Lucida Bright" panose="02040602050505020304" pitchFamily="18" charset="0"/>
            </a:endParaRPr>
          </a:p>
          <a:p>
            <a:pPr>
              <a:lnSpc>
                <a:spcPct val="150000"/>
              </a:lnSpc>
            </a:pPr>
            <a:r>
              <a:rPr lang="en-US" dirty="0">
                <a:latin typeface="Lucida Bright" panose="02040602050505020304" pitchFamily="18" charset="0"/>
              </a:rPr>
              <a:t>The “</a:t>
            </a:r>
            <a:r>
              <a:rPr lang="en-US" i="1" dirty="0">
                <a:latin typeface="Lucida Bright" panose="02040602050505020304" pitchFamily="18" charset="0"/>
              </a:rPr>
              <a:t>rlogin</a:t>
            </a:r>
            <a:r>
              <a:rPr lang="en-US" dirty="0">
                <a:latin typeface="Lucida Bright" panose="02040602050505020304" pitchFamily="18" charset="0"/>
              </a:rPr>
              <a:t>” command is similar to telnet. The rlogin starts a terminal session on a remote host.</a:t>
            </a:r>
          </a:p>
          <a:p>
            <a:pPr>
              <a:lnSpc>
                <a:spcPct val="150000"/>
              </a:lnSpc>
            </a:pPr>
            <a:r>
              <a:rPr lang="en-US" dirty="0" smtClean="0">
                <a:latin typeface="Lucida Bright" panose="02040602050505020304" pitchFamily="18" charset="0"/>
              </a:rPr>
              <a:t>Syntax : </a:t>
            </a:r>
            <a:r>
              <a:rPr lang="en-US" i="1" dirty="0" smtClean="0">
                <a:latin typeface="Lucida Bright" panose="02040602050505020304" pitchFamily="18" charset="0"/>
              </a:rPr>
              <a:t>$</a:t>
            </a:r>
            <a:r>
              <a:rPr lang="en-US" i="1" dirty="0">
                <a:latin typeface="Lucida Bright" panose="02040602050505020304" pitchFamily="18" charset="0"/>
              </a:rPr>
              <a:t>rlogin hostname</a:t>
            </a:r>
          </a:p>
          <a:p>
            <a:pPr>
              <a:lnSpc>
                <a:spcPct val="150000"/>
              </a:lnSpc>
            </a:pPr>
            <a:r>
              <a:rPr lang="en-US" dirty="0">
                <a:latin typeface="Lucida Bright" panose="02040602050505020304" pitchFamily="18" charset="0"/>
              </a:rPr>
              <a:t>Example : 1)   [</a:t>
            </a:r>
            <a:r>
              <a:rPr lang="en-US" dirty="0" err="1">
                <a:latin typeface="Lucida Bright" panose="02040602050505020304" pitchFamily="18" charset="0"/>
              </a:rPr>
              <a:t>amar@localhost</a:t>
            </a:r>
            <a:r>
              <a:rPr lang="en-US" dirty="0">
                <a:latin typeface="Lucida Bright" panose="02040602050505020304" pitchFamily="18" charset="0"/>
              </a:rPr>
              <a:t> ~]$ rlogin 172.16.1.254</a:t>
            </a:r>
          </a:p>
          <a:p>
            <a:pPr>
              <a:lnSpc>
                <a:spcPct val="150000"/>
              </a:lnSpc>
            </a:pPr>
            <a:r>
              <a:rPr lang="en-US" dirty="0">
                <a:latin typeface="Lucida Bright" panose="02040602050505020304" pitchFamily="18" charset="0"/>
              </a:rPr>
              <a:t>connect to address 172.16.1.254 port 543: Connection refused</a:t>
            </a:r>
          </a:p>
          <a:p>
            <a:pPr>
              <a:lnSpc>
                <a:spcPct val="150000"/>
              </a:lnSpc>
            </a:pPr>
            <a:r>
              <a:rPr lang="en-US" dirty="0">
                <a:latin typeface="Lucida Bright" panose="02040602050505020304" pitchFamily="18" charset="0"/>
              </a:rPr>
              <a:t>Trying krb4 rlogin...</a:t>
            </a:r>
          </a:p>
          <a:p>
            <a:pPr>
              <a:lnSpc>
                <a:spcPct val="150000"/>
              </a:lnSpc>
            </a:pPr>
            <a:r>
              <a:rPr lang="en-US" dirty="0">
                <a:latin typeface="Lucida Bright" panose="02040602050505020304" pitchFamily="18" charset="0"/>
              </a:rPr>
              <a:t>connect to address 172.16.1.254 port 543: Connection refused</a:t>
            </a:r>
          </a:p>
          <a:p>
            <a:pPr>
              <a:lnSpc>
                <a:spcPct val="150000"/>
              </a:lnSpc>
            </a:pPr>
            <a:r>
              <a:rPr lang="en-US" dirty="0">
                <a:latin typeface="Lucida Bright" panose="02040602050505020304" pitchFamily="18" charset="0"/>
              </a:rPr>
              <a:t>trying normal rlogin (/</a:t>
            </a:r>
            <a:r>
              <a:rPr lang="en-US" dirty="0" err="1">
                <a:latin typeface="Lucida Bright" panose="02040602050505020304" pitchFamily="18" charset="0"/>
              </a:rPr>
              <a:t>usr</a:t>
            </a:r>
            <a:r>
              <a:rPr lang="en-US" dirty="0">
                <a:latin typeface="Lucida Bright" panose="02040602050505020304" pitchFamily="18" charset="0"/>
              </a:rPr>
              <a:t>/bin/rlogin)</a:t>
            </a:r>
          </a:p>
          <a:p>
            <a:r>
              <a:rPr lang="en-US" dirty="0">
                <a:latin typeface="Lucida Bright" panose="02040602050505020304" pitchFamily="18" charset="0"/>
              </a:rPr>
              <a:t>2)  [</a:t>
            </a:r>
            <a:r>
              <a:rPr lang="en-US" dirty="0" err="1">
                <a:latin typeface="Lucida Bright" panose="02040602050505020304" pitchFamily="18" charset="0"/>
              </a:rPr>
              <a:t>amar@localhost</a:t>
            </a:r>
            <a:r>
              <a:rPr lang="en-US" dirty="0">
                <a:latin typeface="Lucida Bright" panose="02040602050505020304" pitchFamily="18" charset="0"/>
              </a:rPr>
              <a:t> ~]$ rlogin </a:t>
            </a:r>
            <a:r>
              <a:rPr lang="en-US" dirty="0" err="1">
                <a:latin typeface="Lucida Bright" panose="02040602050505020304" pitchFamily="18" charset="0"/>
              </a:rPr>
              <a:t>amar</a:t>
            </a:r>
            <a:endParaRPr lang="en-US" dirty="0">
              <a:latin typeface="Lucida Bright" panose="02040602050505020304" pitchFamily="18" charset="0"/>
            </a:endParaRPr>
          </a:p>
          <a:p>
            <a:r>
              <a:rPr lang="en-US" dirty="0" err="1">
                <a:latin typeface="Lucida Bright" panose="02040602050505020304" pitchFamily="18" charset="0"/>
              </a:rPr>
              <a:t>amar</a:t>
            </a:r>
            <a:r>
              <a:rPr lang="en-US" dirty="0">
                <a:latin typeface="Lucida Bright" panose="02040602050505020304" pitchFamily="18" charset="0"/>
              </a:rPr>
              <a:t>: host unknown</a:t>
            </a:r>
          </a:p>
          <a:p>
            <a:r>
              <a:rPr lang="en-US" dirty="0">
                <a:latin typeface="Lucida Bright" panose="02040602050505020304" pitchFamily="18" charset="0"/>
              </a:rPr>
              <a:t>Trying krb4 rlogin...</a:t>
            </a:r>
          </a:p>
          <a:p>
            <a:r>
              <a:rPr lang="en-US" dirty="0" err="1">
                <a:latin typeface="Lucida Bright" panose="02040602050505020304" pitchFamily="18" charset="0"/>
              </a:rPr>
              <a:t>amar</a:t>
            </a:r>
            <a:r>
              <a:rPr lang="en-US" dirty="0">
                <a:latin typeface="Lucida Bright" panose="02040602050505020304" pitchFamily="18" charset="0"/>
              </a:rPr>
              <a:t>: host unknown</a:t>
            </a:r>
          </a:p>
          <a:p>
            <a:r>
              <a:rPr lang="en-US" dirty="0">
                <a:latin typeface="Lucida Bright" panose="02040602050505020304" pitchFamily="18" charset="0"/>
              </a:rPr>
              <a:t>trying normal rlogin (/</a:t>
            </a:r>
            <a:r>
              <a:rPr lang="en-US" dirty="0" err="1">
                <a:latin typeface="Lucida Bright" panose="02040602050505020304" pitchFamily="18" charset="0"/>
              </a:rPr>
              <a:t>usr</a:t>
            </a:r>
            <a:r>
              <a:rPr lang="en-US" dirty="0">
                <a:latin typeface="Lucida Bright" panose="02040602050505020304" pitchFamily="18" charset="0"/>
              </a:rPr>
              <a:t>/bin/rlogin)</a:t>
            </a:r>
          </a:p>
          <a:p>
            <a:r>
              <a:rPr lang="en-US" dirty="0" err="1">
                <a:latin typeface="Lucida Bright" panose="02040602050505020304" pitchFamily="18" charset="0"/>
              </a:rPr>
              <a:t>amar</a:t>
            </a:r>
            <a:r>
              <a:rPr lang="en-US" dirty="0">
                <a:latin typeface="Lucida Bright" panose="02040602050505020304" pitchFamily="18" charset="0"/>
              </a:rPr>
              <a:t>: Unknown host</a:t>
            </a: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a:p>
            <a:pPr>
              <a:lnSpc>
                <a:spcPct val="150000"/>
              </a:lnSpc>
              <a:spcAft>
                <a:spcPts val="600"/>
              </a:spcAft>
            </a:pPr>
            <a:endParaRPr lang="en-US" dirty="0">
              <a:latin typeface="Lucida Bright" panose="02040602050505020304" pitchFamily="18" charset="0"/>
            </a:endParaRPr>
          </a:p>
        </p:txBody>
      </p:sp>
      <p:sp>
        <p:nvSpPr>
          <p:cNvPr id="60419" name="TextBox 7"/>
          <p:cNvSpPr txBox="1">
            <a:spLocks noChangeArrowheads="1"/>
          </p:cNvSpPr>
          <p:nvPr/>
        </p:nvSpPr>
        <p:spPr bwMode="auto">
          <a:xfrm>
            <a:off x="762000" y="5715000"/>
            <a:ext cx="8077200" cy="461963"/>
          </a:xfrm>
          <a:prstGeom prst="rect">
            <a:avLst/>
          </a:prstGeom>
          <a:noFill/>
          <a:ln w="9525">
            <a:noFill/>
            <a:miter lim="800000"/>
          </a:ln>
        </p:spPr>
        <p:txBody>
          <a:bodyPr>
            <a:spAutoFit/>
          </a:bodyPr>
          <a:lstStyle/>
          <a:p>
            <a:r>
              <a:rPr lang="en-US" sz="2400" b="1">
                <a:solidFill>
                  <a:srgbClr val="0070C0"/>
                </a:solidFill>
                <a:latin typeface="Times New Roman" panose="02020603050405020304" pitchFamily="18" charset="0"/>
                <a:cs typeface="Times New Roman" panose="02020603050405020304" pitchFamily="18" charset="0"/>
              </a:rPr>
              <a:t>                                   </a:t>
            </a:r>
            <a:endParaRPr lang="en-US" b="1">
              <a:latin typeface="Lucida Sans Unicode" panose="020B0602030504020204" pitchFamily="34" charset="0"/>
            </a:endParaRPr>
          </a:p>
        </p:txBody>
      </p:sp>
      <p:sp>
        <p:nvSpPr>
          <p:cNvPr id="60420"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latin typeface="Lucida Bright" panose="02040602050505020304" pitchFamily="18" charset="0"/>
              </a:rPr>
              <a:t>Networking </a:t>
            </a:r>
            <a:r>
              <a:rPr lang="en-US" sz="4000" dirty="0" smtClean="0">
                <a:latin typeface="Lucida Bright" panose="02040602050505020304" pitchFamily="18" charset="0"/>
              </a:rPr>
              <a:t>commands</a:t>
            </a:r>
            <a:endParaRPr lang="en-US"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Box 1"/>
          <p:cNvSpPr txBox="1">
            <a:spLocks noChangeArrowheads="1"/>
          </p:cNvSpPr>
          <p:nvPr/>
        </p:nvSpPr>
        <p:spPr bwMode="auto">
          <a:xfrm>
            <a:off x="0" y="685800"/>
            <a:ext cx="9144000" cy="4611688"/>
          </a:xfrm>
          <a:prstGeom prst="rect">
            <a:avLst/>
          </a:prstGeom>
          <a:noFill/>
          <a:ln w="9525">
            <a:noFill/>
            <a:miter lim="800000"/>
          </a:ln>
        </p:spPr>
        <p:txBody>
          <a:bodyPr>
            <a:spAutoFit/>
          </a:bodyPr>
          <a:lstStyle/>
          <a:p>
            <a:pPr>
              <a:lnSpc>
                <a:spcPct val="150000"/>
              </a:lnSpc>
            </a:pPr>
            <a:r>
              <a:rPr lang="en-US" dirty="0">
                <a:latin typeface="Lucida Bright" panose="02040602050505020304" pitchFamily="18" charset="0"/>
              </a:rPr>
              <a:t>a filter is a program that accepts input, transforms it and outputs the transformed data. The idea of the filter is closely associated with several ideas that are part of the UNIX operating system: standard input and output, input/output redirection and pipes. </a:t>
            </a:r>
          </a:p>
          <a:p>
            <a:pPr>
              <a:lnSpc>
                <a:spcPct val="150000"/>
              </a:lnSpc>
            </a:pPr>
            <a:r>
              <a:rPr lang="en-US" dirty="0">
                <a:latin typeface="Lucida Bright" panose="02040602050505020304" pitchFamily="18" charset="0"/>
              </a:rPr>
              <a:t>Standard input and output refer to default locations from which a program will take input and to which it will write output. The standard input (STDIN) for a program running interactively at the command line is the keyboard; the standard output (STDOUT) is the terminal screen.</a:t>
            </a:r>
          </a:p>
          <a:p>
            <a:pPr>
              <a:lnSpc>
                <a:spcPct val="150000"/>
              </a:lnSpc>
            </a:pPr>
            <a:r>
              <a:rPr lang="en-US" dirty="0">
                <a:latin typeface="Lucida Bright" panose="02040602050505020304" pitchFamily="18" charset="0"/>
              </a:rPr>
              <a:t>With input/output redirection, a program can take input or send output using a location other than standard input or output—a file, for example. Redirection of STDIN is accomplished using the &lt; symbol, redirection of STDOUT by &gt;. </a:t>
            </a:r>
            <a:endParaRPr lang="en-US" dirty="0"/>
          </a:p>
        </p:txBody>
      </p:sp>
      <p:sp>
        <p:nvSpPr>
          <p:cNvPr id="61443"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latin typeface="Arial" panose="020B0604020202020204" pitchFamily="34" charset="0"/>
                <a:cs typeface="Arial" panose="020B0604020202020204" pitchFamily="34" charset="0"/>
              </a:rPr>
              <a:t>Filters</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Box 6"/>
          <p:cNvSpPr txBox="1">
            <a:spLocks noChangeArrowheads="1"/>
          </p:cNvSpPr>
          <p:nvPr/>
        </p:nvSpPr>
        <p:spPr bwMode="auto">
          <a:xfrm>
            <a:off x="0" y="762000"/>
            <a:ext cx="9144000" cy="7016750"/>
          </a:xfrm>
          <a:prstGeom prst="rect">
            <a:avLst/>
          </a:prstGeom>
          <a:noFill/>
          <a:ln w="9525">
            <a:noFill/>
            <a:miter lim="800000"/>
          </a:ln>
        </p:spPr>
        <p:txBody>
          <a:bodyPr>
            <a:spAutoFit/>
          </a:bodyPr>
          <a:lstStyle/>
          <a:p>
            <a:r>
              <a:rPr lang="en-US" dirty="0">
                <a:latin typeface="Lucida Bright" panose="02040602050505020304" pitchFamily="18" charset="0"/>
              </a:rPr>
              <a:t>cat COMMAND:</a:t>
            </a:r>
          </a:p>
          <a:p>
            <a:r>
              <a:rPr lang="en-US" dirty="0">
                <a:latin typeface="Lucida Bright" panose="02040602050505020304" pitchFamily="18" charset="0"/>
              </a:rPr>
              <a:t>cat </a:t>
            </a:r>
            <a:r>
              <a:rPr lang="en-US" dirty="0" err="1">
                <a:latin typeface="Lucida Bright" panose="02040602050505020304" pitchFamily="18" charset="0"/>
              </a:rPr>
              <a:t>linux</a:t>
            </a:r>
            <a:r>
              <a:rPr lang="en-US" dirty="0">
                <a:latin typeface="Lucida Bright" panose="02040602050505020304" pitchFamily="18" charset="0"/>
              </a:rPr>
              <a:t> command concatenates files and print it on the standard output.</a:t>
            </a:r>
          </a:p>
          <a:p>
            <a:r>
              <a:rPr lang="en-US" dirty="0">
                <a:latin typeface="Lucida Bright" panose="02040602050505020304" pitchFamily="18" charset="0"/>
              </a:rPr>
              <a:t> </a:t>
            </a:r>
            <a:r>
              <a:rPr lang="en-US" b="1" dirty="0">
                <a:latin typeface="Lucida Bright" panose="02040602050505020304" pitchFamily="18" charset="0"/>
              </a:rPr>
              <a:t>SYNTAX: $ cat [OPTIONS] [FILE]...</a:t>
            </a:r>
          </a:p>
          <a:p>
            <a:r>
              <a:rPr lang="en-US" b="1" dirty="0">
                <a:latin typeface="Lucida Bright" panose="02040602050505020304" pitchFamily="18" charset="0"/>
              </a:rPr>
              <a:t>OPTIONS:</a:t>
            </a:r>
          </a:p>
          <a:p>
            <a:endParaRPr lang="en-US" dirty="0">
              <a:latin typeface="Lucida Bright" panose="02040602050505020304" pitchFamily="18" charset="0"/>
            </a:endParaRPr>
          </a:p>
          <a:p>
            <a:r>
              <a:rPr lang="en-US" dirty="0">
                <a:latin typeface="Lucida Bright" panose="02040602050505020304" pitchFamily="18" charset="0"/>
              </a:rPr>
              <a:t>-A 	Show all. 	</a:t>
            </a:r>
          </a:p>
          <a:p>
            <a:r>
              <a:rPr lang="en-US" dirty="0">
                <a:latin typeface="Lucida Bright" panose="02040602050505020304" pitchFamily="18" charset="0"/>
              </a:rPr>
              <a:t>-b 	Omits line numbers for blank space in the output. 	</a:t>
            </a:r>
          </a:p>
          <a:p>
            <a:r>
              <a:rPr lang="en-US" dirty="0">
                <a:latin typeface="Lucida Bright" panose="02040602050505020304" pitchFamily="18" charset="0"/>
              </a:rPr>
              <a:t>-e 	A $ character will be printed at the end of each line prior to a new line. 	</a:t>
            </a:r>
          </a:p>
          <a:p>
            <a:r>
              <a:rPr lang="en-US" dirty="0">
                <a:latin typeface="Lucida Bright" panose="02040602050505020304" pitchFamily="18" charset="0"/>
              </a:rPr>
              <a:t>-E 	Displays a $ (dollar sign) at the end of each line. 	</a:t>
            </a:r>
          </a:p>
          <a:p>
            <a:r>
              <a:rPr lang="en-US" dirty="0">
                <a:latin typeface="Lucida Bright" panose="02040602050505020304" pitchFamily="18" charset="0"/>
              </a:rPr>
              <a:t>-n 	Line numbers for all the output lines. 	</a:t>
            </a:r>
          </a:p>
          <a:p>
            <a:r>
              <a:rPr lang="en-US" dirty="0">
                <a:latin typeface="Lucida Bright" panose="02040602050505020304" pitchFamily="18" charset="0"/>
              </a:rPr>
              <a:t>-s 	If the output has multiple empty lines it replaces it with one empty line. 	</a:t>
            </a:r>
          </a:p>
          <a:p>
            <a:r>
              <a:rPr lang="en-US" dirty="0">
                <a:latin typeface="Lucida Bright" panose="02040602050505020304" pitchFamily="18" charset="0"/>
              </a:rPr>
              <a:t>-T 	Displays the tab characters in the output. 	</a:t>
            </a:r>
          </a:p>
          <a:p>
            <a:r>
              <a:rPr lang="en-US" dirty="0">
                <a:latin typeface="Lucida Bright" panose="02040602050505020304" pitchFamily="18" charset="0"/>
              </a:rPr>
              <a:t>-v 	Non-printing characters (with the exception of tabs, new-lines and form-feeds) 	are printed visibly.</a:t>
            </a:r>
          </a:p>
          <a:p>
            <a:r>
              <a:rPr lang="en-US" dirty="0">
                <a:latin typeface="Lucida Bright" panose="02040602050505020304" pitchFamily="18" charset="0"/>
              </a:rPr>
              <a:t>Examples:</a:t>
            </a:r>
          </a:p>
          <a:p>
            <a:endParaRPr lang="en-US" dirty="0">
              <a:latin typeface="Lucida Bright" panose="02040602050505020304" pitchFamily="18" charset="0"/>
            </a:endParaRPr>
          </a:p>
          <a:p>
            <a:r>
              <a:rPr lang="en-US" dirty="0">
                <a:latin typeface="Lucida Bright" panose="02040602050505020304" pitchFamily="18" charset="0"/>
              </a:rPr>
              <a:t>1. To Create a new file: </a:t>
            </a:r>
          </a:p>
          <a:p>
            <a:r>
              <a:rPr lang="en-US" dirty="0">
                <a:latin typeface="Lucida Bright" panose="02040602050505020304" pitchFamily="18" charset="0"/>
              </a:rPr>
              <a:t>cat &gt; file1.txt </a:t>
            </a:r>
          </a:p>
          <a:p>
            <a:r>
              <a:rPr lang="en-US" dirty="0">
                <a:latin typeface="Lucida Bright" panose="02040602050505020304" pitchFamily="18" charset="0"/>
              </a:rPr>
              <a:t>This command creates a new file file1.txt. After typing into the file press </a:t>
            </a:r>
            <a:r>
              <a:rPr lang="en-US" dirty="0" err="1">
                <a:latin typeface="Lucida Bright" panose="02040602050505020304" pitchFamily="18" charset="0"/>
              </a:rPr>
              <a:t>control+d</a:t>
            </a:r>
            <a:r>
              <a:rPr lang="en-US" dirty="0">
                <a:latin typeface="Lucida Bright" panose="02040602050505020304" pitchFamily="18" charset="0"/>
              </a:rPr>
              <a:t> (^d) simultaneously to end the file. 	</a:t>
            </a:r>
          </a:p>
          <a:p>
            <a:endParaRPr lang="en-US" dirty="0">
              <a:latin typeface="Lucida Bright" panose="02040602050505020304" pitchFamily="18" charset="0"/>
            </a:endParaRPr>
          </a:p>
          <a:p>
            <a:endParaRPr lang="en-US" dirty="0">
              <a:latin typeface="Lucida Bright" panose="02040602050505020304" pitchFamily="18" charset="0"/>
            </a:endParaRPr>
          </a:p>
          <a:p>
            <a:endParaRPr lang="en-US" dirty="0">
              <a:latin typeface="Lucida Bright" panose="02040602050505020304" pitchFamily="18" charset="0"/>
            </a:endParaRPr>
          </a:p>
        </p:txBody>
      </p:sp>
      <p:sp>
        <p:nvSpPr>
          <p:cNvPr id="62468"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a:t>Filters	</a:t>
            </a:r>
            <a:endParaRPr lang="en-US" sz="2400" b="1"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1"/>
          <p:cNvSpPr txBox="1">
            <a:spLocks noChangeArrowheads="1"/>
          </p:cNvSpPr>
          <p:nvPr/>
        </p:nvSpPr>
        <p:spPr bwMode="auto">
          <a:xfrm>
            <a:off x="0" y="762000"/>
            <a:ext cx="9296400" cy="6272213"/>
          </a:xfrm>
          <a:prstGeom prst="rect">
            <a:avLst/>
          </a:prstGeom>
          <a:noFill/>
          <a:ln w="9525">
            <a:noFill/>
            <a:miter lim="800000"/>
          </a:ln>
        </p:spPr>
        <p:txBody>
          <a:bodyPr>
            <a:spAutoFit/>
          </a:bodyPr>
          <a:lstStyle/>
          <a:p>
            <a:pPr>
              <a:lnSpc>
                <a:spcPct val="150000"/>
              </a:lnSpc>
            </a:pPr>
            <a:r>
              <a:rPr lang="en-US" b="1" dirty="0">
                <a:latin typeface="Lucida Bright" panose="02040602050505020304" pitchFamily="18" charset="0"/>
              </a:rPr>
              <a:t>2. To Append data into the file: </a:t>
            </a:r>
          </a:p>
          <a:p>
            <a:pPr>
              <a:lnSpc>
                <a:spcPct val="150000"/>
              </a:lnSpc>
            </a:pPr>
            <a:r>
              <a:rPr lang="en-US" dirty="0">
                <a:latin typeface="Lucida Bright" panose="02040602050505020304" pitchFamily="18" charset="0"/>
              </a:rPr>
              <a:t>cat &gt;&gt; file1.txt </a:t>
            </a:r>
          </a:p>
          <a:p>
            <a:pPr>
              <a:lnSpc>
                <a:spcPct val="150000"/>
              </a:lnSpc>
            </a:pPr>
            <a:r>
              <a:rPr lang="en-US" dirty="0">
                <a:latin typeface="Lucida Bright" panose="02040602050505020304" pitchFamily="18" charset="0"/>
              </a:rPr>
              <a:t>To append data into the same file use append operator &gt;&gt; to write into the file, else the file will be overwritten (i.e., all of its contents will be erased).</a:t>
            </a:r>
          </a:p>
          <a:p>
            <a:pPr>
              <a:lnSpc>
                <a:spcPct val="150000"/>
              </a:lnSpc>
            </a:pPr>
            <a:r>
              <a:rPr lang="en-US" b="1" dirty="0">
                <a:latin typeface="Lucida Bright" panose="02040602050505020304" pitchFamily="18" charset="0"/>
              </a:rPr>
              <a:t>3. To display a file: </a:t>
            </a:r>
          </a:p>
          <a:p>
            <a:pPr>
              <a:lnSpc>
                <a:spcPct val="150000"/>
              </a:lnSpc>
            </a:pPr>
            <a:r>
              <a:rPr lang="en-US" dirty="0">
                <a:latin typeface="Lucida Bright" panose="02040602050505020304" pitchFamily="18" charset="0"/>
              </a:rPr>
              <a:t>cat file1.txt </a:t>
            </a:r>
          </a:p>
          <a:p>
            <a:pPr>
              <a:lnSpc>
                <a:spcPct val="150000"/>
              </a:lnSpc>
            </a:pPr>
            <a:r>
              <a:rPr lang="en-US" dirty="0">
                <a:latin typeface="Lucida Bright" panose="02040602050505020304" pitchFamily="18" charset="0"/>
              </a:rPr>
              <a:t>This command displays the data in the file. </a:t>
            </a:r>
          </a:p>
          <a:p>
            <a:pPr>
              <a:lnSpc>
                <a:spcPct val="150000"/>
              </a:lnSpc>
            </a:pPr>
            <a:r>
              <a:rPr lang="en-US" b="1" dirty="0">
                <a:latin typeface="Lucida Bright" panose="02040602050505020304" pitchFamily="18" charset="0"/>
              </a:rPr>
              <a:t>4. To concatenate several files and display: </a:t>
            </a:r>
          </a:p>
          <a:p>
            <a:pPr>
              <a:lnSpc>
                <a:spcPct val="150000"/>
              </a:lnSpc>
            </a:pPr>
            <a:r>
              <a:rPr lang="en-US" dirty="0">
                <a:latin typeface="Lucida Bright" panose="02040602050505020304" pitchFamily="18" charset="0"/>
              </a:rPr>
              <a:t>cat file1.txt file2.txt </a:t>
            </a:r>
          </a:p>
          <a:p>
            <a:pPr>
              <a:lnSpc>
                <a:spcPct val="150000"/>
              </a:lnSpc>
            </a:pPr>
            <a:r>
              <a:rPr lang="en-US" dirty="0">
                <a:latin typeface="Lucida Bright" panose="02040602050505020304" pitchFamily="18" charset="0"/>
              </a:rPr>
              <a:t>The above cat command will concatenate the two files (file1.txt and file2.txt) and it will display the output in the screen. Some times the output may not fit the monitor screen. In such situation you can print those files in a new file or display the file using less command. </a:t>
            </a:r>
          </a:p>
          <a:p>
            <a:pPr>
              <a:lnSpc>
                <a:spcPct val="150000"/>
              </a:lnSpc>
            </a:pPr>
            <a:r>
              <a:rPr lang="en-US" dirty="0">
                <a:latin typeface="Lucida Bright" panose="02040602050505020304" pitchFamily="18" charset="0"/>
              </a:rPr>
              <a:t>cat file1.txt file2.txt | less</a:t>
            </a:r>
          </a:p>
          <a:p>
            <a:pPr>
              <a:lnSpc>
                <a:spcPct val="150000"/>
              </a:lnSpc>
            </a:pPr>
            <a:endParaRPr lang="en-US" dirty="0">
              <a:latin typeface="Lucida Bright" panose="02040602050505020304" pitchFamily="18" charset="0"/>
            </a:endParaRPr>
          </a:p>
        </p:txBody>
      </p:sp>
      <p:sp>
        <p:nvSpPr>
          <p:cNvPr id="63491"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Filters </a:t>
            </a:r>
            <a:endParaRPr lang="en-US" sz="2400"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lang="en-US" sz="4000" dirty="0" smtClean="0">
              <a:effectLst>
                <a:outerShdw blurRad="38100" dist="38100" dir="2700000" algn="tl">
                  <a:srgbClr val="C0C0C0"/>
                </a:outerShdw>
              </a:effectLst>
            </a:endParaRPr>
          </a:p>
          <a:p>
            <a:pPr algn="ctr" fontAlgn="auto">
              <a:spcBef>
                <a:spcPts val="0"/>
              </a:spcBef>
              <a:spcAft>
                <a:spcPts val="0"/>
              </a:spcAft>
              <a:defRPr/>
            </a:pPr>
            <a:r>
              <a:rPr lang="en-US" sz="4000" dirty="0" smtClean="0">
                <a:effectLst>
                  <a:outerShdw blurRad="38100" dist="38100" dir="2700000" algn="tl">
                    <a:srgbClr val="C0C0C0"/>
                  </a:outerShdw>
                </a:effectLst>
              </a:rPr>
              <a:t>Filters </a:t>
            </a:r>
            <a:endParaRPr lang="en-US" sz="2400" b="1" dirty="0" smtClean="0"/>
          </a:p>
          <a:p>
            <a:pPr algn="ctr" fontAlgn="auto">
              <a:spcBef>
                <a:spcPts val="0"/>
              </a:spcBef>
              <a:spcAft>
                <a:spcPts val="0"/>
              </a:spcAft>
              <a:defRPr/>
            </a:pPr>
            <a:endParaRPr lang="en-US" sz="2400" dirty="0">
              <a:effectLst>
                <a:outerShdw blurRad="38100" dist="38100" dir="2700000" algn="tl">
                  <a:srgbClr val="C0C0C0"/>
                </a:outerShdw>
              </a:effectLst>
            </a:endParaRPr>
          </a:p>
        </p:txBody>
      </p:sp>
      <p:sp>
        <p:nvSpPr>
          <p:cNvPr id="64515" name="Content Placeholder 6"/>
          <p:cNvSpPr>
            <a:spLocks noGrp="1"/>
          </p:cNvSpPr>
          <p:nvPr>
            <p:ph idx="1"/>
          </p:nvPr>
        </p:nvSpPr>
        <p:spPr>
          <a:xfrm>
            <a:off x="0" y="838200"/>
            <a:ext cx="9144000" cy="5287963"/>
          </a:xfrm>
        </p:spPr>
        <p:txBody>
          <a:bodyPr/>
          <a:lstStyle/>
          <a:p>
            <a:pPr>
              <a:lnSpc>
                <a:spcPct val="150000"/>
              </a:lnSpc>
              <a:buFont typeface="Arial" panose="020B0604020202020204" pitchFamily="34" charset="0"/>
              <a:buNone/>
            </a:pPr>
            <a:r>
              <a:rPr lang="en-US" sz="1800" dirty="0" smtClean="0">
                <a:latin typeface="Lucida Bright" panose="02040602050505020304" pitchFamily="18" charset="0"/>
              </a:rPr>
              <a:t>5. To concatenate several files and to transfer the output to another file. </a:t>
            </a:r>
          </a:p>
          <a:p>
            <a:pPr>
              <a:lnSpc>
                <a:spcPct val="150000"/>
              </a:lnSpc>
              <a:buFont typeface="Arial" panose="020B0604020202020204" pitchFamily="34" charset="0"/>
              <a:buNone/>
            </a:pPr>
            <a:r>
              <a:rPr lang="en-US" sz="1800" dirty="0" smtClean="0">
                <a:latin typeface="Lucida Bright" panose="02040602050505020304" pitchFamily="18" charset="0"/>
              </a:rPr>
              <a:t>cat file1.txt file2.txt &gt; file3.txt </a:t>
            </a:r>
          </a:p>
          <a:p>
            <a:pPr>
              <a:lnSpc>
                <a:spcPct val="150000"/>
              </a:lnSpc>
              <a:buFont typeface="Arial" panose="020B0604020202020204" pitchFamily="34" charset="0"/>
              <a:buNone/>
            </a:pPr>
            <a:r>
              <a:rPr lang="en-US" sz="1800" dirty="0" smtClean="0">
                <a:latin typeface="Lucida Bright" panose="02040602050505020304" pitchFamily="18" charset="0"/>
              </a:rPr>
              <a:t>In the above example the output is redirected to new file file3.txt. The cat </a:t>
            </a:r>
          </a:p>
          <a:p>
            <a:pPr>
              <a:lnSpc>
                <a:spcPct val="150000"/>
              </a:lnSpc>
              <a:buFont typeface="Arial" panose="020B0604020202020204" pitchFamily="34" charset="0"/>
              <a:buNone/>
            </a:pPr>
            <a:r>
              <a:rPr lang="en-US" sz="1800" dirty="0" smtClean="0">
                <a:latin typeface="Lucida Bright" panose="02040602050505020304" pitchFamily="18" charset="0"/>
              </a:rPr>
              <a:t>command will create new file file3.txt and store the concatenated output into </a:t>
            </a:r>
          </a:p>
          <a:p>
            <a:pPr>
              <a:lnSpc>
                <a:spcPct val="150000"/>
              </a:lnSpc>
              <a:buFont typeface="Arial" panose="020B0604020202020204" pitchFamily="34" charset="0"/>
              <a:buNone/>
            </a:pPr>
            <a:r>
              <a:rPr lang="en-US" sz="1800" dirty="0" smtClean="0">
                <a:latin typeface="Lucida Bright" panose="02040602050505020304" pitchFamily="18" charset="0"/>
              </a:rPr>
              <a:t>file3.txt. </a:t>
            </a:r>
          </a:p>
          <a:p>
            <a:pPr>
              <a:lnSpc>
                <a:spcPct val="150000"/>
              </a:lnSpc>
              <a:buFont typeface="Arial" panose="020B0604020202020204" pitchFamily="34" charset="0"/>
              <a:buNone/>
            </a:pPr>
            <a:r>
              <a:rPr lang="en-US" sz="1800" b="1" dirty="0" smtClean="0">
                <a:latin typeface="Lucida Bright" panose="02040602050505020304" pitchFamily="18" charset="0"/>
              </a:rPr>
              <a:t>Display beginning and end of files</a:t>
            </a:r>
          </a:p>
          <a:p>
            <a:pPr>
              <a:lnSpc>
                <a:spcPct val="150000"/>
              </a:lnSpc>
              <a:buFont typeface="Arial" panose="020B0604020202020204" pitchFamily="34" charset="0"/>
              <a:buNone/>
            </a:pPr>
            <a:r>
              <a:rPr lang="en-US" sz="1800" dirty="0" smtClean="0">
                <a:latin typeface="Lucida Bright" panose="02040602050505020304" pitchFamily="18" charset="0"/>
              </a:rPr>
              <a:t>head COMMAND:</a:t>
            </a:r>
          </a:p>
          <a:p>
            <a:pPr>
              <a:lnSpc>
                <a:spcPct val="150000"/>
              </a:lnSpc>
              <a:buFont typeface="Arial" panose="020B0604020202020204" pitchFamily="34" charset="0"/>
              <a:buNone/>
            </a:pPr>
            <a:r>
              <a:rPr lang="en-US" sz="1800" dirty="0" smtClean="0">
                <a:latin typeface="Lucida Bright" panose="02040602050505020304" pitchFamily="18" charset="0"/>
              </a:rPr>
              <a:t>head command is used to display the first ten lines of a file, and also specifies </a:t>
            </a:r>
          </a:p>
          <a:p>
            <a:pPr>
              <a:lnSpc>
                <a:spcPct val="150000"/>
              </a:lnSpc>
              <a:buFont typeface="Arial" panose="020B0604020202020204" pitchFamily="34" charset="0"/>
              <a:buNone/>
            </a:pPr>
            <a:r>
              <a:rPr lang="en-US" sz="1800" dirty="0" smtClean="0">
                <a:latin typeface="Lucida Bright" panose="02040602050505020304" pitchFamily="18" charset="0"/>
              </a:rPr>
              <a:t>how many lines to display </a:t>
            </a:r>
            <a:r>
              <a:rPr lang="en-US" sz="1800" b="1" dirty="0" smtClean="0">
                <a:latin typeface="Lucida Bright" panose="02040602050505020304" pitchFamily="18" charset="0"/>
              </a:rPr>
              <a:t> </a:t>
            </a:r>
          </a:p>
          <a:p>
            <a:pPr>
              <a:lnSpc>
                <a:spcPct val="150000"/>
              </a:lnSpc>
              <a:buFont typeface="Arial" panose="020B0604020202020204" pitchFamily="34" charset="0"/>
              <a:buNone/>
            </a:pPr>
            <a:r>
              <a:rPr lang="en-US" sz="1800" dirty="0" smtClean="0">
                <a:latin typeface="Lucida Bright" panose="02040602050505020304" pitchFamily="18" charset="0"/>
              </a:rPr>
              <a:t>SYNTAX: $ head [options] filename </a:t>
            </a:r>
          </a:p>
          <a:p>
            <a:pPr>
              <a:lnSpc>
                <a:spcPct val="150000"/>
              </a:lnSpc>
              <a:buFont typeface="Arial" panose="020B0604020202020204" pitchFamily="34" charset="0"/>
              <a:buNone/>
            </a:pPr>
            <a:endParaRPr lang="en-US" sz="1800"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t>Filters </a:t>
            </a:r>
            <a:r>
              <a:rPr lang="en-US" sz="4000" dirty="0" smtClean="0"/>
              <a:t> </a:t>
            </a:r>
            <a:endParaRPr lang="en-US" sz="2400" b="1" dirty="0" smtClean="0"/>
          </a:p>
          <a:p>
            <a:pPr algn="ctr"/>
            <a:endParaRPr lang="en-US" sz="2400" dirty="0"/>
          </a:p>
        </p:txBody>
      </p:sp>
      <p:sp>
        <p:nvSpPr>
          <p:cNvPr id="65540"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p>
        </p:txBody>
      </p:sp>
      <p:sp>
        <p:nvSpPr>
          <p:cNvPr id="613381" name="Rectangle 5"/>
          <p:cNvSpPr>
            <a:spLocks noChangeArrowheads="1"/>
          </p:cNvSpPr>
          <p:nvPr/>
        </p:nvSpPr>
        <p:spPr bwMode="auto">
          <a:xfrm>
            <a:off x="0" y="1143000"/>
            <a:ext cx="9144000" cy="5355312"/>
          </a:xfrm>
          <a:prstGeom prst="rect">
            <a:avLst/>
          </a:prstGeom>
          <a:noFill/>
          <a:ln w="9525">
            <a:noFill/>
            <a:miter lim="800000"/>
          </a:ln>
          <a:effectLst/>
        </p:spPr>
        <p:txBody>
          <a:bodyPr anchor="ctr">
            <a:spAutoFit/>
          </a:bodyPr>
          <a:lstStyle/>
          <a:p>
            <a:pPr>
              <a:defRPr/>
            </a:pPr>
            <a:r>
              <a:rPr lang="en-US" b="1" dirty="0">
                <a:latin typeface="Lucida Bright" panose="02040602050505020304" pitchFamily="18" charset="0"/>
                <a:cs typeface="Arial" panose="020B0604020202020204" pitchFamily="34" charset="0"/>
              </a:rPr>
              <a:t>OPTIONS: </a:t>
            </a:r>
          </a:p>
          <a:p>
            <a:pPr>
              <a:defRPr/>
            </a:pPr>
            <a:r>
              <a:rPr lang="en-US" dirty="0">
                <a:latin typeface="Lucida Bright" panose="02040602050505020304" pitchFamily="18" charset="0"/>
                <a:cs typeface="Arial" panose="020B0604020202020204" pitchFamily="34" charset="0"/>
              </a:rPr>
              <a:t>-n	 	To specify how many lines you want to display. 	</a:t>
            </a:r>
          </a:p>
          <a:p>
            <a:pPr>
              <a:defRPr/>
            </a:pPr>
            <a:r>
              <a:rPr lang="en-US" dirty="0">
                <a:latin typeface="Lucida Bright" panose="02040602050505020304" pitchFamily="18" charset="0"/>
                <a:cs typeface="Arial" panose="020B0604020202020204" pitchFamily="34" charset="0"/>
              </a:rPr>
              <a:t>-n number 	The number option-argument must be a decimal integer whose sign 		affects the location in the file, measured in lines. 	</a:t>
            </a:r>
          </a:p>
          <a:p>
            <a:pPr>
              <a:defRPr/>
            </a:pPr>
            <a:r>
              <a:rPr lang="en-US" dirty="0">
                <a:latin typeface="Lucida Bright" panose="02040602050505020304" pitchFamily="18" charset="0"/>
                <a:cs typeface="Arial" panose="020B0604020202020204" pitchFamily="34" charset="0"/>
              </a:rPr>
              <a:t>-c number 	The number option-argument must be a decimal integer whose sign 		affects the location in the file, measured in bytes. 	</a:t>
            </a:r>
          </a:p>
          <a:p>
            <a:pPr>
              <a:defRPr/>
            </a:pPr>
            <a:r>
              <a:rPr lang="en-US" b="1" dirty="0">
                <a:latin typeface="Lucida Bright" panose="02040602050505020304" pitchFamily="18" charset="0"/>
                <a:cs typeface="Arial" panose="020B0604020202020204" pitchFamily="34" charset="0"/>
              </a:rPr>
              <a:t>EXAMPLE: </a:t>
            </a:r>
          </a:p>
          <a:p>
            <a:pPr marL="342900" indent="-342900">
              <a:buFontTx/>
              <a:buAutoNum type="arabicPeriod"/>
              <a:defRPr/>
            </a:pPr>
            <a:r>
              <a:rPr lang="en-US" dirty="0">
                <a:latin typeface="Lucida Bright" panose="02040602050505020304" pitchFamily="18" charset="0"/>
                <a:cs typeface="Arial" panose="020B0604020202020204" pitchFamily="34" charset="0"/>
              </a:rPr>
              <a:t>head f1.txt </a:t>
            </a:r>
          </a:p>
          <a:p>
            <a:pPr marL="342900" indent="-342900">
              <a:defRPr/>
            </a:pPr>
            <a:r>
              <a:rPr lang="en-US" dirty="0">
                <a:latin typeface="Lucida Bright" panose="02040602050505020304" pitchFamily="18" charset="0"/>
                <a:cs typeface="Arial" panose="020B0604020202020204" pitchFamily="34" charset="0"/>
              </a:rPr>
              <a:t>	This command prints the first 10 lines of ' f1.txt '. </a:t>
            </a:r>
          </a:p>
          <a:p>
            <a:pPr>
              <a:defRPr/>
            </a:pPr>
            <a:r>
              <a:rPr lang="en-US" dirty="0">
                <a:latin typeface="Lucida Bright" panose="02040602050505020304" pitchFamily="18" charset="0"/>
                <a:cs typeface="Arial" panose="020B0604020202020204" pitchFamily="34" charset="0"/>
              </a:rPr>
              <a:t>2. head -5 f1.txt </a:t>
            </a:r>
          </a:p>
          <a:p>
            <a:pPr>
              <a:defRPr/>
            </a:pPr>
            <a:r>
              <a:rPr lang="en-US" dirty="0">
                <a:latin typeface="Lucida Bright" panose="02040602050505020304" pitchFamily="18" charset="0"/>
                <a:cs typeface="Arial" panose="020B0604020202020204" pitchFamily="34" charset="0"/>
              </a:rPr>
              <a:t>       The head command displays the first 5 lines of ' f1.txt '. </a:t>
            </a:r>
          </a:p>
          <a:p>
            <a:pPr>
              <a:defRPr/>
            </a:pPr>
            <a:r>
              <a:rPr lang="en-US" dirty="0">
                <a:latin typeface="Lucida Bright" panose="02040602050505020304" pitchFamily="18" charset="0"/>
                <a:cs typeface="Arial" panose="020B0604020202020204" pitchFamily="34" charset="0"/>
              </a:rPr>
              <a:t>3. head -c 5 f1.txt </a:t>
            </a:r>
          </a:p>
          <a:p>
            <a:pPr>
              <a:defRPr/>
            </a:pPr>
            <a:r>
              <a:rPr lang="en-US" dirty="0">
                <a:latin typeface="Lucida Bright" panose="02040602050505020304" pitchFamily="18" charset="0"/>
                <a:cs typeface="Arial" panose="020B0604020202020204" pitchFamily="34" charset="0"/>
              </a:rPr>
              <a:t>        The above command displays the first 5 characters of ' f1.txt '. </a:t>
            </a:r>
          </a:p>
          <a:p>
            <a:pPr>
              <a:defRPr/>
            </a:pPr>
            <a:r>
              <a:rPr lang="en-US" b="1" dirty="0">
                <a:latin typeface="Lucida Bright" panose="02040602050505020304" pitchFamily="18" charset="0"/>
                <a:cs typeface="Arial" panose="020B0604020202020204" pitchFamily="34" charset="0"/>
              </a:rPr>
              <a:t>tail COMMAND:</a:t>
            </a:r>
          </a:p>
          <a:p>
            <a:pPr>
              <a:defRPr/>
            </a:pPr>
            <a:r>
              <a:rPr lang="en-US" dirty="0">
                <a:latin typeface="Lucida Bright" panose="02040602050505020304" pitchFamily="18" charset="0"/>
                <a:cs typeface="Arial" panose="020B0604020202020204" pitchFamily="34" charset="0"/>
              </a:rPr>
              <a:t>Tail command is used to display the last or bottom part of the file. By default it displays last 10 lines of a file.</a:t>
            </a:r>
          </a:p>
          <a:p>
            <a:pPr>
              <a:defRPr/>
            </a:pPr>
            <a:endParaRPr lang="en-US" dirty="0">
              <a:latin typeface="Lucida Bright" panose="02040602050505020304" pitchFamily="18" charset="0"/>
              <a:cs typeface="Arial" panose="020B0604020202020204" pitchFamily="34" charset="0"/>
            </a:endParaRPr>
          </a:p>
          <a:p>
            <a:pPr>
              <a:defRPr/>
            </a:pPr>
            <a:r>
              <a:rPr lang="en-US" dirty="0">
                <a:latin typeface="Lucida Bright" panose="02040602050505020304" pitchFamily="18" charset="0"/>
                <a:cs typeface="Arial" panose="020B0604020202020204" pitchFamily="34" charset="0"/>
              </a:rPr>
              <a:t>SYNTAX: </a:t>
            </a:r>
          </a:p>
          <a:p>
            <a:pPr>
              <a:defRPr/>
            </a:pPr>
            <a:r>
              <a:rPr lang="en-US" dirty="0">
                <a:latin typeface="Lucida Bright" panose="02040602050505020304" pitchFamily="18" charset="0"/>
                <a:cs typeface="Arial" panose="020B0604020202020204" pitchFamily="34" charset="0"/>
              </a:rPr>
              <a:t>$ tail [options] filename</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49157" name="Rectangle 3"/>
          <p:cNvSpPr>
            <a:spLocks noChangeArrowheads="1"/>
          </p:cNvSpPr>
          <p:nvPr/>
        </p:nvSpPr>
        <p:spPr bwMode="auto">
          <a:xfrm>
            <a:off x="0" y="1066800"/>
            <a:ext cx="9144000" cy="6048375"/>
          </a:xfrm>
          <a:prstGeom prst="rect">
            <a:avLst/>
          </a:prstGeom>
          <a:noFill/>
          <a:ln w="9525">
            <a:noFill/>
            <a:miter lim="800000"/>
          </a:ln>
        </p:spPr>
        <p:txBody>
          <a:bodyPr>
            <a:spAutoFit/>
          </a:bodyPr>
          <a:lstStyle/>
          <a:p>
            <a:pPr>
              <a:lnSpc>
                <a:spcPct val="150000"/>
              </a:lnSpc>
              <a:defRPr/>
            </a:pPr>
            <a:r>
              <a:rPr lang="en-US" b="1" dirty="0">
                <a:latin typeface="Lucida Bright" panose="02040602050505020304" pitchFamily="18" charset="0"/>
                <a:cs typeface="Arial" panose="020B0604020202020204" pitchFamily="34" charset="0"/>
              </a:rPr>
              <a:t>OPTIONS: </a:t>
            </a:r>
          </a:p>
          <a:p>
            <a:pPr>
              <a:lnSpc>
                <a:spcPct val="150000"/>
              </a:lnSpc>
              <a:defRPr/>
            </a:pPr>
            <a:r>
              <a:rPr lang="en-US" b="1" dirty="0">
                <a:latin typeface="Lucida Bright" panose="02040602050505020304" pitchFamily="18" charset="0"/>
                <a:cs typeface="Arial" panose="020B0604020202020204" pitchFamily="34" charset="0"/>
              </a:rPr>
              <a:t>-l 	To specify the units of lines. 	</a:t>
            </a:r>
          </a:p>
          <a:p>
            <a:pPr>
              <a:lnSpc>
                <a:spcPct val="150000"/>
              </a:lnSpc>
              <a:defRPr/>
            </a:pPr>
            <a:r>
              <a:rPr lang="en-US" dirty="0">
                <a:latin typeface="Lucida Bright" panose="02040602050505020304" pitchFamily="18" charset="0"/>
                <a:cs typeface="Arial" panose="020B0604020202020204" pitchFamily="34" charset="0"/>
              </a:rPr>
              <a:t>-b 	To specify the units of blocks. 	</a:t>
            </a:r>
          </a:p>
          <a:p>
            <a:pPr>
              <a:lnSpc>
                <a:spcPct val="150000"/>
              </a:lnSpc>
              <a:defRPr/>
            </a:pPr>
            <a:r>
              <a:rPr lang="en-US" dirty="0">
                <a:latin typeface="Lucida Bright" panose="02040602050505020304" pitchFamily="18" charset="0"/>
                <a:cs typeface="Arial" panose="020B0604020202020204" pitchFamily="34" charset="0"/>
              </a:rPr>
              <a:t>-n 	To specify how many lines you want to display. 	</a:t>
            </a:r>
          </a:p>
          <a:p>
            <a:pPr>
              <a:lnSpc>
                <a:spcPct val="150000"/>
              </a:lnSpc>
              <a:defRPr/>
            </a:pPr>
            <a:r>
              <a:rPr lang="en-US" dirty="0">
                <a:latin typeface="Lucida Bright" panose="02040602050505020304" pitchFamily="18" charset="0"/>
                <a:cs typeface="Arial" panose="020B0604020202020204" pitchFamily="34" charset="0"/>
              </a:rPr>
              <a:t>-c number 	The number option-argument must be a decimal integer whose 		sign affects the location in the file, measured in bytes. 	</a:t>
            </a:r>
          </a:p>
          <a:p>
            <a:pPr>
              <a:lnSpc>
                <a:spcPct val="150000"/>
              </a:lnSpc>
              <a:defRPr/>
            </a:pPr>
            <a:r>
              <a:rPr lang="en-US" dirty="0">
                <a:latin typeface="Lucida Bright" panose="02040602050505020304" pitchFamily="18" charset="0"/>
                <a:cs typeface="Arial" panose="020B0604020202020204" pitchFamily="34" charset="0"/>
              </a:rPr>
              <a:t>-n number 	The number option-argument must be a decimal integer whose 		sign affects the location in the file, measured in lines. 	</a:t>
            </a:r>
          </a:p>
          <a:p>
            <a:pPr>
              <a:lnSpc>
                <a:spcPct val="150000"/>
              </a:lnSpc>
              <a:defRPr/>
            </a:pPr>
            <a:r>
              <a:rPr lang="en-US" b="1" dirty="0">
                <a:latin typeface="Lucida Bright" panose="02040602050505020304" pitchFamily="18" charset="0"/>
                <a:cs typeface="Arial" panose="020B0604020202020204" pitchFamily="34" charset="0"/>
              </a:rPr>
              <a:t>EXAMPLE: </a:t>
            </a:r>
          </a:p>
          <a:p>
            <a:pPr marL="342900" indent="-342900">
              <a:buFontTx/>
              <a:buAutoNum type="arabicPeriod"/>
              <a:defRPr/>
            </a:pPr>
            <a:r>
              <a:rPr lang="en-US" dirty="0">
                <a:latin typeface="Lucida Bright" panose="02040602050505020304" pitchFamily="18" charset="0"/>
                <a:cs typeface="Arial" panose="020B0604020202020204" pitchFamily="34" charset="0"/>
              </a:rPr>
              <a:t>tail index.php </a:t>
            </a:r>
          </a:p>
          <a:p>
            <a:pPr marL="342900" indent="-342900">
              <a:defRPr/>
            </a:pPr>
            <a:r>
              <a:rPr lang="en-US" dirty="0">
                <a:latin typeface="Lucida Bright" panose="02040602050505020304" pitchFamily="18" charset="0"/>
                <a:cs typeface="Arial" panose="020B0604020202020204" pitchFamily="34" charset="0"/>
              </a:rPr>
              <a:t>	It displays the last 10 lines of 'index.php'. </a:t>
            </a:r>
          </a:p>
          <a:p>
            <a:pPr>
              <a:defRPr/>
            </a:pPr>
            <a:r>
              <a:rPr lang="en-US" dirty="0">
                <a:latin typeface="Lucida Bright" panose="02040602050505020304" pitchFamily="18" charset="0"/>
                <a:cs typeface="Arial" panose="020B0604020202020204" pitchFamily="34" charset="0"/>
              </a:rPr>
              <a:t>2. tail -2 index.php </a:t>
            </a:r>
          </a:p>
          <a:p>
            <a:pPr>
              <a:defRPr/>
            </a:pPr>
            <a:r>
              <a:rPr lang="en-US" dirty="0">
                <a:latin typeface="Lucida Bright" panose="02040602050505020304" pitchFamily="18" charset="0"/>
                <a:cs typeface="Arial" panose="020B0604020202020204" pitchFamily="34" charset="0"/>
              </a:rPr>
              <a:t>      It displays the last 2 lines of 'index.php'. </a:t>
            </a:r>
          </a:p>
          <a:p>
            <a:pPr>
              <a:defRPr/>
            </a:pPr>
            <a:r>
              <a:rPr lang="pt-BR" dirty="0">
                <a:latin typeface="Lucida Bright" panose="02040602050505020304" pitchFamily="18" charset="0"/>
                <a:cs typeface="Arial" panose="020B0604020202020204" pitchFamily="34" charset="0"/>
              </a:rPr>
              <a:t>3. tail -n 5 index.php </a:t>
            </a:r>
          </a:p>
          <a:p>
            <a:pPr>
              <a:defRPr/>
            </a:pPr>
            <a:r>
              <a:rPr lang="en-US" dirty="0">
                <a:latin typeface="Lucida Bright" panose="02040602050505020304" pitchFamily="18" charset="0"/>
                <a:cs typeface="Arial" panose="020B0604020202020204" pitchFamily="34" charset="0"/>
              </a:rPr>
              <a:t>      It displays the last 5 lines of 'index.php'. </a:t>
            </a:r>
          </a:p>
          <a:p>
            <a:pPr>
              <a:defRPr/>
            </a:pPr>
            <a:r>
              <a:rPr lang="en-US" dirty="0">
                <a:latin typeface="Lucida Bright" panose="02040602050505020304" pitchFamily="18" charset="0"/>
                <a:cs typeface="Arial" panose="020B0604020202020204" pitchFamily="34" charset="0"/>
              </a:rPr>
              <a:t>4. tail -c 5 index.php </a:t>
            </a:r>
          </a:p>
          <a:p>
            <a:pPr>
              <a:defRPr/>
            </a:pPr>
            <a:r>
              <a:rPr lang="en-US" dirty="0">
                <a:latin typeface="Lucida Bright" panose="02040602050505020304" pitchFamily="18" charset="0"/>
                <a:cs typeface="Arial" panose="020B0604020202020204" pitchFamily="34" charset="0"/>
              </a:rPr>
              <a:t>        It displays the last 5 characters of 'index.php'. </a:t>
            </a:r>
          </a:p>
        </p:txBody>
      </p:sp>
      <p:sp>
        <p:nvSpPr>
          <p:cNvPr id="66565"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t>Filters </a:t>
            </a:r>
            <a:endParaRPr lang="en-US"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extBox 4"/>
          <p:cNvSpPr txBox="1">
            <a:spLocks noChangeArrowheads="1"/>
          </p:cNvSpPr>
          <p:nvPr/>
        </p:nvSpPr>
        <p:spPr bwMode="auto">
          <a:xfrm>
            <a:off x="0" y="990600"/>
            <a:ext cx="9144000" cy="5908675"/>
          </a:xfrm>
          <a:prstGeom prst="rect">
            <a:avLst/>
          </a:prstGeom>
          <a:noFill/>
          <a:ln w="9525">
            <a:noFill/>
            <a:miter lim="800000"/>
          </a:ln>
        </p:spPr>
        <p:txBody>
          <a:bodyPr>
            <a:spAutoFit/>
          </a:bodyPr>
          <a:lstStyle/>
          <a:p>
            <a:pPr>
              <a:defRPr/>
            </a:pPr>
            <a:r>
              <a:rPr lang="en-US" b="1" dirty="0">
                <a:latin typeface="Lucida Bright" panose="02040602050505020304" pitchFamily="18" charset="0"/>
                <a:cs typeface="Arial" panose="020B0604020202020204" pitchFamily="34" charset="0"/>
              </a:rPr>
              <a:t>cut COMMAND: </a:t>
            </a:r>
          </a:p>
          <a:p>
            <a:pPr>
              <a:defRPr/>
            </a:pPr>
            <a:r>
              <a:rPr lang="en-US" dirty="0">
                <a:latin typeface="Lucida Bright" panose="02040602050505020304" pitchFamily="18" charset="0"/>
                <a:cs typeface="Arial" panose="020B0604020202020204" pitchFamily="34" charset="0"/>
              </a:rPr>
              <a:t>cut command is used to cut out selected fields of each line of a file. The cut command uses delimiters to determine where to split fields. </a:t>
            </a:r>
          </a:p>
          <a:p>
            <a:pPr>
              <a:defRPr/>
            </a:pPr>
            <a:r>
              <a:rPr lang="en-US" b="1" dirty="0">
                <a:latin typeface="Lucida Bright" panose="02040602050505020304" pitchFamily="18" charset="0"/>
                <a:cs typeface="Arial" panose="020B0604020202020204" pitchFamily="34" charset="0"/>
              </a:rPr>
              <a:t>SYNTAX: </a:t>
            </a:r>
          </a:p>
          <a:p>
            <a:pPr>
              <a:defRPr/>
            </a:pPr>
            <a:r>
              <a:rPr lang="en-US" dirty="0">
                <a:latin typeface="Lucida Bright" panose="02040602050505020304" pitchFamily="18" charset="0"/>
                <a:cs typeface="Arial" panose="020B0604020202020204" pitchFamily="34" charset="0"/>
              </a:rPr>
              <a:t>cut [options] </a:t>
            </a:r>
          </a:p>
          <a:p>
            <a:pPr>
              <a:defRPr/>
            </a:pPr>
            <a:r>
              <a:rPr lang="en-US" b="1" dirty="0">
                <a:latin typeface="Lucida Bright" panose="02040602050505020304" pitchFamily="18" charset="0"/>
                <a:cs typeface="Arial" panose="020B0604020202020204" pitchFamily="34" charset="0"/>
              </a:rPr>
              <a:t>OPTIONS:</a:t>
            </a:r>
          </a:p>
          <a:p>
            <a:pPr>
              <a:defRPr/>
            </a:pPr>
            <a:r>
              <a:rPr lang="en-US" b="1" dirty="0">
                <a:latin typeface="Lucida Bright" panose="02040602050505020304" pitchFamily="18" charset="0"/>
                <a:cs typeface="Arial" panose="020B0604020202020204" pitchFamily="34" charset="0"/>
              </a:rPr>
              <a:t> -c 	Specifies character positions. 	</a:t>
            </a:r>
          </a:p>
          <a:p>
            <a:pPr>
              <a:defRPr/>
            </a:pPr>
            <a:r>
              <a:rPr lang="en-US" dirty="0">
                <a:latin typeface="Lucida Bright" panose="02040602050505020304" pitchFamily="18" charset="0"/>
                <a:cs typeface="Arial" panose="020B0604020202020204" pitchFamily="34" charset="0"/>
              </a:rPr>
              <a:t>-b 	Specifies byte positions. 	</a:t>
            </a:r>
          </a:p>
          <a:p>
            <a:pPr>
              <a:defRPr/>
            </a:pPr>
            <a:r>
              <a:rPr lang="en-US" dirty="0">
                <a:latin typeface="Lucida Bright" panose="02040602050505020304" pitchFamily="18" charset="0"/>
                <a:cs typeface="Arial" panose="020B0604020202020204" pitchFamily="34" charset="0"/>
              </a:rPr>
              <a:t>-d 	flags Specifies the delimiters and fields. 	</a:t>
            </a:r>
          </a:p>
          <a:p>
            <a:pPr>
              <a:defRPr/>
            </a:pPr>
            <a:endParaRPr lang="en-US" dirty="0">
              <a:latin typeface="Lucida Bright" panose="02040602050505020304" pitchFamily="18" charset="0"/>
              <a:cs typeface="Arial" panose="020B0604020202020204" pitchFamily="34" charset="0"/>
            </a:endParaRPr>
          </a:p>
          <a:p>
            <a:pPr>
              <a:defRPr/>
            </a:pPr>
            <a:r>
              <a:rPr lang="en-US" b="1" dirty="0">
                <a:latin typeface="Lucida Bright" panose="02040602050505020304" pitchFamily="18" charset="0"/>
                <a:cs typeface="Arial" panose="020B0604020202020204" pitchFamily="34" charset="0"/>
              </a:rPr>
              <a:t>EXAMPLE: </a:t>
            </a:r>
          </a:p>
          <a:p>
            <a:pPr marL="342900" indent="-342900">
              <a:buFontTx/>
              <a:buAutoNum type="arabicPeriod"/>
              <a:defRPr/>
            </a:pPr>
            <a:r>
              <a:rPr lang="en-US" dirty="0">
                <a:latin typeface="Lucida Bright" panose="02040602050505020304" pitchFamily="18" charset="0"/>
                <a:cs typeface="Arial" panose="020B0604020202020204" pitchFamily="34" charset="0"/>
              </a:rPr>
              <a:t>cut -c1-3 text.txt </a:t>
            </a:r>
          </a:p>
          <a:p>
            <a:pPr marL="342900" indent="-342900">
              <a:defRPr/>
            </a:pPr>
            <a:r>
              <a:rPr lang="en-US" b="1" dirty="0">
                <a:latin typeface="Lucida Bright" panose="02040602050505020304" pitchFamily="18" charset="0"/>
                <a:cs typeface="Arial" panose="020B0604020202020204" pitchFamily="34" charset="0"/>
              </a:rPr>
              <a:t>Output: </a:t>
            </a:r>
          </a:p>
          <a:p>
            <a:pPr>
              <a:defRPr/>
            </a:pPr>
            <a:r>
              <a:rPr lang="en-US" dirty="0" err="1">
                <a:latin typeface="Lucida Bright" panose="02040602050505020304" pitchFamily="18" charset="0"/>
                <a:cs typeface="Arial" panose="020B0604020202020204" pitchFamily="34" charset="0"/>
              </a:rPr>
              <a:t>Thi</a:t>
            </a:r>
            <a:r>
              <a:rPr lang="en-US" dirty="0">
                <a:latin typeface="Lucida Bright" panose="02040602050505020304" pitchFamily="18" charset="0"/>
                <a:cs typeface="Arial" panose="020B0604020202020204" pitchFamily="34" charset="0"/>
              </a:rPr>
              <a:t> </a:t>
            </a:r>
          </a:p>
          <a:p>
            <a:pPr>
              <a:defRPr/>
            </a:pPr>
            <a:r>
              <a:rPr lang="en-US" dirty="0">
                <a:latin typeface="Lucida Bright" panose="02040602050505020304" pitchFamily="18" charset="0"/>
                <a:cs typeface="Arial" panose="020B0604020202020204" pitchFamily="34" charset="0"/>
              </a:rPr>
              <a:t>Cut the first three letters from the above line. </a:t>
            </a:r>
          </a:p>
          <a:p>
            <a:pPr>
              <a:defRPr/>
            </a:pPr>
            <a:r>
              <a:rPr lang="en-US" dirty="0">
                <a:latin typeface="Lucida Bright" panose="02040602050505020304" pitchFamily="18" charset="0"/>
                <a:cs typeface="Arial" panose="020B0604020202020204" pitchFamily="34" charset="0"/>
              </a:rPr>
              <a:t>2. cut -d, -f1,2 text.txt </a:t>
            </a:r>
          </a:p>
          <a:p>
            <a:pPr>
              <a:defRPr/>
            </a:pPr>
            <a:r>
              <a:rPr lang="en-US" b="1" dirty="0">
                <a:latin typeface="Lucida Bright" panose="02040602050505020304" pitchFamily="18" charset="0"/>
                <a:cs typeface="Arial" panose="020B0604020202020204" pitchFamily="34" charset="0"/>
              </a:rPr>
              <a:t>Output: </a:t>
            </a:r>
          </a:p>
          <a:p>
            <a:pPr>
              <a:defRPr/>
            </a:pPr>
            <a:r>
              <a:rPr lang="en-US" dirty="0">
                <a:latin typeface="Lucida Bright" panose="02040602050505020304" pitchFamily="18" charset="0"/>
                <a:cs typeface="Arial" panose="020B0604020202020204" pitchFamily="34" charset="0"/>
              </a:rPr>
              <a:t>This is, an example program </a:t>
            </a:r>
          </a:p>
          <a:p>
            <a:pPr>
              <a:defRPr/>
            </a:pPr>
            <a:r>
              <a:rPr lang="en-US" dirty="0">
                <a:latin typeface="Lucida Bright" panose="02040602050505020304" pitchFamily="18" charset="0"/>
                <a:cs typeface="Arial" panose="020B0604020202020204" pitchFamily="34" charset="0"/>
              </a:rPr>
              <a:t>The above command is used to split the fields using delimiter and cut the first two fields. </a:t>
            </a:r>
          </a:p>
          <a:p>
            <a:pPr>
              <a:defRPr/>
            </a:pPr>
            <a:endParaRPr lang="en-US" dirty="0">
              <a:latin typeface="Lucida Bright" panose="02040602050505020304" pitchFamily="18" charset="0"/>
              <a:cs typeface="Times New Roman" panose="02020603050405020304" pitchFamily="18" charset="0"/>
            </a:endParaRPr>
          </a:p>
        </p:txBody>
      </p:sp>
      <p:sp>
        <p:nvSpPr>
          <p:cNvPr id="67588"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Filters</a:t>
            </a:r>
            <a:endParaRPr lang="en-US" sz="2400" b="1" dirty="0" smtClean="0"/>
          </a:p>
          <a:p>
            <a:pPr algn="ctr"/>
            <a:r>
              <a:rPr lang="en-US" sz="4000" dirty="0"/>
              <a:t>	</a:t>
            </a:r>
            <a:endParaRPr lang="en-US" sz="2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TextBox 4"/>
          <p:cNvSpPr txBox="1">
            <a:spLocks noChangeArrowheads="1"/>
          </p:cNvSpPr>
          <p:nvPr/>
        </p:nvSpPr>
        <p:spPr bwMode="auto">
          <a:xfrm>
            <a:off x="0" y="838200"/>
            <a:ext cx="9144000" cy="6740525"/>
          </a:xfrm>
          <a:prstGeom prst="rect">
            <a:avLst/>
          </a:prstGeom>
          <a:noFill/>
          <a:ln w="9525">
            <a:noFill/>
            <a:miter lim="800000"/>
          </a:ln>
        </p:spPr>
        <p:txBody>
          <a:bodyPr>
            <a:spAutoFit/>
          </a:bodyPr>
          <a:lstStyle/>
          <a:p>
            <a:pPr>
              <a:defRPr/>
            </a:pPr>
            <a:r>
              <a:rPr lang="en-US" b="1" dirty="0">
                <a:latin typeface="Lucida Bright" panose="02040602050505020304" pitchFamily="18" charset="0"/>
                <a:cs typeface="Arial" panose="020B0604020202020204" pitchFamily="34" charset="0"/>
              </a:rPr>
              <a:t>paste COMMAND:</a:t>
            </a:r>
          </a:p>
          <a:p>
            <a:pPr>
              <a:defRPr/>
            </a:pPr>
            <a:r>
              <a:rPr lang="en-US" dirty="0">
                <a:latin typeface="Lucida Bright" panose="02040602050505020304" pitchFamily="18" charset="0"/>
                <a:cs typeface="Arial" panose="020B0604020202020204" pitchFamily="34" charset="0"/>
              </a:rPr>
              <a:t>paste command is used to paste the content from one file to another file. It is also used to set column format for each line. </a:t>
            </a:r>
          </a:p>
          <a:p>
            <a:pPr>
              <a:defRPr/>
            </a:pPr>
            <a:r>
              <a:rPr lang="en-US" dirty="0">
                <a:latin typeface="Lucida Bright" panose="02040602050505020304" pitchFamily="18" charset="0"/>
                <a:cs typeface="Arial" panose="020B0604020202020204" pitchFamily="34" charset="0"/>
              </a:rPr>
              <a:t>SYNTAX: </a:t>
            </a:r>
          </a:p>
          <a:p>
            <a:pPr>
              <a:defRPr/>
            </a:pPr>
            <a:r>
              <a:rPr lang="en-US" dirty="0">
                <a:latin typeface="Lucida Bright" panose="02040602050505020304" pitchFamily="18" charset="0"/>
                <a:cs typeface="Arial" panose="020B0604020202020204" pitchFamily="34" charset="0"/>
              </a:rPr>
              <a:t>$ paste [options]</a:t>
            </a:r>
          </a:p>
          <a:p>
            <a:pPr>
              <a:defRPr/>
            </a:pPr>
            <a:endParaRPr lang="en-US" dirty="0">
              <a:latin typeface="Lucida Bright" panose="02040602050505020304" pitchFamily="18" charset="0"/>
              <a:cs typeface="Arial" panose="020B0604020202020204" pitchFamily="34" charset="0"/>
            </a:endParaRPr>
          </a:p>
          <a:p>
            <a:pPr>
              <a:defRPr/>
            </a:pPr>
            <a:r>
              <a:rPr lang="en-US" dirty="0">
                <a:latin typeface="Lucida Bright" panose="02040602050505020304" pitchFamily="18" charset="0"/>
                <a:cs typeface="Arial" panose="020B0604020202020204" pitchFamily="34" charset="0"/>
              </a:rPr>
              <a:t>OPTIONS:</a:t>
            </a:r>
          </a:p>
          <a:p>
            <a:pPr>
              <a:defRPr/>
            </a:pPr>
            <a:r>
              <a:rPr lang="en-US" dirty="0">
                <a:latin typeface="Lucida Bright" panose="02040602050505020304" pitchFamily="18" charset="0"/>
                <a:cs typeface="Arial" panose="020B0604020202020204" pitchFamily="34" charset="0"/>
              </a:rPr>
              <a:t> -s 	Paste one file at a time instead of in parallel. 	</a:t>
            </a:r>
          </a:p>
          <a:p>
            <a:pPr>
              <a:defRPr/>
            </a:pPr>
            <a:r>
              <a:rPr lang="en-US" dirty="0">
                <a:latin typeface="Lucida Bright" panose="02040602050505020304" pitchFamily="18" charset="0"/>
                <a:cs typeface="Arial" panose="020B0604020202020204" pitchFamily="34" charset="0"/>
              </a:rPr>
              <a:t>-d 	Reuse characters from LIST instead of TABs . 	</a:t>
            </a:r>
          </a:p>
          <a:p>
            <a:pPr>
              <a:defRPr/>
            </a:pPr>
            <a:r>
              <a:rPr lang="en-US" b="1" dirty="0">
                <a:latin typeface="Arial" panose="020B0604020202020204" pitchFamily="34" charset="0"/>
                <a:cs typeface="Arial" panose="020B0604020202020204" pitchFamily="34" charset="0"/>
              </a:rPr>
              <a:t>EXAMPLE: </a:t>
            </a:r>
          </a:p>
          <a:p>
            <a:pPr marL="342900" indent="-342900">
              <a:buFontTx/>
              <a:buAutoNum type="arabicPeriod"/>
              <a:defRPr/>
            </a:pPr>
            <a:r>
              <a:rPr lang="en-US" dirty="0">
                <a:latin typeface="Arial" panose="020B0604020202020204" pitchFamily="34" charset="0"/>
                <a:cs typeface="Arial" panose="020B0604020202020204" pitchFamily="34" charset="0"/>
              </a:rPr>
              <a:t>paste test.txt&gt;test1.txt </a:t>
            </a:r>
          </a:p>
          <a:p>
            <a:pPr marL="342900" indent="-342900">
              <a:defRPr/>
            </a:pPr>
            <a:r>
              <a:rPr lang="en-US" dirty="0">
                <a:latin typeface="Arial" panose="020B0604020202020204" pitchFamily="34" charset="0"/>
                <a:cs typeface="Arial" panose="020B0604020202020204" pitchFamily="34" charset="0"/>
              </a:rPr>
              <a:t>	Paste the content from 'test.txt' file to 'test1.txt' file. </a:t>
            </a:r>
          </a:p>
          <a:p>
            <a:pPr>
              <a:defRPr/>
            </a:pPr>
            <a:r>
              <a:rPr lang="en-US" dirty="0">
                <a:latin typeface="Arial" panose="020B0604020202020204" pitchFamily="34" charset="0"/>
                <a:cs typeface="Arial" panose="020B0604020202020204" pitchFamily="34" charset="0"/>
              </a:rPr>
              <a:t>2. </a:t>
            </a:r>
            <a:r>
              <a:rPr lang="en-US" dirty="0" err="1">
                <a:latin typeface="Arial" panose="020B0604020202020204" pitchFamily="34" charset="0"/>
                <a:cs typeface="Arial" panose="020B0604020202020204" pitchFamily="34" charset="0"/>
              </a:rPr>
              <a:t>ls</a:t>
            </a:r>
            <a:r>
              <a:rPr lang="en-US" dirty="0">
                <a:latin typeface="Arial" panose="020B0604020202020204" pitchFamily="34" charset="0"/>
                <a:cs typeface="Arial" panose="020B0604020202020204" pitchFamily="34" charset="0"/>
              </a:rPr>
              <a:t> | paste - - - - </a:t>
            </a:r>
          </a:p>
          <a:p>
            <a:pPr>
              <a:defRPr/>
            </a:pPr>
            <a:r>
              <a:rPr lang="en-US" dirty="0">
                <a:latin typeface="Arial" panose="020B0604020202020204" pitchFamily="34" charset="0"/>
                <a:cs typeface="Arial" panose="020B0604020202020204" pitchFamily="34" charset="0"/>
              </a:rPr>
              <a:t>      List all files and directories in four columns for each line.</a:t>
            </a:r>
          </a:p>
          <a:p>
            <a:pPr>
              <a:defRPr/>
            </a:pPr>
            <a:r>
              <a:rPr lang="en-US" b="1" dirty="0">
                <a:latin typeface="Arial" panose="020B0604020202020204" pitchFamily="34" charset="0"/>
                <a:cs typeface="Arial" panose="020B0604020202020204" pitchFamily="34" charset="0"/>
              </a:rPr>
              <a:t>sort COMMAND:</a:t>
            </a:r>
          </a:p>
          <a:p>
            <a:pPr>
              <a:defRPr/>
            </a:pPr>
            <a:r>
              <a:rPr lang="en-US" dirty="0">
                <a:latin typeface="Arial" panose="020B0604020202020204" pitchFamily="34" charset="0"/>
                <a:cs typeface="Arial" panose="020B0604020202020204" pitchFamily="34" charset="0"/>
              </a:rPr>
              <a:t>sort command is used to sort the lines in a text file.</a:t>
            </a:r>
          </a:p>
          <a:p>
            <a:pPr>
              <a:defRPr/>
            </a:pPr>
            <a:r>
              <a:rPr lang="en-US" b="1" dirty="0">
                <a:latin typeface="Arial" panose="020B0604020202020204" pitchFamily="34" charset="0"/>
                <a:cs typeface="Arial" panose="020B0604020202020204" pitchFamily="34" charset="0"/>
              </a:rPr>
              <a:t>SYNTAX:</a:t>
            </a:r>
          </a:p>
          <a:p>
            <a:pPr>
              <a:defRPr/>
            </a:pPr>
            <a:r>
              <a:rPr lang="en-US" dirty="0">
                <a:latin typeface="Arial" panose="020B0604020202020204" pitchFamily="34" charset="0"/>
                <a:cs typeface="Arial" panose="020B0604020202020204" pitchFamily="34" charset="0"/>
              </a:rPr>
              <a:t>sort [options] filename</a:t>
            </a:r>
          </a:p>
          <a:p>
            <a:pPr>
              <a:defRPr/>
            </a:pPr>
            <a:r>
              <a:rPr lang="en-US" b="1" dirty="0">
                <a:latin typeface="Arial" panose="020B0604020202020204" pitchFamily="34" charset="0"/>
                <a:cs typeface="Arial" panose="020B0604020202020204" pitchFamily="34" charset="0"/>
              </a:rPr>
              <a:t>OPTIONS: </a:t>
            </a:r>
          </a:p>
          <a:p>
            <a:pPr>
              <a:defRPr/>
            </a:pPr>
            <a:r>
              <a:rPr lang="en-US" dirty="0">
                <a:latin typeface="Arial" panose="020B0604020202020204" pitchFamily="34" charset="0"/>
                <a:cs typeface="Arial" panose="020B0604020202020204" pitchFamily="34" charset="0"/>
              </a:rPr>
              <a:t>-r 	Sorts in reverse order. 	</a:t>
            </a:r>
          </a:p>
          <a:p>
            <a:pPr>
              <a:defRPr/>
            </a:pPr>
            <a:r>
              <a:rPr lang="en-US" dirty="0">
                <a:latin typeface="Arial" panose="020B0604020202020204" pitchFamily="34" charset="0"/>
                <a:cs typeface="Arial" panose="020B0604020202020204" pitchFamily="34" charset="0"/>
              </a:rPr>
              <a:t>-u 	If line is duplicated display only once. 	</a:t>
            </a:r>
          </a:p>
          <a:p>
            <a:pPr>
              <a:defRPr/>
            </a:pPr>
            <a:r>
              <a:rPr lang="en-US" dirty="0">
                <a:latin typeface="Arial" panose="020B0604020202020204" pitchFamily="34" charset="0"/>
                <a:cs typeface="Arial" panose="020B0604020202020204" pitchFamily="34" charset="0"/>
              </a:rPr>
              <a:t>-o filename 	Sends sorted output to a file. 	</a:t>
            </a:r>
          </a:p>
          <a:p>
            <a:pPr>
              <a:defRPr/>
            </a:pPr>
            <a:endParaRPr lang="en-US" dirty="0">
              <a:latin typeface="Lucida Bright" panose="02040602050505020304" pitchFamily="18" charset="0"/>
              <a:cs typeface="Arial" panose="020B0604020202020204" pitchFamily="34" charset="0"/>
            </a:endParaRPr>
          </a:p>
          <a:p>
            <a:pPr>
              <a:defRPr/>
            </a:pPr>
            <a:endParaRPr lang="en-US" dirty="0">
              <a:latin typeface="Lucida Bright" panose="02040602050505020304" pitchFamily="18" charset="0"/>
              <a:cs typeface="Times New Roman" panose="02020603050405020304" pitchFamily="18" charset="0"/>
            </a:endParaRPr>
          </a:p>
        </p:txBody>
      </p:sp>
      <p:sp>
        <p:nvSpPr>
          <p:cNvPr id="6861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Filters</a:t>
            </a:r>
            <a:endParaRPr lang="en-US" sz="2400" b="1" dirty="0" smtClean="0"/>
          </a:p>
          <a:p>
            <a:pPr algn="ctr"/>
            <a:endParaRPr lang="en-US" sz="24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TextBox 4"/>
          <p:cNvSpPr txBox="1">
            <a:spLocks noChangeArrowheads="1"/>
          </p:cNvSpPr>
          <p:nvPr/>
        </p:nvSpPr>
        <p:spPr bwMode="auto">
          <a:xfrm>
            <a:off x="0" y="762000"/>
            <a:ext cx="9144000" cy="4524375"/>
          </a:xfrm>
          <a:prstGeom prst="rect">
            <a:avLst/>
          </a:prstGeom>
          <a:noFill/>
          <a:ln w="9525">
            <a:noFill/>
            <a:miter lim="800000"/>
          </a:ln>
        </p:spPr>
        <p:txBody>
          <a:bodyPr>
            <a:spAutoFit/>
          </a:bodyPr>
          <a:lstStyle/>
          <a:p>
            <a:pPr>
              <a:defRPr/>
            </a:pPr>
            <a:endParaRPr lang="en-US" dirty="0">
              <a:latin typeface="Lucida Bright" panose="02040602050505020304" pitchFamily="18" charset="0"/>
              <a:cs typeface="Arial" panose="020B0604020202020204" pitchFamily="34" charset="0"/>
            </a:endParaRPr>
          </a:p>
          <a:p>
            <a:pPr>
              <a:defRPr/>
            </a:pPr>
            <a:r>
              <a:rPr lang="en-US" b="1" dirty="0">
                <a:latin typeface="Lucida Bright" panose="02040602050505020304" pitchFamily="18" charset="0"/>
                <a:cs typeface="Arial" panose="020B0604020202020204" pitchFamily="34" charset="0"/>
              </a:rPr>
              <a:t>EXAMPLE: </a:t>
            </a:r>
          </a:p>
          <a:p>
            <a:pPr marL="342900" indent="-342900">
              <a:buFontTx/>
              <a:buAutoNum type="arabicPeriod"/>
              <a:defRPr/>
            </a:pPr>
            <a:r>
              <a:rPr lang="en-US" dirty="0">
                <a:latin typeface="Lucida Bright" panose="02040602050505020304" pitchFamily="18" charset="0"/>
                <a:cs typeface="Arial" panose="020B0604020202020204" pitchFamily="34" charset="0"/>
              </a:rPr>
              <a:t>sort test.txt </a:t>
            </a:r>
          </a:p>
          <a:p>
            <a:pPr marL="342900" indent="-342900">
              <a:defRPr/>
            </a:pPr>
            <a:r>
              <a:rPr lang="en-US" dirty="0">
                <a:latin typeface="Lucida Bright" panose="02040602050505020304" pitchFamily="18" charset="0"/>
                <a:cs typeface="Arial" panose="020B0604020202020204" pitchFamily="34" charset="0"/>
              </a:rPr>
              <a:t>	Sorts the '</a:t>
            </a:r>
            <a:r>
              <a:rPr lang="en-US" dirty="0" err="1">
                <a:latin typeface="Lucida Bright" panose="02040602050505020304" pitchFamily="18" charset="0"/>
                <a:cs typeface="Arial" panose="020B0604020202020204" pitchFamily="34" charset="0"/>
              </a:rPr>
              <a:t>test.txt'file</a:t>
            </a:r>
            <a:r>
              <a:rPr lang="en-US" dirty="0">
                <a:latin typeface="Lucida Bright" panose="02040602050505020304" pitchFamily="18" charset="0"/>
                <a:cs typeface="Arial" panose="020B0604020202020204" pitchFamily="34" charset="0"/>
              </a:rPr>
              <a:t> and prints result in the screen. </a:t>
            </a:r>
          </a:p>
          <a:p>
            <a:pPr>
              <a:defRPr/>
            </a:pPr>
            <a:r>
              <a:rPr lang="en-US" dirty="0">
                <a:latin typeface="Lucida Bright" panose="02040602050505020304" pitchFamily="18" charset="0"/>
                <a:cs typeface="Arial" panose="020B0604020202020204" pitchFamily="34" charset="0"/>
              </a:rPr>
              <a:t>2. sort -r test.txt </a:t>
            </a:r>
          </a:p>
          <a:p>
            <a:pPr>
              <a:defRPr/>
            </a:pPr>
            <a:r>
              <a:rPr lang="en-US" dirty="0">
                <a:latin typeface="Lucida Bright" panose="02040602050505020304" pitchFamily="18" charset="0"/>
                <a:cs typeface="Arial" panose="020B0604020202020204" pitchFamily="34" charset="0"/>
              </a:rPr>
              <a:t>	Sorts the 'test.txt' file in reverse order and prints result in the screen </a:t>
            </a:r>
          </a:p>
          <a:p>
            <a:pPr>
              <a:defRPr/>
            </a:pPr>
            <a:r>
              <a:rPr lang="en-US" b="1" dirty="0" err="1">
                <a:latin typeface="Lucida Bright" panose="02040602050505020304" pitchFamily="18" charset="0"/>
                <a:cs typeface="Arial" panose="020B0604020202020204" pitchFamily="34" charset="0"/>
              </a:rPr>
              <a:t>tr</a:t>
            </a:r>
            <a:r>
              <a:rPr lang="en-US" b="1" dirty="0">
                <a:latin typeface="Lucida Bright" panose="02040602050505020304" pitchFamily="18" charset="0"/>
                <a:cs typeface="Arial" panose="020B0604020202020204" pitchFamily="34" charset="0"/>
              </a:rPr>
              <a:t> COMMAND:</a:t>
            </a:r>
          </a:p>
          <a:p>
            <a:pPr>
              <a:buFont typeface="Arial" panose="020B0604020202020204" pitchFamily="34" charset="0"/>
              <a:buChar char="•"/>
              <a:defRPr/>
            </a:pPr>
            <a:r>
              <a:rPr lang="en-US" dirty="0" err="1">
                <a:latin typeface="Lucida Bright" panose="02040602050505020304" pitchFamily="18" charset="0"/>
                <a:cs typeface="Arial" panose="020B0604020202020204" pitchFamily="34" charset="0"/>
              </a:rPr>
              <a:t>tr</a:t>
            </a:r>
            <a:r>
              <a:rPr lang="en-US" dirty="0">
                <a:latin typeface="Lucida Bright" panose="02040602050505020304" pitchFamily="18" charset="0"/>
                <a:cs typeface="Arial" panose="020B0604020202020204" pitchFamily="34" charset="0"/>
              </a:rPr>
              <a:t> filter translates specified characters into other characters.</a:t>
            </a:r>
          </a:p>
          <a:p>
            <a:pPr>
              <a:defRPr/>
            </a:pPr>
            <a:r>
              <a:rPr lang="en-US" dirty="0">
                <a:latin typeface="Lucida Bright" panose="02040602050505020304" pitchFamily="18" charset="0"/>
                <a:cs typeface="Arial" panose="020B0604020202020204" pitchFamily="34" charset="0"/>
              </a:rPr>
              <a:t> Normal usage</a:t>
            </a:r>
          </a:p>
          <a:p>
            <a:pPr>
              <a:defRPr/>
            </a:pP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tr</a:t>
            </a:r>
            <a:r>
              <a:rPr lang="en-US" dirty="0">
                <a:latin typeface="Lucida Bright" panose="02040602050505020304" pitchFamily="18" charset="0"/>
                <a:cs typeface="Arial" panose="020B0604020202020204" pitchFamily="34" charset="0"/>
              </a:rPr>
              <a:t> string1 string2</a:t>
            </a:r>
          </a:p>
          <a:p>
            <a:pPr>
              <a:buFont typeface="Arial" panose="020B0604020202020204" pitchFamily="34" charset="0"/>
              <a:buChar char="•"/>
              <a:defRPr/>
            </a:pPr>
            <a:r>
              <a:rPr lang="en-US" dirty="0">
                <a:latin typeface="Lucida Bright" panose="02040602050505020304" pitchFamily="18" charset="0"/>
                <a:cs typeface="Arial" panose="020B0604020202020204" pitchFamily="34" charset="0"/>
              </a:rPr>
              <a:t>• Translates any character read from </a:t>
            </a:r>
            <a:r>
              <a:rPr lang="en-US" dirty="0" err="1">
                <a:latin typeface="Lucida Bright" panose="02040602050505020304" pitchFamily="18" charset="0"/>
                <a:cs typeface="Arial" panose="020B0604020202020204" pitchFamily="34" charset="0"/>
              </a:rPr>
              <a:t>stdin</a:t>
            </a:r>
            <a:r>
              <a:rPr lang="en-US" dirty="0">
                <a:latin typeface="Lucida Bright" panose="02040602050505020304" pitchFamily="18" charset="0"/>
                <a:cs typeface="Arial" panose="020B0604020202020204" pitchFamily="34" charset="0"/>
              </a:rPr>
              <a:t> that is in string1 into the corresponding character from string2; otherwise the character is simply passed through.</a:t>
            </a:r>
          </a:p>
          <a:p>
            <a:pPr>
              <a:buFont typeface="Arial" panose="020B0604020202020204" pitchFamily="34" charset="0"/>
              <a:buChar char="•"/>
              <a:defRPr/>
            </a:pPr>
            <a:r>
              <a:rPr lang="en-US" dirty="0">
                <a:latin typeface="Lucida Bright" panose="02040602050505020304" pitchFamily="18" charset="0"/>
                <a:cs typeface="Arial" panose="020B0604020202020204" pitchFamily="34" charset="0"/>
              </a:rPr>
              <a:t>• string1 and string2 normally have the same number of characters.</a:t>
            </a:r>
          </a:p>
          <a:p>
            <a:pPr>
              <a:buFont typeface="Arial" panose="020B0604020202020204" pitchFamily="34" charset="0"/>
              <a:buChar char="•"/>
              <a:defRPr/>
            </a:pP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Eg</a:t>
            </a: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tr</a:t>
            </a: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abc</a:t>
            </a:r>
            <a:r>
              <a:rPr lang="en-US" dirty="0">
                <a:latin typeface="Lucida Bright" panose="02040602050505020304" pitchFamily="18" charset="0"/>
                <a:cs typeface="Arial" panose="020B0604020202020204" pitchFamily="34" charset="0"/>
              </a:rPr>
              <a:t> X5Z</a:t>
            </a:r>
          </a:p>
          <a:p>
            <a:pPr>
              <a:defRPr/>
            </a:pPr>
            <a:r>
              <a:rPr lang="en-US" dirty="0">
                <a:latin typeface="Lucida Bright" panose="02040602050505020304" pitchFamily="18" charset="0"/>
                <a:cs typeface="Arial" panose="020B0604020202020204" pitchFamily="34" charset="0"/>
              </a:rPr>
              <a:t>	translates a into X, b into 5 and c into Z.</a:t>
            </a:r>
          </a:p>
        </p:txBody>
      </p:sp>
      <p:sp>
        <p:nvSpPr>
          <p:cNvPr id="69636"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t>Filters </a:t>
            </a:r>
            <a:endParaRPr lang="en-US" sz="2400" b="1" dirty="0" smtClean="0"/>
          </a:p>
          <a:p>
            <a:pPr algn="ctr"/>
            <a:endParaRPr lang="en-US"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Box 2"/>
          <p:cNvSpPr txBox="1">
            <a:spLocks noChangeArrowheads="1"/>
          </p:cNvSpPr>
          <p:nvPr/>
        </p:nvSpPr>
        <p:spPr bwMode="auto">
          <a:xfrm>
            <a:off x="0" y="838200"/>
            <a:ext cx="9144000" cy="6462713"/>
          </a:xfrm>
          <a:prstGeom prst="rect">
            <a:avLst/>
          </a:prstGeom>
          <a:noFill/>
          <a:ln w="9525">
            <a:noFill/>
            <a:miter lim="800000"/>
          </a:ln>
        </p:spPr>
        <p:txBody>
          <a:bodyPr>
            <a:spAutoFit/>
          </a:bodyPr>
          <a:lstStyle/>
          <a:p>
            <a:r>
              <a:rPr lang="en-US" b="1" dirty="0" err="1">
                <a:latin typeface="Lucida Bright" panose="02040602050505020304" pitchFamily="18" charset="0"/>
              </a:rPr>
              <a:t>uniq</a:t>
            </a:r>
            <a:r>
              <a:rPr lang="en-US" b="1" dirty="0">
                <a:latin typeface="Lucida Bright" panose="02040602050505020304" pitchFamily="18" charset="0"/>
              </a:rPr>
              <a:t> COMMAND:</a:t>
            </a:r>
          </a:p>
          <a:p>
            <a:pPr>
              <a:buFont typeface="Arial" panose="020B0604020202020204" pitchFamily="34" charset="0"/>
              <a:buChar char="•"/>
            </a:pPr>
            <a:r>
              <a:rPr lang="en-US" dirty="0" err="1">
                <a:latin typeface="Lucida Bright" panose="02040602050505020304" pitchFamily="18" charset="0"/>
              </a:rPr>
              <a:t>uniq</a:t>
            </a:r>
            <a:r>
              <a:rPr lang="en-US" dirty="0">
                <a:latin typeface="Lucida Bright" panose="02040602050505020304" pitchFamily="18" charset="0"/>
              </a:rPr>
              <a:t> assumes lines of ASCII file are sorted and deals with unique lines depending on the option given.</a:t>
            </a:r>
          </a:p>
          <a:p>
            <a:pPr>
              <a:buFont typeface="Arial" panose="020B0604020202020204" pitchFamily="34" charset="0"/>
              <a:buChar char="•"/>
            </a:pPr>
            <a:r>
              <a:rPr lang="en-US" dirty="0">
                <a:latin typeface="Lucida Bright" panose="02040602050505020304" pitchFamily="18" charset="0"/>
              </a:rPr>
              <a:t> No option, one copy of each unique line is printed to </a:t>
            </a:r>
            <a:r>
              <a:rPr lang="en-US" dirty="0" err="1">
                <a:latin typeface="Lucida Bright" panose="02040602050505020304" pitchFamily="18" charset="0"/>
              </a:rPr>
              <a:t>stdout</a:t>
            </a:r>
            <a:r>
              <a:rPr lang="en-US" dirty="0">
                <a:latin typeface="Lucida Bright" panose="02040602050505020304" pitchFamily="18" charset="0"/>
              </a:rPr>
              <a:t>. Duplicated lines are discarded.</a:t>
            </a:r>
          </a:p>
          <a:p>
            <a:pPr>
              <a:buFont typeface="Arial" panose="020B0604020202020204" pitchFamily="34" charset="0"/>
              <a:buChar char="•"/>
            </a:pPr>
            <a:r>
              <a:rPr lang="en-US" dirty="0">
                <a:latin typeface="Lucida Bright" panose="02040602050505020304" pitchFamily="18" charset="0"/>
              </a:rPr>
              <a:t> </a:t>
            </a:r>
            <a:r>
              <a:rPr lang="en-US" dirty="0" err="1">
                <a:latin typeface="Lucida Bright" panose="02040602050505020304" pitchFamily="18" charset="0"/>
              </a:rPr>
              <a:t>Eg</a:t>
            </a:r>
            <a:r>
              <a:rPr lang="en-US" dirty="0">
                <a:latin typeface="Lucida Bright" panose="02040602050505020304" pitchFamily="18" charset="0"/>
              </a:rPr>
              <a:t> </a:t>
            </a:r>
            <a:r>
              <a:rPr lang="en-US" dirty="0" err="1">
                <a:latin typeface="Lucida Bright" panose="02040602050505020304" pitchFamily="18" charset="0"/>
              </a:rPr>
              <a:t>uniq</a:t>
            </a:r>
            <a:r>
              <a:rPr lang="en-US" dirty="0">
                <a:latin typeface="Lucida Bright" panose="02040602050505020304" pitchFamily="18" charset="0"/>
              </a:rPr>
              <a:t> </a:t>
            </a:r>
            <a:r>
              <a:rPr lang="en-US" dirty="0" err="1">
                <a:latin typeface="Lucida Bright" panose="02040602050505020304" pitchFamily="18" charset="0"/>
              </a:rPr>
              <a:t>dups</a:t>
            </a:r>
            <a:endParaRPr lang="en-US" dirty="0">
              <a:latin typeface="Lucida Bright" panose="02040602050505020304" pitchFamily="18" charset="0"/>
            </a:endParaRPr>
          </a:p>
          <a:p>
            <a:r>
              <a:rPr lang="en-US" dirty="0" err="1">
                <a:latin typeface="Lucida Bright" panose="02040602050505020304" pitchFamily="18" charset="0"/>
              </a:rPr>
              <a:t>dups</a:t>
            </a:r>
            <a:r>
              <a:rPr lang="en-US" dirty="0">
                <a:latin typeface="Lucida Bright" panose="02040602050505020304" pitchFamily="18" charset="0"/>
              </a:rPr>
              <a:t>: 	default output:</a:t>
            </a:r>
          </a:p>
          <a:p>
            <a:r>
              <a:rPr lang="en-US" dirty="0">
                <a:latin typeface="Lucida Bright" panose="02040602050505020304" pitchFamily="18" charset="0"/>
              </a:rPr>
              <a:t>A	 </a:t>
            </a:r>
            <a:r>
              <a:rPr lang="en-US" dirty="0" err="1">
                <a:latin typeface="Lucida Bright" panose="02040602050505020304" pitchFamily="18" charset="0"/>
              </a:rPr>
              <a:t>a</a:t>
            </a:r>
            <a:endParaRPr lang="en-US" dirty="0">
              <a:latin typeface="Lucida Bright" panose="02040602050505020304" pitchFamily="18" charset="0"/>
            </a:endParaRPr>
          </a:p>
          <a:p>
            <a:r>
              <a:rPr lang="en-US" dirty="0">
                <a:latin typeface="Lucida Bright" panose="02040602050505020304" pitchFamily="18" charset="0"/>
              </a:rPr>
              <a:t>b 	</a:t>
            </a:r>
            <a:r>
              <a:rPr lang="en-US" dirty="0" err="1">
                <a:latin typeface="Lucida Bright" panose="02040602050505020304" pitchFamily="18" charset="0"/>
              </a:rPr>
              <a:t>b</a:t>
            </a:r>
            <a:endParaRPr lang="en-US" dirty="0">
              <a:latin typeface="Lucida Bright" panose="02040602050505020304" pitchFamily="18" charset="0"/>
            </a:endParaRPr>
          </a:p>
          <a:p>
            <a:r>
              <a:rPr lang="en-US" dirty="0">
                <a:latin typeface="Lucida Bright" panose="02040602050505020304" pitchFamily="18" charset="0"/>
              </a:rPr>
              <a:t>b 	c</a:t>
            </a:r>
          </a:p>
          <a:p>
            <a:r>
              <a:rPr lang="en-US" dirty="0">
                <a:latin typeface="Lucida Bright" panose="02040602050505020304" pitchFamily="18" charset="0"/>
              </a:rPr>
              <a:t>c 	</a:t>
            </a:r>
            <a:r>
              <a:rPr lang="en-US" dirty="0" err="1">
                <a:latin typeface="Lucida Bright" panose="02040602050505020304" pitchFamily="18" charset="0"/>
              </a:rPr>
              <a:t>dd</a:t>
            </a:r>
            <a:endParaRPr lang="en-US" dirty="0">
              <a:latin typeface="Lucida Bright" panose="02040602050505020304" pitchFamily="18" charset="0"/>
            </a:endParaRPr>
          </a:p>
          <a:p>
            <a:r>
              <a:rPr lang="en-US" dirty="0" err="1">
                <a:latin typeface="Lucida Bright" panose="02040602050505020304" pitchFamily="18" charset="0"/>
              </a:rPr>
              <a:t>dd</a:t>
            </a:r>
            <a:r>
              <a:rPr lang="en-US" dirty="0">
                <a:latin typeface="Lucida Bright" panose="02040602050505020304" pitchFamily="18" charset="0"/>
              </a:rPr>
              <a:t> 	</a:t>
            </a:r>
            <a:r>
              <a:rPr lang="en-US" dirty="0" err="1">
                <a:latin typeface="Lucida Bright" panose="02040602050505020304" pitchFamily="18" charset="0"/>
              </a:rPr>
              <a:t>ddd</a:t>
            </a:r>
            <a:endParaRPr lang="en-US" dirty="0">
              <a:latin typeface="Lucida Bright" panose="02040602050505020304" pitchFamily="18" charset="0"/>
            </a:endParaRPr>
          </a:p>
          <a:p>
            <a:r>
              <a:rPr lang="en-US" dirty="0" err="1">
                <a:latin typeface="Lucida Bright" panose="02040602050505020304" pitchFamily="18" charset="0"/>
              </a:rPr>
              <a:t>ddd</a:t>
            </a:r>
            <a:endParaRPr lang="en-US" dirty="0">
              <a:latin typeface="Lucida Bright" panose="02040602050505020304" pitchFamily="18" charset="0"/>
            </a:endParaRPr>
          </a:p>
          <a:p>
            <a:r>
              <a:rPr lang="en-US" dirty="0" err="1">
                <a:latin typeface="Lucida Bright" panose="02040602050505020304" pitchFamily="18" charset="0"/>
              </a:rPr>
              <a:t>ddd</a:t>
            </a:r>
            <a:endParaRPr lang="en-US" dirty="0">
              <a:latin typeface="Lucida Bright" panose="02040602050505020304" pitchFamily="18" charset="0"/>
            </a:endParaRPr>
          </a:p>
          <a:p>
            <a:r>
              <a:rPr lang="en-US" dirty="0" err="1">
                <a:latin typeface="Lucida Bright" panose="02040602050505020304" pitchFamily="18" charset="0"/>
              </a:rPr>
              <a:t>Ddd</a:t>
            </a:r>
            <a:endParaRPr lang="en-US" dirty="0">
              <a:latin typeface="Lucida Bright" panose="02040602050505020304" pitchFamily="18" charset="0"/>
            </a:endParaRPr>
          </a:p>
          <a:p>
            <a:pPr>
              <a:buFont typeface="Arial" panose="020B0604020202020204" pitchFamily="34" charset="0"/>
              <a:buChar char="•"/>
            </a:pPr>
            <a:r>
              <a:rPr lang="en-US" dirty="0"/>
              <a:t> -u option prints only those lines that have no duplicates.</a:t>
            </a:r>
          </a:p>
          <a:p>
            <a:pPr>
              <a:buFont typeface="Arial" panose="020B0604020202020204" pitchFamily="34" charset="0"/>
              <a:buChar char="•"/>
            </a:pPr>
            <a:r>
              <a:rPr lang="en-US" dirty="0"/>
              <a:t> </a:t>
            </a:r>
            <a:r>
              <a:rPr lang="en-US" dirty="0" err="1"/>
              <a:t>Eg</a:t>
            </a:r>
            <a:r>
              <a:rPr lang="en-US" dirty="0"/>
              <a:t> </a:t>
            </a:r>
            <a:r>
              <a:rPr lang="en-US" dirty="0" err="1"/>
              <a:t>uniq</a:t>
            </a:r>
            <a:r>
              <a:rPr lang="en-US" dirty="0"/>
              <a:t> -u </a:t>
            </a:r>
            <a:r>
              <a:rPr lang="en-US" dirty="0" err="1"/>
              <a:t>dups</a:t>
            </a:r>
            <a:endParaRPr lang="en-US" dirty="0"/>
          </a:p>
          <a:p>
            <a:r>
              <a:rPr lang="en-US" dirty="0" err="1"/>
              <a:t>dups</a:t>
            </a:r>
            <a:r>
              <a:rPr lang="en-US" dirty="0"/>
              <a:t>:	 -u output:</a:t>
            </a:r>
          </a:p>
          <a:p>
            <a:r>
              <a:rPr lang="en-US" dirty="0"/>
              <a:t>a	 </a:t>
            </a:r>
            <a:r>
              <a:rPr lang="en-US" dirty="0" err="1"/>
              <a:t>a</a:t>
            </a:r>
            <a:endParaRPr lang="en-US" dirty="0"/>
          </a:p>
          <a:p>
            <a:r>
              <a:rPr lang="en-US" dirty="0"/>
              <a:t>b	 c</a:t>
            </a:r>
          </a:p>
          <a:p>
            <a:r>
              <a:rPr lang="en-US" dirty="0"/>
              <a:t>b 	</a:t>
            </a:r>
            <a:r>
              <a:rPr lang="en-US" dirty="0" err="1"/>
              <a:t>dd</a:t>
            </a:r>
            <a:endParaRPr lang="en-US" dirty="0"/>
          </a:p>
          <a:p>
            <a:r>
              <a:rPr lang="en-US" dirty="0"/>
              <a:t>c</a:t>
            </a:r>
          </a:p>
          <a:p>
            <a:endParaRPr lang="en-US" dirty="0">
              <a:latin typeface="Lucida Bright" panose="02040602050505020304" pitchFamily="18" charset="0"/>
            </a:endParaRPr>
          </a:p>
        </p:txBody>
      </p:sp>
      <p:sp>
        <p:nvSpPr>
          <p:cNvPr id="76803"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Filters </a:t>
            </a:r>
            <a:endParaRPr lang="en-US" sz="40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11" name="Rectangle 3"/>
          <p:cNvSpPr>
            <a:spLocks noChangeArrowheads="1"/>
          </p:cNvSpPr>
          <p:nvPr/>
        </p:nvSpPr>
        <p:spPr bwMode="auto">
          <a:xfrm>
            <a:off x="0" y="762000"/>
            <a:ext cx="9144000" cy="4894263"/>
          </a:xfrm>
          <a:prstGeom prst="rect">
            <a:avLst/>
          </a:prstGeom>
          <a:ln w="9525">
            <a:noFill/>
            <a:miter lim="800000"/>
          </a:ln>
        </p:spPr>
        <p:style>
          <a:lnRef idx="0">
            <a:scrgbClr r="0" g="0" b="0"/>
          </a:lnRef>
          <a:fillRef idx="1001">
            <a:schemeClr val="lt1"/>
          </a:fillRef>
          <a:effectRef idx="0">
            <a:scrgbClr r="0" g="0" b="0"/>
          </a:effectRef>
          <a:fontRef idx="major"/>
        </p:style>
        <p:txBody>
          <a:bodyPr>
            <a:spAutoFit/>
          </a:bodyPr>
          <a:lstStyle/>
          <a:p>
            <a:pPr>
              <a:defRPr/>
            </a:pPr>
            <a:r>
              <a:rPr lang="en-US" sz="2400" dirty="0"/>
              <a:t> -d option prints only those lines that have duplicates.</a:t>
            </a:r>
          </a:p>
          <a:p>
            <a:pPr>
              <a:defRPr/>
            </a:pPr>
            <a:r>
              <a:rPr lang="en-US" sz="2400" dirty="0"/>
              <a:t> </a:t>
            </a:r>
            <a:r>
              <a:rPr lang="en-US" sz="2400" dirty="0" err="1"/>
              <a:t>Eg</a:t>
            </a:r>
            <a:r>
              <a:rPr lang="en-US" sz="2400" dirty="0"/>
              <a:t> </a:t>
            </a:r>
            <a:r>
              <a:rPr lang="en-US" sz="2400" dirty="0" err="1"/>
              <a:t>uniq</a:t>
            </a:r>
            <a:r>
              <a:rPr lang="en-US" sz="2400" dirty="0"/>
              <a:t> -d </a:t>
            </a:r>
            <a:r>
              <a:rPr lang="en-US" sz="2400" dirty="0" err="1"/>
              <a:t>dups</a:t>
            </a:r>
            <a:endParaRPr lang="en-US" sz="2400" dirty="0"/>
          </a:p>
          <a:p>
            <a:pPr>
              <a:defRPr/>
            </a:pPr>
            <a:r>
              <a:rPr lang="en-US" sz="2400" dirty="0" err="1"/>
              <a:t>dups</a:t>
            </a:r>
            <a:r>
              <a:rPr lang="en-US" sz="2400" dirty="0"/>
              <a:t>: 	-d output:</a:t>
            </a:r>
          </a:p>
          <a:p>
            <a:pPr>
              <a:defRPr/>
            </a:pPr>
            <a:r>
              <a:rPr lang="en-US" sz="2400" dirty="0"/>
              <a:t>a 	b</a:t>
            </a:r>
          </a:p>
          <a:p>
            <a:pPr>
              <a:defRPr/>
            </a:pPr>
            <a:r>
              <a:rPr lang="en-US" sz="2400" dirty="0"/>
              <a:t>b 	</a:t>
            </a:r>
            <a:r>
              <a:rPr lang="en-US" sz="2400" dirty="0" err="1"/>
              <a:t>ddd</a:t>
            </a:r>
            <a:endParaRPr lang="en-US" sz="2400" dirty="0"/>
          </a:p>
          <a:p>
            <a:pPr>
              <a:defRPr/>
            </a:pPr>
            <a:r>
              <a:rPr lang="en-US" sz="2400" dirty="0"/>
              <a:t>b	</a:t>
            </a:r>
          </a:p>
          <a:p>
            <a:pPr>
              <a:defRPr/>
            </a:pPr>
            <a:r>
              <a:rPr lang="en-US" sz="2400" dirty="0"/>
              <a:t>c</a:t>
            </a:r>
          </a:p>
          <a:p>
            <a:pPr>
              <a:defRPr/>
            </a:pPr>
            <a:r>
              <a:rPr lang="en-US" sz="2400" dirty="0" err="1"/>
              <a:t>dd</a:t>
            </a:r>
            <a:endParaRPr lang="en-US" sz="2400" dirty="0"/>
          </a:p>
          <a:p>
            <a:pPr>
              <a:defRPr/>
            </a:pPr>
            <a:r>
              <a:rPr lang="en-US" sz="2400" dirty="0" err="1"/>
              <a:t>ddd</a:t>
            </a:r>
            <a:endParaRPr lang="en-US" sz="2400" dirty="0"/>
          </a:p>
          <a:p>
            <a:pPr>
              <a:defRPr/>
            </a:pPr>
            <a:r>
              <a:rPr lang="en-US" sz="2400" dirty="0" err="1"/>
              <a:t>ddd</a:t>
            </a:r>
            <a:endParaRPr lang="en-US" sz="2400" dirty="0"/>
          </a:p>
          <a:p>
            <a:pPr>
              <a:defRPr/>
            </a:pPr>
            <a:r>
              <a:rPr lang="en-US" sz="2400" dirty="0" err="1"/>
              <a:t>ddd</a:t>
            </a:r>
            <a:endParaRPr lang="en-US" sz="2400" dirty="0"/>
          </a:p>
          <a:p>
            <a:pPr>
              <a:defRPr/>
            </a:pPr>
            <a:r>
              <a:rPr lang="en-US" sz="2400" dirty="0"/>
              <a:t> </a:t>
            </a:r>
            <a:r>
              <a:rPr lang="en-US" sz="2400" dirty="0" err="1"/>
              <a:t>uniq</a:t>
            </a:r>
            <a:r>
              <a:rPr lang="en-US" sz="2400" dirty="0"/>
              <a:t> runs as filter or as program driving a pipeline.</a:t>
            </a:r>
          </a:p>
          <a:p>
            <a:pPr>
              <a:defRPr/>
            </a:pPr>
            <a:r>
              <a:rPr lang="en-US" sz="2400"/>
              <a:t> </a:t>
            </a:r>
            <a:r>
              <a:rPr lang="en-US" sz="2400" dirty="0"/>
              <a:t>There are options to compare fields and </a:t>
            </a:r>
            <a:r>
              <a:rPr lang="en-US" sz="2400"/>
              <a:t>to count duplicated </a:t>
            </a:r>
            <a:r>
              <a:rPr lang="en-US" sz="2400" dirty="0"/>
              <a:t>lines.</a:t>
            </a:r>
            <a:endParaRPr lang="en-US" sz="2400" b="1" dirty="0">
              <a:latin typeface="Lucida Sans" panose="020B0602030504020204" pitchFamily="34" charset="0"/>
              <a:cs typeface="Arial" panose="020B0604020202020204" pitchFamily="34" charset="0"/>
            </a:endParaRPr>
          </a:p>
        </p:txBody>
      </p:sp>
      <p:sp>
        <p:nvSpPr>
          <p:cNvPr id="77829"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Filters </a:t>
            </a:r>
            <a:endParaRPr lang="en-US" sz="2400" b="1" dirty="0" smtClean="0"/>
          </a:p>
          <a:p>
            <a:pPr algn="ctr"/>
            <a:endParaRPr lang="en-US" sz="40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5605" name="Rectangle 3"/>
          <p:cNvSpPr>
            <a:spLocks noChangeArrowheads="1"/>
          </p:cNvSpPr>
          <p:nvPr/>
        </p:nvSpPr>
        <p:spPr bwMode="auto">
          <a:xfrm>
            <a:off x="0" y="762000"/>
            <a:ext cx="9144000" cy="6688138"/>
          </a:xfrm>
          <a:prstGeom prst="rect">
            <a:avLst/>
          </a:prstGeom>
          <a:ln w="9525">
            <a:noFill/>
            <a:miter lim="800000"/>
          </a:ln>
        </p:spPr>
        <p:style>
          <a:lnRef idx="0">
            <a:scrgbClr r="0" g="0" b="0"/>
          </a:lnRef>
          <a:fillRef idx="1001">
            <a:schemeClr val="lt1"/>
          </a:fillRef>
          <a:effectRef idx="0">
            <a:scrgbClr r="0" g="0" b="0"/>
          </a:effectRef>
          <a:fontRef idx="major"/>
        </p:style>
        <p:txBody>
          <a:bodyPr>
            <a:spAutoFit/>
          </a:bodyPr>
          <a:lstStyle/>
          <a:p>
            <a:pPr>
              <a:lnSpc>
                <a:spcPct val="150000"/>
              </a:lnSpc>
              <a:defRPr/>
            </a:pPr>
            <a:r>
              <a:rPr lang="en-US" b="1" dirty="0" err="1">
                <a:latin typeface="Lucida Bright" panose="02040602050505020304" pitchFamily="18" charset="0"/>
                <a:cs typeface="Arial" panose="020B0604020202020204" pitchFamily="34" charset="0"/>
              </a:rPr>
              <a:t>Wc</a:t>
            </a:r>
            <a:r>
              <a:rPr lang="en-US" b="1" dirty="0">
                <a:latin typeface="Lucida Bright" panose="02040602050505020304" pitchFamily="18" charset="0"/>
                <a:cs typeface="Arial" panose="020B0604020202020204" pitchFamily="34" charset="0"/>
              </a:rPr>
              <a:t> COMMAND:</a:t>
            </a:r>
          </a:p>
          <a:p>
            <a:pPr>
              <a:lnSpc>
                <a:spcPct val="150000"/>
              </a:lnSpc>
              <a:defRPr/>
            </a:pPr>
            <a:r>
              <a:rPr lang="en-US" dirty="0">
                <a:latin typeface="Lucida Bright" panose="02040602050505020304" pitchFamily="18" charset="0"/>
                <a:cs typeface="Arial" panose="020B0604020202020204" pitchFamily="34" charset="0"/>
              </a:rPr>
              <a:t>The purpose of </a:t>
            </a:r>
            <a:r>
              <a:rPr lang="en-US" dirty="0" err="1">
                <a:latin typeface="Lucida Bright" panose="02040602050505020304" pitchFamily="18" charset="0"/>
                <a:cs typeface="Arial" panose="020B0604020202020204" pitchFamily="34" charset="0"/>
              </a:rPr>
              <a:t>wc</a:t>
            </a:r>
            <a:r>
              <a:rPr lang="en-US" dirty="0">
                <a:latin typeface="Lucida Bright" panose="02040602050505020304" pitchFamily="18" charset="0"/>
                <a:cs typeface="Arial" panose="020B0604020202020204" pitchFamily="34" charset="0"/>
              </a:rPr>
              <a:t> command is to count the number of </a:t>
            </a:r>
            <a:r>
              <a:rPr lang="en-US" dirty="0" err="1">
                <a:latin typeface="Lucida Bright" panose="02040602050505020304" pitchFamily="18" charset="0"/>
                <a:cs typeface="Arial" panose="020B0604020202020204" pitchFamily="34" charset="0"/>
              </a:rPr>
              <a:t>lines,words,characters</a:t>
            </a:r>
            <a:r>
              <a:rPr lang="en-US" dirty="0">
                <a:latin typeface="Lucida Bright" panose="02040602050505020304" pitchFamily="18" charset="0"/>
                <a:cs typeface="Arial" panose="020B0604020202020204" pitchFamily="34" charset="0"/>
              </a:rPr>
              <a:t> in a particular file or files</a:t>
            </a:r>
          </a:p>
          <a:p>
            <a:pPr>
              <a:lnSpc>
                <a:spcPct val="150000"/>
              </a:lnSpc>
              <a:defRPr/>
            </a:pPr>
            <a:r>
              <a:rPr lang="en-US" dirty="0">
                <a:latin typeface="Lucida Bright" panose="02040602050505020304" pitchFamily="18" charset="0"/>
                <a:cs typeface="Arial" panose="020B0604020202020204" pitchFamily="34" charset="0"/>
              </a:rPr>
              <a:t>Syntax: $ </a:t>
            </a:r>
            <a:r>
              <a:rPr lang="en-US" dirty="0" err="1">
                <a:latin typeface="Lucida Bright" panose="02040602050505020304" pitchFamily="18" charset="0"/>
                <a:cs typeface="Arial" panose="020B0604020202020204" pitchFamily="34" charset="0"/>
              </a:rPr>
              <a:t>wc</a:t>
            </a:r>
            <a:r>
              <a:rPr lang="en-US" dirty="0">
                <a:latin typeface="Lucida Bright" panose="02040602050505020304" pitchFamily="18" charset="0"/>
                <a:cs typeface="Arial" panose="020B0604020202020204" pitchFamily="34" charset="0"/>
              </a:rPr>
              <a:t> filename </a:t>
            </a:r>
            <a:r>
              <a:rPr lang="en-US" b="1" dirty="0">
                <a:latin typeface="Lucida Bright" panose="02040602050505020304" pitchFamily="18" charset="0"/>
                <a:cs typeface="Arial" panose="020B0604020202020204" pitchFamily="34" charset="0"/>
              </a:rPr>
              <a:t> </a:t>
            </a:r>
          </a:p>
          <a:p>
            <a:pPr>
              <a:lnSpc>
                <a:spcPct val="150000"/>
              </a:lnSpc>
              <a:defRPr/>
            </a:pPr>
            <a:r>
              <a:rPr lang="en-US" b="1" dirty="0">
                <a:latin typeface="Lucida Bright" panose="02040602050505020304" pitchFamily="18" charset="0"/>
                <a:cs typeface="Arial" panose="020B0604020202020204" pitchFamily="34" charset="0"/>
              </a:rPr>
              <a:t>Example:</a:t>
            </a:r>
          </a:p>
          <a:p>
            <a:pPr>
              <a:lnSpc>
                <a:spcPct val="150000"/>
              </a:lnSpc>
              <a:defRPr/>
            </a:pPr>
            <a:r>
              <a:rPr lang="en-US" dirty="0">
                <a:latin typeface="Lucida Bright" panose="02040602050505020304" pitchFamily="18" charset="0"/>
                <a:cs typeface="Arial" panose="020B0604020202020204" pitchFamily="34" charset="0"/>
              </a:rPr>
              <a:t>$ </a:t>
            </a:r>
            <a:r>
              <a:rPr lang="en-US" dirty="0" err="1">
                <a:latin typeface="Lucida Bright" panose="02040602050505020304" pitchFamily="18" charset="0"/>
                <a:cs typeface="Arial" panose="020B0604020202020204" pitchFamily="34" charset="0"/>
              </a:rPr>
              <a:t>wc</a:t>
            </a:r>
            <a:r>
              <a:rPr lang="en-US" dirty="0">
                <a:latin typeface="Lucida Bright" panose="02040602050505020304" pitchFamily="18" charset="0"/>
                <a:cs typeface="Arial" panose="020B0604020202020204" pitchFamily="34" charset="0"/>
              </a:rPr>
              <a:t> file1</a:t>
            </a:r>
          </a:p>
          <a:p>
            <a:pPr marL="342900" indent="-342900">
              <a:lnSpc>
                <a:spcPct val="150000"/>
              </a:lnSpc>
              <a:buFontTx/>
              <a:buAutoNum type="arabicPlain" startAt="5"/>
              <a:defRPr/>
            </a:pPr>
            <a:r>
              <a:rPr lang="en-US" dirty="0">
                <a:latin typeface="Lucida Bright" panose="02040602050505020304" pitchFamily="18" charset="0"/>
                <a:cs typeface="Arial" panose="020B0604020202020204" pitchFamily="34" charset="0"/>
              </a:rPr>
              <a:t>40	200	file1</a:t>
            </a:r>
          </a:p>
          <a:p>
            <a:pPr marL="342900" indent="-342900">
              <a:lnSpc>
                <a:spcPct val="150000"/>
              </a:lnSpc>
              <a:defRPr/>
            </a:pPr>
            <a:r>
              <a:rPr lang="en-US" dirty="0">
                <a:latin typeface="Lucida Bright" panose="02040602050505020304" pitchFamily="18" charset="0"/>
                <a:cs typeface="Arial" panose="020B0604020202020204" pitchFamily="34" charset="0"/>
              </a:rPr>
              <a:t>First column represents number of lines</a:t>
            </a:r>
          </a:p>
          <a:p>
            <a:pPr marL="342900" indent="-342900">
              <a:lnSpc>
                <a:spcPct val="150000"/>
              </a:lnSpc>
              <a:defRPr/>
            </a:pPr>
            <a:r>
              <a:rPr lang="en-US" dirty="0">
                <a:latin typeface="Lucida Bright" panose="02040602050505020304" pitchFamily="18" charset="0"/>
                <a:cs typeface="Arial" panose="020B0604020202020204" pitchFamily="34" charset="0"/>
              </a:rPr>
              <a:t>Second column represents number of words</a:t>
            </a:r>
          </a:p>
          <a:p>
            <a:pPr marL="342900" indent="-342900">
              <a:lnSpc>
                <a:spcPct val="150000"/>
              </a:lnSpc>
              <a:defRPr/>
            </a:pPr>
            <a:r>
              <a:rPr lang="en-US" dirty="0">
                <a:latin typeface="Lucida Bright" panose="02040602050505020304" pitchFamily="18" charset="0"/>
                <a:cs typeface="Arial" panose="020B0604020202020204" pitchFamily="34" charset="0"/>
              </a:rPr>
              <a:t>Third column represents number of </a:t>
            </a:r>
            <a:r>
              <a:rPr lang="en-US" dirty="0" smtClean="0">
                <a:latin typeface="Lucida Bright" panose="02040602050505020304" pitchFamily="18" charset="0"/>
                <a:cs typeface="Arial" panose="020B0604020202020204" pitchFamily="34" charset="0"/>
              </a:rPr>
              <a:t>characters</a:t>
            </a:r>
            <a:endParaRPr lang="en-US" dirty="0">
              <a:latin typeface="Lucida Bright" panose="02040602050505020304" pitchFamily="18" charset="0"/>
              <a:cs typeface="Arial" panose="020B0604020202020204" pitchFamily="34" charset="0"/>
            </a:endParaRPr>
          </a:p>
          <a:p>
            <a:pPr marL="342900" indent="-342900">
              <a:lnSpc>
                <a:spcPct val="150000"/>
              </a:lnSpc>
              <a:defRPr/>
            </a:pPr>
            <a:r>
              <a:rPr lang="en-US" dirty="0">
                <a:latin typeface="Lucida Bright" panose="02040602050505020304" pitchFamily="18" charset="0"/>
                <a:cs typeface="Arial" panose="020B0604020202020204" pitchFamily="34" charset="0"/>
              </a:rPr>
              <a:t>Fourth column shows the file name</a:t>
            </a:r>
          </a:p>
          <a:p>
            <a:pPr marL="342900" indent="-342900">
              <a:lnSpc>
                <a:spcPct val="150000"/>
              </a:lnSpc>
              <a:defRPr/>
            </a:pPr>
            <a:r>
              <a:rPr lang="en-US" dirty="0">
                <a:latin typeface="Lucida Bright" panose="02040602050505020304" pitchFamily="18" charset="0"/>
                <a:cs typeface="Arial" panose="020B0604020202020204" pitchFamily="34" charset="0"/>
              </a:rPr>
              <a:t>OPTIONS:</a:t>
            </a:r>
          </a:p>
          <a:p>
            <a:pPr marL="342900" indent="-342900">
              <a:lnSpc>
                <a:spcPct val="150000"/>
              </a:lnSpc>
              <a:defRPr/>
            </a:pPr>
            <a:r>
              <a:rPr lang="en-US" dirty="0">
                <a:latin typeface="Lucida Bright" panose="02040602050505020304" pitchFamily="18" charset="0"/>
                <a:cs typeface="Arial" panose="020B0604020202020204" pitchFamily="34" charset="0"/>
              </a:rPr>
              <a:t>-l  (line)</a:t>
            </a:r>
          </a:p>
          <a:p>
            <a:pPr marL="342900" indent="-342900">
              <a:lnSpc>
                <a:spcPct val="150000"/>
              </a:lnSpc>
              <a:defRPr/>
            </a:pPr>
            <a:r>
              <a:rPr lang="en-US" dirty="0">
                <a:latin typeface="Lucida Bright" panose="02040602050505020304" pitchFamily="18" charset="0"/>
                <a:cs typeface="Arial" panose="020B0604020202020204" pitchFamily="34" charset="0"/>
              </a:rPr>
              <a:t>-w (words)</a:t>
            </a:r>
          </a:p>
          <a:p>
            <a:pPr marL="342900" indent="-342900">
              <a:lnSpc>
                <a:spcPct val="150000"/>
              </a:lnSpc>
              <a:defRPr/>
            </a:pPr>
            <a:r>
              <a:rPr lang="en-US" dirty="0">
                <a:latin typeface="Lucida Bright" panose="02040602050505020304" pitchFamily="18" charset="0"/>
                <a:cs typeface="Arial" panose="020B0604020202020204" pitchFamily="34" charset="0"/>
              </a:rPr>
              <a:t>-c (character)</a:t>
            </a:r>
          </a:p>
          <a:p>
            <a:pPr marL="342900" indent="-342900">
              <a:lnSpc>
                <a:spcPct val="150000"/>
              </a:lnSpc>
              <a:defRPr/>
            </a:pPr>
            <a:endParaRPr lang="en-US" dirty="0">
              <a:latin typeface="Lucida Bright" panose="02040602050505020304" pitchFamily="18" charset="0"/>
              <a:cs typeface="Arial" panose="020B0604020202020204" pitchFamily="34" charset="0"/>
            </a:endParaRPr>
          </a:p>
        </p:txBody>
      </p:sp>
      <p:sp>
        <p:nvSpPr>
          <p:cNvPr id="78853"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Filters </a:t>
            </a:r>
            <a:endParaRPr lang="en-US" sz="2400" b="1" dirty="0" smtClean="0"/>
          </a:p>
          <a:p>
            <a:pPr algn="ctr"/>
            <a:endParaRPr lang="en-US" sz="40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79876" name="Rectangle 2"/>
          <p:cNvSpPr>
            <a:spLocks noChangeArrowheads="1"/>
          </p:cNvSpPr>
          <p:nvPr/>
        </p:nvSpPr>
        <p:spPr bwMode="auto">
          <a:xfrm>
            <a:off x="0" y="0"/>
            <a:ext cx="9144000" cy="762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Filters </a:t>
            </a:r>
            <a:endParaRPr lang="en-US" sz="2400" b="1" dirty="0" smtClean="0"/>
          </a:p>
          <a:p>
            <a:pPr algn="ctr"/>
            <a:endParaRPr lang="en-US" sz="4000" dirty="0"/>
          </a:p>
        </p:txBody>
      </p:sp>
      <p:sp>
        <p:nvSpPr>
          <p:cNvPr id="7" name="Rectangle 3"/>
          <p:cNvSpPr>
            <a:spLocks noChangeArrowheads="1"/>
          </p:cNvSpPr>
          <p:nvPr/>
        </p:nvSpPr>
        <p:spPr bwMode="auto">
          <a:xfrm>
            <a:off x="0" y="762000"/>
            <a:ext cx="9144000" cy="4194738"/>
          </a:xfrm>
          <a:prstGeom prst="rect">
            <a:avLst/>
          </a:prstGeom>
          <a:ln w="9525">
            <a:noFill/>
            <a:miter lim="800000"/>
          </a:ln>
        </p:spPr>
        <p:style>
          <a:lnRef idx="0">
            <a:scrgbClr r="0" g="0" b="0"/>
          </a:lnRef>
          <a:fillRef idx="1001">
            <a:schemeClr val="lt1"/>
          </a:fillRef>
          <a:effectRef idx="0">
            <a:scrgbClr r="0" g="0" b="0"/>
          </a:effectRef>
          <a:fontRef idx="major"/>
        </p:style>
        <p:txBody>
          <a:bodyPr>
            <a:spAutoFit/>
          </a:bodyPr>
          <a:lstStyle/>
          <a:p>
            <a:pPr>
              <a:lnSpc>
                <a:spcPct val="150000"/>
              </a:lnSpc>
              <a:defRPr/>
            </a:pPr>
            <a:r>
              <a:rPr lang="en-US" b="1" dirty="0" err="1">
                <a:latin typeface="Lucida Bright" panose="02040602050505020304" pitchFamily="18" charset="0"/>
                <a:cs typeface="Arial" panose="020B0604020202020204" pitchFamily="34" charset="0"/>
              </a:rPr>
              <a:t>cmp</a:t>
            </a:r>
            <a:r>
              <a:rPr lang="en-US" b="1" dirty="0">
                <a:latin typeface="Lucida Bright" panose="02040602050505020304" pitchFamily="18" charset="0"/>
                <a:cs typeface="Arial" panose="020B0604020202020204" pitchFamily="34" charset="0"/>
              </a:rPr>
              <a:t> COMMAND:</a:t>
            </a:r>
          </a:p>
          <a:p>
            <a:pPr>
              <a:lnSpc>
                <a:spcPct val="150000"/>
              </a:lnSpc>
              <a:defRPr/>
            </a:pPr>
            <a:r>
              <a:rPr lang="en-US" dirty="0">
                <a:latin typeface="Lucida Bright" panose="02040602050505020304" pitchFamily="18" charset="0"/>
              </a:rPr>
              <a:t>Compares two files and tells you what line numbers are different.</a:t>
            </a:r>
          </a:p>
          <a:p>
            <a:pPr>
              <a:lnSpc>
                <a:spcPct val="150000"/>
              </a:lnSpc>
              <a:defRPr/>
            </a:pPr>
            <a:r>
              <a:rPr lang="en-US" dirty="0">
                <a:latin typeface="Lucida Bright" panose="02040602050505020304" pitchFamily="18" charset="0"/>
              </a:rPr>
              <a:t>By default  location of first mismatch is displayed</a:t>
            </a:r>
          </a:p>
          <a:p>
            <a:pPr>
              <a:lnSpc>
                <a:spcPct val="150000"/>
              </a:lnSpc>
              <a:defRPr/>
            </a:pPr>
            <a:r>
              <a:rPr lang="en-US" dirty="0">
                <a:latin typeface="Lucida Bright" panose="02040602050505020304" pitchFamily="18" charset="0"/>
              </a:rPr>
              <a:t>Syntax: $ </a:t>
            </a:r>
            <a:r>
              <a:rPr lang="en-US" dirty="0" err="1">
                <a:latin typeface="Lucida Bright" panose="02040602050505020304" pitchFamily="18" charset="0"/>
              </a:rPr>
              <a:t>cmp</a:t>
            </a:r>
            <a:r>
              <a:rPr lang="en-US" dirty="0">
                <a:latin typeface="Lucida Bright" panose="02040602050505020304" pitchFamily="18" charset="0"/>
              </a:rPr>
              <a:t> [-options] filename1 filename2</a:t>
            </a:r>
          </a:p>
          <a:p>
            <a:pPr>
              <a:lnSpc>
                <a:spcPct val="150000"/>
              </a:lnSpc>
              <a:defRPr/>
            </a:pPr>
            <a:r>
              <a:rPr lang="en-US" dirty="0">
                <a:latin typeface="Lucida Bright" panose="02040602050505020304" pitchFamily="18" charset="0"/>
              </a:rPr>
              <a:t>-l	this option displays the list of all differences  present in the file byte-	by-byte.</a:t>
            </a:r>
          </a:p>
          <a:p>
            <a:pPr>
              <a:lnSpc>
                <a:spcPct val="150000"/>
              </a:lnSpc>
              <a:defRPr/>
            </a:pPr>
            <a:r>
              <a:rPr lang="en-US" dirty="0">
                <a:latin typeface="Lucida Bright" panose="02040602050505020304" pitchFamily="18" charset="0"/>
              </a:rPr>
              <a:t>-s	Write nothing for differing files; return exit status(‘0’ or ‘1’) only.</a:t>
            </a:r>
          </a:p>
          <a:p>
            <a:pPr>
              <a:lnSpc>
                <a:spcPct val="150000"/>
              </a:lnSpc>
              <a:defRPr/>
            </a:pPr>
            <a:r>
              <a:rPr lang="en-US" dirty="0">
                <a:latin typeface="Lucida Bright" panose="02040602050505020304" pitchFamily="18" charset="0"/>
              </a:rPr>
              <a:t>	the ‘0’ specifies that two files are similar and ‘1’ specifies that there is 	at least  one that is different. </a:t>
            </a:r>
          </a:p>
          <a:p>
            <a:pPr>
              <a:lnSpc>
                <a:spcPct val="150000"/>
              </a:lnSpc>
              <a:defRPr/>
            </a:pPr>
            <a:endParaRPr lang="en-US" dirty="0">
              <a:latin typeface="Lucida Bright" panose="02040602050505020304" pitchFamily="18"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219200"/>
            <a:ext cx="8763000" cy="461963"/>
          </a:xfrm>
          <a:prstGeom prst="rect">
            <a:avLst/>
          </a:prstGeom>
        </p:spPr>
        <p:style>
          <a:lnRef idx="0">
            <a:scrgbClr r="0" g="0" b="0"/>
          </a:lnRef>
          <a:fillRef idx="1001">
            <a:schemeClr val="lt1"/>
          </a:fillRef>
          <a:effectRef idx="0">
            <a:scrgbClr r="0" g="0" b="0"/>
          </a:effectRef>
          <a:fontRef idx="major"/>
        </p:style>
        <p:txBody>
          <a:bodyPr>
            <a:spAutoFit/>
          </a:bodyPr>
          <a:lstStyle/>
          <a:p>
            <a:pPr>
              <a:defRPr/>
            </a:pPr>
            <a:endParaRPr lang="en-US" sz="2400" b="1" dirty="0">
              <a:latin typeface="Lucida Sans" panose="020B0602030504020204" pitchFamily="34" charset="0"/>
              <a:cs typeface="Arial" panose="020B0604020202020204" pitchFamily="34" charset="0"/>
            </a:endParaRPr>
          </a:p>
        </p:txBody>
      </p:sp>
      <p:sp>
        <p:nvSpPr>
          <p:cNvPr id="4" name="TextBox 3"/>
          <p:cNvSpPr txBox="1"/>
          <p:nvPr/>
        </p:nvSpPr>
        <p:spPr>
          <a:xfrm>
            <a:off x="381000" y="3429000"/>
            <a:ext cx="8763000" cy="461963"/>
          </a:xfrm>
          <a:prstGeom prst="rect">
            <a:avLst/>
          </a:prstGeom>
        </p:spPr>
        <p:style>
          <a:lnRef idx="0">
            <a:scrgbClr r="0" g="0" b="0"/>
          </a:lnRef>
          <a:fillRef idx="1001">
            <a:schemeClr val="lt1"/>
          </a:fillRef>
          <a:effectRef idx="0">
            <a:scrgbClr r="0" g="0" b="0"/>
          </a:effectRef>
          <a:fontRef idx="major"/>
        </p:style>
        <p:txBody>
          <a:bodyPr>
            <a:spAutoFit/>
          </a:bodyPr>
          <a:lstStyle/>
          <a:p>
            <a:pPr>
              <a:defRPr/>
            </a:pPr>
            <a:endParaRPr lang="en-US" sz="2400" b="1" dirty="0">
              <a:latin typeface="Lucida Sans" panose="020B0602030504020204" pitchFamily="34" charset="0"/>
              <a:cs typeface="Arial" panose="020B0604020202020204" pitchFamily="34" charset="0"/>
            </a:endParaRPr>
          </a:p>
        </p:txBody>
      </p:sp>
      <p:sp>
        <p:nvSpPr>
          <p:cNvPr id="105477" name="TextBox 4"/>
          <p:cNvSpPr txBox="1">
            <a:spLocks noChangeArrowheads="1"/>
          </p:cNvSpPr>
          <p:nvPr/>
        </p:nvSpPr>
        <p:spPr bwMode="auto">
          <a:xfrm>
            <a:off x="0" y="990600"/>
            <a:ext cx="9144000" cy="7048500"/>
          </a:xfrm>
          <a:prstGeom prst="rect">
            <a:avLst/>
          </a:prstGeom>
          <a:noFill/>
          <a:ln w="9525">
            <a:noFill/>
            <a:miter lim="800000"/>
          </a:ln>
        </p:spPr>
        <p:txBody>
          <a:bodyPr>
            <a:spAutoFit/>
          </a:bodyPr>
          <a:lstStyle/>
          <a:p>
            <a:pPr marL="347980" indent="-347980">
              <a:lnSpc>
                <a:spcPct val="150000"/>
              </a:lnSpc>
              <a:spcAft>
                <a:spcPts val="600"/>
              </a:spcAft>
              <a:buFont typeface="Arial" panose="020B0604020202020204" pitchFamily="34" charset="0"/>
              <a:buChar char="•"/>
              <a:defRPr/>
            </a:pPr>
            <a:r>
              <a:rPr lang="en-US" dirty="0">
                <a:latin typeface="Lucida Bright" panose="02040602050505020304" pitchFamily="18" charset="0"/>
                <a:cs typeface="Times New Roman" panose="02020603050405020304" pitchFamily="18" charset="0"/>
              </a:rPr>
              <a:t>The operations performed by the text processing utilities are as follows</a:t>
            </a:r>
          </a:p>
          <a:p>
            <a:pPr marL="347980" indent="-347980">
              <a:lnSpc>
                <a:spcPct val="150000"/>
              </a:lnSpc>
              <a:spcAft>
                <a:spcPts val="600"/>
              </a:spcAft>
              <a:buFont typeface="Arial" panose="020B0604020202020204" pitchFamily="34" charset="0"/>
              <a:buChar char="•"/>
              <a:defRPr/>
            </a:pPr>
            <a:r>
              <a:rPr lang="en-US" dirty="0">
                <a:latin typeface="Lucida Bright" panose="02040602050505020304" pitchFamily="18" charset="0"/>
                <a:cs typeface="Times New Roman" panose="02020603050405020304" pitchFamily="18" charset="0"/>
              </a:rPr>
              <a:t>Processing</a:t>
            </a:r>
            <a:r>
              <a:rPr lang="en-US" i="1" dirty="0">
                <a:latin typeface="Lucida Bright" panose="02040602050505020304" pitchFamily="18" charset="0"/>
                <a:cs typeface="Times New Roman" panose="02020603050405020304" pitchFamily="18" charset="0"/>
              </a:rPr>
              <a:t> </a:t>
            </a:r>
            <a:r>
              <a:rPr lang="en-US" dirty="0">
                <a:latin typeface="Lucida Bright" panose="02040602050505020304" pitchFamily="18" charset="0"/>
                <a:cs typeface="Times New Roman" panose="02020603050405020304" pitchFamily="18" charset="0"/>
              </a:rPr>
              <a:t>the text</a:t>
            </a:r>
          </a:p>
          <a:p>
            <a:pPr marL="347980" indent="-347980">
              <a:lnSpc>
                <a:spcPct val="150000"/>
              </a:lnSpc>
              <a:spcAft>
                <a:spcPts val="600"/>
              </a:spcAft>
              <a:buFont typeface="Arial" panose="020B0604020202020204" pitchFamily="34" charset="0"/>
              <a:buChar char="•"/>
              <a:defRPr/>
            </a:pPr>
            <a:r>
              <a:rPr lang="en-US" dirty="0">
                <a:latin typeface="Lucida Bright" panose="02040602050505020304" pitchFamily="18" charset="0"/>
                <a:cs typeface="Times New Roman" panose="02020603050405020304" pitchFamily="18" charset="0"/>
              </a:rPr>
              <a:t>Modifying the content of files</a:t>
            </a:r>
          </a:p>
          <a:p>
            <a:pPr marL="347980" indent="-347980">
              <a:lnSpc>
                <a:spcPct val="150000"/>
              </a:lnSpc>
              <a:spcAft>
                <a:spcPts val="600"/>
              </a:spcAft>
              <a:buFont typeface="Arial" panose="020B0604020202020204" pitchFamily="34" charset="0"/>
              <a:buChar char="•"/>
              <a:defRPr/>
            </a:pPr>
            <a:r>
              <a:rPr lang="en-US" dirty="0">
                <a:latin typeface="Lucida Bright" panose="02040602050505020304" pitchFamily="18" charset="0"/>
                <a:cs typeface="Times New Roman" panose="02020603050405020304" pitchFamily="18" charset="0"/>
              </a:rPr>
              <a:t>Deleting words and </a:t>
            </a:r>
            <a:r>
              <a:rPr lang="en-US" dirty="0" err="1">
                <a:latin typeface="Lucida Bright" panose="02040602050505020304" pitchFamily="18" charset="0"/>
                <a:cs typeface="Times New Roman" panose="02020603050405020304" pitchFamily="18" charset="0"/>
              </a:rPr>
              <a:t>charlacters</a:t>
            </a:r>
            <a:r>
              <a:rPr lang="en-US" dirty="0">
                <a:latin typeface="Lucida Bright" panose="02040602050505020304" pitchFamily="18" charset="0"/>
                <a:cs typeface="Times New Roman" panose="02020603050405020304" pitchFamily="18" charset="0"/>
              </a:rPr>
              <a:t> form files</a:t>
            </a:r>
          </a:p>
          <a:p>
            <a:pPr>
              <a:lnSpc>
                <a:spcPct val="150000"/>
              </a:lnSpc>
              <a:defRPr/>
            </a:pPr>
            <a:r>
              <a:rPr lang="en-US" b="1" dirty="0">
                <a:latin typeface="Lucida Bright" panose="02040602050505020304" pitchFamily="18" charset="0"/>
                <a:cs typeface="Arial" panose="020B0604020202020204" pitchFamily="34" charset="0"/>
              </a:rPr>
              <a:t>cat:  </a:t>
            </a:r>
            <a:r>
              <a:rPr lang="en-US" dirty="0">
                <a:latin typeface="Lucida Bright" panose="02040602050505020304" pitchFamily="18" charset="0"/>
                <a:cs typeface="Arial" panose="020B0604020202020204" pitchFamily="34" charset="0"/>
              </a:rPr>
              <a:t>cat is used to create the files.</a:t>
            </a:r>
          </a:p>
          <a:p>
            <a:pPr>
              <a:lnSpc>
                <a:spcPct val="150000"/>
              </a:lnSpc>
              <a:defRPr/>
            </a:pPr>
            <a:r>
              <a:rPr lang="en-US" dirty="0">
                <a:latin typeface="Lucida Bright" panose="02040602050505020304" pitchFamily="18" charset="0"/>
                <a:cs typeface="Arial" panose="020B0604020202020204" pitchFamily="34" charset="0"/>
              </a:rPr>
              <a:t>$cat&gt; filename </a:t>
            </a:r>
          </a:p>
          <a:p>
            <a:pPr>
              <a:lnSpc>
                <a:spcPct val="150000"/>
              </a:lnSpc>
              <a:defRPr/>
            </a:pPr>
            <a:r>
              <a:rPr lang="en-US" dirty="0">
                <a:latin typeface="Lucida Bright" panose="02040602050505020304" pitchFamily="18" charset="0"/>
                <a:cs typeface="Arial" panose="020B0604020202020204" pitchFamily="34" charset="0"/>
              </a:rPr>
              <a:t>Type some text here</a:t>
            </a:r>
          </a:p>
          <a:p>
            <a:pPr>
              <a:lnSpc>
                <a:spcPct val="150000"/>
              </a:lnSpc>
              <a:defRPr/>
            </a:pPr>
            <a:r>
              <a:rPr lang="en-US" dirty="0">
                <a:latin typeface="Lucida Bright" panose="02040602050505020304" pitchFamily="18" charset="0"/>
                <a:cs typeface="Arial" panose="020B0604020202020204" pitchFamily="34" charset="0"/>
              </a:rPr>
              <a:t>Press </a:t>
            </a:r>
            <a:r>
              <a:rPr lang="en-US" dirty="0" err="1">
                <a:latin typeface="Lucida Bright" panose="02040602050505020304" pitchFamily="18" charset="0"/>
                <a:cs typeface="Arial" panose="020B0604020202020204" pitchFamily="34" charset="0"/>
              </a:rPr>
              <a:t>ctrl+d</a:t>
            </a:r>
            <a:endParaRPr lang="en-US" dirty="0">
              <a:latin typeface="Lucida Bright" panose="02040602050505020304" pitchFamily="18" charset="0"/>
              <a:cs typeface="Arial" panose="020B0604020202020204" pitchFamily="34" charset="0"/>
            </a:endParaRPr>
          </a:p>
          <a:p>
            <a:pPr>
              <a:lnSpc>
                <a:spcPct val="150000"/>
              </a:lnSpc>
              <a:defRPr/>
            </a:pPr>
            <a:r>
              <a:rPr lang="en-US" dirty="0">
                <a:latin typeface="Lucida Bright" panose="02040602050505020304" pitchFamily="18" charset="0"/>
                <a:cs typeface="Arial" panose="020B0604020202020204" pitchFamily="34" charset="0"/>
              </a:rPr>
              <a:t>$</a:t>
            </a:r>
          </a:p>
          <a:p>
            <a:pPr>
              <a:lnSpc>
                <a:spcPct val="150000"/>
              </a:lnSpc>
              <a:defRPr/>
            </a:pPr>
            <a:r>
              <a:rPr lang="en-US" dirty="0">
                <a:latin typeface="Lucida Bright" panose="02040602050505020304" pitchFamily="18" charset="0"/>
                <a:cs typeface="Arial" panose="020B0604020202020204" pitchFamily="34" charset="0"/>
              </a:rPr>
              <a:t>Cat can also be used to display the contents Of a file.</a:t>
            </a:r>
          </a:p>
          <a:p>
            <a:pPr>
              <a:lnSpc>
                <a:spcPct val="150000"/>
              </a:lnSpc>
              <a:defRPr/>
            </a:pPr>
            <a:r>
              <a:rPr lang="en-US" dirty="0">
                <a:latin typeface="Lucida Bright" panose="02040602050505020304" pitchFamily="18" charset="0"/>
                <a:cs typeface="Arial" panose="020B0604020202020204" pitchFamily="34" charset="0"/>
              </a:rPr>
              <a:t>$cat filename  </a:t>
            </a:r>
          </a:p>
          <a:p>
            <a:pPr>
              <a:lnSpc>
                <a:spcPct val="150000"/>
              </a:lnSpc>
              <a:defRPr/>
            </a:pPr>
            <a:r>
              <a:rPr lang="en-US" dirty="0">
                <a:latin typeface="Lucida Bright" panose="02040602050505020304" pitchFamily="18" charset="0"/>
                <a:cs typeface="Arial" panose="020B0604020202020204" pitchFamily="34" charset="0"/>
              </a:rPr>
              <a:t>Cat can also concatenate the contents of 2 files and store them in third file.</a:t>
            </a:r>
          </a:p>
          <a:p>
            <a:pPr>
              <a:lnSpc>
                <a:spcPct val="150000"/>
              </a:lnSpc>
              <a:defRPr/>
            </a:pPr>
            <a:r>
              <a:rPr lang="en-US" dirty="0">
                <a:latin typeface="Lucida Bright" panose="02040602050505020304" pitchFamily="18" charset="0"/>
                <a:cs typeface="Arial" panose="020B0604020202020204" pitchFamily="34" charset="0"/>
              </a:rPr>
              <a:t>Cat&gt;file1 file2&gt;new file</a:t>
            </a:r>
          </a:p>
          <a:p>
            <a:pPr>
              <a:lnSpc>
                <a:spcPct val="150000"/>
              </a:lnSpc>
              <a:defRPr/>
            </a:pPr>
            <a:r>
              <a:rPr lang="en-US" dirty="0">
                <a:latin typeface="Lucida Bright" panose="02040602050505020304" pitchFamily="18" charset="0"/>
                <a:cs typeface="Arial" panose="020B0604020202020204" pitchFamily="34" charset="0"/>
              </a:rPr>
              <a:t>To append the contents of two files into another file use</a:t>
            </a:r>
          </a:p>
          <a:p>
            <a:pPr>
              <a:lnSpc>
                <a:spcPct val="150000"/>
              </a:lnSpc>
              <a:defRPr/>
            </a:pPr>
            <a:r>
              <a:rPr lang="en-US" dirty="0">
                <a:latin typeface="Lucida Bright" panose="02040602050505020304" pitchFamily="18" charset="0"/>
                <a:cs typeface="Arial" panose="020B0604020202020204" pitchFamily="34" charset="0"/>
              </a:rPr>
              <a:t>Cat&gt;file1 file2&gt;&gt;new file</a:t>
            </a:r>
          </a:p>
          <a:p>
            <a:pPr marL="347980" indent="-347980">
              <a:lnSpc>
                <a:spcPct val="150000"/>
              </a:lnSpc>
              <a:spcAft>
                <a:spcPts val="600"/>
              </a:spcAft>
              <a:buFont typeface="Arial" panose="020B0604020202020204" pitchFamily="34" charset="0"/>
              <a:buChar char="•"/>
              <a:defRPr/>
            </a:pPr>
            <a:endParaRPr lang="en-US" dirty="0">
              <a:latin typeface="Lucida Bright" panose="02040602050505020304" pitchFamily="18" charset="0"/>
              <a:cs typeface="Times New Roman" panose="02020603050405020304" pitchFamily="18" charset="0"/>
            </a:endParaRPr>
          </a:p>
        </p:txBody>
      </p:sp>
      <p:sp>
        <p:nvSpPr>
          <p:cNvPr id="82949"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a:t>Text processing </a:t>
            </a:r>
            <a:r>
              <a:rPr lang="en-US" sz="4000" dirty="0" smtClean="0"/>
              <a:t>utilities</a:t>
            </a:r>
            <a:r>
              <a:rPr lang="en-US" sz="4000" dirty="0" smtClean="0">
                <a:effectLst>
                  <a:outerShdw blurRad="38100" dist="38100" dir="2700000" algn="tl">
                    <a:srgbClr val="C0C0C0"/>
                  </a:outerShdw>
                </a:effectLst>
              </a:rPr>
              <a:t> </a:t>
            </a:r>
            <a:endParaRPr lang="en-US" sz="24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4"/>
          <p:cNvSpPr txBox="1">
            <a:spLocks noChangeArrowheads="1"/>
          </p:cNvSpPr>
          <p:nvPr/>
        </p:nvSpPr>
        <p:spPr bwMode="auto">
          <a:xfrm>
            <a:off x="0" y="1066800"/>
            <a:ext cx="9144000" cy="4108450"/>
          </a:xfrm>
          <a:prstGeom prst="rect">
            <a:avLst/>
          </a:prstGeom>
          <a:noFill/>
          <a:ln w="9525">
            <a:noFill/>
            <a:miter lim="800000"/>
          </a:ln>
        </p:spPr>
        <p:txBody>
          <a:bodyPr>
            <a:spAutoFit/>
          </a:bodyPr>
          <a:lstStyle/>
          <a:p>
            <a:pPr>
              <a:lnSpc>
                <a:spcPct val="150000"/>
              </a:lnSpc>
            </a:pPr>
            <a:r>
              <a:rPr lang="en-US" b="1" dirty="0">
                <a:latin typeface="Lucida Bright" panose="02040602050505020304" pitchFamily="18" charset="0"/>
              </a:rPr>
              <a:t>tail: </a:t>
            </a:r>
          </a:p>
          <a:p>
            <a:pPr>
              <a:lnSpc>
                <a:spcPct val="150000"/>
              </a:lnSpc>
            </a:pPr>
            <a:r>
              <a:rPr lang="en-US" dirty="0">
                <a:latin typeface="Lucida Bright" panose="02040602050505020304" pitchFamily="18" charset="0"/>
              </a:rPr>
              <a:t>tail command displays the end of the file. It displays the last ten lines by default.</a:t>
            </a:r>
          </a:p>
          <a:p>
            <a:pPr>
              <a:lnSpc>
                <a:spcPct val="150000"/>
              </a:lnSpc>
            </a:pPr>
            <a:r>
              <a:rPr lang="en-US" dirty="0">
                <a:latin typeface="Lucida Bright" panose="02040602050505020304" pitchFamily="18" charset="0"/>
              </a:rPr>
              <a:t>    $tail file</a:t>
            </a:r>
          </a:p>
          <a:p>
            <a:pPr>
              <a:lnSpc>
                <a:spcPct val="150000"/>
              </a:lnSpc>
            </a:pPr>
            <a:r>
              <a:rPr lang="en-US" dirty="0">
                <a:latin typeface="Lucida Bright" panose="02040602050505020304" pitchFamily="18" charset="0"/>
              </a:rPr>
              <a:t>To display last 3 lines use</a:t>
            </a:r>
          </a:p>
          <a:p>
            <a:pPr>
              <a:lnSpc>
                <a:spcPct val="150000"/>
              </a:lnSpc>
            </a:pPr>
            <a:r>
              <a:rPr lang="en-US" dirty="0">
                <a:latin typeface="Lucida Bright" panose="02040602050505020304" pitchFamily="18" charset="0"/>
              </a:rPr>
              <a:t>    $tail –n 3 file       or</a:t>
            </a:r>
          </a:p>
          <a:p>
            <a:pPr>
              <a:lnSpc>
                <a:spcPct val="150000"/>
              </a:lnSpc>
            </a:pPr>
            <a:r>
              <a:rPr lang="en-US" dirty="0">
                <a:latin typeface="Lucida Bright" panose="02040602050505020304" pitchFamily="18" charset="0"/>
              </a:rPr>
              <a:t>    $tail -3 file</a:t>
            </a:r>
          </a:p>
          <a:p>
            <a:pPr>
              <a:lnSpc>
                <a:spcPct val="150000"/>
              </a:lnSpc>
            </a:pPr>
            <a:r>
              <a:rPr lang="en-US" dirty="0">
                <a:latin typeface="Lucida Bright" panose="02040602050505020304" pitchFamily="18" charset="0"/>
              </a:rPr>
              <a:t>We can also address the lines from the beginning of the file instead of the end.</a:t>
            </a:r>
          </a:p>
          <a:p>
            <a:pPr>
              <a:lnSpc>
                <a:spcPct val="150000"/>
              </a:lnSpc>
            </a:pPr>
            <a:r>
              <a:rPr lang="en-US" dirty="0">
                <a:latin typeface="Lucida Bright" panose="02040602050505020304" pitchFamily="18" charset="0"/>
              </a:rPr>
              <a:t>The + count allows to do that.</a:t>
            </a:r>
          </a:p>
          <a:p>
            <a:endParaRPr lang="en-US" dirty="0">
              <a:latin typeface="Lucida Bright" panose="02040602050505020304" pitchFamily="18" charset="0"/>
            </a:endParaRPr>
          </a:p>
        </p:txBody>
      </p:sp>
      <p:sp>
        <p:nvSpPr>
          <p:cNvPr id="83971"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 </a:t>
            </a:r>
            <a:endParaRPr lang="en-US" sz="2400" dirty="0" smtClean="0"/>
          </a:p>
          <a:p>
            <a:pPr algn="ctr"/>
            <a:endParaRPr lang="en-US" sz="4000" dirty="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Box 4"/>
          <p:cNvSpPr txBox="1">
            <a:spLocks noChangeArrowheads="1"/>
          </p:cNvSpPr>
          <p:nvPr/>
        </p:nvSpPr>
        <p:spPr bwMode="auto">
          <a:xfrm>
            <a:off x="0" y="914400"/>
            <a:ext cx="9144000" cy="6324600"/>
          </a:xfrm>
          <a:prstGeom prst="rect">
            <a:avLst/>
          </a:prstGeom>
          <a:noFill/>
          <a:ln w="9525">
            <a:noFill/>
            <a:miter lim="800000"/>
          </a:ln>
        </p:spPr>
        <p:txBody>
          <a:bodyPr>
            <a:spAutoFit/>
          </a:bodyPr>
          <a:lstStyle/>
          <a:p>
            <a:pPr>
              <a:lnSpc>
                <a:spcPct val="150000"/>
              </a:lnSpc>
            </a:pPr>
            <a:r>
              <a:rPr lang="en-US" b="1">
                <a:latin typeface="Lucida Bright" panose="02040602050505020304" pitchFamily="18" charset="0"/>
              </a:rPr>
              <a:t>head:</a:t>
            </a:r>
          </a:p>
          <a:p>
            <a:pPr>
              <a:lnSpc>
                <a:spcPct val="150000"/>
              </a:lnSpc>
            </a:pPr>
            <a:r>
              <a:rPr lang="en-US">
                <a:latin typeface="Lucida Bright" panose="02040602050505020304" pitchFamily="18" charset="0"/>
              </a:rPr>
              <a:t>head</a:t>
            </a:r>
            <a:r>
              <a:rPr lang="en-US" b="1">
                <a:latin typeface="Lucida Bright" panose="02040602050505020304" pitchFamily="18" charset="0"/>
              </a:rPr>
              <a:t> </a:t>
            </a:r>
            <a:r>
              <a:rPr lang="en-US">
                <a:latin typeface="Lucida Bright" panose="02040602050505020304" pitchFamily="18" charset="0"/>
              </a:rPr>
              <a:t>command as the name implies, displays the top of the file. When used without an option, it displays the first 10 lines of the file.</a:t>
            </a:r>
          </a:p>
          <a:p>
            <a:pPr>
              <a:lnSpc>
                <a:spcPct val="150000"/>
              </a:lnSpc>
            </a:pPr>
            <a:r>
              <a:rPr lang="en-US">
                <a:latin typeface="Lucida Bright" panose="02040602050505020304" pitchFamily="18" charset="0"/>
              </a:rPr>
              <a:t> $head file</a:t>
            </a:r>
          </a:p>
          <a:p>
            <a:pPr>
              <a:lnSpc>
                <a:spcPct val="150000"/>
              </a:lnSpc>
            </a:pPr>
            <a:r>
              <a:rPr lang="en-US">
                <a:latin typeface="Lucida Bright" panose="02040602050505020304" pitchFamily="18" charset="0"/>
              </a:rPr>
              <a:t>We can use –n option to specify a line count and display, say first 3 lines of the file.</a:t>
            </a:r>
          </a:p>
          <a:p>
            <a:pPr>
              <a:lnSpc>
                <a:spcPct val="150000"/>
              </a:lnSpc>
            </a:pPr>
            <a:r>
              <a:rPr lang="en-US">
                <a:latin typeface="Lucida Bright" panose="02040602050505020304" pitchFamily="18" charset="0"/>
              </a:rPr>
              <a:t>$head –n 3 file  or $head -3 file</a:t>
            </a:r>
          </a:p>
          <a:p>
            <a:pPr>
              <a:lnSpc>
                <a:spcPct val="150000"/>
              </a:lnSpc>
            </a:pPr>
            <a:r>
              <a:rPr lang="en-US" b="1">
                <a:latin typeface="Lucida Bright" panose="02040602050505020304" pitchFamily="18" charset="0"/>
              </a:rPr>
              <a:t>Sort:</a:t>
            </a:r>
          </a:p>
          <a:p>
            <a:pPr>
              <a:lnSpc>
                <a:spcPct val="150000"/>
              </a:lnSpc>
            </a:pPr>
            <a:r>
              <a:rPr lang="en-US">
                <a:latin typeface="Lucida Bright" panose="02040602050505020304" pitchFamily="18" charset="0"/>
              </a:rPr>
              <a:t>Sort can be used for sorting the contents of a file.</a:t>
            </a:r>
          </a:p>
          <a:p>
            <a:pPr>
              <a:lnSpc>
                <a:spcPct val="150000"/>
              </a:lnSpc>
            </a:pPr>
            <a:r>
              <a:rPr lang="en-US">
                <a:latin typeface="Lucida Bright" panose="02040602050505020304" pitchFamily="18" charset="0"/>
              </a:rPr>
              <a:t>   $sort shortlist</a:t>
            </a:r>
          </a:p>
          <a:p>
            <a:pPr>
              <a:lnSpc>
                <a:spcPct val="150000"/>
              </a:lnSpc>
            </a:pPr>
            <a:r>
              <a:rPr lang="en-US">
                <a:latin typeface="Lucida Bright" panose="02040602050505020304" pitchFamily="18" charset="0"/>
              </a:rPr>
              <a:t>Sorting starts with the first character of each line and proceeds to the next character only when the characters in two lines are identical.</a:t>
            </a:r>
          </a:p>
          <a:p>
            <a:pPr>
              <a:lnSpc>
                <a:spcPct val="150000"/>
              </a:lnSpc>
            </a:pPr>
            <a:r>
              <a:rPr lang="en-US" b="1"/>
              <a:t>Sort options</a:t>
            </a:r>
            <a:r>
              <a:rPr lang="en-US"/>
              <a:t>:</a:t>
            </a:r>
          </a:p>
          <a:p>
            <a:pPr>
              <a:lnSpc>
                <a:spcPct val="150000"/>
              </a:lnSpc>
            </a:pPr>
            <a:r>
              <a:rPr lang="en-US"/>
              <a:t>With –t option sorts a file based on the fields.</a:t>
            </a:r>
          </a:p>
          <a:p>
            <a:pPr>
              <a:lnSpc>
                <a:spcPct val="150000"/>
              </a:lnSpc>
            </a:pPr>
            <a:endParaRPr lang="en-US">
              <a:latin typeface="Lucida Bright" panose="02040602050505020304" pitchFamily="18" charset="0"/>
            </a:endParaRPr>
          </a:p>
        </p:txBody>
      </p:sp>
      <p:sp>
        <p:nvSpPr>
          <p:cNvPr id="84996"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a:t>
            </a:r>
            <a:endParaRPr lang="en-US" sz="2400" dirty="0" smtClean="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Box 4"/>
          <p:cNvSpPr txBox="1">
            <a:spLocks noChangeArrowheads="1"/>
          </p:cNvSpPr>
          <p:nvPr/>
        </p:nvSpPr>
        <p:spPr bwMode="auto">
          <a:xfrm>
            <a:off x="0" y="914400"/>
            <a:ext cx="9144000" cy="5441950"/>
          </a:xfrm>
          <a:prstGeom prst="rect">
            <a:avLst/>
          </a:prstGeom>
          <a:noFill/>
          <a:ln w="9525">
            <a:noFill/>
            <a:miter lim="800000"/>
          </a:ln>
        </p:spPr>
        <p:txBody>
          <a:bodyPr>
            <a:spAutoFit/>
          </a:bodyPr>
          <a:lstStyle/>
          <a:p>
            <a:pPr>
              <a:lnSpc>
                <a:spcPct val="150000"/>
              </a:lnSpc>
            </a:pPr>
            <a:r>
              <a:rPr lang="en-US">
                <a:latin typeface="Lucida Bright" panose="02040602050505020304" pitchFamily="18" charset="0"/>
              </a:rPr>
              <a:t>$sort –t “|” +2 shortlist</a:t>
            </a:r>
          </a:p>
          <a:p>
            <a:pPr>
              <a:lnSpc>
                <a:spcPct val="150000"/>
              </a:lnSpc>
            </a:pPr>
            <a:r>
              <a:rPr lang="en-US">
                <a:latin typeface="Lucida Bright" panose="02040602050505020304" pitchFamily="18" charset="0"/>
              </a:rPr>
              <a:t>The sort order can be reversed with –r option.</a:t>
            </a:r>
          </a:p>
          <a:p>
            <a:pPr>
              <a:lnSpc>
                <a:spcPct val="150000"/>
              </a:lnSpc>
            </a:pPr>
            <a:r>
              <a:rPr lang="en-US">
                <a:latin typeface="Lucida Bright" panose="02040602050505020304" pitchFamily="18" charset="0"/>
              </a:rPr>
              <a:t>Sorting on secondary key:</a:t>
            </a:r>
          </a:p>
          <a:p>
            <a:pPr>
              <a:lnSpc>
                <a:spcPct val="150000"/>
              </a:lnSpc>
            </a:pPr>
            <a:r>
              <a:rPr lang="en-US">
                <a:latin typeface="Lucida Bright" panose="02040602050505020304" pitchFamily="18" charset="0"/>
              </a:rPr>
              <a:t>U can sort on more than one field i.e. u can provide a secondary key to sort.</a:t>
            </a:r>
          </a:p>
          <a:p>
            <a:pPr>
              <a:lnSpc>
                <a:spcPct val="150000"/>
              </a:lnSpc>
            </a:pPr>
            <a:r>
              <a:rPr lang="en-US">
                <a:latin typeface="Lucida Bright" panose="02040602050505020304" pitchFamily="18" charset="0"/>
              </a:rPr>
              <a:t>If the primary key is the third field and the secondary key the second field, we can use</a:t>
            </a:r>
          </a:p>
          <a:p>
            <a:pPr>
              <a:lnSpc>
                <a:spcPct val="150000"/>
              </a:lnSpc>
            </a:pPr>
            <a:r>
              <a:rPr lang="en-US">
                <a:latin typeface="Lucida Bright" panose="02040602050505020304" pitchFamily="18" charset="0"/>
              </a:rPr>
              <a:t>$sort –t \| +2 -3 +1 shortlist</a:t>
            </a:r>
          </a:p>
          <a:p>
            <a:pPr>
              <a:lnSpc>
                <a:spcPct val="150000"/>
              </a:lnSpc>
            </a:pPr>
            <a:r>
              <a:rPr lang="en-US">
                <a:latin typeface="Lucida Bright" panose="02040602050505020304" pitchFamily="18" charset="0"/>
              </a:rPr>
              <a:t>Numeric sort (-n):</a:t>
            </a:r>
          </a:p>
          <a:p>
            <a:pPr>
              <a:lnSpc>
                <a:spcPct val="150000"/>
              </a:lnSpc>
            </a:pPr>
            <a:r>
              <a:rPr lang="en-US">
                <a:latin typeface="Lucida Bright" panose="02040602050505020304" pitchFamily="18" charset="0"/>
              </a:rPr>
              <a:t>To sort on number field use sort with –n option.</a:t>
            </a:r>
          </a:p>
          <a:p>
            <a:pPr>
              <a:lnSpc>
                <a:spcPct val="150000"/>
              </a:lnSpc>
            </a:pPr>
            <a:r>
              <a:rPr lang="en-US">
                <a:latin typeface="Lucida Bright" panose="02040602050505020304" pitchFamily="18" charset="0"/>
              </a:rPr>
              <a:t>$sort –t: +2 -3 –n group1</a:t>
            </a:r>
          </a:p>
          <a:p>
            <a:pPr>
              <a:lnSpc>
                <a:spcPct val="150000"/>
              </a:lnSpc>
            </a:pPr>
            <a:r>
              <a:rPr lang="en-US">
                <a:latin typeface="Lucida Bright" panose="02040602050505020304" pitchFamily="18" charset="0"/>
              </a:rPr>
              <a:t>Removing duplicate lines (-u):</a:t>
            </a:r>
          </a:p>
          <a:p>
            <a:pPr>
              <a:lnSpc>
                <a:spcPct val="150000"/>
              </a:lnSpc>
            </a:pPr>
            <a:r>
              <a:rPr lang="en-US">
                <a:latin typeface="Lucida Bright" panose="02040602050505020304" pitchFamily="18" charset="0"/>
              </a:rPr>
              <a:t>The –u option u purge duplicate lines from a file.</a:t>
            </a:r>
          </a:p>
          <a:p>
            <a:pPr>
              <a:lnSpc>
                <a:spcPct val="150000"/>
              </a:lnSpc>
            </a:pPr>
            <a:endParaRPr lang="en-US">
              <a:latin typeface="Lucida Bright" panose="02040602050505020304" pitchFamily="18" charset="0"/>
            </a:endParaRPr>
          </a:p>
        </p:txBody>
      </p:sp>
      <p:sp>
        <p:nvSpPr>
          <p:cNvPr id="86020"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 </a:t>
            </a:r>
            <a:endParaRPr lang="en-US" sz="2400" dirty="0" smtClean="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Box 4"/>
          <p:cNvSpPr txBox="1">
            <a:spLocks noChangeArrowheads="1"/>
          </p:cNvSpPr>
          <p:nvPr/>
        </p:nvSpPr>
        <p:spPr bwMode="auto">
          <a:xfrm>
            <a:off x="0" y="914400"/>
            <a:ext cx="9144000" cy="7016750"/>
          </a:xfrm>
          <a:prstGeom prst="rect">
            <a:avLst/>
          </a:prstGeom>
          <a:noFill/>
          <a:ln w="9525">
            <a:noFill/>
            <a:miter lim="800000"/>
          </a:ln>
        </p:spPr>
        <p:txBody>
          <a:bodyPr>
            <a:spAutoFit/>
          </a:bodyPr>
          <a:lstStyle/>
          <a:p>
            <a:pPr>
              <a:lnSpc>
                <a:spcPct val="150000"/>
              </a:lnSpc>
            </a:pPr>
            <a:r>
              <a:rPr lang="en-US" b="1">
                <a:latin typeface="Lucida Bright" panose="02040602050505020304" pitchFamily="18" charset="0"/>
              </a:rPr>
              <a:t>nl:</a:t>
            </a:r>
          </a:p>
          <a:p>
            <a:pPr>
              <a:lnSpc>
                <a:spcPct val="150000"/>
              </a:lnSpc>
            </a:pPr>
            <a:r>
              <a:rPr lang="en-US">
                <a:latin typeface="Lucida Bright" panose="02040602050505020304" pitchFamily="18" charset="0"/>
              </a:rPr>
              <a:t>nl is used for numbering lines of a file.</a:t>
            </a:r>
          </a:p>
          <a:p>
            <a:pPr>
              <a:lnSpc>
                <a:spcPct val="150000"/>
              </a:lnSpc>
            </a:pPr>
            <a:r>
              <a:rPr lang="en-US">
                <a:latin typeface="Lucida Bright" panose="02040602050505020304" pitchFamily="18" charset="0"/>
              </a:rPr>
              <a:t>Nl numbers only logical lines –those containing something other apart from the new line character.</a:t>
            </a:r>
          </a:p>
          <a:p>
            <a:pPr>
              <a:lnSpc>
                <a:spcPct val="150000"/>
              </a:lnSpc>
            </a:pPr>
            <a:r>
              <a:rPr lang="en-US">
                <a:latin typeface="Lucida Bright" panose="02040602050505020304" pitchFamily="18" charset="0"/>
              </a:rPr>
              <a:t> $nl file</a:t>
            </a:r>
          </a:p>
          <a:p>
            <a:pPr>
              <a:lnSpc>
                <a:spcPct val="150000"/>
              </a:lnSpc>
            </a:pPr>
            <a:r>
              <a:rPr lang="en-US">
                <a:latin typeface="Lucida Bright" panose="02040602050505020304" pitchFamily="18" charset="0"/>
              </a:rPr>
              <a:t>nl uses a tab as a default delimiter, but we can change it with –s option.</a:t>
            </a:r>
          </a:p>
          <a:p>
            <a:pPr>
              <a:lnSpc>
                <a:spcPct val="150000"/>
              </a:lnSpc>
            </a:pPr>
            <a:r>
              <a:rPr lang="en-US">
                <a:latin typeface="Lucida Bright" panose="02040602050505020304" pitchFamily="18" charset="0"/>
              </a:rPr>
              <a:t>$nl –s: file</a:t>
            </a:r>
          </a:p>
          <a:p>
            <a:pPr>
              <a:lnSpc>
                <a:spcPct val="150000"/>
              </a:lnSpc>
            </a:pPr>
            <a:r>
              <a:rPr lang="en-US">
                <a:latin typeface="Lucida Bright" panose="02040602050505020304" pitchFamily="18" charset="0"/>
              </a:rPr>
              <a:t>nl won’t number a line if it contains nothing.</a:t>
            </a:r>
          </a:p>
          <a:p>
            <a:pPr>
              <a:lnSpc>
                <a:spcPct val="150000"/>
              </a:lnSpc>
            </a:pPr>
            <a:r>
              <a:rPr lang="en-US" b="1">
                <a:latin typeface="Lucida Bright" panose="02040602050505020304" pitchFamily="18" charset="0"/>
              </a:rPr>
              <a:t>Grep: </a:t>
            </a:r>
            <a:r>
              <a:rPr lang="en-US">
                <a:latin typeface="Lucida Bright" panose="02040602050505020304" pitchFamily="18" charset="0"/>
              </a:rPr>
              <a:t>globally search for a regular expression and print. </a:t>
            </a:r>
          </a:p>
          <a:p>
            <a:pPr>
              <a:lnSpc>
                <a:spcPct val="150000"/>
              </a:lnSpc>
            </a:pPr>
            <a:r>
              <a:rPr lang="en-US">
                <a:latin typeface="Lucida Bright" panose="02040602050505020304" pitchFamily="18" charset="0"/>
              </a:rPr>
              <a:t>Grep scans a file for the occurrence of a pattern and depending on the options used, displays</a:t>
            </a:r>
          </a:p>
          <a:p>
            <a:pPr>
              <a:lnSpc>
                <a:spcPct val="150000"/>
              </a:lnSpc>
            </a:pPr>
            <a:r>
              <a:rPr lang="en-US">
                <a:latin typeface="Lucida Bright" panose="02040602050505020304" pitchFamily="18" charset="0"/>
              </a:rPr>
              <a:t>Lines containing the selected pattern.</a:t>
            </a:r>
          </a:p>
          <a:p>
            <a:pPr>
              <a:lnSpc>
                <a:spcPct val="150000"/>
              </a:lnSpc>
            </a:pPr>
            <a:r>
              <a:rPr lang="en-US">
                <a:latin typeface="Lucida Bright" panose="02040602050505020304" pitchFamily="18" charset="0"/>
              </a:rPr>
              <a:t>Lines not containing the selected pattern (-v).</a:t>
            </a:r>
          </a:p>
          <a:p>
            <a:pPr>
              <a:lnSpc>
                <a:spcPct val="150000"/>
              </a:lnSpc>
            </a:pPr>
            <a:r>
              <a:rPr lang="en-US">
                <a:latin typeface="Lucida Bright" panose="02040602050505020304" pitchFamily="18" charset="0"/>
              </a:rPr>
              <a:t>Line numbers where pattern occurs (-n)</a:t>
            </a:r>
          </a:p>
          <a:p>
            <a:pPr>
              <a:lnSpc>
                <a:spcPct val="150000"/>
              </a:lnSpc>
            </a:pPr>
            <a:r>
              <a:rPr lang="en-US">
                <a:latin typeface="Lucida Bright" panose="02040602050505020304" pitchFamily="18" charset="0"/>
              </a:rPr>
              <a:t>No. of lines containing the pattern (-c)</a:t>
            </a:r>
          </a:p>
          <a:p>
            <a:endParaRPr lang="en-US"/>
          </a:p>
          <a:p>
            <a:pPr>
              <a:lnSpc>
                <a:spcPct val="150000"/>
              </a:lnSpc>
            </a:pPr>
            <a:endParaRPr lang="en-US">
              <a:latin typeface="Lucida Bright" panose="02040602050505020304" pitchFamily="18" charset="0"/>
            </a:endParaRPr>
          </a:p>
        </p:txBody>
      </p:sp>
      <p:sp>
        <p:nvSpPr>
          <p:cNvPr id="87044"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 </a:t>
            </a:r>
            <a:endParaRPr lang="en-US" sz="2400" dirty="0" smtClean="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8"/>
          <p:cNvSpPr>
            <a:spLocks noGrp="1"/>
          </p:cNvSpPr>
          <p:nvPr>
            <p:ph idx="1"/>
          </p:nvPr>
        </p:nvSpPr>
        <p:spPr>
          <a:xfrm>
            <a:off x="0" y="838200"/>
            <a:ext cx="8686800" cy="5287963"/>
          </a:xfrm>
        </p:spPr>
        <p:txBody>
          <a:bodyPr/>
          <a:lstStyle/>
          <a:p>
            <a:pPr eaLnBrk="1" hangingPunct="1">
              <a:lnSpc>
                <a:spcPct val="150000"/>
              </a:lnSpc>
            </a:pPr>
            <a:r>
              <a:rPr lang="en-US" sz="1800" smtClean="0">
                <a:latin typeface="Lucida Bright" panose="02040602050505020304" pitchFamily="18" charset="0"/>
              </a:rPr>
              <a:t>File names where pattern occurs (-l)</a:t>
            </a:r>
          </a:p>
          <a:p>
            <a:pPr eaLnBrk="1" hangingPunct="1">
              <a:lnSpc>
                <a:spcPct val="150000"/>
              </a:lnSpc>
              <a:buFontTx/>
              <a:buNone/>
            </a:pPr>
            <a:r>
              <a:rPr lang="en-US" sz="1800" smtClean="0">
                <a:latin typeface="Lucida Bright" panose="02040602050505020304" pitchFamily="18" charset="0"/>
              </a:rPr>
              <a:t>   Syntax:</a:t>
            </a:r>
          </a:p>
          <a:p>
            <a:pPr eaLnBrk="1" hangingPunct="1">
              <a:lnSpc>
                <a:spcPct val="150000"/>
              </a:lnSpc>
              <a:buFontTx/>
              <a:buNone/>
            </a:pPr>
            <a:r>
              <a:rPr lang="en-US" sz="1800" smtClean="0">
                <a:latin typeface="Lucida Bright" panose="02040602050505020304" pitchFamily="18" charset="0"/>
              </a:rPr>
              <a:t> grep option pattern filename(s)</a:t>
            </a:r>
          </a:p>
          <a:p>
            <a:pPr eaLnBrk="1" hangingPunct="1">
              <a:lnSpc>
                <a:spcPct val="150000"/>
              </a:lnSpc>
              <a:buFontTx/>
              <a:buNone/>
            </a:pPr>
            <a:r>
              <a:rPr lang="en-US" sz="1800" b="1" smtClean="0">
                <a:latin typeface="Lucida Bright" panose="02040602050505020304" pitchFamily="18" charset="0"/>
              </a:rPr>
              <a:t>Egrep: </a:t>
            </a:r>
            <a:r>
              <a:rPr lang="en-US" sz="1800" smtClean="0">
                <a:latin typeface="Lucida Bright" panose="02040602050505020304" pitchFamily="18" charset="0"/>
              </a:rPr>
              <a:t>extended grep</a:t>
            </a:r>
          </a:p>
          <a:p>
            <a:pPr eaLnBrk="1" hangingPunct="1">
              <a:lnSpc>
                <a:spcPct val="150000"/>
              </a:lnSpc>
              <a:buFontTx/>
              <a:buNone/>
            </a:pPr>
            <a:r>
              <a:rPr lang="en-US" sz="1800" smtClean="0">
                <a:latin typeface="Lucida Bright" panose="02040602050505020304" pitchFamily="18" charset="0"/>
              </a:rPr>
              <a:t>Egrep extended set includes 2 special characters + and ?.</a:t>
            </a:r>
          </a:p>
          <a:p>
            <a:pPr eaLnBrk="1" hangingPunct="1">
              <a:lnSpc>
                <a:spcPct val="150000"/>
              </a:lnSpc>
              <a:buFontTx/>
              <a:buNone/>
            </a:pPr>
            <a:r>
              <a:rPr lang="en-US" sz="1800" smtClean="0">
                <a:latin typeface="Lucida Bright" panose="02040602050505020304" pitchFamily="18" charset="0"/>
              </a:rPr>
              <a:t>+ --matches one or more occurrences of the pervious character.</a:t>
            </a:r>
          </a:p>
          <a:p>
            <a:pPr eaLnBrk="1" hangingPunct="1">
              <a:lnSpc>
                <a:spcPct val="150000"/>
              </a:lnSpc>
              <a:buFontTx/>
              <a:buNone/>
            </a:pPr>
            <a:r>
              <a:rPr lang="en-US" sz="1800" smtClean="0">
                <a:latin typeface="Lucida Bright" panose="02040602050505020304" pitchFamily="18" charset="0"/>
              </a:rPr>
              <a:t>?-- matches zero or more occurrences of the pervious character.</a:t>
            </a:r>
          </a:p>
          <a:p>
            <a:pPr eaLnBrk="1" hangingPunct="1">
              <a:lnSpc>
                <a:spcPct val="150000"/>
              </a:lnSpc>
            </a:pPr>
            <a:r>
              <a:rPr lang="en-US" sz="1800" b="1" smtClean="0">
                <a:latin typeface="Lucida Bright" panose="02040602050505020304" pitchFamily="18" charset="0"/>
              </a:rPr>
              <a:t>fgrep: </a:t>
            </a:r>
            <a:r>
              <a:rPr lang="en-US" sz="1800" smtClean="0">
                <a:latin typeface="Lucida Bright" panose="02040602050505020304" pitchFamily="18" charset="0"/>
              </a:rPr>
              <a:t>fast grep</a:t>
            </a:r>
          </a:p>
          <a:p>
            <a:pPr eaLnBrk="1" hangingPunct="1">
              <a:lnSpc>
                <a:spcPct val="150000"/>
              </a:lnSpc>
            </a:pPr>
            <a:r>
              <a:rPr lang="en-US" sz="1800" smtClean="0">
                <a:latin typeface="Lucida Bright" panose="02040602050505020304" pitchFamily="18" charset="0"/>
              </a:rPr>
              <a:t>If search criteria requires only sequence expressions, fgrep is the best utility.</a:t>
            </a:r>
          </a:p>
          <a:p>
            <a:pPr eaLnBrk="1" hangingPunct="1">
              <a:lnSpc>
                <a:spcPct val="150000"/>
              </a:lnSpc>
            </a:pPr>
            <a:r>
              <a:rPr lang="en-US" sz="1800" smtClean="0">
                <a:latin typeface="Lucida Bright" panose="02040602050505020304" pitchFamily="18" charset="0"/>
              </a:rPr>
              <a:t>Fgrep supports only string patterns, no regular expressions.</a:t>
            </a:r>
          </a:p>
          <a:p>
            <a:pPr eaLnBrk="1" hangingPunct="1">
              <a:lnSpc>
                <a:spcPct val="150000"/>
              </a:lnSpc>
            </a:pPr>
            <a:r>
              <a:rPr lang="en-US" sz="1800" smtClean="0">
                <a:latin typeface="Lucida Bright" panose="02040602050505020304" pitchFamily="18" charset="0"/>
              </a:rPr>
              <a:t>To extract all the lines that contain an apostrophe use fgrep as follows:</a:t>
            </a:r>
          </a:p>
          <a:p>
            <a:pPr eaLnBrk="1" hangingPunct="1">
              <a:lnSpc>
                <a:spcPct val="150000"/>
              </a:lnSpc>
            </a:pPr>
            <a:r>
              <a:rPr lang="en-US" sz="1800" smtClean="0">
                <a:latin typeface="Lucida Bright" panose="02040602050505020304" pitchFamily="18" charset="0"/>
              </a:rPr>
              <a:t>$fgrep “’” file</a:t>
            </a:r>
          </a:p>
          <a:p>
            <a:pPr eaLnBrk="1" hangingPunct="1">
              <a:lnSpc>
                <a:spcPct val="150000"/>
              </a:lnSpc>
              <a:buFontTx/>
              <a:buNone/>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
        <p:nvSpPr>
          <p:cNvPr id="88068"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 </a:t>
            </a: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10600" cy="6324600"/>
          </a:xfrm>
        </p:spPr>
        <p:txBody>
          <a:bodyPr/>
          <a:lstStyle/>
          <a:p>
            <a:r>
              <a:rPr lang="en-IN" sz="2000" b="1" dirty="0" err="1" smtClean="0">
                <a:solidFill>
                  <a:srgbClr val="FF0000"/>
                </a:solidFill>
              </a:rPr>
              <a:t>Grep</a:t>
            </a:r>
            <a:r>
              <a:rPr lang="en-IN" sz="2000" b="1" dirty="0" smtClean="0">
                <a:solidFill>
                  <a:srgbClr val="FF0000"/>
                </a:solidFill>
              </a:rPr>
              <a:t> examples:</a:t>
            </a:r>
          </a:p>
          <a:p>
            <a:pPr marL="0" indent="0">
              <a:buNone/>
            </a:pPr>
            <a:r>
              <a:rPr lang="en-IN" sz="2000" dirty="0" smtClean="0"/>
              <a:t>$cat&gt;unix.txt</a:t>
            </a:r>
          </a:p>
          <a:p>
            <a:pPr marL="0" indent="0">
              <a:buNone/>
            </a:pPr>
            <a:r>
              <a:rPr lang="en-US" sz="2000" dirty="0" err="1"/>
              <a:t>unix</a:t>
            </a:r>
            <a:r>
              <a:rPr lang="en-US" sz="2000" dirty="0"/>
              <a:t> is great </a:t>
            </a:r>
            <a:r>
              <a:rPr lang="en-US" sz="2000" dirty="0" err="1"/>
              <a:t>os</a:t>
            </a:r>
            <a:r>
              <a:rPr lang="en-US" sz="2000" dirty="0"/>
              <a:t>. </a:t>
            </a:r>
            <a:r>
              <a:rPr lang="en-US" sz="2000" dirty="0" err="1"/>
              <a:t>unix</a:t>
            </a:r>
            <a:r>
              <a:rPr lang="en-US" sz="2000" dirty="0"/>
              <a:t> is </a:t>
            </a:r>
            <a:r>
              <a:rPr lang="en-US" sz="2000" dirty="0" err="1"/>
              <a:t>opensource</a:t>
            </a:r>
            <a:r>
              <a:rPr lang="en-US" sz="2000" dirty="0"/>
              <a:t>. </a:t>
            </a:r>
            <a:r>
              <a:rPr lang="en-US" sz="2000" dirty="0" err="1"/>
              <a:t>unix</a:t>
            </a:r>
            <a:r>
              <a:rPr lang="en-US" sz="2000" dirty="0"/>
              <a:t> is free </a:t>
            </a:r>
            <a:r>
              <a:rPr lang="en-US" sz="2000" dirty="0" err="1"/>
              <a:t>os</a:t>
            </a:r>
            <a:r>
              <a:rPr lang="en-US" sz="2000" dirty="0"/>
              <a:t>.</a:t>
            </a:r>
          </a:p>
          <a:p>
            <a:pPr marL="0" indent="0">
              <a:buNone/>
            </a:pPr>
            <a:r>
              <a:rPr lang="en-US" sz="2000" dirty="0"/>
              <a:t>learn operating system.</a:t>
            </a:r>
          </a:p>
          <a:p>
            <a:pPr marL="0" indent="0">
              <a:buNone/>
            </a:pPr>
            <a:r>
              <a:rPr lang="en-US" sz="2000" dirty="0" err="1"/>
              <a:t>unix</a:t>
            </a:r>
            <a:r>
              <a:rPr lang="en-US" sz="2000" dirty="0"/>
              <a:t> </a:t>
            </a:r>
            <a:r>
              <a:rPr lang="en-US" sz="2000" dirty="0" err="1"/>
              <a:t>linux</a:t>
            </a:r>
            <a:r>
              <a:rPr lang="en-US" sz="2000" dirty="0"/>
              <a:t> which one you choose.</a:t>
            </a:r>
          </a:p>
          <a:p>
            <a:pPr marL="0" indent="0">
              <a:buNone/>
            </a:pPr>
            <a:r>
              <a:rPr lang="en-US" sz="2000" dirty="0" err="1"/>
              <a:t>unix</a:t>
            </a:r>
            <a:r>
              <a:rPr lang="en-US" sz="2000" dirty="0"/>
              <a:t> is easy to </a:t>
            </a:r>
            <a:r>
              <a:rPr lang="en-US" sz="2000" dirty="0" err="1"/>
              <a:t>learn.unix</a:t>
            </a:r>
            <a:r>
              <a:rPr lang="en-US" sz="2000" dirty="0"/>
              <a:t> is a multiuser </a:t>
            </a:r>
            <a:r>
              <a:rPr lang="en-US" sz="2000" dirty="0" err="1"/>
              <a:t>os.Learn</a:t>
            </a:r>
            <a:r>
              <a:rPr lang="en-US" sz="2000" dirty="0"/>
              <a:t> </a:t>
            </a:r>
            <a:r>
              <a:rPr lang="en-US" sz="2000" dirty="0" err="1"/>
              <a:t>unix</a:t>
            </a:r>
            <a:r>
              <a:rPr lang="en-US" sz="2000" dirty="0"/>
              <a:t> .</a:t>
            </a:r>
            <a:r>
              <a:rPr lang="en-US" sz="2000" dirty="0" err="1"/>
              <a:t>unix</a:t>
            </a:r>
            <a:r>
              <a:rPr lang="en-US" sz="2000" dirty="0"/>
              <a:t> is a </a:t>
            </a:r>
            <a:r>
              <a:rPr lang="en-US" sz="2000" dirty="0" smtClean="0"/>
              <a:t>powerful</a:t>
            </a:r>
          </a:p>
          <a:p>
            <a:pPr marL="0" indent="0">
              <a:buNone/>
            </a:pPr>
            <a:r>
              <a:rPr lang="en-US" sz="2000" dirty="0" err="1" smtClean="0"/>
              <a:t>Ctrl+d</a:t>
            </a:r>
            <a:endParaRPr lang="en-IN" sz="2000" dirty="0" smtClean="0"/>
          </a:p>
          <a:p>
            <a:pPr marL="0" indent="0">
              <a:buNone/>
            </a:pPr>
            <a:r>
              <a:rPr lang="en-IN" sz="2000" dirty="0"/>
              <a:t>$</a:t>
            </a:r>
            <a:r>
              <a:rPr lang="en-IN" sz="2000" dirty="0" err="1"/>
              <a:t>grep</a:t>
            </a:r>
            <a:r>
              <a:rPr lang="en-IN" sz="2000" dirty="0"/>
              <a:t> </a:t>
            </a:r>
            <a:r>
              <a:rPr lang="en-IN" sz="2000" dirty="0" smtClean="0"/>
              <a:t> “</a:t>
            </a:r>
            <a:r>
              <a:rPr lang="en-IN" sz="2000" dirty="0" err="1" smtClean="0"/>
              <a:t>unix</a:t>
            </a:r>
            <a:r>
              <a:rPr lang="en-IN" sz="2000" dirty="0"/>
              <a:t>" </a:t>
            </a:r>
            <a:r>
              <a:rPr lang="en-IN" sz="2000" dirty="0" smtClean="0"/>
              <a:t>geekfile.txt </a:t>
            </a:r>
            <a:r>
              <a:rPr lang="en-IN" sz="2000" dirty="0"/>
              <a:t>()</a:t>
            </a:r>
            <a:endParaRPr lang="en-IN" sz="2000" dirty="0" smtClean="0"/>
          </a:p>
          <a:p>
            <a:pPr marL="0" indent="0">
              <a:buNone/>
            </a:pPr>
            <a:r>
              <a:rPr lang="en-IN" sz="2000" dirty="0" smtClean="0"/>
              <a:t>$</a:t>
            </a:r>
            <a:r>
              <a:rPr lang="en-IN" sz="2000" dirty="0"/>
              <a:t> </a:t>
            </a:r>
            <a:r>
              <a:rPr lang="en-IN" sz="2000" dirty="0" err="1"/>
              <a:t>grep</a:t>
            </a:r>
            <a:r>
              <a:rPr lang="en-IN" sz="2000" dirty="0"/>
              <a:t> -</a:t>
            </a:r>
            <a:r>
              <a:rPr lang="en-IN" sz="2000" dirty="0" err="1"/>
              <a:t>i</a:t>
            </a:r>
            <a:r>
              <a:rPr lang="en-IN" sz="2000" dirty="0"/>
              <a:t> "</a:t>
            </a:r>
            <a:r>
              <a:rPr lang="en-IN" sz="2000" dirty="0" err="1"/>
              <a:t>UNix</a:t>
            </a:r>
            <a:r>
              <a:rPr lang="en-IN" sz="2000" dirty="0"/>
              <a:t>" </a:t>
            </a:r>
            <a:r>
              <a:rPr lang="en-IN" sz="2000" dirty="0" smtClean="0"/>
              <a:t>geekfile.txt (</a:t>
            </a:r>
            <a:r>
              <a:rPr lang="en-IN" sz="1800" dirty="0"/>
              <a:t>Case insensitive </a:t>
            </a:r>
            <a:r>
              <a:rPr lang="en-IN" sz="1800" dirty="0" smtClean="0"/>
              <a:t>search</a:t>
            </a:r>
            <a:r>
              <a:rPr lang="en-IN" sz="1200" dirty="0" smtClean="0"/>
              <a:t>)</a:t>
            </a:r>
          </a:p>
          <a:p>
            <a:pPr marL="0" indent="0">
              <a:buNone/>
            </a:pPr>
            <a:r>
              <a:rPr lang="en-IN" sz="2000" dirty="0"/>
              <a:t>$</a:t>
            </a:r>
            <a:r>
              <a:rPr lang="en-IN" sz="2000" dirty="0" err="1"/>
              <a:t>grep</a:t>
            </a:r>
            <a:r>
              <a:rPr lang="en-IN" sz="2000" dirty="0"/>
              <a:t> -c "</a:t>
            </a:r>
            <a:r>
              <a:rPr lang="en-IN" sz="2000" dirty="0" err="1"/>
              <a:t>unix</a:t>
            </a:r>
            <a:r>
              <a:rPr lang="en-IN" sz="2000" dirty="0"/>
              <a:t>" </a:t>
            </a:r>
            <a:r>
              <a:rPr lang="en-IN" sz="2000" dirty="0" smtClean="0"/>
              <a:t>geekfile.txt (</a:t>
            </a:r>
            <a:r>
              <a:rPr lang="en-US" sz="1400" dirty="0"/>
              <a:t>Displaying the Count Matches Using </a:t>
            </a:r>
            <a:r>
              <a:rPr lang="en-US" sz="1400" dirty="0" err="1" smtClean="0"/>
              <a:t>grep</a:t>
            </a:r>
            <a:r>
              <a:rPr lang="en-IN" sz="2000" dirty="0" smtClean="0"/>
              <a:t>)</a:t>
            </a:r>
          </a:p>
          <a:p>
            <a:pPr marL="0" indent="0">
              <a:buNone/>
            </a:pPr>
            <a:r>
              <a:rPr lang="en-IN" sz="2000" dirty="0"/>
              <a:t>$</a:t>
            </a:r>
            <a:r>
              <a:rPr lang="en-IN" sz="2000" dirty="0" err="1"/>
              <a:t>grep</a:t>
            </a:r>
            <a:r>
              <a:rPr lang="en-IN" sz="2000" dirty="0"/>
              <a:t> -l "</a:t>
            </a:r>
            <a:r>
              <a:rPr lang="en-IN" sz="2000" dirty="0" err="1"/>
              <a:t>unix</a:t>
            </a:r>
            <a:r>
              <a:rPr lang="en-IN" sz="2000" dirty="0"/>
              <a:t>" * or </a:t>
            </a:r>
            <a:r>
              <a:rPr lang="en-IN" sz="2000" dirty="0" err="1"/>
              <a:t>grep</a:t>
            </a:r>
            <a:r>
              <a:rPr lang="en-IN" sz="2000" dirty="0"/>
              <a:t> -l "</a:t>
            </a:r>
            <a:r>
              <a:rPr lang="en-IN" sz="2000" dirty="0" err="1"/>
              <a:t>unix</a:t>
            </a:r>
            <a:r>
              <a:rPr lang="en-IN" sz="2000" dirty="0"/>
              <a:t>" f1.txt f2.txt f3.xt </a:t>
            </a:r>
            <a:r>
              <a:rPr lang="en-IN" sz="2000" dirty="0" smtClean="0"/>
              <a:t>f4.txt (</a:t>
            </a:r>
            <a:r>
              <a:rPr lang="en-US" sz="1400" b="1" dirty="0"/>
              <a:t>Display the Matching Filenames Using </a:t>
            </a:r>
            <a:r>
              <a:rPr lang="en-US" sz="1400" b="1" dirty="0" err="1" smtClean="0"/>
              <a:t>grep</a:t>
            </a:r>
            <a:r>
              <a:rPr lang="en-IN" sz="2000" dirty="0" smtClean="0"/>
              <a:t>)</a:t>
            </a:r>
          </a:p>
          <a:p>
            <a:pPr marL="0" indent="0">
              <a:buNone/>
            </a:pPr>
            <a:r>
              <a:rPr lang="en-IN" sz="2000" dirty="0"/>
              <a:t>$</a:t>
            </a:r>
            <a:r>
              <a:rPr lang="en-IN" sz="2000" dirty="0" err="1"/>
              <a:t>grep</a:t>
            </a:r>
            <a:r>
              <a:rPr lang="en-IN" sz="2000" dirty="0"/>
              <a:t> -w "</a:t>
            </a:r>
            <a:r>
              <a:rPr lang="en-IN" sz="2000" dirty="0" err="1"/>
              <a:t>unix</a:t>
            </a:r>
            <a:r>
              <a:rPr lang="en-IN" sz="2000" dirty="0"/>
              <a:t>" </a:t>
            </a:r>
            <a:r>
              <a:rPr lang="en-IN" sz="2000" dirty="0" smtClean="0"/>
              <a:t>geekfile.txt</a:t>
            </a:r>
            <a:r>
              <a:rPr lang="en-IN" sz="2000" dirty="0"/>
              <a:t> </a:t>
            </a:r>
            <a:r>
              <a:rPr lang="en-IN" sz="2000" dirty="0" smtClean="0"/>
              <a:t>(</a:t>
            </a:r>
            <a:r>
              <a:rPr lang="en-US" sz="1400" b="1" dirty="0"/>
              <a:t>Checking Whole Words Using </a:t>
            </a:r>
            <a:r>
              <a:rPr lang="en-US" sz="1400" b="1" dirty="0" err="1" smtClean="0"/>
              <a:t>grep</a:t>
            </a:r>
            <a:r>
              <a:rPr lang="en-IN" sz="1400" dirty="0" smtClean="0"/>
              <a:t>)</a:t>
            </a:r>
          </a:p>
          <a:p>
            <a:pPr marL="0" indent="0">
              <a:buNone/>
            </a:pPr>
            <a:r>
              <a:rPr lang="en-IN" sz="2000" dirty="0"/>
              <a:t>$</a:t>
            </a:r>
            <a:r>
              <a:rPr lang="en-IN" sz="2000" dirty="0" err="1"/>
              <a:t>grep</a:t>
            </a:r>
            <a:r>
              <a:rPr lang="en-IN" sz="2000" dirty="0"/>
              <a:t> -n "</a:t>
            </a:r>
            <a:r>
              <a:rPr lang="en-IN" sz="2000" dirty="0" err="1"/>
              <a:t>unix</a:t>
            </a:r>
            <a:r>
              <a:rPr lang="en-IN" sz="2000" dirty="0"/>
              <a:t>" </a:t>
            </a:r>
            <a:r>
              <a:rPr lang="en-IN" sz="2000" dirty="0" smtClean="0"/>
              <a:t>geekfile.txt</a:t>
            </a:r>
            <a:r>
              <a:rPr lang="en-IN" sz="2000" dirty="0"/>
              <a:t> </a:t>
            </a:r>
            <a:r>
              <a:rPr lang="en-IN" sz="2000" dirty="0" smtClean="0"/>
              <a:t>(</a:t>
            </a:r>
            <a:r>
              <a:rPr lang="en-US" sz="1400" b="1" dirty="0"/>
              <a:t>Show Line Numbers with </a:t>
            </a:r>
            <a:r>
              <a:rPr lang="en-US" sz="1400" b="1" dirty="0" err="1"/>
              <a:t>grep</a:t>
            </a:r>
            <a:r>
              <a:rPr lang="en-US" sz="1400" b="1" dirty="0"/>
              <a:t> -</a:t>
            </a:r>
            <a:r>
              <a:rPr lang="en-US" sz="1400" b="1" dirty="0" smtClean="0"/>
              <a:t>n</a:t>
            </a:r>
            <a:r>
              <a:rPr lang="en-IN" sz="1400" dirty="0" smtClean="0"/>
              <a:t>)</a:t>
            </a:r>
          </a:p>
          <a:p>
            <a:pPr marL="0" indent="0">
              <a:buNone/>
            </a:pPr>
            <a:r>
              <a:rPr lang="en-IN" sz="2000" dirty="0"/>
              <a:t>$</a:t>
            </a:r>
            <a:r>
              <a:rPr lang="en-IN" sz="2000" dirty="0" err="1"/>
              <a:t>grep</a:t>
            </a:r>
            <a:r>
              <a:rPr lang="en-IN" sz="2000" dirty="0"/>
              <a:t> -v "</a:t>
            </a:r>
            <a:r>
              <a:rPr lang="en-IN" sz="2000" dirty="0" err="1"/>
              <a:t>unix</a:t>
            </a:r>
            <a:r>
              <a:rPr lang="en-IN" sz="2000" dirty="0"/>
              <a:t>" </a:t>
            </a:r>
            <a:r>
              <a:rPr lang="en-IN" sz="2000" dirty="0" smtClean="0"/>
              <a:t>geekfile.txt</a:t>
            </a:r>
            <a:r>
              <a:rPr lang="en-IN" sz="2000" dirty="0"/>
              <a:t> </a:t>
            </a:r>
            <a:r>
              <a:rPr lang="en-IN" sz="2000" dirty="0" smtClean="0"/>
              <a:t>(</a:t>
            </a:r>
            <a:r>
              <a:rPr lang="en-US" sz="1400" dirty="0"/>
              <a:t>lines that are not matched with the specified search string pattern</a:t>
            </a:r>
            <a:r>
              <a:rPr lang="en-IN" sz="2000" dirty="0" smtClean="0"/>
              <a:t>)</a:t>
            </a:r>
          </a:p>
          <a:p>
            <a:pPr marL="0" indent="0">
              <a:buNone/>
            </a:pPr>
            <a:r>
              <a:rPr lang="en-IN" sz="2000" dirty="0"/>
              <a:t>$</a:t>
            </a:r>
            <a:r>
              <a:rPr lang="en-IN" sz="2000" dirty="0" err="1"/>
              <a:t>grep</a:t>
            </a:r>
            <a:r>
              <a:rPr lang="en-IN" sz="2000" dirty="0"/>
              <a:t> "^</a:t>
            </a:r>
            <a:r>
              <a:rPr lang="en-IN" sz="2000" dirty="0" err="1"/>
              <a:t>unix</a:t>
            </a:r>
            <a:r>
              <a:rPr lang="en-IN" sz="2000" dirty="0"/>
              <a:t>" </a:t>
            </a:r>
            <a:r>
              <a:rPr lang="en-IN" sz="2000" dirty="0" smtClean="0"/>
              <a:t>geekfile.txt(</a:t>
            </a:r>
            <a:r>
              <a:rPr lang="en-US" sz="1400" b="1" dirty="0"/>
              <a:t>Match Lines Starting with a String using </a:t>
            </a:r>
            <a:r>
              <a:rPr lang="en-US" sz="1400" b="1" dirty="0" err="1" smtClean="0"/>
              <a:t>grep</a:t>
            </a:r>
            <a:r>
              <a:rPr lang="en-IN" sz="1400" dirty="0" smtClean="0"/>
              <a:t>)</a:t>
            </a:r>
          </a:p>
          <a:p>
            <a:pPr marL="0" indent="0">
              <a:buNone/>
            </a:pPr>
            <a:r>
              <a:rPr lang="en-IN" sz="2000" dirty="0"/>
              <a:t>$</a:t>
            </a:r>
            <a:r>
              <a:rPr lang="en-IN" sz="2000" dirty="0" err="1"/>
              <a:t>grep</a:t>
            </a:r>
            <a:r>
              <a:rPr lang="en-IN" sz="2000" dirty="0"/>
              <a:t> "</a:t>
            </a:r>
            <a:r>
              <a:rPr lang="en-IN" sz="2000" dirty="0" err="1"/>
              <a:t>os</a:t>
            </a:r>
            <a:r>
              <a:rPr lang="en-IN" sz="2000" dirty="0"/>
              <a:t>$" </a:t>
            </a:r>
            <a:r>
              <a:rPr lang="en-IN" sz="2000" dirty="0" smtClean="0"/>
              <a:t>geekfile.txt(</a:t>
            </a:r>
            <a:r>
              <a:rPr lang="en-US" sz="1800" dirty="0"/>
              <a:t>Match Lines Ending with a String using </a:t>
            </a:r>
            <a:r>
              <a:rPr lang="en-US" sz="1800" dirty="0" err="1" smtClean="0"/>
              <a:t>grep</a:t>
            </a:r>
            <a:r>
              <a:rPr lang="en-US" sz="1800" dirty="0" smtClean="0"/>
              <a:t>)</a:t>
            </a:r>
            <a:endParaRPr lang="en-US" sz="1800" dirty="0"/>
          </a:p>
          <a:p>
            <a:pPr marL="0" indent="0">
              <a:buNone/>
            </a:pPr>
            <a:endParaRPr lang="en-IN" sz="2000" dirty="0" smtClean="0"/>
          </a:p>
          <a:p>
            <a:pPr marL="0" indent="0">
              <a:buNone/>
            </a:pPr>
            <a:endParaRPr lang="en-IN" sz="2000" dirty="0" smtClean="0"/>
          </a:p>
        </p:txBody>
      </p:sp>
    </p:spTree>
    <p:extLst>
      <p:ext uri="{BB962C8B-B14F-4D97-AF65-F5344CB8AC3E}">
        <p14:creationId xmlns:p14="http://schemas.microsoft.com/office/powerpoint/2010/main" val="19582392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8"/>
          <p:cNvSpPr>
            <a:spLocks noGrp="1"/>
          </p:cNvSpPr>
          <p:nvPr>
            <p:ph idx="1"/>
          </p:nvPr>
        </p:nvSpPr>
        <p:spPr>
          <a:xfrm>
            <a:off x="0" y="838200"/>
            <a:ext cx="9144000" cy="5287963"/>
          </a:xfrm>
        </p:spPr>
        <p:txBody>
          <a:bodyPr/>
          <a:lstStyle/>
          <a:p>
            <a:pPr eaLnBrk="1" hangingPunct="1">
              <a:lnSpc>
                <a:spcPct val="150000"/>
              </a:lnSpc>
            </a:pPr>
            <a:r>
              <a:rPr lang="en-US" sz="1800" b="1" dirty="0" smtClean="0">
                <a:latin typeface="Lucida Bright" panose="02040602050505020304" pitchFamily="18" charset="0"/>
              </a:rPr>
              <a:t>Cut: </a:t>
            </a:r>
            <a:r>
              <a:rPr lang="en-US" sz="1800" dirty="0" smtClean="0">
                <a:latin typeface="Lucida Bright" panose="02040602050505020304" pitchFamily="18" charset="0"/>
              </a:rPr>
              <a:t>slitting the file vertically</a:t>
            </a:r>
          </a:p>
          <a:p>
            <a:pPr eaLnBrk="1" hangingPunct="1">
              <a:lnSpc>
                <a:spcPct val="150000"/>
              </a:lnSpc>
              <a:buFontTx/>
              <a:buNone/>
            </a:pPr>
            <a:r>
              <a:rPr lang="en-US" sz="1800" dirty="0" smtClean="0">
                <a:latin typeface="Lucida Bright" panose="02040602050505020304" pitchFamily="18" charset="0"/>
              </a:rPr>
              <a:t>  U can slice a file vertically with cut command.</a:t>
            </a:r>
          </a:p>
          <a:p>
            <a:pPr eaLnBrk="1" hangingPunct="1">
              <a:lnSpc>
                <a:spcPct val="150000"/>
              </a:lnSpc>
            </a:pPr>
            <a:r>
              <a:rPr lang="en-US" sz="1800" dirty="0" smtClean="0">
                <a:latin typeface="Lucida Bright" panose="02040602050505020304" pitchFamily="18" charset="0"/>
              </a:rPr>
              <a:t>Cutting columns(-c):</a:t>
            </a:r>
          </a:p>
          <a:p>
            <a:pPr eaLnBrk="1" hangingPunct="1">
              <a:lnSpc>
                <a:spcPct val="150000"/>
              </a:lnSpc>
              <a:buFontTx/>
              <a:buNone/>
            </a:pPr>
            <a:r>
              <a:rPr lang="en-US" sz="1800" dirty="0" smtClean="0">
                <a:latin typeface="Lucida Bright" panose="02040602050505020304" pitchFamily="18" charset="0"/>
              </a:rPr>
              <a:t> Cut with –c option cuts the columns.</a:t>
            </a:r>
          </a:p>
          <a:p>
            <a:pPr eaLnBrk="1" hangingPunct="1">
              <a:lnSpc>
                <a:spcPct val="150000"/>
              </a:lnSpc>
              <a:buFontTx/>
              <a:buNone/>
            </a:pPr>
            <a:r>
              <a:rPr lang="en-US" sz="1800" dirty="0" smtClean="0">
                <a:latin typeface="Lucida Bright" panose="02040602050505020304" pitchFamily="18" charset="0"/>
              </a:rPr>
              <a:t>  To extract first 4 columns of the group file :</a:t>
            </a:r>
          </a:p>
          <a:p>
            <a:pPr eaLnBrk="1" hangingPunct="1">
              <a:lnSpc>
                <a:spcPct val="150000"/>
              </a:lnSpc>
              <a:buFontTx/>
              <a:buNone/>
            </a:pPr>
            <a:r>
              <a:rPr lang="en-US" sz="1800" dirty="0" smtClean="0">
                <a:latin typeface="Lucida Bright" panose="02040602050505020304" pitchFamily="18" charset="0"/>
              </a:rPr>
              <a:t>  $cut –c 1-4 group1</a:t>
            </a:r>
          </a:p>
          <a:p>
            <a:pPr eaLnBrk="1" hangingPunct="1">
              <a:lnSpc>
                <a:spcPct val="150000"/>
              </a:lnSpc>
              <a:buFontTx/>
              <a:buNone/>
            </a:pPr>
            <a:r>
              <a:rPr lang="en-US" sz="1800" dirty="0" smtClean="0">
                <a:latin typeface="Lucida Bright" panose="02040602050505020304" pitchFamily="18" charset="0"/>
              </a:rPr>
              <a:t>The specification –c 1-4 cuts columns 1 to 4.</a:t>
            </a:r>
          </a:p>
          <a:p>
            <a:pPr eaLnBrk="1" hangingPunct="1">
              <a:lnSpc>
                <a:spcPct val="150000"/>
              </a:lnSpc>
              <a:buFontTx/>
              <a:buNone/>
            </a:pPr>
            <a:r>
              <a:rPr lang="en-US" sz="1800" dirty="0" smtClean="0">
                <a:latin typeface="Lucida Bright" panose="02040602050505020304" pitchFamily="18" charset="0"/>
              </a:rPr>
              <a:t>Cutting fields:</a:t>
            </a:r>
          </a:p>
          <a:p>
            <a:pPr eaLnBrk="1" hangingPunct="1">
              <a:lnSpc>
                <a:spcPct val="150000"/>
              </a:lnSpc>
              <a:buFontTx/>
              <a:buNone/>
            </a:pPr>
            <a:r>
              <a:rPr lang="en-US" sz="1800" dirty="0" smtClean="0">
                <a:latin typeface="Lucida Bright" panose="02040602050505020304" pitchFamily="18" charset="0"/>
              </a:rPr>
              <a:t>To cut 1</a:t>
            </a:r>
            <a:r>
              <a:rPr lang="en-US" sz="1800" baseline="30000" dirty="0" smtClean="0">
                <a:latin typeface="Lucida Bright" panose="02040602050505020304" pitchFamily="18" charset="0"/>
              </a:rPr>
              <a:t>st</a:t>
            </a:r>
            <a:r>
              <a:rPr lang="en-US" sz="1800" dirty="0" smtClean="0">
                <a:latin typeface="Lucida Bright" panose="02040602050505020304" pitchFamily="18" charset="0"/>
              </a:rPr>
              <a:t> and 3</a:t>
            </a:r>
            <a:r>
              <a:rPr lang="en-US" sz="1800" baseline="30000" dirty="0" smtClean="0">
                <a:latin typeface="Lucida Bright" panose="02040602050505020304" pitchFamily="18" charset="0"/>
              </a:rPr>
              <a:t>rd</a:t>
            </a:r>
            <a:r>
              <a:rPr lang="en-US" sz="1800" dirty="0" smtClean="0">
                <a:latin typeface="Lucida Bright" panose="02040602050505020304" pitchFamily="18" charset="0"/>
              </a:rPr>
              <a:t> fields use</a:t>
            </a:r>
          </a:p>
          <a:p>
            <a:pPr eaLnBrk="1" hangingPunct="1">
              <a:lnSpc>
                <a:spcPct val="150000"/>
              </a:lnSpc>
              <a:buFontTx/>
              <a:buNone/>
            </a:pPr>
            <a:r>
              <a:rPr lang="en-US" sz="1800" dirty="0" smtClean="0">
                <a:latin typeface="Lucida Bright" panose="02040602050505020304" pitchFamily="18" charset="0"/>
              </a:rPr>
              <a:t>$cut –d: -f1,3 group1</a:t>
            </a:r>
          </a:p>
          <a:p>
            <a:pPr eaLnBrk="1" hangingPunct="1">
              <a:lnSpc>
                <a:spcPct val="150000"/>
              </a:lnSpc>
            </a:pPr>
            <a:endParaRPr lang="en-US" sz="1800" dirty="0" smtClean="0">
              <a:latin typeface="Lucida Bright" panose="02040602050505020304" pitchFamily="18" charset="0"/>
            </a:endParaRPr>
          </a:p>
          <a:p>
            <a:pPr eaLnBrk="1" hangingPunct="1">
              <a:lnSpc>
                <a:spcPct val="150000"/>
              </a:lnSpc>
            </a:pPr>
            <a:endParaRPr lang="en-US" sz="1800" dirty="0" smtClean="0">
              <a:latin typeface="Lucida Bright" panose="02040602050505020304" pitchFamily="18" charset="0"/>
            </a:endParaRPr>
          </a:p>
          <a:p>
            <a:pPr>
              <a:lnSpc>
                <a:spcPct val="150000"/>
              </a:lnSpc>
            </a:pPr>
            <a:endParaRPr lang="en-US" sz="1800" dirty="0" smtClean="0">
              <a:latin typeface="Lucida Bright" panose="02040602050505020304" pitchFamily="18" charset="0"/>
            </a:endParaRPr>
          </a:p>
        </p:txBody>
      </p:sp>
      <p:sp>
        <p:nvSpPr>
          <p:cNvPr id="89092"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 </a:t>
            </a:r>
            <a:endParaRPr lang="en-US" sz="2400" dirty="0" smtClean="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ntent Placeholder 7"/>
          <p:cNvSpPr>
            <a:spLocks noGrp="1"/>
          </p:cNvSpPr>
          <p:nvPr>
            <p:ph idx="1"/>
          </p:nvPr>
        </p:nvSpPr>
        <p:spPr>
          <a:xfrm>
            <a:off x="0" y="914400"/>
            <a:ext cx="9144000" cy="6629400"/>
          </a:xfrm>
        </p:spPr>
        <p:txBody>
          <a:bodyPr/>
          <a:lstStyle/>
          <a:p>
            <a:pPr eaLnBrk="1" hangingPunct="1">
              <a:lnSpc>
                <a:spcPct val="150000"/>
              </a:lnSpc>
            </a:pPr>
            <a:r>
              <a:rPr lang="en-US" sz="1800" b="1" dirty="0" smtClean="0">
                <a:latin typeface="Lucida Bright" panose="02040602050505020304" pitchFamily="18" charset="0"/>
              </a:rPr>
              <a:t>Paste: </a:t>
            </a:r>
            <a:r>
              <a:rPr lang="en-US" sz="1800" dirty="0" smtClean="0">
                <a:latin typeface="Lucida Bright" panose="02040602050505020304" pitchFamily="18" charset="0"/>
              </a:rPr>
              <a:t>pasting files</a:t>
            </a:r>
          </a:p>
          <a:p>
            <a:pPr eaLnBrk="1" hangingPunct="1">
              <a:lnSpc>
                <a:spcPct val="150000"/>
              </a:lnSpc>
            </a:pPr>
            <a:r>
              <a:rPr lang="en-US" sz="1800" dirty="0" smtClean="0">
                <a:latin typeface="Lucida Bright" panose="02040602050505020304" pitchFamily="18" charset="0"/>
              </a:rPr>
              <a:t>What u cut with the cut can be pasted back with paste command-but vertically rather than horizontally. u can view two files side by side by pasting them.</a:t>
            </a:r>
          </a:p>
          <a:p>
            <a:pPr eaLnBrk="1" hangingPunct="1">
              <a:lnSpc>
                <a:spcPct val="150000"/>
              </a:lnSpc>
            </a:pPr>
            <a:r>
              <a:rPr lang="en-US" sz="1800" dirty="0" smtClean="0">
                <a:latin typeface="Lucida Bright" panose="02040602050505020304" pitchFamily="18" charset="0"/>
              </a:rPr>
              <a:t>To join two files calc.lst and result.lst use</a:t>
            </a:r>
          </a:p>
          <a:p>
            <a:pPr eaLnBrk="1" hangingPunct="1">
              <a:lnSpc>
                <a:spcPct val="150000"/>
              </a:lnSpc>
            </a:pPr>
            <a:r>
              <a:rPr lang="en-US" sz="1800" dirty="0" smtClean="0">
                <a:latin typeface="Lucida Bright" panose="02040602050505020304" pitchFamily="18" charset="0"/>
              </a:rPr>
              <a:t> $paste –d= calc.lst result.lst</a:t>
            </a:r>
          </a:p>
          <a:p>
            <a:pPr eaLnBrk="1" hangingPunct="1">
              <a:lnSpc>
                <a:spcPct val="150000"/>
              </a:lnSpc>
            </a:pPr>
            <a:r>
              <a:rPr lang="en-US" sz="1800" b="1" dirty="0" smtClean="0">
                <a:latin typeface="Lucida Bright" panose="02040602050505020304" pitchFamily="18" charset="0"/>
              </a:rPr>
              <a:t>Join:</a:t>
            </a:r>
          </a:p>
          <a:p>
            <a:pPr eaLnBrk="1" hangingPunct="1">
              <a:lnSpc>
                <a:spcPct val="150000"/>
              </a:lnSpc>
            </a:pPr>
            <a:r>
              <a:rPr lang="en-US" sz="1800" dirty="0" smtClean="0">
                <a:latin typeface="Lucida Bright" panose="02040602050505020304" pitchFamily="18" charset="0"/>
              </a:rPr>
              <a:t>is a command in Unix-like operating systems that merges the lines of two sorted text files based on the presence of a common field.</a:t>
            </a:r>
          </a:p>
          <a:p>
            <a:pPr eaLnBrk="1" hangingPunct="1">
              <a:lnSpc>
                <a:spcPct val="150000"/>
              </a:lnSpc>
            </a:pPr>
            <a:r>
              <a:rPr lang="en-US" sz="1800" dirty="0" smtClean="0">
                <a:latin typeface="Lucida Bright" panose="02040602050505020304" pitchFamily="18" charset="0"/>
              </a:rPr>
              <a:t>The join command takes as input two text files and a number of options. If no command-line argument is given, this command looks for a pair of lines from the two files having the same first field (a sequence of characters that are different from space), and outputs a line composed of the first field followed by the rest of the two lines.</a:t>
            </a:r>
          </a:p>
          <a:p>
            <a:pPr eaLnBrk="1" hangingPunct="1">
              <a:lnSpc>
                <a:spcPct val="150000"/>
              </a:lnSpc>
            </a:pPr>
            <a:r>
              <a:rPr lang="en-US" sz="1800" dirty="0" smtClean="0">
                <a:latin typeface="Lucida Bright" panose="02040602050505020304" pitchFamily="18" charset="0"/>
              </a:rPr>
              <a:t>$join file1 file2</a:t>
            </a:r>
          </a:p>
          <a:p>
            <a:pPr eaLnBrk="1" hangingPunct="1">
              <a:lnSpc>
                <a:spcPct val="150000"/>
              </a:lnSpc>
            </a:pPr>
            <a:endParaRPr lang="en-US" sz="1800" dirty="0" smtClean="0">
              <a:latin typeface="Lucida Bright" panose="02040602050505020304" pitchFamily="18" charset="0"/>
            </a:endParaRPr>
          </a:p>
          <a:p>
            <a:pPr>
              <a:lnSpc>
                <a:spcPct val="150000"/>
              </a:lnSpc>
            </a:pPr>
            <a:endParaRPr lang="en-US" sz="1800" dirty="0" smtClean="0">
              <a:latin typeface="Lucida Bright" panose="02040602050505020304" pitchFamily="18" charset="0"/>
            </a:endParaRPr>
          </a:p>
        </p:txBody>
      </p:sp>
      <p:sp>
        <p:nvSpPr>
          <p:cNvPr id="90116"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Text </a:t>
            </a:r>
            <a:r>
              <a:rPr lang="en-US" sz="4000" dirty="0"/>
              <a:t>processing </a:t>
            </a:r>
            <a:r>
              <a:rPr lang="en-US" sz="4000" dirty="0" smtClean="0"/>
              <a:t>utilities</a:t>
            </a:r>
            <a:endParaRPr lang="en-US" sz="2400" dirty="0" smtClean="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lstStyle/>
          <a:p>
            <a:pPr marL="0" indent="0">
              <a:buNone/>
            </a:pPr>
            <a:r>
              <a:rPr lang="en-IN" sz="2800" dirty="0"/>
              <a:t>e</a:t>
            </a:r>
            <a:r>
              <a:rPr lang="en-IN" sz="2800" dirty="0" smtClean="0"/>
              <a:t>mpnames.txt</a:t>
            </a:r>
          </a:p>
          <a:p>
            <a:pPr marL="400050" lvl="1" indent="0">
              <a:buNone/>
            </a:pPr>
            <a:r>
              <a:rPr lang="en-IN" sz="2400" dirty="0"/>
              <a:t>101 Alice </a:t>
            </a:r>
            <a:endParaRPr lang="en-IN" sz="2400" dirty="0" smtClean="0"/>
          </a:p>
          <a:p>
            <a:pPr marL="400050" lvl="1" indent="0">
              <a:buNone/>
            </a:pPr>
            <a:r>
              <a:rPr lang="en-IN" sz="2400" dirty="0" smtClean="0"/>
              <a:t>102 </a:t>
            </a:r>
            <a:r>
              <a:rPr lang="en-IN" sz="2400" dirty="0"/>
              <a:t>Bob </a:t>
            </a:r>
            <a:endParaRPr lang="en-IN" sz="2400" dirty="0" smtClean="0"/>
          </a:p>
          <a:p>
            <a:pPr marL="400050" lvl="1" indent="0">
              <a:buNone/>
            </a:pPr>
            <a:r>
              <a:rPr lang="en-IN" sz="2400" dirty="0" smtClean="0"/>
              <a:t>103 Charlie</a:t>
            </a:r>
          </a:p>
          <a:p>
            <a:pPr marL="0" indent="0">
              <a:buNone/>
            </a:pPr>
            <a:r>
              <a:rPr lang="en-IN" sz="2800" dirty="0"/>
              <a:t>d</a:t>
            </a:r>
            <a:r>
              <a:rPr lang="en-IN" sz="2800" dirty="0" smtClean="0"/>
              <a:t>ept.txt</a:t>
            </a:r>
          </a:p>
          <a:p>
            <a:pPr marL="400050" lvl="1" indent="0">
              <a:buNone/>
            </a:pPr>
            <a:r>
              <a:rPr lang="en-US" sz="2400" dirty="0"/>
              <a:t>101 HR </a:t>
            </a:r>
            <a:endParaRPr lang="en-US" sz="2400" dirty="0" smtClean="0"/>
          </a:p>
          <a:p>
            <a:pPr marL="400050" lvl="1" indent="0">
              <a:buNone/>
            </a:pPr>
            <a:r>
              <a:rPr lang="en-US" sz="2400" dirty="0" smtClean="0"/>
              <a:t>102 </a:t>
            </a:r>
            <a:r>
              <a:rPr lang="en-US" sz="2400" dirty="0"/>
              <a:t>IT </a:t>
            </a:r>
            <a:endParaRPr lang="en-US" sz="2400" dirty="0" smtClean="0"/>
          </a:p>
          <a:p>
            <a:pPr marL="400050" lvl="1" indent="0">
              <a:buNone/>
            </a:pPr>
            <a:r>
              <a:rPr lang="en-US" sz="2400" dirty="0" smtClean="0"/>
              <a:t>104 Sales</a:t>
            </a:r>
            <a:endParaRPr lang="en-IN" sz="2400" dirty="0" smtClean="0"/>
          </a:p>
          <a:p>
            <a:pPr marL="0" indent="0">
              <a:buNone/>
            </a:pPr>
            <a:r>
              <a:rPr lang="en-IN" sz="2800" dirty="0" smtClean="0"/>
              <a:t>Output:</a:t>
            </a:r>
          </a:p>
          <a:p>
            <a:pPr marL="0" indent="0">
              <a:buNone/>
            </a:pPr>
            <a:r>
              <a:rPr lang="en-IN" sz="2800" dirty="0" smtClean="0"/>
              <a:t>$join empnames.txt dept.txt</a:t>
            </a:r>
          </a:p>
          <a:p>
            <a:pPr marL="400050" lvl="1" indent="0">
              <a:buNone/>
            </a:pPr>
            <a:r>
              <a:rPr lang="en-IN" sz="2400" dirty="0"/>
              <a:t>101 Alice </a:t>
            </a:r>
            <a:r>
              <a:rPr lang="en-IN" sz="2400" dirty="0" smtClean="0"/>
              <a:t> HR</a:t>
            </a:r>
            <a:endParaRPr lang="en-IN" sz="2400" dirty="0"/>
          </a:p>
          <a:p>
            <a:pPr marL="400050" lvl="1" indent="0">
              <a:buNone/>
            </a:pPr>
            <a:r>
              <a:rPr lang="en-IN" sz="2400" dirty="0"/>
              <a:t>102 Bob </a:t>
            </a:r>
            <a:r>
              <a:rPr lang="en-IN" sz="2400" dirty="0" smtClean="0"/>
              <a:t>  IT</a:t>
            </a:r>
            <a:endParaRPr lang="en-IN" sz="2400" dirty="0"/>
          </a:p>
          <a:p>
            <a:pPr marL="0" indent="0">
              <a:buNone/>
            </a:pPr>
            <a:endParaRPr lang="en-IN" sz="2800" dirty="0"/>
          </a:p>
        </p:txBody>
      </p:sp>
    </p:spTree>
    <p:extLst>
      <p:ext uri="{BB962C8B-B14F-4D97-AF65-F5344CB8AC3E}">
        <p14:creationId xmlns:p14="http://schemas.microsoft.com/office/powerpoint/2010/main" val="40587885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7"/>
          <p:cNvSpPr>
            <a:spLocks noGrp="1"/>
          </p:cNvSpPr>
          <p:nvPr>
            <p:ph idx="1"/>
          </p:nvPr>
        </p:nvSpPr>
        <p:spPr>
          <a:xfrm>
            <a:off x="0" y="914400"/>
            <a:ext cx="9144000" cy="5211763"/>
          </a:xfrm>
        </p:spPr>
        <p:txBody>
          <a:bodyPr/>
          <a:lstStyle/>
          <a:p>
            <a:pPr>
              <a:lnSpc>
                <a:spcPct val="150000"/>
              </a:lnSpc>
              <a:buFont typeface="Arial" panose="020B0604020202020204" pitchFamily="34" charset="0"/>
              <a:buNone/>
            </a:pPr>
            <a:r>
              <a:rPr lang="en-US" sz="1800" smtClean="0">
                <a:latin typeface="Lucida Bright" panose="02040602050505020304" pitchFamily="18" charset="0"/>
              </a:rPr>
              <a:t>The two back up utilities are used in Linux. They are,</a:t>
            </a:r>
          </a:p>
          <a:p>
            <a:pPr>
              <a:lnSpc>
                <a:spcPct val="150000"/>
              </a:lnSpc>
              <a:buFont typeface="Arial" panose="020B0604020202020204" pitchFamily="34" charset="0"/>
              <a:buAutoNum type="arabicParenR"/>
            </a:pPr>
            <a:r>
              <a:rPr lang="en-US" sz="1800" smtClean="0">
                <a:latin typeface="Lucida Bright" panose="02040602050505020304" pitchFamily="18" charset="0"/>
              </a:rPr>
              <a:t>Cpio</a:t>
            </a:r>
          </a:p>
          <a:p>
            <a:pPr>
              <a:lnSpc>
                <a:spcPct val="150000"/>
              </a:lnSpc>
              <a:buFont typeface="Arial" panose="020B0604020202020204" pitchFamily="34" charset="0"/>
              <a:buAutoNum type="arabicParenR"/>
            </a:pPr>
            <a:r>
              <a:rPr lang="en-US" sz="1800" smtClean="0">
                <a:latin typeface="Lucida Bright" panose="02040602050505020304" pitchFamily="18" charset="0"/>
              </a:rPr>
              <a:t>Tar</a:t>
            </a:r>
          </a:p>
          <a:p>
            <a:pPr eaLnBrk="1" hangingPunct="1">
              <a:lnSpc>
                <a:spcPct val="150000"/>
              </a:lnSpc>
              <a:buFont typeface="Arial" panose="020B0604020202020204" pitchFamily="34" charset="0"/>
              <a:buNone/>
            </a:pPr>
            <a:r>
              <a:rPr lang="en-US" sz="1800" b="1" smtClean="0">
                <a:latin typeface="Lucida Bright" panose="02040602050505020304" pitchFamily="18" charset="0"/>
              </a:rPr>
              <a:t>cpio COMMAND: </a:t>
            </a:r>
            <a:r>
              <a:rPr lang="en-US" sz="1800" smtClean="0">
                <a:latin typeface="Lucida Bright" panose="02040602050505020304" pitchFamily="18" charset="0"/>
              </a:rPr>
              <a:t>copy input-output</a:t>
            </a:r>
          </a:p>
          <a:p>
            <a:pPr eaLnBrk="1" hangingPunct="1">
              <a:lnSpc>
                <a:spcPct val="150000"/>
              </a:lnSpc>
            </a:pPr>
            <a:r>
              <a:rPr lang="en-US" sz="1800" smtClean="0">
                <a:latin typeface="Lucida Bright" panose="02040602050505020304" pitchFamily="18" charset="0"/>
              </a:rPr>
              <a:t>Cpio command copies files to and from a backup device. It uses standard input to take the list of filenames. </a:t>
            </a:r>
          </a:p>
          <a:p>
            <a:pPr eaLnBrk="1" hangingPunct="1">
              <a:lnSpc>
                <a:spcPct val="150000"/>
              </a:lnSpc>
            </a:pPr>
            <a:r>
              <a:rPr lang="en-US" sz="1800" smtClean="0">
                <a:latin typeface="Lucida Bright" panose="02040602050505020304" pitchFamily="18" charset="0"/>
              </a:rPr>
              <a:t>It then copies them with their contents and headers into stream which can be redirected to a file or a device.</a:t>
            </a:r>
          </a:p>
          <a:p>
            <a:pPr eaLnBrk="1" hangingPunct="1">
              <a:lnSpc>
                <a:spcPct val="150000"/>
              </a:lnSpc>
            </a:pPr>
            <a:r>
              <a:rPr lang="en-US" sz="1800" smtClean="0">
                <a:latin typeface="Lucida Bright" panose="02040602050505020304" pitchFamily="18" charset="0"/>
              </a:rPr>
              <a:t>Cpio can be used with redirection and piping.</a:t>
            </a:r>
          </a:p>
          <a:p>
            <a:pPr eaLnBrk="1" hangingPunct="1">
              <a:lnSpc>
                <a:spcPct val="150000"/>
              </a:lnSpc>
            </a:pPr>
            <a:r>
              <a:rPr lang="en-US" sz="1800" smtClean="0">
                <a:latin typeface="Lucida Bright" panose="02040602050505020304" pitchFamily="18" charset="0"/>
              </a:rPr>
              <a:t>Cpio uses two options-o (output) and –i (input) either of which must be there in the command line.</a:t>
            </a:r>
          </a:p>
          <a:p>
            <a:pPr eaLnBrk="1" hangingPunct="1">
              <a:lnSpc>
                <a:spcPct val="150000"/>
              </a:lnSpc>
            </a:pPr>
            <a:endParaRPr lang="en-US" sz="1800" smtClean="0">
              <a:latin typeface="Lucida Bright" panose="02040602050505020304" pitchFamily="18" charset="0"/>
            </a:endParaRPr>
          </a:p>
          <a:p>
            <a:pPr>
              <a:lnSpc>
                <a:spcPct val="150000"/>
              </a:lnSpc>
              <a:buFont typeface="Arial" panose="020B0604020202020204" pitchFamily="34" charset="0"/>
              <a:buNone/>
            </a:pPr>
            <a:r>
              <a:rPr lang="en-US" sz="1800" smtClean="0">
                <a:latin typeface="Lucida Bright" panose="02040602050505020304" pitchFamily="18" charset="0"/>
              </a:rPr>
              <a:t> </a:t>
            </a:r>
          </a:p>
        </p:txBody>
      </p:sp>
      <p:sp>
        <p:nvSpPr>
          <p:cNvPr id="91140"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91141"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Back </a:t>
            </a:r>
            <a:r>
              <a:rPr lang="en-US" sz="4000" dirty="0"/>
              <a:t>up </a:t>
            </a:r>
            <a:r>
              <a:rPr lang="en-US" sz="4000" dirty="0" smtClean="0"/>
              <a:t>utilities</a:t>
            </a:r>
            <a:endParaRPr lang="en-US" sz="2400" dirty="0" smtClean="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7"/>
          <p:cNvSpPr>
            <a:spLocks noGrp="1"/>
          </p:cNvSpPr>
          <p:nvPr>
            <p:ph idx="1"/>
          </p:nvPr>
        </p:nvSpPr>
        <p:spPr>
          <a:xfrm>
            <a:off x="0" y="838200"/>
            <a:ext cx="9144000" cy="5287963"/>
          </a:xfrm>
        </p:spPr>
        <p:txBody>
          <a:bodyPr/>
          <a:lstStyle/>
          <a:p>
            <a:pPr eaLnBrk="1" hangingPunct="1">
              <a:lnSpc>
                <a:spcPct val="150000"/>
              </a:lnSpc>
            </a:pPr>
            <a:r>
              <a:rPr lang="en-US" sz="1800" b="1" smtClean="0">
                <a:latin typeface="Lucida Bright" panose="02040602050505020304" pitchFamily="18" charset="0"/>
              </a:rPr>
              <a:t>tar COMMAND </a:t>
            </a:r>
            <a:r>
              <a:rPr lang="en-US" sz="1800" smtClean="0">
                <a:latin typeface="Lucida Bright" panose="02040602050505020304" pitchFamily="18" charset="0"/>
              </a:rPr>
              <a:t>: the tape archive program</a:t>
            </a:r>
          </a:p>
          <a:p>
            <a:pPr eaLnBrk="1" hangingPunct="1">
              <a:lnSpc>
                <a:spcPct val="150000"/>
              </a:lnSpc>
            </a:pPr>
            <a:r>
              <a:rPr lang="en-US" sz="1800" smtClean="0">
                <a:latin typeface="Lucida Bright" panose="02040602050505020304" pitchFamily="18" charset="0"/>
              </a:rPr>
              <a:t>Tar doesn’t normally write to the standard output but creates an archive in the media.</a:t>
            </a:r>
          </a:p>
          <a:p>
            <a:pPr eaLnBrk="1" hangingPunct="1">
              <a:lnSpc>
                <a:spcPct val="150000"/>
              </a:lnSpc>
            </a:pPr>
            <a:r>
              <a:rPr lang="en-US" sz="1800" smtClean="0">
                <a:latin typeface="Lucida Bright" panose="02040602050505020304" pitchFamily="18" charset="0"/>
              </a:rPr>
              <a:t>Tar accepts file and directory names as arguments.</a:t>
            </a:r>
          </a:p>
          <a:p>
            <a:pPr eaLnBrk="1" hangingPunct="1">
              <a:lnSpc>
                <a:spcPct val="150000"/>
              </a:lnSpc>
            </a:pPr>
            <a:r>
              <a:rPr lang="en-US" sz="1800" smtClean="0">
                <a:latin typeface="Lucida Bright" panose="02040602050505020304" pitchFamily="18" charset="0"/>
              </a:rPr>
              <a:t>It operates recursively.</a:t>
            </a:r>
          </a:p>
          <a:p>
            <a:pPr eaLnBrk="1" hangingPunct="1">
              <a:lnSpc>
                <a:spcPct val="150000"/>
              </a:lnSpc>
            </a:pPr>
            <a:r>
              <a:rPr lang="en-US" sz="1800" smtClean="0">
                <a:latin typeface="Lucida Bright" panose="02040602050505020304" pitchFamily="18" charset="0"/>
              </a:rPr>
              <a:t>It can create several versions of same file in a single archive.</a:t>
            </a:r>
          </a:p>
          <a:p>
            <a:pPr eaLnBrk="1" hangingPunct="1">
              <a:lnSpc>
                <a:spcPct val="150000"/>
              </a:lnSpc>
            </a:pPr>
            <a:r>
              <a:rPr lang="en-US" sz="1800" smtClean="0">
                <a:latin typeface="Lucida Bright" panose="02040602050505020304" pitchFamily="18" charset="0"/>
              </a:rPr>
              <a:t>It can append to an archive without overwriting the entire archive.</a:t>
            </a:r>
          </a:p>
          <a:p>
            <a:pPr eaLnBrk="1" hangingPunct="1">
              <a:lnSpc>
                <a:spcPct val="150000"/>
              </a:lnSpc>
            </a:pPr>
            <a:r>
              <a:rPr lang="en-US" sz="1800" smtClean="0">
                <a:latin typeface="Lucida Bright" panose="02040602050505020304" pitchFamily="18" charset="0"/>
              </a:rPr>
              <a:t>-c option is used to copy files to backup device.</a:t>
            </a:r>
          </a:p>
          <a:p>
            <a:pPr eaLnBrk="1" hangingPunct="1">
              <a:lnSpc>
                <a:spcPct val="150000"/>
              </a:lnSpc>
            </a:pPr>
            <a:r>
              <a:rPr lang="en-US" sz="1800" smtClean="0">
                <a:latin typeface="Lucida Bright" panose="02040602050505020304" pitchFamily="18" charset="0"/>
              </a:rPr>
              <a:t>$tar –cvf /dev/rdsk/foq18dt /home/sales/sql/*.sql</a:t>
            </a:r>
          </a:p>
          <a:p>
            <a:pPr eaLnBrk="1" hangingPunct="1">
              <a:lnSpc>
                <a:spcPct val="150000"/>
              </a:lnSpc>
            </a:pPr>
            <a:r>
              <a:rPr lang="en-US" sz="1800" smtClean="0">
                <a:latin typeface="Lucida Bright" panose="02040602050505020304" pitchFamily="18" charset="0"/>
              </a:rPr>
              <a:t>The verbose option (-v) shows the no. of blocks used by each file.</a:t>
            </a:r>
          </a:p>
          <a:p>
            <a:pPr eaLnBrk="1" hangingPunct="1">
              <a:lnSpc>
                <a:spcPct val="150000"/>
              </a:lnSpc>
            </a:pPr>
            <a:r>
              <a:rPr lang="en-US" sz="1800" smtClean="0">
                <a:latin typeface="Lucida Bright" panose="02040602050505020304" pitchFamily="18" charset="0"/>
              </a:rPr>
              <a:t>Files are restored with the –x (extract) key option. when no file or directory name is specified it restores all files from the backup device.</a:t>
            </a:r>
          </a:p>
          <a:p>
            <a:pPr eaLnBrk="1" hangingPunct="1">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
        <p:nvSpPr>
          <p:cNvPr id="92164"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92165"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a:p>
          <a:p>
            <a:pPr algn="ctr"/>
            <a:endParaRPr lang="en-US" sz="4000" dirty="0" smtClean="0"/>
          </a:p>
          <a:p>
            <a:pPr algn="ctr"/>
            <a:r>
              <a:rPr lang="en-US" sz="4000" dirty="0" smtClean="0"/>
              <a:t>Back </a:t>
            </a:r>
            <a:r>
              <a:rPr lang="en-US" sz="4000" dirty="0"/>
              <a:t>up </a:t>
            </a:r>
            <a:r>
              <a:rPr lang="en-US" sz="4000" dirty="0" smtClean="0"/>
              <a:t>utilities </a:t>
            </a:r>
            <a:endParaRPr lang="en-US" sz="2400" dirty="0" smtClean="0"/>
          </a:p>
          <a:p>
            <a:pPr algn="ctr"/>
            <a:endParaRPr lang="en-US" sz="4000" dirty="0"/>
          </a:p>
          <a:p>
            <a:pPr algn="ctr"/>
            <a:endParaRPr lang="en-US" sz="4000" dirty="0"/>
          </a:p>
          <a:p>
            <a:pPr algn="ctr"/>
            <a:endParaRPr lang="en-US" sz="40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Box 4"/>
          <p:cNvSpPr txBox="1">
            <a:spLocks noChangeArrowheads="1"/>
          </p:cNvSpPr>
          <p:nvPr/>
        </p:nvSpPr>
        <p:spPr bwMode="auto">
          <a:xfrm>
            <a:off x="0" y="914400"/>
            <a:ext cx="9144000" cy="2532063"/>
          </a:xfrm>
          <a:prstGeom prst="rect">
            <a:avLst/>
          </a:prstGeom>
          <a:noFill/>
          <a:ln w="9525">
            <a:noFill/>
            <a:miter lim="800000"/>
          </a:ln>
        </p:spPr>
        <p:txBody>
          <a:bodyPr>
            <a:spAutoFit/>
          </a:bodyPr>
          <a:lstStyle/>
          <a:p>
            <a:pPr marL="347980" indent="-231775">
              <a:lnSpc>
                <a:spcPct val="150000"/>
              </a:lnSpc>
              <a:buFont typeface="Arial" panose="020B0604020202020204" pitchFamily="34" charset="0"/>
              <a:buChar char="•"/>
            </a:pPr>
            <a:r>
              <a:rPr lang="en-US">
                <a:latin typeface="Lucida Bright" panose="02040602050505020304" pitchFamily="18" charset="0"/>
                <a:cs typeface="Times New Roman" panose="02020603050405020304" pitchFamily="18" charset="0"/>
              </a:rPr>
              <a:t>Sed is one of the most powerful filters. it stands for stream editor. Despite  its name editing, it does not modify the original file. It reads the standard input (a keyboard or file), processes it using a separate file called sed script and writes the standard output.</a:t>
            </a:r>
          </a:p>
          <a:p>
            <a:pPr marL="347980" indent="-231775">
              <a:lnSpc>
                <a:spcPct val="150000"/>
              </a:lnSpc>
              <a:buFont typeface="Arial" panose="020B0604020202020204" pitchFamily="34" charset="0"/>
              <a:buChar char="•"/>
            </a:pPr>
            <a:endParaRPr lang="en-US">
              <a:latin typeface="Lucida Bright" panose="02040602050505020304" pitchFamily="18" charset="0"/>
              <a:cs typeface="Times New Roman" panose="02020603050405020304" pitchFamily="18" charset="0"/>
            </a:endParaRPr>
          </a:p>
          <a:p>
            <a:pPr marL="347980" indent="-231775">
              <a:lnSpc>
                <a:spcPct val="150000"/>
              </a:lnSpc>
              <a:buFont typeface="Arial" panose="020B0604020202020204" pitchFamily="34" charset="0"/>
              <a:buChar char="•"/>
            </a:pPr>
            <a:endParaRPr lang="en-US">
              <a:latin typeface="Lucida Bright" panose="02040602050505020304" pitchFamily="18" charset="0"/>
              <a:cs typeface="Times New Roman" panose="02020603050405020304" pitchFamily="18" charset="0"/>
            </a:endParaRPr>
          </a:p>
        </p:txBody>
      </p:sp>
      <p:sp>
        <p:nvSpPr>
          <p:cNvPr id="93188"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a:p>
          <a:p>
            <a:pPr algn="ctr"/>
            <a:r>
              <a:rPr lang="en-US" sz="4000"/>
              <a:t>Sed</a:t>
            </a:r>
            <a:endParaRPr lang="en-US" sz="2400"/>
          </a:p>
          <a:p>
            <a:pPr algn="ctr"/>
            <a:endParaRPr lang="en-US" sz="4000"/>
          </a:p>
        </p:txBody>
      </p:sp>
      <p:pic>
        <p:nvPicPr>
          <p:cNvPr id="93189" name="Picture 8"/>
          <p:cNvPicPr>
            <a:picLocks noChangeAspect="1" noChangeArrowheads="1"/>
          </p:cNvPicPr>
          <p:nvPr/>
        </p:nvPicPr>
        <p:blipFill>
          <a:blip r:embed="rId2"/>
          <a:srcRect/>
          <a:stretch>
            <a:fillRect/>
          </a:stretch>
        </p:blipFill>
        <p:spPr bwMode="auto">
          <a:xfrm>
            <a:off x="1285875" y="2590800"/>
            <a:ext cx="6572250" cy="3886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Box 4"/>
          <p:cNvSpPr txBox="1">
            <a:spLocks noChangeArrowheads="1"/>
          </p:cNvSpPr>
          <p:nvPr/>
        </p:nvSpPr>
        <p:spPr bwMode="auto">
          <a:xfrm>
            <a:off x="0" y="914400"/>
            <a:ext cx="9144000" cy="2586038"/>
          </a:xfrm>
          <a:prstGeom prst="rect">
            <a:avLst/>
          </a:prstGeom>
          <a:noFill/>
          <a:ln w="9525">
            <a:noFill/>
            <a:miter lim="800000"/>
          </a:ln>
        </p:spPr>
        <p:txBody>
          <a:bodyPr>
            <a:spAutoFit/>
          </a:bodyPr>
          <a:lstStyle/>
          <a:p>
            <a:pPr>
              <a:lnSpc>
                <a:spcPct val="150000"/>
              </a:lnSpc>
              <a:buFont typeface="Monotype Sorts" pitchFamily="2" charset="2"/>
              <a:buNone/>
            </a:pPr>
            <a:r>
              <a:rPr lang="en-US" dirty="0">
                <a:latin typeface="Lucida Bright" panose="02040602050505020304" pitchFamily="18" charset="0"/>
              </a:rPr>
              <a:t>Options:</a:t>
            </a:r>
          </a:p>
          <a:p>
            <a:pPr>
              <a:lnSpc>
                <a:spcPct val="150000"/>
              </a:lnSpc>
              <a:buFont typeface="Monotype Sorts" pitchFamily="2" charset="2"/>
              <a:buNone/>
            </a:pPr>
            <a:r>
              <a:rPr lang="en-US" dirty="0">
                <a:latin typeface="Lucida Bright" panose="02040602050505020304" pitchFamily="18" charset="0"/>
              </a:rPr>
              <a:t>-e: it is a default option. It indicates that the script is on the command line.</a:t>
            </a:r>
          </a:p>
          <a:p>
            <a:pPr>
              <a:lnSpc>
                <a:spcPct val="150000"/>
              </a:lnSpc>
              <a:buFont typeface="Monotype Sorts" pitchFamily="2" charset="2"/>
              <a:buNone/>
            </a:pPr>
            <a:r>
              <a:rPr lang="en-US" dirty="0">
                <a:latin typeface="Lucida Bright" panose="02040602050505020304" pitchFamily="18" charset="0"/>
              </a:rPr>
              <a:t>-f: it indicates that script is in a file which immediately follows this option.</a:t>
            </a:r>
          </a:p>
          <a:p>
            <a:pPr>
              <a:lnSpc>
                <a:spcPct val="150000"/>
              </a:lnSpc>
              <a:buFont typeface="Monotype Sorts" pitchFamily="2" charset="2"/>
              <a:buNone/>
            </a:pPr>
            <a:r>
              <a:rPr lang="en-US" dirty="0">
                <a:latin typeface="Lucida Bright" panose="02040602050505020304" pitchFamily="18" charset="0"/>
              </a:rPr>
              <a:t>-n: it suppresses the automatic output. That is, it will not display the contents of         	the pattern space.</a:t>
            </a:r>
          </a:p>
          <a:p>
            <a:pPr>
              <a:lnSpc>
                <a:spcPct val="150000"/>
              </a:lnSpc>
              <a:buFont typeface="Monotype Sorts" pitchFamily="2" charset="2"/>
              <a:buNone/>
            </a:pPr>
            <a:endParaRPr lang="en-US" dirty="0">
              <a:latin typeface="Lucida Bright" panose="02040602050505020304" pitchFamily="18" charset="0"/>
            </a:endParaRPr>
          </a:p>
        </p:txBody>
      </p:sp>
      <p:sp>
        <p:nvSpPr>
          <p:cNvPr id="94212"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a:p>
          <a:p>
            <a:pPr algn="ctr"/>
            <a:r>
              <a:rPr lang="en-US" sz="4000"/>
              <a:t>Sed</a:t>
            </a:r>
            <a:endParaRPr lang="en-US" sz="2400"/>
          </a:p>
          <a:p>
            <a:pPr algn="ctr"/>
            <a:endParaRPr lang="en-US" sz="400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Box 8"/>
          <p:cNvSpPr txBox="1">
            <a:spLocks noChangeArrowheads="1"/>
          </p:cNvSpPr>
          <p:nvPr/>
        </p:nvSpPr>
        <p:spPr bwMode="auto">
          <a:xfrm>
            <a:off x="0" y="914400"/>
            <a:ext cx="9144000" cy="4246563"/>
          </a:xfrm>
          <a:prstGeom prst="rect">
            <a:avLst/>
          </a:prstGeom>
          <a:noFill/>
          <a:ln w="9525">
            <a:noFill/>
            <a:miter lim="800000"/>
          </a:ln>
        </p:spPr>
        <p:txBody>
          <a:bodyPr>
            <a:spAutoFit/>
          </a:bodyPr>
          <a:lstStyle/>
          <a:p>
            <a:pPr>
              <a:lnSpc>
                <a:spcPct val="150000"/>
              </a:lnSpc>
            </a:pPr>
            <a:r>
              <a:rPr lang="en-US">
                <a:latin typeface="Lucida Bright" panose="02040602050505020304" pitchFamily="18" charset="0"/>
              </a:rPr>
              <a:t>A script is nothing more than a file of commands or instructions.</a:t>
            </a:r>
          </a:p>
          <a:p>
            <a:pPr>
              <a:lnSpc>
                <a:spcPct val="150000"/>
              </a:lnSpc>
            </a:pPr>
            <a:r>
              <a:rPr lang="en-US">
                <a:latin typeface="Lucida Bright" panose="02040602050505020304" pitchFamily="18" charset="0"/>
              </a:rPr>
              <a:t>Each command consists of an address and an action, where the address can be a pattern (regular expression)</a:t>
            </a: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p:txBody>
      </p:sp>
      <p:sp>
        <p:nvSpPr>
          <p:cNvPr id="95236"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a:p>
          <a:p>
            <a:pPr algn="ctr"/>
            <a:r>
              <a:rPr lang="en-US" sz="4000"/>
              <a:t>Scripts, Operation</a:t>
            </a:r>
            <a:endParaRPr lang="en-US" sz="2400"/>
          </a:p>
          <a:p>
            <a:pPr algn="ctr"/>
            <a:endParaRPr lang="en-US" sz="4000"/>
          </a:p>
        </p:txBody>
      </p:sp>
      <p:graphicFrame>
        <p:nvGraphicFramePr>
          <p:cNvPr id="76" name="Table 75"/>
          <p:cNvGraphicFramePr>
            <a:graphicFrameLocks noGrp="1"/>
          </p:cNvGraphicFramePr>
          <p:nvPr/>
        </p:nvGraphicFramePr>
        <p:xfrm>
          <a:off x="1524000" y="2133600"/>
          <a:ext cx="6096000" cy="457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57200">
                <a:tc>
                  <a:txBody>
                    <a:bodyPr/>
                    <a:lstStyle/>
                    <a:p>
                      <a:r>
                        <a:rPr lang="en-US" dirty="0" smtClean="0"/>
                        <a:t>address</a:t>
                      </a:r>
                      <a:endParaRPr lang="en-US" dirty="0"/>
                    </a:p>
                  </a:txBody>
                  <a:tcPr>
                    <a:solidFill>
                      <a:schemeClr val="accent6"/>
                    </a:solidFill>
                  </a:tcPr>
                </a:tc>
                <a:tc>
                  <a:txBody>
                    <a:bodyPr/>
                    <a:lstStyle/>
                    <a:p>
                      <a:r>
                        <a:rPr lang="en-US" dirty="0" smtClean="0"/>
                        <a:t>!</a:t>
                      </a:r>
                      <a:endParaRPr lang="en-US" dirty="0"/>
                    </a:p>
                  </a:txBody>
                  <a:tcPr>
                    <a:solidFill>
                      <a:schemeClr val="accent6"/>
                    </a:solidFill>
                  </a:tcPr>
                </a:tc>
                <a:tc>
                  <a:txBody>
                    <a:bodyPr/>
                    <a:lstStyle/>
                    <a:p>
                      <a:r>
                        <a:rPr lang="en-US" dirty="0" smtClean="0"/>
                        <a:t>Action </a:t>
                      </a:r>
                      <a:endParaRPr lang="en-US" dirty="0"/>
                    </a:p>
                  </a:txBody>
                  <a:tcPr>
                    <a:solidFill>
                      <a:schemeClr val="accent6"/>
                    </a:solidFill>
                  </a:tcPr>
                </a:tc>
                <a:extLst>
                  <a:ext uri="{0D108BD9-81ED-4DB2-BD59-A6C34878D82A}">
                    <a16:rowId xmlns:a16="http://schemas.microsoft.com/office/drawing/2014/main" val="10000"/>
                  </a:ext>
                </a:extLst>
              </a:tr>
            </a:tbl>
          </a:graphicData>
        </a:graphic>
      </p:graphicFrame>
      <p:cxnSp>
        <p:nvCxnSpPr>
          <p:cNvPr id="88" name="Elbow Connector 87"/>
          <p:cNvCxnSpPr/>
          <p:nvPr/>
        </p:nvCxnSpPr>
        <p:spPr>
          <a:xfrm rot="5400000">
            <a:off x="3658394" y="2818606"/>
            <a:ext cx="457200"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5248" name="TextBox 91"/>
          <p:cNvSpPr txBox="1">
            <a:spLocks noChangeArrowheads="1"/>
          </p:cNvSpPr>
          <p:nvPr/>
        </p:nvSpPr>
        <p:spPr bwMode="auto">
          <a:xfrm>
            <a:off x="2133600" y="3048000"/>
            <a:ext cx="3962400" cy="646113"/>
          </a:xfrm>
          <a:prstGeom prst="rect">
            <a:avLst/>
          </a:prstGeom>
          <a:noFill/>
          <a:ln w="9525">
            <a:noFill/>
            <a:miter lim="800000"/>
          </a:ln>
        </p:spPr>
        <p:txBody>
          <a:bodyPr>
            <a:spAutoFit/>
          </a:bodyPr>
          <a:lstStyle/>
          <a:p>
            <a:r>
              <a:rPr lang="en-US"/>
              <a:t>Complement operator(optional)</a:t>
            </a:r>
          </a:p>
          <a:p>
            <a:r>
              <a:rPr lang="en-US"/>
              <a:t>A Sed instruction</a:t>
            </a:r>
          </a:p>
        </p:txBody>
      </p:sp>
      <p:pic>
        <p:nvPicPr>
          <p:cNvPr id="95249" name="Picture 6"/>
          <p:cNvPicPr>
            <a:picLocks noChangeAspect="1" noChangeArrowheads="1"/>
          </p:cNvPicPr>
          <p:nvPr/>
        </p:nvPicPr>
        <p:blipFill>
          <a:blip r:embed="rId2"/>
          <a:srcRect/>
          <a:stretch>
            <a:fillRect/>
          </a:stretch>
        </p:blipFill>
        <p:spPr bwMode="auto">
          <a:xfrm>
            <a:off x="1490663" y="3886200"/>
            <a:ext cx="6162675"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TextBox 8"/>
          <p:cNvSpPr txBox="1">
            <a:spLocks noChangeArrowheads="1"/>
          </p:cNvSpPr>
          <p:nvPr/>
        </p:nvSpPr>
        <p:spPr bwMode="auto">
          <a:xfrm>
            <a:off x="0" y="914400"/>
            <a:ext cx="9144000" cy="7156450"/>
          </a:xfrm>
          <a:prstGeom prst="rect">
            <a:avLst/>
          </a:prstGeom>
          <a:noFill/>
          <a:ln w="9525">
            <a:noFill/>
            <a:miter lim="800000"/>
          </a:ln>
        </p:spPr>
        <p:txBody>
          <a:bodyPr>
            <a:spAutoFit/>
          </a:bodyPr>
          <a:lstStyle/>
          <a:p>
            <a:pPr>
              <a:lnSpc>
                <a:spcPct val="150000"/>
              </a:lnSpc>
            </a:pPr>
            <a:r>
              <a:rPr lang="en-US" dirty="0">
                <a:latin typeface="Lucida Bright" panose="02040602050505020304" pitchFamily="18" charset="0"/>
              </a:rPr>
              <a:t>Here is an example of </a:t>
            </a:r>
            <a:r>
              <a:rPr lang="en-US" dirty="0" err="1">
                <a:latin typeface="Lucida Bright" panose="02040602050505020304" pitchFamily="18" charset="0"/>
              </a:rPr>
              <a:t>sed</a:t>
            </a:r>
            <a:r>
              <a:rPr lang="en-US" dirty="0">
                <a:latin typeface="Lucida Bright" panose="02040602050505020304" pitchFamily="18" charset="0"/>
              </a:rPr>
              <a:t> script namely </a:t>
            </a:r>
            <a:r>
              <a:rPr lang="en-US" dirty="0" err="1">
                <a:latin typeface="Lucida Bright" panose="02040602050505020304" pitchFamily="18" charset="0"/>
              </a:rPr>
              <a:t>sample.sed</a:t>
            </a:r>
            <a:endParaRPr lang="en-US" dirty="0">
              <a:latin typeface="Lucida Bright" panose="02040602050505020304" pitchFamily="18" charset="0"/>
            </a:endParaRPr>
          </a:p>
          <a:p>
            <a:pPr>
              <a:lnSpc>
                <a:spcPct val="150000"/>
              </a:lnSpc>
            </a:pPr>
            <a:r>
              <a:rPr lang="en-US" dirty="0" err="1">
                <a:latin typeface="Lucida Bright" panose="02040602050505020304" pitchFamily="18" charset="0"/>
              </a:rPr>
              <a:t>Sample.sed</a:t>
            </a:r>
            <a:endParaRPr lang="en-US" dirty="0">
              <a:latin typeface="Lucida Bright" panose="02040602050505020304" pitchFamily="18" charset="0"/>
            </a:endParaRPr>
          </a:p>
          <a:p>
            <a:pPr>
              <a:lnSpc>
                <a:spcPct val="150000"/>
              </a:lnSpc>
            </a:pPr>
            <a:r>
              <a:rPr lang="en-US" dirty="0">
                <a:latin typeface="Lucida Bright" panose="02040602050505020304" pitchFamily="18" charset="0"/>
              </a:rPr>
              <a:t># this is one line comment</a:t>
            </a:r>
          </a:p>
          <a:p>
            <a:pPr>
              <a:lnSpc>
                <a:spcPct val="150000"/>
              </a:lnSpc>
            </a:pPr>
            <a:r>
              <a:rPr lang="en-US" dirty="0">
                <a:latin typeface="Lucida Bright" panose="02040602050505020304" pitchFamily="18" charset="0"/>
              </a:rPr>
              <a:t>#this is another comment</a:t>
            </a:r>
          </a:p>
          <a:p>
            <a:pPr>
              <a:lnSpc>
                <a:spcPct val="150000"/>
              </a:lnSpc>
            </a:pPr>
            <a:r>
              <a:rPr lang="en-US" dirty="0" smtClean="0">
                <a:latin typeface="Lucida Bright" panose="02040602050505020304" pitchFamily="18" charset="0"/>
              </a:rPr>
              <a:t>&gt;</a:t>
            </a:r>
            <a:r>
              <a:rPr lang="en-US" dirty="0" err="1" smtClean="0">
                <a:latin typeface="Lucida Bright" panose="02040602050505020304" pitchFamily="18" charset="0"/>
              </a:rPr>
              <a:t>Sed</a:t>
            </a:r>
            <a:r>
              <a:rPr lang="en-US" dirty="0" smtClean="0">
                <a:latin typeface="Lucida Bright" panose="02040602050505020304" pitchFamily="18" charset="0"/>
              </a:rPr>
              <a:t> 3d </a:t>
            </a:r>
            <a:r>
              <a:rPr lang="en-US" dirty="0" err="1" smtClean="0">
                <a:latin typeface="Lucida Bright" panose="02040602050505020304" pitchFamily="18" charset="0"/>
              </a:rPr>
              <a:t>sample.sed</a:t>
            </a:r>
            <a:endParaRPr lang="en-US" dirty="0">
              <a:latin typeface="Lucida Bright" panose="02040602050505020304" pitchFamily="18" charset="0"/>
            </a:endParaRPr>
          </a:p>
          <a:p>
            <a:pPr>
              <a:lnSpc>
                <a:spcPct val="150000"/>
              </a:lnSpc>
            </a:pPr>
            <a:r>
              <a:rPr lang="en-US" dirty="0" smtClean="0">
                <a:latin typeface="Lucida Bright" panose="02040602050505020304" pitchFamily="18" charset="0"/>
              </a:rPr>
              <a:t>&gt;</a:t>
            </a:r>
            <a:r>
              <a:rPr lang="en-US" dirty="0" err="1" smtClean="0">
                <a:latin typeface="Lucida Bright" panose="02040602050505020304" pitchFamily="18" charset="0"/>
              </a:rPr>
              <a:t>sed</a:t>
            </a:r>
            <a:r>
              <a:rPr lang="en-US" dirty="0" smtClean="0">
                <a:latin typeface="Lucida Bright" panose="02040602050505020304" pitchFamily="18" charset="0"/>
              </a:rPr>
              <a:t> 1,10s/friends/buddies testfile.txt</a:t>
            </a:r>
            <a:endParaRPr lang="en-US" dirty="0">
              <a:latin typeface="Lucida Bright" panose="02040602050505020304" pitchFamily="18" charset="0"/>
            </a:endParaRPr>
          </a:p>
          <a:p>
            <a:pPr>
              <a:lnSpc>
                <a:spcPct val="150000"/>
              </a:lnSpc>
            </a:pPr>
            <a:r>
              <a:rPr lang="en-US" dirty="0">
                <a:latin typeface="Lucida Bright" panose="02040602050505020304" pitchFamily="18" charset="0"/>
              </a:rPr>
              <a:t>In the sample script, the first two line are the comments. The third  and fourth lines are the instructions. The former specifies the third line in the input file is to be deleted while the later specifies to replace all occurrences of “friends” by “buddies ” in the input lines 1 through 10.</a:t>
            </a: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a:p>
            <a:pPr>
              <a:lnSpc>
                <a:spcPct val="150000"/>
              </a:lnSpc>
            </a:pPr>
            <a:endParaRPr lang="en-US" dirty="0">
              <a:latin typeface="Lucida Bright" panose="02040602050505020304" pitchFamily="18" charset="0"/>
            </a:endParaRPr>
          </a:p>
        </p:txBody>
      </p:sp>
      <p:sp>
        <p:nvSpPr>
          <p:cNvPr id="96260"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a:p>
          <a:p>
            <a:pPr algn="ctr"/>
            <a:r>
              <a:rPr lang="en-US" sz="4000"/>
              <a:t>Scripts</a:t>
            </a:r>
            <a:endParaRPr lang="en-US" sz="2400"/>
          </a:p>
          <a:p>
            <a:pPr algn="ctr"/>
            <a:endParaRPr lang="en-US" sz="400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610600" cy="5324535"/>
          </a:xfrm>
          <a:prstGeom prst="rect">
            <a:avLst/>
          </a:prstGeom>
        </p:spPr>
        <p:txBody>
          <a:bodyPr wrap="square">
            <a:spAutoFit/>
          </a:bodyPr>
          <a:lstStyle/>
          <a:p>
            <a:r>
              <a:rPr lang="en-US" sz="2000" b="1" dirty="0" smtClean="0">
                <a:solidFill>
                  <a:srgbClr val="FF0000"/>
                </a:solidFill>
              </a:rPr>
              <a:t>Examples:</a:t>
            </a:r>
          </a:p>
          <a:p>
            <a:endParaRPr lang="en-US" sz="2000" dirty="0"/>
          </a:p>
          <a:p>
            <a:r>
              <a:rPr lang="en-US" sz="2000" dirty="0" smtClean="0"/>
              <a:t>$ cat&gt;file1.txt</a:t>
            </a:r>
          </a:p>
          <a:p>
            <a:r>
              <a:rPr lang="en-US" sz="2000" dirty="0" err="1" smtClean="0"/>
              <a:t>unix</a:t>
            </a:r>
            <a:r>
              <a:rPr lang="en-US" sz="2000" dirty="0" smtClean="0"/>
              <a:t> </a:t>
            </a:r>
            <a:r>
              <a:rPr lang="en-US" sz="2000" dirty="0"/>
              <a:t>is great </a:t>
            </a:r>
            <a:r>
              <a:rPr lang="en-US" sz="2000" dirty="0" err="1"/>
              <a:t>os</a:t>
            </a:r>
            <a:r>
              <a:rPr lang="en-US" sz="2000" dirty="0"/>
              <a:t>. </a:t>
            </a:r>
            <a:r>
              <a:rPr lang="en-US" sz="2000" dirty="0" err="1"/>
              <a:t>unix</a:t>
            </a:r>
            <a:r>
              <a:rPr lang="en-US" sz="2000" dirty="0"/>
              <a:t> is </a:t>
            </a:r>
            <a:r>
              <a:rPr lang="en-US" sz="2000" dirty="0" err="1"/>
              <a:t>opensource</a:t>
            </a:r>
            <a:r>
              <a:rPr lang="en-US" sz="2000" dirty="0"/>
              <a:t>. </a:t>
            </a:r>
            <a:r>
              <a:rPr lang="en-US" sz="2000" dirty="0" err="1"/>
              <a:t>unix</a:t>
            </a:r>
            <a:r>
              <a:rPr lang="en-US" sz="2000" dirty="0"/>
              <a:t> is free </a:t>
            </a:r>
            <a:r>
              <a:rPr lang="en-US" sz="2000" dirty="0" err="1"/>
              <a:t>os</a:t>
            </a:r>
            <a:r>
              <a:rPr lang="en-US" sz="2000" dirty="0"/>
              <a:t>.</a:t>
            </a:r>
          </a:p>
          <a:p>
            <a:r>
              <a:rPr lang="en-US" sz="2000" dirty="0"/>
              <a:t>learn operating system.</a:t>
            </a:r>
          </a:p>
          <a:p>
            <a:r>
              <a:rPr lang="en-US" sz="2000" dirty="0" err="1"/>
              <a:t>unix</a:t>
            </a:r>
            <a:r>
              <a:rPr lang="en-US" sz="2000" dirty="0"/>
              <a:t> </a:t>
            </a:r>
            <a:r>
              <a:rPr lang="en-US" sz="2000" dirty="0" err="1"/>
              <a:t>linux</a:t>
            </a:r>
            <a:r>
              <a:rPr lang="en-US" sz="2000" dirty="0"/>
              <a:t> which one you choose.</a:t>
            </a:r>
          </a:p>
          <a:p>
            <a:r>
              <a:rPr lang="en-US" sz="2000" dirty="0" err="1"/>
              <a:t>unix</a:t>
            </a:r>
            <a:r>
              <a:rPr lang="en-US" sz="2000" dirty="0"/>
              <a:t> is easy to </a:t>
            </a:r>
            <a:r>
              <a:rPr lang="en-US" sz="2000" dirty="0" err="1"/>
              <a:t>learn.unix</a:t>
            </a:r>
            <a:r>
              <a:rPr lang="en-US" sz="2000" dirty="0"/>
              <a:t> is a multiuser </a:t>
            </a:r>
            <a:r>
              <a:rPr lang="en-US" sz="2000" dirty="0" err="1"/>
              <a:t>os.Learn</a:t>
            </a:r>
            <a:r>
              <a:rPr lang="en-US" sz="2000" dirty="0"/>
              <a:t> </a:t>
            </a:r>
            <a:r>
              <a:rPr lang="en-US" sz="2000" dirty="0" err="1"/>
              <a:t>unix</a:t>
            </a:r>
            <a:r>
              <a:rPr lang="en-US" sz="2000" dirty="0"/>
              <a:t> .</a:t>
            </a:r>
            <a:r>
              <a:rPr lang="en-US" sz="2000" dirty="0" err="1"/>
              <a:t>unix</a:t>
            </a:r>
            <a:r>
              <a:rPr lang="en-US" sz="2000" dirty="0"/>
              <a:t> is a </a:t>
            </a:r>
            <a:r>
              <a:rPr lang="en-US" sz="2000" dirty="0" smtClean="0"/>
              <a:t>powerful</a:t>
            </a:r>
          </a:p>
          <a:p>
            <a:endParaRPr lang="en-US" sz="2000" dirty="0"/>
          </a:p>
          <a:p>
            <a:r>
              <a:rPr lang="en-US" sz="2000" dirty="0" smtClean="0"/>
              <a:t>Example 1: </a:t>
            </a:r>
            <a:r>
              <a:rPr lang="en-US" sz="2000" dirty="0" err="1" smtClean="0"/>
              <a:t>sed</a:t>
            </a:r>
            <a:r>
              <a:rPr lang="en-US" sz="2000" dirty="0" smtClean="0"/>
              <a:t> ‘s/</a:t>
            </a:r>
            <a:r>
              <a:rPr lang="en-US" sz="2000" dirty="0" err="1" smtClean="0"/>
              <a:t>unix</a:t>
            </a:r>
            <a:r>
              <a:rPr lang="en-US" sz="2000" dirty="0" smtClean="0"/>
              <a:t>/</a:t>
            </a:r>
            <a:r>
              <a:rPr lang="en-US" sz="2000" dirty="0" err="1" smtClean="0"/>
              <a:t>linux</a:t>
            </a:r>
            <a:r>
              <a:rPr lang="en-US" sz="2000" dirty="0" smtClean="0"/>
              <a:t>/’ file1.txt (replace only 1</a:t>
            </a:r>
            <a:r>
              <a:rPr lang="en-US" sz="2000" baseline="30000" dirty="0" smtClean="0"/>
              <a:t>st</a:t>
            </a:r>
            <a:r>
              <a:rPr lang="en-US" sz="2000" dirty="0" smtClean="0"/>
              <a:t> </a:t>
            </a:r>
            <a:r>
              <a:rPr lang="en-US" sz="2000" dirty="0" err="1" smtClean="0"/>
              <a:t>occurance</a:t>
            </a:r>
            <a:r>
              <a:rPr lang="en-US" sz="2000" dirty="0" smtClean="0"/>
              <a:t>)</a:t>
            </a:r>
          </a:p>
          <a:p>
            <a:r>
              <a:rPr lang="en-US" sz="2000" dirty="0"/>
              <a:t>Example </a:t>
            </a:r>
            <a:r>
              <a:rPr lang="en-US" sz="2000" dirty="0" smtClean="0"/>
              <a:t>2: </a:t>
            </a:r>
            <a:r>
              <a:rPr lang="en-US" sz="2000" dirty="0" err="1"/>
              <a:t>sed</a:t>
            </a:r>
            <a:r>
              <a:rPr lang="en-US" sz="2000" dirty="0"/>
              <a:t> ‘</a:t>
            </a:r>
            <a:r>
              <a:rPr lang="en-US" sz="2000" dirty="0" smtClean="0"/>
              <a:t>s/</a:t>
            </a:r>
            <a:r>
              <a:rPr lang="en-US" sz="2000" dirty="0" err="1" smtClean="0"/>
              <a:t>unix</a:t>
            </a:r>
            <a:r>
              <a:rPr lang="en-US" sz="2000" dirty="0" smtClean="0"/>
              <a:t>/</a:t>
            </a:r>
            <a:r>
              <a:rPr lang="en-US" sz="2000" dirty="0" err="1" smtClean="0"/>
              <a:t>linux</a:t>
            </a:r>
            <a:r>
              <a:rPr lang="en-US" sz="2000" dirty="0" smtClean="0"/>
              <a:t>/g’ file1.txt (replace all </a:t>
            </a:r>
            <a:r>
              <a:rPr lang="en-US" sz="2000" dirty="0" err="1" smtClean="0"/>
              <a:t>occurance</a:t>
            </a:r>
            <a:r>
              <a:rPr lang="en-US" sz="2000" dirty="0" smtClean="0"/>
              <a:t>)</a:t>
            </a:r>
          </a:p>
          <a:p>
            <a:r>
              <a:rPr lang="en-US" sz="2000" dirty="0"/>
              <a:t>Example </a:t>
            </a:r>
            <a:r>
              <a:rPr lang="en-US" sz="2000" dirty="0" smtClean="0"/>
              <a:t>3: </a:t>
            </a:r>
            <a:r>
              <a:rPr lang="en-US" sz="2000" dirty="0" err="1"/>
              <a:t>sed</a:t>
            </a:r>
            <a:r>
              <a:rPr lang="en-US" sz="2000" dirty="0"/>
              <a:t> </a:t>
            </a:r>
            <a:r>
              <a:rPr lang="en-US" sz="2000" dirty="0" smtClean="0"/>
              <a:t>‘3 s/</a:t>
            </a:r>
            <a:r>
              <a:rPr lang="en-US" sz="2000" dirty="0" err="1" smtClean="0"/>
              <a:t>unix</a:t>
            </a:r>
            <a:r>
              <a:rPr lang="en-US" sz="2000" dirty="0" smtClean="0"/>
              <a:t>/</a:t>
            </a:r>
            <a:r>
              <a:rPr lang="en-US" sz="2000" dirty="0" err="1" smtClean="0"/>
              <a:t>linux</a:t>
            </a:r>
            <a:r>
              <a:rPr lang="en-US" sz="2000" dirty="0" smtClean="0"/>
              <a:t>/g</a:t>
            </a:r>
            <a:r>
              <a:rPr lang="en-US" sz="2000" dirty="0"/>
              <a:t>’ file1.txt (replace </a:t>
            </a:r>
            <a:r>
              <a:rPr lang="en-US" sz="2000" dirty="0" smtClean="0"/>
              <a:t>specific line </a:t>
            </a:r>
            <a:r>
              <a:rPr lang="en-US" sz="2000" dirty="0" err="1"/>
              <a:t>occurance</a:t>
            </a:r>
            <a:r>
              <a:rPr lang="en-US" sz="2000" dirty="0"/>
              <a:t>)</a:t>
            </a:r>
          </a:p>
          <a:p>
            <a:r>
              <a:rPr lang="en-US" sz="2000" dirty="0" smtClean="0"/>
              <a:t>Example 4: </a:t>
            </a:r>
            <a:r>
              <a:rPr lang="en-US" sz="2000" dirty="0" err="1"/>
              <a:t>sed</a:t>
            </a:r>
            <a:r>
              <a:rPr lang="en-US" sz="2000" dirty="0"/>
              <a:t> </a:t>
            </a:r>
            <a:r>
              <a:rPr lang="en-US" sz="2000" dirty="0" smtClean="0"/>
              <a:t>‘2d’ </a:t>
            </a:r>
            <a:r>
              <a:rPr lang="en-US" sz="2000" dirty="0"/>
              <a:t>file1.txt </a:t>
            </a:r>
            <a:r>
              <a:rPr lang="en-US" sz="2000" dirty="0" smtClean="0"/>
              <a:t>(delete 2</a:t>
            </a:r>
            <a:r>
              <a:rPr lang="en-US" sz="2000" baseline="30000" dirty="0" smtClean="0"/>
              <a:t>nd</a:t>
            </a:r>
            <a:r>
              <a:rPr lang="en-US" sz="2000" dirty="0" smtClean="0"/>
              <a:t> line)</a:t>
            </a:r>
            <a:endParaRPr lang="en-US" sz="2000" dirty="0"/>
          </a:p>
          <a:p>
            <a:r>
              <a:rPr lang="en-US" sz="2000" dirty="0"/>
              <a:t>Example </a:t>
            </a:r>
            <a:r>
              <a:rPr lang="en-US" sz="2000" dirty="0" smtClean="0"/>
              <a:t>5: </a:t>
            </a:r>
            <a:r>
              <a:rPr lang="en-US" sz="2000" dirty="0" err="1"/>
              <a:t>sed</a:t>
            </a:r>
            <a:r>
              <a:rPr lang="en-US" sz="2000" dirty="0"/>
              <a:t> </a:t>
            </a:r>
            <a:r>
              <a:rPr lang="en-US" sz="2000" dirty="0" smtClean="0"/>
              <a:t>‘$d</a:t>
            </a:r>
            <a:r>
              <a:rPr lang="en-US" sz="2000" dirty="0"/>
              <a:t>’ file1.txt (delete </a:t>
            </a:r>
            <a:r>
              <a:rPr lang="en-US" sz="2000" dirty="0" smtClean="0"/>
              <a:t>all </a:t>
            </a:r>
            <a:r>
              <a:rPr lang="en-US" sz="2000" dirty="0"/>
              <a:t>line)</a:t>
            </a:r>
          </a:p>
          <a:p>
            <a:endParaRPr lang="en-US" sz="2000" dirty="0" smtClean="0"/>
          </a:p>
          <a:p>
            <a:endParaRPr lang="en-US" sz="2000" dirty="0"/>
          </a:p>
          <a:p>
            <a:endParaRPr lang="en-US" sz="2000" dirty="0" smtClean="0"/>
          </a:p>
          <a:p>
            <a:endParaRPr lang="en-IN" sz="2000" dirty="0"/>
          </a:p>
        </p:txBody>
      </p:sp>
    </p:spTree>
    <p:extLst>
      <p:ext uri="{BB962C8B-B14F-4D97-AF65-F5344CB8AC3E}">
        <p14:creationId xmlns:p14="http://schemas.microsoft.com/office/powerpoint/2010/main" val="9830134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TextBox 8"/>
          <p:cNvSpPr txBox="1">
            <a:spLocks noChangeArrowheads="1"/>
          </p:cNvSpPr>
          <p:nvPr/>
        </p:nvSpPr>
        <p:spPr bwMode="auto">
          <a:xfrm>
            <a:off x="0" y="914400"/>
            <a:ext cx="9144000" cy="5078413"/>
          </a:xfrm>
          <a:prstGeom prst="rect">
            <a:avLst/>
          </a:prstGeom>
          <a:noFill/>
          <a:ln w="9525">
            <a:noFill/>
            <a:miter lim="800000"/>
          </a:ln>
        </p:spPr>
        <p:txBody>
          <a:bodyPr>
            <a:spAutoFit/>
          </a:bodyPr>
          <a:lstStyle/>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endParaRPr lang="en-US">
              <a:latin typeface="Lucida Bright" panose="02040602050505020304" pitchFamily="18" charset="0"/>
            </a:endParaRPr>
          </a:p>
          <a:p>
            <a:pPr>
              <a:lnSpc>
                <a:spcPct val="150000"/>
              </a:lnSpc>
            </a:pPr>
            <a:r>
              <a:rPr lang="en-US">
                <a:latin typeface="Lucida Bright" panose="02040602050505020304" pitchFamily="18" charset="0"/>
              </a:rPr>
              <a:t>As each line of the input file is read, </a:t>
            </a:r>
            <a:r>
              <a:rPr lang="en-US" i="1">
                <a:latin typeface="Lucida Bright" panose="02040602050505020304" pitchFamily="18" charset="0"/>
              </a:rPr>
              <a:t>sed</a:t>
            </a:r>
            <a:r>
              <a:rPr lang="en-US">
                <a:latin typeface="Lucida Bright" panose="02040602050505020304" pitchFamily="18" charset="0"/>
              </a:rPr>
              <a:t> reads the first command of the script and checks the address or pattern against the current input line </a:t>
            </a:r>
          </a:p>
          <a:p>
            <a:pPr lvl="1">
              <a:lnSpc>
                <a:spcPct val="150000"/>
              </a:lnSpc>
            </a:pPr>
            <a:r>
              <a:rPr lang="en-US">
                <a:latin typeface="Lucida Bright" panose="02040602050505020304" pitchFamily="18" charset="0"/>
              </a:rPr>
              <a:t>If there is a match, the command is executed </a:t>
            </a:r>
          </a:p>
          <a:p>
            <a:pPr lvl="1">
              <a:lnSpc>
                <a:spcPct val="150000"/>
              </a:lnSpc>
            </a:pPr>
            <a:r>
              <a:rPr lang="en-US">
                <a:latin typeface="Lucida Bright" panose="02040602050505020304" pitchFamily="18" charset="0"/>
              </a:rPr>
              <a:t>If there is no match, the command is ignored</a:t>
            </a:r>
          </a:p>
        </p:txBody>
      </p:sp>
      <p:sp>
        <p:nvSpPr>
          <p:cNvPr id="97284"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a:p>
          <a:p>
            <a:pPr algn="ctr"/>
            <a:r>
              <a:rPr lang="en-US" sz="4000"/>
              <a:t>Scripts, Operation</a:t>
            </a:r>
            <a:endParaRPr lang="en-US" sz="2400"/>
          </a:p>
          <a:p>
            <a:pPr algn="ctr"/>
            <a:endParaRPr lang="en-US" sz="4000"/>
          </a:p>
        </p:txBody>
      </p:sp>
      <p:pic>
        <p:nvPicPr>
          <p:cNvPr id="97285" name="Picture 2"/>
          <p:cNvPicPr>
            <a:picLocks noChangeAspect="1" noChangeArrowheads="1"/>
          </p:cNvPicPr>
          <p:nvPr/>
        </p:nvPicPr>
        <p:blipFill>
          <a:blip r:embed="rId2"/>
          <a:srcRect/>
          <a:stretch>
            <a:fillRect/>
          </a:stretch>
        </p:blipFill>
        <p:spPr bwMode="auto">
          <a:xfrm>
            <a:off x="333375" y="990600"/>
            <a:ext cx="847725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p:cNvSpPr>
            <a:spLocks noGrp="1"/>
          </p:cNvSpPr>
          <p:nvPr>
            <p:ph idx="1"/>
          </p:nvPr>
        </p:nvSpPr>
        <p:spPr>
          <a:xfrm>
            <a:off x="0" y="838200"/>
            <a:ext cx="9144000" cy="4876800"/>
          </a:xfrm>
        </p:spPr>
        <p:txBody>
          <a:bodyPr/>
          <a:lstStyle/>
          <a:p>
            <a:pPr>
              <a:buNone/>
            </a:pPr>
            <a:r>
              <a:rPr lang="en-US" sz="2400" dirty="0" smtClean="0"/>
              <a:t>Address determines which lines in the input file are to be processed by the command(s) </a:t>
            </a:r>
          </a:p>
          <a:p>
            <a:pPr>
              <a:buNone/>
            </a:pPr>
            <a:r>
              <a:rPr lang="en-US" sz="2400" dirty="0" smtClean="0"/>
              <a:t>if no address is specified, then the command is applied to each input line </a:t>
            </a:r>
          </a:p>
          <a:p>
            <a:pPr>
              <a:buNone/>
            </a:pPr>
            <a:r>
              <a:rPr lang="en-US" sz="2400" dirty="0" smtClean="0"/>
              <a:t>Address types: </a:t>
            </a:r>
          </a:p>
          <a:p>
            <a:r>
              <a:rPr lang="en-US" sz="2400" dirty="0" smtClean="0"/>
              <a:t>Single-Line address </a:t>
            </a:r>
          </a:p>
          <a:p>
            <a:r>
              <a:rPr lang="en-US" sz="2400" dirty="0" smtClean="0"/>
              <a:t>Set-of-Lines address </a:t>
            </a:r>
          </a:p>
          <a:p>
            <a:r>
              <a:rPr lang="en-US" sz="2400" dirty="0" smtClean="0"/>
              <a:t>Range address </a:t>
            </a:r>
          </a:p>
          <a:p>
            <a:r>
              <a:rPr lang="en-US" sz="2400" dirty="0" smtClean="0"/>
              <a:t>Nested address </a:t>
            </a:r>
          </a:p>
          <a:p>
            <a:pPr>
              <a:buFont typeface="Arial" panose="020B0604020202020204" pitchFamily="34" charset="0"/>
              <a:buNone/>
            </a:pPr>
            <a:r>
              <a:rPr lang="en-US" sz="2400" b="1" dirty="0" smtClean="0"/>
              <a:t>Single-Line Address </a:t>
            </a:r>
          </a:p>
          <a:p>
            <a:r>
              <a:rPr lang="en-US" sz="2400" dirty="0" smtClean="0"/>
              <a:t>Specifies only one line in the input file </a:t>
            </a:r>
          </a:p>
          <a:p>
            <a:r>
              <a:rPr lang="en-US" sz="2400" dirty="0" smtClean="0"/>
              <a:t> special: dollar sign ($) denotes last line of input file </a:t>
            </a:r>
          </a:p>
        </p:txBody>
      </p:sp>
      <p:sp>
        <p:nvSpPr>
          <p:cNvPr id="99332"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Addresses </a:t>
            </a:r>
            <a:r>
              <a:rPr lang="en-US" sz="2400" dirty="0" smtClean="0"/>
              <a:t> </a:t>
            </a:r>
            <a:endParaRPr lang="en-US" sz="2400" dirty="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2"/>
          <p:cNvSpPr>
            <a:spLocks noGrp="1"/>
          </p:cNvSpPr>
          <p:nvPr>
            <p:ph idx="1"/>
          </p:nvPr>
        </p:nvSpPr>
        <p:spPr>
          <a:xfrm>
            <a:off x="0" y="838200"/>
            <a:ext cx="9144000" cy="5791200"/>
          </a:xfrm>
        </p:spPr>
        <p:txBody>
          <a:bodyPr/>
          <a:lstStyle/>
          <a:p>
            <a:pPr>
              <a:buFont typeface="Arial" panose="020B0604020202020204" pitchFamily="34" charset="0"/>
              <a:buNone/>
            </a:pPr>
            <a:r>
              <a:rPr lang="en-US" sz="1800" smtClean="0">
                <a:latin typeface="Lucida Bright" panose="02040602050505020304" pitchFamily="18" charset="0"/>
              </a:rPr>
              <a:t>Examples: </a:t>
            </a:r>
          </a:p>
          <a:p>
            <a:r>
              <a:rPr lang="en-US" sz="1800" smtClean="0">
                <a:latin typeface="Lucida Bright" panose="02040602050505020304" pitchFamily="18" charset="0"/>
              </a:rPr>
              <a:t>show only line 3 </a:t>
            </a:r>
          </a:p>
          <a:p>
            <a:pPr>
              <a:buFont typeface="Arial" panose="020B0604020202020204" pitchFamily="34" charset="0"/>
              <a:buNone/>
            </a:pPr>
            <a:r>
              <a:rPr lang="pt-BR" sz="1800" b="1" smtClean="0">
                <a:latin typeface="Lucida Bright" panose="02040602050505020304" pitchFamily="18" charset="0"/>
              </a:rPr>
              <a:t>sed -n -e '3 p' input-file </a:t>
            </a:r>
          </a:p>
          <a:p>
            <a:r>
              <a:rPr lang="en-US" sz="1800" smtClean="0">
                <a:latin typeface="Lucida Bright" panose="02040602050505020304" pitchFamily="18" charset="0"/>
              </a:rPr>
              <a:t>show only last line </a:t>
            </a:r>
          </a:p>
          <a:p>
            <a:pPr>
              <a:buFont typeface="Arial" panose="020B0604020202020204" pitchFamily="34" charset="0"/>
              <a:buNone/>
            </a:pPr>
            <a:r>
              <a:rPr lang="pt-BR" sz="1800" b="1" smtClean="0">
                <a:latin typeface="Lucida Bright" panose="02040602050505020304" pitchFamily="18" charset="0"/>
              </a:rPr>
              <a:t>sed -n -e '$ p' input-file </a:t>
            </a:r>
          </a:p>
          <a:p>
            <a:r>
              <a:rPr lang="en-US" sz="1800" smtClean="0">
                <a:latin typeface="Lucida Bright" panose="02040602050505020304" pitchFamily="18" charset="0"/>
              </a:rPr>
              <a:t>substitute ―”endif” with ―”fi” on line 10 </a:t>
            </a:r>
          </a:p>
          <a:p>
            <a:pPr>
              <a:buFont typeface="Arial" panose="020B0604020202020204" pitchFamily="34" charset="0"/>
              <a:buNone/>
            </a:pPr>
            <a:r>
              <a:rPr lang="en-US" sz="1800" b="1" smtClean="0">
                <a:latin typeface="Lucida Bright" panose="02040602050505020304" pitchFamily="18" charset="0"/>
              </a:rPr>
              <a:t>sed -e '10 s/endif/fi/' input-file </a:t>
            </a:r>
          </a:p>
          <a:p>
            <a:endParaRPr lang="en-US" sz="1800" smtClean="0"/>
          </a:p>
          <a:p>
            <a:pPr>
              <a:buFont typeface="Arial" panose="020B0604020202020204" pitchFamily="34" charset="0"/>
              <a:buNone/>
            </a:pPr>
            <a:r>
              <a:rPr lang="en-US" sz="1800" b="1" smtClean="0">
                <a:latin typeface="Lucida Bright" panose="02040602050505020304" pitchFamily="18" charset="0"/>
              </a:rPr>
              <a:t>Set-of-Lines Address </a:t>
            </a:r>
          </a:p>
          <a:p>
            <a:r>
              <a:rPr lang="en-US" sz="1800" smtClean="0">
                <a:latin typeface="Lucida Bright" panose="02040602050505020304" pitchFamily="18" charset="0"/>
              </a:rPr>
              <a:t>use regular expression to match lines </a:t>
            </a:r>
          </a:p>
          <a:p>
            <a:r>
              <a:rPr lang="en-US" sz="1800" smtClean="0">
                <a:latin typeface="Lucida Bright" panose="02040602050505020304" pitchFamily="18" charset="0"/>
              </a:rPr>
              <a:t>written between two slashes </a:t>
            </a:r>
          </a:p>
          <a:p>
            <a:r>
              <a:rPr lang="en-US" sz="1800" smtClean="0">
                <a:latin typeface="Lucida Bright" panose="02040602050505020304" pitchFamily="18" charset="0"/>
              </a:rPr>
              <a:t>process only lines that match </a:t>
            </a:r>
          </a:p>
          <a:p>
            <a:r>
              <a:rPr lang="en-US" sz="1800" smtClean="0">
                <a:latin typeface="Lucida Bright" panose="02040602050505020304" pitchFamily="18" charset="0"/>
              </a:rPr>
              <a:t>may match several lines </a:t>
            </a:r>
          </a:p>
          <a:p>
            <a:r>
              <a:rPr lang="en-US" sz="1800" smtClean="0">
                <a:latin typeface="Lucida Bright" panose="02040602050505020304" pitchFamily="18" charset="0"/>
              </a:rPr>
              <a:t>lines may or may not be consecutives </a:t>
            </a:r>
          </a:p>
          <a:p>
            <a:pPr>
              <a:buFont typeface="Arial" panose="020B0604020202020204" pitchFamily="34" charset="0"/>
              <a:buNone/>
            </a:pPr>
            <a:r>
              <a:rPr lang="en-US" sz="1800" smtClean="0">
                <a:latin typeface="Lucida Bright" panose="02040602050505020304" pitchFamily="18" charset="0"/>
              </a:rPr>
              <a:t>Examples: </a:t>
            </a:r>
          </a:p>
          <a:p>
            <a:r>
              <a:rPr lang="en-US" sz="1800" smtClean="0">
                <a:latin typeface="Lucida Bright" panose="02040602050505020304" pitchFamily="18" charset="0"/>
              </a:rPr>
              <a:t>/^A/command (Matches all lines that start with ‘A’) </a:t>
            </a:r>
          </a:p>
          <a:p>
            <a:r>
              <a:rPr lang="pt-BR" sz="1800" smtClean="0">
                <a:latin typeface="Lucida Bright" panose="02040602050505020304" pitchFamily="18" charset="0"/>
              </a:rPr>
              <a:t> </a:t>
            </a:r>
            <a:r>
              <a:rPr lang="en-US" sz="1800" smtClean="0">
                <a:latin typeface="Lucida Bright" panose="02040602050505020304" pitchFamily="18" charset="0"/>
              </a:rPr>
              <a:t>/^$/colmmand (Matches blank lines)</a:t>
            </a:r>
          </a:p>
          <a:p>
            <a:pPr>
              <a:buFont typeface="Arial" panose="020B0604020202020204" pitchFamily="34" charset="0"/>
              <a:buNone/>
            </a:pPr>
            <a:endParaRPr lang="en-US" sz="1800" smtClean="0">
              <a:latin typeface="Lucida Bright" panose="02040602050505020304" pitchFamily="18" charset="0"/>
            </a:endParaRPr>
          </a:p>
        </p:txBody>
      </p:sp>
      <p:sp>
        <p:nvSpPr>
          <p:cNvPr id="100356"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r>
              <a:rPr lang="en-US" sz="4000" dirty="0" smtClean="0"/>
              <a:t>Addresses </a:t>
            </a:r>
            <a:r>
              <a:rPr lang="en-US" sz="2400" dirty="0" smtClean="0"/>
              <a:t> </a:t>
            </a:r>
          </a:p>
          <a:p>
            <a:pPr algn="ctr"/>
            <a:endParaRPr lang="en-US" sz="2400" dirty="0"/>
          </a:p>
          <a:p>
            <a:pPr algn="ctr"/>
            <a:endParaRPr lang="en-US" sz="2400" dirty="0"/>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2"/>
          <p:cNvSpPr>
            <a:spLocks noGrp="1"/>
          </p:cNvSpPr>
          <p:nvPr>
            <p:ph idx="1"/>
          </p:nvPr>
        </p:nvSpPr>
        <p:spPr>
          <a:xfrm>
            <a:off x="0" y="914400"/>
            <a:ext cx="9144000" cy="5715000"/>
          </a:xfrm>
        </p:spPr>
        <p:txBody>
          <a:bodyPr/>
          <a:lstStyle/>
          <a:p>
            <a:pPr>
              <a:buFont typeface="Arial" panose="020B0604020202020204" pitchFamily="34" charset="0"/>
              <a:buNone/>
            </a:pPr>
            <a:r>
              <a:rPr lang="en-US" sz="1800" smtClean="0">
                <a:latin typeface="Lucida Bright" panose="02040602050505020304" pitchFamily="18" charset="0"/>
              </a:rPr>
              <a:t>Range Address </a:t>
            </a:r>
          </a:p>
          <a:p>
            <a:r>
              <a:rPr lang="en-US" sz="1800" smtClean="0">
                <a:latin typeface="Lucida Bright" panose="02040602050505020304" pitchFamily="18" charset="0"/>
              </a:rPr>
              <a:t>Defines a set of consecutive lines </a:t>
            </a:r>
          </a:p>
          <a:p>
            <a:pPr>
              <a:buFont typeface="Arial" panose="020B0604020202020204" pitchFamily="34" charset="0"/>
              <a:buNone/>
            </a:pPr>
            <a:r>
              <a:rPr lang="en-US" sz="1800" smtClean="0">
                <a:latin typeface="Lucida Bright" panose="02040602050505020304" pitchFamily="18" charset="0"/>
              </a:rPr>
              <a:t>Format: </a:t>
            </a:r>
          </a:p>
          <a:p>
            <a:r>
              <a:rPr lang="en-US" sz="1800" smtClean="0">
                <a:latin typeface="Lucida Bright" panose="02040602050505020304" pitchFamily="18" charset="0"/>
              </a:rPr>
              <a:t>start-addr,end-addr (inclusive) </a:t>
            </a:r>
          </a:p>
          <a:p>
            <a:pPr>
              <a:buFont typeface="Arial" panose="020B0604020202020204" pitchFamily="34" charset="0"/>
              <a:buNone/>
            </a:pPr>
            <a:r>
              <a:rPr lang="en-US" sz="1800" smtClean="0">
                <a:latin typeface="Lucida Bright" panose="02040602050505020304" pitchFamily="18" charset="0"/>
              </a:rPr>
              <a:t>following are the possible combinations</a:t>
            </a:r>
          </a:p>
          <a:p>
            <a:r>
              <a:rPr lang="en-US" sz="1800" smtClean="0">
                <a:latin typeface="Lucida Bright" panose="02040602050505020304" pitchFamily="18" charset="0"/>
              </a:rPr>
              <a:t>10,50 	line-number,line-number </a:t>
            </a:r>
          </a:p>
          <a:p>
            <a:r>
              <a:rPr lang="en-US" sz="1800" smtClean="0">
                <a:latin typeface="Lucida Bright" panose="02040602050505020304" pitchFamily="18" charset="0"/>
              </a:rPr>
              <a:t>10,/R.E/	 line-number,/RegExp/ </a:t>
            </a:r>
          </a:p>
          <a:p>
            <a:r>
              <a:rPr lang="en-US" sz="1800" smtClean="0">
                <a:latin typeface="Lucida Bright" panose="02040602050505020304" pitchFamily="18" charset="0"/>
              </a:rPr>
              <a:t>/R.E./,10 /	RegExp/,line-number </a:t>
            </a:r>
          </a:p>
          <a:p>
            <a:r>
              <a:rPr lang="en-US" sz="1800" smtClean="0">
                <a:latin typeface="Lucida Bright" panose="02040602050505020304" pitchFamily="18" charset="0"/>
              </a:rPr>
              <a:t>/R.E./,/R.E/ 	/RegExp/,/RegExp/ </a:t>
            </a:r>
          </a:p>
          <a:p>
            <a:pPr>
              <a:buFont typeface="Arial" panose="020B0604020202020204" pitchFamily="34" charset="0"/>
              <a:buNone/>
            </a:pPr>
            <a:r>
              <a:rPr lang="en-US" sz="1800" b="1" smtClean="0">
                <a:latin typeface="Lucida Bright" panose="02040602050505020304" pitchFamily="18" charset="0"/>
                <a:cs typeface="Times New Roman" panose="02020603050405020304" pitchFamily="18" charset="0"/>
              </a:rPr>
              <a:t>Examples :</a:t>
            </a:r>
          </a:p>
          <a:p>
            <a:pPr>
              <a:buFont typeface="Arial" panose="020B0604020202020204" pitchFamily="34" charset="0"/>
              <a:buNone/>
            </a:pPr>
            <a:r>
              <a:rPr lang="en-US" sz="1800" smtClean="0">
                <a:latin typeface="Lucida Bright" panose="02040602050505020304" pitchFamily="18" charset="0"/>
                <a:cs typeface="Times New Roman" panose="02020603050405020304" pitchFamily="18" charset="0"/>
              </a:rPr>
              <a:t>4,9		(Matches all lines 4 through 9)</a:t>
            </a:r>
          </a:p>
          <a:p>
            <a:pPr>
              <a:buFont typeface="Arial" panose="020B0604020202020204" pitchFamily="34" charset="0"/>
              <a:buNone/>
            </a:pPr>
            <a:r>
              <a:rPr lang="en-US" sz="1800" smtClean="0">
                <a:latin typeface="Lucida Bright" panose="02040602050505020304" pitchFamily="18" charset="0"/>
                <a:cs typeface="Times New Roman" panose="02020603050405020304" pitchFamily="18" charset="0"/>
              </a:rPr>
              <a:t>2,/^A/command (starts matching from line 2 to a line that starts with A)</a:t>
            </a:r>
          </a:p>
          <a:p>
            <a:pPr>
              <a:buFont typeface="Arial" panose="020B0604020202020204" pitchFamily="34" charset="0"/>
              <a:buNone/>
            </a:pPr>
            <a:r>
              <a:rPr lang="en-US" sz="1800" smtClean="0">
                <a:latin typeface="Lucida Bright" panose="02040602050505020304" pitchFamily="18" charset="0"/>
                <a:cs typeface="Times New Roman" panose="02020603050405020304" pitchFamily="18" charset="0"/>
              </a:rPr>
              <a:t>/^A/,15 	(starts matching from a line that begins with A to 15)</a:t>
            </a:r>
          </a:p>
          <a:p>
            <a:pPr>
              <a:buFont typeface="Arial" panose="020B0604020202020204" pitchFamily="34" charset="0"/>
              <a:buNone/>
            </a:pPr>
            <a:r>
              <a:rPr lang="en-US" sz="1800" smtClean="0">
                <a:latin typeface="Lucida Bright" panose="02040602050505020304" pitchFamily="18" charset="0"/>
                <a:cs typeface="Times New Roman" panose="02020603050405020304" pitchFamily="18" charset="0"/>
              </a:rPr>
              <a:t>/^A/,/$B/command (starts matching from a line that begins with A to a line that ends with B)</a:t>
            </a:r>
          </a:p>
          <a:p>
            <a:pPr>
              <a:buFont typeface="Arial" panose="020B0604020202020204" pitchFamily="34" charset="0"/>
              <a:buNone/>
            </a:pPr>
            <a:endParaRPr lang="en-US" sz="1800" b="1" smtClean="0">
              <a:latin typeface="Lucida Bright" panose="02040602050505020304" pitchFamily="18" charset="0"/>
              <a:cs typeface="Times New Roman" panose="02020603050405020304" pitchFamily="18" charset="0"/>
            </a:endParaRPr>
          </a:p>
          <a:p>
            <a:pPr>
              <a:buFont typeface="Arial" panose="020B0604020202020204" pitchFamily="34" charset="0"/>
              <a:buNone/>
            </a:pPr>
            <a:endParaRPr lang="en-US" sz="1800" b="1" smtClean="0">
              <a:latin typeface="Lucida Bright" panose="02040602050505020304" pitchFamily="18" charset="0"/>
              <a:cs typeface="Times New Roman" panose="02020603050405020304" pitchFamily="18" charset="0"/>
            </a:endParaRPr>
          </a:p>
        </p:txBody>
      </p:sp>
      <p:sp>
        <p:nvSpPr>
          <p:cNvPr id="101380"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 Addresses</a:t>
            </a:r>
            <a:r>
              <a:rPr lang="en-US" sz="2400" dirty="0" smtClean="0"/>
              <a:t> </a:t>
            </a:r>
          </a:p>
          <a:p>
            <a:pPr algn="ctr"/>
            <a:endParaRPr lang="en-US" sz="2400" dirty="0"/>
          </a:p>
          <a:p>
            <a:pPr algn="ctr"/>
            <a:endParaRPr lang="en-US" sz="2400" dirty="0"/>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8"/>
          <p:cNvSpPr>
            <a:spLocks noGrp="1"/>
          </p:cNvSpPr>
          <p:nvPr>
            <p:ph type="title"/>
          </p:nvPr>
        </p:nvSpPr>
        <p:spPr>
          <a:xfrm>
            <a:off x="0" y="838200"/>
            <a:ext cx="9144000" cy="3276600"/>
          </a:xfrm>
        </p:spPr>
        <p:txBody>
          <a:bodyPr/>
          <a:lstStyle/>
          <a:p>
            <a:endParaRPr lang="en-US" smtClean="0"/>
          </a:p>
        </p:txBody>
      </p:sp>
      <p:sp>
        <p:nvSpPr>
          <p:cNvPr id="103428"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Commands </a:t>
            </a:r>
            <a:r>
              <a:rPr lang="en-US" sz="2400" dirty="0" smtClean="0"/>
              <a:t> </a:t>
            </a:r>
          </a:p>
          <a:p>
            <a:pPr algn="ctr"/>
            <a:endParaRPr lang="en-US" sz="4000" dirty="0"/>
          </a:p>
        </p:txBody>
      </p:sp>
      <p:sp>
        <p:nvSpPr>
          <p:cNvPr id="103429" name="Content Placeholder 9"/>
          <p:cNvSpPr>
            <a:spLocks noGrp="1"/>
          </p:cNvSpPr>
          <p:nvPr>
            <p:ph idx="1"/>
          </p:nvPr>
        </p:nvSpPr>
        <p:spPr>
          <a:xfrm>
            <a:off x="0" y="3200400"/>
            <a:ext cx="9144000" cy="3657600"/>
          </a:xfrm>
        </p:spPr>
        <p:txBody>
          <a:bodyPr/>
          <a:lstStyle/>
          <a:p>
            <a:pPr>
              <a:lnSpc>
                <a:spcPct val="150000"/>
              </a:lnSpc>
              <a:buFont typeface="Arial" panose="020B0604020202020204" pitchFamily="34" charset="0"/>
              <a:buNone/>
            </a:pPr>
            <a:r>
              <a:rPr lang="en-US" sz="1800" b="1" smtClean="0">
                <a:latin typeface="Lucida Bright" panose="02040602050505020304" pitchFamily="18" charset="0"/>
              </a:rPr>
              <a:t>Line Number </a:t>
            </a:r>
          </a:p>
          <a:p>
            <a:pPr>
              <a:lnSpc>
                <a:spcPct val="150000"/>
              </a:lnSpc>
              <a:buFont typeface="Arial" panose="020B0604020202020204" pitchFamily="34" charset="0"/>
              <a:buNone/>
            </a:pPr>
            <a:r>
              <a:rPr lang="en-US" sz="1800" smtClean="0">
                <a:latin typeface="Lucida Bright" panose="02040602050505020304" pitchFamily="18" charset="0"/>
              </a:rPr>
              <a:t> line number command (=) writes the current line number before each matched/output line </a:t>
            </a:r>
          </a:p>
          <a:p>
            <a:pPr>
              <a:lnSpc>
                <a:spcPct val="150000"/>
              </a:lnSpc>
              <a:buFont typeface="Arial" panose="020B0604020202020204" pitchFamily="34" charset="0"/>
              <a:buNone/>
            </a:pPr>
            <a:r>
              <a:rPr lang="en-US" sz="1800" smtClean="0">
                <a:latin typeface="Lucida Bright" panose="02040602050505020304" pitchFamily="18" charset="0"/>
              </a:rPr>
              <a:t>Example:</a:t>
            </a:r>
          </a:p>
          <a:p>
            <a:pPr>
              <a:lnSpc>
                <a:spcPct val="150000"/>
              </a:lnSpc>
              <a:buFont typeface="Arial" panose="020B0604020202020204" pitchFamily="34" charset="0"/>
              <a:buNone/>
            </a:pPr>
            <a:r>
              <a:rPr lang="en-US" sz="1800" smtClean="0">
                <a:latin typeface="Lucida Bright" panose="02040602050505020304" pitchFamily="18" charset="0"/>
              </a:rPr>
              <a:t>$ sed ‘=‘ twister.dat</a:t>
            </a:r>
          </a:p>
          <a:p>
            <a:pPr>
              <a:lnSpc>
                <a:spcPct val="150000"/>
              </a:lnSpc>
              <a:buFont typeface="Arial" panose="020B0604020202020204" pitchFamily="34" charset="0"/>
              <a:buNone/>
            </a:pPr>
            <a:r>
              <a:rPr lang="en-US" sz="1800" smtClean="0">
                <a:latin typeface="Lucida Bright" panose="02040602050505020304" pitchFamily="18" charset="0"/>
              </a:rPr>
              <a:t>This command print the file twister.dat with line number </a:t>
            </a:r>
          </a:p>
          <a:p>
            <a:pPr>
              <a:buFont typeface="Arial" panose="020B0604020202020204" pitchFamily="34" charset="0"/>
              <a:buNone/>
            </a:pPr>
            <a:endParaRPr lang="en-US" sz="1800" smtClean="0">
              <a:latin typeface="Lucida Bright" panose="02040602050505020304" pitchFamily="18" charset="0"/>
            </a:endParaRPr>
          </a:p>
          <a:p>
            <a:pPr>
              <a:buFont typeface="Arial" panose="020B0604020202020204" pitchFamily="34" charset="0"/>
              <a:buNone/>
            </a:pPr>
            <a:endParaRPr lang="en-US" sz="1800" smtClean="0">
              <a:latin typeface="Lucida Bright" panose="02040602050505020304" pitchFamily="18" charset="0"/>
            </a:endParaRPr>
          </a:p>
        </p:txBody>
      </p:sp>
      <p:pic>
        <p:nvPicPr>
          <p:cNvPr id="103430" name="Picture 5"/>
          <p:cNvPicPr>
            <a:picLocks noChangeAspect="1" noChangeArrowheads="1"/>
          </p:cNvPicPr>
          <p:nvPr/>
        </p:nvPicPr>
        <p:blipFill>
          <a:blip r:embed="rId2"/>
          <a:srcRect/>
          <a:stretch>
            <a:fillRect/>
          </a:stretch>
        </p:blipFill>
        <p:spPr bwMode="auto">
          <a:xfrm>
            <a:off x="0" y="914400"/>
            <a:ext cx="9144000" cy="21336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2"/>
          <p:cNvSpPr>
            <a:spLocks noGrp="1"/>
          </p:cNvSpPr>
          <p:nvPr>
            <p:ph type="title"/>
          </p:nvPr>
        </p:nvSpPr>
        <p:spPr>
          <a:xfrm>
            <a:off x="0" y="838200"/>
            <a:ext cx="9144000" cy="1752600"/>
          </a:xfrm>
        </p:spPr>
        <p:txBody>
          <a:bodyPr/>
          <a:lstStyle/>
          <a:p>
            <a:endParaRPr lang="en-US" smtClean="0"/>
          </a:p>
        </p:txBody>
      </p:sp>
      <p:sp>
        <p:nvSpPr>
          <p:cNvPr id="104451" name="Content Placeholder 13"/>
          <p:cNvSpPr>
            <a:spLocks noGrp="1"/>
          </p:cNvSpPr>
          <p:nvPr>
            <p:ph idx="1"/>
          </p:nvPr>
        </p:nvSpPr>
        <p:spPr>
          <a:xfrm>
            <a:off x="0" y="2590800"/>
            <a:ext cx="9144000" cy="4267200"/>
          </a:xfrm>
        </p:spPr>
        <p:txBody>
          <a:bodyPr/>
          <a:lstStyle/>
          <a:p>
            <a:pPr>
              <a:lnSpc>
                <a:spcPct val="150000"/>
              </a:lnSpc>
              <a:buFont typeface="Arial" panose="020B0604020202020204" pitchFamily="34" charset="0"/>
              <a:buNone/>
            </a:pPr>
            <a:r>
              <a:rPr lang="en-US" sz="1800" b="1" dirty="0" smtClean="0">
                <a:latin typeface="Lucida Bright" panose="02040602050505020304" pitchFamily="18" charset="0"/>
              </a:rPr>
              <a:t>Insert Command: I</a:t>
            </a:r>
          </a:p>
          <a:p>
            <a:pPr>
              <a:lnSpc>
                <a:spcPct val="150000"/>
              </a:lnSpc>
            </a:pPr>
            <a:r>
              <a:rPr lang="en-US" sz="1800" dirty="0" smtClean="0">
                <a:latin typeface="Lucida Bright" panose="02040602050505020304" pitchFamily="18" charset="0"/>
              </a:rPr>
              <a:t>adds one or more lines directly to the output before the address: </a:t>
            </a:r>
          </a:p>
          <a:p>
            <a:pPr>
              <a:lnSpc>
                <a:spcPct val="150000"/>
              </a:lnSpc>
            </a:pPr>
            <a:r>
              <a:rPr lang="en-US" sz="1800" dirty="0" smtClean="0">
                <a:latin typeface="Lucida Bright" panose="02040602050505020304" pitchFamily="18" charset="0"/>
              </a:rPr>
              <a:t> inserted “text” never appears in </a:t>
            </a:r>
            <a:r>
              <a:rPr lang="en-US" sz="1800" dirty="0" err="1" smtClean="0">
                <a:latin typeface="Lucida Bright" panose="02040602050505020304" pitchFamily="18" charset="0"/>
              </a:rPr>
              <a:t>sed‘s</a:t>
            </a:r>
            <a:r>
              <a:rPr lang="en-US" sz="1800" dirty="0" smtClean="0">
                <a:latin typeface="Lucida Bright" panose="02040602050505020304" pitchFamily="18" charset="0"/>
              </a:rPr>
              <a:t> pattern space </a:t>
            </a:r>
          </a:p>
          <a:p>
            <a:pPr>
              <a:lnSpc>
                <a:spcPct val="150000"/>
              </a:lnSpc>
            </a:pPr>
            <a:r>
              <a:rPr lang="en-US" sz="1800" dirty="0" smtClean="0">
                <a:latin typeface="Lucida Bright" panose="02040602050505020304" pitchFamily="18" charset="0"/>
              </a:rPr>
              <a:t> cannot be used with a range address; can only be used with the single-line and set-of-lines address types </a:t>
            </a:r>
          </a:p>
          <a:p>
            <a:pPr>
              <a:lnSpc>
                <a:spcPct val="150000"/>
              </a:lnSpc>
            </a:pPr>
            <a:endParaRPr lang="en-US" sz="1800" dirty="0" smtClean="0"/>
          </a:p>
          <a:p>
            <a:pPr>
              <a:lnSpc>
                <a:spcPct val="150000"/>
              </a:lnSpc>
              <a:buFont typeface="Arial" panose="020B0604020202020204" pitchFamily="34" charset="0"/>
              <a:buNone/>
            </a:pPr>
            <a:r>
              <a:rPr lang="en-US" sz="1800" dirty="0" smtClean="0">
                <a:latin typeface="Lucida Bright" panose="02040602050505020304" pitchFamily="18" charset="0"/>
              </a:rPr>
              <a:t>Syntax: </a:t>
            </a:r>
          </a:p>
          <a:p>
            <a:pPr>
              <a:lnSpc>
                <a:spcPct val="150000"/>
              </a:lnSpc>
            </a:pPr>
            <a:r>
              <a:rPr lang="en-US" sz="1800" dirty="0" smtClean="0">
                <a:latin typeface="Lucida Bright" panose="02040602050505020304" pitchFamily="18" charset="0"/>
              </a:rPr>
              <a:t>[address] </a:t>
            </a:r>
            <a:r>
              <a:rPr lang="en-US" sz="1800" dirty="0" err="1" smtClean="0">
                <a:latin typeface="Lucida Bright" panose="02040602050505020304" pitchFamily="18" charset="0"/>
              </a:rPr>
              <a:t>i</a:t>
            </a:r>
            <a:r>
              <a:rPr lang="en-US" sz="1800" dirty="0" smtClean="0">
                <a:latin typeface="Lucida Bright" panose="02040602050505020304" pitchFamily="18" charset="0"/>
              </a:rPr>
              <a:t>\ </a:t>
            </a:r>
          </a:p>
          <a:p>
            <a:pPr>
              <a:lnSpc>
                <a:spcPct val="150000"/>
              </a:lnSpc>
              <a:buFont typeface="Arial" panose="020B0604020202020204" pitchFamily="34" charset="0"/>
              <a:buNone/>
            </a:pPr>
            <a:r>
              <a:rPr lang="en-US" sz="1800" dirty="0" smtClean="0">
                <a:latin typeface="Lucida Bright" panose="02040602050505020304" pitchFamily="18" charset="0"/>
              </a:rPr>
              <a:t>		text    \</a:t>
            </a:r>
          </a:p>
          <a:p>
            <a:pPr>
              <a:lnSpc>
                <a:spcPct val="150000"/>
              </a:lnSpc>
              <a:buFont typeface="Arial" panose="020B0604020202020204" pitchFamily="34" charset="0"/>
              <a:buNone/>
            </a:pPr>
            <a:endParaRPr lang="en-US" sz="1800" dirty="0" smtClean="0">
              <a:latin typeface="Lucida Bright" panose="02040602050505020304" pitchFamily="18" charset="0"/>
            </a:endParaRPr>
          </a:p>
          <a:p>
            <a:pPr>
              <a:lnSpc>
                <a:spcPct val="150000"/>
              </a:lnSpc>
              <a:buFont typeface="Arial" panose="020B0604020202020204" pitchFamily="34" charset="0"/>
              <a:buNone/>
            </a:pPr>
            <a:endParaRPr lang="en-US" sz="1800" b="1" dirty="0" smtClean="0">
              <a:latin typeface="Lucida Bright" panose="02040602050505020304" pitchFamily="18" charset="0"/>
            </a:endParaRPr>
          </a:p>
        </p:txBody>
      </p:sp>
      <p:sp>
        <p:nvSpPr>
          <p:cNvPr id="104453"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Commands </a:t>
            </a:r>
            <a:r>
              <a:rPr lang="en-US" sz="2400" dirty="0" smtClean="0"/>
              <a:t> </a:t>
            </a:r>
          </a:p>
          <a:p>
            <a:pPr algn="ctr"/>
            <a:endParaRPr lang="en-US" sz="4000" dirty="0"/>
          </a:p>
        </p:txBody>
      </p:sp>
      <p:pic>
        <p:nvPicPr>
          <p:cNvPr id="104454" name="Picture 8"/>
          <p:cNvPicPr>
            <a:picLocks noChangeAspect="1" noChangeArrowheads="1"/>
          </p:cNvPicPr>
          <p:nvPr/>
        </p:nvPicPr>
        <p:blipFill>
          <a:blip r:embed="rId2"/>
          <a:srcRect/>
          <a:stretch>
            <a:fillRect/>
          </a:stretch>
        </p:blipFill>
        <p:spPr bwMode="auto">
          <a:xfrm>
            <a:off x="438150" y="838200"/>
            <a:ext cx="8267700" cy="16764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Content Placeholder 3"/>
          <p:cNvSpPr>
            <a:spLocks noGrp="1"/>
          </p:cNvSpPr>
          <p:nvPr>
            <p:ph idx="1"/>
          </p:nvPr>
        </p:nvSpPr>
        <p:spPr>
          <a:xfrm>
            <a:off x="0" y="838200"/>
            <a:ext cx="9144000" cy="6019800"/>
          </a:xfrm>
        </p:spPr>
        <p:txBody>
          <a:bodyPr/>
          <a:lstStyle/>
          <a:p>
            <a:pPr>
              <a:lnSpc>
                <a:spcPct val="150000"/>
              </a:lnSpc>
              <a:buFont typeface="Arial" panose="020B0604020202020204" pitchFamily="34" charset="0"/>
              <a:buNone/>
            </a:pPr>
            <a:r>
              <a:rPr lang="en-US" sz="1800" b="1" dirty="0" smtClean="0">
                <a:latin typeface="Lucida Bright" panose="02040602050505020304" pitchFamily="18" charset="0"/>
              </a:rPr>
              <a:t>Append Command: a </a:t>
            </a:r>
          </a:p>
          <a:p>
            <a:pPr>
              <a:lnSpc>
                <a:spcPct val="150000"/>
              </a:lnSpc>
            </a:pPr>
            <a:r>
              <a:rPr lang="en-US" sz="1800" dirty="0" smtClean="0">
                <a:latin typeface="Lucida Bright" panose="02040602050505020304" pitchFamily="18" charset="0"/>
              </a:rPr>
              <a:t> adds one or more lines directly to the output after the address: </a:t>
            </a:r>
          </a:p>
          <a:p>
            <a:pPr>
              <a:lnSpc>
                <a:spcPct val="150000"/>
              </a:lnSpc>
            </a:pPr>
            <a:r>
              <a:rPr lang="en-US" sz="1800" dirty="0" smtClean="0">
                <a:latin typeface="Lucida Bright" panose="02040602050505020304" pitchFamily="18" charset="0"/>
              </a:rPr>
              <a:t> Similar to the insert command (</a:t>
            </a:r>
            <a:r>
              <a:rPr lang="en-US" sz="1800" dirty="0" err="1" smtClean="0">
                <a:latin typeface="Lucida Bright" panose="02040602050505020304" pitchFamily="18" charset="0"/>
              </a:rPr>
              <a:t>i</a:t>
            </a:r>
            <a:r>
              <a:rPr lang="en-US" sz="1800" dirty="0" smtClean="0">
                <a:latin typeface="Lucida Bright" panose="02040602050505020304" pitchFamily="18" charset="0"/>
              </a:rPr>
              <a:t>), append cannot be used with a range address. </a:t>
            </a:r>
          </a:p>
          <a:p>
            <a:pPr>
              <a:lnSpc>
                <a:spcPct val="150000"/>
              </a:lnSpc>
            </a:pPr>
            <a:r>
              <a:rPr lang="en-US" sz="1800" dirty="0" smtClean="0">
                <a:latin typeface="Lucida Bright" panose="02040602050505020304" pitchFamily="18" charset="0"/>
              </a:rPr>
              <a:t> Appended ―text‖ does not appear in </a:t>
            </a:r>
            <a:r>
              <a:rPr lang="en-US" sz="1800" dirty="0" err="1" smtClean="0">
                <a:latin typeface="Lucida Bright" panose="02040602050505020304" pitchFamily="18" charset="0"/>
              </a:rPr>
              <a:t>sed‘s</a:t>
            </a:r>
            <a:r>
              <a:rPr lang="en-US" sz="1800" dirty="0" smtClean="0">
                <a:latin typeface="Lucida Bright" panose="02040602050505020304" pitchFamily="18" charset="0"/>
              </a:rPr>
              <a:t> pattern space. </a:t>
            </a:r>
          </a:p>
          <a:p>
            <a:pPr>
              <a:buFont typeface="Arial" panose="020B0604020202020204" pitchFamily="34" charset="0"/>
              <a:buNone/>
            </a:pPr>
            <a:r>
              <a:rPr lang="en-US" sz="1800" dirty="0" smtClean="0">
                <a:latin typeface="Lucida Bright" panose="02040602050505020304" pitchFamily="18" charset="0"/>
              </a:rPr>
              <a:t>Syntax: </a:t>
            </a:r>
          </a:p>
          <a:p>
            <a:pPr>
              <a:buFont typeface="Arial" panose="020B0604020202020204" pitchFamily="34" charset="0"/>
              <a:buNone/>
            </a:pPr>
            <a:r>
              <a:rPr lang="en-US" sz="1800" b="1" dirty="0" smtClean="0">
                <a:latin typeface="Lucida Bright" panose="02040602050505020304" pitchFamily="18" charset="0"/>
              </a:rPr>
              <a:t>[address] a\ </a:t>
            </a:r>
          </a:p>
          <a:p>
            <a:pPr>
              <a:buFont typeface="Arial" panose="020B0604020202020204" pitchFamily="34" charset="0"/>
              <a:buNone/>
            </a:pPr>
            <a:r>
              <a:rPr lang="en-US" sz="1800" b="1" dirty="0" smtClean="0">
                <a:latin typeface="Lucida Bright" panose="02040602050505020304" pitchFamily="18" charset="0"/>
              </a:rPr>
              <a:t>		text </a:t>
            </a:r>
          </a:p>
          <a:p>
            <a:pPr>
              <a:buFont typeface="Arial" panose="020B0604020202020204" pitchFamily="34" charset="0"/>
              <a:buNone/>
            </a:pPr>
            <a:r>
              <a:rPr lang="en-US" sz="1800" b="1" dirty="0" smtClean="0">
                <a:latin typeface="Lucida Bright" panose="02040602050505020304" pitchFamily="18" charset="0"/>
              </a:rPr>
              <a:t>EX:</a:t>
            </a:r>
          </a:p>
          <a:p>
            <a:pPr>
              <a:lnSpc>
                <a:spcPct val="150000"/>
              </a:lnSpc>
              <a:buNone/>
            </a:pPr>
            <a:r>
              <a:rPr lang="en-US" sz="1800" dirty="0" smtClean="0">
                <a:latin typeface="Lucida Bright" panose="02040602050505020304" pitchFamily="18" charset="0"/>
              </a:rPr>
              <a:t>Script.sed</a:t>
            </a:r>
          </a:p>
          <a:p>
            <a:pPr>
              <a:lnSpc>
                <a:spcPct val="150000"/>
              </a:lnSpc>
              <a:buNone/>
            </a:pPr>
            <a:r>
              <a:rPr lang="en-US" sz="1800" dirty="0" smtClean="0">
                <a:latin typeface="Lucida Bright" panose="02040602050505020304" pitchFamily="18" charset="0"/>
              </a:rPr>
              <a:t>#script to append  the text at the end of the file</a:t>
            </a:r>
          </a:p>
          <a:p>
            <a:pPr>
              <a:lnSpc>
                <a:spcPct val="150000"/>
              </a:lnSpc>
              <a:buNone/>
            </a:pPr>
            <a:r>
              <a:rPr lang="en-US" sz="1800" dirty="0" smtClean="0">
                <a:latin typeface="Lucida Bright" panose="02040602050505020304" pitchFamily="18" charset="0"/>
              </a:rPr>
              <a:t>$a\</a:t>
            </a:r>
          </a:p>
          <a:p>
            <a:pPr>
              <a:buFont typeface="Arial" panose="020B0604020202020204" pitchFamily="34" charset="0"/>
              <a:buNone/>
            </a:pPr>
            <a:r>
              <a:rPr lang="en-US" sz="1800" dirty="0" smtClean="0">
                <a:latin typeface="Lucida Bright" panose="02040602050505020304" pitchFamily="18" charset="0"/>
              </a:rPr>
              <a:t>Is it difficult? Try again!</a:t>
            </a:r>
          </a:p>
        </p:txBody>
      </p:sp>
      <p:sp>
        <p:nvSpPr>
          <p:cNvPr id="105476"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Commands </a:t>
            </a:r>
            <a:r>
              <a:rPr lang="en-US" sz="2400" dirty="0" smtClean="0"/>
              <a:t> </a:t>
            </a:r>
          </a:p>
          <a:p>
            <a:pPr algn="ctr"/>
            <a:endParaRPr lang="en-US" sz="4000" dirty="0"/>
          </a:p>
          <a:p>
            <a:pPr algn="ctr"/>
            <a:endParaRPr lang="en-US" sz="2400" dirty="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3"/>
          <p:cNvSpPr>
            <a:spLocks noGrp="1"/>
          </p:cNvSpPr>
          <p:nvPr>
            <p:ph idx="1"/>
          </p:nvPr>
        </p:nvSpPr>
        <p:spPr>
          <a:xfrm>
            <a:off x="0" y="838200"/>
            <a:ext cx="9144000" cy="6019800"/>
          </a:xfrm>
        </p:spPr>
        <p:txBody>
          <a:bodyPr/>
          <a:lstStyle/>
          <a:p>
            <a:pPr>
              <a:lnSpc>
                <a:spcPct val="150000"/>
              </a:lnSpc>
              <a:buNone/>
            </a:pPr>
            <a:r>
              <a:rPr lang="en-US" sz="1800" dirty="0" smtClean="0">
                <a:latin typeface="Lucida Bright" panose="02040602050505020304" pitchFamily="18" charset="0"/>
              </a:rPr>
              <a:t>Change Command: c </a:t>
            </a:r>
          </a:p>
          <a:p>
            <a:pPr>
              <a:lnSpc>
                <a:spcPct val="150000"/>
              </a:lnSpc>
            </a:pPr>
            <a:r>
              <a:rPr lang="en-US" sz="1800" dirty="0" smtClean="0">
                <a:latin typeface="Lucida Bright" panose="02040602050505020304" pitchFamily="18" charset="0"/>
              </a:rPr>
              <a:t>replaces the lines matching the address with  x:new text</a:t>
            </a:r>
          </a:p>
          <a:p>
            <a:pPr>
              <a:lnSpc>
                <a:spcPct val="150000"/>
              </a:lnSpc>
            </a:pPr>
            <a:r>
              <a:rPr lang="en-US" sz="1800" dirty="0" smtClean="0">
                <a:latin typeface="Lucida Bright" panose="02040602050505020304" pitchFamily="18" charset="0"/>
              </a:rPr>
              <a:t>accepts four address types: </a:t>
            </a:r>
          </a:p>
          <a:p>
            <a:pPr>
              <a:lnSpc>
                <a:spcPct val="150000"/>
              </a:lnSpc>
            </a:pPr>
            <a:r>
              <a:rPr lang="en-US" sz="1800" dirty="0" smtClean="0">
                <a:latin typeface="Lucida Bright" panose="02040602050505020304" pitchFamily="18" charset="0"/>
              </a:rPr>
              <a:t>single-line, set-of-line, range, and nested addresses. </a:t>
            </a:r>
          </a:p>
          <a:p>
            <a:pPr>
              <a:buNone/>
            </a:pPr>
            <a:r>
              <a:rPr lang="en-US" sz="1800" dirty="0" smtClean="0">
                <a:latin typeface="Lucida Bright" panose="02040602050505020304" pitchFamily="18" charset="0"/>
              </a:rPr>
              <a:t>Syntax: </a:t>
            </a:r>
          </a:p>
          <a:p>
            <a:r>
              <a:rPr lang="en-US" sz="1800" b="1" dirty="0" smtClean="0">
                <a:latin typeface="Lucida Bright" panose="02040602050505020304" pitchFamily="18" charset="0"/>
              </a:rPr>
              <a:t>[address1[,address2]] c\ </a:t>
            </a:r>
          </a:p>
          <a:p>
            <a:pPr>
              <a:buNone/>
            </a:pPr>
            <a:r>
              <a:rPr lang="en-US" sz="1800" b="1" dirty="0" smtClean="0">
                <a:latin typeface="Lucida Bright" panose="02040602050505020304" pitchFamily="18" charset="0"/>
              </a:rPr>
              <a:t>		text </a:t>
            </a:r>
          </a:p>
          <a:p>
            <a:pPr>
              <a:buNone/>
            </a:pPr>
            <a:r>
              <a:rPr lang="en-US" sz="1800" i="1" dirty="0" smtClean="0">
                <a:latin typeface="Lucida Bright" panose="02040602050505020304" pitchFamily="18" charset="0"/>
                <a:cs typeface="Times New Roman" panose="02020603050405020304" pitchFamily="18" charset="0"/>
              </a:rPr>
              <a:t>Ex: </a:t>
            </a:r>
            <a:r>
              <a:rPr lang="en-US" sz="1800" dirty="0" smtClean="0">
                <a:latin typeface="Lucida Bright" panose="02040602050505020304" pitchFamily="18" charset="0"/>
                <a:cs typeface="Times New Roman" panose="02020603050405020304" pitchFamily="18" charset="0"/>
              </a:rPr>
              <a:t> $</a:t>
            </a:r>
            <a:r>
              <a:rPr lang="en-US" sz="1800" dirty="0" err="1" smtClean="0">
                <a:latin typeface="Lucida Bright" panose="02040602050505020304" pitchFamily="18" charset="0"/>
                <a:cs typeface="Times New Roman" panose="02020603050405020304" pitchFamily="18" charset="0"/>
              </a:rPr>
              <a:t>sed</a:t>
            </a:r>
            <a:r>
              <a:rPr lang="en-US" sz="1800" dirty="0" smtClean="0">
                <a:latin typeface="Lucida Bright" panose="02040602050505020304" pitchFamily="18" charset="0"/>
                <a:cs typeface="Times New Roman" panose="02020603050405020304" pitchFamily="18" charset="0"/>
              </a:rPr>
              <a:t> –f script.sed twister.dat</a:t>
            </a:r>
          </a:p>
          <a:p>
            <a:pPr>
              <a:buNone/>
            </a:pPr>
            <a:r>
              <a:rPr lang="en-US" sz="1800" i="1" dirty="0" smtClean="0">
                <a:latin typeface="Lucida Bright" panose="02040602050505020304" pitchFamily="18" charset="0"/>
                <a:cs typeface="Times New Roman" panose="02020603050405020304" pitchFamily="18" charset="0"/>
              </a:rPr>
              <a:t>Script</a:t>
            </a:r>
            <a:r>
              <a:rPr lang="en-US" sz="1800" dirty="0" smtClean="0">
                <a:latin typeface="Lucida Bright" panose="02040602050505020304" pitchFamily="18" charset="0"/>
                <a:cs typeface="Times New Roman" panose="02020603050405020304" pitchFamily="18" charset="0"/>
              </a:rPr>
              <a:t>.sed</a:t>
            </a:r>
          </a:p>
          <a:p>
            <a:pPr>
              <a:buNone/>
            </a:pPr>
            <a:r>
              <a:rPr lang="en-US" sz="1800" dirty="0" smtClean="0">
                <a:latin typeface="Lucida Bright" panose="02040602050505020304" pitchFamily="18" charset="0"/>
                <a:cs typeface="Times New Roman" panose="02020603050405020304" pitchFamily="18" charset="0"/>
              </a:rPr>
              <a:t>5c\</a:t>
            </a:r>
          </a:p>
          <a:p>
            <a:pPr>
              <a:buNone/>
            </a:pPr>
            <a:r>
              <a:rPr lang="en-US" sz="1800" dirty="0" smtClean="0">
                <a:latin typeface="Lucida Bright" panose="02040602050505020304" pitchFamily="18" charset="0"/>
                <a:cs typeface="Times New Roman" panose="02020603050405020304" pitchFamily="18" charset="0"/>
              </a:rPr>
              <a:t>Red Blood Blue Blood\</a:t>
            </a:r>
          </a:p>
          <a:p>
            <a:pPr>
              <a:buNone/>
            </a:pPr>
            <a:r>
              <a:rPr lang="en-US" sz="1800" dirty="0" smtClean="0">
                <a:latin typeface="Lucida Bright" panose="02040602050505020304" pitchFamily="18" charset="0"/>
                <a:cs typeface="Times New Roman" panose="02020603050405020304" pitchFamily="18" charset="0"/>
              </a:rPr>
              <a:t>Deadly Dinosaurs Danced </a:t>
            </a:r>
            <a:r>
              <a:rPr lang="en-US" sz="1800" dirty="0" err="1" smtClean="0">
                <a:latin typeface="Lucida Bright" panose="02040602050505020304" pitchFamily="18" charset="0"/>
                <a:cs typeface="Times New Roman" panose="02020603050405020304" pitchFamily="18" charset="0"/>
              </a:rPr>
              <a:t>Dizzly</a:t>
            </a:r>
            <a:endParaRPr lang="en-US" sz="1800" dirty="0" smtClean="0">
              <a:latin typeface="Lucida Bright" panose="02040602050505020304" pitchFamily="18" charset="0"/>
              <a:cs typeface="Times New Roman" panose="02020603050405020304" pitchFamily="18" charset="0"/>
            </a:endParaRPr>
          </a:p>
          <a:p>
            <a:pPr>
              <a:buNone/>
            </a:pPr>
            <a:r>
              <a:rPr lang="en-US" sz="1800" dirty="0" smtClean="0">
                <a:latin typeface="Lucida Bright" panose="02040602050505020304" pitchFamily="18" charset="0"/>
                <a:cs typeface="Times New Roman" panose="02020603050405020304" pitchFamily="18" charset="0"/>
              </a:rPr>
              <a:t>o/p:</a:t>
            </a:r>
          </a:p>
          <a:p>
            <a:pPr>
              <a:lnSpc>
                <a:spcPct val="150000"/>
              </a:lnSpc>
              <a:buNone/>
            </a:pPr>
            <a:r>
              <a:rPr lang="en-US" sz="1800" dirty="0" smtClean="0">
                <a:latin typeface="Lucida Bright" panose="02040602050505020304" pitchFamily="18" charset="0"/>
              </a:rPr>
              <a:t>Bad Black Bread</a:t>
            </a:r>
          </a:p>
          <a:p>
            <a:pPr>
              <a:lnSpc>
                <a:spcPct val="150000"/>
              </a:lnSpc>
              <a:buNone/>
            </a:pPr>
            <a:r>
              <a:rPr lang="en-US" sz="1800" dirty="0" smtClean="0">
                <a:latin typeface="Lucida Bright" panose="02040602050505020304" pitchFamily="18" charset="0"/>
              </a:rPr>
              <a:t>Fresh Fried Fish</a:t>
            </a:r>
          </a:p>
        </p:txBody>
      </p:sp>
      <p:sp>
        <p:nvSpPr>
          <p:cNvPr id="102404"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a:p>
          <a:p>
            <a:pPr algn="ctr"/>
            <a:endParaRPr lang="en-US" sz="4000" dirty="0" smtClean="0"/>
          </a:p>
          <a:p>
            <a:pPr algn="ctr"/>
            <a:r>
              <a:rPr lang="en-US" sz="4000" dirty="0" smtClean="0"/>
              <a:t>Addresses </a:t>
            </a:r>
            <a:r>
              <a:rPr lang="en-US" sz="2400" dirty="0" smtClean="0"/>
              <a:t> </a:t>
            </a:r>
          </a:p>
          <a:p>
            <a:pPr algn="ctr"/>
            <a:endParaRPr lang="en-US" sz="2400" dirty="0"/>
          </a:p>
          <a:p>
            <a:pPr algn="ctr"/>
            <a:r>
              <a:rPr lang="en-US" sz="4000" dirty="0" smtClean="0"/>
              <a:t> </a:t>
            </a:r>
            <a:endParaRPr lang="en-US" sz="4000" dirty="0"/>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3"/>
          <p:cNvSpPr>
            <a:spLocks noGrp="1"/>
          </p:cNvSpPr>
          <p:nvPr>
            <p:ph idx="1"/>
          </p:nvPr>
        </p:nvSpPr>
        <p:spPr>
          <a:xfrm>
            <a:off x="0" y="838200"/>
            <a:ext cx="9144000" cy="6019800"/>
          </a:xfrm>
        </p:spPr>
        <p:txBody>
          <a:bodyPr/>
          <a:lstStyle/>
          <a:p>
            <a:pPr>
              <a:lnSpc>
                <a:spcPct val="150000"/>
              </a:lnSpc>
              <a:buNone/>
            </a:pPr>
            <a:r>
              <a:rPr lang="en-US" sz="1800" dirty="0" smtClean="0">
                <a:latin typeface="Lucida Bright" panose="02040602050505020304" pitchFamily="18" charset="0"/>
              </a:rPr>
              <a:t>Ex: to delete all the lines that starts with a capital letter either B or I</a:t>
            </a:r>
          </a:p>
          <a:p>
            <a:pPr>
              <a:lnSpc>
                <a:spcPct val="150000"/>
              </a:lnSpc>
              <a:buNone/>
            </a:pPr>
            <a:r>
              <a:rPr lang="en-US" sz="1800" dirty="0" smtClean="0">
                <a:latin typeface="Lucida Bright" panose="02040602050505020304" pitchFamily="18" charset="0"/>
              </a:rPr>
              <a:t>$</a:t>
            </a:r>
            <a:r>
              <a:rPr lang="en-US" sz="1800" dirty="0" err="1" smtClean="0">
                <a:latin typeface="Lucida Bright" panose="02040602050505020304" pitchFamily="18" charset="0"/>
              </a:rPr>
              <a:t>sed</a:t>
            </a:r>
            <a:r>
              <a:rPr lang="en-US" sz="1800" dirty="0" smtClean="0">
                <a:latin typeface="Lucida Bright" panose="02040602050505020304" pitchFamily="18" charset="0"/>
              </a:rPr>
              <a:t> ‘/^[BI]/d’  twister.dat</a:t>
            </a:r>
          </a:p>
          <a:p>
            <a:pPr>
              <a:lnSpc>
                <a:spcPct val="150000"/>
              </a:lnSpc>
              <a:buNone/>
            </a:pPr>
            <a:r>
              <a:rPr lang="en-US" sz="1800" dirty="0" smtClean="0">
                <a:latin typeface="Lucida Bright" panose="02040602050505020304" pitchFamily="18" charset="0"/>
              </a:rPr>
              <a:t>o/p:</a:t>
            </a:r>
          </a:p>
          <a:p>
            <a:pPr>
              <a:lnSpc>
                <a:spcPct val="150000"/>
              </a:lnSpc>
              <a:buNone/>
            </a:pPr>
            <a:r>
              <a:rPr lang="en-US" sz="1800" dirty="0" smtClean="0">
                <a:latin typeface="Lucida Bright" panose="02040602050505020304" pitchFamily="18" charset="0"/>
              </a:rPr>
              <a:t>Fresh Fried Fish</a:t>
            </a:r>
          </a:p>
          <a:p>
            <a:pPr>
              <a:lnSpc>
                <a:spcPct val="150000"/>
              </a:lnSpc>
              <a:buNone/>
            </a:pPr>
            <a:r>
              <a:rPr lang="en-US" sz="1800" dirty="0" smtClean="0">
                <a:latin typeface="Lucida Bright" panose="02040602050505020304" pitchFamily="18" charset="0"/>
              </a:rPr>
              <a:t>Six Thick Thistle Sticks</a:t>
            </a:r>
          </a:p>
          <a:p>
            <a:pPr>
              <a:lnSpc>
                <a:spcPct val="150000"/>
              </a:lnSpc>
              <a:buNone/>
            </a:pPr>
            <a:r>
              <a:rPr lang="en-US" sz="1800" dirty="0" smtClean="0">
                <a:latin typeface="Lucida Bright" panose="02040602050505020304" pitchFamily="18" charset="0"/>
              </a:rPr>
              <a:t>Short Socks with Spots</a:t>
            </a:r>
          </a:p>
          <a:p>
            <a:pPr>
              <a:lnSpc>
                <a:spcPct val="150000"/>
              </a:lnSpc>
              <a:buNone/>
            </a:pPr>
            <a:endParaRPr lang="en-US" sz="1800" dirty="0" smtClean="0">
              <a:latin typeface="Lucida Bright" panose="02040602050505020304" pitchFamily="18" charset="0"/>
            </a:endParaRPr>
          </a:p>
          <a:p>
            <a:pPr>
              <a:lnSpc>
                <a:spcPct val="150000"/>
              </a:lnSpc>
              <a:buNone/>
            </a:pPr>
            <a:endParaRPr lang="en-US" sz="1800" dirty="0" smtClean="0">
              <a:latin typeface="Lucida Bright" panose="02040602050505020304" pitchFamily="18" charset="0"/>
            </a:endParaRPr>
          </a:p>
          <a:p>
            <a:pPr>
              <a:lnSpc>
                <a:spcPct val="150000"/>
              </a:lnSpc>
              <a:buNone/>
            </a:pPr>
            <a:endParaRPr lang="en-US" sz="1800" dirty="0" smtClean="0">
              <a:latin typeface="Lucida Bright" panose="02040602050505020304" pitchFamily="18" charset="0"/>
            </a:endParaRPr>
          </a:p>
          <a:p>
            <a:pPr>
              <a:lnSpc>
                <a:spcPct val="150000"/>
              </a:lnSpc>
              <a:buFont typeface="Arial" panose="020B0604020202020204" pitchFamily="34" charset="0"/>
              <a:buNone/>
            </a:pPr>
            <a:endParaRPr lang="en-US" sz="1800" i="1" dirty="0" smtClean="0">
              <a:latin typeface="Lucida Bright" panose="02040602050505020304" pitchFamily="18" charset="0"/>
              <a:cs typeface="Times New Roman" panose="02020603050405020304" pitchFamily="18" charset="0"/>
            </a:endParaRPr>
          </a:p>
        </p:txBody>
      </p:sp>
      <p:sp>
        <p:nvSpPr>
          <p:cNvPr id="106500"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dirty="0" smtClean="0"/>
          </a:p>
          <a:p>
            <a:pPr algn="ctr"/>
            <a:r>
              <a:rPr lang="en-US" sz="4000" dirty="0" smtClean="0"/>
              <a:t> Commands </a:t>
            </a:r>
            <a:r>
              <a:rPr lang="en-US" sz="2400" dirty="0" smtClean="0"/>
              <a:t> </a:t>
            </a:r>
          </a:p>
          <a:p>
            <a:pPr algn="ctr"/>
            <a:endParaRPr lang="en-US" sz="4000" dirty="0"/>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0" y="838200"/>
            <a:ext cx="9296400" cy="6019800"/>
          </a:xfrm>
        </p:spPr>
        <p:txBody>
          <a:bodyPr rtlCol="0">
            <a:noAutofit/>
          </a:bodyPr>
          <a:lstStyle/>
          <a:p>
            <a:pPr marL="365760" indent="-255905" algn="just" eaLnBrk="1" fontAlgn="auto" hangingPunct="1">
              <a:lnSpc>
                <a:spcPct val="150000"/>
              </a:lnSpc>
              <a:spcAft>
                <a:spcPts val="600"/>
              </a:spcAft>
              <a:buFont typeface="Arial" panose="020B0604020202020204" pitchFamily="34" charset="0"/>
              <a:buNone/>
              <a:defRPr/>
            </a:pPr>
            <a:r>
              <a:rPr lang="en-US" sz="1800" b="1" dirty="0" smtClean="0">
                <a:latin typeface="Lucida Bright" panose="02040602050505020304" pitchFamily="18" charset="0"/>
                <a:cs typeface="Times New Roman" panose="02020603050405020304" pitchFamily="18" charset="0"/>
              </a:rPr>
              <a:t>Substitute command:</a:t>
            </a:r>
          </a:p>
          <a:p>
            <a:pPr marL="365760" indent="-255905" algn="just" eaLnBrk="1" fontAlgn="auto" hangingPunct="1">
              <a:lnSpc>
                <a:spcPct val="150000"/>
              </a:lnSpc>
              <a:spcAft>
                <a:spcPts val="600"/>
              </a:spcAft>
              <a:buFont typeface="Arial" panose="020B0604020202020204" pitchFamily="34" charset="0"/>
              <a:buNone/>
              <a:defRPr/>
            </a:pPr>
            <a:r>
              <a:rPr lang="en-US" sz="1800" dirty="0" smtClean="0">
                <a:latin typeface="Lucida Bright" panose="02040602050505020304" pitchFamily="18" charset="0"/>
                <a:cs typeface="Times New Roman" panose="02020603050405020304" pitchFamily="18" charset="0"/>
              </a:rPr>
              <a:t>The substitute command, replaces  the text matching the search pattern  with a replacement string.</a:t>
            </a:r>
          </a:p>
          <a:p>
            <a:pPr marL="365760" indent="-255905" algn="just" eaLnBrk="1" fontAlgn="auto" hangingPunct="1">
              <a:lnSpc>
                <a:spcPct val="150000"/>
              </a:lnSpc>
              <a:spcAft>
                <a:spcPts val="600"/>
              </a:spcAft>
              <a:buFont typeface="Arial" panose="020B0604020202020204" pitchFamily="34" charset="0"/>
              <a:buNone/>
              <a:defRPr/>
            </a:pPr>
            <a:r>
              <a:rPr lang="en-US" sz="1800" dirty="0" smtClean="0">
                <a:latin typeface="Lucida Bright" panose="02040602050505020304" pitchFamily="18" charset="0"/>
                <a:cs typeface="Times New Roman" panose="02020603050405020304" pitchFamily="18" charset="0"/>
              </a:rPr>
              <a:t>Syntax:</a:t>
            </a:r>
          </a:p>
          <a:p>
            <a:pPr>
              <a:lnSpc>
                <a:spcPct val="150000"/>
              </a:lnSpc>
              <a:defRPr/>
            </a:pPr>
            <a:r>
              <a:rPr lang="en-US" sz="1800" i="1" dirty="0" smtClean="0">
                <a:latin typeface="Lucida Bright" panose="02040602050505020304" pitchFamily="18" charset="0"/>
              </a:rPr>
              <a:t>[address(</a:t>
            </a:r>
            <a:r>
              <a:rPr lang="en-US" sz="1800" i="1" dirty="0" err="1" smtClean="0">
                <a:latin typeface="Lucida Bright" panose="02040602050505020304" pitchFamily="18" charset="0"/>
              </a:rPr>
              <a:t>es</a:t>
            </a:r>
            <a:r>
              <a:rPr lang="en-US" sz="1800" i="1" dirty="0" smtClean="0">
                <a:latin typeface="Lucida Bright" panose="02040602050505020304" pitchFamily="18" charset="0"/>
              </a:rPr>
              <a:t>)]s/pattern/replacement/[flags]</a:t>
            </a:r>
            <a:endParaRPr lang="en-US" sz="1800" dirty="0" smtClean="0">
              <a:latin typeface="Lucida Bright" panose="02040602050505020304" pitchFamily="18" charset="0"/>
            </a:endParaRPr>
          </a:p>
          <a:p>
            <a:pPr lvl="1">
              <a:lnSpc>
                <a:spcPct val="150000"/>
              </a:lnSpc>
              <a:defRPr/>
            </a:pPr>
            <a:r>
              <a:rPr lang="en-US" sz="1800" i="1" dirty="0" smtClean="0">
                <a:latin typeface="Lucida Bright" panose="02040602050505020304" pitchFamily="18" charset="0"/>
              </a:rPr>
              <a:t>pattern</a:t>
            </a:r>
            <a:r>
              <a:rPr lang="en-US" sz="1800" dirty="0" smtClean="0">
                <a:latin typeface="Lucida Bright" panose="02040602050505020304" pitchFamily="18" charset="0"/>
              </a:rPr>
              <a:t> - search pattern</a:t>
            </a:r>
          </a:p>
          <a:p>
            <a:pPr lvl="1">
              <a:lnSpc>
                <a:spcPct val="150000"/>
              </a:lnSpc>
              <a:defRPr/>
            </a:pPr>
            <a:r>
              <a:rPr lang="en-US" sz="1800" i="1" dirty="0" smtClean="0">
                <a:latin typeface="Lucida Bright" panose="02040602050505020304" pitchFamily="18" charset="0"/>
              </a:rPr>
              <a:t>replacement</a:t>
            </a:r>
            <a:r>
              <a:rPr lang="en-US" sz="1800" dirty="0" smtClean="0">
                <a:latin typeface="Lucida Bright" panose="02040602050505020304" pitchFamily="18" charset="0"/>
              </a:rPr>
              <a:t> - replacement string for pattern</a:t>
            </a:r>
          </a:p>
          <a:p>
            <a:pPr lvl="1">
              <a:lnSpc>
                <a:spcPct val="150000"/>
              </a:lnSpc>
              <a:defRPr/>
            </a:pPr>
            <a:r>
              <a:rPr lang="en-US" sz="1800" i="1" dirty="0" smtClean="0">
                <a:latin typeface="Lucida Bright" panose="02040602050505020304" pitchFamily="18" charset="0"/>
              </a:rPr>
              <a:t>flags</a:t>
            </a:r>
            <a:r>
              <a:rPr lang="en-US" sz="1800" dirty="0" smtClean="0">
                <a:latin typeface="Lucida Bright" panose="02040602050505020304" pitchFamily="18" charset="0"/>
              </a:rPr>
              <a:t> - optionally any of the following</a:t>
            </a:r>
          </a:p>
          <a:p>
            <a:pPr lvl="3">
              <a:buSzPct val="70000"/>
              <a:buFontTx/>
              <a:buChar char="•"/>
              <a:defRPr/>
            </a:pPr>
            <a:r>
              <a:rPr lang="en-US" sz="1800" b="1" dirty="0" smtClean="0">
                <a:latin typeface="Lucida Bright" panose="02040602050505020304" pitchFamily="18" charset="0"/>
              </a:rPr>
              <a:t>n</a:t>
            </a:r>
            <a:r>
              <a:rPr lang="en-US" sz="1800" dirty="0" smtClean="0">
                <a:latin typeface="Lucida Bright" panose="02040602050505020304" pitchFamily="18" charset="0"/>
              </a:rPr>
              <a:t>		it replaces only the specified occurrence of </a:t>
            </a:r>
            <a:r>
              <a:rPr lang="en-US" sz="1800" i="1" dirty="0" smtClean="0">
                <a:latin typeface="Lucida Bright" panose="02040602050505020304" pitchFamily="18" charset="0"/>
              </a:rPr>
              <a:t>pattern</a:t>
            </a:r>
          </a:p>
          <a:p>
            <a:pPr lvl="5">
              <a:buSzPct val="70000"/>
              <a:buFontTx/>
              <a:buChar char="•"/>
              <a:defRPr/>
            </a:pPr>
            <a:r>
              <a:rPr lang="en-US" sz="1800" dirty="0" smtClean="0">
                <a:latin typeface="Lucida Bright" panose="02040602050505020304" pitchFamily="18" charset="0"/>
              </a:rPr>
              <a:t>Here n is an integer</a:t>
            </a:r>
          </a:p>
          <a:p>
            <a:pPr lvl="3">
              <a:buSzPct val="70000"/>
              <a:buFontTx/>
              <a:buChar char="•"/>
              <a:defRPr/>
            </a:pPr>
            <a:r>
              <a:rPr lang="en-US" sz="1800" b="1" dirty="0" smtClean="0">
                <a:latin typeface="Lucida Bright" panose="02040602050505020304" pitchFamily="18" charset="0"/>
              </a:rPr>
              <a:t>g</a:t>
            </a:r>
            <a:r>
              <a:rPr lang="en-US" sz="1800" dirty="0" smtClean="0">
                <a:latin typeface="Lucida Bright" panose="02040602050505020304" pitchFamily="18" charset="0"/>
              </a:rPr>
              <a:t>		it replaces all occurrences of a </a:t>
            </a:r>
            <a:r>
              <a:rPr lang="en-US" sz="1800" i="1" dirty="0" smtClean="0">
                <a:latin typeface="Lucida Bright" panose="02040602050505020304" pitchFamily="18" charset="0"/>
              </a:rPr>
              <a:t>pattern</a:t>
            </a:r>
            <a:r>
              <a:rPr lang="en-US" sz="1800" dirty="0" smtClean="0">
                <a:latin typeface="Lucida Bright" panose="02040602050505020304" pitchFamily="18" charset="0"/>
              </a:rPr>
              <a:t> in pattern space</a:t>
            </a:r>
          </a:p>
          <a:p>
            <a:pPr lvl="5">
              <a:buSzPct val="70000"/>
              <a:buFontTx/>
              <a:buChar char="•"/>
              <a:defRPr/>
            </a:pPr>
            <a:r>
              <a:rPr lang="en-US" sz="1800" dirty="0" smtClean="0">
                <a:latin typeface="Lucida Bright" panose="02040602050505020304" pitchFamily="18" charset="0"/>
              </a:rPr>
              <a:t>By default it replaces the first occurrences of a pattern </a:t>
            </a:r>
          </a:p>
          <a:p>
            <a:pPr lvl="3">
              <a:buSzPct val="70000"/>
              <a:buFontTx/>
              <a:buChar char="•"/>
              <a:defRPr/>
            </a:pPr>
            <a:r>
              <a:rPr lang="en-US" sz="1800" b="1" dirty="0" smtClean="0">
                <a:latin typeface="Lucida Bright" panose="02040602050505020304" pitchFamily="18" charset="0"/>
              </a:rPr>
              <a:t>p</a:t>
            </a:r>
            <a:r>
              <a:rPr lang="en-US" sz="1800" dirty="0" smtClean="0">
                <a:latin typeface="Lucida Bright" panose="02040602050505020304" pitchFamily="18" charset="0"/>
              </a:rPr>
              <a:t>		print contents of pattern </a:t>
            </a:r>
            <a:r>
              <a:rPr lang="en-US" sz="1800" dirty="0" err="1" smtClean="0">
                <a:latin typeface="Lucida Bright" panose="02040602050505020304" pitchFamily="18" charset="0"/>
              </a:rPr>
              <a:t>spac</a:t>
            </a:r>
            <a:endParaRPr lang="en-US" sz="1800" dirty="0" smtClean="0">
              <a:latin typeface="Lucida Bright" panose="02040602050505020304" pitchFamily="18" charset="0"/>
            </a:endParaRPr>
          </a:p>
          <a:p>
            <a:pPr lvl="3">
              <a:buSzPct val="70000"/>
              <a:buFontTx/>
              <a:buChar char="•"/>
              <a:defRPr/>
            </a:pPr>
            <a:r>
              <a:rPr lang="en-US" sz="1800" dirty="0" smtClean="0">
                <a:latin typeface="Lucida Bright" panose="02040602050505020304" pitchFamily="18" charset="0"/>
              </a:rPr>
              <a:t>W          it writes a file</a:t>
            </a:r>
          </a:p>
          <a:p>
            <a:pPr marL="365760" indent="-255905" algn="just" eaLnBrk="1" fontAlgn="auto" hangingPunct="1">
              <a:lnSpc>
                <a:spcPct val="150000"/>
              </a:lnSpc>
              <a:spcAft>
                <a:spcPts val="600"/>
              </a:spcAft>
              <a:buFont typeface="Arial" panose="020B0604020202020204" pitchFamily="34" charset="0"/>
              <a:buNone/>
              <a:defRPr/>
            </a:pPr>
            <a:endParaRPr lang="en-US" sz="1800" dirty="0" smtClean="0">
              <a:latin typeface="Lucida Bright" panose="02040602050505020304" pitchFamily="18" charset="0"/>
              <a:cs typeface="Times New Roman" panose="02020603050405020304" pitchFamily="18" charset="0"/>
            </a:endParaRPr>
          </a:p>
        </p:txBody>
      </p:sp>
      <p:sp>
        <p:nvSpPr>
          <p:cNvPr id="109572"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dirty="0" smtClean="0"/>
              <a:t>Commands </a:t>
            </a:r>
            <a:r>
              <a:rPr lang="en-US" sz="2400" dirty="0" smtClean="0"/>
              <a:t> </a:t>
            </a:r>
          </a:p>
          <a:p>
            <a:pPr algn="ctr"/>
            <a:endParaRPr lang="en-US" sz="2400" dirty="0"/>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8"/>
          <p:cNvSpPr>
            <a:spLocks noGrp="1"/>
          </p:cNvSpPr>
          <p:nvPr>
            <p:ph type="title"/>
          </p:nvPr>
        </p:nvSpPr>
        <p:spPr>
          <a:xfrm>
            <a:off x="0" y="762000"/>
            <a:ext cx="9144000" cy="762000"/>
          </a:xfrm>
        </p:spPr>
        <p:txBody>
          <a:bodyPr/>
          <a:lstStyle/>
          <a:p>
            <a:r>
              <a:rPr lang="en-US" sz="1800" dirty="0" smtClean="0">
                <a:latin typeface="Lucida Bright" panose="02040602050505020304" pitchFamily="18" charset="0"/>
              </a:rPr>
              <a:t>The </a:t>
            </a:r>
            <a:r>
              <a:rPr lang="en-US" sz="1800" dirty="0" err="1" smtClean="0">
                <a:latin typeface="Lucida Bright" panose="02040602050505020304" pitchFamily="18" charset="0"/>
              </a:rPr>
              <a:t>awk</a:t>
            </a:r>
            <a:r>
              <a:rPr lang="en-US" sz="1800" dirty="0" smtClean="0">
                <a:latin typeface="Lucida Bright" panose="02040602050505020304" pitchFamily="18" charset="0"/>
              </a:rPr>
              <a:t> utility, which takes its name from  the initials of its authors (</a:t>
            </a:r>
            <a:r>
              <a:rPr lang="en-US" sz="1800" dirty="0" err="1" smtClean="0">
                <a:latin typeface="Lucida Bright" panose="02040602050505020304" pitchFamily="18" charset="0"/>
              </a:rPr>
              <a:t>Aho</a:t>
            </a:r>
            <a:r>
              <a:rPr lang="en-US" sz="1800" dirty="0" smtClean="0">
                <a:latin typeface="Lucida Bright" panose="02040602050505020304" pitchFamily="18" charset="0"/>
              </a:rPr>
              <a:t>, Weinberger, and Kernighan), is a powerful programming language.</a:t>
            </a:r>
          </a:p>
        </p:txBody>
      </p:sp>
      <p:sp>
        <p:nvSpPr>
          <p:cNvPr id="119812"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Awk</a:t>
            </a:r>
          </a:p>
        </p:txBody>
      </p:sp>
      <p:pic>
        <p:nvPicPr>
          <p:cNvPr id="119813" name="Picture 4"/>
          <p:cNvPicPr>
            <a:picLocks noGrp="1" noChangeAspect="1" noChangeArrowheads="1"/>
          </p:cNvPicPr>
          <p:nvPr>
            <p:ph idx="1"/>
          </p:nvPr>
        </p:nvPicPr>
        <p:blipFill>
          <a:blip r:embed="rId2"/>
          <a:srcRect/>
          <a:stretch>
            <a:fillRect/>
          </a:stretch>
        </p:blipFill>
        <p:spPr>
          <a:xfrm>
            <a:off x="533400" y="1905000"/>
            <a:ext cx="8077200" cy="4484688"/>
          </a:xfrm>
          <a:noFill/>
        </p:spPr>
      </p:pic>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Content Placeholder 7"/>
          <p:cNvSpPr>
            <a:spLocks noGrp="1"/>
          </p:cNvSpPr>
          <p:nvPr>
            <p:ph idx="1"/>
          </p:nvPr>
        </p:nvSpPr>
        <p:spPr>
          <a:xfrm>
            <a:off x="0" y="990600"/>
            <a:ext cx="9144000" cy="5867400"/>
          </a:xfrm>
        </p:spPr>
        <p:txBody>
          <a:bodyPr/>
          <a:lstStyle/>
          <a:p>
            <a:pPr eaLnBrk="1" hangingPunct="1">
              <a:lnSpc>
                <a:spcPct val="150000"/>
              </a:lnSpc>
              <a:buFontTx/>
              <a:buNone/>
            </a:pPr>
            <a:r>
              <a:rPr lang="en-US" sz="1800" dirty="0" smtClean="0">
                <a:latin typeface="Lucida Bright" panose="02040602050505020304" pitchFamily="18" charset="0"/>
              </a:rPr>
              <a:t> In addition to input data, </a:t>
            </a:r>
            <a:r>
              <a:rPr lang="en-US" sz="1800" dirty="0" err="1" smtClean="0">
                <a:latin typeface="Lucida Bright" panose="02040602050505020304" pitchFamily="18" charset="0"/>
              </a:rPr>
              <a:t>awk</a:t>
            </a:r>
            <a:r>
              <a:rPr lang="en-US" sz="1800" dirty="0" smtClean="0">
                <a:latin typeface="Lucida Bright" panose="02040602050505020304" pitchFamily="18" charset="0"/>
              </a:rPr>
              <a:t> also requires one or more instructions that provide editing instructions.</a:t>
            </a:r>
          </a:p>
          <a:p>
            <a:pPr eaLnBrk="1" hangingPunct="1">
              <a:lnSpc>
                <a:spcPct val="150000"/>
              </a:lnSpc>
              <a:buFontTx/>
              <a:buNone/>
            </a:pPr>
            <a:r>
              <a:rPr lang="en-US" sz="1800" dirty="0" smtClean="0">
                <a:latin typeface="Lucida Bright" panose="02040602050505020304" pitchFamily="18" charset="0"/>
              </a:rPr>
              <a:t>    A few instructions can be entered at the command line from the keyboard.</a:t>
            </a:r>
          </a:p>
          <a:p>
            <a:pPr eaLnBrk="1" hangingPunct="1">
              <a:lnSpc>
                <a:spcPct val="150000"/>
              </a:lnSpc>
              <a:buFontTx/>
              <a:buNone/>
            </a:pPr>
            <a:r>
              <a:rPr lang="en-US" sz="1800" dirty="0" smtClean="0">
                <a:latin typeface="Lucida Bright" panose="02040602050505020304" pitchFamily="18" charset="0"/>
              </a:rPr>
              <a:t>    Most of the time, the instructions are placed in  a file known as an </a:t>
            </a:r>
            <a:r>
              <a:rPr lang="en-US" sz="1800" dirty="0" err="1" smtClean="0">
                <a:latin typeface="Lucida Bright" panose="02040602050505020304" pitchFamily="18" charset="0"/>
              </a:rPr>
              <a:t>awk</a:t>
            </a:r>
            <a:r>
              <a:rPr lang="en-US" sz="1800" dirty="0" smtClean="0">
                <a:latin typeface="Lucida Bright" panose="02040602050505020304" pitchFamily="18" charset="0"/>
              </a:rPr>
              <a:t> script.</a:t>
            </a:r>
          </a:p>
          <a:p>
            <a:pPr eaLnBrk="1" hangingPunct="1">
              <a:lnSpc>
                <a:spcPct val="150000"/>
              </a:lnSpc>
              <a:buFontTx/>
              <a:buNone/>
            </a:pPr>
            <a:r>
              <a:rPr lang="en-US" sz="1800" dirty="0" smtClean="0">
                <a:latin typeface="Lucida Bright" panose="02040602050505020304" pitchFamily="18" charset="0"/>
              </a:rPr>
              <a:t>    Syntax</a:t>
            </a:r>
          </a:p>
          <a:p>
            <a:pPr eaLnBrk="1" hangingPunct="1">
              <a:lnSpc>
                <a:spcPct val="150000"/>
              </a:lnSpc>
              <a:buFontTx/>
              <a:buNone/>
            </a:pPr>
            <a:r>
              <a:rPr lang="en-US" sz="1800" dirty="0" smtClean="0">
                <a:latin typeface="Lucida Bright" panose="02040602050505020304" pitchFamily="18" charset="0"/>
              </a:rPr>
              <a:t>$</a:t>
            </a:r>
            <a:r>
              <a:rPr lang="en-US" sz="1800" dirty="0" err="1" smtClean="0">
                <a:latin typeface="Lucida Bright" panose="02040602050505020304" pitchFamily="18" charset="0"/>
              </a:rPr>
              <a:t>awk</a:t>
            </a:r>
            <a:r>
              <a:rPr lang="en-US" sz="1800" dirty="0" smtClean="0">
                <a:latin typeface="Lucida Bright" panose="02040602050505020304" pitchFamily="18" charset="0"/>
              </a:rPr>
              <a:t> options </a:t>
            </a:r>
            <a:r>
              <a:rPr lang="en-US" sz="1800" dirty="0" err="1" smtClean="0">
                <a:latin typeface="Lucida Bright" panose="02040602050505020304" pitchFamily="18" charset="0"/>
              </a:rPr>
              <a:t>awk</a:t>
            </a:r>
            <a:r>
              <a:rPr lang="en-US" sz="1800" dirty="0" smtClean="0">
                <a:latin typeface="Lucida Bright" panose="02040602050505020304" pitchFamily="18" charset="0"/>
              </a:rPr>
              <a:t> scripts file(s)</a:t>
            </a:r>
          </a:p>
          <a:p>
            <a:pPr eaLnBrk="1" hangingPunct="1">
              <a:lnSpc>
                <a:spcPct val="150000"/>
              </a:lnSpc>
              <a:buFontTx/>
              <a:buNone/>
            </a:pPr>
            <a:r>
              <a:rPr lang="en-US" sz="1800" dirty="0" smtClean="0">
                <a:latin typeface="Lucida Bright" panose="02040602050505020304" pitchFamily="18" charset="0"/>
              </a:rPr>
              <a:t>Options</a:t>
            </a:r>
          </a:p>
          <a:p>
            <a:pPr eaLnBrk="1" hangingPunct="1">
              <a:lnSpc>
                <a:spcPct val="150000"/>
              </a:lnSpc>
              <a:buFont typeface="Arial" panose="020B0604020202020204" pitchFamily="34" charset="0"/>
              <a:buNone/>
            </a:pPr>
            <a:r>
              <a:rPr lang="en-US" sz="1800" dirty="0" smtClean="0">
                <a:latin typeface="Lucida Bright" panose="02040602050505020304" pitchFamily="18" charset="0"/>
              </a:rPr>
              <a:t>-f: it indicates that script is in a file which immediately follows this option.</a:t>
            </a:r>
          </a:p>
          <a:p>
            <a:pPr eaLnBrk="1" hangingPunct="1">
              <a:lnSpc>
                <a:spcPct val="150000"/>
              </a:lnSpc>
              <a:buFontTx/>
              <a:buNone/>
            </a:pPr>
            <a:r>
              <a:rPr lang="en-US" sz="1800" dirty="0" smtClean="0">
                <a:latin typeface="Lucida Bright" panose="02040602050505020304" pitchFamily="18" charset="0"/>
              </a:rPr>
              <a:t>-F:this option specifies the input field </a:t>
            </a:r>
            <a:r>
              <a:rPr lang="en-US" sz="1800" dirty="0" err="1" smtClean="0">
                <a:latin typeface="Lucida Bright" panose="02040602050505020304" pitchFamily="18" charset="0"/>
              </a:rPr>
              <a:t>seperator</a:t>
            </a:r>
            <a:r>
              <a:rPr lang="en-US" sz="1800" dirty="0" smtClean="0">
                <a:latin typeface="Lucida Bright" panose="02040602050505020304" pitchFamily="18" charset="0"/>
              </a:rPr>
              <a:t>. By default, it is space or a tab.</a:t>
            </a:r>
          </a:p>
          <a:p>
            <a:pPr eaLnBrk="1" hangingPunct="1">
              <a:lnSpc>
                <a:spcPct val="150000"/>
              </a:lnSpc>
              <a:buFontTx/>
              <a:buNone/>
            </a:pPr>
            <a:endParaRPr lang="en-US" sz="1800" dirty="0" smtClean="0">
              <a:latin typeface="Lucida Bright" panose="02040602050505020304" pitchFamily="18" charset="0"/>
            </a:endParaRPr>
          </a:p>
          <a:p>
            <a:pPr eaLnBrk="1" hangingPunct="1">
              <a:lnSpc>
                <a:spcPct val="150000"/>
              </a:lnSpc>
              <a:buFontTx/>
              <a:buNone/>
            </a:pPr>
            <a:endParaRPr lang="en-US" sz="1800" dirty="0" smtClean="0">
              <a:latin typeface="Lucida Bright" panose="02040602050505020304" pitchFamily="18" charset="0"/>
            </a:endParaRPr>
          </a:p>
          <a:p>
            <a:pPr eaLnBrk="1" hangingPunct="1">
              <a:lnSpc>
                <a:spcPct val="150000"/>
              </a:lnSpc>
              <a:buFontTx/>
              <a:buNone/>
            </a:pPr>
            <a:endParaRPr lang="en-US" sz="1800" dirty="0" smtClean="0">
              <a:latin typeface="Lucida Bright" panose="02040602050505020304" pitchFamily="18" charset="0"/>
            </a:endParaRPr>
          </a:p>
          <a:p>
            <a:pPr eaLnBrk="1" hangingPunct="1">
              <a:lnSpc>
                <a:spcPct val="150000"/>
              </a:lnSpc>
              <a:buFontTx/>
              <a:buNone/>
            </a:pPr>
            <a:endParaRPr lang="en-US" sz="1800" dirty="0" smtClean="0">
              <a:latin typeface="Lucida Bright" panose="02040602050505020304" pitchFamily="18" charset="0"/>
            </a:endParaRPr>
          </a:p>
        </p:txBody>
      </p:sp>
      <p:sp>
        <p:nvSpPr>
          <p:cNvPr id="120836"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Execution</a:t>
            </a: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75" y="1600200"/>
            <a:ext cx="8131175" cy="5897563"/>
          </a:xfrm>
        </p:spPr>
        <p:txBody>
          <a:bodyPr/>
          <a:lstStyle/>
          <a:p>
            <a:r>
              <a:rPr lang="en-IN" sz="2200" b="1" dirty="0" smtClean="0">
                <a:solidFill>
                  <a:srgbClr val="FF0000"/>
                </a:solidFill>
                <a:latin typeface="+mj-lt"/>
              </a:rPr>
              <a:t>AWK Examples:</a:t>
            </a:r>
          </a:p>
          <a:p>
            <a:pPr marL="0" indent="0">
              <a:buNone/>
            </a:pPr>
            <a:r>
              <a:rPr lang="en-IN" sz="2200" dirty="0" smtClean="0">
                <a:latin typeface="+mj-lt"/>
              </a:rPr>
              <a:t>$cat&gt;employee.txt</a:t>
            </a:r>
          </a:p>
          <a:p>
            <a:pPr marL="0" indent="0">
              <a:buNone/>
            </a:pPr>
            <a:r>
              <a:rPr lang="en-IN" sz="2200" dirty="0" smtClean="0">
                <a:latin typeface="+mj-lt"/>
              </a:rPr>
              <a:t>$</a:t>
            </a:r>
            <a:r>
              <a:rPr lang="en-IN" sz="2200" dirty="0" err="1" smtClean="0">
                <a:latin typeface="+mj-lt"/>
              </a:rPr>
              <a:t>awk</a:t>
            </a:r>
            <a:r>
              <a:rPr lang="en-IN" sz="2200" dirty="0" smtClean="0">
                <a:latin typeface="+mj-lt"/>
              </a:rPr>
              <a:t> </a:t>
            </a:r>
            <a:r>
              <a:rPr lang="en-IN" sz="2200" dirty="0">
                <a:latin typeface="+mj-lt"/>
              </a:rPr>
              <a:t>'{print}' </a:t>
            </a:r>
            <a:r>
              <a:rPr lang="en-IN" sz="2200" dirty="0" smtClean="0">
                <a:latin typeface="+mj-lt"/>
              </a:rPr>
              <a:t>employee.txt (</a:t>
            </a:r>
            <a:r>
              <a:rPr lang="en-IN" sz="2200" dirty="0">
                <a:latin typeface="+mj-lt"/>
              </a:rPr>
              <a:t>Print All </a:t>
            </a:r>
            <a:r>
              <a:rPr lang="en-IN" sz="2200" dirty="0" smtClean="0">
                <a:latin typeface="+mj-lt"/>
              </a:rPr>
              <a:t>Lines)</a:t>
            </a:r>
          </a:p>
          <a:p>
            <a:pPr marL="0" indent="0">
              <a:buNone/>
            </a:pPr>
            <a:r>
              <a:rPr lang="en-IN" sz="2200" dirty="0" smtClean="0">
                <a:latin typeface="+mj-lt"/>
              </a:rPr>
              <a:t>$</a:t>
            </a:r>
            <a:r>
              <a:rPr lang="en-US" sz="2200" dirty="0" err="1">
                <a:latin typeface="+mj-lt"/>
              </a:rPr>
              <a:t>awk</a:t>
            </a:r>
            <a:r>
              <a:rPr lang="en-US" sz="2200" dirty="0">
                <a:latin typeface="+mj-lt"/>
              </a:rPr>
              <a:t> '{print $1,$4}' </a:t>
            </a:r>
            <a:r>
              <a:rPr lang="en-US" sz="2200" dirty="0" smtClean="0">
                <a:latin typeface="+mj-lt"/>
              </a:rPr>
              <a:t>employee.txt(</a:t>
            </a:r>
            <a:r>
              <a:rPr lang="en-IN" sz="2200" dirty="0">
                <a:latin typeface="+mj-lt"/>
              </a:rPr>
              <a:t>Print Specific </a:t>
            </a:r>
            <a:r>
              <a:rPr lang="en-IN" sz="2200" dirty="0" smtClean="0">
                <a:latin typeface="+mj-lt"/>
              </a:rPr>
              <a:t>Columns</a:t>
            </a:r>
            <a:r>
              <a:rPr lang="en-US" sz="2200" dirty="0" smtClean="0">
                <a:latin typeface="+mj-lt"/>
              </a:rPr>
              <a:t>)</a:t>
            </a:r>
            <a:endParaRPr lang="en-IN" sz="2200" dirty="0" smtClean="0">
              <a:latin typeface="+mj-lt"/>
            </a:endParaRPr>
          </a:p>
          <a:p>
            <a:pPr marL="0" indent="0">
              <a:buNone/>
            </a:pPr>
            <a:r>
              <a:rPr lang="en-IN" sz="2200" dirty="0" smtClean="0">
                <a:latin typeface="+mj-lt"/>
              </a:rPr>
              <a:t>$</a:t>
            </a:r>
            <a:r>
              <a:rPr lang="en-US" sz="2200" dirty="0" err="1">
                <a:latin typeface="+mj-lt"/>
              </a:rPr>
              <a:t>awk</a:t>
            </a:r>
            <a:r>
              <a:rPr lang="en-US" sz="2200" dirty="0">
                <a:latin typeface="+mj-lt"/>
              </a:rPr>
              <a:t> '{print NR,$0}' </a:t>
            </a:r>
            <a:r>
              <a:rPr lang="en-US" sz="2200" dirty="0" smtClean="0">
                <a:latin typeface="+mj-lt"/>
              </a:rPr>
              <a:t>employee.txt(</a:t>
            </a:r>
            <a:r>
              <a:rPr lang="en-IN" sz="2200" dirty="0" smtClean="0">
                <a:latin typeface="+mj-lt"/>
              </a:rPr>
              <a:t>Display Line Number</a:t>
            </a:r>
            <a:r>
              <a:rPr lang="en-US" sz="2200" dirty="0" smtClean="0">
                <a:latin typeface="+mj-lt"/>
              </a:rPr>
              <a:t>)</a:t>
            </a:r>
            <a:endParaRPr lang="en-IN" sz="2200" dirty="0" smtClean="0">
              <a:latin typeface="+mj-lt"/>
            </a:endParaRPr>
          </a:p>
          <a:p>
            <a:pPr marL="0" indent="0">
              <a:buNone/>
            </a:pPr>
            <a:r>
              <a:rPr lang="en-IN" sz="2200" dirty="0">
                <a:latin typeface="+mj-lt"/>
              </a:rPr>
              <a:t>$</a:t>
            </a:r>
            <a:r>
              <a:rPr lang="en-IN" sz="2200" dirty="0" err="1">
                <a:latin typeface="+mj-lt"/>
              </a:rPr>
              <a:t>awk</a:t>
            </a:r>
            <a:r>
              <a:rPr lang="en-IN" sz="2200" dirty="0">
                <a:latin typeface="+mj-lt"/>
              </a:rPr>
              <a:t> '/manager/ {print}' </a:t>
            </a:r>
            <a:r>
              <a:rPr lang="en-IN" sz="2200" dirty="0" smtClean="0">
                <a:latin typeface="+mj-lt"/>
              </a:rPr>
              <a:t>employee.txt(</a:t>
            </a:r>
            <a:r>
              <a:rPr lang="en-US" sz="2200" dirty="0">
                <a:latin typeface="+mj-lt"/>
              </a:rPr>
              <a:t>Search Lines with a </a:t>
            </a:r>
            <a:r>
              <a:rPr lang="en-US" sz="2200" dirty="0" smtClean="0">
                <a:latin typeface="+mj-lt"/>
              </a:rPr>
              <a:t>Keyword</a:t>
            </a:r>
            <a:r>
              <a:rPr lang="en-IN" sz="2200" dirty="0" smtClean="0">
                <a:latin typeface="+mj-lt"/>
              </a:rPr>
              <a:t>)</a:t>
            </a:r>
          </a:p>
          <a:p>
            <a:pPr marL="0" indent="0">
              <a:buNone/>
            </a:pPr>
            <a:r>
              <a:rPr lang="en-IN" sz="2200" dirty="0" smtClean="0">
                <a:latin typeface="+mj-lt"/>
              </a:rPr>
              <a:t>$</a:t>
            </a:r>
            <a:r>
              <a:rPr lang="en-US" sz="2200" dirty="0" err="1">
                <a:latin typeface="+mj-lt"/>
              </a:rPr>
              <a:t>awk</a:t>
            </a:r>
            <a:r>
              <a:rPr lang="en-US" sz="2200" dirty="0">
                <a:latin typeface="+mj-lt"/>
              </a:rPr>
              <a:t> -F' ' '{print $1, $4}' </a:t>
            </a:r>
            <a:r>
              <a:rPr lang="en-US" sz="2200" dirty="0" smtClean="0">
                <a:latin typeface="+mj-lt"/>
              </a:rPr>
              <a:t>employee.txt(sets </a:t>
            </a:r>
            <a:r>
              <a:rPr lang="en-US" sz="2200" dirty="0">
                <a:latin typeface="+mj-lt"/>
              </a:rPr>
              <a:t>a custom field </a:t>
            </a:r>
            <a:r>
              <a:rPr lang="en-US" sz="2200" dirty="0" smtClean="0">
                <a:latin typeface="+mj-lt"/>
              </a:rPr>
              <a:t>separator)</a:t>
            </a:r>
            <a:endParaRPr lang="en-IN" sz="2200" dirty="0" smtClean="0">
              <a:latin typeface="+mj-lt"/>
            </a:endParaRPr>
          </a:p>
          <a:p>
            <a:pPr marL="0" indent="0">
              <a:buNone/>
            </a:pPr>
            <a:r>
              <a:rPr lang="en-IN" sz="2200" dirty="0" smtClean="0">
                <a:latin typeface="+mj-lt"/>
              </a:rPr>
              <a:t>$</a:t>
            </a:r>
            <a:r>
              <a:rPr lang="en-IN" sz="2200" dirty="0" err="1" smtClean="0">
                <a:latin typeface="+mj-lt"/>
              </a:rPr>
              <a:t>nano</a:t>
            </a:r>
            <a:r>
              <a:rPr lang="en-IN" sz="2200" dirty="0" smtClean="0">
                <a:latin typeface="+mj-lt"/>
              </a:rPr>
              <a:t> </a:t>
            </a:r>
            <a:r>
              <a:rPr lang="en-IN" sz="2200" dirty="0" err="1" smtClean="0">
                <a:latin typeface="+mj-lt"/>
              </a:rPr>
              <a:t>print_sal.awk</a:t>
            </a:r>
            <a:r>
              <a:rPr lang="en-IN" sz="2200" dirty="0" smtClean="0">
                <a:latin typeface="+mj-lt"/>
              </a:rPr>
              <a:t>  </a:t>
            </a:r>
            <a:r>
              <a:rPr lang="en-IN" sz="2200" dirty="0" smtClean="0">
                <a:latin typeface="+mj-lt"/>
                <a:sym typeface="Wingdings" panose="05000000000000000000" pitchFamily="2" charset="2"/>
              </a:rPr>
              <a:t> </a:t>
            </a:r>
            <a:r>
              <a:rPr lang="en-US" sz="2200" dirty="0" smtClean="0">
                <a:latin typeface="+mj-lt"/>
              </a:rPr>
              <a:t>{ </a:t>
            </a:r>
            <a:r>
              <a:rPr lang="en-US" sz="2200" dirty="0">
                <a:latin typeface="+mj-lt"/>
              </a:rPr>
              <a:t>print $1, "has salary", $4 }</a:t>
            </a:r>
            <a:endParaRPr lang="en-IN" sz="2200" dirty="0" smtClean="0">
              <a:latin typeface="+mj-lt"/>
            </a:endParaRPr>
          </a:p>
          <a:p>
            <a:pPr marL="0" indent="0">
              <a:buNone/>
            </a:pPr>
            <a:r>
              <a:rPr lang="en-IN" sz="2200" dirty="0">
                <a:latin typeface="+mj-lt"/>
              </a:rPr>
              <a:t>$</a:t>
            </a:r>
            <a:r>
              <a:rPr lang="en-IN" sz="2200" dirty="0" err="1">
                <a:latin typeface="+mj-lt"/>
              </a:rPr>
              <a:t>awk</a:t>
            </a:r>
            <a:r>
              <a:rPr lang="en-IN" sz="2200" dirty="0">
                <a:latin typeface="+mj-lt"/>
              </a:rPr>
              <a:t> -f </a:t>
            </a:r>
            <a:r>
              <a:rPr lang="en-IN" sz="2200" dirty="0" err="1">
                <a:latin typeface="+mj-lt"/>
              </a:rPr>
              <a:t>print_salary.awk</a:t>
            </a:r>
            <a:r>
              <a:rPr lang="en-IN" sz="2200" dirty="0">
                <a:latin typeface="+mj-lt"/>
              </a:rPr>
              <a:t> </a:t>
            </a:r>
            <a:r>
              <a:rPr lang="en-IN" sz="2200" dirty="0" smtClean="0">
                <a:latin typeface="+mj-lt"/>
              </a:rPr>
              <a:t>employee.txt</a:t>
            </a:r>
          </a:p>
          <a:p>
            <a:pPr marL="0" indent="0">
              <a:buNone/>
            </a:pPr>
            <a:r>
              <a:rPr lang="en-IN" sz="2200" dirty="0" smtClean="0">
                <a:latin typeface="+mj-lt"/>
              </a:rPr>
              <a:t>$</a:t>
            </a:r>
            <a:r>
              <a:rPr lang="en-US" sz="2200" dirty="0" err="1">
                <a:latin typeface="+mj-lt"/>
              </a:rPr>
              <a:t>awk</a:t>
            </a:r>
            <a:r>
              <a:rPr lang="en-US" sz="2200" dirty="0">
                <a:latin typeface="+mj-lt"/>
              </a:rPr>
              <a:t> -v limit=40000 '$4 &gt; limit {print $1, $4}' employee.txt</a:t>
            </a:r>
            <a:endParaRPr lang="en-IN" sz="2200" dirty="0">
              <a:latin typeface="+mj-lt"/>
            </a:endParaRPr>
          </a:p>
        </p:txBody>
      </p:sp>
      <p:sp>
        <p:nvSpPr>
          <p:cNvPr id="7" name="AutoShape 4" descr="fi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fil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descr="fil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p:cNvPicPr>
            <a:picLocks noChangeAspect="1"/>
          </p:cNvPicPr>
          <p:nvPr/>
        </p:nvPicPr>
        <p:blipFill>
          <a:blip r:embed="rId2"/>
          <a:stretch>
            <a:fillRect/>
          </a:stretch>
        </p:blipFill>
        <p:spPr>
          <a:xfrm>
            <a:off x="4641166" y="180266"/>
            <a:ext cx="3943350" cy="2124075"/>
          </a:xfrm>
          <a:prstGeom prst="rect">
            <a:avLst/>
          </a:prstGeom>
        </p:spPr>
      </p:pic>
    </p:spTree>
    <p:extLst>
      <p:ext uri="{BB962C8B-B14F-4D97-AF65-F5344CB8AC3E}">
        <p14:creationId xmlns:p14="http://schemas.microsoft.com/office/powerpoint/2010/main" val="14237699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Content Placeholder 7"/>
          <p:cNvSpPr>
            <a:spLocks noGrp="1"/>
          </p:cNvSpPr>
          <p:nvPr>
            <p:ph idx="1"/>
          </p:nvPr>
        </p:nvSpPr>
        <p:spPr>
          <a:xfrm>
            <a:off x="0" y="838200"/>
            <a:ext cx="9144000" cy="5287963"/>
          </a:xfrm>
        </p:spPr>
        <p:txBody>
          <a:bodyPr/>
          <a:lstStyle/>
          <a:p>
            <a:pPr eaLnBrk="1" hangingPunct="1">
              <a:lnSpc>
                <a:spcPct val="150000"/>
              </a:lnSpc>
              <a:buFontTx/>
              <a:buNone/>
            </a:pPr>
            <a:r>
              <a:rPr lang="en-US" sz="1800" dirty="0" smtClean="0">
                <a:latin typeface="Lucida Bright" panose="02040602050505020304" pitchFamily="18" charset="0"/>
              </a:rPr>
              <a:t> The </a:t>
            </a:r>
            <a:r>
              <a:rPr lang="en-US" sz="1800" dirty="0" err="1" smtClean="0">
                <a:latin typeface="Lucida Bright" panose="02040602050505020304" pitchFamily="18" charset="0"/>
              </a:rPr>
              <a:t>awk</a:t>
            </a:r>
            <a:r>
              <a:rPr lang="en-US" sz="1800" dirty="0" smtClean="0">
                <a:latin typeface="Lucida Bright" panose="02040602050505020304" pitchFamily="18" charset="0"/>
              </a:rPr>
              <a:t> utility views a file as a collection of fields and records.</a:t>
            </a:r>
          </a:p>
          <a:p>
            <a:pPr eaLnBrk="1" hangingPunct="1">
              <a:lnSpc>
                <a:spcPct val="150000"/>
              </a:lnSpc>
              <a:buFontTx/>
              <a:buNone/>
            </a:pPr>
            <a:r>
              <a:rPr lang="en-US" sz="1800" dirty="0" smtClean="0">
                <a:latin typeface="Lucida Bright" panose="02040602050505020304" pitchFamily="18" charset="0"/>
              </a:rPr>
              <a:t>    A field is a unit of data that has informational content.</a:t>
            </a:r>
          </a:p>
          <a:p>
            <a:pPr eaLnBrk="1" hangingPunct="1">
              <a:lnSpc>
                <a:spcPct val="150000"/>
              </a:lnSpc>
              <a:buFontTx/>
              <a:buNone/>
            </a:pPr>
            <a:r>
              <a:rPr lang="en-US" sz="1800" dirty="0" smtClean="0">
                <a:latin typeface="Lucida Bright" panose="02040602050505020304" pitchFamily="18" charset="0"/>
              </a:rPr>
              <a:t>    Each field of information  is separated by one or more whitespace characters or other separator.</a:t>
            </a:r>
          </a:p>
          <a:p>
            <a:pPr eaLnBrk="1" hangingPunct="1">
              <a:lnSpc>
                <a:spcPct val="150000"/>
              </a:lnSpc>
              <a:buFontTx/>
              <a:buNone/>
            </a:pPr>
            <a:r>
              <a:rPr lang="en-US" sz="1800" dirty="0" smtClean="0">
                <a:latin typeface="Lucida Bright" panose="02040602050505020304" pitchFamily="18" charset="0"/>
              </a:rPr>
              <a:t>    Each line is a record. A record is a collection of fields.</a:t>
            </a:r>
          </a:p>
          <a:p>
            <a:pPr eaLnBrk="1" hangingPunct="1">
              <a:lnSpc>
                <a:spcPct val="150000"/>
              </a:lnSpc>
              <a:buFontTx/>
              <a:buNone/>
            </a:pPr>
            <a:r>
              <a:rPr lang="en-US" sz="1800" dirty="0" smtClean="0">
                <a:latin typeface="Lucida Bright" panose="02040602050505020304" pitchFamily="18" charset="0"/>
              </a:rPr>
              <a:t>   When a file is organized into records, we call it a data file, as contrasted with a text file.</a:t>
            </a:r>
          </a:p>
          <a:p>
            <a:pPr eaLnBrk="1" hangingPunct="1">
              <a:lnSpc>
                <a:spcPct val="150000"/>
              </a:lnSpc>
              <a:buFontTx/>
              <a:buNone/>
            </a:pPr>
            <a:r>
              <a:rPr lang="en-US" sz="1800" dirty="0" smtClean="0">
                <a:latin typeface="Lucida Bright" panose="02040602050505020304" pitchFamily="18" charset="0"/>
              </a:rPr>
              <a:t>    </a:t>
            </a:r>
            <a:r>
              <a:rPr lang="en-US" sz="1800" dirty="0" err="1" smtClean="0">
                <a:latin typeface="Lucida Bright" panose="02040602050505020304" pitchFamily="18" charset="0"/>
              </a:rPr>
              <a:t>awk</a:t>
            </a:r>
            <a:r>
              <a:rPr lang="en-US" sz="1800" dirty="0" smtClean="0">
                <a:latin typeface="Lucida Bright" panose="02040602050505020304" pitchFamily="18" charset="0"/>
              </a:rPr>
              <a:t> also can handle a text file.</a:t>
            </a:r>
          </a:p>
        </p:txBody>
      </p:sp>
      <p:sp>
        <p:nvSpPr>
          <p:cNvPr id="121860"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Fields and Records</a:t>
            </a: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Content Placeholder 14"/>
          <p:cNvSpPr>
            <a:spLocks noGrp="1"/>
          </p:cNvSpPr>
          <p:nvPr>
            <p:ph idx="1"/>
          </p:nvPr>
        </p:nvSpPr>
        <p:spPr/>
        <p:txBody>
          <a:bodyPr/>
          <a:lstStyle/>
          <a:p>
            <a:endParaRPr lang="en-US" smtClean="0"/>
          </a:p>
        </p:txBody>
      </p:sp>
      <p:sp>
        <p:nvSpPr>
          <p:cNvPr id="122884" name="Rectangle 2"/>
          <p:cNvSpPr>
            <a:spLocks noChangeArrowheads="1"/>
          </p:cNvSpPr>
          <p:nvPr/>
        </p:nvSpPr>
        <p:spPr bwMode="auto">
          <a:xfrm>
            <a:off x="0" y="0"/>
            <a:ext cx="9144000" cy="838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A Data File</a:t>
            </a:r>
            <a:endParaRPr lang="en-US" sz="4000" b="1">
              <a:solidFill>
                <a:srgbClr val="FF3300"/>
              </a:solidFill>
            </a:endParaRPr>
          </a:p>
        </p:txBody>
      </p:sp>
      <p:pic>
        <p:nvPicPr>
          <p:cNvPr id="122885" name="Picture 3"/>
          <p:cNvPicPr>
            <a:picLocks noChangeAspect="1" noChangeArrowheads="1"/>
          </p:cNvPicPr>
          <p:nvPr/>
        </p:nvPicPr>
        <p:blipFill>
          <a:blip r:embed="rId2"/>
          <a:srcRect/>
          <a:stretch>
            <a:fillRect/>
          </a:stretch>
        </p:blipFill>
        <p:spPr bwMode="auto">
          <a:xfrm>
            <a:off x="0" y="1066800"/>
            <a:ext cx="9144000" cy="4953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ChangeArrowheads="1"/>
          </p:cNvSpPr>
          <p:nvPr/>
        </p:nvSpPr>
        <p:spPr bwMode="auto">
          <a:xfrm>
            <a:off x="0" y="0"/>
            <a:ext cx="9144000" cy="1143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Field Buffers</a:t>
            </a:r>
            <a:r>
              <a:rPr lang="en-US" sz="2400"/>
              <a:t> </a:t>
            </a:r>
          </a:p>
        </p:txBody>
      </p:sp>
      <p:sp>
        <p:nvSpPr>
          <p:cNvPr id="123908" name="Rectangle 6"/>
          <p:cNvSpPr>
            <a:spLocks noChangeArrowheads="1"/>
          </p:cNvSpPr>
          <p:nvPr/>
        </p:nvSpPr>
        <p:spPr bwMode="auto">
          <a:xfrm>
            <a:off x="0" y="1143000"/>
            <a:ext cx="9144000" cy="1754326"/>
          </a:xfrm>
          <a:prstGeom prst="rect">
            <a:avLst/>
          </a:prstGeom>
          <a:noFill/>
          <a:ln w="9525">
            <a:noFill/>
            <a:miter lim="800000"/>
          </a:ln>
        </p:spPr>
        <p:txBody>
          <a:bodyPr>
            <a:spAutoFit/>
          </a:bodyPr>
          <a:lstStyle/>
          <a:p>
            <a:pPr>
              <a:lnSpc>
                <a:spcPct val="150000"/>
              </a:lnSpc>
            </a:pPr>
            <a:r>
              <a:rPr lang="en-US" dirty="0">
                <a:latin typeface="Lucida Bright" panose="02040602050505020304" pitchFamily="18" charset="0"/>
              </a:rPr>
              <a:t> There are as many field buffers available as there are fields in the current record of the input file.</a:t>
            </a:r>
          </a:p>
          <a:p>
            <a:pPr>
              <a:lnSpc>
                <a:spcPct val="150000"/>
              </a:lnSpc>
            </a:pPr>
            <a:r>
              <a:rPr lang="en-US" dirty="0">
                <a:latin typeface="Lucida Bright" panose="02040602050505020304" pitchFamily="18" charset="0"/>
              </a:rPr>
              <a:t>    Each buffer has a name, which is the dollar sign $ followed by  the field number in the current record. </a:t>
            </a:r>
          </a:p>
        </p:txBody>
      </p:sp>
      <p:pic>
        <p:nvPicPr>
          <p:cNvPr id="123909" name="Picture 4"/>
          <p:cNvPicPr>
            <a:picLocks noChangeAspect="1" noChangeArrowheads="1"/>
          </p:cNvPicPr>
          <p:nvPr/>
        </p:nvPicPr>
        <p:blipFill>
          <a:blip r:embed="rId2"/>
          <a:srcRect/>
          <a:stretch>
            <a:fillRect/>
          </a:stretch>
        </p:blipFill>
        <p:spPr bwMode="auto">
          <a:xfrm>
            <a:off x="0" y="2819400"/>
            <a:ext cx="8961438" cy="40386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idx="1"/>
          </p:nvPr>
        </p:nvSpPr>
        <p:spPr>
          <a:xfrm>
            <a:off x="287338" y="1916113"/>
            <a:ext cx="8534400" cy="3810000"/>
          </a:xfrm>
        </p:spPr>
        <p:txBody>
          <a:bodyPr/>
          <a:lstStyle/>
          <a:p>
            <a:pPr eaLnBrk="1" hangingPunct="1">
              <a:lnSpc>
                <a:spcPct val="150000"/>
              </a:lnSpc>
              <a:buFontTx/>
              <a:buNone/>
            </a:pPr>
            <a:r>
              <a:rPr lang="en-US" sz="1800" dirty="0" smtClean="0">
                <a:latin typeface="Lucida Bright" panose="02040602050505020304" pitchFamily="18" charset="0"/>
              </a:rPr>
              <a:t> There is only one record buffer available. Its name is $0. </a:t>
            </a:r>
          </a:p>
          <a:p>
            <a:pPr eaLnBrk="1" hangingPunct="1">
              <a:lnSpc>
                <a:spcPct val="150000"/>
              </a:lnSpc>
              <a:buFontTx/>
              <a:buNone/>
            </a:pPr>
            <a:r>
              <a:rPr lang="en-US" sz="1800" dirty="0" smtClean="0">
                <a:latin typeface="Lucida Bright" panose="02040602050505020304" pitchFamily="18" charset="0"/>
              </a:rPr>
              <a:t>    It holds the whole record.</a:t>
            </a:r>
          </a:p>
        </p:txBody>
      </p:sp>
      <p:sp>
        <p:nvSpPr>
          <p:cNvPr id="124932" name="Rectangle 2"/>
          <p:cNvSpPr>
            <a:spLocks noChangeArrowheads="1"/>
          </p:cNvSpPr>
          <p:nvPr/>
        </p:nvSpPr>
        <p:spPr bwMode="auto">
          <a:xfrm>
            <a:off x="0" y="0"/>
            <a:ext cx="9144000" cy="1143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Record Buffer</a:t>
            </a:r>
            <a:r>
              <a:rPr lang="en-US" sz="2400"/>
              <a:t> </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25956"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25957" name="Rectangle 13"/>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25958"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System Variables</a:t>
            </a:r>
            <a:endParaRPr lang="en-US" sz="2400"/>
          </a:p>
        </p:txBody>
      </p:sp>
      <p:sp>
        <p:nvSpPr>
          <p:cNvPr id="125959" name="Rectangle 10"/>
          <p:cNvSpPr>
            <a:spLocks noChangeArrowheads="1"/>
          </p:cNvSpPr>
          <p:nvPr/>
        </p:nvSpPr>
        <p:spPr bwMode="auto">
          <a:xfrm>
            <a:off x="0" y="1219200"/>
            <a:ext cx="8610600" cy="4246563"/>
          </a:xfrm>
          <a:prstGeom prst="rect">
            <a:avLst/>
          </a:prstGeom>
          <a:noFill/>
          <a:ln w="9525">
            <a:noFill/>
            <a:miter lim="800000"/>
          </a:ln>
        </p:spPr>
        <p:txBody>
          <a:bodyPr>
            <a:spAutoFit/>
          </a:bodyPr>
          <a:lstStyle/>
          <a:p>
            <a:pPr>
              <a:lnSpc>
                <a:spcPct val="150000"/>
              </a:lnSpc>
            </a:pPr>
            <a:r>
              <a:rPr lang="en-US" dirty="0">
                <a:latin typeface="Lucida Bright" panose="02040602050505020304" pitchFamily="18" charset="0"/>
              </a:rPr>
              <a:t>	FS                 Input field separator</a:t>
            </a:r>
          </a:p>
          <a:p>
            <a:pPr>
              <a:lnSpc>
                <a:spcPct val="150000"/>
              </a:lnSpc>
            </a:pPr>
            <a:r>
              <a:rPr lang="en-US" dirty="0">
                <a:latin typeface="Lucida Bright" panose="02040602050505020304" pitchFamily="18" charset="0"/>
              </a:rPr>
              <a:t>   	RS</a:t>
            </a:r>
            <a:r>
              <a:rPr lang="en-US" dirty="0">
                <a:solidFill>
                  <a:srgbClr val="FFFF00"/>
                </a:solidFill>
                <a:latin typeface="Lucida Bright" panose="02040602050505020304" pitchFamily="18" charset="0"/>
              </a:rPr>
              <a:t>    </a:t>
            </a:r>
            <a:r>
              <a:rPr lang="en-US" dirty="0">
                <a:latin typeface="Lucida Bright" panose="02040602050505020304" pitchFamily="18" charset="0"/>
              </a:rPr>
              <a:t>            Input record separator</a:t>
            </a:r>
          </a:p>
          <a:p>
            <a:pPr>
              <a:lnSpc>
                <a:spcPct val="150000"/>
              </a:lnSpc>
            </a:pPr>
            <a:r>
              <a:rPr lang="en-US" dirty="0">
                <a:latin typeface="Lucida Bright" panose="02040602050505020304" pitchFamily="18" charset="0"/>
              </a:rPr>
              <a:t>  	OFS              Output field separator</a:t>
            </a:r>
          </a:p>
          <a:p>
            <a:pPr>
              <a:lnSpc>
                <a:spcPct val="150000"/>
              </a:lnSpc>
            </a:pPr>
            <a:r>
              <a:rPr lang="en-US" dirty="0">
                <a:latin typeface="Lucida Bright" panose="02040602050505020304" pitchFamily="18" charset="0"/>
              </a:rPr>
              <a:t>  	ORS              Output record separator</a:t>
            </a:r>
          </a:p>
          <a:p>
            <a:pPr>
              <a:lnSpc>
                <a:spcPct val="150000"/>
              </a:lnSpc>
            </a:pPr>
            <a:r>
              <a:rPr lang="en-US" dirty="0">
                <a:latin typeface="Lucida Bright" panose="02040602050505020304" pitchFamily="18" charset="0"/>
              </a:rPr>
              <a:t>  	NF                 Number of nonempty fields in a record</a:t>
            </a:r>
          </a:p>
          <a:p>
            <a:pPr>
              <a:lnSpc>
                <a:spcPct val="150000"/>
              </a:lnSpc>
            </a:pPr>
            <a:r>
              <a:rPr lang="en-US" dirty="0">
                <a:latin typeface="Lucida Bright" panose="02040602050505020304" pitchFamily="18" charset="0"/>
              </a:rPr>
              <a:t>    	NR                Number of records read from all files</a:t>
            </a:r>
          </a:p>
          <a:p>
            <a:pPr>
              <a:lnSpc>
                <a:spcPct val="150000"/>
              </a:lnSpc>
            </a:pPr>
            <a:r>
              <a:rPr lang="en-US" dirty="0">
                <a:latin typeface="Lucida Bright" panose="02040602050505020304" pitchFamily="18" charset="0"/>
              </a:rPr>
              <a:t>    	FNR              Number of records in  current file</a:t>
            </a:r>
          </a:p>
          <a:p>
            <a:pPr>
              <a:lnSpc>
                <a:spcPct val="150000"/>
              </a:lnSpc>
            </a:pPr>
            <a:r>
              <a:rPr lang="en-US" dirty="0">
                <a:latin typeface="Lucida Bright" panose="02040602050505020304" pitchFamily="18" charset="0"/>
              </a:rPr>
              <a:t>    	FILENAME  Name of the current file</a:t>
            </a:r>
          </a:p>
          <a:p>
            <a:pPr>
              <a:lnSpc>
                <a:spcPct val="150000"/>
              </a:lnSpc>
            </a:pPr>
            <a:r>
              <a:rPr lang="en-US" dirty="0">
                <a:latin typeface="Lucida Bright" panose="02040602050505020304" pitchFamily="18" charset="0"/>
              </a:rPr>
              <a:t>    </a:t>
            </a:r>
          </a:p>
          <a:p>
            <a:pPr>
              <a:lnSpc>
                <a:spcPct val="150000"/>
              </a:lnSpc>
            </a:pPr>
            <a:r>
              <a:rPr lang="en-US" dirty="0">
                <a:latin typeface="Lucida Bright" panose="02040602050505020304" pitchFamily="18" charset="0"/>
              </a:rPr>
              <a:t>    </a:t>
            </a: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26980"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26981" name="Rectangle 13"/>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26982"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System Variables</a:t>
            </a:r>
            <a:endParaRPr lang="en-US" sz="2400"/>
          </a:p>
        </p:txBody>
      </p:sp>
      <p:sp>
        <p:nvSpPr>
          <p:cNvPr id="126983" name="Rectangle 10"/>
          <p:cNvSpPr>
            <a:spLocks noChangeArrowheads="1"/>
          </p:cNvSpPr>
          <p:nvPr/>
        </p:nvSpPr>
        <p:spPr bwMode="auto">
          <a:xfrm>
            <a:off x="0" y="1219200"/>
            <a:ext cx="8610600" cy="5908675"/>
          </a:xfrm>
          <a:prstGeom prst="rect">
            <a:avLst/>
          </a:prstGeom>
          <a:noFill/>
          <a:ln w="9525">
            <a:noFill/>
            <a:miter lim="800000"/>
          </a:ln>
        </p:spPr>
        <p:txBody>
          <a:bodyPr>
            <a:spAutoFit/>
          </a:bodyPr>
          <a:lstStyle/>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Examples :</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 cat </a:t>
            </a:r>
            <a:r>
              <a:rPr lang="en-US" dirty="0" err="1">
                <a:latin typeface="Lucida Bright" panose="02040602050505020304" pitchFamily="18" charset="0"/>
                <a:cs typeface="Courier New" panose="02070309020205020404" pitchFamily="49" charset="0"/>
              </a:rPr>
              <a:t>emps</a:t>
            </a:r>
            <a:endParaRPr lang="en-US" dirty="0">
              <a:latin typeface="Lucida Bright" panose="02040602050505020304" pitchFamily="18" charset="0"/>
              <a:cs typeface="Courier New" panose="02070309020205020404" pitchFamily="49" charset="0"/>
            </a:endParaRP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Tom Jones       4424    5/12/66 543354</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Mary Adams      5346    11/4/63 28765</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Sally Chang     1654    7/22/54 650000</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Billy Black     1683    9/23/44 336500</a:t>
            </a:r>
          </a:p>
          <a:p>
            <a:pPr marL="273050" indent="-273050">
              <a:lnSpc>
                <a:spcPct val="150000"/>
              </a:lnSpc>
              <a:buFont typeface="Wingdings" panose="05000000000000000000" pitchFamily="2" charset="2"/>
              <a:buNone/>
            </a:pPr>
            <a:endParaRPr lang="en-US" dirty="0">
              <a:latin typeface="Lucida Bright" panose="02040602050505020304" pitchFamily="18" charset="0"/>
              <a:cs typeface="Courier New" panose="02070309020205020404" pitchFamily="49" charset="0"/>
            </a:endParaRP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 </a:t>
            </a:r>
            <a:r>
              <a:rPr lang="en-US" dirty="0" err="1">
                <a:latin typeface="Lucida Bright" panose="02040602050505020304" pitchFamily="18" charset="0"/>
                <a:cs typeface="Courier New" panose="02070309020205020404" pitchFamily="49" charset="0"/>
              </a:rPr>
              <a:t>awk</a:t>
            </a:r>
            <a:r>
              <a:rPr lang="en-US" dirty="0">
                <a:latin typeface="Lucida Bright" panose="02040602050505020304" pitchFamily="18" charset="0"/>
                <a:cs typeface="Courier New" panose="02070309020205020404" pitchFamily="49" charset="0"/>
              </a:rPr>
              <a:t> '{print NR, $0}' </a:t>
            </a:r>
            <a:r>
              <a:rPr lang="en-US" dirty="0" err="1">
                <a:latin typeface="Lucida Bright" panose="02040602050505020304" pitchFamily="18" charset="0"/>
                <a:cs typeface="Courier New" panose="02070309020205020404" pitchFamily="49" charset="0"/>
              </a:rPr>
              <a:t>emps</a:t>
            </a:r>
            <a:endParaRPr lang="en-US" dirty="0">
              <a:latin typeface="Lucida Bright" panose="02040602050505020304" pitchFamily="18" charset="0"/>
              <a:cs typeface="Courier New" panose="02070309020205020404" pitchFamily="49" charset="0"/>
            </a:endParaRP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1 Tom Jones     4424    5/12/66 543354</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2 Mary Adams    5346    11/4/63 28765</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3 Sally Chang   1654    7/22/54 650000</a:t>
            </a:r>
          </a:p>
          <a:p>
            <a:pPr marL="273050" indent="-273050">
              <a:lnSpc>
                <a:spcPct val="150000"/>
              </a:lnSpc>
              <a:buFont typeface="Wingdings" panose="05000000000000000000" pitchFamily="2" charset="2"/>
              <a:buNone/>
            </a:pPr>
            <a:r>
              <a:rPr lang="en-US" dirty="0">
                <a:latin typeface="Lucida Bright" panose="02040602050505020304" pitchFamily="18" charset="0"/>
                <a:cs typeface="Courier New" panose="02070309020205020404" pitchFamily="49" charset="0"/>
              </a:rPr>
              <a:t>4 Billy Black   1683    9/23/44 336500</a:t>
            </a:r>
          </a:p>
          <a:p>
            <a:pPr marL="273050" indent="-273050">
              <a:lnSpc>
                <a:spcPct val="150000"/>
              </a:lnSpc>
              <a:buFont typeface="Wingdings" panose="05000000000000000000" pitchFamily="2" charset="2"/>
              <a:buNone/>
            </a:pPr>
            <a:endParaRPr lang="en-US" dirty="0">
              <a:latin typeface="Lucida Bright" panose="02040602050505020304" pitchFamily="18" charset="0"/>
              <a:cs typeface="Courier New" panose="02070309020205020404" pitchFamily="49" charset="0"/>
            </a:endParaRPr>
          </a:p>
          <a:p>
            <a:pPr marL="273050" indent="-273050">
              <a:lnSpc>
                <a:spcPct val="150000"/>
              </a:lnSpc>
              <a:buFont typeface="Wingdings" panose="05000000000000000000" pitchFamily="2" charset="2"/>
              <a:buNone/>
            </a:pPr>
            <a:endParaRPr lang="en-US" dirty="0">
              <a:latin typeface="Lucida Bright" panose="02040602050505020304" pitchFamily="18" charset="0"/>
              <a:cs typeface="Courier New" panose="02070309020205020404" pitchFamily="49" charset="0"/>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29028"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29029"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29030"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r>
              <a:rPr lang="en-US" sz="3200"/>
              <a:t>awk Script Design</a:t>
            </a:r>
          </a:p>
        </p:txBody>
      </p:sp>
      <p:pic>
        <p:nvPicPr>
          <p:cNvPr id="129031" name="Picture 3"/>
          <p:cNvPicPr>
            <a:picLocks noGrp="1" noChangeAspect="1" noChangeArrowheads="1"/>
          </p:cNvPicPr>
          <p:nvPr>
            <p:ph idx="1"/>
          </p:nvPr>
        </p:nvPicPr>
        <p:blipFill>
          <a:blip r:embed="rId3"/>
          <a:srcRect/>
          <a:stretch>
            <a:fillRect/>
          </a:stretch>
        </p:blipFill>
        <p:spPr>
          <a:xfrm>
            <a:off x="228600" y="1447800"/>
            <a:ext cx="8610600" cy="4876800"/>
          </a:xfrm>
          <a:noFill/>
        </p:spPr>
      </p:pic>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0052"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0053"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0054" name="Rectangle 2"/>
          <p:cNvSpPr>
            <a:spLocks noChangeArrowheads="1"/>
          </p:cNvSpPr>
          <p:nvPr/>
        </p:nvSpPr>
        <p:spPr bwMode="auto">
          <a:xfrm>
            <a:off x="0" y="0"/>
            <a:ext cx="9144000" cy="1219200"/>
          </a:xfrm>
          <a:prstGeom prst="rect">
            <a:avLst/>
          </a:prstGeom>
          <a:solidFill>
            <a:srgbClr val="FFFF66"/>
          </a:solidFill>
          <a:ln w="9525">
            <a:solidFill>
              <a:schemeClr val="tx1"/>
            </a:solidFill>
            <a:miter lim="800000"/>
          </a:ln>
        </p:spPr>
        <p:txBody>
          <a:bodyPr wrap="none" anchor="ctr"/>
          <a:lstStyle/>
          <a:p>
            <a:pPr algn="ctr"/>
            <a:r>
              <a:rPr lang="en-US" sz="4000"/>
              <a:t>Recursive representation of Factorial(4)</a:t>
            </a:r>
          </a:p>
        </p:txBody>
      </p:sp>
      <p:sp>
        <p:nvSpPr>
          <p:cNvPr id="130055" name="Rectangle 2"/>
          <p:cNvSpPr>
            <a:spLocks noChangeArrowheads="1"/>
          </p:cNvSpPr>
          <p:nvPr/>
        </p:nvSpPr>
        <p:spPr bwMode="auto">
          <a:xfrm>
            <a:off x="0" y="0"/>
            <a:ext cx="9144000" cy="1219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awk Script</a:t>
            </a:r>
            <a:endParaRPr lang="en-US" sz="2400"/>
          </a:p>
        </p:txBody>
      </p:sp>
      <p:sp>
        <p:nvSpPr>
          <p:cNvPr id="130056" name="Content Placeholder 10"/>
          <p:cNvSpPr>
            <a:spLocks noGrp="1"/>
          </p:cNvSpPr>
          <p:nvPr>
            <p:ph idx="1"/>
          </p:nvPr>
        </p:nvSpPr>
        <p:spPr>
          <a:xfrm>
            <a:off x="0" y="1219200"/>
            <a:ext cx="9144000" cy="5638800"/>
          </a:xfrm>
        </p:spPr>
        <p:txBody>
          <a:bodyPr/>
          <a:lstStyle/>
          <a:p>
            <a:pPr>
              <a:lnSpc>
                <a:spcPct val="150000"/>
              </a:lnSpc>
            </a:pPr>
            <a:r>
              <a:rPr lang="en-US" sz="1800" smtClean="0">
                <a:latin typeface="Lucida Bright" panose="02040602050505020304" pitchFamily="18" charset="0"/>
              </a:rPr>
              <a:t>BEGIN: pre-processing</a:t>
            </a:r>
          </a:p>
          <a:p>
            <a:pPr lvl="1">
              <a:lnSpc>
                <a:spcPct val="150000"/>
              </a:lnSpc>
              <a:buFont typeface="Arial" panose="020B0604020202020204" pitchFamily="34" charset="0"/>
              <a:buChar char="•"/>
            </a:pPr>
            <a:r>
              <a:rPr lang="en-US" sz="1800" smtClean="0">
                <a:latin typeface="Lucida Bright" panose="02040602050505020304" pitchFamily="18" charset="0"/>
              </a:rPr>
              <a:t>performs processing that must be completed before the file processing starts (i.e., before awk starts reading records from the input file)</a:t>
            </a:r>
          </a:p>
          <a:p>
            <a:pPr lvl="1">
              <a:lnSpc>
                <a:spcPct val="150000"/>
              </a:lnSpc>
              <a:buFont typeface="Arial" panose="020B0604020202020204" pitchFamily="34" charset="0"/>
              <a:buChar char="•"/>
            </a:pPr>
            <a:r>
              <a:rPr lang="en-US" sz="1800" smtClean="0">
                <a:latin typeface="Lucida Bright" panose="02040602050505020304" pitchFamily="18" charset="0"/>
              </a:rPr>
              <a:t>useful for initialization tasks such as to initialize variables and to create report headings</a:t>
            </a:r>
          </a:p>
          <a:p>
            <a:pPr>
              <a:lnSpc>
                <a:spcPct val="150000"/>
              </a:lnSpc>
            </a:pPr>
            <a:r>
              <a:rPr lang="en-US" sz="1800" smtClean="0">
                <a:latin typeface="Lucida Bright" panose="02040602050505020304" pitchFamily="18" charset="0"/>
              </a:rPr>
              <a:t>BODY: Processing</a:t>
            </a:r>
          </a:p>
          <a:p>
            <a:pPr lvl="1">
              <a:lnSpc>
                <a:spcPct val="150000"/>
              </a:lnSpc>
              <a:buFont typeface="Arial" panose="020B0604020202020204" pitchFamily="34" charset="0"/>
              <a:buChar char="•"/>
            </a:pPr>
            <a:r>
              <a:rPr lang="en-US" sz="1800" smtClean="0">
                <a:latin typeface="Lucida Bright" panose="02040602050505020304" pitchFamily="18" charset="0"/>
              </a:rPr>
              <a:t>contains main processing logic to be applied to input records</a:t>
            </a:r>
          </a:p>
          <a:p>
            <a:pPr lvl="1">
              <a:lnSpc>
                <a:spcPct val="150000"/>
              </a:lnSpc>
              <a:buFont typeface="Arial" panose="020B0604020202020204" pitchFamily="34" charset="0"/>
              <a:buChar char="•"/>
            </a:pPr>
            <a:r>
              <a:rPr lang="en-US" sz="1800" smtClean="0">
                <a:latin typeface="Lucida Bright" panose="02040602050505020304" pitchFamily="18" charset="0"/>
              </a:rPr>
              <a:t>like a loop that processes input data one record at a time:</a:t>
            </a:r>
          </a:p>
          <a:p>
            <a:pPr lvl="2">
              <a:lnSpc>
                <a:spcPct val="150000"/>
              </a:lnSpc>
            </a:pPr>
            <a:r>
              <a:rPr lang="en-US" sz="1800" smtClean="0">
                <a:latin typeface="Lucida Bright" panose="02040602050505020304" pitchFamily="18" charset="0"/>
              </a:rPr>
              <a:t>if a file contains 100 records, the body will be executed 100 times, one for each record</a:t>
            </a:r>
          </a:p>
          <a:p>
            <a:pPr>
              <a:lnSpc>
                <a:spcPct val="150000"/>
              </a:lnSpc>
            </a:pPr>
            <a:endParaRPr lang="en-US" sz="1800" smtClean="0">
              <a:latin typeface="Lucida Bright" panose="02040602050505020304" pitchFamily="18" charset="0"/>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1076"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1077"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1078" name="Rectangle 2"/>
          <p:cNvSpPr>
            <a:spLocks noChangeArrowheads="1"/>
          </p:cNvSpPr>
          <p:nvPr/>
        </p:nvSpPr>
        <p:spPr bwMode="auto">
          <a:xfrm>
            <a:off x="0" y="0"/>
            <a:ext cx="9144000" cy="12192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awk Script</a:t>
            </a:r>
            <a:endParaRPr lang="en-US" sz="2400"/>
          </a:p>
          <a:p>
            <a:pPr algn="ctr"/>
            <a:endParaRPr lang="en-US" sz="2400"/>
          </a:p>
        </p:txBody>
      </p:sp>
      <p:sp>
        <p:nvSpPr>
          <p:cNvPr id="131079" name="Content Placeholder 9"/>
          <p:cNvSpPr>
            <a:spLocks noGrp="1"/>
          </p:cNvSpPr>
          <p:nvPr>
            <p:ph idx="1"/>
          </p:nvPr>
        </p:nvSpPr>
        <p:spPr/>
        <p:txBody>
          <a:bodyPr/>
          <a:lstStyle/>
          <a:p>
            <a:pPr>
              <a:lnSpc>
                <a:spcPct val="150000"/>
              </a:lnSpc>
            </a:pPr>
            <a:r>
              <a:rPr lang="en-US" sz="1800" smtClean="0">
                <a:latin typeface="Lucida Bright" panose="02040602050505020304" pitchFamily="18" charset="0"/>
              </a:rPr>
              <a:t>END: post-processing</a:t>
            </a:r>
          </a:p>
          <a:p>
            <a:pPr lvl="1">
              <a:lnSpc>
                <a:spcPct val="150000"/>
              </a:lnSpc>
              <a:buFont typeface="Arial" panose="020B0604020202020204" pitchFamily="34" charset="0"/>
              <a:buChar char="•"/>
            </a:pPr>
            <a:r>
              <a:rPr lang="en-US" sz="1800" smtClean="0">
                <a:latin typeface="Lucida Bright" panose="02040602050505020304" pitchFamily="18" charset="0"/>
              </a:rPr>
              <a:t>contains logic to be executed after all input data have been processed</a:t>
            </a:r>
          </a:p>
          <a:p>
            <a:pPr lvl="1">
              <a:lnSpc>
                <a:spcPct val="150000"/>
              </a:lnSpc>
              <a:buFont typeface="Arial" panose="020B0604020202020204" pitchFamily="34" charset="0"/>
              <a:buChar char="•"/>
            </a:pPr>
            <a:r>
              <a:rPr lang="en-US" sz="1800" smtClean="0">
                <a:latin typeface="Lucida Bright" panose="02040602050505020304" pitchFamily="18" charset="0"/>
              </a:rPr>
              <a:t>logic such as printing report grand total should be performed in this part of the script </a:t>
            </a:r>
          </a:p>
          <a:p>
            <a:pPr>
              <a:lnSpc>
                <a:spcPct val="150000"/>
              </a:lnSpc>
            </a:pPr>
            <a:endParaRPr lang="en-US" sz="1800" smtClean="0">
              <a:latin typeface="Lucida Bright" panose="02040602050505020304" pitchFamily="18" charset="0"/>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Content Placeholder 11"/>
          <p:cNvSpPr>
            <a:spLocks noGrp="1"/>
          </p:cNvSpPr>
          <p:nvPr>
            <p:ph idx="1"/>
          </p:nvPr>
        </p:nvSpPr>
        <p:spPr>
          <a:xfrm>
            <a:off x="0" y="1219200"/>
            <a:ext cx="9144000" cy="5638800"/>
          </a:xfrm>
        </p:spPr>
        <p:txBody>
          <a:bodyPr/>
          <a:lstStyle/>
          <a:p>
            <a:pPr>
              <a:lnSpc>
                <a:spcPct val="150000"/>
              </a:lnSpc>
            </a:pPr>
            <a:r>
              <a:rPr lang="en-US" sz="1800" smtClean="0">
                <a:latin typeface="Lucida Bright" panose="02040602050505020304" pitchFamily="18" charset="0"/>
              </a:rPr>
              <a:t>The awk utility reads an input file, line by line and applies all the instructions in awk script to each input line. It does not print the lines unless the print action is specified .consider a records .dat with five fields i.e,s.no,name,test1,test2,test3 and four records.</a:t>
            </a:r>
          </a:p>
          <a:p>
            <a:pPr>
              <a:lnSpc>
                <a:spcPct val="150000"/>
              </a:lnSpc>
              <a:buFont typeface="Arial" panose="020B0604020202020204" pitchFamily="34" charset="0"/>
              <a:buNone/>
            </a:pPr>
            <a:r>
              <a:rPr lang="en-US" sz="1800" smtClean="0">
                <a:latin typeface="Lucida Bright" panose="02040602050505020304" pitchFamily="18" charset="0"/>
              </a:rPr>
              <a:t>		1	A	75	81	89</a:t>
            </a:r>
          </a:p>
          <a:p>
            <a:pPr>
              <a:lnSpc>
                <a:spcPct val="150000"/>
              </a:lnSpc>
              <a:buFont typeface="Arial" panose="020B0604020202020204" pitchFamily="34" charset="0"/>
              <a:buNone/>
            </a:pPr>
            <a:r>
              <a:rPr lang="en-US" sz="1800" smtClean="0">
                <a:latin typeface="Lucida Bright" panose="02040602050505020304" pitchFamily="18" charset="0"/>
              </a:rPr>
              <a:t>		2	B	86	94	82</a:t>
            </a:r>
          </a:p>
          <a:p>
            <a:pPr>
              <a:lnSpc>
                <a:spcPct val="150000"/>
              </a:lnSpc>
              <a:buFont typeface="Arial" panose="020B0604020202020204" pitchFamily="34" charset="0"/>
              <a:buNone/>
            </a:pPr>
            <a:r>
              <a:rPr lang="en-US" sz="1800" smtClean="0">
                <a:latin typeface="Lucida Bright" panose="02040602050505020304" pitchFamily="18" charset="0"/>
              </a:rPr>
              <a:t>		3	C	90	71	96</a:t>
            </a:r>
          </a:p>
          <a:p>
            <a:pPr>
              <a:lnSpc>
                <a:spcPct val="150000"/>
              </a:lnSpc>
              <a:buFont typeface="Arial" panose="020B0604020202020204" pitchFamily="34" charset="0"/>
              <a:buNone/>
            </a:pPr>
            <a:r>
              <a:rPr lang="en-US" sz="1800" smtClean="0">
                <a:latin typeface="Lucida Bright" panose="02040602050505020304" pitchFamily="18" charset="0"/>
              </a:rPr>
              <a:t>		4	D	82	70	85</a:t>
            </a:r>
          </a:p>
          <a:p>
            <a:pPr>
              <a:lnSpc>
                <a:spcPct val="150000"/>
              </a:lnSpc>
              <a:buFont typeface="Arial" panose="020B0604020202020204" pitchFamily="34" charset="0"/>
              <a:buNone/>
            </a:pPr>
            <a:r>
              <a:rPr lang="en-US" sz="1800" smtClean="0">
                <a:latin typeface="Lucida Bright" panose="02040602050505020304" pitchFamily="18" charset="0"/>
              </a:rPr>
              <a:t>$awk –f total.awk records.dat</a:t>
            </a:r>
          </a:p>
          <a:p>
            <a:pPr>
              <a:lnSpc>
                <a:spcPct val="150000"/>
              </a:lnSpc>
              <a:buFont typeface="Arial" panose="020B0604020202020204" pitchFamily="34" charset="0"/>
              <a:buNone/>
            </a:pPr>
            <a:r>
              <a:rPr lang="en-US" sz="1800" smtClean="0">
                <a:latin typeface="Lucida Bright" panose="02040602050505020304" pitchFamily="18" charset="0"/>
              </a:rPr>
              <a:t>Total.awk</a:t>
            </a:r>
          </a:p>
          <a:p>
            <a:pPr>
              <a:lnSpc>
                <a:spcPct val="150000"/>
              </a:lnSpc>
              <a:buFont typeface="Arial" panose="020B0604020202020204" pitchFamily="34" charset="0"/>
              <a:buNone/>
            </a:pPr>
            <a:r>
              <a:rPr lang="en-US" sz="1800" smtClean="0">
                <a:latin typeface="Lucida Bright" panose="02040602050505020304" pitchFamily="18" charset="0"/>
              </a:rPr>
              <a:t>#initialization section</a:t>
            </a:r>
          </a:p>
          <a:p>
            <a:pPr>
              <a:lnSpc>
                <a:spcPct val="150000"/>
              </a:lnSpc>
              <a:buFont typeface="Arial" panose="020B0604020202020204" pitchFamily="34" charset="0"/>
              <a:buNone/>
            </a:pPr>
            <a:r>
              <a:rPr lang="en-US" sz="1800" smtClean="0">
                <a:latin typeface="Lucida Bright" panose="02040602050505020304" pitchFamily="18" charset="0"/>
              </a:rPr>
              <a:t>BEGIN {print “name\t total”}</a:t>
            </a:r>
          </a:p>
          <a:p>
            <a:pPr>
              <a:lnSpc>
                <a:spcPct val="150000"/>
              </a:lnSpc>
              <a:buFont typeface="Arial" panose="020B0604020202020204" pitchFamily="34" charset="0"/>
              <a:buNone/>
            </a:pPr>
            <a:endParaRPr lang="en-US" sz="1800" smtClean="0">
              <a:latin typeface="Lucida Bright" panose="02040602050505020304" pitchFamily="18" charset="0"/>
            </a:endParaRPr>
          </a:p>
          <a:p>
            <a:pPr>
              <a:lnSpc>
                <a:spcPct val="150000"/>
              </a:lnSpc>
              <a:buFont typeface="Arial" panose="020B0604020202020204" pitchFamily="34" charset="0"/>
              <a:buNone/>
            </a:pPr>
            <a:endParaRPr lang="en-US" sz="1800" smtClean="0">
              <a:latin typeface="Lucida Bright" panose="02040602050505020304" pitchFamily="18" charset="0"/>
            </a:endParaRPr>
          </a:p>
          <a:p>
            <a:pPr>
              <a:lnSpc>
                <a:spcPct val="150000"/>
              </a:lnSpc>
              <a:buFont typeface="Arial" panose="020B0604020202020204" pitchFamily="34" charset="0"/>
              <a:buNone/>
            </a:pPr>
            <a:endParaRPr lang="en-US" sz="1800" smtClean="0">
              <a:latin typeface="Lucida Bright" panose="02040602050505020304" pitchFamily="18" charset="0"/>
            </a:endParaRPr>
          </a:p>
        </p:txBody>
      </p:sp>
      <p:sp>
        <p:nvSpPr>
          <p:cNvPr id="132100"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2101"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2102"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2103" name="Rectangle 2"/>
          <p:cNvSpPr>
            <a:spLocks noChangeArrowheads="1"/>
          </p:cNvSpPr>
          <p:nvPr/>
        </p:nvSpPr>
        <p:spPr bwMode="auto">
          <a:xfrm>
            <a:off x="0" y="0"/>
            <a:ext cx="9144000" cy="1143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 Operations</a:t>
            </a:r>
            <a:endParaRPr lang="en-US" sz="2400"/>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3124"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3125"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3126"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 Operations </a:t>
            </a:r>
            <a:endParaRPr lang="en-US" sz="2400"/>
          </a:p>
        </p:txBody>
      </p:sp>
      <p:sp>
        <p:nvSpPr>
          <p:cNvPr id="133127" name="Content Placeholder 9"/>
          <p:cNvSpPr>
            <a:spLocks noGrp="1"/>
          </p:cNvSpPr>
          <p:nvPr>
            <p:ph idx="1"/>
          </p:nvPr>
        </p:nvSpPr>
        <p:spPr>
          <a:xfrm>
            <a:off x="0" y="1143000"/>
            <a:ext cx="8686800" cy="5715000"/>
          </a:xfrm>
        </p:spPr>
        <p:txBody>
          <a:bodyPr/>
          <a:lstStyle/>
          <a:p>
            <a:pPr>
              <a:lnSpc>
                <a:spcPct val="150000"/>
              </a:lnSpc>
              <a:buFont typeface="Arial" panose="020B0604020202020204" pitchFamily="34" charset="0"/>
              <a:buNone/>
            </a:pPr>
            <a:r>
              <a:rPr lang="en-US" sz="1800" smtClean="0">
                <a:latin typeface="Lucida Bright" panose="02040602050505020304" pitchFamily="18" charset="0"/>
              </a:rPr>
              <a:t>#body section </a:t>
            </a:r>
          </a:p>
          <a:p>
            <a:pPr>
              <a:lnSpc>
                <a:spcPct val="150000"/>
              </a:lnSpc>
              <a:buFont typeface="Arial" panose="020B0604020202020204" pitchFamily="34" charset="0"/>
              <a:buNone/>
            </a:pPr>
            <a:r>
              <a:rPr lang="en-US" sz="1800" smtClean="0">
                <a:latin typeface="Lucida Bright" panose="02040602050505020304" pitchFamily="18" charset="0"/>
              </a:rPr>
              <a:t>{total=$3+$4+$5}</a:t>
            </a:r>
          </a:p>
          <a:p>
            <a:pPr>
              <a:lnSpc>
                <a:spcPct val="150000"/>
              </a:lnSpc>
              <a:buFont typeface="Arial" panose="020B0604020202020204" pitchFamily="34" charset="0"/>
              <a:buNone/>
            </a:pPr>
            <a:r>
              <a:rPr lang="en-US" sz="1800" smtClean="0">
                <a:latin typeface="Lucida Bright" panose="02040602050505020304" pitchFamily="18" charset="0"/>
              </a:rPr>
              <a:t>{print $2+”\t” total}</a:t>
            </a:r>
          </a:p>
          <a:p>
            <a:pPr>
              <a:lnSpc>
                <a:spcPct val="150000"/>
              </a:lnSpc>
              <a:buFont typeface="Arial" panose="020B0604020202020204" pitchFamily="34" charset="0"/>
              <a:buNone/>
            </a:pPr>
            <a:r>
              <a:rPr lang="en-US" sz="1800" smtClean="0">
                <a:latin typeface="Lucida Bright" panose="02040602050505020304" pitchFamily="18" charset="0"/>
              </a:rPr>
              <a:t>#END of job</a:t>
            </a:r>
          </a:p>
          <a:p>
            <a:pPr>
              <a:lnSpc>
                <a:spcPct val="150000"/>
              </a:lnSpc>
              <a:buFont typeface="Arial" panose="020B0604020202020204" pitchFamily="34" charset="0"/>
              <a:buNone/>
            </a:pPr>
            <a:r>
              <a:rPr lang="en-US" sz="1800" smtClean="0">
                <a:latin typeface="Lucida Bright" panose="02040602050505020304" pitchFamily="18" charset="0"/>
              </a:rPr>
              <a:t>END {print “Best Result”}</a:t>
            </a:r>
          </a:p>
          <a:p>
            <a:pPr>
              <a:lnSpc>
                <a:spcPct val="150000"/>
              </a:lnSpc>
              <a:buFont typeface="Arial" panose="020B0604020202020204" pitchFamily="34" charset="0"/>
              <a:buNone/>
            </a:pPr>
            <a:r>
              <a:rPr lang="en-US" sz="1800" smtClean="0">
                <a:latin typeface="Lucida Bright" panose="02040602050505020304" pitchFamily="18" charset="0"/>
              </a:rPr>
              <a:t>Output:</a:t>
            </a:r>
          </a:p>
          <a:p>
            <a:pPr>
              <a:lnSpc>
                <a:spcPct val="150000"/>
              </a:lnSpc>
              <a:buFont typeface="Arial" panose="020B0604020202020204" pitchFamily="34" charset="0"/>
              <a:buNone/>
            </a:pPr>
            <a:r>
              <a:rPr lang="en-US" sz="1800" smtClean="0">
                <a:latin typeface="Lucida Bright" panose="02040602050505020304" pitchFamily="18" charset="0"/>
              </a:rPr>
              <a:t>Name	total</a:t>
            </a:r>
          </a:p>
          <a:p>
            <a:pPr>
              <a:lnSpc>
                <a:spcPct val="150000"/>
              </a:lnSpc>
              <a:buFont typeface="Arial" panose="020B0604020202020204" pitchFamily="34" charset="0"/>
              <a:buNone/>
            </a:pPr>
            <a:r>
              <a:rPr lang="en-US" sz="1800" smtClean="0">
                <a:latin typeface="Lucida Bright" panose="02040602050505020304" pitchFamily="18" charset="0"/>
              </a:rPr>
              <a:t>A		245</a:t>
            </a:r>
          </a:p>
          <a:p>
            <a:pPr>
              <a:lnSpc>
                <a:spcPct val="150000"/>
              </a:lnSpc>
              <a:buFont typeface="Arial" panose="020B0604020202020204" pitchFamily="34" charset="0"/>
              <a:buNone/>
            </a:pPr>
            <a:r>
              <a:rPr lang="en-US" sz="1800" smtClean="0">
                <a:latin typeface="Lucida Bright" panose="02040602050505020304" pitchFamily="18" charset="0"/>
              </a:rPr>
              <a:t>B		262</a:t>
            </a:r>
          </a:p>
          <a:p>
            <a:pPr>
              <a:lnSpc>
                <a:spcPct val="150000"/>
              </a:lnSpc>
              <a:buFont typeface="Arial" panose="020B0604020202020204" pitchFamily="34" charset="0"/>
              <a:buNone/>
            </a:pPr>
            <a:r>
              <a:rPr lang="en-US" sz="1800" smtClean="0">
                <a:latin typeface="Lucida Bright" panose="02040602050505020304" pitchFamily="18" charset="0"/>
              </a:rPr>
              <a:t>C		257</a:t>
            </a:r>
          </a:p>
          <a:p>
            <a:pPr>
              <a:lnSpc>
                <a:spcPct val="150000"/>
              </a:lnSpc>
              <a:buFont typeface="Arial" panose="020B0604020202020204" pitchFamily="34" charset="0"/>
              <a:buNone/>
            </a:pPr>
            <a:r>
              <a:rPr lang="en-US" sz="1800" smtClean="0">
                <a:latin typeface="Lucida Bright" panose="02040602050505020304" pitchFamily="18" charset="0"/>
              </a:rPr>
              <a:t>D		237</a:t>
            </a:r>
          </a:p>
          <a:p>
            <a:pPr>
              <a:lnSpc>
                <a:spcPct val="150000"/>
              </a:lnSpc>
              <a:buFont typeface="Arial" panose="020B0604020202020204" pitchFamily="34" charset="0"/>
              <a:buNone/>
            </a:pPr>
            <a:r>
              <a:rPr lang="en-US" sz="1800" smtClean="0">
                <a:latin typeface="Lucida Bright" panose="02040602050505020304" pitchFamily="18" charset="0"/>
              </a:rPr>
              <a:t>Best Result</a:t>
            </a:r>
          </a:p>
          <a:p>
            <a:pPr>
              <a:lnSpc>
                <a:spcPct val="150000"/>
              </a:lnSpc>
              <a:buFont typeface="Arial" panose="020B0604020202020204" pitchFamily="34" charset="0"/>
              <a:buNone/>
            </a:pPr>
            <a:endParaRPr lang="en-US" sz="1800" smtClean="0">
              <a:latin typeface="Lucida Bright" panose="02040602050505020304" pitchFamily="18" charset="0"/>
            </a:endParaRPr>
          </a:p>
          <a:p>
            <a:pPr>
              <a:lnSpc>
                <a:spcPct val="150000"/>
              </a:lnSpc>
              <a:buFont typeface="Arial" panose="020B0604020202020204" pitchFamily="34" charset="0"/>
              <a:buNone/>
            </a:pPr>
            <a:endParaRPr lang="en-US" sz="1800" smtClean="0">
              <a:latin typeface="Lucida Bright" panose="02040602050505020304" pitchFamily="18" charset="0"/>
            </a:endParaRPr>
          </a:p>
          <a:p>
            <a:pPr>
              <a:lnSpc>
                <a:spcPct val="150000"/>
              </a:lnSpc>
              <a:buFont typeface="Arial" panose="020B0604020202020204" pitchFamily="34" charset="0"/>
              <a:buNone/>
            </a:pPr>
            <a:r>
              <a:rPr lang="en-US" sz="1800" smtClean="0">
                <a:latin typeface="Lucida Bright" panose="02040602050505020304" pitchFamily="18" charset="0"/>
              </a:rPr>
              <a:t> </a:t>
            </a: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4148"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4149"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4150"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Pattern/Action</a:t>
            </a:r>
            <a:endParaRPr lang="en-US" sz="2400"/>
          </a:p>
        </p:txBody>
      </p:sp>
      <p:pic>
        <p:nvPicPr>
          <p:cNvPr id="134151" name="Picture 3"/>
          <p:cNvPicPr>
            <a:picLocks noChangeAspect="1" noChangeArrowheads="1"/>
          </p:cNvPicPr>
          <p:nvPr/>
        </p:nvPicPr>
        <p:blipFill>
          <a:blip r:embed="rId3"/>
          <a:srcRect/>
          <a:stretch>
            <a:fillRect/>
          </a:stretch>
        </p:blipFill>
        <p:spPr bwMode="auto">
          <a:xfrm>
            <a:off x="0" y="4419600"/>
            <a:ext cx="8610600" cy="2438400"/>
          </a:xfrm>
          <a:prstGeom prst="rect">
            <a:avLst/>
          </a:prstGeom>
          <a:noFill/>
          <a:ln w="9525">
            <a:noFill/>
            <a:miter lim="800000"/>
            <a:headEnd/>
            <a:tailEnd/>
          </a:ln>
        </p:spPr>
      </p:pic>
      <p:pic>
        <p:nvPicPr>
          <p:cNvPr id="134152" name="Picture 10"/>
          <p:cNvPicPr>
            <a:picLocks noGrp="1" noChangeAspect="1" noChangeArrowheads="1"/>
          </p:cNvPicPr>
          <p:nvPr>
            <p:ph idx="1"/>
          </p:nvPr>
        </p:nvPicPr>
        <p:blipFill>
          <a:blip r:embed="rId4"/>
          <a:srcRect/>
          <a:stretch>
            <a:fillRect/>
          </a:stretch>
        </p:blipFill>
        <p:spPr>
          <a:xfrm>
            <a:off x="619125" y="1143000"/>
            <a:ext cx="7905750" cy="3200400"/>
          </a:xfrm>
          <a:noFill/>
        </p:spPr>
      </p:pic>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14"/>
          <p:cNvSpPr>
            <a:spLocks noGrp="1"/>
          </p:cNvSpPr>
          <p:nvPr>
            <p:ph idx="1"/>
          </p:nvPr>
        </p:nvSpPr>
        <p:spPr>
          <a:xfrm>
            <a:off x="0" y="1219200"/>
            <a:ext cx="9144000" cy="5638800"/>
          </a:xfrm>
        </p:spPr>
        <p:txBody>
          <a:bodyPr/>
          <a:lstStyle/>
          <a:p>
            <a:pPr>
              <a:lnSpc>
                <a:spcPct val="150000"/>
              </a:lnSpc>
            </a:pPr>
            <a:r>
              <a:rPr lang="en-US" sz="1800" smtClean="0">
                <a:latin typeface="Lucida Bright" panose="02040602050505020304" pitchFamily="18" charset="0"/>
              </a:rPr>
              <a:t>match</a:t>
            </a:r>
          </a:p>
          <a:p>
            <a:pPr lvl="1">
              <a:lnSpc>
                <a:spcPct val="150000"/>
              </a:lnSpc>
            </a:pPr>
            <a:r>
              <a:rPr lang="en-US" sz="1800" smtClean="0">
                <a:latin typeface="Lucida Bright" panose="02040602050505020304" pitchFamily="18" charset="0"/>
              </a:rPr>
              <a:t>entire input record</a:t>
            </a:r>
          </a:p>
          <a:p>
            <a:pPr lvl="1">
              <a:lnSpc>
                <a:spcPct val="150000"/>
              </a:lnSpc>
              <a:buFont typeface="Wingdings 2" panose="05020102010507070707" pitchFamily="18" charset="2"/>
              <a:buNone/>
            </a:pPr>
            <a:r>
              <a:rPr lang="en-US" sz="1800" smtClean="0">
                <a:latin typeface="Lucida Bright" panose="02040602050505020304" pitchFamily="18" charset="0"/>
              </a:rPr>
              <a:t>	regular expression enclosed by ‘/’s</a:t>
            </a:r>
          </a:p>
          <a:p>
            <a:pPr lvl="1">
              <a:lnSpc>
                <a:spcPct val="150000"/>
              </a:lnSpc>
            </a:pPr>
            <a:r>
              <a:rPr lang="en-US" sz="1800" smtClean="0">
                <a:latin typeface="Lucida Bright" panose="02040602050505020304" pitchFamily="18" charset="0"/>
              </a:rPr>
              <a:t>explicit pattern-matching expressions</a:t>
            </a:r>
          </a:p>
          <a:p>
            <a:pPr lvl="1">
              <a:lnSpc>
                <a:spcPct val="150000"/>
              </a:lnSpc>
              <a:buFont typeface="Wingdings 2" panose="05020102010507070707" pitchFamily="18" charset="2"/>
              <a:buNone/>
            </a:pPr>
            <a:r>
              <a:rPr lang="en-US" sz="1800" smtClean="0">
                <a:latin typeface="Lucida Bright" panose="02040602050505020304" pitchFamily="18" charset="0"/>
              </a:rPr>
              <a:t>	~ (match), !~ (not match)</a:t>
            </a:r>
          </a:p>
          <a:p>
            <a:pPr lvl="1">
              <a:lnSpc>
                <a:spcPct val="150000"/>
              </a:lnSpc>
              <a:buFont typeface="Wingdings 2" panose="05020102010507070707" pitchFamily="18" charset="2"/>
              <a:buNone/>
            </a:pPr>
            <a:endParaRPr lang="en-US" sz="1800" smtClean="0">
              <a:latin typeface="Lucida Bright" panose="02040602050505020304" pitchFamily="18" charset="0"/>
            </a:endParaRPr>
          </a:p>
          <a:p>
            <a:pPr>
              <a:lnSpc>
                <a:spcPct val="150000"/>
              </a:lnSpc>
            </a:pPr>
            <a:r>
              <a:rPr lang="en-US" sz="1800" smtClean="0">
                <a:latin typeface="Lucida Bright" panose="02040602050505020304" pitchFamily="18" charset="0"/>
              </a:rPr>
              <a:t>expression operators</a:t>
            </a:r>
          </a:p>
          <a:p>
            <a:pPr lvl="1">
              <a:lnSpc>
                <a:spcPct val="150000"/>
              </a:lnSpc>
            </a:pPr>
            <a:r>
              <a:rPr lang="en-US" sz="1800" smtClean="0">
                <a:latin typeface="Lucida Bright" panose="02040602050505020304" pitchFamily="18" charset="0"/>
              </a:rPr>
              <a:t>arithmetic</a:t>
            </a:r>
          </a:p>
          <a:p>
            <a:pPr lvl="1">
              <a:lnSpc>
                <a:spcPct val="150000"/>
              </a:lnSpc>
            </a:pPr>
            <a:r>
              <a:rPr lang="en-US" sz="1800" smtClean="0">
                <a:latin typeface="Lucida Bright" panose="02040602050505020304" pitchFamily="18" charset="0"/>
              </a:rPr>
              <a:t>relational</a:t>
            </a:r>
          </a:p>
          <a:p>
            <a:pPr lvl="1">
              <a:lnSpc>
                <a:spcPct val="150000"/>
              </a:lnSpc>
            </a:pPr>
            <a:r>
              <a:rPr lang="en-US" sz="1800" smtClean="0">
                <a:latin typeface="Lucida Bright" panose="02040602050505020304" pitchFamily="18" charset="0"/>
              </a:rPr>
              <a:t>logical</a:t>
            </a:r>
          </a:p>
          <a:p>
            <a:pPr lvl="1">
              <a:lnSpc>
                <a:spcPct val="150000"/>
              </a:lnSpc>
              <a:buFont typeface="Wingdings 2" panose="05020102010507070707" pitchFamily="18" charset="2"/>
              <a:buNone/>
            </a:pPr>
            <a:endParaRPr lang="en-US" sz="1800" smtClean="0">
              <a:latin typeface="Lucida Bright" panose="02040602050505020304" pitchFamily="18" charset="0"/>
            </a:endParaRPr>
          </a:p>
          <a:p>
            <a:pPr>
              <a:lnSpc>
                <a:spcPct val="150000"/>
              </a:lnSpc>
              <a:buFont typeface="Arial" panose="020B0604020202020204" pitchFamily="34" charset="0"/>
              <a:buNone/>
            </a:pPr>
            <a:endParaRPr lang="en-US" sz="1800" smtClean="0">
              <a:latin typeface="Lucida Bright" panose="02040602050505020304" pitchFamily="18" charset="0"/>
            </a:endParaRPr>
          </a:p>
        </p:txBody>
      </p:sp>
      <p:sp>
        <p:nvSpPr>
          <p:cNvPr id="135172"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5173"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5174"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5175" name="Rectangle 2"/>
          <p:cNvSpPr>
            <a:spLocks noChangeArrowheads="1"/>
          </p:cNvSpPr>
          <p:nvPr/>
        </p:nvSpPr>
        <p:spPr bwMode="auto">
          <a:xfrm>
            <a:off x="0" y="0"/>
            <a:ext cx="9144000" cy="11430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Expression Pattern types</a:t>
            </a: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3"/>
          <p:cNvSpPr>
            <a:spLocks noChangeArrowheads="1"/>
          </p:cNvSpPr>
          <p:nvPr/>
        </p:nvSpPr>
        <p:spPr bwMode="auto">
          <a:xfrm>
            <a:off x="1428750" y="1798638"/>
            <a:ext cx="9144000" cy="0"/>
          </a:xfrm>
          <a:prstGeom prst="rect">
            <a:avLst/>
          </a:prstGeom>
          <a:noFill/>
          <a:ln w="12700">
            <a:noFill/>
            <a:miter lim="800000"/>
            <a:headEnd type="none" w="sm" len="sm"/>
            <a:tailEnd type="none" w="sm" len="sm"/>
          </a:ln>
        </p:spPr>
        <p:txBody>
          <a:bodyPr>
            <a:spAutoFit/>
          </a:bodyPr>
          <a:lstStyle/>
          <a:p>
            <a:endParaRPr lang="en-US"/>
          </a:p>
        </p:txBody>
      </p:sp>
      <p:sp>
        <p:nvSpPr>
          <p:cNvPr id="136196" name="Rectangle 4"/>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6197" name="Rectangle 6"/>
          <p:cNvSpPr>
            <a:spLocks noChangeArrowheads="1"/>
          </p:cNvSpPr>
          <p:nvPr/>
        </p:nvSpPr>
        <p:spPr bwMode="auto">
          <a:xfrm>
            <a:off x="0" y="2484438"/>
            <a:ext cx="9144000" cy="0"/>
          </a:xfrm>
          <a:prstGeom prst="rect">
            <a:avLst/>
          </a:prstGeom>
          <a:noFill/>
          <a:ln w="12700">
            <a:noFill/>
            <a:miter lim="800000"/>
            <a:headEnd type="none" w="sm" len="sm"/>
            <a:tailEnd type="none" w="sm" len="sm"/>
          </a:ln>
        </p:spPr>
        <p:txBody>
          <a:bodyPr wrap="none" anchor="ctr">
            <a:spAutoFit/>
          </a:bodyPr>
          <a:lstStyle/>
          <a:p>
            <a:endParaRPr lang="en-US"/>
          </a:p>
        </p:txBody>
      </p:sp>
      <p:sp>
        <p:nvSpPr>
          <p:cNvPr id="136198" name="Rectangle 2"/>
          <p:cNvSpPr>
            <a:spLocks noChangeArrowheads="1"/>
          </p:cNvSpPr>
          <p:nvPr/>
        </p:nvSpPr>
        <p:spPr bwMode="auto">
          <a:xfrm>
            <a:off x="0" y="0"/>
            <a:ext cx="9144000" cy="10668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Example: match input record</a:t>
            </a:r>
            <a:endParaRPr lang="en-US" sz="2400"/>
          </a:p>
        </p:txBody>
      </p:sp>
      <p:sp>
        <p:nvSpPr>
          <p:cNvPr id="136199" name="Content Placeholder 10"/>
          <p:cNvSpPr>
            <a:spLocks noGrp="1"/>
          </p:cNvSpPr>
          <p:nvPr>
            <p:ph idx="1"/>
          </p:nvPr>
        </p:nvSpPr>
        <p:spPr>
          <a:xfrm>
            <a:off x="0" y="1066800"/>
            <a:ext cx="9144000" cy="5791200"/>
          </a:xfrm>
        </p:spPr>
        <p:txBody>
          <a:bodyPr/>
          <a:lstStyle/>
          <a:p>
            <a:pPr>
              <a:lnSpc>
                <a:spcPct val="150000"/>
              </a:lnSpc>
              <a:buFont typeface="Wingdings" panose="05000000000000000000" pitchFamily="2" charset="2"/>
              <a:buNone/>
            </a:pPr>
            <a:r>
              <a:rPr lang="en-US" sz="1800" b="1" dirty="0" smtClean="0">
                <a:latin typeface="Lucida Bright" panose="02040602050505020304" pitchFamily="18" charset="0"/>
                <a:cs typeface="Courier New" panose="02070309020205020404" pitchFamily="49" charset="0"/>
              </a:rPr>
              <a:t>% cat employees2</a:t>
            </a:r>
          </a:p>
          <a:p>
            <a:pPr>
              <a:lnSpc>
                <a:spcPct val="150000"/>
              </a:lnSpc>
              <a:buFont typeface="Wingdings" panose="05000000000000000000" pitchFamily="2" charset="2"/>
              <a:buNone/>
            </a:pPr>
            <a:r>
              <a:rPr lang="en-US" sz="1800" b="1" dirty="0" smtClean="0">
                <a:latin typeface="Lucida Bright" panose="02040602050505020304" pitchFamily="18" charset="0"/>
                <a:cs typeface="Courier New" panose="02070309020205020404" pitchFamily="49" charset="0"/>
              </a:rPr>
              <a:t>Tom Jones:4424:5/12/66:543354</a:t>
            </a:r>
          </a:p>
          <a:p>
            <a:pPr>
              <a:lnSpc>
                <a:spcPct val="150000"/>
              </a:lnSpc>
              <a:buFont typeface="Wingdings" panose="05000000000000000000" pitchFamily="2" charset="2"/>
              <a:buNone/>
            </a:pPr>
            <a:r>
              <a:rPr lang="en-US" sz="1800" b="1" dirty="0" smtClean="0">
                <a:latin typeface="Lucida Bright" panose="02040602050505020304" pitchFamily="18" charset="0"/>
                <a:cs typeface="Courier New" panose="02070309020205020404" pitchFamily="49" charset="0"/>
              </a:rPr>
              <a:t>Mary Adams:5346:11/4/63:28765</a:t>
            </a:r>
          </a:p>
          <a:p>
            <a:pPr>
              <a:lnSpc>
                <a:spcPct val="150000"/>
              </a:lnSpc>
              <a:buFont typeface="Wingdings" panose="05000000000000000000" pitchFamily="2" charset="2"/>
              <a:buNone/>
            </a:pPr>
            <a:r>
              <a:rPr lang="en-US" sz="1800" b="1" dirty="0" smtClean="0">
                <a:latin typeface="Lucida Bright" panose="02040602050505020304" pitchFamily="18" charset="0"/>
                <a:cs typeface="Courier New" panose="02070309020205020404" pitchFamily="49" charset="0"/>
              </a:rPr>
              <a:t>Sally Chang:1654:7/22/54:650000</a:t>
            </a:r>
          </a:p>
          <a:p>
            <a:pPr>
              <a:lnSpc>
                <a:spcPct val="150000"/>
              </a:lnSpc>
              <a:buFont typeface="Wingdings" panose="05000000000000000000" pitchFamily="2" charset="2"/>
              <a:buNone/>
            </a:pPr>
            <a:r>
              <a:rPr lang="en-US" sz="1800" b="1" dirty="0" smtClean="0">
                <a:latin typeface="Lucida Bright" panose="02040602050505020304" pitchFamily="18" charset="0"/>
                <a:cs typeface="Courier New" panose="02070309020205020404" pitchFamily="49" charset="0"/>
              </a:rPr>
              <a:t>Billy Black:1683:9/23/44:336500</a:t>
            </a:r>
          </a:p>
          <a:p>
            <a:pPr>
              <a:lnSpc>
                <a:spcPct val="150000"/>
              </a:lnSpc>
              <a:buFont typeface="Wingdings" panose="05000000000000000000" pitchFamily="2" charset="2"/>
              <a:buNone/>
            </a:pPr>
            <a:endParaRPr lang="en-US" sz="1800" b="1" dirty="0" smtClean="0">
              <a:latin typeface="Lucida Bright" panose="02040602050505020304" pitchFamily="18" charset="0"/>
              <a:cs typeface="Courier New" panose="02070309020205020404" pitchFamily="49" charset="0"/>
            </a:endParaRPr>
          </a:p>
          <a:p>
            <a:pPr>
              <a:lnSpc>
                <a:spcPct val="150000"/>
              </a:lnSpc>
              <a:buFont typeface="Arial" panose="020B0604020202020204" pitchFamily="34" charset="0"/>
              <a:buNone/>
            </a:pPr>
            <a:r>
              <a:rPr lang="en-US" sz="1800" b="1" dirty="0" smtClean="0">
                <a:latin typeface="Lucida Bright" panose="02040602050505020304" pitchFamily="18" charset="0"/>
                <a:cs typeface="Courier New" panose="02070309020205020404" pitchFamily="49" charset="0"/>
              </a:rPr>
              <a:t>% </a:t>
            </a:r>
            <a:r>
              <a:rPr lang="en-US" sz="1800" b="1" dirty="0" err="1" smtClean="0">
                <a:latin typeface="Lucida Bright" panose="02040602050505020304" pitchFamily="18" charset="0"/>
                <a:cs typeface="Courier New" panose="02070309020205020404" pitchFamily="49" charset="0"/>
              </a:rPr>
              <a:t>awk</a:t>
            </a:r>
            <a:r>
              <a:rPr lang="en-US" sz="1800" b="1" dirty="0" smtClean="0">
                <a:latin typeface="Lucida Bright" panose="02040602050505020304" pitchFamily="18" charset="0"/>
                <a:cs typeface="Courier New" panose="02070309020205020404" pitchFamily="49" charset="0"/>
              </a:rPr>
              <a:t> –F: '/00$/' employees2</a:t>
            </a:r>
          </a:p>
          <a:p>
            <a:pPr>
              <a:lnSpc>
                <a:spcPct val="150000"/>
              </a:lnSpc>
              <a:buFont typeface="Arial" panose="020B0604020202020204" pitchFamily="34" charset="0"/>
              <a:buNone/>
            </a:pPr>
            <a:r>
              <a:rPr lang="en-US" sz="1800" b="1" dirty="0" smtClean="0">
                <a:latin typeface="Lucida Bright" panose="02040602050505020304" pitchFamily="18" charset="0"/>
                <a:cs typeface="Courier New" panose="02070309020205020404" pitchFamily="49" charset="0"/>
              </a:rPr>
              <a:t>Sally Chang:1654:7/22/54:650000</a:t>
            </a:r>
          </a:p>
          <a:p>
            <a:pPr>
              <a:lnSpc>
                <a:spcPct val="150000"/>
              </a:lnSpc>
              <a:buFont typeface="Arial" panose="020B0604020202020204" pitchFamily="34" charset="0"/>
              <a:buNone/>
            </a:pPr>
            <a:r>
              <a:rPr lang="en-US" sz="1800" b="1" dirty="0" smtClean="0">
                <a:latin typeface="Lucida Bright" panose="02040602050505020304" pitchFamily="18" charset="0"/>
                <a:cs typeface="Courier New" panose="02070309020205020404" pitchFamily="49" charset="0"/>
              </a:rPr>
              <a:t>Billy Black:1683:9/23/44:336500</a:t>
            </a:r>
          </a:p>
          <a:p>
            <a:pPr>
              <a:lnSpc>
                <a:spcPct val="150000"/>
              </a:lnSpc>
            </a:pPr>
            <a:endParaRPr lang="en-US" sz="1800" dirty="0" smtClean="0">
              <a:latin typeface="Lucida Bright" panose="02040602050505020304" pitchFamily="18" charset="0"/>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3200"/>
              <a:t>Arithmetic Operators</a:t>
            </a:r>
          </a:p>
        </p:txBody>
      </p:sp>
      <p:sp>
        <p:nvSpPr>
          <p:cNvPr id="139268" name="Content Placeholder 5"/>
          <p:cNvSpPr>
            <a:spLocks noGrp="1"/>
          </p:cNvSpPr>
          <p:nvPr>
            <p:ph idx="1"/>
          </p:nvPr>
        </p:nvSpPr>
        <p:spPr>
          <a:xfrm>
            <a:off x="0" y="914400"/>
            <a:ext cx="9144000" cy="5943600"/>
          </a:xfrm>
        </p:spPr>
        <p:txBody>
          <a:bodyPr/>
          <a:lstStyle/>
          <a:p>
            <a:pPr>
              <a:lnSpc>
                <a:spcPct val="150000"/>
              </a:lnSpc>
              <a:buFont typeface="Wingdings" panose="05000000000000000000" pitchFamily="2" charset="2"/>
              <a:buNone/>
            </a:pPr>
            <a:r>
              <a:rPr lang="en-US" sz="1800" u="sng" smtClean="0">
                <a:latin typeface="Lucida Bright" panose="02040602050505020304" pitchFamily="18" charset="0"/>
              </a:rPr>
              <a:t>Operator	Meaning		Example</a:t>
            </a:r>
          </a:p>
          <a:p>
            <a:pPr>
              <a:lnSpc>
                <a:spcPct val="150000"/>
              </a:lnSpc>
              <a:buFont typeface="Wingdings" panose="05000000000000000000" pitchFamily="2" charset="2"/>
              <a:buNone/>
            </a:pPr>
            <a:r>
              <a:rPr lang="en-US" sz="1800" smtClean="0">
                <a:latin typeface="Lucida Bright" panose="02040602050505020304" pitchFamily="18" charset="0"/>
              </a:rPr>
              <a:t>	+		Add			x + y</a:t>
            </a:r>
          </a:p>
          <a:p>
            <a:pPr>
              <a:lnSpc>
                <a:spcPct val="150000"/>
              </a:lnSpc>
              <a:buFont typeface="Wingdings" panose="05000000000000000000" pitchFamily="2" charset="2"/>
              <a:buNone/>
            </a:pPr>
            <a:r>
              <a:rPr lang="en-US" sz="1800" smtClean="0">
                <a:latin typeface="Lucida Bright" panose="02040602050505020304" pitchFamily="18" charset="0"/>
              </a:rPr>
              <a:t>	-		Subtract		x – y</a:t>
            </a:r>
          </a:p>
          <a:p>
            <a:pPr>
              <a:lnSpc>
                <a:spcPct val="150000"/>
              </a:lnSpc>
              <a:buFont typeface="Wingdings" panose="05000000000000000000" pitchFamily="2" charset="2"/>
              <a:buNone/>
            </a:pPr>
            <a:r>
              <a:rPr lang="en-US" sz="1800" smtClean="0">
                <a:latin typeface="Lucida Bright" panose="02040602050505020304" pitchFamily="18" charset="0"/>
              </a:rPr>
              <a:t>	*		Multiply		x * y</a:t>
            </a:r>
          </a:p>
          <a:p>
            <a:pPr>
              <a:lnSpc>
                <a:spcPct val="150000"/>
              </a:lnSpc>
              <a:buFont typeface="Wingdings" panose="05000000000000000000" pitchFamily="2" charset="2"/>
              <a:buNone/>
            </a:pPr>
            <a:r>
              <a:rPr lang="en-US" sz="1800" smtClean="0">
                <a:latin typeface="Lucida Bright" panose="02040602050505020304" pitchFamily="18" charset="0"/>
              </a:rPr>
              <a:t>	/		Divide			x / y</a:t>
            </a:r>
          </a:p>
          <a:p>
            <a:pPr>
              <a:lnSpc>
                <a:spcPct val="150000"/>
              </a:lnSpc>
              <a:buFont typeface="Wingdings" panose="05000000000000000000" pitchFamily="2" charset="2"/>
              <a:buNone/>
            </a:pPr>
            <a:r>
              <a:rPr lang="en-US" sz="1800" smtClean="0">
                <a:latin typeface="Lucida Bright" panose="02040602050505020304" pitchFamily="18" charset="0"/>
              </a:rPr>
              <a:t>	%		Modulus		x % y</a:t>
            </a:r>
          </a:p>
          <a:p>
            <a:pPr>
              <a:lnSpc>
                <a:spcPct val="150000"/>
              </a:lnSpc>
              <a:buFont typeface="Wingdings" panose="05000000000000000000" pitchFamily="2" charset="2"/>
              <a:buNone/>
            </a:pPr>
            <a:r>
              <a:rPr lang="en-US" sz="1800" smtClean="0">
                <a:latin typeface="Lucida Bright" panose="02040602050505020304" pitchFamily="18" charset="0"/>
              </a:rPr>
              <a:t>	^		Exponential		x ^ y</a:t>
            </a:r>
          </a:p>
          <a:p>
            <a:pPr>
              <a:lnSpc>
                <a:spcPct val="150000"/>
              </a:lnSpc>
              <a:buFont typeface="Wingdings" panose="05000000000000000000" pitchFamily="2" charset="2"/>
              <a:buNone/>
            </a:pPr>
            <a:endParaRPr lang="en-US" sz="1800" smtClean="0">
              <a:latin typeface="Lucida Bright" panose="02040602050505020304" pitchFamily="18" charset="0"/>
            </a:endParaRPr>
          </a:p>
          <a:p>
            <a:pPr>
              <a:lnSpc>
                <a:spcPct val="150000"/>
              </a:lnSpc>
              <a:buFont typeface="Wingdings" panose="05000000000000000000" pitchFamily="2" charset="2"/>
              <a:buNone/>
            </a:pPr>
            <a:r>
              <a:rPr lang="en-US" sz="1800" u="sng" smtClean="0">
                <a:latin typeface="Lucida Bright" panose="02040602050505020304" pitchFamily="18" charset="0"/>
              </a:rPr>
              <a:t>Example:</a:t>
            </a:r>
          </a:p>
          <a:p>
            <a:pPr>
              <a:lnSpc>
                <a:spcPct val="150000"/>
              </a:lnSpc>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awk '$3 * $4 &gt; 500 {print $0}' file</a:t>
            </a:r>
          </a:p>
          <a:p>
            <a:pPr>
              <a:lnSpc>
                <a:spcPct val="150000"/>
              </a:lnSpc>
            </a:pPr>
            <a:endParaRPr lang="en-US" sz="1800" smtClean="0">
              <a:latin typeface="Lucida Bright" panose="02040602050505020304" pitchFamily="18" charset="0"/>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Relational Operators</a:t>
            </a:r>
          </a:p>
        </p:txBody>
      </p:sp>
      <p:sp>
        <p:nvSpPr>
          <p:cNvPr id="140291" name="Content Placeholder 8"/>
          <p:cNvSpPr>
            <a:spLocks noGrp="1"/>
          </p:cNvSpPr>
          <p:nvPr>
            <p:ph idx="1"/>
          </p:nvPr>
        </p:nvSpPr>
        <p:spPr>
          <a:xfrm>
            <a:off x="0" y="914400"/>
            <a:ext cx="9144000" cy="5943600"/>
          </a:xfrm>
        </p:spPr>
        <p:txBody>
          <a:bodyPr/>
          <a:lstStyle/>
          <a:p>
            <a:pPr>
              <a:lnSpc>
                <a:spcPct val="150000"/>
              </a:lnSpc>
              <a:buFont typeface="Wingdings" panose="05000000000000000000" pitchFamily="2" charset="2"/>
              <a:buNone/>
            </a:pPr>
            <a:r>
              <a:rPr lang="en-US" sz="1800" u="sng" smtClean="0">
                <a:latin typeface="Lucida Bright" panose="02040602050505020304" pitchFamily="18" charset="0"/>
              </a:rPr>
              <a:t>Operator	Meaning			Example</a:t>
            </a:r>
          </a:p>
          <a:p>
            <a:pPr>
              <a:lnSpc>
                <a:spcPct val="150000"/>
              </a:lnSpc>
              <a:buFont typeface="Wingdings" panose="05000000000000000000" pitchFamily="2" charset="2"/>
              <a:buNone/>
            </a:pPr>
            <a:r>
              <a:rPr lang="en-US" sz="1800" smtClean="0">
                <a:latin typeface="Lucida Bright" panose="02040602050505020304" pitchFamily="18" charset="0"/>
              </a:rPr>
              <a:t>  &lt;		Less than			x &lt; y</a:t>
            </a:r>
          </a:p>
          <a:p>
            <a:pPr>
              <a:lnSpc>
                <a:spcPct val="150000"/>
              </a:lnSpc>
              <a:buFont typeface="Wingdings" panose="05000000000000000000" pitchFamily="2" charset="2"/>
              <a:buNone/>
            </a:pPr>
            <a:r>
              <a:rPr lang="en-US" sz="1800" smtClean="0">
                <a:latin typeface="Lucida Bright" panose="02040602050505020304" pitchFamily="18" charset="0"/>
              </a:rPr>
              <a:t>  &lt; = 		Less than or equal		x &lt; = y</a:t>
            </a:r>
          </a:p>
          <a:p>
            <a:pPr>
              <a:lnSpc>
                <a:spcPct val="150000"/>
              </a:lnSpc>
              <a:buFont typeface="Wingdings" panose="05000000000000000000" pitchFamily="2" charset="2"/>
              <a:buNone/>
            </a:pPr>
            <a:r>
              <a:rPr lang="en-US" sz="1800" smtClean="0">
                <a:latin typeface="Lucida Bright" panose="02040602050505020304" pitchFamily="18" charset="0"/>
              </a:rPr>
              <a:t>  ==		Equal to			x == y</a:t>
            </a:r>
          </a:p>
          <a:p>
            <a:pPr>
              <a:lnSpc>
                <a:spcPct val="150000"/>
              </a:lnSpc>
              <a:buFont typeface="Wingdings" panose="05000000000000000000" pitchFamily="2" charset="2"/>
              <a:buNone/>
            </a:pPr>
            <a:r>
              <a:rPr lang="en-US" sz="1800" smtClean="0">
                <a:latin typeface="Lucida Bright" panose="02040602050505020304" pitchFamily="18" charset="0"/>
              </a:rPr>
              <a:t>  !=		Not equal to			x != y</a:t>
            </a:r>
          </a:p>
          <a:p>
            <a:pPr>
              <a:lnSpc>
                <a:spcPct val="150000"/>
              </a:lnSpc>
              <a:buFont typeface="Wingdings" panose="05000000000000000000" pitchFamily="2" charset="2"/>
              <a:buNone/>
            </a:pPr>
            <a:r>
              <a:rPr lang="en-US" sz="1800" smtClean="0">
                <a:latin typeface="Lucida Bright" panose="02040602050505020304" pitchFamily="18" charset="0"/>
              </a:rPr>
              <a:t>  &gt;		Greater than			x &gt; y</a:t>
            </a:r>
          </a:p>
          <a:p>
            <a:pPr>
              <a:lnSpc>
                <a:spcPct val="150000"/>
              </a:lnSpc>
              <a:buFont typeface="Wingdings" panose="05000000000000000000" pitchFamily="2" charset="2"/>
              <a:buNone/>
            </a:pPr>
            <a:r>
              <a:rPr lang="en-US" sz="1800" smtClean="0">
                <a:latin typeface="Lucida Bright" panose="02040602050505020304" pitchFamily="18" charset="0"/>
              </a:rPr>
              <a:t>  &gt; = 		Greater than or equal to	x &gt; = y</a:t>
            </a:r>
          </a:p>
          <a:p>
            <a:pPr>
              <a:lnSpc>
                <a:spcPct val="150000"/>
              </a:lnSpc>
              <a:buFont typeface="Wingdings" panose="05000000000000000000" pitchFamily="2" charset="2"/>
              <a:buNone/>
            </a:pPr>
            <a:r>
              <a:rPr lang="en-US" sz="1800" smtClean="0">
                <a:latin typeface="Lucida Bright" panose="02040602050505020304" pitchFamily="18" charset="0"/>
              </a:rPr>
              <a:t>  ~		Matched by reg exp		x ~ /y/</a:t>
            </a:r>
          </a:p>
          <a:p>
            <a:pPr>
              <a:lnSpc>
                <a:spcPct val="150000"/>
              </a:lnSpc>
              <a:buFont typeface="Wingdings" panose="05000000000000000000" pitchFamily="2" charset="2"/>
              <a:buNone/>
            </a:pPr>
            <a:r>
              <a:rPr lang="en-US" sz="1800" smtClean="0">
                <a:latin typeface="Lucida Bright" panose="02040602050505020304" pitchFamily="18" charset="0"/>
              </a:rPr>
              <a:t>  !~		Not matched by req exp	x !~ /y/</a:t>
            </a:r>
          </a:p>
          <a:p>
            <a:pPr lvl="1">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Logical Operators</a:t>
            </a:r>
          </a:p>
        </p:txBody>
      </p:sp>
      <p:sp>
        <p:nvSpPr>
          <p:cNvPr id="141315" name="Content Placeholder 7"/>
          <p:cNvSpPr>
            <a:spLocks noGrp="1"/>
          </p:cNvSpPr>
          <p:nvPr>
            <p:ph idx="1"/>
          </p:nvPr>
        </p:nvSpPr>
        <p:spPr>
          <a:xfrm>
            <a:off x="0" y="914400"/>
            <a:ext cx="9144000" cy="5943600"/>
          </a:xfrm>
        </p:spPr>
        <p:txBody>
          <a:bodyPr/>
          <a:lstStyle/>
          <a:p>
            <a:pPr>
              <a:lnSpc>
                <a:spcPct val="150000"/>
              </a:lnSpc>
              <a:buFont typeface="Wingdings" panose="05000000000000000000" pitchFamily="2" charset="2"/>
              <a:buNone/>
            </a:pPr>
            <a:r>
              <a:rPr lang="en-US" sz="1800" u="sng" smtClean="0">
                <a:latin typeface="Lucida Bright" panose="02040602050505020304" pitchFamily="18" charset="0"/>
              </a:rPr>
              <a:t>Operator		Meaning		Example</a:t>
            </a:r>
          </a:p>
          <a:p>
            <a:pPr>
              <a:lnSpc>
                <a:spcPct val="150000"/>
              </a:lnSpc>
              <a:buFont typeface="Wingdings" panose="05000000000000000000" pitchFamily="2" charset="2"/>
              <a:buNone/>
            </a:pPr>
            <a:r>
              <a:rPr lang="en-US" sz="1800" smtClean="0">
                <a:latin typeface="Lucida Bright" panose="02040602050505020304" pitchFamily="18" charset="0"/>
              </a:rPr>
              <a:t>	&amp;&amp;			Logical AND		a &amp;&amp; b</a:t>
            </a:r>
          </a:p>
          <a:p>
            <a:pPr>
              <a:lnSpc>
                <a:spcPct val="150000"/>
              </a:lnSpc>
              <a:buFont typeface="Wingdings" panose="05000000000000000000" pitchFamily="2" charset="2"/>
              <a:buNone/>
            </a:pPr>
            <a:r>
              <a:rPr lang="en-US" sz="1800" smtClean="0">
                <a:latin typeface="Lucida Bright" panose="02040602050505020304" pitchFamily="18" charset="0"/>
              </a:rPr>
              <a:t>	||			Logical OR		a || b</a:t>
            </a:r>
          </a:p>
          <a:p>
            <a:pPr>
              <a:lnSpc>
                <a:spcPct val="150000"/>
              </a:lnSpc>
              <a:buFont typeface="Wingdings" panose="05000000000000000000" pitchFamily="2" charset="2"/>
              <a:buNone/>
            </a:pPr>
            <a:r>
              <a:rPr lang="en-US" sz="1800" smtClean="0">
                <a:latin typeface="Lucida Bright" panose="02040602050505020304" pitchFamily="18" charset="0"/>
              </a:rPr>
              <a:t>	!			NOT			! a</a:t>
            </a:r>
          </a:p>
          <a:p>
            <a:pPr>
              <a:lnSpc>
                <a:spcPct val="150000"/>
              </a:lnSpc>
              <a:buFont typeface="Arial" panose="020B0604020202020204" pitchFamily="34" charset="0"/>
              <a:buNone/>
            </a:pPr>
            <a:endParaRPr lang="en-US" sz="1800" smtClean="0">
              <a:latin typeface="Lucida Bright" panose="02040602050505020304" pitchFamily="18" charset="0"/>
            </a:endParaRPr>
          </a:p>
          <a:p>
            <a:pPr>
              <a:lnSpc>
                <a:spcPct val="150000"/>
              </a:lnSpc>
              <a:buFont typeface="Arial" panose="020B0604020202020204" pitchFamily="34" charset="0"/>
              <a:buNone/>
            </a:pPr>
            <a:r>
              <a:rPr lang="en-US" sz="1800" u="sng" smtClean="0">
                <a:latin typeface="Lucida Bright" panose="02040602050505020304" pitchFamily="18" charset="0"/>
              </a:rPr>
              <a:t>Examples:</a:t>
            </a:r>
          </a:p>
          <a:p>
            <a:pPr>
              <a:lnSpc>
                <a:spcPct val="150000"/>
              </a:lnSpc>
              <a:buFont typeface="Arial" panose="020B0604020202020204" pitchFamily="34" charset="0"/>
              <a:buNone/>
            </a:pPr>
            <a:r>
              <a:rPr lang="en-US" sz="1800" smtClean="0">
                <a:latin typeface="Lucida Bright" panose="02040602050505020304" pitchFamily="18" charset="0"/>
                <a:cs typeface="Courier New" panose="02070309020205020404" pitchFamily="49" charset="0"/>
              </a:rPr>
              <a:t>% awk '($2 &gt; 5) &amp;&amp; ($2 &lt;= 15) </a:t>
            </a:r>
          </a:p>
          <a:p>
            <a:pPr>
              <a:lnSpc>
                <a:spcPct val="150000"/>
              </a:lnSpc>
              <a:buFont typeface="Arial" panose="020B0604020202020204" pitchFamily="34" charset="0"/>
              <a:buNone/>
            </a:pPr>
            <a:r>
              <a:rPr lang="en-US" sz="1800" smtClean="0">
                <a:latin typeface="Lucida Bright" panose="02040602050505020304" pitchFamily="18" charset="0"/>
                <a:cs typeface="Courier New" panose="02070309020205020404" pitchFamily="49" charset="0"/>
              </a:rPr>
              <a:t>                     {print $0}' file</a:t>
            </a:r>
          </a:p>
          <a:p>
            <a:pPr>
              <a:lnSpc>
                <a:spcPct val="150000"/>
              </a:lnSpc>
              <a:buFont typeface="Arial" panose="020B0604020202020204" pitchFamily="34" charset="0"/>
              <a:buNone/>
            </a:pPr>
            <a:r>
              <a:rPr lang="en-US" sz="1800" smtClean="0">
                <a:latin typeface="Lucida Bright" panose="02040602050505020304" pitchFamily="18" charset="0"/>
                <a:cs typeface="Courier New" panose="02070309020205020404" pitchFamily="49" charset="0"/>
              </a:rPr>
              <a:t>% awk '$3 == 100 || $4 &gt; 50' file</a:t>
            </a:r>
          </a:p>
          <a:p>
            <a:pPr>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Logical Operators</a:t>
            </a:r>
          </a:p>
        </p:txBody>
      </p:sp>
      <p:sp>
        <p:nvSpPr>
          <p:cNvPr id="141315" name="Content Placeholder 7"/>
          <p:cNvSpPr>
            <a:spLocks noGrp="1"/>
          </p:cNvSpPr>
          <p:nvPr>
            <p:ph idx="1"/>
          </p:nvPr>
        </p:nvSpPr>
        <p:spPr>
          <a:xfrm>
            <a:off x="0" y="914400"/>
            <a:ext cx="9144000" cy="5943600"/>
          </a:xfrm>
        </p:spPr>
        <p:txBody>
          <a:bodyPr/>
          <a:lstStyle/>
          <a:p>
            <a:pPr>
              <a:lnSpc>
                <a:spcPct val="150000"/>
              </a:lnSpc>
              <a:buFont typeface="Wingdings" panose="05000000000000000000" pitchFamily="2" charset="2"/>
              <a:buNone/>
            </a:pPr>
            <a:r>
              <a:rPr lang="en-US" sz="1800" u="sng" smtClean="0">
                <a:latin typeface="Lucida Bright" panose="02040602050505020304" pitchFamily="18" charset="0"/>
              </a:rPr>
              <a:t>Operator		Meaning		Example</a:t>
            </a:r>
          </a:p>
          <a:p>
            <a:pPr>
              <a:lnSpc>
                <a:spcPct val="150000"/>
              </a:lnSpc>
              <a:buFont typeface="Wingdings" panose="05000000000000000000" pitchFamily="2" charset="2"/>
              <a:buNone/>
            </a:pPr>
            <a:r>
              <a:rPr lang="en-US" sz="1800" smtClean="0">
                <a:latin typeface="Lucida Bright" panose="02040602050505020304" pitchFamily="18" charset="0"/>
              </a:rPr>
              <a:t>	&amp;&amp;			Logical AND		a &amp;&amp; b</a:t>
            </a:r>
          </a:p>
          <a:p>
            <a:pPr>
              <a:lnSpc>
                <a:spcPct val="150000"/>
              </a:lnSpc>
              <a:buFont typeface="Wingdings" panose="05000000000000000000" pitchFamily="2" charset="2"/>
              <a:buNone/>
            </a:pPr>
            <a:r>
              <a:rPr lang="en-US" sz="1800" smtClean="0">
                <a:latin typeface="Lucida Bright" panose="02040602050505020304" pitchFamily="18" charset="0"/>
              </a:rPr>
              <a:t>	||			Logical OR		a || b</a:t>
            </a:r>
          </a:p>
          <a:p>
            <a:pPr>
              <a:lnSpc>
                <a:spcPct val="150000"/>
              </a:lnSpc>
              <a:buFont typeface="Wingdings" panose="05000000000000000000" pitchFamily="2" charset="2"/>
              <a:buNone/>
            </a:pPr>
            <a:r>
              <a:rPr lang="en-US" sz="1800" smtClean="0">
                <a:latin typeface="Lucida Bright" panose="02040602050505020304" pitchFamily="18" charset="0"/>
              </a:rPr>
              <a:t>	!			NOT			! a</a:t>
            </a:r>
          </a:p>
          <a:p>
            <a:pPr>
              <a:lnSpc>
                <a:spcPct val="150000"/>
              </a:lnSpc>
              <a:buFont typeface="Arial" panose="020B0604020202020204" pitchFamily="34" charset="0"/>
              <a:buNone/>
            </a:pPr>
            <a:endParaRPr lang="en-US" sz="1800" smtClean="0">
              <a:latin typeface="Lucida Bright" panose="02040602050505020304" pitchFamily="18" charset="0"/>
            </a:endParaRPr>
          </a:p>
          <a:p>
            <a:pPr>
              <a:lnSpc>
                <a:spcPct val="150000"/>
              </a:lnSpc>
              <a:buFont typeface="Arial" panose="020B0604020202020204" pitchFamily="34" charset="0"/>
              <a:buNone/>
            </a:pPr>
            <a:r>
              <a:rPr lang="en-US" sz="1800" u="sng" smtClean="0">
                <a:latin typeface="Lucida Bright" panose="02040602050505020304" pitchFamily="18" charset="0"/>
              </a:rPr>
              <a:t>Examples:</a:t>
            </a:r>
          </a:p>
          <a:p>
            <a:pPr>
              <a:lnSpc>
                <a:spcPct val="150000"/>
              </a:lnSpc>
              <a:buFont typeface="Arial" panose="020B0604020202020204" pitchFamily="34" charset="0"/>
              <a:buNone/>
            </a:pPr>
            <a:r>
              <a:rPr lang="en-US" sz="1800" smtClean="0">
                <a:latin typeface="Lucida Bright" panose="02040602050505020304" pitchFamily="18" charset="0"/>
                <a:cs typeface="Courier New" panose="02070309020205020404" pitchFamily="49" charset="0"/>
              </a:rPr>
              <a:t>% awk '($2 &gt; 5) &amp;&amp; ($2 &lt;= 15) </a:t>
            </a:r>
          </a:p>
          <a:p>
            <a:pPr>
              <a:lnSpc>
                <a:spcPct val="150000"/>
              </a:lnSpc>
              <a:buFont typeface="Arial" panose="020B0604020202020204" pitchFamily="34" charset="0"/>
              <a:buNone/>
            </a:pPr>
            <a:r>
              <a:rPr lang="en-US" sz="1800" smtClean="0">
                <a:latin typeface="Lucida Bright" panose="02040602050505020304" pitchFamily="18" charset="0"/>
                <a:cs typeface="Courier New" panose="02070309020205020404" pitchFamily="49" charset="0"/>
              </a:rPr>
              <a:t>                     {print $0}' file</a:t>
            </a:r>
          </a:p>
          <a:p>
            <a:pPr>
              <a:lnSpc>
                <a:spcPct val="150000"/>
              </a:lnSpc>
              <a:buFont typeface="Arial" panose="020B0604020202020204" pitchFamily="34" charset="0"/>
              <a:buNone/>
            </a:pPr>
            <a:r>
              <a:rPr lang="en-US" sz="1800" smtClean="0">
                <a:latin typeface="Lucida Bright" panose="02040602050505020304" pitchFamily="18" charset="0"/>
                <a:cs typeface="Courier New" panose="02070309020205020404" pitchFamily="49" charset="0"/>
              </a:rPr>
              <a:t>% awk '$3 == 100 || $4 &gt; 50' file</a:t>
            </a:r>
          </a:p>
          <a:p>
            <a:pPr>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800"/>
              <a:t> </a:t>
            </a:r>
            <a:r>
              <a:rPr lang="en-US" sz="4000"/>
              <a:t>Range Patterns</a:t>
            </a:r>
          </a:p>
        </p:txBody>
      </p:sp>
      <p:sp>
        <p:nvSpPr>
          <p:cNvPr id="8" name="Content Placeholder 7"/>
          <p:cNvSpPr>
            <a:spLocks noGrp="1"/>
          </p:cNvSpPr>
          <p:nvPr>
            <p:ph idx="1"/>
          </p:nvPr>
        </p:nvSpPr>
        <p:spPr>
          <a:xfrm>
            <a:off x="0" y="914400"/>
            <a:ext cx="9144000" cy="5943600"/>
          </a:xfrm>
        </p:spPr>
        <p:txBody>
          <a:bodyPr/>
          <a:lstStyle/>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rPr>
              <a:t>Matches ranges of consecutive input lines</a:t>
            </a:r>
          </a:p>
          <a:p>
            <a:pPr fontAlgn="auto">
              <a:lnSpc>
                <a:spcPct val="150000"/>
              </a:lnSpc>
              <a:spcAft>
                <a:spcPts val="0"/>
              </a:spcAft>
              <a:buFont typeface="Arial" panose="020B0604020202020204" pitchFamily="34" charset="0"/>
              <a:buNone/>
              <a:defRPr/>
            </a:pPr>
            <a:r>
              <a:rPr lang="en-US" sz="1800" u="sng" kern="0" dirty="0" smtClean="0">
                <a:latin typeface="Lucida Bright" panose="02040602050505020304" pitchFamily="18" charset="0"/>
              </a:rPr>
              <a:t>Syntax:</a:t>
            </a:r>
          </a:p>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rPr>
              <a:t>	</a:t>
            </a:r>
            <a:r>
              <a:rPr lang="en-US" sz="1800" kern="0" dirty="0" smtClean="0">
                <a:latin typeface="Lucida Bright" panose="02040602050505020304" pitchFamily="18" charset="0"/>
                <a:cs typeface="Courier New" panose="02070309020205020404" pitchFamily="49" charset="0"/>
              </a:rPr>
              <a:t>pattern1 , pattern2 {action}</a:t>
            </a:r>
          </a:p>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rPr>
              <a:t>pattern can be any simple pattern</a:t>
            </a:r>
          </a:p>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cs typeface="Courier New" panose="02070309020205020404" pitchFamily="49" charset="0"/>
              </a:rPr>
              <a:t>pattern1</a:t>
            </a:r>
            <a:r>
              <a:rPr lang="en-US" sz="1800" kern="0" dirty="0" smtClean="0">
                <a:latin typeface="Lucida Bright" panose="02040602050505020304" pitchFamily="18" charset="0"/>
              </a:rPr>
              <a:t> turns action on</a:t>
            </a:r>
          </a:p>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cs typeface="Courier New" panose="02070309020205020404" pitchFamily="49" charset="0"/>
              </a:rPr>
              <a:t>pattern2</a:t>
            </a:r>
            <a:r>
              <a:rPr lang="en-US" sz="1800" kern="0" dirty="0" smtClean="0">
                <a:latin typeface="Lucida Bright" panose="02040602050505020304" pitchFamily="18" charset="0"/>
              </a:rPr>
              <a:t> turns action off</a:t>
            </a:r>
          </a:p>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rPr>
              <a:t>Example:</a:t>
            </a:r>
          </a:p>
          <a:p>
            <a:pPr fontAlgn="auto">
              <a:lnSpc>
                <a:spcPct val="150000"/>
              </a:lnSpc>
              <a:spcAft>
                <a:spcPts val="0"/>
              </a:spcAft>
              <a:buFont typeface="Arial" panose="020B0604020202020204" pitchFamily="34" charset="0"/>
              <a:buNone/>
              <a:defRPr/>
            </a:pPr>
            <a:endParaRPr lang="en-US" sz="1800" kern="0" dirty="0" smtClean="0">
              <a:latin typeface="Lucida Bright" panose="02040602050505020304" pitchFamily="18" charset="0"/>
            </a:endParaRPr>
          </a:p>
          <a:p>
            <a:pPr fontAlgn="auto">
              <a:lnSpc>
                <a:spcPct val="150000"/>
              </a:lnSpc>
              <a:spcAft>
                <a:spcPts val="0"/>
              </a:spcAft>
              <a:buFont typeface="Arial" panose="020B0604020202020204" pitchFamily="34" charset="0"/>
              <a:buNone/>
              <a:defRPr/>
            </a:pPr>
            <a:endParaRPr lang="en-US" sz="1800" kern="0" dirty="0" smtClean="0">
              <a:latin typeface="Lucida Bright" panose="02040602050505020304" pitchFamily="18" charset="0"/>
            </a:endParaRPr>
          </a:p>
          <a:p>
            <a:pPr marL="274320" indent="-274320" fontAlgn="auto">
              <a:lnSpc>
                <a:spcPct val="150000"/>
              </a:lnSpc>
              <a:spcAft>
                <a:spcPts val="0"/>
              </a:spcAft>
              <a:buFont typeface="Wingdings" panose="05000000000000000000"/>
              <a:buChar char=""/>
              <a:defRPr/>
            </a:pPr>
            <a:endParaRPr lang="en-US" sz="1800" dirty="0" smtClean="0">
              <a:latin typeface="Lucida Bright" panose="02040602050505020304" pitchFamily="18" charset="0"/>
            </a:endParaRPr>
          </a:p>
          <a:p>
            <a:pPr>
              <a:lnSpc>
                <a:spcPct val="150000"/>
              </a:lnSpc>
              <a:defRPr/>
            </a:pPr>
            <a:endParaRPr lang="en-US" sz="1800" dirty="0">
              <a:latin typeface="Lucida Bright" panose="02040602050505020304" pitchFamily="18" charset="0"/>
            </a:endParaRPr>
          </a:p>
        </p:txBody>
      </p:sp>
      <p:pic>
        <p:nvPicPr>
          <p:cNvPr id="142341" name="Picture 4"/>
          <p:cNvPicPr>
            <a:picLocks noChangeAspect="1" noChangeArrowheads="1"/>
          </p:cNvPicPr>
          <p:nvPr/>
        </p:nvPicPr>
        <p:blipFill>
          <a:blip r:embed="rId2"/>
          <a:srcRect/>
          <a:stretch>
            <a:fillRect/>
          </a:stretch>
        </p:blipFill>
        <p:spPr bwMode="auto">
          <a:xfrm>
            <a:off x="495300" y="4114800"/>
            <a:ext cx="7124700" cy="251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Text Placeholder 3"/>
          <p:cNvSpPr>
            <a:spLocks noGrp="1"/>
          </p:cNvSpPr>
          <p:nvPr>
            <p:ph type="body" idx="1"/>
          </p:nvPr>
        </p:nvSpPr>
        <p:spPr>
          <a:xfrm>
            <a:off x="0" y="990600"/>
            <a:ext cx="8763000" cy="5334000"/>
          </a:xfrm>
        </p:spPr>
        <p:txBody>
          <a:bodyPr rtlCol="0">
            <a:normAutofit/>
          </a:bodyPr>
          <a:lstStyle/>
          <a:p>
            <a:pPr marL="347980" indent="-231775" algn="just" eaLnBrk="1" fontAlgn="auto" hangingPunct="1">
              <a:spcAft>
                <a:spcPts val="1200"/>
              </a:spcAft>
              <a:buFont typeface="Arial" panose="020B0604020202020204" pitchFamily="34" charset="0"/>
              <a:buChar char="•"/>
              <a:defRPr/>
            </a:pPr>
            <a:r>
              <a:rPr lang="en-US" sz="1800" dirty="0" smtClean="0">
                <a:solidFill>
                  <a:schemeClr val="tx1"/>
                </a:solidFill>
                <a:latin typeface="Lucida Bright" panose="02040602050505020304" pitchFamily="18" charset="0"/>
                <a:cs typeface="Times New Roman" panose="02020603050405020304" pitchFamily="18" charset="0"/>
              </a:rPr>
              <a:t>The first job of a preprocessor is file inclusion - the copying of one or more files into programs. </a:t>
            </a:r>
          </a:p>
          <a:p>
            <a:pPr marL="347980" indent="-231775" algn="just" eaLnBrk="1" fontAlgn="auto" hangingPunct="1">
              <a:spcAft>
                <a:spcPts val="1200"/>
              </a:spcAft>
              <a:buFont typeface="Arial" panose="020B0604020202020204" pitchFamily="34" charset="0"/>
              <a:buChar char="•"/>
              <a:defRPr/>
            </a:pPr>
            <a:r>
              <a:rPr lang="en-US" sz="1800" dirty="0" smtClean="0">
                <a:solidFill>
                  <a:schemeClr val="tx1"/>
                </a:solidFill>
                <a:latin typeface="Lucida Bright" panose="02040602050505020304" pitchFamily="18" charset="0"/>
                <a:cs typeface="Times New Roman" panose="02020603050405020304" pitchFamily="18" charset="0"/>
              </a:rPr>
              <a:t>The files are usually header files consisting declarations of predefined functions and external files containing functions and data declarations.</a:t>
            </a:r>
          </a:p>
          <a:p>
            <a:pPr algn="just" eaLnBrk="1" fontAlgn="auto" hangingPunct="1">
              <a:spcAft>
                <a:spcPts val="1200"/>
              </a:spcAft>
              <a:buFont typeface="Wingdings 2" panose="05020102010507070707" pitchFamily="18" charset="2"/>
              <a:buNone/>
              <a:defRPr/>
            </a:pPr>
            <a:r>
              <a:rPr lang="en-US" sz="1800" dirty="0" smtClean="0">
                <a:solidFill>
                  <a:schemeClr val="tx1"/>
                </a:solidFill>
                <a:latin typeface="Lucida Bright" panose="02040602050505020304" pitchFamily="18" charset="0"/>
                <a:cs typeface="Times New Roman" panose="02020603050405020304" pitchFamily="18" charset="0"/>
              </a:rPr>
              <a:t> </a:t>
            </a:r>
          </a:p>
          <a:p>
            <a:pPr marL="347980" indent="-231775" algn="just" eaLnBrk="1" fontAlgn="auto" hangingPunct="1">
              <a:spcAft>
                <a:spcPts val="1200"/>
              </a:spcAft>
              <a:buFont typeface="Arial" panose="020B0604020202020204" pitchFamily="34" charset="0"/>
              <a:buChar char="•"/>
              <a:defRPr/>
            </a:pPr>
            <a:r>
              <a:rPr lang="en-US" sz="1800" dirty="0" smtClean="0">
                <a:solidFill>
                  <a:schemeClr val="tx1"/>
                </a:solidFill>
                <a:latin typeface="Lucida Bright" panose="02040602050505020304" pitchFamily="18" charset="0"/>
                <a:cs typeface="Times New Roman" panose="02020603050405020304" pitchFamily="18" charset="0"/>
              </a:rPr>
              <a:t>General form is,</a:t>
            </a:r>
          </a:p>
          <a:p>
            <a:pPr algn="just" eaLnBrk="1" fontAlgn="auto" hangingPunct="1">
              <a:spcAft>
                <a:spcPts val="1200"/>
              </a:spcAft>
              <a:buFont typeface="Wingdings 2" panose="05020102010507070707" pitchFamily="18" charset="2"/>
              <a:buNone/>
              <a:defRPr/>
            </a:pPr>
            <a:r>
              <a:rPr lang="en-US" sz="1800" dirty="0" smtClean="0">
                <a:solidFill>
                  <a:schemeClr val="tx1"/>
                </a:solidFill>
                <a:latin typeface="Lucida Bright" panose="02040602050505020304" pitchFamily="18" charset="0"/>
                <a:cs typeface="Times New Roman" panose="02020603050405020304" pitchFamily="18" charset="0"/>
              </a:rPr>
              <a:t>             #include  filename</a:t>
            </a:r>
          </a:p>
          <a:p>
            <a:pPr algn="just" eaLnBrk="1" fontAlgn="auto" hangingPunct="1">
              <a:spcAft>
                <a:spcPts val="1200"/>
              </a:spcAft>
              <a:buFont typeface="Wingdings 2" panose="05020102010507070707" pitchFamily="18" charset="2"/>
              <a:buNone/>
              <a:defRPr/>
            </a:pPr>
            <a:endParaRPr lang="en-US" sz="1800" dirty="0" smtClean="0">
              <a:solidFill>
                <a:schemeClr val="tx1"/>
              </a:solidFill>
              <a:latin typeface="Lucida Bright" panose="02040602050505020304" pitchFamily="18" charset="0"/>
              <a:cs typeface="Times New Roman" panose="02020603050405020304" pitchFamily="18" charset="0"/>
            </a:endParaRPr>
          </a:p>
          <a:p>
            <a:pPr marL="347980" indent="-231775" algn="just" eaLnBrk="1" fontAlgn="auto" hangingPunct="1">
              <a:spcAft>
                <a:spcPts val="1200"/>
              </a:spcAft>
              <a:buFont typeface="Arial" panose="020B0604020202020204" pitchFamily="34" charset="0"/>
              <a:buChar char="•"/>
              <a:defRPr/>
            </a:pPr>
            <a:r>
              <a:rPr lang="en-US" sz="1800" dirty="0" smtClean="0">
                <a:solidFill>
                  <a:schemeClr val="tx1"/>
                </a:solidFill>
                <a:latin typeface="Lucida Bright" panose="02040602050505020304" pitchFamily="18" charset="0"/>
                <a:cs typeface="Times New Roman" panose="02020603050405020304" pitchFamily="18" charset="0"/>
              </a:rPr>
              <a:t> It has two different forms</a:t>
            </a:r>
          </a:p>
          <a:p>
            <a:pPr algn="just" eaLnBrk="1" fontAlgn="auto" hangingPunct="1">
              <a:spcAft>
                <a:spcPts val="1200"/>
              </a:spcAft>
              <a:buFont typeface="Wingdings 2" panose="05020102010507070707" pitchFamily="18" charset="2"/>
              <a:buNone/>
              <a:defRPr/>
            </a:pPr>
            <a:r>
              <a:rPr lang="en-US" sz="1800" dirty="0" smtClean="0">
                <a:solidFill>
                  <a:schemeClr val="tx1"/>
                </a:solidFill>
                <a:latin typeface="Lucida Bright" panose="02040602050505020304" pitchFamily="18" charset="0"/>
                <a:cs typeface="Times New Roman" panose="02020603050405020304" pitchFamily="18" charset="0"/>
              </a:rPr>
              <a:t>		1. #include &lt;filename&gt;</a:t>
            </a:r>
          </a:p>
          <a:p>
            <a:pPr algn="just" eaLnBrk="1" fontAlgn="auto" hangingPunct="1">
              <a:spcAft>
                <a:spcPts val="1200"/>
              </a:spcAft>
              <a:buFont typeface="Wingdings 2" panose="05020102010507070707" pitchFamily="18" charset="2"/>
              <a:buNone/>
              <a:defRPr/>
            </a:pPr>
            <a:r>
              <a:rPr lang="en-US" sz="1800" dirty="0" smtClean="0">
                <a:solidFill>
                  <a:schemeClr val="tx1"/>
                </a:solidFill>
                <a:latin typeface="Lucida Bright" panose="02040602050505020304" pitchFamily="18" charset="0"/>
                <a:cs typeface="Times New Roman" panose="02020603050405020304" pitchFamily="18" charset="0"/>
              </a:rPr>
              <a:t>		2. #include “filename”</a:t>
            </a:r>
          </a:p>
          <a:p>
            <a:pPr algn="just" eaLnBrk="1" fontAlgn="auto" hangingPunct="1">
              <a:spcAft>
                <a:spcPts val="1200"/>
              </a:spcAft>
              <a:buFont typeface="Arial" panose="020B0604020202020204" pitchFamily="34" charset="0"/>
              <a:buChar char="•"/>
              <a:defRPr/>
            </a:pPr>
            <a:endParaRPr lang="en-US" sz="1800" dirty="0" smtClean="0"/>
          </a:p>
        </p:txBody>
      </p:sp>
      <p:sp>
        <p:nvSpPr>
          <p:cNvPr id="14336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800"/>
              <a:t> </a:t>
            </a:r>
            <a:r>
              <a:rPr lang="en-US" sz="4000"/>
              <a:t>awk Actions</a:t>
            </a:r>
            <a:endParaRPr lang="en-US" sz="2400"/>
          </a:p>
        </p:txBody>
      </p:sp>
      <p:pic>
        <p:nvPicPr>
          <p:cNvPr id="143365" name="Picture 5"/>
          <p:cNvPicPr>
            <a:picLocks noChangeAspect="1" noChangeArrowheads="1"/>
          </p:cNvPicPr>
          <p:nvPr/>
        </p:nvPicPr>
        <p:blipFill>
          <a:blip r:embed="rId2"/>
          <a:srcRect/>
          <a:stretch>
            <a:fillRect/>
          </a:stretch>
        </p:blipFill>
        <p:spPr bwMode="auto">
          <a:xfrm>
            <a:off x="0" y="942975"/>
            <a:ext cx="9182100" cy="4972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800"/>
              <a:t> </a:t>
            </a:r>
          </a:p>
          <a:p>
            <a:pPr algn="ctr"/>
            <a:r>
              <a:rPr lang="en-US" sz="4000"/>
              <a:t>awk expressions</a:t>
            </a:r>
            <a:endParaRPr lang="en-US" sz="2400"/>
          </a:p>
          <a:p>
            <a:pPr algn="ctr"/>
            <a:endParaRPr lang="en-US" sz="4000"/>
          </a:p>
        </p:txBody>
      </p:sp>
      <p:sp>
        <p:nvSpPr>
          <p:cNvPr id="9" name="Content Placeholder 8"/>
          <p:cNvSpPr>
            <a:spLocks noGrp="1"/>
          </p:cNvSpPr>
          <p:nvPr>
            <p:ph idx="1"/>
          </p:nvPr>
        </p:nvSpPr>
        <p:spPr>
          <a:xfrm>
            <a:off x="0" y="914400"/>
            <a:ext cx="9144000" cy="5943600"/>
          </a:xfrm>
        </p:spPr>
        <p:txBody>
          <a:bodyPr/>
          <a:lstStyle/>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rPr>
              <a:t>Expression is evaluated and returns value</a:t>
            </a:r>
          </a:p>
          <a:p>
            <a:pPr marL="800100" lvl="1" indent="-342900" fontAlgn="auto">
              <a:lnSpc>
                <a:spcPct val="150000"/>
              </a:lnSpc>
              <a:spcAft>
                <a:spcPts val="0"/>
              </a:spcAft>
              <a:buFont typeface="Wingdings 2" panose="05020102010507070707"/>
              <a:buChar char=""/>
              <a:defRPr/>
            </a:pPr>
            <a:r>
              <a:rPr lang="en-US" sz="1800" dirty="0" smtClean="0">
                <a:latin typeface="Lucida Bright" panose="02040602050505020304" pitchFamily="18" charset="0"/>
              </a:rPr>
              <a:t>consists of any combination of numeric and string constants, variables, operators, functions, and regular expressions</a:t>
            </a:r>
          </a:p>
          <a:p>
            <a:pPr fontAlgn="auto">
              <a:lnSpc>
                <a:spcPct val="150000"/>
              </a:lnSpc>
              <a:spcAft>
                <a:spcPts val="0"/>
              </a:spcAft>
              <a:buFont typeface="Arial" panose="020B0604020202020204" pitchFamily="34" charset="0"/>
              <a:buNone/>
              <a:defRPr/>
            </a:pPr>
            <a:r>
              <a:rPr lang="en-US" sz="1800" kern="0" dirty="0" smtClean="0">
                <a:latin typeface="Lucida Bright" panose="02040602050505020304" pitchFamily="18" charset="0"/>
                <a:cs typeface="Courier New" panose="02070309020205020404" pitchFamily="49" charset="0"/>
              </a:rPr>
              <a:t>Can involve variables</a:t>
            </a:r>
          </a:p>
          <a:p>
            <a:pPr marL="800100" lvl="1" indent="-342900" fontAlgn="auto">
              <a:lnSpc>
                <a:spcPct val="150000"/>
              </a:lnSpc>
              <a:spcAft>
                <a:spcPts val="0"/>
              </a:spcAft>
              <a:buFont typeface="Wingdings 2" panose="05020102010507070707"/>
              <a:buChar char=""/>
              <a:defRPr/>
            </a:pPr>
            <a:r>
              <a:rPr lang="en-US" sz="1800" kern="0" dirty="0" smtClean="0">
                <a:latin typeface="Lucida Bright" panose="02040602050505020304" pitchFamily="18" charset="0"/>
                <a:cs typeface="Courier New" panose="02070309020205020404" pitchFamily="49" charset="0"/>
              </a:rPr>
              <a:t>As part of expression evaluation</a:t>
            </a:r>
          </a:p>
          <a:p>
            <a:pPr marL="800100" lvl="1" indent="-342900" fontAlgn="auto">
              <a:lnSpc>
                <a:spcPct val="150000"/>
              </a:lnSpc>
              <a:spcAft>
                <a:spcPts val="0"/>
              </a:spcAft>
              <a:buFont typeface="Wingdings 2" panose="05020102010507070707"/>
              <a:buChar char=""/>
              <a:defRPr/>
            </a:pPr>
            <a:r>
              <a:rPr lang="en-US" sz="1800" kern="0" dirty="0" smtClean="0">
                <a:latin typeface="Lucida Bright" panose="02040602050505020304" pitchFamily="18" charset="0"/>
                <a:cs typeface="Courier New" panose="02070309020205020404" pitchFamily="49" charset="0"/>
              </a:rPr>
              <a:t>As target of assignment</a:t>
            </a:r>
          </a:p>
          <a:p>
            <a:pPr marL="274320" indent="-274320" fontAlgn="auto">
              <a:lnSpc>
                <a:spcPct val="150000"/>
              </a:lnSpc>
              <a:spcAft>
                <a:spcPts val="0"/>
              </a:spcAft>
              <a:buFont typeface="Wingdings" panose="05000000000000000000"/>
              <a:buChar char=""/>
              <a:defRPr/>
            </a:pPr>
            <a:endParaRPr lang="en-US" sz="1800" dirty="0" smtClean="0">
              <a:latin typeface="Lucida Bright" panose="02040602050505020304" pitchFamily="18" charset="0"/>
            </a:endParaRPr>
          </a:p>
          <a:p>
            <a:pPr>
              <a:lnSpc>
                <a:spcPct val="150000"/>
              </a:lnSpc>
              <a:defRPr/>
            </a:pPr>
            <a:endParaRPr lang="en-US" sz="18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800"/>
              <a:t> </a:t>
            </a:r>
          </a:p>
          <a:p>
            <a:pPr algn="ctr"/>
            <a:r>
              <a:rPr lang="en-US" sz="4000"/>
              <a:t>awk variables</a:t>
            </a:r>
            <a:endParaRPr lang="en-US" sz="2400"/>
          </a:p>
          <a:p>
            <a:pPr algn="ctr"/>
            <a:endParaRPr lang="en-US" sz="4000"/>
          </a:p>
        </p:txBody>
      </p:sp>
      <p:sp>
        <p:nvSpPr>
          <p:cNvPr id="145411" name="Content Placeholder 8"/>
          <p:cNvSpPr>
            <a:spLocks noGrp="1"/>
          </p:cNvSpPr>
          <p:nvPr>
            <p:ph idx="1"/>
          </p:nvPr>
        </p:nvSpPr>
        <p:spPr>
          <a:xfrm>
            <a:off x="0" y="914400"/>
            <a:ext cx="9144000" cy="6248400"/>
          </a:xfrm>
        </p:spPr>
        <p:txBody>
          <a:bodyPr/>
          <a:lstStyle/>
          <a:p>
            <a:pPr>
              <a:lnSpc>
                <a:spcPct val="150000"/>
              </a:lnSpc>
            </a:pPr>
            <a:r>
              <a:rPr lang="en-US" sz="1800" smtClean="0">
                <a:latin typeface="Lucida Bright" panose="02040602050505020304" pitchFamily="18" charset="0"/>
              </a:rPr>
              <a:t>A user can define any number of variables within an awk script</a:t>
            </a:r>
          </a:p>
          <a:p>
            <a:pPr>
              <a:lnSpc>
                <a:spcPct val="150000"/>
              </a:lnSpc>
            </a:pPr>
            <a:r>
              <a:rPr lang="en-US" sz="1800" smtClean="0">
                <a:latin typeface="Lucida Bright" panose="02040602050505020304" pitchFamily="18" charset="0"/>
              </a:rPr>
              <a:t>The variables can be numbers, strings, or arrays</a:t>
            </a:r>
          </a:p>
          <a:p>
            <a:pPr>
              <a:lnSpc>
                <a:spcPct val="150000"/>
              </a:lnSpc>
            </a:pPr>
            <a:r>
              <a:rPr lang="en-US" sz="1800" smtClean="0">
                <a:latin typeface="Lucida Bright" panose="02040602050505020304" pitchFamily="18" charset="0"/>
              </a:rPr>
              <a:t>Variable names start with a letter, followed by letters, digits, and underscore</a:t>
            </a:r>
          </a:p>
          <a:p>
            <a:pPr>
              <a:lnSpc>
                <a:spcPct val="150000"/>
              </a:lnSpc>
            </a:pPr>
            <a:r>
              <a:rPr lang="en-US" sz="1800" smtClean="0">
                <a:latin typeface="Lucida Bright" panose="02040602050505020304" pitchFamily="18" charset="0"/>
              </a:rPr>
              <a:t>Variables come into existence the first time they are referenced; therefore, they do not need to be declared before use</a:t>
            </a:r>
          </a:p>
          <a:p>
            <a:pPr>
              <a:lnSpc>
                <a:spcPct val="150000"/>
              </a:lnSpc>
            </a:pPr>
            <a:r>
              <a:rPr lang="en-US" sz="1800" smtClean="0">
                <a:latin typeface="Lucida Bright" panose="02040602050505020304" pitchFamily="18" charset="0"/>
              </a:rPr>
              <a:t>All variables are initially created as strings and initialized to a null string “”</a:t>
            </a:r>
          </a:p>
          <a:p>
            <a:pPr>
              <a:buFont typeface="Wingdings" panose="05000000000000000000" pitchFamily="2" charset="2"/>
              <a:buNone/>
            </a:pPr>
            <a:r>
              <a:rPr lang="en-US" sz="1800" u="sng" smtClean="0">
                <a:latin typeface="Lucida Bright" panose="02040602050505020304" pitchFamily="18" charset="0"/>
              </a:rPr>
              <a:t>Format:</a:t>
            </a:r>
            <a:r>
              <a:rPr lang="en-US" sz="1800" smtClean="0">
                <a:latin typeface="Lucida Bright" panose="02040602050505020304" pitchFamily="18" charset="0"/>
              </a:rPr>
              <a:t> </a:t>
            </a:r>
          </a:p>
          <a:p>
            <a:pPr>
              <a:buFont typeface="Wingdings" panose="05000000000000000000" pitchFamily="2" charset="2"/>
              <a:buNone/>
            </a:pPr>
            <a:r>
              <a:rPr lang="en-US" sz="1800" smtClean="0">
                <a:latin typeface="Lucida Bright" panose="02040602050505020304" pitchFamily="18" charset="0"/>
              </a:rPr>
              <a:t>	</a:t>
            </a:r>
            <a:r>
              <a:rPr lang="en-US" sz="1800" smtClean="0">
                <a:latin typeface="Lucida Bright" panose="02040602050505020304" pitchFamily="18" charset="0"/>
                <a:cs typeface="Courier New" panose="02070309020205020404" pitchFamily="49" charset="0"/>
              </a:rPr>
              <a:t>variable = expression</a:t>
            </a:r>
          </a:p>
          <a:p>
            <a:pPr>
              <a:buFont typeface="Wingdings" panose="05000000000000000000" pitchFamily="2" charset="2"/>
              <a:buNone/>
            </a:pPr>
            <a:r>
              <a:rPr lang="en-US" sz="1800" u="sng" smtClean="0">
                <a:latin typeface="Lucida Bright" panose="02040602050505020304" pitchFamily="18" charset="0"/>
              </a:rPr>
              <a:t>Examples:</a:t>
            </a:r>
          </a:p>
          <a:p>
            <a:pPr>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awk '$1 ~ /Tom/ </a:t>
            </a:r>
          </a:p>
          <a:p>
            <a:pPr>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{wage = $3 * $4; print wage}' </a:t>
            </a:r>
          </a:p>
          <a:p>
            <a:pPr>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filename</a:t>
            </a:r>
          </a:p>
          <a:p>
            <a:pPr>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awk '$4 == "CA" </a:t>
            </a:r>
          </a:p>
          <a:p>
            <a:pPr>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{$4 = "California"; print $0}'</a:t>
            </a:r>
          </a:p>
          <a:p>
            <a:pPr>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       filename</a:t>
            </a:r>
          </a:p>
          <a:p>
            <a:endParaRPr lang="en-US" sz="1800" smtClean="0">
              <a:latin typeface="Lucida Bright" panose="02040602050505020304" pitchFamily="18" charset="0"/>
            </a:endParaRPr>
          </a:p>
          <a:p>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 awk assignment operators</a:t>
            </a:r>
            <a:endParaRPr lang="en-US" sz="2400"/>
          </a:p>
        </p:txBody>
      </p:sp>
      <p:sp>
        <p:nvSpPr>
          <p:cNvPr id="146435" name="Content Placeholder 7"/>
          <p:cNvSpPr>
            <a:spLocks noGrp="1"/>
          </p:cNvSpPr>
          <p:nvPr>
            <p:ph idx="1"/>
          </p:nvPr>
        </p:nvSpPr>
        <p:spPr>
          <a:xfrm>
            <a:off x="0" y="990600"/>
            <a:ext cx="9144000" cy="5867400"/>
          </a:xfrm>
        </p:spPr>
        <p:txBody>
          <a:bodyPr/>
          <a:lstStyle/>
          <a:p>
            <a:pPr>
              <a:lnSpc>
                <a:spcPct val="150000"/>
              </a:lnSpc>
              <a:buFont typeface="Arial" panose="020B0604020202020204" pitchFamily="34" charset="0"/>
              <a:buNone/>
            </a:pPr>
            <a:r>
              <a:rPr lang="en-US" sz="1800" smtClean="0">
                <a:latin typeface="Lucida Bright" panose="02040602050505020304" pitchFamily="18" charset="0"/>
              </a:rPr>
              <a:t>=		assign result of right-hand-side expression to </a:t>
            </a:r>
          </a:p>
          <a:p>
            <a:pPr>
              <a:lnSpc>
                <a:spcPct val="150000"/>
              </a:lnSpc>
              <a:buFont typeface="Arial" panose="020B0604020202020204" pitchFamily="34" charset="0"/>
              <a:buNone/>
            </a:pPr>
            <a:r>
              <a:rPr lang="en-US" sz="1800" smtClean="0">
                <a:latin typeface="Lucida Bright" panose="02040602050505020304" pitchFamily="18" charset="0"/>
              </a:rPr>
              <a:t>		left-hand-side variable</a:t>
            </a:r>
          </a:p>
          <a:p>
            <a:pPr>
              <a:lnSpc>
                <a:spcPct val="150000"/>
              </a:lnSpc>
              <a:buFont typeface="Arial" panose="020B0604020202020204" pitchFamily="34" charset="0"/>
              <a:buNone/>
            </a:pPr>
            <a:r>
              <a:rPr lang="en-US" sz="1800" smtClean="0">
                <a:latin typeface="Lucida Bright" panose="02040602050505020304" pitchFamily="18" charset="0"/>
              </a:rPr>
              <a:t>++	Add 1 to variable</a:t>
            </a:r>
          </a:p>
          <a:p>
            <a:pPr>
              <a:lnSpc>
                <a:spcPct val="150000"/>
              </a:lnSpc>
              <a:buFont typeface="Arial" panose="020B0604020202020204" pitchFamily="34" charset="0"/>
              <a:buNone/>
            </a:pPr>
            <a:r>
              <a:rPr lang="en-US" sz="1800" smtClean="0">
                <a:latin typeface="Lucida Bright" panose="02040602050505020304" pitchFamily="18" charset="0"/>
              </a:rPr>
              <a:t>--		Subtract 1 from variable</a:t>
            </a:r>
          </a:p>
          <a:p>
            <a:pPr>
              <a:lnSpc>
                <a:spcPct val="150000"/>
              </a:lnSpc>
              <a:buFont typeface="Arial" panose="020B0604020202020204" pitchFamily="34" charset="0"/>
              <a:buNone/>
            </a:pPr>
            <a:r>
              <a:rPr lang="en-US" sz="1800" smtClean="0">
                <a:latin typeface="Lucida Bright" panose="02040602050505020304" pitchFamily="18" charset="0"/>
              </a:rPr>
              <a:t>+=	Assign result of addition</a:t>
            </a:r>
          </a:p>
          <a:p>
            <a:pPr>
              <a:lnSpc>
                <a:spcPct val="150000"/>
              </a:lnSpc>
              <a:buFont typeface="Arial" panose="020B0604020202020204" pitchFamily="34" charset="0"/>
              <a:buNone/>
            </a:pPr>
            <a:r>
              <a:rPr lang="en-US" sz="1800" smtClean="0">
                <a:latin typeface="Lucida Bright" panose="02040602050505020304" pitchFamily="18" charset="0"/>
              </a:rPr>
              <a:t>-=		Assign result of subtraction</a:t>
            </a:r>
          </a:p>
          <a:p>
            <a:pPr>
              <a:lnSpc>
                <a:spcPct val="150000"/>
              </a:lnSpc>
              <a:buFont typeface="Arial" panose="020B0604020202020204" pitchFamily="34" charset="0"/>
              <a:buNone/>
            </a:pPr>
            <a:r>
              <a:rPr lang="en-US" sz="1800" smtClean="0">
                <a:latin typeface="Lucida Bright" panose="02040602050505020304" pitchFamily="18" charset="0"/>
              </a:rPr>
              <a:t>*=		Assign result of multiplication</a:t>
            </a:r>
          </a:p>
          <a:p>
            <a:pPr>
              <a:lnSpc>
                <a:spcPct val="150000"/>
              </a:lnSpc>
              <a:buFont typeface="Arial" panose="020B0604020202020204" pitchFamily="34" charset="0"/>
              <a:buNone/>
            </a:pPr>
            <a:r>
              <a:rPr lang="en-US" sz="1800" smtClean="0">
                <a:latin typeface="Lucida Bright" panose="02040602050505020304" pitchFamily="18" charset="0"/>
              </a:rPr>
              <a:t>/=		Assign result of division</a:t>
            </a:r>
          </a:p>
          <a:p>
            <a:pPr>
              <a:lnSpc>
                <a:spcPct val="150000"/>
              </a:lnSpc>
              <a:buFont typeface="Arial" panose="020B0604020202020204" pitchFamily="34" charset="0"/>
              <a:buNone/>
            </a:pPr>
            <a:r>
              <a:rPr lang="en-US" sz="1800" smtClean="0">
                <a:latin typeface="Lucida Bright" panose="02040602050505020304" pitchFamily="18" charset="0"/>
              </a:rPr>
              <a:t>%=	Assign result of modulo</a:t>
            </a:r>
          </a:p>
          <a:p>
            <a:pPr>
              <a:lnSpc>
                <a:spcPct val="150000"/>
              </a:lnSpc>
              <a:buFont typeface="Arial" panose="020B0604020202020204" pitchFamily="34" charset="0"/>
              <a:buNone/>
            </a:pPr>
            <a:r>
              <a:rPr lang="en-US" sz="1800" smtClean="0">
                <a:latin typeface="Lucida Bright" panose="02040602050505020304" pitchFamily="18" charset="0"/>
              </a:rPr>
              <a:t>^=		Assign result of exponentiation</a:t>
            </a:r>
          </a:p>
          <a:p>
            <a:pPr>
              <a:lnSpc>
                <a:spcPct val="150000"/>
              </a:lnSpc>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a:t>Output Statements</a:t>
            </a:r>
            <a:endParaRPr lang="en-US" sz="2400"/>
          </a:p>
        </p:txBody>
      </p:sp>
      <p:sp>
        <p:nvSpPr>
          <p:cNvPr id="148483" name="Content Placeholder 7"/>
          <p:cNvSpPr>
            <a:spLocks noGrp="1"/>
          </p:cNvSpPr>
          <p:nvPr>
            <p:ph idx="1"/>
          </p:nvPr>
        </p:nvSpPr>
        <p:spPr>
          <a:xfrm>
            <a:off x="0" y="914400"/>
            <a:ext cx="9144000" cy="5943600"/>
          </a:xfrm>
        </p:spPr>
        <p:txBody>
          <a:bodyPr/>
          <a:lstStyle/>
          <a:p>
            <a:pPr>
              <a:lnSpc>
                <a:spcPct val="150000"/>
              </a:lnSpc>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print</a:t>
            </a:r>
            <a:r>
              <a:rPr lang="en-US" sz="1800" smtClean="0">
                <a:latin typeface="Lucida Bright" panose="02040602050505020304" pitchFamily="18" charset="0"/>
              </a:rPr>
              <a:t>  </a:t>
            </a:r>
          </a:p>
          <a:p>
            <a:pPr>
              <a:lnSpc>
                <a:spcPct val="150000"/>
              </a:lnSpc>
              <a:buFont typeface="Wingdings" panose="05000000000000000000" pitchFamily="2" charset="2"/>
              <a:buNone/>
            </a:pPr>
            <a:r>
              <a:rPr lang="en-US" sz="1800" smtClean="0">
                <a:latin typeface="Lucida Bright" panose="02040602050505020304" pitchFamily="18" charset="0"/>
              </a:rPr>
              <a:t>	print easy and simple output</a:t>
            </a:r>
          </a:p>
          <a:p>
            <a:pPr>
              <a:lnSpc>
                <a:spcPct val="150000"/>
              </a:lnSpc>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printf</a:t>
            </a:r>
            <a:r>
              <a:rPr lang="en-US" sz="1800" smtClean="0">
                <a:latin typeface="Lucida Bright" panose="02040602050505020304" pitchFamily="18" charset="0"/>
              </a:rPr>
              <a:t>  </a:t>
            </a:r>
          </a:p>
          <a:p>
            <a:pPr>
              <a:lnSpc>
                <a:spcPct val="150000"/>
              </a:lnSpc>
              <a:buFont typeface="Wingdings" panose="05000000000000000000" pitchFamily="2" charset="2"/>
              <a:buNone/>
            </a:pPr>
            <a:r>
              <a:rPr lang="en-US" sz="1800" smtClean="0">
                <a:latin typeface="Lucida Bright" panose="02040602050505020304" pitchFamily="18" charset="0"/>
              </a:rPr>
              <a:t>	print formatted (similar to C printf)</a:t>
            </a:r>
          </a:p>
          <a:p>
            <a:pPr>
              <a:lnSpc>
                <a:spcPct val="150000"/>
              </a:lnSpc>
              <a:buFont typeface="Wingdings" panose="05000000000000000000" pitchFamily="2" charset="2"/>
              <a:buNone/>
            </a:pPr>
            <a:r>
              <a:rPr lang="en-US" sz="1800" smtClean="0">
                <a:latin typeface="Lucida Bright" panose="02040602050505020304" pitchFamily="18" charset="0"/>
                <a:cs typeface="Courier New" panose="02070309020205020404" pitchFamily="49" charset="0"/>
              </a:rPr>
              <a:t>sprintf</a:t>
            </a:r>
            <a:r>
              <a:rPr lang="en-US" sz="1800" smtClean="0">
                <a:latin typeface="Lucida Bright" panose="02040602050505020304" pitchFamily="18" charset="0"/>
              </a:rPr>
              <a:t> </a:t>
            </a:r>
          </a:p>
          <a:p>
            <a:pPr>
              <a:lnSpc>
                <a:spcPct val="150000"/>
              </a:lnSpc>
              <a:buFont typeface="Wingdings" panose="05000000000000000000" pitchFamily="2" charset="2"/>
              <a:buNone/>
            </a:pPr>
            <a:r>
              <a:rPr lang="en-US" sz="1800" smtClean="0">
                <a:latin typeface="Lucida Bright" panose="02040602050505020304" pitchFamily="18" charset="0"/>
              </a:rPr>
              <a:t>	format string (similar to C sprintf)</a:t>
            </a:r>
          </a:p>
          <a:p>
            <a:pPr lvl="1">
              <a:lnSpc>
                <a:spcPct val="150000"/>
              </a:lnSpc>
            </a:pPr>
            <a:endParaRPr lang="en-US" sz="1800" smtClean="0">
              <a:latin typeface="Lucida Bright" panose="02040602050505020304" pitchFamily="18" charset="0"/>
            </a:endParaRPr>
          </a:p>
          <a:p>
            <a:pPr>
              <a:lnSpc>
                <a:spcPct val="150000"/>
              </a:lnSpc>
              <a:buFont typeface="Wingdings" panose="05000000000000000000" pitchFamily="2" charset="2"/>
              <a:buNone/>
            </a:pPr>
            <a:endParaRPr lang="en-US" sz="1800" smtClean="0">
              <a:latin typeface="Lucida Bright" panose="02040602050505020304" pitchFamily="18" charset="0"/>
            </a:endParaRPr>
          </a:p>
          <a:p>
            <a:pPr>
              <a:lnSpc>
                <a:spcPct val="150000"/>
              </a:lnSpc>
            </a:pPr>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4"/>
          <p:cNvSpPr>
            <a:spLocks noChangeArrowheads="1"/>
          </p:cNvSpPr>
          <p:nvPr/>
        </p:nvSpPr>
        <p:spPr bwMode="auto">
          <a:xfrm>
            <a:off x="228600" y="942975"/>
            <a:ext cx="9144000" cy="0"/>
          </a:xfrm>
          <a:prstGeom prst="rect">
            <a:avLst/>
          </a:prstGeom>
          <a:noFill/>
          <a:ln w="9525">
            <a:noFill/>
            <a:miter lim="800000"/>
          </a:ln>
        </p:spPr>
        <p:txBody>
          <a:bodyPr wrap="none" anchor="ctr">
            <a:spAutoFit/>
          </a:bodyPr>
          <a:lstStyle/>
          <a:p>
            <a:r>
              <a:rPr lang="en-US" sz="1200">
                <a:latin typeface="Verdana" panose="020B0604030504040204" pitchFamily="34" charset="0"/>
                <a:cs typeface="Times New Roman" panose="02020603050405020304" pitchFamily="18" charset="0"/>
              </a:rPr>
              <a:t> </a:t>
            </a:r>
            <a:endParaRPr lang="en-US" sz="1100"/>
          </a:p>
          <a:p>
            <a:pPr eaLnBrk="0" hangingPunct="0"/>
            <a:endParaRPr lang="en-US"/>
          </a:p>
        </p:txBody>
      </p:sp>
      <p:sp>
        <p:nvSpPr>
          <p:cNvPr id="161795"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r>
              <a:rPr lang="en-US" sz="3200"/>
              <a:t>Awk control structures</a:t>
            </a:r>
            <a:endParaRPr lang="en-US" sz="3600"/>
          </a:p>
        </p:txBody>
      </p:sp>
      <p:sp>
        <p:nvSpPr>
          <p:cNvPr id="161797" name="Rectangle 9"/>
          <p:cNvSpPr>
            <a:spLocks noChangeArrowheads="1"/>
          </p:cNvSpPr>
          <p:nvPr/>
        </p:nvSpPr>
        <p:spPr bwMode="auto">
          <a:xfrm>
            <a:off x="0" y="990600"/>
            <a:ext cx="9144000" cy="4194175"/>
          </a:xfrm>
          <a:prstGeom prst="rect">
            <a:avLst/>
          </a:prstGeom>
          <a:noFill/>
          <a:ln w="9525">
            <a:noFill/>
            <a:miter lim="800000"/>
          </a:ln>
        </p:spPr>
        <p:txBody>
          <a:bodyPr>
            <a:spAutoFit/>
          </a:bodyPr>
          <a:lstStyle/>
          <a:p>
            <a:pPr>
              <a:lnSpc>
                <a:spcPct val="150000"/>
              </a:lnSpc>
              <a:buFont typeface="Arial" panose="020B0604020202020204" pitchFamily="34" charset="0"/>
              <a:buChar char="•"/>
            </a:pPr>
            <a:r>
              <a:rPr lang="en-US" dirty="0">
                <a:latin typeface="Lucida Bright" panose="02040602050505020304" pitchFamily="18" charset="0"/>
              </a:rPr>
              <a:t>Conditional</a:t>
            </a:r>
          </a:p>
          <a:p>
            <a:pPr lvl="1">
              <a:lnSpc>
                <a:spcPct val="150000"/>
              </a:lnSpc>
              <a:buFont typeface="Arial" panose="020B0604020202020204" pitchFamily="34" charset="0"/>
              <a:buChar char="•"/>
            </a:pPr>
            <a:r>
              <a:rPr lang="en-US" dirty="0">
                <a:latin typeface="Lucida Bright" panose="02040602050505020304" pitchFamily="18" charset="0"/>
              </a:rPr>
              <a:t>if-else</a:t>
            </a:r>
          </a:p>
          <a:p>
            <a:pPr>
              <a:lnSpc>
                <a:spcPct val="150000"/>
              </a:lnSpc>
              <a:buFont typeface="Arial" panose="020B0604020202020204" pitchFamily="34" charset="0"/>
              <a:buChar char="•"/>
            </a:pPr>
            <a:r>
              <a:rPr lang="en-US" dirty="0">
                <a:latin typeface="Lucida Bright" panose="02040602050505020304" pitchFamily="18" charset="0"/>
              </a:rPr>
              <a:t>Repetition</a:t>
            </a:r>
          </a:p>
          <a:p>
            <a:pPr lvl="1">
              <a:lnSpc>
                <a:spcPct val="150000"/>
              </a:lnSpc>
              <a:buFont typeface="Arial" panose="020B0604020202020204" pitchFamily="34" charset="0"/>
              <a:buChar char="•"/>
            </a:pPr>
            <a:r>
              <a:rPr lang="en-US" dirty="0">
                <a:latin typeface="Lucida Bright" panose="02040602050505020304" pitchFamily="18" charset="0"/>
              </a:rPr>
              <a:t>for</a:t>
            </a:r>
          </a:p>
          <a:p>
            <a:pPr lvl="2">
              <a:lnSpc>
                <a:spcPct val="150000"/>
              </a:lnSpc>
              <a:buFont typeface="Arial" panose="020B0604020202020204" pitchFamily="34" charset="0"/>
              <a:buChar char="•"/>
            </a:pPr>
            <a:r>
              <a:rPr lang="en-US" dirty="0">
                <a:latin typeface="Lucida Bright" panose="02040602050505020304" pitchFamily="18" charset="0"/>
              </a:rPr>
              <a:t>with counter</a:t>
            </a:r>
          </a:p>
          <a:p>
            <a:pPr lvl="2">
              <a:lnSpc>
                <a:spcPct val="150000"/>
              </a:lnSpc>
              <a:buFont typeface="Arial" panose="020B0604020202020204" pitchFamily="34" charset="0"/>
              <a:buChar char="•"/>
            </a:pPr>
            <a:r>
              <a:rPr lang="en-US" dirty="0">
                <a:latin typeface="Lucida Bright" panose="02040602050505020304" pitchFamily="18" charset="0"/>
              </a:rPr>
              <a:t>with array index</a:t>
            </a:r>
          </a:p>
          <a:p>
            <a:pPr lvl="1">
              <a:lnSpc>
                <a:spcPct val="150000"/>
              </a:lnSpc>
              <a:buFont typeface="Arial" panose="020B0604020202020204" pitchFamily="34" charset="0"/>
              <a:buChar char="•"/>
            </a:pPr>
            <a:r>
              <a:rPr lang="en-US" dirty="0">
                <a:latin typeface="Lucida Bright" panose="02040602050505020304" pitchFamily="18" charset="0"/>
              </a:rPr>
              <a:t>while</a:t>
            </a:r>
          </a:p>
          <a:p>
            <a:pPr lvl="1">
              <a:lnSpc>
                <a:spcPct val="150000"/>
              </a:lnSpc>
              <a:buFont typeface="Arial" panose="020B0604020202020204" pitchFamily="34" charset="0"/>
              <a:buChar char="•"/>
            </a:pPr>
            <a:r>
              <a:rPr lang="en-US" dirty="0">
                <a:latin typeface="Lucida Bright" panose="02040602050505020304" pitchFamily="18" charset="0"/>
              </a:rPr>
              <a:t>do-while</a:t>
            </a:r>
          </a:p>
          <a:p>
            <a:pPr lvl="1">
              <a:lnSpc>
                <a:spcPct val="150000"/>
              </a:lnSpc>
              <a:buFont typeface="Arial" panose="020B0604020202020204" pitchFamily="34" charset="0"/>
              <a:buChar char="•"/>
            </a:pPr>
            <a:endParaRPr lang="en-US" dirty="0">
              <a:latin typeface="Lucida Bright" panose="02040602050505020304" pitchFamily="18" charset="0"/>
            </a:endParaRPr>
          </a:p>
          <a:p>
            <a:pPr lvl="1">
              <a:lnSpc>
                <a:spcPct val="150000"/>
              </a:lnSpc>
              <a:buFont typeface="Arial" panose="020B0604020202020204" pitchFamily="34" charset="0"/>
              <a:buChar char="•"/>
            </a:pPr>
            <a:r>
              <a:rPr lang="en-US" dirty="0">
                <a:latin typeface="Lucida Bright" panose="02040602050505020304" pitchFamily="18" charset="0"/>
              </a:rPr>
              <a:t>also: break, continue</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tabLst>
                <a:tab pos="457200" algn="l"/>
              </a:tabLst>
            </a:pPr>
            <a:r>
              <a:rPr lang="en-US" sz="3200"/>
              <a:t>if Statement</a:t>
            </a:r>
          </a:p>
        </p:txBody>
      </p:sp>
      <p:sp>
        <p:nvSpPr>
          <p:cNvPr id="162819" name="Content Placeholder 5"/>
          <p:cNvSpPr>
            <a:spLocks noGrp="1"/>
          </p:cNvSpPr>
          <p:nvPr>
            <p:ph idx="1"/>
          </p:nvPr>
        </p:nvSpPr>
        <p:spPr>
          <a:xfrm>
            <a:off x="0" y="914400"/>
            <a:ext cx="8686800" cy="5211763"/>
          </a:xfrm>
        </p:spPr>
        <p:txBody>
          <a:bodyPr/>
          <a:lstStyle/>
          <a:p>
            <a:pPr>
              <a:lnSpc>
                <a:spcPct val="150000"/>
              </a:lnSpc>
              <a:buFont typeface="Wingdings" panose="05000000000000000000" pitchFamily="2" charset="2"/>
              <a:buNone/>
            </a:pPr>
            <a:r>
              <a:rPr lang="en-US" sz="1800" u="sng" dirty="0" smtClean="0">
                <a:latin typeface="Lucida Bright" panose="02040602050505020304" pitchFamily="18" charset="0"/>
              </a:rPr>
              <a:t>Syntax:</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if (conditional expression)</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	statement-1</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else</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	statement-2</a:t>
            </a:r>
          </a:p>
          <a:p>
            <a:pPr>
              <a:lnSpc>
                <a:spcPct val="150000"/>
              </a:lnSpc>
              <a:buFont typeface="Wingdings" panose="05000000000000000000" pitchFamily="2" charset="2"/>
              <a:buNone/>
            </a:pPr>
            <a:r>
              <a:rPr lang="en-US" sz="1800" u="sng" dirty="0" smtClean="0">
                <a:latin typeface="Lucida Bright" panose="02040602050505020304" pitchFamily="18" charset="0"/>
              </a:rPr>
              <a:t>Example:</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if ( NR &lt; 3 )</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	print $2</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else</a:t>
            </a:r>
          </a:p>
          <a:p>
            <a:pPr lvl="1">
              <a:lnSpc>
                <a:spcPct val="150000"/>
              </a:lnSpc>
              <a:buFont typeface="Wingdings 2" panose="05020102010507070707" pitchFamily="18" charset="2"/>
              <a:buNone/>
            </a:pPr>
            <a:r>
              <a:rPr lang="en-US" sz="1800" dirty="0" smtClean="0">
                <a:latin typeface="Lucida Bright" panose="02040602050505020304" pitchFamily="18" charset="0"/>
                <a:cs typeface="Courier New" panose="02070309020205020404" pitchFamily="49" charset="0"/>
              </a:rPr>
              <a:t>	print $3</a:t>
            </a:r>
          </a:p>
          <a:p>
            <a:pPr>
              <a:lnSpc>
                <a:spcPct val="150000"/>
              </a:lnSpc>
            </a:pPr>
            <a:endParaRPr lang="en-US" sz="1800"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4"/>
          <p:cNvSpPr>
            <a:spLocks noChangeArrowheads="1"/>
          </p:cNvSpPr>
          <p:nvPr/>
        </p:nvSpPr>
        <p:spPr bwMode="auto">
          <a:xfrm>
            <a:off x="228600" y="942975"/>
            <a:ext cx="9144000" cy="0"/>
          </a:xfrm>
          <a:prstGeom prst="rect">
            <a:avLst/>
          </a:prstGeom>
          <a:noFill/>
          <a:ln w="9525">
            <a:noFill/>
            <a:miter lim="800000"/>
          </a:ln>
        </p:spPr>
        <p:txBody>
          <a:bodyPr wrap="none" anchor="ctr">
            <a:spAutoFit/>
          </a:bodyPr>
          <a:lstStyle/>
          <a:p>
            <a:r>
              <a:rPr lang="en-US" sz="1200">
                <a:latin typeface="Verdana" panose="020B0604030504040204" pitchFamily="34" charset="0"/>
                <a:cs typeface="Times New Roman" panose="02020603050405020304" pitchFamily="18" charset="0"/>
              </a:rPr>
              <a:t> </a:t>
            </a:r>
            <a:endParaRPr lang="en-US" sz="1100"/>
          </a:p>
          <a:p>
            <a:pPr eaLnBrk="0" hangingPunct="0"/>
            <a:endParaRPr lang="en-US"/>
          </a:p>
        </p:txBody>
      </p:sp>
      <p:sp>
        <p:nvSpPr>
          <p:cNvPr id="16384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r>
              <a:rPr lang="en-US" sz="3200"/>
              <a:t>for Loop</a:t>
            </a:r>
          </a:p>
        </p:txBody>
      </p:sp>
      <p:sp>
        <p:nvSpPr>
          <p:cNvPr id="163844" name="Content Placeholder 17"/>
          <p:cNvSpPr>
            <a:spLocks noGrp="1"/>
          </p:cNvSpPr>
          <p:nvPr>
            <p:ph idx="1"/>
          </p:nvPr>
        </p:nvSpPr>
        <p:spPr>
          <a:xfrm>
            <a:off x="0" y="914400"/>
            <a:ext cx="9144000" cy="6324600"/>
          </a:xfrm>
        </p:spPr>
        <p:txBody>
          <a:bodyPr/>
          <a:lstStyle/>
          <a:p>
            <a:pPr>
              <a:buFont typeface="Wingdings" panose="05000000000000000000" pitchFamily="2" charset="2"/>
              <a:buNone/>
            </a:pPr>
            <a:r>
              <a:rPr lang="en-US" sz="1800" u="sng" smtClean="0">
                <a:latin typeface="Lucida Bright" panose="02040602050505020304" pitchFamily="18" charset="0"/>
              </a:rPr>
              <a:t>Syntax:</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for (initialization; limit-test; update)</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statement</a:t>
            </a:r>
          </a:p>
          <a:p>
            <a:pPr>
              <a:buFont typeface="Wingdings" panose="05000000000000000000" pitchFamily="2" charset="2"/>
              <a:buNone/>
            </a:pPr>
            <a:r>
              <a:rPr lang="en-US" sz="1800" u="sng" smtClean="0">
                <a:latin typeface="Lucida Bright" panose="02040602050505020304" pitchFamily="18" charset="0"/>
              </a:rPr>
              <a:t>Example:</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for (i = 1; i &lt;= NR; i++)</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total += $i</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count++</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a:t>
            </a:r>
          </a:p>
          <a:p>
            <a:r>
              <a:rPr lang="en-US" sz="1800" smtClean="0">
                <a:latin typeface="Lucida Bright" panose="02040602050505020304" pitchFamily="18" charset="0"/>
              </a:rPr>
              <a:t>For loop for arrays</a:t>
            </a:r>
          </a:p>
          <a:p>
            <a:pPr>
              <a:buFont typeface="Wingdings" panose="05000000000000000000" pitchFamily="2" charset="2"/>
              <a:buNone/>
            </a:pPr>
            <a:r>
              <a:rPr lang="en-US" sz="1800" u="sng" smtClean="0">
                <a:latin typeface="Lucida Bright" panose="02040602050505020304" pitchFamily="18" charset="0"/>
              </a:rPr>
              <a:t>Syntax:</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for (var in array)</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statement</a:t>
            </a:r>
          </a:p>
          <a:p>
            <a:endParaRPr lang="en-US" sz="1800" smtClean="0">
              <a:latin typeface="Lucida Bright" panose="02040602050505020304" pitchFamily="18" charset="0"/>
            </a:endParaRPr>
          </a:p>
          <a:p>
            <a:pPr>
              <a:buFont typeface="Wingdings" panose="05000000000000000000" pitchFamily="2" charset="2"/>
              <a:buNone/>
            </a:pPr>
            <a:r>
              <a:rPr lang="en-US" sz="1800" u="sng" smtClean="0">
                <a:latin typeface="Lucida Bright" panose="02040602050505020304" pitchFamily="18" charset="0"/>
              </a:rPr>
              <a:t>Example:</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for (x in deptSales)</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a:t>
            </a:r>
          </a:p>
          <a:p>
            <a:pPr lvl="1">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print x, deptSales[x] }</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5"/>
          <p:cNvSpPr>
            <a:spLocks noChangeArrowheads="1"/>
          </p:cNvSpPr>
          <p:nvPr/>
        </p:nvSpPr>
        <p:spPr bwMode="auto">
          <a:xfrm>
            <a:off x="0" y="1009650"/>
            <a:ext cx="9144000" cy="457200"/>
          </a:xfrm>
          <a:prstGeom prst="rect">
            <a:avLst/>
          </a:prstGeom>
          <a:noFill/>
          <a:ln w="9525">
            <a:noFill/>
            <a:miter lim="800000"/>
          </a:ln>
        </p:spPr>
        <p:txBody>
          <a:bodyPr wrap="none" anchor="ctr">
            <a:spAutoFit/>
          </a:bodyPr>
          <a:lstStyle/>
          <a:p>
            <a:endParaRPr lang="en-US"/>
          </a:p>
        </p:txBody>
      </p:sp>
      <p:sp>
        <p:nvSpPr>
          <p:cNvPr id="16486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endParaRPr lang="en-US" sz="3600"/>
          </a:p>
          <a:p>
            <a:pPr algn="ctr" eaLnBrk="0" hangingPunct="0"/>
            <a:r>
              <a:rPr lang="en-US" sz="3200"/>
              <a:t>while Loop</a:t>
            </a:r>
            <a:r>
              <a:rPr lang="en-US" sz="2400"/>
              <a:t> </a:t>
            </a:r>
            <a:r>
              <a:rPr lang="en-US" sz="3200"/>
              <a:t/>
            </a:r>
            <a:br>
              <a:rPr lang="en-US" sz="3200"/>
            </a:br>
            <a:endParaRPr lang="en-US" sz="3200"/>
          </a:p>
        </p:txBody>
      </p:sp>
      <p:sp>
        <p:nvSpPr>
          <p:cNvPr id="164868" name="Content Placeholder 10"/>
          <p:cNvSpPr>
            <a:spLocks noGrp="1"/>
          </p:cNvSpPr>
          <p:nvPr>
            <p:ph idx="1"/>
          </p:nvPr>
        </p:nvSpPr>
        <p:spPr>
          <a:xfrm>
            <a:off x="0" y="914400"/>
            <a:ext cx="9144000" cy="5211763"/>
          </a:xfrm>
        </p:spPr>
        <p:txBody>
          <a:bodyPr/>
          <a:lstStyle/>
          <a:p>
            <a:pPr>
              <a:lnSpc>
                <a:spcPct val="150000"/>
              </a:lnSpc>
              <a:buFont typeface="Wingdings" panose="05000000000000000000" pitchFamily="2" charset="2"/>
              <a:buNone/>
            </a:pPr>
            <a:r>
              <a:rPr lang="en-US" sz="1800" u="sng" smtClean="0">
                <a:latin typeface="Lucida Bright" panose="02040602050505020304" pitchFamily="18" charset="0"/>
              </a:rPr>
              <a:t>Syntax:</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while (logical expression)</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statement</a:t>
            </a:r>
          </a:p>
          <a:p>
            <a:pPr>
              <a:lnSpc>
                <a:spcPct val="150000"/>
              </a:lnSpc>
              <a:buFont typeface="Wingdings" panose="05000000000000000000" pitchFamily="2" charset="2"/>
              <a:buNone/>
            </a:pPr>
            <a:r>
              <a:rPr lang="en-US" sz="1800" u="sng" smtClean="0">
                <a:latin typeface="Lucida Bright" panose="02040602050505020304" pitchFamily="18" charset="0"/>
              </a:rPr>
              <a:t>Example:</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i = 1</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while (i &lt;= NF)</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print i, $i</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      i++</a:t>
            </a:r>
          </a:p>
          <a:p>
            <a:pPr lvl="1">
              <a:lnSpc>
                <a:spcPct val="150000"/>
              </a:lnSpc>
              <a:buFont typeface="Wingdings 2" panose="05020102010507070707" pitchFamily="18" charset="2"/>
              <a:buNone/>
            </a:pPr>
            <a:r>
              <a:rPr lang="en-US" sz="1800" smtClean="0">
                <a:latin typeface="Lucida Bright" panose="02040602050505020304" pitchFamily="18" charset="0"/>
                <a:cs typeface="Courier New" panose="02070309020205020404" pitchFamily="49" charset="0"/>
              </a:rPr>
              <a:t>}</a:t>
            </a:r>
          </a:p>
          <a:p>
            <a:pPr>
              <a:lnSpc>
                <a:spcPct val="150000"/>
              </a:lnSpc>
            </a:pPr>
            <a:endParaRPr lang="en-US" sz="180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Content Placeholder 4"/>
          <p:cNvSpPr>
            <a:spLocks noGrp="1"/>
          </p:cNvSpPr>
          <p:nvPr>
            <p:ph idx="1"/>
          </p:nvPr>
        </p:nvSpPr>
        <p:spPr>
          <a:xfrm>
            <a:off x="0" y="914400"/>
            <a:ext cx="8763000" cy="5638800"/>
          </a:xfrm>
        </p:spPr>
        <p:txBody>
          <a:bodyPr/>
          <a:lstStyle/>
          <a:p>
            <a:pPr marL="273050" indent="-273050">
              <a:lnSpc>
                <a:spcPct val="150000"/>
              </a:lnSpc>
              <a:buFont typeface="Wingdings" panose="05000000000000000000" pitchFamily="2" charset="2"/>
              <a:buNone/>
            </a:pPr>
            <a:r>
              <a:rPr lang="en-US" sz="1800" u="sng" dirty="0" smtClean="0">
                <a:latin typeface="Lucida Bright" panose="02040602050505020304" pitchFamily="18" charset="0"/>
              </a:rPr>
              <a:t>Syntax:</a:t>
            </a:r>
          </a:p>
          <a:p>
            <a:pPr marL="273050" indent="-273050">
              <a:lnSpc>
                <a:spcPct val="150000"/>
              </a:lnSpc>
              <a:buFont typeface="Wingdings" panose="05000000000000000000" pitchFamily="2" charset="2"/>
              <a:buNone/>
            </a:pPr>
            <a:r>
              <a:rPr lang="en-US" sz="1800" dirty="0" smtClean="0">
                <a:latin typeface="Lucida Bright" panose="02040602050505020304" pitchFamily="18" charset="0"/>
              </a:rPr>
              <a:t>	</a:t>
            </a:r>
            <a:r>
              <a:rPr lang="en-US" sz="1800" dirty="0" smtClean="0">
                <a:latin typeface="Lucida Bright" panose="02040602050505020304" pitchFamily="18" charset="0"/>
                <a:cs typeface="Courier New" panose="02070309020205020404" pitchFamily="49" charset="0"/>
              </a:rPr>
              <a:t>do </a:t>
            </a:r>
          </a:p>
          <a:p>
            <a:pPr marL="273050" indent="-273050">
              <a:lnSpc>
                <a:spcPct val="150000"/>
              </a:lnSpc>
              <a:buFont typeface="Wingdings" panose="05000000000000000000" pitchFamily="2" charset="2"/>
              <a:buNone/>
            </a:pPr>
            <a:r>
              <a:rPr lang="en-US" sz="1800" dirty="0" smtClean="0">
                <a:latin typeface="Lucida Bright" panose="02040602050505020304" pitchFamily="18" charset="0"/>
                <a:cs typeface="Courier New" panose="02070309020205020404" pitchFamily="49" charset="0"/>
              </a:rPr>
              <a:t>		statement </a:t>
            </a:r>
          </a:p>
          <a:p>
            <a:pPr marL="273050" indent="-273050">
              <a:lnSpc>
                <a:spcPct val="150000"/>
              </a:lnSpc>
              <a:buFont typeface="Wingdings" panose="05000000000000000000" pitchFamily="2" charset="2"/>
              <a:buNone/>
            </a:pPr>
            <a:r>
              <a:rPr lang="en-US" sz="1800" dirty="0" smtClean="0">
                <a:latin typeface="Lucida Bright" panose="02040602050505020304" pitchFamily="18" charset="0"/>
                <a:cs typeface="Courier New" panose="02070309020205020404" pitchFamily="49" charset="0"/>
              </a:rPr>
              <a:t>	while (condition)</a:t>
            </a:r>
          </a:p>
          <a:p>
            <a:pPr marL="273050" indent="-273050">
              <a:lnSpc>
                <a:spcPct val="150000"/>
              </a:lnSpc>
            </a:pPr>
            <a:r>
              <a:rPr lang="en-US" sz="1800" dirty="0" smtClean="0">
                <a:latin typeface="Lucida Bright" panose="02040602050505020304" pitchFamily="18" charset="0"/>
              </a:rPr>
              <a:t>statement is executed at least once, even if condition is false at the beginning</a:t>
            </a:r>
          </a:p>
          <a:p>
            <a:pPr marL="273050" indent="-273050">
              <a:lnSpc>
                <a:spcPct val="150000"/>
              </a:lnSpc>
              <a:buFont typeface="Wingdings" panose="05000000000000000000" pitchFamily="2" charset="2"/>
              <a:buNone/>
            </a:pPr>
            <a:r>
              <a:rPr lang="en-US" sz="1800" u="sng" dirty="0" smtClean="0">
                <a:latin typeface="Lucida Bright" panose="02040602050505020304" pitchFamily="18" charset="0"/>
              </a:rPr>
              <a:t>Example:</a:t>
            </a:r>
          </a:p>
          <a:p>
            <a:pPr marL="273050" indent="-273050">
              <a:lnSpc>
                <a:spcPct val="150000"/>
              </a:lnSpc>
              <a:buFont typeface="Wingdings" panose="05000000000000000000" pitchFamily="2" charset="2"/>
              <a:buNone/>
            </a:pPr>
            <a:r>
              <a:rPr lang="nn-NO" sz="1800" dirty="0" smtClean="0">
                <a:latin typeface="Lucida Bright" panose="02040602050505020304" pitchFamily="18" charset="0"/>
                <a:cs typeface="Courier New" panose="02070309020205020404" pitchFamily="49" charset="0"/>
              </a:rPr>
              <a:t>  i = 1 </a:t>
            </a:r>
          </a:p>
          <a:p>
            <a:pPr marL="273050" indent="-273050">
              <a:lnSpc>
                <a:spcPct val="150000"/>
              </a:lnSpc>
              <a:buFont typeface="Wingdings" panose="05000000000000000000" pitchFamily="2" charset="2"/>
              <a:buNone/>
            </a:pPr>
            <a:r>
              <a:rPr lang="nn-NO" sz="1800" dirty="0" smtClean="0">
                <a:latin typeface="Lucida Bright" panose="02040602050505020304" pitchFamily="18" charset="0"/>
                <a:cs typeface="Courier New" panose="02070309020205020404" pitchFamily="49" charset="0"/>
              </a:rPr>
              <a:t>  do { </a:t>
            </a:r>
          </a:p>
          <a:p>
            <a:pPr marL="273050" indent="-273050">
              <a:lnSpc>
                <a:spcPct val="150000"/>
              </a:lnSpc>
              <a:buFont typeface="Wingdings" panose="05000000000000000000" pitchFamily="2" charset="2"/>
              <a:buNone/>
            </a:pPr>
            <a:r>
              <a:rPr lang="nn-NO" sz="1800" dirty="0" smtClean="0">
                <a:latin typeface="Lucida Bright" panose="02040602050505020304" pitchFamily="18" charset="0"/>
                <a:cs typeface="Courier New" panose="02070309020205020404" pitchFamily="49" charset="0"/>
              </a:rPr>
              <a:t>    print $0 </a:t>
            </a:r>
          </a:p>
          <a:p>
            <a:pPr marL="273050" indent="-273050">
              <a:lnSpc>
                <a:spcPct val="150000"/>
              </a:lnSpc>
              <a:buFont typeface="Wingdings" panose="05000000000000000000" pitchFamily="2" charset="2"/>
              <a:buNone/>
            </a:pPr>
            <a:r>
              <a:rPr lang="nn-NO" sz="1800" dirty="0" smtClean="0">
                <a:latin typeface="Lucida Bright" panose="02040602050505020304" pitchFamily="18" charset="0"/>
                <a:cs typeface="Courier New" panose="02070309020205020404" pitchFamily="49" charset="0"/>
              </a:rPr>
              <a:t>    i++</a:t>
            </a:r>
          </a:p>
          <a:p>
            <a:pPr marL="273050" indent="-273050">
              <a:lnSpc>
                <a:spcPct val="150000"/>
              </a:lnSpc>
              <a:buFont typeface="Wingdings" panose="05000000000000000000" pitchFamily="2" charset="2"/>
              <a:buNone/>
            </a:pPr>
            <a:r>
              <a:rPr lang="nn-NO" sz="1800" dirty="0" smtClean="0">
                <a:latin typeface="Lucida Bright" panose="02040602050505020304" pitchFamily="18" charset="0"/>
                <a:cs typeface="Courier New" panose="02070309020205020404" pitchFamily="49" charset="0"/>
              </a:rPr>
              <a:t>  } while (i &lt;= 10)</a:t>
            </a:r>
          </a:p>
        </p:txBody>
      </p:sp>
      <p:sp>
        <p:nvSpPr>
          <p:cNvPr id="165891"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r>
              <a:rPr lang="en-US" sz="3200"/>
              <a:t>do-while Loop</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6365</Words>
  <Application>Microsoft Office PowerPoint</Application>
  <PresentationFormat>On-screen Show (4:3)</PresentationFormat>
  <Paragraphs>1358</Paragraphs>
  <Slides>110</Slides>
  <Notes>21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110</vt:i4>
      </vt:variant>
    </vt:vector>
  </HeadingPairs>
  <TitlesOfParts>
    <vt:vector size="126" baseType="lpstr">
      <vt:lpstr>Algerian</vt:lpstr>
      <vt:lpstr>Arial</vt:lpstr>
      <vt:lpstr>Arial Black</vt:lpstr>
      <vt:lpstr>Arial Rounded MT Bold</vt:lpstr>
      <vt:lpstr>Arial Unicode MS</vt:lpstr>
      <vt:lpstr>Calibri</vt:lpstr>
      <vt:lpstr>Courier New</vt:lpstr>
      <vt:lpstr>Lucida Bright</vt:lpstr>
      <vt:lpstr>Lucida Sans</vt:lpstr>
      <vt:lpstr>Lucida Sans Unicode</vt:lpstr>
      <vt:lpstr>Monotype Sorts</vt:lpstr>
      <vt:lpstr>Times New Roman</vt:lpstr>
      <vt:lpstr>Verdana</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awk utility, which takes its name from  the initials of its authors (Aho, Weinberger, and Kernighan), is a powerful programming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suma</dc:creator>
  <cp:lastModifiedBy>Admin</cp:lastModifiedBy>
  <cp:revision>652</cp:revision>
  <dcterms:created xsi:type="dcterms:W3CDTF">2012-11-21T13:55:00Z</dcterms:created>
  <dcterms:modified xsi:type="dcterms:W3CDTF">2026-07-17T05:19:53Z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8D634E2505DB42798CC16B50BF2D085F_12</vt:lpwstr>
  </property>
  <property fmtid="{D5CDD505-2E9C-101B-9397-08002B2CF9AE}" pid="3" name="KSOProductBuildVer">
    <vt:lpwstr>1033-12.2.0.17562</vt:lpwstr>
  </property>
</Properties>
</file>