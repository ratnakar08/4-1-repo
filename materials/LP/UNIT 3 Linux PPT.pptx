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82"/>
  </p:handoutMasterIdLst>
  <p:sldIdLst>
    <p:sldId id="932" r:id="rId3"/>
    <p:sldId id="867" r:id="rId4"/>
    <p:sldId id="868" r:id="rId5"/>
    <p:sldId id="869" r:id="rId6"/>
    <p:sldId id="866" r:id="rId7"/>
    <p:sldId id="870" r:id="rId8"/>
    <p:sldId id="1008" r:id="rId10"/>
    <p:sldId id="1009" r:id="rId11"/>
    <p:sldId id="917" r:id="rId12"/>
    <p:sldId id="918" r:id="rId13"/>
    <p:sldId id="919" r:id="rId14"/>
    <p:sldId id="936" r:id="rId15"/>
    <p:sldId id="920" r:id="rId16"/>
    <p:sldId id="938" r:id="rId17"/>
    <p:sldId id="921" r:id="rId18"/>
    <p:sldId id="922" r:id="rId19"/>
    <p:sldId id="871" r:id="rId20"/>
    <p:sldId id="856" r:id="rId21"/>
    <p:sldId id="858" r:id="rId22"/>
    <p:sldId id="873" r:id="rId23"/>
    <p:sldId id="875" r:id="rId24"/>
    <p:sldId id="859" r:id="rId25"/>
    <p:sldId id="876" r:id="rId26"/>
    <p:sldId id="877" r:id="rId27"/>
    <p:sldId id="878" r:id="rId28"/>
    <p:sldId id="881" r:id="rId29"/>
    <p:sldId id="880" r:id="rId30"/>
    <p:sldId id="290" r:id="rId31"/>
    <p:sldId id="259" r:id="rId32"/>
    <p:sldId id="933" r:id="rId33"/>
    <p:sldId id="916" r:id="rId34"/>
    <p:sldId id="913" r:id="rId35"/>
    <p:sldId id="914" r:id="rId36"/>
    <p:sldId id="912" r:id="rId37"/>
    <p:sldId id="908" r:id="rId38"/>
    <p:sldId id="923" r:id="rId39"/>
    <p:sldId id="924" r:id="rId40"/>
    <p:sldId id="925" r:id="rId41"/>
    <p:sldId id="926" r:id="rId42"/>
    <p:sldId id="935" r:id="rId43"/>
    <p:sldId id="934" r:id="rId44"/>
    <p:sldId id="261" r:id="rId45"/>
    <p:sldId id="292" r:id="rId46"/>
    <p:sldId id="431" r:id="rId47"/>
    <p:sldId id="262" r:id="rId48"/>
    <p:sldId id="927" r:id="rId49"/>
    <p:sldId id="928" r:id="rId50"/>
    <p:sldId id="929" r:id="rId51"/>
    <p:sldId id="263" r:id="rId52"/>
    <p:sldId id="264" r:id="rId53"/>
    <p:sldId id="883" r:id="rId54"/>
    <p:sldId id="930" r:id="rId55"/>
    <p:sldId id="884" r:id="rId56"/>
    <p:sldId id="885" r:id="rId57"/>
    <p:sldId id="886" r:id="rId58"/>
    <p:sldId id="887" r:id="rId59"/>
    <p:sldId id="889" r:id="rId60"/>
    <p:sldId id="931" r:id="rId61"/>
    <p:sldId id="888" r:id="rId62"/>
    <p:sldId id="890" r:id="rId63"/>
    <p:sldId id="891" r:id="rId64"/>
    <p:sldId id="892" r:id="rId65"/>
    <p:sldId id="893" r:id="rId66"/>
    <p:sldId id="894" r:id="rId67"/>
    <p:sldId id="895" r:id="rId68"/>
    <p:sldId id="896" r:id="rId69"/>
    <p:sldId id="897" r:id="rId70"/>
    <p:sldId id="898" r:id="rId71"/>
    <p:sldId id="899" r:id="rId72"/>
    <p:sldId id="900" r:id="rId73"/>
    <p:sldId id="901" r:id="rId74"/>
    <p:sldId id="902" r:id="rId75"/>
    <p:sldId id="939" r:id="rId76"/>
    <p:sldId id="903" r:id="rId77"/>
    <p:sldId id="904" r:id="rId78"/>
    <p:sldId id="905" r:id="rId79"/>
    <p:sldId id="906" r:id="rId80"/>
    <p:sldId id="907" r:id="rId81"/>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4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60" d="100"/>
          <a:sy n="60" d="100"/>
        </p:scale>
        <p:origin x="-1572" y="-1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8A1B7EFD-4F40-43BB-AC0F-D11BFB4217F1}" type="datetimeFigureOut">
              <a:rPr lang="en-US" smtClean="0"/>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7E6D6DD8-A068-4660-9E57-AD0370A050CF}"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a:defRPr/>
            </a:pPr>
            <a:fld id="{027A4670-3EC6-4807-A515-9B9F247A546E}" type="datetimeFigureOut">
              <a:rPr lang="en-US"/>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pPr>
              <a:defRPr/>
            </a:pPr>
            <a:fld id="{8027DDF8-4D75-4012-BEF3-A32CE79871E1}"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27DDF8-4D75-4012-BEF3-A32CE79871E1}"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bwMode="auto">
          <a:noFill/>
          <a:ln>
            <a:miter lim="800000"/>
          </a:ln>
        </p:spPr>
        <p:txBody>
          <a:bodyPr wrap="square" numCol="1" anchorCtr="0" compatLnSpc="1"/>
          <a:lstStyle/>
          <a:p>
            <a:fld id="{AED91A68-7A65-4A48-B0DC-D5B9C21D6C94}" type="slidenum">
              <a:rPr lang="en-US" smtClean="0"/>
            </a:fld>
            <a:endParaRPr lang="en-US" smtClean="0"/>
          </a:p>
        </p:txBody>
      </p:sp>
      <p:sp>
        <p:nvSpPr>
          <p:cNvPr id="379907" name="Rectangle 2"/>
          <p:cNvSpPr>
            <a:spLocks noGrp="1" noRot="1" noChangeAspect="1" noChangeArrowheads="1" noTextEdit="1"/>
          </p:cNvSpPr>
          <p:nvPr>
            <p:ph type="sldImg"/>
          </p:nvPr>
        </p:nvSpPr>
        <p:spPr bwMode="auto">
          <a:noFill/>
          <a:ln>
            <a:solidFill>
              <a:srgbClr val="000000"/>
            </a:solidFill>
            <a:miter lim="800000"/>
          </a:ln>
        </p:spPr>
      </p:sp>
      <p:sp>
        <p:nvSpPr>
          <p:cNvPr id="379908" name="Rectangle 3"/>
          <p:cNvSpPr>
            <a:spLocks noGrp="1" noChangeArrowheads="1"/>
          </p:cNvSpPr>
          <p:nvPr>
            <p:ph type="body" idx="1"/>
          </p:nvPr>
        </p:nvSpPr>
        <p:spPr bwMode="auto">
          <a:xfrm>
            <a:off x="914400" y="4415790"/>
            <a:ext cx="5029200" cy="4183380"/>
          </a:xfrm>
          <a:noFill/>
        </p:spPr>
        <p:txBody>
          <a:bodyPr wrap="square" numCol="1" anchor="t" anchorCtr="0" compatLnSpc="1"/>
          <a:lstStyle/>
          <a:p>
            <a:pPr eaLnBrk="1" hangingPunct="1"/>
            <a:endParaRPr lang="en-US" smtClean="0"/>
          </a:p>
          <a:p>
            <a:pPr eaLnBrk="1" hangingPunct="1"/>
            <a:r>
              <a:rPr lang="en-US" smtClean="0"/>
              <a:t>Also different volumes can be used by different users at the same time. </a:t>
            </a:r>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DE57B5B8-2E2F-4EA9-BB2B-629BF411AFC5}"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6C926EF-2906-4D03-ACE2-C3243ABAF3CC}"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5B50034-F427-441B-B291-9C15194DC995}"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65E2DB-2636-44F0-B762-2446197705E3}"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lvl1pPr>
              <a:defRPr/>
            </a:lvl1pPr>
          </a:lstStyle>
          <a:p>
            <a:pPr>
              <a:defRPr/>
            </a:pPr>
            <a:fld id="{773C2120-721E-4656-8CBA-291FDD40CF29}"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8590D6-B1E6-437F-804A-A1D5A473B3D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083574DA-7F19-49D4-AA6B-7188372513D0}"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DCAC569-B711-4570-97F7-5B9FC03A2CE1}"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C81974D3-4AA6-4A0F-91F0-76742F521AD8}" type="datetime1">
              <a:rPr lang="en-US"/>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6277D25-8EC0-4B48-8BE4-6FC2F880C9BD}"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2CD8AE6-CC33-46F5-90EE-62F5D414A0B1}" type="datetime1">
              <a:rPr lang="en-US"/>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D5D879C6-AA31-465B-97C5-4A5DAD8C146B}"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A6BCEDA-7586-4186-A9E9-2C2D085D6A47}" type="datetime1">
              <a:rPr lang="en-US"/>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F76B98A9-B8C7-49DB-9787-C88E08BDD27C}"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fld id="{4F512CF3-AB40-4338-86F0-E370B7D13EA4}"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377440F-D2FE-4D33-AC5D-603BC2080E8B}"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3"/>
          <p:cNvSpPr>
            <a:spLocks noGrp="1"/>
          </p:cNvSpPr>
          <p:nvPr>
            <p:ph type="dt" sz="half" idx="10"/>
          </p:nvPr>
        </p:nvSpPr>
        <p:spPr/>
        <p:txBody>
          <a:bodyPr/>
          <a:lstStyle>
            <a:lvl1pPr>
              <a:defRPr/>
            </a:lvl1pPr>
          </a:lstStyle>
          <a:p>
            <a:pPr>
              <a:defRPr/>
            </a:pPr>
            <a:fld id="{F474CBDA-499E-4A87-B6B5-64AE03E3F728}"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27CF2C7-183B-42BC-AC29-A9C668BE9438}"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F20A51B-92E4-4D6E-9F7C-70A7FF28A0CF}"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025FD1-A952-4E7A-AFF3-8730050FAA43}"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650188E-2B17-4536-89A9-EE392257FF00}"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1CABF88-28F5-4E03-8493-F501B167CF98}"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14325" y="239713"/>
            <a:ext cx="8574088" cy="512762"/>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304800" y="990600"/>
            <a:ext cx="4191000" cy="244951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48200" y="990600"/>
            <a:ext cx="4191000" cy="244951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304800" y="3592513"/>
            <a:ext cx="4191000" cy="244951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48200" y="3592513"/>
            <a:ext cx="4191000" cy="244951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0"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2291"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pPr>
              <a:defRPr/>
            </a:pPr>
            <a:fld id="{9566AAE5-1FF3-4588-B56D-18B2D559FB0E}" type="datetime1">
              <a:rPr lang="en-US"/>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pPr>
              <a:defRPr/>
            </a:pPr>
            <a:fld id="{BD9185BB-3D43-4D50-8872-26DD2369666E}"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9" Type="http://schemas.openxmlformats.org/officeDocument/2006/relationships/hyperlink" Target="http://en.wikipedia.org/wiki/Process_(computing)" TargetMode="External"/><Relationship Id="rId8" Type="http://schemas.openxmlformats.org/officeDocument/2006/relationships/hyperlink" Target="http://en.wikipedia.org/wiki/Array_data_structure" TargetMode="External"/><Relationship Id="rId7" Type="http://schemas.openxmlformats.org/officeDocument/2006/relationships/hyperlink" Target="http://en.wikipedia.org/wiki/Kernel_(computer_science)" TargetMode="External"/><Relationship Id="rId6" Type="http://schemas.openxmlformats.org/officeDocument/2006/relationships/hyperlink" Target="http://en.wikipedia.org/wiki/Daemon_(computer_software)" TargetMode="External"/><Relationship Id="rId5" Type="http://schemas.openxmlformats.org/officeDocument/2006/relationships/hyperlink" Target="http://en.wikipedia.org/wiki/Standard_streams" TargetMode="External"/><Relationship Id="rId4" Type="http://schemas.openxmlformats.org/officeDocument/2006/relationships/hyperlink" Target="http://en.wikipedia.org/wiki/C_(programming_language)" TargetMode="External"/><Relationship Id="rId3" Type="http://schemas.openxmlformats.org/officeDocument/2006/relationships/hyperlink" Target="http://en.wikipedia.org/wiki/Operating_system" TargetMode="External"/><Relationship Id="rId2" Type="http://schemas.openxmlformats.org/officeDocument/2006/relationships/hyperlink" Target="http://en.wikipedia.org/wiki/POSIX" TargetMode="External"/><Relationship Id="rId10" Type="http://schemas.openxmlformats.org/officeDocument/2006/relationships/slideLayout" Target="../slideLayouts/slideLayout7.xml"/><Relationship Id="rId1" Type="http://schemas.openxmlformats.org/officeDocument/2006/relationships/hyperlink" Target="http://en.wikipedia.org/wiki/File_(computing)" TargetMode="External"/></Relationships>
</file>

<file path=ppt/slides/_rels/slide41.xml.rels><?xml version="1.0" encoding="UTF-8" standalone="yes"?>
<Relationships xmlns="http://schemas.openxmlformats.org/package/2006/relationships"><Relationship Id="rId9" Type="http://schemas.openxmlformats.org/officeDocument/2006/relationships/hyperlink" Target="http://en.wikipedia.org/wiki/Unix_domain_socket" TargetMode="External"/><Relationship Id="rId8" Type="http://schemas.openxmlformats.org/officeDocument/2006/relationships/hyperlink" Target="http://en.wikipedia.org/wiki/Character_device" TargetMode="External"/><Relationship Id="rId7" Type="http://schemas.openxmlformats.org/officeDocument/2006/relationships/hyperlink" Target="http://en.wikipedia.org/wiki/Block_device" TargetMode="External"/><Relationship Id="rId6" Type="http://schemas.openxmlformats.org/officeDocument/2006/relationships/hyperlink" Target="http://en.wikipedia.org/wiki/Directory_(file_systems)" TargetMode="External"/><Relationship Id="rId5" Type="http://schemas.openxmlformats.org/officeDocument/2006/relationships/hyperlink" Target="http://en.wikipedia.org/wiki/Unix_file_type" TargetMode="External"/><Relationship Id="rId4" Type="http://schemas.openxmlformats.org/officeDocument/2006/relationships/hyperlink" Target="http://en.wikipedia.org/wiki/Unix-like" TargetMode="External"/><Relationship Id="rId3" Type="http://schemas.openxmlformats.org/officeDocument/2006/relationships/hyperlink" Target="http://en.wikipedia.org/wiki/Process_identifier" TargetMode="External"/><Relationship Id="rId2" Type="http://schemas.openxmlformats.org/officeDocument/2006/relationships/hyperlink" Target="http://en.wikipedia.org/wiki/Linux" TargetMode="External"/><Relationship Id="rId13" Type="http://schemas.openxmlformats.org/officeDocument/2006/relationships/slideLayout" Target="../slideLayouts/slideLayout7.xml"/><Relationship Id="rId12" Type="http://schemas.openxmlformats.org/officeDocument/2006/relationships/hyperlink" Target="http://en.wikipedia.org/wiki/Network_socket" TargetMode="External"/><Relationship Id="rId11" Type="http://schemas.openxmlformats.org/officeDocument/2006/relationships/hyperlink" Target="http://en.wikipedia.org/wiki/Anonymous_pipe" TargetMode="External"/><Relationship Id="rId10" Type="http://schemas.openxmlformats.org/officeDocument/2006/relationships/hyperlink" Target="http://en.wikipedia.org/wiki/Named_pipe" TargetMode="External"/><Relationship Id="rId1" Type="http://schemas.openxmlformats.org/officeDocument/2006/relationships/hyperlink" Target="http://en.wikipedia.org/wiki/System_cal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7154545"/>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File concept: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 file can be defined as a container which is used to store information or it can also be termed as a sequence of characters.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Kernel it self is treated as a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 file can be divided into 3 ways,</a:t>
            </a:r>
            <a:endParaRPr lang="en-US" dirty="0" smtClean="0">
              <a:latin typeface="Lucida Bright" panose="02040602050505020304" pitchFamily="18" charset="0"/>
            </a:endParaRPr>
          </a:p>
          <a:p>
            <a:pPr marL="342900" indent="-342900">
              <a:lnSpc>
                <a:spcPct val="150000"/>
              </a:lnSpc>
              <a:buAutoNum type="arabicParenR"/>
            </a:pPr>
            <a:r>
              <a:rPr lang="en-US" dirty="0" smtClean="0">
                <a:latin typeface="Lucida Bright" panose="02040602050505020304" pitchFamily="18" charset="0"/>
              </a:rPr>
              <a:t>Files which are present on the operating system level and other is the user level.</a:t>
            </a:r>
            <a:endParaRPr lang="en-US" dirty="0" smtClean="0">
              <a:latin typeface="Lucida Bright" panose="02040602050505020304" pitchFamily="18" charset="0"/>
            </a:endParaRPr>
          </a:p>
          <a:p>
            <a:pPr marL="342900" indent="-342900">
              <a:lnSpc>
                <a:spcPct val="150000"/>
              </a:lnSpc>
              <a:buAutoNum type="arabicParenR"/>
            </a:pPr>
            <a:r>
              <a:rPr lang="en-US" dirty="0" smtClean="0">
                <a:latin typeface="Lucida Bright" panose="02040602050505020304" pitchFamily="18" charset="0"/>
              </a:rPr>
              <a:t>At the operating system level, a file is stored in the form of a data structure of a disk slice or other storage device which allows to store the data (hard drive).</a:t>
            </a:r>
            <a:endParaRPr lang="en-US" dirty="0" smtClean="0">
              <a:latin typeface="Lucida Bright" panose="02040602050505020304" pitchFamily="18" charset="0"/>
            </a:endParaRPr>
          </a:p>
          <a:p>
            <a:pPr marL="342900" indent="-342900">
              <a:lnSpc>
                <a:spcPct val="150000"/>
              </a:lnSpc>
              <a:buAutoNum type="arabicParenR"/>
            </a:pPr>
            <a:r>
              <a:rPr lang="en-US" dirty="0" smtClean="0">
                <a:latin typeface="Lucida Bright" panose="02040602050505020304" pitchFamily="18" charset="0"/>
              </a:rPr>
              <a:t>At the user level file system is nothing but, hierarchical collection of directories, sub-directories and files. This is known as the directory hierarchy</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pP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dirty="0">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effectLst>
                  <a:outerShdw blurRad="38100" dist="38100" dir="2700000" algn="tl">
                    <a:srgbClr val="C0C0C0"/>
                  </a:outerShdw>
                </a:effectLst>
              </a:rPr>
              <a:t>UNIT-3: </a:t>
            </a:r>
            <a:r>
              <a:rPr lang="en-US" sz="4000" dirty="0">
                <a:effectLst>
                  <a:outerShdw blurRad="38100" dist="38100" dir="2700000" algn="tl">
                    <a:srgbClr val="C0C0C0"/>
                  </a:outerShdw>
                </a:effectLst>
              </a:rPr>
              <a:t>Linux </a:t>
            </a:r>
            <a:r>
              <a:rPr lang="en-US" sz="4000" dirty="0" smtClean="0">
                <a:effectLst>
                  <a:outerShdw blurRad="38100" dist="38100" dir="2700000" algn="tl">
                    <a:srgbClr val="C0C0C0"/>
                  </a:outerShdw>
                </a:effectLst>
              </a:rPr>
              <a:t>Files</a:t>
            </a:r>
            <a:endParaRPr lang="en-US" sz="2400" dirty="0">
              <a:latin typeface="Lucida Sans Unicode" panose="020B0602030504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3416320"/>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Unix file system is a hierarchical structure that allows users to store information by name. At the top of the hierarchy is the root directory, which always has the name /. A typical Unix file system might look like:</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pP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dirty="0">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r>
              <a:rPr lang="en-US" sz="4000" b="1" dirty="0" smtClean="0">
                <a:latin typeface="Lucida Bright" panose="02040602050505020304" pitchFamily="18" charset="0"/>
              </a:rPr>
              <a:t>File system structure</a:t>
            </a:r>
            <a:endParaRPr lang="en-US" sz="4000" b="1" dirty="0" smtClean="0">
              <a:latin typeface="Lucida Bright" panose="02040602050505020304" pitchFamily="18" charset="0"/>
            </a:endParaRPr>
          </a:p>
        </p:txBody>
      </p:sp>
      <p:pic>
        <p:nvPicPr>
          <p:cNvPr id="1026" name="Picture 2" descr="A  UNIX directory  tree"/>
          <p:cNvPicPr>
            <a:picLocks noChangeAspect="1" noChangeArrowheads="1"/>
          </p:cNvPicPr>
          <p:nvPr/>
        </p:nvPicPr>
        <p:blipFill>
          <a:blip r:embed="rId1"/>
          <a:srcRect/>
          <a:stretch>
            <a:fillRect/>
          </a:stretch>
        </p:blipFill>
        <p:spPr bwMode="auto">
          <a:xfrm>
            <a:off x="0" y="2514600"/>
            <a:ext cx="9144000" cy="43434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7103227"/>
          </a:xfrm>
          <a:prstGeom prst="rect">
            <a:avLst/>
          </a:prstGeom>
          <a:noFill/>
          <a:ln w="9525">
            <a:noFill/>
            <a:miter lim="800000"/>
          </a:ln>
        </p:spPr>
        <p:txBody>
          <a:bodyPr wrap="square">
            <a:spAutoFit/>
          </a:bodyPr>
          <a:lstStyle/>
          <a:p>
            <a:pPr>
              <a:lnSpc>
                <a:spcPct val="150000"/>
              </a:lnSpc>
              <a:buFont typeface="Arial" panose="020B0604020202020204" pitchFamily="34" charset="0"/>
              <a:buChar char="•"/>
            </a:pPr>
            <a:r>
              <a:rPr lang="en-US" dirty="0" smtClean="0">
                <a:latin typeface="Lucida Bright" panose="02040602050505020304" pitchFamily="18" charset="0"/>
              </a:rPr>
              <a:t>Files in UNIX or POSIX systems are stored in tree-like hierarchical file system.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root of a file system is the root (“/”) directory.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leaf nodes of a file system tree are either empty directory files or other types of files.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b="1" dirty="0" smtClean="0">
                <a:latin typeface="Lucida Bright" panose="02040602050505020304" pitchFamily="18" charset="0"/>
              </a:rPr>
              <a:t>Absolute path name of a file consists of the names of all the directories, starting from the root.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b="1" dirty="0" smtClean="0">
                <a:latin typeface="Lucida Bright" panose="02040602050505020304" pitchFamily="18" charset="0"/>
              </a:rPr>
              <a:t>Ex: /</a:t>
            </a:r>
            <a:r>
              <a:rPr lang="en-US" b="1" dirty="0" err="1" smtClean="0">
                <a:latin typeface="Lucida Bright" panose="02040602050505020304" pitchFamily="18" charset="0"/>
              </a:rPr>
              <a:t>usr</a:t>
            </a:r>
            <a:r>
              <a:rPr lang="en-US" b="1" dirty="0" smtClean="0">
                <a:latin typeface="Lucida Bright" panose="02040602050505020304" pitchFamily="18" charset="0"/>
              </a:rPr>
              <a:t>/</a:t>
            </a:r>
            <a:r>
              <a:rPr lang="en-US" b="1" dirty="0" err="1" smtClean="0">
                <a:latin typeface="Lucida Bright" panose="02040602050505020304" pitchFamily="18" charset="0"/>
              </a:rPr>
              <a:t>divya</a:t>
            </a:r>
            <a:r>
              <a:rPr lang="en-US" b="1" dirty="0" smtClean="0">
                <a:latin typeface="Lucida Bright" panose="02040602050505020304" pitchFamily="18" charset="0"/>
              </a:rPr>
              <a:t>/</a:t>
            </a:r>
            <a:r>
              <a:rPr lang="en-US" b="1" dirty="0" err="1" smtClean="0">
                <a:latin typeface="Lucida Bright" panose="02040602050505020304" pitchFamily="18" charset="0"/>
              </a:rPr>
              <a:t>a.out</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b="1" dirty="0" smtClean="0">
                <a:latin typeface="Lucida Bright" panose="02040602050505020304" pitchFamily="18" charset="0"/>
              </a:rPr>
              <a:t>Relative path name may consist of the “.” and “..” characters. These are references to current and parent directories respectively.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b="1" dirty="0" smtClean="0">
                <a:latin typeface="Lucida Bright" panose="02040602050505020304" pitchFamily="18" charset="0"/>
              </a:rPr>
              <a:t>Ex: ../../.login denotes .login file which may be found 2 levels up from the current directory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file name may not exceed NAME_MAX characters (14 bytes) and the total number of characters of a path name may not exceed PATH_MAX (1024 bytes).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POSIX.1 defines _POSIX_NAME_MAX and _POSIX_PATH_MAX in &lt;</a:t>
            </a:r>
            <a:r>
              <a:rPr lang="en-US" dirty="0" err="1" smtClean="0">
                <a:latin typeface="Lucida Bright" panose="02040602050505020304" pitchFamily="18" charset="0"/>
              </a:rPr>
              <a:t>limits.h</a:t>
            </a:r>
            <a:r>
              <a:rPr lang="en-US" dirty="0" smtClean="0">
                <a:latin typeface="Lucida Bright" panose="02040602050505020304" pitchFamily="18" charset="0"/>
              </a:rPr>
              <a:t>&gt; header </a:t>
            </a:r>
            <a:endParaRPr lang="en-US" dirty="0" smtClean="0">
              <a:latin typeface="Lucida Bright" panose="02040602050505020304" pitchFamily="18" charset="0"/>
            </a:endParaRPr>
          </a:p>
          <a:p>
            <a:pPr>
              <a:lnSpc>
                <a:spcPct val="150000"/>
              </a:lnSpc>
            </a:pPr>
            <a:endParaRPr lang="en-US" b="1" dirty="0" smtClean="0">
              <a:latin typeface="Lucida Bright" panose="02040602050505020304" pitchFamily="18" charset="0"/>
            </a:endParaRPr>
          </a:p>
          <a:p>
            <a:pPr>
              <a:lnSpc>
                <a:spcPct val="150000"/>
              </a:lnSpc>
              <a:buFont typeface="Arial" panose="020B0604020202020204" pitchFamily="34" charset="0"/>
              <a:buChar char="•"/>
            </a:pP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b="1" dirty="0" smtClean="0">
              <a:latin typeface="Lucida Bright" panose="02040602050505020304" pitchFamily="18" charset="0"/>
            </a:endParaRPr>
          </a:p>
          <a:p>
            <a:pPr algn="ctr">
              <a:lnSpc>
                <a:spcPct val="150000"/>
              </a:lnSpc>
            </a:pPr>
            <a:r>
              <a:rPr lang="en-US" sz="4000" b="1" dirty="0" smtClean="0">
                <a:latin typeface="Lucida Bright" panose="02040602050505020304" pitchFamily="18" charset="0"/>
              </a:rPr>
              <a:t>File system structure</a:t>
            </a:r>
            <a:endParaRPr lang="en-US" sz="4000" b="1" dirty="0" smtClean="0">
              <a:latin typeface="Lucida Bright" panose="02040602050505020304" pitchFamily="18" charset="0"/>
            </a:endParaRPr>
          </a:p>
          <a:p>
            <a:pPr algn="ctr">
              <a:lnSpc>
                <a:spcPct val="150000"/>
              </a:lnSpc>
            </a:pPr>
            <a:endParaRPr lang="en-US" sz="4000" b="1"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7848302"/>
          </a:xfrm>
          <a:prstGeom prst="rect">
            <a:avLst/>
          </a:prstGeom>
          <a:noFill/>
          <a:ln w="9525">
            <a:noFill/>
            <a:miter lim="800000"/>
          </a:ln>
        </p:spPr>
        <p:txBody>
          <a:bodyPr wrap="square">
            <a:spAutoFit/>
          </a:bodyPr>
          <a:lstStyle/>
          <a:p>
            <a:pPr>
              <a:lnSpc>
                <a:spcPct val="150000"/>
              </a:lnSpc>
              <a:buFont typeface="Arial" panose="020B0604020202020204" pitchFamily="34" charset="0"/>
              <a:buChar char="•"/>
            </a:pPr>
            <a:r>
              <a:rPr lang="en-US" dirty="0" smtClean="0">
                <a:latin typeface="Lucida Bright" panose="02040602050505020304" pitchFamily="18" charset="0"/>
              </a:rPr>
              <a:t>File name can be any of the following character set only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pl-PL" dirty="0" smtClean="0">
                <a:latin typeface="Lucida Bright" panose="02040602050505020304" pitchFamily="18" charset="0"/>
              </a:rPr>
              <a:t>A to Z </a:t>
            </a:r>
            <a:r>
              <a:rPr lang="en-US" dirty="0" smtClean="0">
                <a:latin typeface="Lucida Bright" panose="02040602050505020304" pitchFamily="18" charset="0"/>
              </a:rPr>
              <a:t>		</a:t>
            </a:r>
            <a:r>
              <a:rPr lang="pl-PL" dirty="0" smtClean="0">
                <a:latin typeface="Lucida Bright" panose="02040602050505020304" pitchFamily="18" charset="0"/>
              </a:rPr>
              <a:t>a to z</a:t>
            </a:r>
            <a:r>
              <a:rPr lang="en-US" dirty="0" smtClean="0">
                <a:latin typeface="Lucida Bright" panose="02040602050505020304" pitchFamily="18" charset="0"/>
              </a:rPr>
              <a:t>		</a:t>
            </a:r>
            <a:r>
              <a:rPr lang="pl-PL" dirty="0" smtClean="0">
                <a:latin typeface="Lucida Bright" panose="02040602050505020304" pitchFamily="18" charset="0"/>
              </a:rPr>
              <a:t> 0 to 9</a:t>
            </a:r>
            <a:r>
              <a:rPr lang="en-US" dirty="0" smtClean="0">
                <a:latin typeface="Lucida Bright" panose="02040602050505020304" pitchFamily="18" charset="0"/>
              </a:rPr>
              <a:t>		</a:t>
            </a:r>
            <a:r>
              <a:rPr lang="pl-PL" dirty="0" smtClean="0">
                <a:latin typeface="Lucida Bright" panose="02040602050505020304" pitchFamily="18" charset="0"/>
              </a:rPr>
              <a:t> _ </a:t>
            </a:r>
            <a:endParaRPr lang="pl-PL"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Path name of a file is called the </a:t>
            </a:r>
            <a:r>
              <a:rPr lang="en-US" b="1" dirty="0" err="1" smtClean="0">
                <a:latin typeface="Lucida Bright" panose="02040602050505020304" pitchFamily="18" charset="0"/>
              </a:rPr>
              <a:t>hardlink</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file may be referenced by more than one path name if a user creates one or more 	hard links to the file using </a:t>
            </a:r>
            <a:r>
              <a:rPr lang="en-US" b="1" dirty="0" err="1" smtClean="0">
                <a:latin typeface="Lucida Bright" panose="02040602050505020304" pitchFamily="18" charset="0"/>
              </a:rPr>
              <a:t>ln</a:t>
            </a:r>
            <a:r>
              <a:rPr lang="en-US" b="1" dirty="0" smtClean="0">
                <a:latin typeface="Lucida Bright" panose="02040602050505020304" pitchFamily="18" charset="0"/>
              </a:rPr>
              <a:t> command.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ln</a:t>
            </a:r>
            <a:r>
              <a:rPr lang="en-US" b="1" dirty="0" smtClean="0">
                <a:latin typeface="Lucida Bright" panose="02040602050505020304" pitchFamily="18" charset="0"/>
              </a:rPr>
              <a:t> /</a:t>
            </a:r>
            <a:r>
              <a:rPr lang="en-US" b="1" dirty="0" err="1" smtClean="0">
                <a:latin typeface="Lucida Bright" panose="02040602050505020304" pitchFamily="18" charset="0"/>
              </a:rPr>
              <a:t>usr</a:t>
            </a:r>
            <a:r>
              <a:rPr lang="en-US" b="1" dirty="0" smtClean="0">
                <a:latin typeface="Lucida Bright" panose="02040602050505020304" pitchFamily="18" charset="0"/>
              </a:rPr>
              <a:t>/</a:t>
            </a:r>
            <a:r>
              <a:rPr lang="en-US" b="1" dirty="0" err="1" smtClean="0">
                <a:latin typeface="Lucida Bright" panose="02040602050505020304" pitchFamily="18" charset="0"/>
              </a:rPr>
              <a:t>foo</a:t>
            </a:r>
            <a:r>
              <a:rPr lang="en-US" b="1" dirty="0" smtClean="0">
                <a:latin typeface="Lucida Bright" panose="02040602050505020304" pitchFamily="18" charset="0"/>
              </a:rPr>
              <a:t>/path1 /</a:t>
            </a:r>
            <a:r>
              <a:rPr lang="en-US" b="1" dirty="0" err="1" smtClean="0">
                <a:latin typeface="Lucida Bright" panose="02040602050505020304" pitchFamily="18" charset="0"/>
              </a:rPr>
              <a:t>usr</a:t>
            </a:r>
            <a:r>
              <a:rPr lang="en-US" b="1" dirty="0" smtClean="0">
                <a:latin typeface="Lucida Bright" panose="02040602050505020304" pitchFamily="18" charset="0"/>
              </a:rPr>
              <a:t>/</a:t>
            </a:r>
            <a:r>
              <a:rPr lang="en-US" b="1" dirty="0" err="1" smtClean="0">
                <a:latin typeface="Lucida Bright" panose="02040602050505020304" pitchFamily="18" charset="0"/>
              </a:rPr>
              <a:t>prog</a:t>
            </a:r>
            <a:r>
              <a:rPr lang="en-US" b="1" dirty="0" smtClean="0">
                <a:latin typeface="Lucida Bright" panose="02040602050505020304" pitchFamily="18" charset="0"/>
              </a:rPr>
              <a:t>/new/n1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the –s option is used, then it is a symbolic (soft) link . </a:t>
            </a:r>
            <a:endParaRPr lang="en-US" dirty="0" smtClean="0">
              <a:latin typeface="Lucida Bright" panose="02040602050505020304" pitchFamily="18" charset="0"/>
            </a:endParaRPr>
          </a:p>
          <a:p>
            <a:r>
              <a:rPr lang="en-US" dirty="0" smtClean="0"/>
              <a:t>The following files are commonly defined in most UNIX systems</a:t>
            </a:r>
            <a:endParaRPr lang="en-US" dirty="0" smtClean="0"/>
          </a:p>
          <a:p>
            <a:pPr>
              <a:lnSpc>
                <a:spcPct val="150000"/>
              </a:lnSpc>
            </a:pPr>
            <a:r>
              <a:rPr lang="en-US" dirty="0" smtClean="0"/>
              <a:t> </a:t>
            </a:r>
            <a:r>
              <a:rPr lang="en-US" b="1" dirty="0" smtClean="0"/>
              <a:t>FILE 			Use 	</a:t>
            </a:r>
            <a:endParaRPr lang="en-US" b="1" dirty="0" smtClean="0"/>
          </a:p>
          <a:p>
            <a:pPr>
              <a:lnSpc>
                <a:spcPct val="150000"/>
              </a:lnSpc>
            </a:pPr>
            <a:r>
              <a:rPr lang="en-US" dirty="0" smtClean="0"/>
              <a:t>/etc 		Stores system administrative files and programs 	</a:t>
            </a:r>
            <a:endParaRPr lang="en-US" dirty="0" smtClean="0"/>
          </a:p>
          <a:p>
            <a:pPr>
              <a:lnSpc>
                <a:spcPct val="150000"/>
              </a:lnSpc>
            </a:pPr>
            <a:r>
              <a:rPr lang="nb-NO" dirty="0" smtClean="0"/>
              <a:t>/etc/passwd 	Stores all user information’s 	</a:t>
            </a:r>
            <a:endParaRPr lang="nb-NO" dirty="0" smtClean="0"/>
          </a:p>
          <a:p>
            <a:pPr>
              <a:lnSpc>
                <a:spcPct val="150000"/>
              </a:lnSpc>
            </a:pPr>
            <a:r>
              <a:rPr lang="en-US" dirty="0" smtClean="0"/>
              <a:t>/etc/shadow 	Stores user passwords 	</a:t>
            </a:r>
            <a:endParaRPr lang="en-US" dirty="0" smtClean="0"/>
          </a:p>
          <a:p>
            <a:pPr>
              <a:lnSpc>
                <a:spcPct val="150000"/>
              </a:lnSpc>
            </a:pPr>
            <a:r>
              <a:rPr lang="en-US" dirty="0" smtClean="0"/>
              <a:t>/etc/group 	Stores all group information 	</a:t>
            </a:r>
            <a:endParaRPr lang="en-US" dirty="0" smtClean="0"/>
          </a:p>
          <a:p>
            <a:pPr>
              <a:lnSpc>
                <a:spcPct val="150000"/>
              </a:lnSpc>
            </a:pPr>
            <a:r>
              <a:rPr lang="en-US" dirty="0" smtClean="0"/>
              <a:t>/bin 		Stores all the system programs like cat, </a:t>
            </a:r>
            <a:r>
              <a:rPr lang="en-US" dirty="0" err="1" smtClean="0"/>
              <a:t>rm</a:t>
            </a:r>
            <a:r>
              <a:rPr lang="en-US" dirty="0" smtClean="0"/>
              <a:t>, </a:t>
            </a:r>
            <a:r>
              <a:rPr lang="en-US" dirty="0" err="1" smtClean="0"/>
              <a:t>cp,etc</a:t>
            </a:r>
            <a:r>
              <a:rPr lang="en-US" dirty="0" smtClean="0"/>
              <a:t>. 	</a:t>
            </a:r>
            <a:endParaRPr lang="en-US" dirty="0" smtClean="0"/>
          </a:p>
          <a:p>
            <a:pPr>
              <a:lnSpc>
                <a:spcPct val="150000"/>
              </a:lnSpc>
              <a:buFont typeface="Arial" panose="020B0604020202020204" pitchFamily="34" charset="0"/>
              <a:buChar char="•"/>
            </a:pPr>
            <a:endParaRPr lang="en-US" dirty="0" smtClean="0">
              <a:latin typeface="Lucida Bright" panose="02040602050505020304" pitchFamily="18" charset="0"/>
            </a:endParaRPr>
          </a:p>
          <a:p>
            <a:pPr>
              <a:lnSpc>
                <a:spcPct val="150000"/>
              </a:lnSpc>
            </a:pPr>
            <a:br>
              <a:rPr lang="en-US" dirty="0" smtClean="0">
                <a:latin typeface="Lucida Bright" panose="02040602050505020304" pitchFamily="18" charset="0"/>
              </a:rPr>
            </a:b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pP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latin typeface="Lucida Bright" panose="02040602050505020304" pitchFamily="18" charset="0"/>
            </a:endParaRPr>
          </a:p>
          <a:p>
            <a:pPr algn="ctr">
              <a:lnSpc>
                <a:spcPct val="150000"/>
              </a:lnSpc>
            </a:pPr>
            <a:r>
              <a:rPr lang="en-US" sz="4000" dirty="0" smtClean="0">
                <a:latin typeface="Lucida Bright" panose="02040602050505020304" pitchFamily="18" charset="0"/>
              </a:rPr>
              <a:t>File system structure</a:t>
            </a:r>
            <a:endParaRPr lang="en-US" sz="4000" dirty="0" smtClean="0">
              <a:latin typeface="Lucida Bright" panose="02040602050505020304" pitchFamily="18" charset="0"/>
            </a:endParaRPr>
          </a:p>
          <a:p>
            <a:pPr algn="ctr">
              <a:lnSpc>
                <a:spcPct val="150000"/>
              </a:lnSpc>
            </a:pPr>
            <a:endParaRPr lang="en-US" sz="4000"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2343655"/>
          </a:xfrm>
          <a:prstGeom prst="rect">
            <a:avLst/>
          </a:prstGeom>
          <a:noFill/>
          <a:ln w="9525">
            <a:noFill/>
            <a:miter lim="800000"/>
          </a:ln>
        </p:spPr>
        <p:txBody>
          <a:bodyPr wrap="square">
            <a:spAutoFit/>
          </a:bodyPr>
          <a:lstStyle/>
          <a:p>
            <a:pPr>
              <a:lnSpc>
                <a:spcPct val="150000"/>
              </a:lnSpc>
            </a:pPr>
            <a:r>
              <a:rPr lang="en-US" sz="2000" dirty="0" smtClean="0"/>
              <a:t>/dev 		Stores all character device and block device files 	</a:t>
            </a:r>
            <a:endParaRPr lang="en-US" sz="2000" dirty="0" smtClean="0"/>
          </a:p>
          <a:p>
            <a:pPr>
              <a:lnSpc>
                <a:spcPct val="150000"/>
              </a:lnSpc>
            </a:pPr>
            <a:r>
              <a:rPr lang="en-US" sz="2000" dirty="0" smtClean="0"/>
              <a:t>/</a:t>
            </a:r>
            <a:r>
              <a:rPr lang="en-US" sz="2000" dirty="0" err="1" smtClean="0"/>
              <a:t>usr</a:t>
            </a:r>
            <a:r>
              <a:rPr lang="en-US" sz="2000" dirty="0" smtClean="0"/>
              <a:t>/include 	Stores all standard header files. 	</a:t>
            </a:r>
            <a:endParaRPr lang="en-US" sz="2000" dirty="0" smtClean="0"/>
          </a:p>
          <a:p>
            <a:pPr>
              <a:lnSpc>
                <a:spcPct val="150000"/>
              </a:lnSpc>
            </a:pPr>
            <a:r>
              <a:rPr lang="en-US" sz="2000" dirty="0" smtClean="0"/>
              <a:t>/</a:t>
            </a:r>
            <a:r>
              <a:rPr lang="en-US" sz="2000" dirty="0" err="1" smtClean="0"/>
              <a:t>usr</a:t>
            </a:r>
            <a:r>
              <a:rPr lang="en-US" sz="2000" dirty="0" smtClean="0"/>
              <a:t>/lib 		Stores standard libraries 	</a:t>
            </a:r>
            <a:endParaRPr lang="en-US" sz="2000" dirty="0" smtClean="0"/>
          </a:p>
          <a:p>
            <a:pPr>
              <a:lnSpc>
                <a:spcPct val="150000"/>
              </a:lnSpc>
            </a:pPr>
            <a:r>
              <a:rPr lang="en-US" sz="2000" dirty="0" smtClean="0"/>
              <a:t>/</a:t>
            </a:r>
            <a:r>
              <a:rPr lang="en-US" sz="2000" dirty="0" err="1" smtClean="0"/>
              <a:t>tmp</a:t>
            </a:r>
            <a:r>
              <a:rPr lang="en-US" sz="2000" dirty="0" smtClean="0"/>
              <a:t> 		Stores temporary files created by program </a:t>
            </a:r>
            <a:endParaRPr lang="en-US" sz="2000" dirty="0" smtClean="0"/>
          </a:p>
          <a:p>
            <a:pPr>
              <a:lnSpc>
                <a:spcPct val="150000"/>
              </a:lnSpc>
            </a:pPr>
            <a:r>
              <a:rPr lang="en-US" sz="2000" dirty="0" smtClean="0"/>
              <a:t>	</a:t>
            </a:r>
            <a:endParaRPr lang="en-US" sz="2000" dirty="0" smtClean="0"/>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nSpc>
                <a:spcPct val="150000"/>
              </a:lnSpc>
            </a:pPr>
            <a:endParaRPr lang="en-US" sz="4000" b="1" dirty="0" smtClean="0">
              <a:latin typeface="Lucida Bright" panose="02040602050505020304" pitchFamily="18" charset="0"/>
            </a:endParaRPr>
          </a:p>
          <a:p>
            <a:pPr>
              <a:lnSpc>
                <a:spcPct val="150000"/>
              </a:lnSpc>
            </a:pPr>
            <a:r>
              <a:rPr lang="en-US" sz="4000" b="1" dirty="0" smtClean="0">
                <a:latin typeface="Lucida Bright" panose="02040602050505020304" pitchFamily="18" charset="0"/>
              </a:rPr>
              <a:t>	File system structure</a:t>
            </a:r>
            <a:endParaRPr lang="en-US" sz="4000" b="1" dirty="0" smtClean="0">
              <a:latin typeface="Lucida Bright" panose="02040602050505020304" pitchFamily="18" charset="0"/>
            </a:endParaRPr>
          </a:p>
          <a:p>
            <a:pPr>
              <a:lnSpc>
                <a:spcPct val="150000"/>
              </a:lnSpc>
            </a:pPr>
            <a:endParaRPr lang="en-US" sz="4000" b="1"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5909310"/>
          </a:xfrm>
          <a:prstGeom prst="rect">
            <a:avLst/>
          </a:prstGeom>
          <a:noFill/>
          <a:ln w="9525">
            <a:noFill/>
            <a:miter lim="800000"/>
          </a:ln>
        </p:spPr>
        <p:txBody>
          <a:bodyPr wrap="square">
            <a:spAutoFit/>
          </a:bodyPr>
          <a:lstStyle/>
          <a:p>
            <a:pPr algn="just"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Each file is associated with an </a:t>
            </a:r>
            <a:r>
              <a:rPr lang="en-US" i="1" dirty="0" err="1" smtClean="0">
                <a:solidFill>
                  <a:srgbClr val="000000"/>
                </a:solidFill>
                <a:latin typeface="Lucida Bright" panose="02040602050505020304" pitchFamily="18" charset="0"/>
                <a:cs typeface="Times New Roman" panose="02020603050405020304" pitchFamily="18" charset="0"/>
              </a:rPr>
              <a:t>inode</a:t>
            </a:r>
            <a:r>
              <a:rPr lang="en-US" dirty="0" smtClean="0">
                <a:solidFill>
                  <a:srgbClr val="000000"/>
                </a:solidFill>
                <a:latin typeface="Lucida Bright" panose="02040602050505020304" pitchFamily="18" charset="0"/>
                <a:cs typeface="Times New Roman" panose="02020603050405020304" pitchFamily="18" charset="0"/>
              </a:rPr>
              <a:t>, which is identified by an integer number, often referred to as an </a:t>
            </a:r>
            <a:r>
              <a:rPr lang="en-US" i="1" dirty="0" err="1" smtClean="0">
                <a:solidFill>
                  <a:srgbClr val="000000"/>
                </a:solidFill>
                <a:latin typeface="Lucida Bright" panose="02040602050505020304" pitchFamily="18" charset="0"/>
                <a:cs typeface="Times New Roman" panose="02020603050405020304" pitchFamily="18" charset="0"/>
              </a:rPr>
              <a:t>i</a:t>
            </a:r>
            <a:r>
              <a:rPr lang="en-US" i="1" dirty="0" smtClean="0">
                <a:solidFill>
                  <a:srgbClr val="000000"/>
                </a:solidFill>
                <a:latin typeface="Lucida Bright" panose="02040602050505020304" pitchFamily="18" charset="0"/>
                <a:cs typeface="Times New Roman" panose="02020603050405020304" pitchFamily="18" charset="0"/>
              </a:rPr>
              <a:t>-number</a:t>
            </a:r>
            <a:r>
              <a:rPr lang="en-US" dirty="0" smtClean="0">
                <a:solidFill>
                  <a:srgbClr val="000000"/>
                </a:solidFill>
                <a:latin typeface="Lucida Bright" panose="02040602050505020304" pitchFamily="18" charset="0"/>
                <a:cs typeface="Times New Roman" panose="02020603050405020304" pitchFamily="18" charset="0"/>
              </a:rPr>
              <a:t> or </a:t>
            </a:r>
            <a:r>
              <a:rPr lang="en-US" i="1" dirty="0" err="1" smtClean="0">
                <a:solidFill>
                  <a:srgbClr val="000000"/>
                </a:solidFill>
                <a:latin typeface="Lucida Bright" panose="02040602050505020304" pitchFamily="18" charset="0"/>
                <a:cs typeface="Times New Roman" panose="02020603050405020304" pitchFamily="18" charset="0"/>
              </a:rPr>
              <a:t>inode</a:t>
            </a:r>
            <a:r>
              <a:rPr lang="en-US" i="1" dirty="0" smtClean="0">
                <a:solidFill>
                  <a:srgbClr val="000000"/>
                </a:solidFill>
                <a:latin typeface="Lucida Bright" panose="02040602050505020304" pitchFamily="18" charset="0"/>
                <a:cs typeface="Times New Roman" panose="02020603050405020304" pitchFamily="18" charset="0"/>
              </a:rPr>
              <a:t> number</a:t>
            </a:r>
            <a:r>
              <a:rPr lang="en-US" dirty="0" smtClean="0">
                <a:solidFill>
                  <a:srgbClr val="000000"/>
                </a:solidFill>
                <a:latin typeface="Lucida Bright" panose="02040602050505020304" pitchFamily="18" charset="0"/>
                <a:cs typeface="Times New Roman" panose="02020603050405020304" pitchFamily="18" charset="0"/>
              </a:rPr>
              <a:t>.</a:t>
            </a:r>
            <a:endParaRPr lang="en-US" dirty="0" smtClean="0">
              <a:latin typeface="Lucida Bright" panose="02040602050505020304" pitchFamily="18" charset="0"/>
              <a:cs typeface="Times New Roman" panose="02020603050405020304" pitchFamily="18" charset="0"/>
            </a:endParaRPr>
          </a:p>
          <a:p>
            <a:pPr eaLnBrk="0" hangingPunct="0">
              <a:lnSpc>
                <a:spcPct val="150000"/>
              </a:lnSpc>
            </a:pPr>
            <a:r>
              <a:rPr lang="en-US" dirty="0" err="1" smtClean="0">
                <a:solidFill>
                  <a:srgbClr val="000000"/>
                </a:solidFill>
                <a:latin typeface="Lucida Bright" panose="02040602050505020304" pitchFamily="18" charset="0"/>
                <a:cs typeface="Times New Roman" panose="02020603050405020304" pitchFamily="18" charset="0"/>
              </a:rPr>
              <a:t>Inodes</a:t>
            </a:r>
            <a:r>
              <a:rPr lang="en-US" dirty="0" smtClean="0">
                <a:solidFill>
                  <a:srgbClr val="000000"/>
                </a:solidFill>
                <a:latin typeface="Lucida Bright" panose="02040602050505020304" pitchFamily="18" charset="0"/>
                <a:cs typeface="Times New Roman" panose="02020603050405020304" pitchFamily="18" charset="0"/>
              </a:rPr>
              <a:t> store information about files and directories (folders), such as file 1.ownership</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2 .type of file </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3.Group owner</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4.File access permissions</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5.Date and time of last access</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6.Number of links</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7.Size of the file</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8.Address of the  blocks where file is physically present</a:t>
            </a:r>
            <a:endParaRPr lang="en-US" dirty="0" smtClean="0">
              <a:solidFill>
                <a:srgbClr val="000000"/>
              </a:solidFill>
              <a:latin typeface="Lucida Bright" panose="02040602050505020304" pitchFamily="18" charset="0"/>
              <a:cs typeface="Times New Roman" panose="020206030504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Times New Roman" panose="02020603050405020304" pitchFamily="18" charset="0"/>
              </a:rPr>
              <a:t>A file's </a:t>
            </a:r>
            <a:r>
              <a:rPr lang="en-US" dirty="0" err="1" smtClean="0">
                <a:solidFill>
                  <a:srgbClr val="000000"/>
                </a:solidFill>
                <a:latin typeface="Lucida Bright" panose="02040602050505020304" pitchFamily="18" charset="0"/>
                <a:cs typeface="Times New Roman" panose="02020603050405020304" pitchFamily="18" charset="0"/>
              </a:rPr>
              <a:t>inode</a:t>
            </a:r>
            <a:r>
              <a:rPr lang="en-US" dirty="0" smtClean="0">
                <a:solidFill>
                  <a:srgbClr val="000000"/>
                </a:solidFill>
                <a:latin typeface="Lucida Bright" panose="02040602050505020304" pitchFamily="18" charset="0"/>
                <a:cs typeface="Times New Roman" panose="02020603050405020304" pitchFamily="18" charset="0"/>
              </a:rPr>
              <a:t> number </a:t>
            </a:r>
            <a:r>
              <a:rPr lang="en-US" dirty="0" smtClean="0">
                <a:solidFill>
                  <a:srgbClr val="000000"/>
                </a:solidFill>
                <a:latin typeface="Lucida Bright" panose="02040602050505020304" pitchFamily="18" charset="0"/>
                <a:cs typeface="Arial" panose="020B0604020202020204" pitchFamily="34" charset="0"/>
              </a:rPr>
              <a:t>can be found using the </a:t>
            </a:r>
            <a:r>
              <a:rPr lang="en-US" dirty="0" err="1" smtClean="0">
                <a:solidFill>
                  <a:srgbClr val="000000"/>
                </a:solidFill>
                <a:latin typeface="Lucida Bright" panose="02040602050505020304" pitchFamily="18" charset="0"/>
                <a:cs typeface="Courier New" panose="02070309020205020404" pitchFamily="49" charset="0"/>
              </a:rPr>
              <a:t>ls</a:t>
            </a:r>
            <a:r>
              <a:rPr lang="en-US" dirty="0" smtClean="0">
                <a:solidFill>
                  <a:srgbClr val="000000"/>
                </a:solidFill>
                <a:latin typeface="Lucida Bright" panose="02040602050505020304" pitchFamily="18" charset="0"/>
                <a:cs typeface="Courier New" panose="02070309020205020404" pitchFamily="49" charset="0"/>
              </a:rPr>
              <a:t> -</a:t>
            </a:r>
            <a:r>
              <a:rPr lang="en-US" dirty="0" err="1" smtClean="0">
                <a:solidFill>
                  <a:srgbClr val="000000"/>
                </a:solidFill>
                <a:latin typeface="Lucida Bright" panose="02040602050505020304" pitchFamily="18" charset="0"/>
                <a:cs typeface="Courier New" panose="02070309020205020404" pitchFamily="49" charset="0"/>
              </a:rPr>
              <a:t>i</a:t>
            </a:r>
            <a:r>
              <a:rPr lang="en-US" dirty="0" smtClean="0">
                <a:solidFill>
                  <a:srgbClr val="000000"/>
                </a:solidFill>
                <a:latin typeface="Lucida Bright" panose="02040602050505020304" pitchFamily="18" charset="0"/>
                <a:cs typeface="Arial" panose="020B0604020202020204" pitchFamily="34" charset="0"/>
              </a:rPr>
              <a:t> command. The </a:t>
            </a:r>
            <a:r>
              <a:rPr lang="en-US" dirty="0" err="1" smtClean="0">
                <a:solidFill>
                  <a:srgbClr val="000000"/>
                </a:solidFill>
                <a:latin typeface="Lucida Bright" panose="02040602050505020304" pitchFamily="18" charset="0"/>
                <a:cs typeface="Courier New" panose="02070309020205020404" pitchFamily="49" charset="0"/>
              </a:rPr>
              <a:t>ls</a:t>
            </a:r>
            <a:r>
              <a:rPr lang="en-US" dirty="0" smtClean="0">
                <a:solidFill>
                  <a:srgbClr val="000000"/>
                </a:solidFill>
                <a:latin typeface="Lucida Bright" panose="02040602050505020304" pitchFamily="18" charset="0"/>
                <a:cs typeface="Courier New" panose="02070309020205020404" pitchFamily="49" charset="0"/>
              </a:rPr>
              <a:t> -l</a:t>
            </a:r>
            <a:r>
              <a:rPr lang="en-US" dirty="0" smtClean="0">
                <a:solidFill>
                  <a:srgbClr val="000000"/>
                </a:solidFill>
                <a:latin typeface="Lucida Bright" panose="02040602050505020304" pitchFamily="18" charset="0"/>
                <a:cs typeface="Arial" panose="020B0604020202020204" pitchFamily="34" charset="0"/>
              </a:rPr>
              <a:t> command displays some of the </a:t>
            </a:r>
            <a:r>
              <a:rPr lang="en-US" dirty="0" err="1" smtClean="0">
                <a:solidFill>
                  <a:srgbClr val="000000"/>
                </a:solidFill>
                <a:latin typeface="Lucida Bright" panose="02040602050505020304" pitchFamily="18" charset="0"/>
                <a:cs typeface="Arial" panose="020B0604020202020204" pitchFamily="34" charset="0"/>
              </a:rPr>
              <a:t>inode</a:t>
            </a:r>
            <a:r>
              <a:rPr lang="en-US" dirty="0" smtClean="0">
                <a:solidFill>
                  <a:srgbClr val="000000"/>
                </a:solidFill>
                <a:latin typeface="Lucida Bright" panose="02040602050505020304" pitchFamily="18" charset="0"/>
                <a:cs typeface="Arial" panose="020B0604020202020204" pitchFamily="34" charset="0"/>
              </a:rPr>
              <a:t> contents for each file.</a:t>
            </a:r>
            <a:endParaRPr lang="en-US" dirty="0" smtClean="0">
              <a:latin typeface="Lucida Bright" panose="02040602050505020304" pitchFamily="18" charset="0"/>
            </a:endParaRPr>
          </a:p>
          <a:p>
            <a:pPr eaLnBrk="0" hangingPunct="0">
              <a:lnSpc>
                <a:spcPct val="150000"/>
              </a:lnSpc>
            </a:pPr>
            <a:r>
              <a:rPr lang="en-US" dirty="0" smtClean="0">
                <a:solidFill>
                  <a:srgbClr val="000000"/>
                </a:solidFill>
                <a:latin typeface="Lucida Bright" panose="02040602050505020304" pitchFamily="18" charset="0"/>
                <a:cs typeface="Arial" panose="020B0604020202020204" pitchFamily="34" charset="0"/>
              </a:rPr>
              <a:t> </a:t>
            </a: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r>
              <a:rPr lang="en-US" sz="4000" dirty="0" err="1" smtClean="0">
                <a:solidFill>
                  <a:srgbClr val="000000"/>
                </a:solidFill>
                <a:latin typeface="Lucida Bright" panose="02040602050505020304" pitchFamily="18" charset="0"/>
                <a:cs typeface="Times New Roman" panose="02020603050405020304" pitchFamily="18" charset="0"/>
              </a:rPr>
              <a:t>Inode</a:t>
            </a: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a:defRPr/>
            </a:pPr>
            <a:fld id="{F76B98A9-B8C7-49DB-9787-C88E08BDD27C}" type="slidenum">
              <a:rPr lang="en-US"/>
            </a:fld>
            <a:endParaRPr lang="en-US"/>
          </a:p>
        </p:txBody>
      </p:sp>
      <p:sp>
        <p:nvSpPr>
          <p:cNvPr id="3" name="Text Box 2"/>
          <p:cNvSpPr txBox="1"/>
          <p:nvPr/>
        </p:nvSpPr>
        <p:spPr>
          <a:xfrm>
            <a:off x="217805" y="295910"/>
            <a:ext cx="8729980" cy="5513705"/>
          </a:xfrm>
          <a:prstGeom prst="rect">
            <a:avLst/>
          </a:prstGeom>
          <a:noFill/>
        </p:spPr>
        <p:txBody>
          <a:bodyPr wrap="square" rtlCol="0">
            <a:noAutofit/>
          </a:bodyPr>
          <a:p>
            <a:r>
              <a:rPr lang="en-US" b="1">
                <a:latin typeface="Lucida Bright" panose="02040602050505020304" pitchFamily="18" charset="0"/>
                <a:cs typeface="Lucida Bright" panose="02040602050505020304" pitchFamily="18" charset="0"/>
              </a:rPr>
              <a:t>File Attributes</a:t>
            </a:r>
            <a:endParaRPr lang="en-US" b="1">
              <a:latin typeface="Lucida Bright" panose="02040602050505020304" pitchFamily="18" charset="0"/>
              <a:cs typeface="Lucida Bright" panose="02040602050505020304" pitchFamily="18" charset="0"/>
            </a:endParaRPr>
          </a:p>
          <a:p>
            <a:r>
              <a:rPr lang="en-US">
                <a:latin typeface="Lucida Bright" panose="02040602050505020304" pitchFamily="18" charset="0"/>
                <a:cs typeface="Lucida Bright" panose="02040602050505020304" pitchFamily="18" charset="0"/>
              </a:rPr>
              <a:t>Each file has characteristics like file name, file type, date (on which file was created), etc are referred to as ‘File Attributes’. Some people call attributes metadata also.</a:t>
            </a:r>
            <a:endParaRPr lang="en-US">
              <a:latin typeface="Lucida Bright" panose="02040602050505020304" pitchFamily="18" charset="0"/>
              <a:cs typeface="Lucida Bright" panose="02040602050505020304" pitchFamily="18" charset="0"/>
            </a:endParaRPr>
          </a:p>
          <a:p>
            <a:r>
              <a:rPr lang="en-US">
                <a:latin typeface="Lucida Bright" panose="02040602050505020304" pitchFamily="18" charset="0"/>
                <a:cs typeface="Lucida Bright" panose="02040602050505020304" pitchFamily="18" charset="0"/>
              </a:rPr>
              <a:t>F</a:t>
            </a:r>
            <a:r>
              <a:rPr lang="en-US" b="1">
                <a:latin typeface="Lucida Bright" panose="02040602050505020304" pitchFamily="18" charset="0"/>
                <a:cs typeface="Lucida Bright" panose="02040602050505020304" pitchFamily="18" charset="0"/>
              </a:rPr>
              <a:t>ollowing are some common file attributes:</a:t>
            </a:r>
            <a:endParaRPr lang="en-US" b="1">
              <a:latin typeface="Lucida Bright" panose="02040602050505020304" pitchFamily="18" charset="0"/>
              <a:cs typeface="Lucida Bright" panose="02040602050505020304" pitchFamily="18" charset="0"/>
            </a:endParaRPr>
          </a:p>
          <a:p>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Name</a:t>
            </a:r>
            <a:r>
              <a:rPr lang="en-US">
                <a:latin typeface="Lucida Bright" panose="02040602050505020304" pitchFamily="18" charset="0"/>
                <a:cs typeface="Lucida Bright" panose="02040602050505020304" pitchFamily="18" charset="0"/>
              </a:rPr>
              <a:t>: File name is the name given to the file. A name is usually a string of characters.</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Identifier</a:t>
            </a:r>
            <a:r>
              <a:rPr lang="en-US">
                <a:latin typeface="Lucida Bright" panose="02040602050505020304" pitchFamily="18" charset="0"/>
                <a:cs typeface="Lucida Bright" panose="02040602050505020304" pitchFamily="18" charset="0"/>
              </a:rPr>
              <a:t>: Identifier is a unique number for a file. It identifies files within the file system. It is not readable to us, unlike file names.</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Type</a:t>
            </a:r>
            <a:r>
              <a:rPr lang="en-US">
                <a:latin typeface="Lucida Bright" panose="02040602050505020304" pitchFamily="18" charset="0"/>
                <a:cs typeface="Lucida Bright" panose="02040602050505020304" pitchFamily="18" charset="0"/>
              </a:rPr>
              <a:t>: Type is another attribute of a file which specifies the type of file such as archive file (.zip), source code file (.c, .java), .docx file, .txt file, etc.</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Location</a:t>
            </a:r>
            <a:r>
              <a:rPr lang="en-US">
                <a:latin typeface="Lucida Bright" panose="02040602050505020304" pitchFamily="18" charset="0"/>
                <a:cs typeface="Lucida Bright" panose="02040602050505020304" pitchFamily="18" charset="0"/>
              </a:rPr>
              <a:t>: Specifies the location of the file on the device (The directory path). This attribute is a pointer to a device.</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Size</a:t>
            </a:r>
            <a:r>
              <a:rPr lang="en-US">
                <a:latin typeface="Lucida Bright" panose="02040602050505020304" pitchFamily="18" charset="0"/>
                <a:cs typeface="Lucida Bright" panose="02040602050505020304" pitchFamily="18" charset="0"/>
              </a:rPr>
              <a:t>: Specifies the current size of the file (in Kb, Mb, Gb, etc.) and possibly the maximum allowed size of the file.</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Protection</a:t>
            </a:r>
            <a:r>
              <a:rPr lang="en-US">
                <a:latin typeface="Lucida Bright" panose="02040602050505020304" pitchFamily="18" charset="0"/>
                <a:cs typeface="Lucida Bright" panose="02040602050505020304" pitchFamily="18" charset="0"/>
              </a:rPr>
              <a:t>: Specifies information about Access control (Permissions about Who can read, edit, write, and execute the file.) It provides security to sensitive and private information.</a:t>
            </a:r>
            <a:endParaRPr lang="en-US">
              <a:latin typeface="Lucida Bright" panose="02040602050505020304" pitchFamily="18" charset="0"/>
              <a:cs typeface="Lucida Bright" panose="02040602050505020304" pitchFamily="18" charset="0"/>
            </a:endParaRPr>
          </a:p>
          <a:p>
            <a:r>
              <a:rPr lang="en-US" b="1">
                <a:latin typeface="Lucida Bright" panose="02040602050505020304" pitchFamily="18" charset="0"/>
                <a:cs typeface="Lucida Bright" panose="02040602050505020304" pitchFamily="18" charset="0"/>
              </a:rPr>
              <a:t>Time, date, and user identification</a:t>
            </a:r>
            <a:r>
              <a:rPr lang="en-US">
                <a:latin typeface="Lucida Bright" panose="02040602050505020304" pitchFamily="18" charset="0"/>
                <a:cs typeface="Lucida Bright" panose="02040602050505020304" pitchFamily="18" charset="0"/>
              </a:rPr>
              <a:t>: This information tells us about the date and time on which the file was created, last modified, created and modified by which user, etc.</a:t>
            </a:r>
            <a:endParaRPr lang="en-US">
              <a:latin typeface="Lucida Bright" panose="02040602050505020304" pitchFamily="18" charset="0"/>
              <a:cs typeface="Lucida Bright" panose="020406020505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a:defRPr/>
            </a:pPr>
            <a:fld id="{F76B98A9-B8C7-49DB-9787-C88E08BDD27C}" type="slidenum">
              <a:rPr lang="en-US"/>
            </a:fld>
            <a:endParaRPr lang="en-US"/>
          </a:p>
        </p:txBody>
      </p:sp>
      <p:pic>
        <p:nvPicPr>
          <p:cNvPr id="3" name="Picture 2"/>
          <p:cNvPicPr/>
          <p:nvPr/>
        </p:nvPicPr>
        <p:blipFill>
          <a:blip r:embed="rId1"/>
          <a:stretch>
            <a:fillRect/>
          </a:stretch>
        </p:blipFill>
        <p:spPr>
          <a:xfrm>
            <a:off x="1238250" y="1471613"/>
            <a:ext cx="6286500" cy="35337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5909310"/>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A file in a UNIX or POSIX system may be one of the following types: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regular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directory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FIFO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Character device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Block device file </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Regular file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regular file may be either a text file or a binary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These files may be read or written to by users with the appropriate access permission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Regular files may be created, browsed through and modified by various means such as text editors or compilers, and they can be removed by specific system commands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smtClean="0">
                <a:solidFill>
                  <a:srgbClr val="000000"/>
                </a:solidFill>
                <a:latin typeface="Lucida Bright" panose="02040602050505020304" pitchFamily="18" charset="0"/>
                <a:cs typeface="Arial" panose="020B0604020202020204" pitchFamily="34" charset="0"/>
              </a:rPr>
              <a:t> </a:t>
            </a: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r>
              <a:rPr lang="en-US" sz="4000" smtClean="0">
                <a:solidFill>
                  <a:srgbClr val="000000"/>
                </a:solidFill>
                <a:latin typeface="Lucida Bright" panose="02040602050505020304" pitchFamily="18" charset="0"/>
                <a:cs typeface="Times New Roman" panose="02020603050405020304" pitchFamily="18" charset="0"/>
              </a:rPr>
              <a:t>File Type</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939814"/>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Directory file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It is like a folder that contains other files, including sub-directory files.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It provides a means for users to organize their files into some hierarchical structure based on file relationship or uses.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Ex: </a:t>
            </a:r>
            <a:r>
              <a:rPr lang="en-US" b="1" dirty="0" smtClean="0">
                <a:latin typeface="Lucida Bright" panose="02040602050505020304" pitchFamily="18" charset="0"/>
              </a:rPr>
              <a:t>/bin directory contains all system executable programs, such as cat, </a:t>
            </a:r>
            <a:r>
              <a:rPr lang="en-US" b="1" dirty="0" err="1" smtClean="0">
                <a:latin typeface="Lucida Bright" panose="02040602050505020304" pitchFamily="18" charset="0"/>
              </a:rPr>
              <a:t>rm</a:t>
            </a:r>
            <a:r>
              <a:rPr lang="en-US" b="1" dirty="0" smtClean="0">
                <a:latin typeface="Lucida Bright" panose="02040602050505020304" pitchFamily="18" charset="0"/>
              </a:rPr>
              <a:t>, sort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directory may be created in UNIX by the </a:t>
            </a:r>
            <a:r>
              <a:rPr lang="en-US" b="1" dirty="0" err="1" smtClean="0">
                <a:latin typeface="Lucida Bright" panose="02040602050505020304" pitchFamily="18" charset="0"/>
              </a:rPr>
              <a:t>mkdir</a:t>
            </a:r>
            <a:r>
              <a:rPr lang="en-US" b="1" dirty="0" smtClean="0">
                <a:latin typeface="Lucida Bright" panose="02040602050505020304" pitchFamily="18" charset="0"/>
              </a:rPr>
              <a:t> command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 	Ex: </a:t>
            </a:r>
            <a:r>
              <a:rPr lang="en-US" b="1" dirty="0" err="1" smtClean="0">
                <a:latin typeface="Lucida Bright" panose="02040602050505020304" pitchFamily="18" charset="0"/>
              </a:rPr>
              <a:t>mkdir</a:t>
            </a:r>
            <a:r>
              <a:rPr lang="en-US" b="1" dirty="0" smtClean="0">
                <a:latin typeface="Lucida Bright" panose="02040602050505020304" pitchFamily="18" charset="0"/>
              </a:rPr>
              <a:t> /</a:t>
            </a:r>
            <a:r>
              <a:rPr lang="en-US" b="1" dirty="0" err="1" smtClean="0">
                <a:latin typeface="Lucida Bright" panose="02040602050505020304" pitchFamily="18" charset="0"/>
              </a:rPr>
              <a:t>usr</a:t>
            </a:r>
            <a:r>
              <a:rPr lang="en-US" b="1" dirty="0" smtClean="0">
                <a:latin typeface="Lucida Bright" panose="02040602050505020304" pitchFamily="18" charset="0"/>
              </a:rPr>
              <a:t>/</a:t>
            </a:r>
            <a:r>
              <a:rPr lang="en-US" b="1" dirty="0" err="1" smtClean="0">
                <a:latin typeface="Lucida Bright" panose="02040602050505020304" pitchFamily="18" charset="0"/>
              </a:rPr>
              <a:t>foo</a:t>
            </a:r>
            <a:r>
              <a:rPr lang="en-US" b="1" dirty="0" smtClean="0">
                <a:latin typeface="Lucida Bright" panose="02040602050505020304" pitchFamily="18" charset="0"/>
              </a:rPr>
              <a:t>/xyz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directory may be removed via the </a:t>
            </a:r>
            <a:r>
              <a:rPr lang="en-US" b="1" dirty="0" err="1" smtClean="0">
                <a:latin typeface="Lucida Bright" panose="02040602050505020304" pitchFamily="18" charset="0"/>
              </a:rPr>
              <a:t>rmdir</a:t>
            </a:r>
            <a:r>
              <a:rPr lang="en-US" b="1" dirty="0" smtClean="0">
                <a:latin typeface="Lucida Bright" panose="02040602050505020304" pitchFamily="18" charset="0"/>
              </a:rPr>
              <a:t> command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	Ex: </a:t>
            </a:r>
            <a:r>
              <a:rPr lang="en-US" b="1" dirty="0" err="1" smtClean="0">
                <a:latin typeface="Lucida Bright" panose="02040602050505020304" pitchFamily="18" charset="0"/>
              </a:rPr>
              <a:t>rmdir</a:t>
            </a:r>
            <a:r>
              <a:rPr lang="en-US" b="1" dirty="0" smtClean="0">
                <a:latin typeface="Lucida Bright" panose="02040602050505020304" pitchFamily="18" charset="0"/>
              </a:rPr>
              <a:t> /</a:t>
            </a:r>
            <a:r>
              <a:rPr lang="en-US" b="1" dirty="0" err="1" smtClean="0">
                <a:latin typeface="Lucida Bright" panose="02040602050505020304" pitchFamily="18" charset="0"/>
              </a:rPr>
              <a:t>usr</a:t>
            </a:r>
            <a:r>
              <a:rPr lang="en-US" b="1" dirty="0" smtClean="0">
                <a:latin typeface="Lucida Bright" panose="02040602050505020304" pitchFamily="18" charset="0"/>
              </a:rPr>
              <a:t>/</a:t>
            </a:r>
            <a:r>
              <a:rPr lang="en-US" b="1" dirty="0" err="1" smtClean="0">
                <a:latin typeface="Lucida Bright" panose="02040602050505020304" pitchFamily="18" charset="0"/>
              </a:rPr>
              <a:t>foo</a:t>
            </a:r>
            <a:r>
              <a:rPr lang="en-US" b="1" dirty="0" smtClean="0">
                <a:latin typeface="Lucida Bright" panose="02040602050505020304" pitchFamily="18" charset="0"/>
              </a:rPr>
              <a:t>/xyz </a:t>
            </a:r>
            <a:endParaRPr lang="en-US" b="1" dirty="0" smtClean="0">
              <a:latin typeface="Lucida Bright" panose="02040602050505020304" pitchFamily="18" charset="0"/>
            </a:endParaRPr>
          </a:p>
          <a:p>
            <a:endParaRPr lang="en-US" dirty="0" smtClean="0"/>
          </a:p>
          <a:p>
            <a:pPr>
              <a:lnSpc>
                <a:spcPct val="150000"/>
              </a:lnSpc>
            </a:pPr>
            <a:r>
              <a:rPr lang="en-US" dirty="0" smtClean="0">
                <a:latin typeface="Lucida Bright" panose="02040602050505020304" pitchFamily="18" charset="0"/>
              </a:rPr>
              <a:t>The content of directory may be displayed by the </a:t>
            </a:r>
            <a:r>
              <a:rPr lang="en-US" b="1" dirty="0" err="1" smtClean="0">
                <a:latin typeface="Lucida Bright" panose="02040602050505020304" pitchFamily="18" charset="0"/>
              </a:rPr>
              <a:t>ls</a:t>
            </a:r>
            <a:r>
              <a:rPr lang="en-US" b="1" dirty="0" smtClean="0">
                <a:latin typeface="Lucida Bright" panose="02040602050505020304" pitchFamily="18" charset="0"/>
              </a:rPr>
              <a:t> command </a:t>
            </a:r>
            <a:endParaRPr lang="en-US" b="1"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Types</a:t>
            </a: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5909310"/>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Device file </a:t>
            </a:r>
            <a:endParaRPr lang="en-US" b="1" dirty="0" smtClean="0">
              <a:latin typeface="Lucida Bright" panose="02040602050505020304" pitchFamily="18" charset="0"/>
            </a:endParaRPr>
          </a:p>
          <a:p>
            <a:pPr>
              <a:lnSpc>
                <a:spcPct val="150000"/>
              </a:lnSpc>
            </a:pPr>
            <a:r>
              <a:rPr lang="fr-FR" dirty="0" smtClean="0">
                <a:latin typeface="Lucida Bright" panose="02040602050505020304" pitchFamily="18" charset="0"/>
              </a:rPr>
              <a:t>Block </a:t>
            </a:r>
            <a:r>
              <a:rPr lang="fr-FR" dirty="0" err="1" smtClean="0">
                <a:latin typeface="Lucida Bright" panose="02040602050505020304" pitchFamily="18" charset="0"/>
              </a:rPr>
              <a:t>device</a:t>
            </a:r>
            <a:r>
              <a:rPr lang="fr-FR" dirty="0" smtClean="0">
                <a:latin typeface="Lucida Bright" panose="02040602050505020304" pitchFamily="18" charset="0"/>
              </a:rPr>
              <a:t> file 				</a:t>
            </a:r>
            <a:r>
              <a:rPr lang="fr-FR" b="1" dirty="0" err="1" smtClean="0">
                <a:latin typeface="Lucida Bright" panose="02040602050505020304" pitchFamily="18" charset="0"/>
              </a:rPr>
              <a:t>Character</a:t>
            </a:r>
            <a:r>
              <a:rPr lang="fr-FR" b="1" dirty="0" smtClean="0">
                <a:latin typeface="Lucida Bright" panose="02040602050505020304" pitchFamily="18" charset="0"/>
              </a:rPr>
              <a:t> </a:t>
            </a:r>
            <a:r>
              <a:rPr lang="fr-FR" b="1" dirty="0" err="1" smtClean="0">
                <a:latin typeface="Lucida Bright" panose="02040602050505020304" pitchFamily="18" charset="0"/>
              </a:rPr>
              <a:t>device</a:t>
            </a:r>
            <a:r>
              <a:rPr lang="fr-FR" b="1" dirty="0" smtClean="0">
                <a:latin typeface="Lucida Bright" panose="02040602050505020304" pitchFamily="18" charset="0"/>
              </a:rPr>
              <a:t> file 	</a:t>
            </a:r>
            <a:endParaRPr lang="fr-FR"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It represents a physical device that       	It represents a physical device that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transmits data a block at a time.		transmits data in a character-based 					manner.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Ex: hard disk drives and floppy disk	Ex: line printers, modems, and 		 drives 					consoles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 physical device may have both block and character device files representing it for different access methods.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An application program in turn may choose to transfer data by either a character-based(via character device file) or block-based(via block device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device file is created in UNIX via the </a:t>
            </a:r>
            <a:r>
              <a:rPr lang="en-US" b="1" dirty="0" err="1" smtClean="0">
                <a:latin typeface="Lucida Bright" panose="02040602050505020304" pitchFamily="18" charset="0"/>
              </a:rPr>
              <a:t>mknod</a:t>
            </a:r>
            <a:r>
              <a:rPr lang="en-US" b="1" dirty="0" smtClean="0">
                <a:latin typeface="Lucida Bright" panose="02040602050505020304" pitchFamily="18" charset="0"/>
              </a:rPr>
              <a:t> command </a:t>
            </a:r>
            <a:endParaRPr lang="en-US" b="1" dirty="0" smtClean="0">
              <a:latin typeface="Lucida Bright" panose="02040602050505020304" pitchFamily="18" charset="0"/>
            </a:endParaRPr>
          </a:p>
          <a:p>
            <a:pPr>
              <a:lnSpc>
                <a:spcPct val="150000"/>
              </a:lnSpc>
            </a:pPr>
            <a:r>
              <a:rPr lang="pt-BR" dirty="0" smtClean="0">
                <a:latin typeface="Lucida Bright" panose="02040602050505020304" pitchFamily="18" charset="0"/>
              </a:rPr>
              <a:t>         Ex: </a:t>
            </a:r>
            <a:r>
              <a:rPr lang="pt-BR" b="1" dirty="0" smtClean="0">
                <a:latin typeface="Lucida Bright" panose="02040602050505020304" pitchFamily="18" charset="0"/>
              </a:rPr>
              <a:t>mknod 		/dev/cdsk 	c 	115 	5 </a:t>
            </a:r>
            <a:endParaRPr lang="pt-BR" b="1" dirty="0" smtClean="0">
              <a:latin typeface="Lucida Bright" panose="02040602050505020304" pitchFamily="18" charset="0"/>
            </a:endParaRPr>
          </a:p>
          <a:p>
            <a:pPr>
              <a:lnSpc>
                <a:spcPct val="150000"/>
              </a:lnSpc>
            </a:pPr>
            <a:endParaRPr lang="en-US" dirty="0" smtClean="0"/>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Types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457200"/>
            <a:ext cx="8077200" cy="5867400"/>
          </a:xfrm>
        </p:spPr>
        <p:txBody>
          <a:bodyPr/>
          <a:lstStyle/>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Here , 	c - character device file </a:t>
            </a:r>
            <a:endParaRPr lang="en-US" sz="2400"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	115 - major device number </a:t>
            </a:r>
            <a:endParaRPr lang="en-US" sz="2400"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	5 - minor device number  </a:t>
            </a:r>
            <a:endParaRPr lang="en-US" sz="2400" dirty="0" smtClean="0">
              <a:solidFill>
                <a:schemeClr val="tx1"/>
              </a:solidFill>
              <a:latin typeface="Times New Roman" panose="02020603050405020304" pitchFamily="18" charset="0"/>
              <a:cs typeface="Times New Roman" panose="02020603050405020304" pitchFamily="18" charset="0"/>
            </a:endParaRPr>
          </a:p>
          <a:p>
            <a:pPr marL="457200" lvl="1" indent="457200"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b - block device file option</a:t>
            </a:r>
            <a:endParaRPr lang="en-US" sz="2400"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	</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6C926EF-2906-4D03-ACE2-C3243ABAF3CC}"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661535"/>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sym typeface="+mn-ea"/>
              </a:rPr>
              <a:t>FIFO file: </a:t>
            </a:r>
            <a:r>
              <a:rPr lang="en-US" dirty="0" smtClean="0">
                <a:latin typeface="Lucida Bright" panose="02040602050505020304" pitchFamily="18" charset="0"/>
              </a:rPr>
              <a:t>It is a special pipe device file which provides a temporary buffer for two or more processes to communicate by writing data to and reading data from the buffer.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size of the buffer is fixed to PIPE_BUF.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Data in the buffer is accessed in a first-in-first-out manner.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buffer is allocated when the first process opens the FIFO file for read or write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buffer is discarded when all processes close their references (stream pointers) to 	the FIFO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Data stored in a FIFO buffer is temporary. </a:t>
            </a:r>
            <a:endParaRPr lang="en-US" dirty="0" smtClean="0">
              <a:latin typeface="Lucida Bright" panose="02040602050505020304" pitchFamily="18" charset="0"/>
            </a:endParaRPr>
          </a:p>
          <a:p>
            <a:pPr>
              <a:lnSpc>
                <a:spcPct val="150000"/>
              </a:lnSpc>
            </a:pPr>
            <a:endParaRPr lang="en-US" b="1"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Types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533400"/>
            <a:ext cx="7620000" cy="5638800"/>
          </a:xfrm>
        </p:spPr>
        <p:txBody>
          <a:bodyPr/>
          <a:lstStyle/>
          <a:p>
            <a:pPr algn="l">
              <a:lnSpc>
                <a:spcPct val="150000"/>
              </a:lnSpc>
              <a:buFont typeface="Arial" panose="020B0604020202020204" pitchFamily="34" charset="0"/>
              <a:buChar char="•"/>
            </a:pPr>
            <a:r>
              <a:rPr lang="en-US" sz="2400" dirty="0" smtClean="0">
                <a:solidFill>
                  <a:schemeClr val="tx1"/>
                </a:solidFill>
                <a:latin typeface="Times New Roman" panose="02020603050405020304" pitchFamily="18" charset="0"/>
                <a:cs typeface="Times New Roman" panose="02020603050405020304" pitchFamily="18" charset="0"/>
              </a:rPr>
              <a:t> A FIFO file may be created via the </a:t>
            </a:r>
            <a:r>
              <a:rPr lang="en-US" sz="2400" b="1" dirty="0" err="1" smtClean="0">
                <a:solidFill>
                  <a:schemeClr val="tx1"/>
                </a:solidFill>
                <a:latin typeface="Times New Roman" panose="02020603050405020304" pitchFamily="18" charset="0"/>
                <a:cs typeface="Times New Roman" panose="02020603050405020304" pitchFamily="18" charset="0"/>
              </a:rPr>
              <a:t>mkfifo</a:t>
            </a:r>
            <a:r>
              <a:rPr lang="en-US" sz="2400" b="1" dirty="0" smtClean="0">
                <a:solidFill>
                  <a:schemeClr val="tx1"/>
                </a:solidFill>
                <a:latin typeface="Times New Roman" panose="02020603050405020304" pitchFamily="18" charset="0"/>
                <a:cs typeface="Times New Roman" panose="02020603050405020304" pitchFamily="18" charset="0"/>
              </a:rPr>
              <a:t> command.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	The following command creates a FIFO file (if it does not exists) </a:t>
            </a:r>
            <a:endParaRPr lang="en-US" sz="2400"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err="1" smtClean="0">
                <a:solidFill>
                  <a:schemeClr val="tx1"/>
                </a:solidFill>
                <a:latin typeface="Times New Roman" panose="02020603050405020304" pitchFamily="18" charset="0"/>
                <a:cs typeface="Times New Roman" panose="02020603050405020304" pitchFamily="18" charset="0"/>
              </a:rPr>
              <a:t>mkfifo</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err="1" smtClean="0">
                <a:solidFill>
                  <a:schemeClr val="tx1"/>
                </a:solidFill>
                <a:latin typeface="Times New Roman" panose="02020603050405020304" pitchFamily="18" charset="0"/>
                <a:cs typeface="Times New Roman" panose="02020603050405020304" pitchFamily="18" charset="0"/>
              </a:rPr>
              <a:t>usr</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err="1" smtClean="0">
                <a:solidFill>
                  <a:schemeClr val="tx1"/>
                </a:solidFill>
                <a:latin typeface="Times New Roman" panose="02020603050405020304" pitchFamily="18" charset="0"/>
                <a:cs typeface="Times New Roman" panose="02020603050405020304" pitchFamily="18" charset="0"/>
              </a:rPr>
              <a:t>prog</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err="1" smtClean="0">
                <a:solidFill>
                  <a:schemeClr val="tx1"/>
                </a:solidFill>
                <a:latin typeface="Times New Roman" panose="02020603050405020304" pitchFamily="18" charset="0"/>
                <a:cs typeface="Times New Roman" panose="02020603050405020304" pitchFamily="18" charset="0"/>
              </a:rPr>
              <a:t>fifo_pipe</a:t>
            </a:r>
            <a:r>
              <a:rPr lang="en-US" sz="2400" b="1" dirty="0" smtClean="0">
                <a:solidFill>
                  <a:schemeClr val="tx1"/>
                </a:solidFill>
                <a:latin typeface="Times New Roman" panose="02020603050405020304" pitchFamily="18" charset="0"/>
                <a:cs typeface="Times New Roman" panose="02020603050405020304" pitchFamily="18" charset="0"/>
              </a:rPr>
              <a:t>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smtClean="0">
                <a:solidFill>
                  <a:schemeClr val="tx1"/>
                </a:solidFill>
                <a:latin typeface="Times New Roman" panose="02020603050405020304" pitchFamily="18" charset="0"/>
                <a:cs typeface="Times New Roman" panose="02020603050405020304" pitchFamily="18" charset="0"/>
              </a:rPr>
              <a:t>	 The following command creates a FIFO file (if it does not exists) </a:t>
            </a:r>
            <a:endParaRPr lang="en-US" sz="2400" dirty="0" smtClean="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err="1" smtClean="0">
                <a:solidFill>
                  <a:schemeClr val="tx1"/>
                </a:solidFill>
                <a:latin typeface="Times New Roman" panose="02020603050405020304" pitchFamily="18" charset="0"/>
                <a:cs typeface="Times New Roman" panose="02020603050405020304" pitchFamily="18" charset="0"/>
              </a:rPr>
              <a:t>mknod</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b="1" dirty="0" err="1" smtClean="0">
                <a:solidFill>
                  <a:schemeClr val="tx1"/>
                </a:solidFill>
                <a:latin typeface="Times New Roman" panose="02020603050405020304" pitchFamily="18" charset="0"/>
                <a:cs typeface="Times New Roman" panose="02020603050405020304" pitchFamily="18" charset="0"/>
              </a:rPr>
              <a:t>usr</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err="1" smtClean="0">
                <a:solidFill>
                  <a:schemeClr val="tx1"/>
                </a:solidFill>
                <a:latin typeface="Times New Roman" panose="02020603050405020304" pitchFamily="18" charset="0"/>
                <a:cs typeface="Times New Roman" panose="02020603050405020304" pitchFamily="18" charset="0"/>
              </a:rPr>
              <a:t>prog</a:t>
            </a:r>
            <a:r>
              <a:rPr lang="en-US" sz="2400" b="1" dirty="0" smtClean="0">
                <a:solidFill>
                  <a:schemeClr val="tx1"/>
                </a:solidFill>
                <a:latin typeface="Times New Roman" panose="02020603050405020304" pitchFamily="18" charset="0"/>
                <a:cs typeface="Times New Roman" panose="02020603050405020304" pitchFamily="18" charset="0"/>
              </a:rPr>
              <a:t>/</a:t>
            </a:r>
            <a:r>
              <a:rPr lang="en-US" sz="2400" b="1" dirty="0" err="1" smtClean="0">
                <a:solidFill>
                  <a:schemeClr val="tx1"/>
                </a:solidFill>
                <a:latin typeface="Times New Roman" panose="02020603050405020304" pitchFamily="18" charset="0"/>
                <a:cs typeface="Times New Roman" panose="02020603050405020304" pitchFamily="18" charset="0"/>
              </a:rPr>
              <a:t>fifo_pipe</a:t>
            </a:r>
            <a:r>
              <a:rPr lang="en-US" sz="2400" b="1" dirty="0" smtClean="0">
                <a:solidFill>
                  <a:schemeClr val="tx1"/>
                </a:solidFill>
                <a:latin typeface="Times New Roman" panose="02020603050405020304" pitchFamily="18" charset="0"/>
                <a:cs typeface="Times New Roman" panose="02020603050405020304" pitchFamily="18" charset="0"/>
              </a:rPr>
              <a:t> p </a:t>
            </a:r>
            <a:endParaRPr lang="en-US" sz="2400" b="1" dirty="0" smtClean="0">
              <a:solidFill>
                <a:schemeClr val="tx1"/>
              </a:solidFill>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400" dirty="0" smtClean="0">
                <a:solidFill>
                  <a:schemeClr val="tx1"/>
                </a:solidFill>
                <a:latin typeface="Times New Roman" panose="02020603050405020304" pitchFamily="18" charset="0"/>
                <a:cs typeface="Times New Roman" panose="02020603050405020304" pitchFamily="18" charset="0"/>
              </a:rPr>
              <a:t> FIFO files can be removed using </a:t>
            </a:r>
            <a:r>
              <a:rPr lang="en-US" sz="2400" b="1" dirty="0" err="1" smtClean="0">
                <a:solidFill>
                  <a:schemeClr val="tx1"/>
                </a:solidFill>
                <a:latin typeface="Times New Roman" panose="02020603050405020304" pitchFamily="18" charset="0"/>
                <a:cs typeface="Times New Roman" panose="02020603050405020304" pitchFamily="18" charset="0"/>
              </a:rPr>
              <a:t>rm, unlink</a:t>
            </a:r>
            <a:r>
              <a:rPr lang="en-US" sz="2400" b="1" dirty="0" smtClean="0">
                <a:solidFill>
                  <a:schemeClr val="tx1"/>
                </a:solidFill>
                <a:latin typeface="Times New Roman" panose="02020603050405020304" pitchFamily="18" charset="0"/>
                <a:cs typeface="Times New Roman" panose="02020603050405020304" pitchFamily="18" charset="0"/>
              </a:rPr>
              <a:t> commands. </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6C926EF-2906-4D03-ACE2-C3243ABAF3CC}"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247317"/>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Symbolic link file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BSD UNIX &amp; SV4 defines a symbolic link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symbolic link file contains a path name which references another file in either local or  	remote file system.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POSIX.1 does not support symbolic link file type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 symbolic link may be created in UNIX via the </a:t>
            </a:r>
            <a:r>
              <a:rPr lang="en-US" b="1" dirty="0" err="1" smtClean="0">
                <a:latin typeface="Lucida Bright" panose="02040602050505020304" pitchFamily="18" charset="0"/>
              </a:rPr>
              <a:t>ln</a:t>
            </a:r>
            <a:r>
              <a:rPr lang="en-US" b="1" dirty="0" smtClean="0">
                <a:latin typeface="Lucida Bright" panose="02040602050505020304" pitchFamily="18" charset="0"/>
              </a:rPr>
              <a:t> command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pt-BR" dirty="0" smtClean="0">
                <a:latin typeface="Lucida Bright" panose="02040602050505020304" pitchFamily="18" charset="0"/>
              </a:rPr>
              <a:t> Ex: </a:t>
            </a:r>
            <a:r>
              <a:rPr lang="pt-BR" b="1" dirty="0" smtClean="0">
                <a:latin typeface="Lucida Bright" panose="02040602050505020304" pitchFamily="18" charset="0"/>
              </a:rPr>
              <a:t>ln -s /usr/divya/original /usr/raj/slink </a:t>
            </a:r>
            <a:endParaRPr lang="pt-BR"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It is possible to create a symbolic link to reference another symbolic link.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b="1" dirty="0" err="1" smtClean="0">
                <a:latin typeface="Lucida Bright" panose="02040602050505020304" pitchFamily="18" charset="0"/>
              </a:rPr>
              <a:t>rm</a:t>
            </a:r>
            <a:r>
              <a:rPr lang="en-US" b="1" dirty="0" smtClean="0">
                <a:latin typeface="Lucida Bright" panose="02040602050505020304" pitchFamily="18" charset="0"/>
              </a:rPr>
              <a:t>, </a:t>
            </a:r>
            <a:r>
              <a:rPr lang="en-US" b="1" dirty="0" err="1" smtClean="0">
                <a:latin typeface="Lucida Bright" panose="02040602050505020304" pitchFamily="18" charset="0"/>
              </a:rPr>
              <a:t>mv</a:t>
            </a:r>
            <a:r>
              <a:rPr lang="en-US" b="1" dirty="0" smtClean="0">
                <a:latin typeface="Lucida Bright" panose="02040602050505020304" pitchFamily="18" charset="0"/>
              </a:rPr>
              <a:t> and </a:t>
            </a:r>
            <a:r>
              <a:rPr lang="en-US" b="1" dirty="0" err="1" smtClean="0">
                <a:latin typeface="Lucida Bright" panose="02040602050505020304" pitchFamily="18" charset="0"/>
              </a:rPr>
              <a:t>chmod</a:t>
            </a:r>
            <a:r>
              <a:rPr lang="en-US" b="1" dirty="0" smtClean="0">
                <a:latin typeface="Lucida Bright" panose="02040602050505020304" pitchFamily="18" charset="0"/>
              </a:rPr>
              <a:t> commands will operate only on the symbolic link arguments 	directly and not on the files that they reference. </a:t>
            </a:r>
            <a:endParaRPr lang="en-US" b="1"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Types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662815"/>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type of the file can be determined with the macros given in table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Macro name 			file type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S_ISREG			              regular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S_ISDIR				directory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S_ISCHAR			character special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S_ISBLK				block special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S_ISFIFO			</a:t>
            </a:r>
            <a:r>
              <a:rPr lang="en-US" dirty="0" err="1" smtClean="0">
                <a:latin typeface="Lucida Bright" panose="02040602050505020304" pitchFamily="18" charset="0"/>
              </a:rPr>
              <a:t>fifo</a:t>
            </a:r>
            <a:r>
              <a:rPr lang="en-US" dirty="0" smtClean="0">
                <a:latin typeface="Lucida Bright" panose="02040602050505020304" pitchFamily="18" charset="0"/>
              </a:rPr>
              <a:t>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S_ISLNK			             symbolic link</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S_ISSOCK			socket file</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Types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eaLnBrk="0" hangingPunct="0">
              <a:lnSpc>
                <a:spcPct val="150000"/>
              </a:lnSpc>
            </a:pPr>
            <a:endParaRPr lang="en-US" sz="4000" dirty="0" smtClean="0">
              <a:solidFill>
                <a:srgbClr val="000000"/>
              </a:solidFill>
              <a:latin typeface="Lucida Bright" panose="020406020505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6601807"/>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The Standard I/O:</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functions which are already present in the library is known as the standard I/O functions.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Three file streams are automatically opened when a program is started. They are </a:t>
            </a:r>
            <a:r>
              <a:rPr lang="en-US" dirty="0" err="1" smtClean="0">
                <a:latin typeface="Lucida Bright" panose="02040602050505020304" pitchFamily="18" charset="0"/>
              </a:rPr>
              <a:t>stdin</a:t>
            </a:r>
            <a:r>
              <a:rPr lang="en-US" dirty="0" smtClean="0">
                <a:latin typeface="Lucida Bright" panose="02040602050505020304" pitchFamily="18" charset="0"/>
              </a:rPr>
              <a:t>, </a:t>
            </a:r>
            <a:r>
              <a:rPr lang="en-US" dirty="0" err="1" smtClean="0">
                <a:latin typeface="Lucida Bright" panose="02040602050505020304" pitchFamily="18" charset="0"/>
              </a:rPr>
              <a:t>stdout</a:t>
            </a:r>
            <a:r>
              <a:rPr lang="en-US" dirty="0" smtClean="0">
                <a:latin typeface="Lucida Bright" panose="02040602050505020304" pitchFamily="18" charset="0"/>
              </a:rPr>
              <a:t> and </a:t>
            </a:r>
            <a:r>
              <a:rPr lang="en-US" dirty="0" err="1" smtClean="0">
                <a:latin typeface="Lucida Bright" panose="02040602050505020304" pitchFamily="18" charset="0"/>
              </a:rPr>
              <a:t>stderr</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These are declared in </a:t>
            </a:r>
            <a:r>
              <a:rPr lang="en-US" dirty="0" err="1" smtClean="0">
                <a:latin typeface="Lucida Bright" panose="02040602050505020304" pitchFamily="18" charset="0"/>
              </a:rPr>
              <a:t>stdio.h</a:t>
            </a:r>
            <a:r>
              <a:rPr lang="en-US" dirty="0" smtClean="0">
                <a:latin typeface="Lucida Bright" panose="02040602050505020304" pitchFamily="18" charset="0"/>
              </a:rPr>
              <a:t> and represent the standard input, output and error output, respectively, which</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correspond to the low level file descriptors 0, 1 and 2.</a:t>
            </a:r>
            <a:endParaRPr lang="en-US" dirty="0" smtClean="0">
              <a:latin typeface="Lucida Bright" panose="02040602050505020304" pitchFamily="18" charset="0"/>
            </a:endParaRPr>
          </a:p>
          <a:p>
            <a:r>
              <a:rPr lang="en-US" smtClean="0">
                <a:latin typeface="Lucida Bright" panose="02040602050505020304" pitchFamily="18" charset="0"/>
              </a:rPr>
              <a:t>· </a:t>
            </a:r>
            <a:r>
              <a:rPr lang="en-US" dirty="0" err="1" smtClean="0">
                <a:latin typeface="Lucida Bright" panose="02040602050505020304" pitchFamily="18" charset="0"/>
              </a:rPr>
              <a:t>fopen</a:t>
            </a:r>
            <a:r>
              <a:rPr lang="en-US" dirty="0" smtClean="0">
                <a:latin typeface="Lucida Bright" panose="02040602050505020304" pitchFamily="18" charset="0"/>
              </a:rPr>
              <a:t>, </a:t>
            </a:r>
            <a:r>
              <a:rPr lang="en-US" dirty="0" err="1" smtClean="0">
                <a:latin typeface="Lucida Bright" panose="02040602050505020304" pitchFamily="18" charset="0"/>
              </a:rPr>
              <a:t>fclose</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fread</a:t>
            </a:r>
            <a:r>
              <a:rPr lang="en-US" dirty="0" smtClean="0">
                <a:latin typeface="Lucida Bright" panose="02040602050505020304" pitchFamily="18" charset="0"/>
              </a:rPr>
              <a:t>, </a:t>
            </a:r>
            <a:r>
              <a:rPr lang="en-US" dirty="0" err="1" smtClean="0">
                <a:latin typeface="Lucida Bright" panose="02040602050505020304" pitchFamily="18" charset="0"/>
              </a:rPr>
              <a:t>fwrite</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fflush</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fseek</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fgetc</a:t>
            </a:r>
            <a:r>
              <a:rPr lang="en-US" dirty="0" smtClean="0">
                <a:latin typeface="Lucida Bright" panose="02040602050505020304" pitchFamily="18" charset="0"/>
              </a:rPr>
              <a:t>, </a:t>
            </a:r>
            <a:r>
              <a:rPr lang="en-US" dirty="0" err="1" smtClean="0">
                <a:latin typeface="Lucida Bright" panose="02040602050505020304" pitchFamily="18" charset="0"/>
              </a:rPr>
              <a:t>getc</a:t>
            </a:r>
            <a:r>
              <a:rPr lang="en-US" dirty="0" smtClean="0">
                <a:latin typeface="Lucida Bright" panose="02040602050505020304" pitchFamily="18" charset="0"/>
              </a:rPr>
              <a:t>, </a:t>
            </a:r>
            <a:r>
              <a:rPr lang="en-US" dirty="0" err="1" smtClean="0">
                <a:latin typeface="Lucida Bright" panose="02040602050505020304" pitchFamily="18" charset="0"/>
              </a:rPr>
              <a:t>getchar</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fputc</a:t>
            </a:r>
            <a:r>
              <a:rPr lang="en-US" dirty="0" smtClean="0">
                <a:latin typeface="Lucida Bright" panose="02040602050505020304" pitchFamily="18" charset="0"/>
              </a:rPr>
              <a:t>, </a:t>
            </a:r>
            <a:r>
              <a:rPr lang="en-US" dirty="0" err="1" smtClean="0">
                <a:latin typeface="Lucida Bright" panose="02040602050505020304" pitchFamily="18" charset="0"/>
              </a:rPr>
              <a:t>putc</a:t>
            </a:r>
            <a:r>
              <a:rPr lang="en-US" dirty="0" smtClean="0">
                <a:latin typeface="Lucida Bright" panose="02040602050505020304" pitchFamily="18" charset="0"/>
              </a:rPr>
              <a:t>, </a:t>
            </a:r>
            <a:r>
              <a:rPr lang="en-US" dirty="0" err="1" smtClean="0">
                <a:latin typeface="Lucida Bright" panose="02040602050505020304" pitchFamily="18" charset="0"/>
              </a:rPr>
              <a:t>putchar</a:t>
            </a:r>
            <a:endParaRPr lang="en-US" dirty="0" smtClean="0">
              <a:latin typeface="Lucida Bright" panose="02040602050505020304" pitchFamily="18" charset="0"/>
            </a:endParaRPr>
          </a:p>
          <a:p>
            <a:r>
              <a:rPr lang="en-US" dirty="0" smtClean="0">
                <a:latin typeface="Lucida Bright" panose="02040602050505020304" pitchFamily="18" charset="0"/>
              </a:rPr>
              <a:t>· </a:t>
            </a:r>
            <a:r>
              <a:rPr lang="en-US" dirty="0" err="1" smtClean="0">
                <a:latin typeface="Lucida Bright" panose="02040602050505020304" pitchFamily="18" charset="0"/>
              </a:rPr>
              <a:t>fgets</a:t>
            </a:r>
            <a:r>
              <a:rPr lang="en-US" dirty="0" smtClean="0">
                <a:latin typeface="Lucida Bright" panose="02040602050505020304" pitchFamily="18" charset="0"/>
              </a:rPr>
              <a:t>, gets</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pPr>
            <a:endParaRPr lang="en-US" dirty="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6324808"/>
          </a:xfrm>
          <a:prstGeom prst="rect">
            <a:avLst/>
          </a:prstGeom>
          <a:noFill/>
          <a:ln w="9525">
            <a:noFill/>
            <a:miter lim="800000"/>
          </a:ln>
        </p:spPr>
        <p:txBody>
          <a:bodyPr wrap="square">
            <a:spAutoFit/>
          </a:bodyPr>
          <a:lstStyle/>
          <a:p>
            <a:pPr>
              <a:lnSpc>
                <a:spcPct val="150000"/>
              </a:lnSpc>
              <a:buFontTx/>
              <a:buNone/>
            </a:pPr>
            <a:r>
              <a:rPr lang="en-US" b="1" dirty="0" smtClean="0">
                <a:latin typeface="Lucida Bright" panose="02040602050505020304" pitchFamily="18" charset="0"/>
              </a:rPr>
              <a:t>Opening a Stream: </a:t>
            </a:r>
            <a:r>
              <a:rPr lang="en-US" b="1" dirty="0" err="1" smtClean="0">
                <a:latin typeface="Lucida Bright" panose="02040602050505020304" pitchFamily="18" charset="0"/>
              </a:rPr>
              <a:t>fopen</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 &lt;</a:t>
            </a:r>
            <a:r>
              <a:rPr lang="en-US" dirty="0" err="1" smtClean="0">
                <a:latin typeface="Lucida Bright" panose="02040602050505020304" pitchFamily="18" charset="0"/>
              </a:rPr>
              <a:t>stdio.h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pPr>
            <a:r>
              <a:rPr lang="fr-FR" dirty="0" smtClean="0">
                <a:latin typeface="Lucida Bright" panose="02040602050505020304" pitchFamily="18" charset="0"/>
              </a:rPr>
              <a:t>FILE *</a:t>
            </a:r>
            <a:r>
              <a:rPr lang="fr-FR" dirty="0" err="1" smtClean="0">
                <a:latin typeface="Lucida Bright" panose="02040602050505020304" pitchFamily="18" charset="0"/>
              </a:rPr>
              <a:t>fopen</a:t>
            </a:r>
            <a:r>
              <a:rPr lang="fr-FR" dirty="0" smtClean="0">
                <a:latin typeface="Lucida Bright" panose="02040602050505020304" pitchFamily="18" charset="0"/>
              </a:rPr>
              <a:t>(</a:t>
            </a:r>
            <a:r>
              <a:rPr lang="fr-FR" dirty="0" err="1" smtClean="0">
                <a:latin typeface="Lucida Bright" panose="02040602050505020304" pitchFamily="18" charset="0"/>
              </a:rPr>
              <a:t>const</a:t>
            </a:r>
            <a:r>
              <a:rPr lang="fr-FR" dirty="0" smtClean="0">
                <a:latin typeface="Lucida Bright" panose="02040602050505020304" pitchFamily="18" charset="0"/>
              </a:rPr>
              <a:t> char *</a:t>
            </a:r>
            <a:r>
              <a:rPr lang="fr-FR" dirty="0" err="1" smtClean="0">
                <a:latin typeface="Lucida Bright" panose="02040602050505020304" pitchFamily="18" charset="0"/>
              </a:rPr>
              <a:t>filename</a:t>
            </a:r>
            <a:r>
              <a:rPr lang="fr-FR" dirty="0" smtClean="0">
                <a:latin typeface="Lucida Bright" panose="02040602050505020304" pitchFamily="18" charset="0"/>
              </a:rPr>
              <a:t>, </a:t>
            </a:r>
            <a:r>
              <a:rPr lang="fr-FR" dirty="0" err="1" smtClean="0">
                <a:latin typeface="Lucida Bright" panose="02040602050505020304" pitchFamily="18" charset="0"/>
              </a:rPr>
              <a:t>const</a:t>
            </a:r>
            <a:r>
              <a:rPr lang="fr-FR" dirty="0" smtClean="0">
                <a:latin typeface="Lucida Bright" panose="02040602050505020304" pitchFamily="18" charset="0"/>
              </a:rPr>
              <a:t> char *mode);</a:t>
            </a:r>
            <a:endParaRPr lang="fr-FR"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fopen</a:t>
            </a:r>
            <a:r>
              <a:rPr lang="en-US" dirty="0" smtClean="0">
                <a:latin typeface="Lucida Bright" panose="02040602050505020304" pitchFamily="18" charset="0"/>
              </a:rPr>
              <a:t> library function is the analog of the low level open system call.</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fopen</a:t>
            </a:r>
            <a:r>
              <a:rPr lang="en-US" dirty="0" smtClean="0">
                <a:latin typeface="Lucida Bright" panose="02040602050505020304" pitchFamily="18" charset="0"/>
              </a:rPr>
              <a:t> opens the file named by the filename parameter and associates a stream with it.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mode parameter specifies how the file is to be opened. It's one of the following strings:</a:t>
            </a:r>
            <a:endParaRPr lang="en-US" dirty="0" smtClean="0">
              <a:latin typeface="Lucida Bright" panose="02040602050505020304" pitchFamily="18" charset="0"/>
            </a:endParaRPr>
          </a:p>
          <a:p>
            <a:pPr>
              <a:lnSpc>
                <a:spcPct val="150000"/>
              </a:lnSpc>
            </a:pPr>
            <a:r>
              <a:rPr lang="en-US" dirty="0" smtClean="0"/>
              <a:t>·</a:t>
            </a:r>
            <a:r>
              <a:rPr lang="en-US" dirty="0" smtClean="0">
                <a:latin typeface="Lucida Bright" panose="02040602050505020304" pitchFamily="18" charset="0"/>
              </a:rPr>
              <a:t> "r" or "</a:t>
            </a:r>
            <a:r>
              <a:rPr lang="en-US" dirty="0" err="1" smtClean="0">
                <a:latin typeface="Lucida Bright" panose="02040602050505020304" pitchFamily="18" charset="0"/>
              </a:rPr>
              <a:t>rb</a:t>
            </a:r>
            <a:r>
              <a:rPr lang="en-US" dirty="0" smtClean="0">
                <a:latin typeface="Lucida Bright" panose="02040602050505020304" pitchFamily="18" charset="0"/>
              </a:rPr>
              <a:t>" 	Open for reading only</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"w" or "</a:t>
            </a:r>
            <a:r>
              <a:rPr lang="en-US" dirty="0" err="1" smtClean="0">
                <a:latin typeface="Lucida Bright" panose="02040602050505020304" pitchFamily="18" charset="0"/>
              </a:rPr>
              <a:t>wb</a:t>
            </a:r>
            <a:r>
              <a:rPr lang="en-US" dirty="0" smtClean="0">
                <a:latin typeface="Lucida Bright" panose="02040602050505020304" pitchFamily="18" charset="0"/>
              </a:rPr>
              <a:t>“	 Open for writing, truncate to zero length</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 or "</a:t>
            </a:r>
            <a:r>
              <a:rPr lang="en-US" dirty="0" err="1" smtClean="0">
                <a:latin typeface="Lucida Bright" panose="02040602050505020304" pitchFamily="18" charset="0"/>
              </a:rPr>
              <a:t>ab</a:t>
            </a:r>
            <a:r>
              <a:rPr lang="en-US" dirty="0" smtClean="0">
                <a:latin typeface="Lucida Bright" panose="02040602050505020304" pitchFamily="18" charset="0"/>
              </a:rPr>
              <a:t>“	 Open for writing, append to end of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"r+" or "</a:t>
            </a:r>
            <a:r>
              <a:rPr lang="en-US" dirty="0" err="1" smtClean="0">
                <a:latin typeface="Lucida Bright" panose="02040602050505020304" pitchFamily="18" charset="0"/>
              </a:rPr>
              <a:t>rb</a:t>
            </a:r>
            <a:r>
              <a:rPr lang="en-US" dirty="0" smtClean="0">
                <a:latin typeface="Lucida Bright" panose="02040602050505020304" pitchFamily="18" charset="0"/>
              </a:rPr>
              <a:t>+" or "</a:t>
            </a:r>
            <a:r>
              <a:rPr lang="en-US" dirty="0" err="1" smtClean="0">
                <a:latin typeface="Lucida Bright" panose="02040602050505020304" pitchFamily="18" charset="0"/>
              </a:rPr>
              <a:t>r+b</a:t>
            </a:r>
            <a:r>
              <a:rPr lang="en-US" dirty="0" smtClean="0">
                <a:latin typeface="Lucida Bright" panose="02040602050505020304" pitchFamily="18" charset="0"/>
              </a:rPr>
              <a:t>" 	Open for update (reading and writing)</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"w+" or "</a:t>
            </a:r>
            <a:r>
              <a:rPr lang="en-US" dirty="0" err="1" smtClean="0">
                <a:latin typeface="Lucida Bright" panose="02040602050505020304" pitchFamily="18" charset="0"/>
              </a:rPr>
              <a:t>wb</a:t>
            </a:r>
            <a:r>
              <a:rPr lang="en-US" dirty="0" smtClean="0">
                <a:latin typeface="Lucida Bright" panose="02040602050505020304" pitchFamily="18" charset="0"/>
              </a:rPr>
              <a:t>+" or "</a:t>
            </a:r>
            <a:r>
              <a:rPr lang="en-US" dirty="0" err="1" smtClean="0">
                <a:latin typeface="Lucida Bright" panose="02040602050505020304" pitchFamily="18" charset="0"/>
              </a:rPr>
              <a:t>w+b</a:t>
            </a:r>
            <a:r>
              <a:rPr lang="en-US" dirty="0" smtClean="0">
                <a:latin typeface="Lucida Bright" panose="02040602050505020304" pitchFamily="18" charset="0"/>
              </a:rPr>
              <a:t>" 	Open for update, truncate to zero length</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 or "</a:t>
            </a:r>
            <a:r>
              <a:rPr lang="en-US" dirty="0" err="1" smtClean="0">
                <a:latin typeface="Lucida Bright" panose="02040602050505020304" pitchFamily="18" charset="0"/>
              </a:rPr>
              <a:t>ab</a:t>
            </a:r>
            <a:r>
              <a:rPr lang="en-US" dirty="0" smtClean="0">
                <a:latin typeface="Lucida Bright" panose="02040602050505020304" pitchFamily="18" charset="0"/>
              </a:rPr>
              <a:t>+" or "</a:t>
            </a:r>
            <a:r>
              <a:rPr lang="en-US" dirty="0" err="1" smtClean="0">
                <a:latin typeface="Lucida Bright" panose="02040602050505020304" pitchFamily="18" charset="0"/>
              </a:rPr>
              <a:t>a+b</a:t>
            </a:r>
            <a:r>
              <a:rPr lang="en-US" dirty="0" smtClean="0">
                <a:latin typeface="Lucida Bright" panose="02040602050505020304" pitchFamily="18" charset="0"/>
              </a:rPr>
              <a:t>" 		Open for update, append to end of file</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3000821"/>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b indicates that the file is a binary file rather than a text file. Note that, unlike DOS, UNIX doesn't make a distinction between text and binary files. It treats all files exactly the same, effectively as binary files. It's also important to note that the mode parameter must be a string, and not a character. Always use "r", and never 'r'.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If successful, </a:t>
            </a:r>
            <a:r>
              <a:rPr lang="en-US" dirty="0" err="1" smtClean="0">
                <a:latin typeface="Lucida Bright" panose="02040602050505020304" pitchFamily="18" charset="0"/>
              </a:rPr>
              <a:t>fopen</a:t>
            </a:r>
            <a:r>
              <a:rPr lang="en-US" dirty="0" smtClean="0">
                <a:latin typeface="Lucida Bright" panose="02040602050505020304" pitchFamily="18" charset="0"/>
              </a:rPr>
              <a:t> returns a non−null FILE * pointer. If it fails, it returns the value NULL, defined in </a:t>
            </a:r>
            <a:r>
              <a:rPr lang="en-US" dirty="0" err="1" smtClean="0">
                <a:latin typeface="Lucida Bright" panose="02040602050505020304" pitchFamily="18" charset="0"/>
              </a:rPr>
              <a:t>stdio.h</a:t>
            </a:r>
            <a:r>
              <a:rPr lang="en-US" dirty="0" smtClean="0">
                <a:latin typeface="Lucida Bright" panose="02040602050505020304" pitchFamily="18" charset="0"/>
              </a:rPr>
              <a:t>.</a:t>
            </a: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247317"/>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Fread</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size_t</a:t>
            </a:r>
            <a:r>
              <a:rPr lang="en-US" b="1" dirty="0" smtClean="0">
                <a:latin typeface="Lucida Bright" panose="02040602050505020304" pitchFamily="18" charset="0"/>
              </a:rPr>
              <a:t> </a:t>
            </a:r>
            <a:r>
              <a:rPr lang="en-US" b="1" dirty="0" err="1" smtClean="0">
                <a:latin typeface="Lucida Bright" panose="02040602050505020304" pitchFamily="18" charset="0"/>
              </a:rPr>
              <a:t>fread</a:t>
            </a:r>
            <a:r>
              <a:rPr lang="en-US" b="1" dirty="0" smtClean="0">
                <a:latin typeface="Lucida Bright" panose="02040602050505020304" pitchFamily="18" charset="0"/>
              </a:rPr>
              <a:t>(void *</a:t>
            </a:r>
            <a:r>
              <a:rPr lang="en-US" b="1" dirty="0" err="1" smtClean="0">
                <a:latin typeface="Lucida Bright" panose="02040602050505020304" pitchFamily="18" charset="0"/>
              </a:rPr>
              <a:t>ptr</a:t>
            </a:r>
            <a:r>
              <a:rPr lang="en-US" b="1" dirty="0" smtClean="0">
                <a:latin typeface="Lucida Bright" panose="02040602050505020304" pitchFamily="18" charset="0"/>
              </a:rPr>
              <a:t>, </a:t>
            </a:r>
            <a:r>
              <a:rPr lang="en-US" b="1" dirty="0" err="1" smtClean="0">
                <a:latin typeface="Lucida Bright" panose="02040602050505020304" pitchFamily="18" charset="0"/>
              </a:rPr>
              <a:t>size_t</a:t>
            </a:r>
            <a:r>
              <a:rPr lang="en-US" b="1" dirty="0" smtClean="0">
                <a:latin typeface="Lucida Bright" panose="02040602050505020304" pitchFamily="18" charset="0"/>
              </a:rPr>
              <a:t> size, </a:t>
            </a:r>
            <a:r>
              <a:rPr lang="en-US" b="1" dirty="0" err="1" smtClean="0">
                <a:latin typeface="Lucida Bright" panose="02040602050505020304" pitchFamily="18" charset="0"/>
              </a:rPr>
              <a:t>size_t</a:t>
            </a:r>
            <a:r>
              <a:rPr lang="en-US" b="1" dirty="0" smtClean="0">
                <a:latin typeface="Lucida Bright" panose="02040602050505020304" pitchFamily="18" charset="0"/>
              </a:rPr>
              <a:t> </a:t>
            </a:r>
            <a:r>
              <a:rPr lang="en-US" b="1" dirty="0" err="1" smtClean="0">
                <a:latin typeface="Lucida Bright" panose="02040602050505020304" pitchFamily="18" charset="0"/>
              </a:rPr>
              <a:t>nitems</a:t>
            </a:r>
            <a:r>
              <a:rPr lang="en-US" b="1" dirty="0" smtClean="0">
                <a:latin typeface="Lucida Bright" panose="02040602050505020304" pitchFamily="18" charset="0"/>
              </a:rPr>
              <a:t>, FILE *stream);</a:t>
            </a:r>
            <a:endParaRPr lang="en-US" b="1"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fread</a:t>
            </a:r>
            <a:r>
              <a:rPr lang="en-US" dirty="0" smtClean="0">
                <a:latin typeface="Lucida Bright" panose="02040602050505020304" pitchFamily="18" charset="0"/>
              </a:rPr>
              <a:t> library function is used to read data from a file stream. Data is read into a data buffer given by </a:t>
            </a:r>
            <a:r>
              <a:rPr lang="en-US" dirty="0" err="1" smtClean="0">
                <a:latin typeface="Lucida Bright" panose="02040602050505020304" pitchFamily="18" charset="0"/>
              </a:rPr>
              <a:t>ptr</a:t>
            </a:r>
            <a:r>
              <a:rPr lang="en-US" dirty="0" smtClean="0">
                <a:latin typeface="Lucida Bright" panose="02040602050505020304" pitchFamily="18" charset="0"/>
              </a:rPr>
              <a:t> from the stream, stream. Both </a:t>
            </a:r>
            <a:r>
              <a:rPr lang="en-US" dirty="0" err="1" smtClean="0">
                <a:latin typeface="Lucida Bright" panose="02040602050505020304" pitchFamily="18" charset="0"/>
              </a:rPr>
              <a:t>fread</a:t>
            </a:r>
            <a:r>
              <a:rPr lang="en-US" dirty="0" smtClean="0">
                <a:latin typeface="Lucida Bright" panose="02040602050505020304" pitchFamily="18" charset="0"/>
              </a:rPr>
              <a:t> and </a:t>
            </a:r>
            <a:r>
              <a:rPr lang="en-US" dirty="0" err="1" smtClean="0">
                <a:latin typeface="Lucida Bright" panose="02040602050505020304" pitchFamily="18" charset="0"/>
              </a:rPr>
              <a:t>fwrite</a:t>
            </a:r>
            <a:r>
              <a:rPr lang="en-US" dirty="0" smtClean="0">
                <a:latin typeface="Lucida Bright" panose="02040602050505020304" pitchFamily="18" charset="0"/>
              </a:rPr>
              <a:t> deal with data records. These are specified by a record size, size, and a count, </a:t>
            </a:r>
            <a:r>
              <a:rPr lang="en-US" dirty="0" err="1" smtClean="0">
                <a:latin typeface="Lucida Bright" panose="02040602050505020304" pitchFamily="18" charset="0"/>
              </a:rPr>
              <a:t>nitems</a:t>
            </a:r>
            <a:r>
              <a:rPr lang="en-US" dirty="0" smtClean="0">
                <a:latin typeface="Lucida Bright" panose="02040602050505020304" pitchFamily="18" charset="0"/>
              </a:rPr>
              <a:t>, of records to transfer. It returns the number of items (rather than the number of bytes) successfully read into the data buffer. At the end of a file, fewer than </a:t>
            </a:r>
            <a:r>
              <a:rPr lang="en-US" dirty="0" err="1" smtClean="0">
                <a:latin typeface="Lucida Bright" panose="02040602050505020304" pitchFamily="18" charset="0"/>
              </a:rPr>
              <a:t>nitems</a:t>
            </a:r>
            <a:r>
              <a:rPr lang="en-US" dirty="0" smtClean="0">
                <a:latin typeface="Lucida Bright" panose="02040602050505020304" pitchFamily="18" charset="0"/>
              </a:rPr>
              <a:t> may be returned, including zero.</a:t>
            </a: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247317"/>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fwrite</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size_t</a:t>
            </a:r>
            <a:r>
              <a:rPr lang="en-US" b="1" dirty="0" smtClean="0">
                <a:latin typeface="Lucida Bright" panose="02040602050505020304" pitchFamily="18" charset="0"/>
              </a:rPr>
              <a:t> </a:t>
            </a:r>
            <a:r>
              <a:rPr lang="en-US" b="1" dirty="0" err="1" smtClean="0">
                <a:latin typeface="Lucida Bright" panose="02040602050505020304" pitchFamily="18" charset="0"/>
              </a:rPr>
              <a:t>fwrite</a:t>
            </a:r>
            <a:r>
              <a:rPr lang="en-US" b="1" dirty="0" smtClean="0">
                <a:latin typeface="Lucida Bright" panose="02040602050505020304" pitchFamily="18" charset="0"/>
              </a:rPr>
              <a:t> (const void *</a:t>
            </a:r>
            <a:r>
              <a:rPr lang="en-US" b="1" dirty="0" err="1" smtClean="0">
                <a:latin typeface="Lucida Bright" panose="02040602050505020304" pitchFamily="18" charset="0"/>
              </a:rPr>
              <a:t>ptr</a:t>
            </a:r>
            <a:r>
              <a:rPr lang="en-US" b="1" dirty="0" smtClean="0">
                <a:latin typeface="Lucida Bright" panose="02040602050505020304" pitchFamily="18" charset="0"/>
              </a:rPr>
              <a:t>, </a:t>
            </a:r>
            <a:r>
              <a:rPr lang="en-US" b="1" dirty="0" err="1" smtClean="0">
                <a:latin typeface="Lucida Bright" panose="02040602050505020304" pitchFamily="18" charset="0"/>
              </a:rPr>
              <a:t>size_t</a:t>
            </a:r>
            <a:r>
              <a:rPr lang="en-US" b="1" dirty="0" smtClean="0">
                <a:latin typeface="Lucida Bright" panose="02040602050505020304" pitchFamily="18" charset="0"/>
              </a:rPr>
              <a:t> size, </a:t>
            </a:r>
            <a:r>
              <a:rPr lang="en-US" b="1" dirty="0" err="1" smtClean="0">
                <a:latin typeface="Lucida Bright" panose="02040602050505020304" pitchFamily="18" charset="0"/>
              </a:rPr>
              <a:t>size_t</a:t>
            </a:r>
            <a:r>
              <a:rPr lang="en-US" b="1" dirty="0" smtClean="0">
                <a:latin typeface="Lucida Bright" panose="02040602050505020304" pitchFamily="18" charset="0"/>
              </a:rPr>
              <a:t> </a:t>
            </a:r>
            <a:r>
              <a:rPr lang="en-US" b="1" dirty="0" err="1" smtClean="0">
                <a:latin typeface="Lucida Bright" panose="02040602050505020304" pitchFamily="18" charset="0"/>
              </a:rPr>
              <a:t>nitems</a:t>
            </a:r>
            <a:r>
              <a:rPr lang="en-US" b="1" dirty="0" smtClean="0">
                <a:latin typeface="Lucida Bright" panose="02040602050505020304" pitchFamily="18" charset="0"/>
              </a:rPr>
              <a:t>, FILE *stream);</a:t>
            </a:r>
            <a:endParaRPr lang="en-US" b="1" dirty="0" smtClean="0">
              <a:latin typeface="Lucida Bright" panose="02040602050505020304" pitchFamily="18" charset="0"/>
            </a:endParaRPr>
          </a:p>
          <a:p>
            <a:pPr>
              <a:lnSpc>
                <a:spcPct val="150000"/>
              </a:lnSpc>
            </a:pP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fwrite</a:t>
            </a:r>
            <a:r>
              <a:rPr lang="en-US" dirty="0" smtClean="0">
                <a:latin typeface="Lucida Bright" panose="02040602050505020304" pitchFamily="18" charset="0"/>
              </a:rPr>
              <a:t> library call has a similar interface to </a:t>
            </a:r>
            <a:r>
              <a:rPr lang="en-US" dirty="0" err="1" smtClean="0">
                <a:latin typeface="Lucida Bright" panose="02040602050505020304" pitchFamily="18" charset="0"/>
              </a:rPr>
              <a:t>fread</a:t>
            </a:r>
            <a:r>
              <a:rPr lang="en-US" dirty="0" smtClean="0">
                <a:latin typeface="Lucida Bright" panose="02040602050505020304" pitchFamily="18" charset="0"/>
              </a:rPr>
              <a:t>. It takes data records from the specified data buffer and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writes them to the output stream. It returns the number of records successfully written.</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Important Note 	that </a:t>
            </a:r>
            <a:r>
              <a:rPr lang="en-US" b="1" dirty="0" err="1" smtClean="0">
                <a:latin typeface="Lucida Bright" panose="02040602050505020304" pitchFamily="18" charset="0"/>
              </a:rPr>
              <a:t>fread</a:t>
            </a:r>
            <a:r>
              <a:rPr lang="en-US" b="1" dirty="0" smtClean="0">
                <a:latin typeface="Lucida Bright" panose="02040602050505020304" pitchFamily="18" charset="0"/>
              </a:rPr>
              <a:t> and </a:t>
            </a:r>
            <a:r>
              <a:rPr lang="en-US" b="1" dirty="0" err="1" smtClean="0">
                <a:latin typeface="Lucida Bright" panose="02040602050505020304" pitchFamily="18" charset="0"/>
              </a:rPr>
              <a:t>fwrite</a:t>
            </a:r>
            <a:r>
              <a:rPr lang="en-US" b="1" dirty="0" smtClean="0">
                <a:latin typeface="Lucida Bright" panose="02040602050505020304" pitchFamily="18" charset="0"/>
              </a:rPr>
              <a:t> are not recommended for use with structured data.</a:t>
            </a: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5493812"/>
          </a:xfrm>
          <a:prstGeom prst="rect">
            <a:avLst/>
          </a:prstGeom>
          <a:noFill/>
          <a:ln w="9525">
            <a:noFill/>
            <a:miter lim="800000"/>
          </a:ln>
        </p:spPr>
        <p:txBody>
          <a:bodyPr wrap="square">
            <a:spAutoFit/>
          </a:bodyPr>
          <a:lstStyle/>
          <a:p>
            <a:pPr>
              <a:lnSpc>
                <a:spcPct val="150000"/>
              </a:lnSpc>
              <a:buFontTx/>
              <a:buNone/>
            </a:pPr>
            <a:r>
              <a:rPr lang="en-US" b="1" dirty="0" err="1" smtClean="0">
                <a:latin typeface="Lucida Bright" panose="02040602050505020304" pitchFamily="18" charset="0"/>
              </a:rPr>
              <a:t>fclose</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An open stream is closed by calling </a:t>
            </a:r>
            <a:r>
              <a:rPr lang="en-US" dirty="0" err="1" smtClean="0">
                <a:latin typeface="Lucida Bright" panose="02040602050505020304" pitchFamily="18" charset="0"/>
              </a:rPr>
              <a:t>fclose</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b="1" dirty="0" smtClean="0">
                <a:latin typeface="Lucida Bright" panose="02040602050505020304" pitchFamily="18" charset="0"/>
              </a:rPr>
              <a:t> #include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buFontTx/>
              <a:buNone/>
            </a:pPr>
            <a:r>
              <a:rPr lang="en-US" b="1" dirty="0" smtClean="0">
                <a:latin typeface="Lucida Bright" panose="02040602050505020304" pitchFamily="18" charset="0"/>
              </a:rPr>
              <a:t>    </a:t>
            </a: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fclose</a:t>
            </a:r>
            <a:r>
              <a:rPr lang="en-US" b="1" dirty="0" smtClean="0">
                <a:latin typeface="Lucida Bright" panose="02040602050505020304" pitchFamily="18" charset="0"/>
              </a:rPr>
              <a:t>(FILE *</a:t>
            </a:r>
            <a:r>
              <a:rPr lang="en-US" b="1" dirty="0" err="1" smtClean="0">
                <a:latin typeface="Lucida Bright" panose="02040602050505020304" pitchFamily="18" charset="0"/>
              </a:rPr>
              <a:t>fp</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Returns: upon successful  </a:t>
            </a:r>
            <a:r>
              <a:rPr lang="en-US" dirty="0" err="1" smtClean="0">
                <a:latin typeface="Lucida Bright" panose="02040602050505020304" pitchFamily="18" charset="0"/>
              </a:rPr>
              <a:t>complition</a:t>
            </a:r>
            <a:r>
              <a:rPr lang="en-US" dirty="0" smtClean="0">
                <a:latin typeface="Lucida Bright" panose="02040602050505020304" pitchFamily="18" charset="0"/>
              </a:rPr>
              <a:t> 0 is returned. other wise, EOF is returned and the global variable </a:t>
            </a:r>
            <a:r>
              <a:rPr lang="en-US" dirty="0" err="1" smtClean="0">
                <a:latin typeface="Lucida Bright" panose="02040602050505020304" pitchFamily="18" charset="0"/>
              </a:rPr>
              <a:t>errno</a:t>
            </a:r>
            <a:r>
              <a:rPr lang="en-US" dirty="0" smtClean="0">
                <a:latin typeface="Lucida Bright" panose="02040602050505020304" pitchFamily="18" charset="0"/>
              </a:rPr>
              <a:t> is set to indicate the error.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Any buffered output data is flushed before the file is closed. Any input data that may be buffered is discarded. If the standard I/O library had automatically allocated a buffer for the stream, that buffer is released.</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br>
              <a:rPr lang="en-US" dirty="0" smtClean="0">
                <a:latin typeface="Lucida Bright" panose="02040602050505020304" pitchFamily="18" charset="0"/>
              </a:rPr>
            </a:b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1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6687728"/>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fflush</a:t>
            </a:r>
            <a:r>
              <a:rPr lang="en-US" b="1" dirty="0" smtClean="0">
                <a:latin typeface="Lucida Bright" panose="02040602050505020304" pitchFamily="18" charset="0"/>
              </a:rPr>
              <a:t>(FILE *stream);</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fflush</a:t>
            </a:r>
            <a:r>
              <a:rPr lang="en-US" dirty="0" smtClean="0">
                <a:latin typeface="Lucida Bright" panose="02040602050505020304" pitchFamily="18" charset="0"/>
              </a:rPr>
              <a:t> library function causes all outstanding data on a file stream to be written immediately. You can use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this to ensure that, for example, an interactive prompt has been sent to a terminal before any attempt to read a</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response. It's also useful for ensuring that important data has been committed to disk before continuing. You</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can sometimes use it when you're debugging a program to make sure that the program is writing data and not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hanging. Note that an implied flush operation is carried out when </a:t>
            </a:r>
            <a:r>
              <a:rPr lang="en-US" dirty="0" err="1" smtClean="0">
                <a:latin typeface="Lucida Bright" panose="02040602050505020304" pitchFamily="18" charset="0"/>
              </a:rPr>
              <a:t>fclose</a:t>
            </a:r>
            <a:r>
              <a:rPr lang="en-US" dirty="0" smtClean="0">
                <a:latin typeface="Lucida Bright" panose="02040602050505020304" pitchFamily="18" charset="0"/>
              </a:rPr>
              <a:t> is called, so you don't need to call</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fflush</a:t>
            </a:r>
            <a:r>
              <a:rPr lang="en-US" dirty="0" smtClean="0">
                <a:latin typeface="Lucida Bright" panose="02040602050505020304" pitchFamily="18" charset="0"/>
              </a:rPr>
              <a:t> before </a:t>
            </a:r>
            <a:r>
              <a:rPr lang="en-US" dirty="0" err="1" smtClean="0">
                <a:latin typeface="Lucida Bright" panose="02040602050505020304" pitchFamily="18" charset="0"/>
              </a:rPr>
              <a:t>fclose</a:t>
            </a:r>
            <a:r>
              <a:rPr lang="en-US" dirty="0" smtClean="0">
                <a:latin typeface="Lucida Bright" panose="02040602050505020304" pitchFamily="18" charset="0"/>
              </a:rPr>
              <a:t>.</a:t>
            </a:r>
            <a:r>
              <a:rPr lang="en-US" b="1"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br>
              <a:rPr lang="en-US" dirty="0" smtClean="0">
                <a:latin typeface="Lucida Bright" panose="02040602050505020304" pitchFamily="18" charset="0"/>
              </a:rPr>
            </a:b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4000" dirty="0" smtClean="0">
                <a:latin typeface="Arial" panose="020B0604020202020204" pitchFamily="34" charset="0"/>
                <a:cs typeface="Arial" panose="020B0604020202020204" pitchFamily="34" charset="0"/>
              </a:rPr>
              <a:t>The Standard I/O</a:t>
            </a:r>
            <a:endParaRPr lang="en-US" sz="2400"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661535"/>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fseek</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fseek</a:t>
            </a:r>
            <a:r>
              <a:rPr lang="en-US" b="1" dirty="0" smtClean="0">
                <a:latin typeface="Lucida Bright" panose="02040602050505020304" pitchFamily="18" charset="0"/>
              </a:rPr>
              <a:t>(FILE *stream, long </a:t>
            </a:r>
            <a:r>
              <a:rPr lang="en-US" b="1" dirty="0" err="1" smtClean="0">
                <a:latin typeface="Lucida Bright" panose="02040602050505020304" pitchFamily="18" charset="0"/>
              </a:rPr>
              <a:t>int</a:t>
            </a:r>
            <a:r>
              <a:rPr lang="en-US" b="1" dirty="0" smtClean="0">
                <a:latin typeface="Lucida Bright" panose="02040602050505020304" pitchFamily="18" charset="0"/>
              </a:rPr>
              <a:t> offset, </a:t>
            </a:r>
            <a:r>
              <a:rPr lang="en-US" b="1" dirty="0" err="1" smtClean="0">
                <a:latin typeface="Lucida Bright" panose="02040602050505020304" pitchFamily="18" charset="0"/>
              </a:rPr>
              <a:t>int</a:t>
            </a:r>
            <a:r>
              <a:rPr lang="en-US" b="1" dirty="0" smtClean="0">
                <a:latin typeface="Lucida Bright" panose="02040602050505020304" pitchFamily="18" charset="0"/>
              </a:rPr>
              <a:t> whence);</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fseek</a:t>
            </a:r>
            <a:r>
              <a:rPr lang="en-US" dirty="0" smtClean="0">
                <a:latin typeface="Lucida Bright" panose="02040602050505020304" pitchFamily="18" charset="0"/>
              </a:rPr>
              <a:t> function is the file stream equivalent of the </a:t>
            </a:r>
            <a:r>
              <a:rPr lang="en-US" dirty="0" err="1" smtClean="0">
                <a:latin typeface="Lucida Bright" panose="02040602050505020304" pitchFamily="18" charset="0"/>
              </a:rPr>
              <a:t>lseek</a:t>
            </a:r>
            <a:r>
              <a:rPr lang="en-US" dirty="0" smtClean="0">
                <a:latin typeface="Lucida Bright" panose="02040602050505020304" pitchFamily="18" charset="0"/>
              </a:rPr>
              <a:t> system call. It sets the position in the stream for the next read or write on that stream. The meaning and values of the offset and whence parameters are the same as those we gave for </a:t>
            </a:r>
            <a:r>
              <a:rPr lang="en-US" dirty="0" err="1" smtClean="0">
                <a:latin typeface="Lucida Bright" panose="02040602050505020304" pitchFamily="18" charset="0"/>
              </a:rPr>
              <a:t>lseek</a:t>
            </a:r>
            <a:r>
              <a:rPr lang="en-US" dirty="0" smtClean="0">
                <a:latin typeface="Lucida Bright" panose="02040602050505020304" pitchFamily="18" charset="0"/>
              </a:rPr>
              <a:t> above. However, where </a:t>
            </a:r>
            <a:r>
              <a:rPr lang="en-US" dirty="0" err="1" smtClean="0">
                <a:latin typeface="Lucida Bright" panose="02040602050505020304" pitchFamily="18" charset="0"/>
              </a:rPr>
              <a:t>lseek</a:t>
            </a:r>
            <a:r>
              <a:rPr lang="en-US" dirty="0" smtClean="0">
                <a:latin typeface="Lucida Bright" panose="02040602050505020304" pitchFamily="18" charset="0"/>
              </a:rPr>
              <a:t> returns an </a:t>
            </a:r>
            <a:r>
              <a:rPr lang="en-US" dirty="0" err="1" smtClean="0">
                <a:latin typeface="Lucida Bright" panose="02040602050505020304" pitchFamily="18" charset="0"/>
              </a:rPr>
              <a:t>off_t</a:t>
            </a:r>
            <a:r>
              <a:rPr lang="en-US" dirty="0" smtClean="0">
                <a:latin typeface="Lucida Bright" panose="02040602050505020304" pitchFamily="18" charset="0"/>
              </a:rPr>
              <a:t>, </a:t>
            </a:r>
            <a:r>
              <a:rPr lang="en-US" dirty="0" err="1" smtClean="0">
                <a:latin typeface="Lucida Bright" panose="02040602050505020304" pitchFamily="18" charset="0"/>
              </a:rPr>
              <a:t>fseek</a:t>
            </a:r>
            <a:r>
              <a:rPr lang="en-US" dirty="0" smtClean="0">
                <a:latin typeface="Lucida Bright" panose="02040602050505020304" pitchFamily="18" charset="0"/>
              </a:rPr>
              <a:t> returns an integer: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0 if it succeeds,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−1 if it fails, with </a:t>
            </a:r>
            <a:r>
              <a:rPr lang="en-US" dirty="0" err="1" smtClean="0">
                <a:latin typeface="Lucida Bright" panose="02040602050505020304" pitchFamily="18" charset="0"/>
              </a:rPr>
              <a:t>errno</a:t>
            </a:r>
            <a:r>
              <a:rPr lang="en-US" dirty="0" smtClean="0">
                <a:latin typeface="Lucida Bright" panose="02040602050505020304" pitchFamily="18" charset="0"/>
              </a:rPr>
              <a:t> set to indicate the error. So much for standardization!</a:t>
            </a:r>
            <a:br>
              <a:rPr lang="en-US" dirty="0" smtClean="0">
                <a:latin typeface="Lucida Bright" panose="02040602050505020304" pitchFamily="18" charset="0"/>
              </a:rPr>
            </a:b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defRPr/>
            </a:pPr>
            <a:r>
              <a:rPr lang="en-US" sz="3200" dirty="0" smtClean="0">
                <a:latin typeface="Arial" panose="020B0604020202020204" pitchFamily="34" charset="0"/>
                <a:cs typeface="Arial" panose="020B0604020202020204" pitchFamily="34" charset="0"/>
              </a:rPr>
              <a:t>The Standard I/O</a:t>
            </a:r>
            <a:endParaRPr lang="en-US"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6740307"/>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fgetc</a:t>
            </a:r>
            <a:r>
              <a:rPr lang="en-US" b="1" dirty="0" smtClean="0">
                <a:latin typeface="Lucida Bright" panose="02040602050505020304" pitchFamily="18" charset="0"/>
              </a:rPr>
              <a:t>(FILE *stream);</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getc</a:t>
            </a:r>
            <a:r>
              <a:rPr lang="en-US" b="1" dirty="0" smtClean="0">
                <a:latin typeface="Lucida Bright" panose="02040602050505020304" pitchFamily="18" charset="0"/>
              </a:rPr>
              <a:t>(FILE *stream);</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getchar</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fgetc</a:t>
            </a:r>
            <a:r>
              <a:rPr lang="en-US" dirty="0" smtClean="0">
                <a:latin typeface="Lucida Bright" panose="02040602050505020304" pitchFamily="18" charset="0"/>
              </a:rPr>
              <a:t> function returns the next byte, as a character, from a file stream. When it reaches the end of the file or there is an error, it returns EOF. You must use </a:t>
            </a:r>
            <a:r>
              <a:rPr lang="en-US" dirty="0" err="1" smtClean="0">
                <a:latin typeface="Lucida Bright" panose="02040602050505020304" pitchFamily="18" charset="0"/>
              </a:rPr>
              <a:t>ferror</a:t>
            </a:r>
            <a:r>
              <a:rPr lang="en-US" dirty="0" smtClean="0">
                <a:latin typeface="Lucida Bright" panose="02040602050505020304" pitchFamily="18" charset="0"/>
              </a:rPr>
              <a:t> or </a:t>
            </a:r>
            <a:r>
              <a:rPr lang="en-US" dirty="0" err="1" smtClean="0">
                <a:latin typeface="Lucida Bright" panose="02040602050505020304" pitchFamily="18" charset="0"/>
              </a:rPr>
              <a:t>feof</a:t>
            </a:r>
            <a:r>
              <a:rPr lang="en-US" dirty="0" smtClean="0">
                <a:latin typeface="Lucida Bright" panose="02040602050505020304" pitchFamily="18" charset="0"/>
              </a:rPr>
              <a:t> to distinguish the two cases.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getc</a:t>
            </a:r>
            <a:r>
              <a:rPr lang="en-US" dirty="0" smtClean="0">
                <a:latin typeface="Lucida Bright" panose="02040602050505020304" pitchFamily="18" charset="0"/>
              </a:rPr>
              <a:t> function is equivalent to </a:t>
            </a:r>
            <a:r>
              <a:rPr lang="en-US" dirty="0" err="1" smtClean="0">
                <a:latin typeface="Lucida Bright" panose="02040602050505020304" pitchFamily="18" charset="0"/>
              </a:rPr>
              <a:t>fgetc</a:t>
            </a:r>
            <a:r>
              <a:rPr lang="en-US" dirty="0" smtClean="0">
                <a:latin typeface="Lucida Bright" panose="02040602050505020304" pitchFamily="18" charset="0"/>
              </a:rPr>
              <a:t>, except that you can implement it as a macro, in which case the stream argument must not have side effects (i.e. it can't affect variables that are neither local nor passed to the functions as parameters). Also, you can't then use the address of </a:t>
            </a:r>
            <a:r>
              <a:rPr lang="en-US" dirty="0" err="1" smtClean="0">
                <a:latin typeface="Lucida Bright" panose="02040602050505020304" pitchFamily="18" charset="0"/>
              </a:rPr>
              <a:t>getc</a:t>
            </a:r>
            <a:r>
              <a:rPr lang="en-US" dirty="0" smtClean="0">
                <a:latin typeface="Lucida Bright" panose="02040602050505020304" pitchFamily="18" charset="0"/>
              </a:rPr>
              <a:t> as a function pointer.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getchar</a:t>
            </a:r>
            <a:r>
              <a:rPr lang="en-US" dirty="0" smtClean="0">
                <a:latin typeface="Lucida Bright" panose="02040602050505020304" pitchFamily="18" charset="0"/>
              </a:rPr>
              <a:t> function is equivalent to </a:t>
            </a:r>
            <a:r>
              <a:rPr lang="en-US" dirty="0" err="1" smtClean="0">
                <a:latin typeface="Lucida Bright" panose="02040602050505020304" pitchFamily="18" charset="0"/>
              </a:rPr>
              <a:t>getc</a:t>
            </a:r>
            <a:r>
              <a:rPr lang="en-US" dirty="0" smtClean="0">
                <a:latin typeface="Lucida Bright" panose="02040602050505020304" pitchFamily="18" charset="0"/>
              </a:rPr>
              <a:t>(</a:t>
            </a:r>
            <a:r>
              <a:rPr lang="en-US" dirty="0" err="1" smtClean="0">
                <a:latin typeface="Lucida Bright" panose="02040602050505020304" pitchFamily="18" charset="0"/>
              </a:rPr>
              <a:t>stdin</a:t>
            </a:r>
            <a:r>
              <a:rPr lang="en-US" dirty="0" smtClean="0">
                <a:latin typeface="Lucida Bright" panose="02040602050505020304" pitchFamily="18" charset="0"/>
              </a:rPr>
              <a:t>) and reads the next character from the standard input.</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br>
              <a:rPr lang="en-US" dirty="0" smtClean="0">
                <a:latin typeface="Lucida Bright" panose="02040602050505020304" pitchFamily="18" charset="0"/>
              </a:rPr>
            </a:b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err="1" smtClean="0"/>
              <a:t>fgetc</a:t>
            </a:r>
            <a:r>
              <a:rPr lang="en-US" sz="4000" b="1" dirty="0" smtClean="0"/>
              <a:t>, </a:t>
            </a:r>
            <a:r>
              <a:rPr lang="en-US" sz="4000" b="1" dirty="0" err="1" smtClean="0"/>
              <a:t>getc</a:t>
            </a:r>
            <a:r>
              <a:rPr lang="en-US" sz="4000" b="1" dirty="0" smtClean="0"/>
              <a:t>, </a:t>
            </a:r>
            <a:r>
              <a:rPr lang="en-US" sz="4000" b="1" dirty="0" err="1" smtClean="0"/>
              <a:t>getchar</a:t>
            </a:r>
            <a:endParaRPr lang="en-US" sz="4000" b="1"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5493812"/>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fputc</a:t>
            </a:r>
            <a:r>
              <a:rPr lang="en-US" b="1" dirty="0" smtClean="0">
                <a:latin typeface="Lucida Bright" panose="02040602050505020304" pitchFamily="18" charset="0"/>
              </a:rPr>
              <a:t>(</a:t>
            </a:r>
            <a:r>
              <a:rPr lang="en-US" b="1" dirty="0" err="1" smtClean="0">
                <a:latin typeface="Lucida Bright" panose="02040602050505020304" pitchFamily="18" charset="0"/>
              </a:rPr>
              <a:t>int</a:t>
            </a:r>
            <a:r>
              <a:rPr lang="en-US" b="1" dirty="0" smtClean="0">
                <a:latin typeface="Lucida Bright" panose="02040602050505020304" pitchFamily="18" charset="0"/>
              </a:rPr>
              <a:t> c, FILE *stream);</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putc</a:t>
            </a:r>
            <a:r>
              <a:rPr lang="en-US" b="1" dirty="0" smtClean="0">
                <a:latin typeface="Lucida Bright" panose="02040602050505020304" pitchFamily="18" charset="0"/>
              </a:rPr>
              <a:t>(</a:t>
            </a:r>
            <a:r>
              <a:rPr lang="en-US" b="1" dirty="0" err="1" smtClean="0">
                <a:latin typeface="Lucida Bright" panose="02040602050505020304" pitchFamily="18" charset="0"/>
              </a:rPr>
              <a:t>int</a:t>
            </a:r>
            <a:r>
              <a:rPr lang="en-US" b="1" dirty="0" smtClean="0">
                <a:latin typeface="Lucida Bright" panose="02040602050505020304" pitchFamily="18" charset="0"/>
              </a:rPr>
              <a:t> c, FILE *stream);</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putchar</a:t>
            </a:r>
            <a:r>
              <a:rPr lang="en-US" b="1" dirty="0" smtClean="0">
                <a:latin typeface="Lucida Bright" panose="02040602050505020304" pitchFamily="18" charset="0"/>
              </a:rPr>
              <a:t>(</a:t>
            </a:r>
            <a:r>
              <a:rPr lang="en-US" b="1" dirty="0" err="1" smtClean="0">
                <a:latin typeface="Lucida Bright" panose="02040602050505020304" pitchFamily="18" charset="0"/>
              </a:rPr>
              <a:t>int</a:t>
            </a:r>
            <a:r>
              <a:rPr lang="en-US" b="1" dirty="0" smtClean="0">
                <a:latin typeface="Lucida Bright" panose="02040602050505020304" pitchFamily="18" charset="0"/>
              </a:rPr>
              <a:t> c);</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fputc</a:t>
            </a:r>
            <a:r>
              <a:rPr lang="en-US" dirty="0" smtClean="0">
                <a:latin typeface="Lucida Bright" panose="02040602050505020304" pitchFamily="18" charset="0"/>
              </a:rPr>
              <a:t> function writes a character to an output file stream. It returns the value it has written, or EOF on failure.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As with </a:t>
            </a:r>
            <a:r>
              <a:rPr lang="en-US" dirty="0" err="1" smtClean="0">
                <a:latin typeface="Lucida Bright" panose="02040602050505020304" pitchFamily="18" charset="0"/>
              </a:rPr>
              <a:t>fgetc</a:t>
            </a:r>
            <a:r>
              <a:rPr lang="en-US" dirty="0" smtClean="0">
                <a:latin typeface="Lucida Bright" panose="02040602050505020304" pitchFamily="18" charset="0"/>
              </a:rPr>
              <a:t>/</a:t>
            </a:r>
            <a:r>
              <a:rPr lang="en-US" dirty="0" err="1" smtClean="0">
                <a:latin typeface="Lucida Bright" panose="02040602050505020304" pitchFamily="18" charset="0"/>
              </a:rPr>
              <a:t>getc</a:t>
            </a:r>
            <a:r>
              <a:rPr lang="en-US" dirty="0" smtClean="0">
                <a:latin typeface="Lucida Bright" panose="02040602050505020304" pitchFamily="18" charset="0"/>
              </a:rPr>
              <a:t>, the function </a:t>
            </a:r>
            <a:r>
              <a:rPr lang="en-US" dirty="0" err="1" smtClean="0">
                <a:latin typeface="Lucida Bright" panose="02040602050505020304" pitchFamily="18" charset="0"/>
              </a:rPr>
              <a:t>putc</a:t>
            </a:r>
            <a:r>
              <a:rPr lang="en-US" dirty="0" smtClean="0">
                <a:latin typeface="Lucida Bright" panose="02040602050505020304" pitchFamily="18" charset="0"/>
              </a:rPr>
              <a:t> is equivalent to </a:t>
            </a:r>
            <a:r>
              <a:rPr lang="en-US" dirty="0" err="1" smtClean="0">
                <a:latin typeface="Lucida Bright" panose="02040602050505020304" pitchFamily="18" charset="0"/>
              </a:rPr>
              <a:t>fputc</a:t>
            </a:r>
            <a:r>
              <a:rPr lang="en-US" dirty="0" smtClean="0">
                <a:latin typeface="Lucida Bright" panose="02040602050505020304" pitchFamily="18" charset="0"/>
              </a:rPr>
              <a:t>, but you may implement it as a macro.</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putchar</a:t>
            </a:r>
            <a:r>
              <a:rPr lang="en-US" dirty="0" smtClean="0">
                <a:latin typeface="Lucida Bright" panose="02040602050505020304" pitchFamily="18" charset="0"/>
              </a:rPr>
              <a:t> function is equivalent to </a:t>
            </a:r>
            <a:r>
              <a:rPr lang="en-US" dirty="0" err="1" smtClean="0">
                <a:latin typeface="Lucida Bright" panose="02040602050505020304" pitchFamily="18" charset="0"/>
              </a:rPr>
              <a:t>putc</a:t>
            </a:r>
            <a:r>
              <a:rPr lang="en-US" dirty="0" smtClean="0">
                <a:latin typeface="Lucida Bright" panose="02040602050505020304" pitchFamily="18" charset="0"/>
              </a:rPr>
              <a:t>(</a:t>
            </a:r>
            <a:r>
              <a:rPr lang="en-US" dirty="0" err="1" smtClean="0">
                <a:latin typeface="Lucida Bright" panose="02040602050505020304" pitchFamily="18" charset="0"/>
              </a:rPr>
              <a:t>c,stdout</a:t>
            </a:r>
            <a:r>
              <a:rPr lang="en-US" dirty="0" smtClean="0">
                <a:latin typeface="Lucida Bright" panose="02040602050505020304" pitchFamily="18" charset="0"/>
              </a:rPr>
              <a:t>), writing a single character to the standard output. Note that </a:t>
            </a:r>
            <a:r>
              <a:rPr lang="en-US" dirty="0" err="1" smtClean="0">
                <a:latin typeface="Lucida Bright" panose="02040602050505020304" pitchFamily="18" charset="0"/>
              </a:rPr>
              <a:t>putchar</a:t>
            </a:r>
            <a:r>
              <a:rPr lang="en-US" dirty="0" smtClean="0">
                <a:latin typeface="Lucida Bright" panose="02040602050505020304" pitchFamily="18" charset="0"/>
              </a:rPr>
              <a:t> takes and </a:t>
            </a:r>
            <a:r>
              <a:rPr lang="en-US" dirty="0" err="1" smtClean="0">
                <a:latin typeface="Lucida Bright" panose="02040602050505020304" pitchFamily="18" charset="0"/>
              </a:rPr>
              <a:t>getchar</a:t>
            </a:r>
            <a:r>
              <a:rPr lang="en-US" dirty="0" smtClean="0">
                <a:latin typeface="Lucida Bright" panose="02040602050505020304" pitchFamily="18" charset="0"/>
              </a:rPr>
              <a:t> returns characters as </a:t>
            </a:r>
            <a:r>
              <a:rPr lang="en-US" dirty="0" err="1" smtClean="0">
                <a:latin typeface="Lucida Bright" panose="02040602050505020304" pitchFamily="18" charset="0"/>
              </a:rPr>
              <a:t>ints</a:t>
            </a:r>
            <a:r>
              <a:rPr lang="en-US" dirty="0" smtClean="0">
                <a:latin typeface="Lucida Bright" panose="02040602050505020304" pitchFamily="18" charset="0"/>
              </a:rPr>
              <a:t>, not char. This allows the end of file (EOF) indicator to take the value −1, outside the range of character numbers codes.</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err="1" smtClean="0"/>
              <a:t>fputc</a:t>
            </a:r>
            <a:r>
              <a:rPr lang="en-US" sz="4000" b="1" dirty="0" smtClean="0"/>
              <a:t>, </a:t>
            </a:r>
            <a:r>
              <a:rPr lang="en-US" sz="4000" b="1" dirty="0" err="1" smtClean="0"/>
              <a:t>putc</a:t>
            </a:r>
            <a:r>
              <a:rPr lang="en-US" sz="4000" b="1" dirty="0" smtClean="0"/>
              <a:t>, </a:t>
            </a:r>
            <a:r>
              <a:rPr lang="en-US" sz="4000" b="1" dirty="0" err="1" smtClean="0"/>
              <a:t>putchar</a:t>
            </a:r>
            <a:endParaRPr lang="en-US" sz="4000" b="1"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ln>
        </p:spPr>
        <p:txBody>
          <a:bodyPr wrap="square" numCol="1" anchorCtr="0" compatLnSpc="1"/>
          <a:lstStyle/>
          <a:p>
            <a:pPr>
              <a:defRPr/>
            </a:pPr>
            <a:fld id="{98CD76C6-D21D-4768-B070-BF8144E3F515}" type="slidenum">
              <a:rPr lang="en-US"/>
            </a:fld>
            <a:endParaRPr lang="en-US" dirty="0"/>
          </a:p>
        </p:txBody>
      </p:sp>
      <p:sp>
        <p:nvSpPr>
          <p:cNvPr id="14341" name="Rectangle 19"/>
          <p:cNvSpPr>
            <a:spLocks noChangeArrowheads="1"/>
          </p:cNvSpPr>
          <p:nvPr/>
        </p:nvSpPr>
        <p:spPr bwMode="auto">
          <a:xfrm>
            <a:off x="0" y="914400"/>
            <a:ext cx="9144000" cy="4662815"/>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stdio.h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char *</a:t>
            </a:r>
            <a:r>
              <a:rPr lang="en-US" b="1" dirty="0" err="1" smtClean="0">
                <a:latin typeface="Lucida Bright" panose="02040602050505020304" pitchFamily="18" charset="0"/>
              </a:rPr>
              <a:t>fgets</a:t>
            </a:r>
            <a:r>
              <a:rPr lang="en-US" b="1" dirty="0" smtClean="0">
                <a:latin typeface="Lucida Bright" panose="02040602050505020304" pitchFamily="18" charset="0"/>
              </a:rPr>
              <a:t>(char *s, </a:t>
            </a:r>
            <a:r>
              <a:rPr lang="en-US" b="1" dirty="0" err="1" smtClean="0">
                <a:latin typeface="Lucida Bright" panose="02040602050505020304" pitchFamily="18" charset="0"/>
              </a:rPr>
              <a:t>int</a:t>
            </a:r>
            <a:r>
              <a:rPr lang="en-US" b="1" dirty="0" smtClean="0">
                <a:latin typeface="Lucida Bright" panose="02040602050505020304" pitchFamily="18" charset="0"/>
              </a:rPr>
              <a:t> n, FILE *stream);</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char *gets(char *s);</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fgets</a:t>
            </a:r>
            <a:r>
              <a:rPr lang="en-US" dirty="0" smtClean="0">
                <a:latin typeface="Lucida Bright" panose="02040602050505020304" pitchFamily="18" charset="0"/>
              </a:rPr>
              <a:t> function reads a string from an input file stream. It writes characters to the string pointed to by s until a newline is encountered, n−1 characters have been transferred or the end of file is reached, whichever occurs first. Any newline encountered is transferred to the receiving string and a terminating null byte, \0, is added. Only a maximum of n−1 characters are transferred in any one call, because the null byte must be added to finish the string, and make up the n bytes.</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14342" name="Text Box 21"/>
          <p:cNvSpPr txBox="1">
            <a:spLocks noChangeArrowheads="1"/>
          </p:cNvSpPr>
          <p:nvPr/>
        </p:nvSpPr>
        <p:spPr bwMode="auto">
          <a:xfrm>
            <a:off x="80391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22"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err="1" smtClean="0"/>
              <a:t>fgets</a:t>
            </a:r>
            <a:r>
              <a:rPr lang="en-US" sz="4000" b="1" dirty="0" smtClean="0"/>
              <a:t>, gets</a:t>
            </a:r>
            <a:endParaRPr lang="en-US" sz="4000" b="1"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p:cNvSpPr txBox="1">
            <a:spLocks noChangeArrowheads="1"/>
          </p:cNvSpPr>
          <p:nvPr/>
        </p:nvSpPr>
        <p:spPr bwMode="auto">
          <a:xfrm>
            <a:off x="914400" y="762000"/>
            <a:ext cx="7620000" cy="1200150"/>
          </a:xfrm>
          <a:prstGeom prst="rect">
            <a:avLst/>
          </a:prstGeom>
          <a:noFill/>
          <a:ln w="9525">
            <a:noFill/>
            <a:miter lim="800000"/>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15363" name="TextBox 3"/>
          <p:cNvSpPr txBox="1">
            <a:spLocks noChangeArrowheads="1"/>
          </p:cNvSpPr>
          <p:nvPr/>
        </p:nvSpPr>
        <p:spPr bwMode="auto">
          <a:xfrm>
            <a:off x="0" y="990600"/>
            <a:ext cx="9144000" cy="8349722"/>
          </a:xfrm>
          <a:prstGeom prst="rect">
            <a:avLst/>
          </a:prstGeom>
          <a:noFill/>
          <a:ln w="9525">
            <a:noFill/>
            <a:miter lim="800000"/>
          </a:ln>
        </p:spPr>
        <p:txBody>
          <a:bodyPr wrap="square">
            <a:spAutoFit/>
          </a:bodyPr>
          <a:lstStyle/>
          <a:p>
            <a:pPr>
              <a:lnSpc>
                <a:spcPct val="150000"/>
              </a:lnSpc>
              <a:buFontTx/>
              <a:buNone/>
            </a:pPr>
            <a:r>
              <a:rPr lang="en-US" b="1" dirty="0" smtClean="0">
                <a:latin typeface="Lucida Bright" panose="02040602050505020304" pitchFamily="18" charset="0"/>
              </a:rPr>
              <a:t>Formatted Output:</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Formatted output is handled by the four </a:t>
            </a:r>
            <a:r>
              <a:rPr lang="en-US" dirty="0" err="1" smtClean="0">
                <a:latin typeface="Lucida Bright" panose="02040602050505020304" pitchFamily="18" charset="0"/>
              </a:rPr>
              <a:t>printf</a:t>
            </a:r>
            <a:r>
              <a:rPr lang="en-US" dirty="0" smtClean="0">
                <a:latin typeface="Lucida Bright" panose="02040602050505020304" pitchFamily="18" charset="0"/>
              </a:rPr>
              <a:t> functions.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stdio.h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printf</a:t>
            </a:r>
            <a:r>
              <a:rPr lang="en-US" dirty="0" smtClean="0">
                <a:latin typeface="Lucida Bright" panose="02040602050505020304" pitchFamily="18" charset="0"/>
              </a:rPr>
              <a:t>(const char *restrict format,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fprintf</a:t>
            </a:r>
            <a:r>
              <a:rPr lang="en-US" dirty="0" smtClean="0">
                <a:latin typeface="Lucida Bright" panose="02040602050505020304" pitchFamily="18" charset="0"/>
              </a:rPr>
              <a:t>(FILE *restrict </a:t>
            </a:r>
            <a:r>
              <a:rPr lang="en-US" dirty="0" err="1" smtClean="0">
                <a:latin typeface="Lucida Bright" panose="02040602050505020304" pitchFamily="18" charset="0"/>
              </a:rPr>
              <a:t>fp</a:t>
            </a:r>
            <a:r>
              <a:rPr lang="en-US" dirty="0" smtClean="0">
                <a:latin typeface="Lucida Bright" panose="02040602050505020304" pitchFamily="18" charset="0"/>
              </a:rPr>
              <a:t>, const char *restrict format,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Both return: number of characters output if OK, negative value if output error.</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sprintf</a:t>
            </a:r>
            <a:r>
              <a:rPr lang="en-US" dirty="0" smtClean="0">
                <a:latin typeface="Lucida Bright" panose="02040602050505020304" pitchFamily="18" charset="0"/>
              </a:rPr>
              <a:t> (char *restrict </a:t>
            </a:r>
            <a:r>
              <a:rPr lang="en-US" dirty="0" err="1" smtClean="0">
                <a:latin typeface="Lucida Bright" panose="02040602050505020304" pitchFamily="18" charset="0"/>
              </a:rPr>
              <a:t>buf</a:t>
            </a:r>
            <a:r>
              <a:rPr lang="en-US" dirty="0" smtClean="0">
                <a:latin typeface="Lucida Bright" panose="02040602050505020304" pitchFamily="18" charset="0"/>
              </a:rPr>
              <a:t>, const char *restrict format,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snprintf</a:t>
            </a:r>
            <a:r>
              <a:rPr lang="en-US" dirty="0" smtClean="0">
                <a:latin typeface="Lucida Bright" panose="02040602050505020304" pitchFamily="18" charset="0"/>
              </a:rPr>
              <a:t> (char *restrict </a:t>
            </a:r>
            <a:r>
              <a:rPr lang="en-US" dirty="0" err="1" smtClean="0">
                <a:latin typeface="Lucida Bright" panose="02040602050505020304" pitchFamily="18" charset="0"/>
              </a:rPr>
              <a:t>buf</a:t>
            </a:r>
            <a:r>
              <a:rPr lang="en-US" dirty="0" smtClean="0">
                <a:latin typeface="Lucida Bright" panose="02040602050505020304" pitchFamily="18" charset="0"/>
              </a:rPr>
              <a:t>, </a:t>
            </a:r>
            <a:r>
              <a:rPr lang="en-US" dirty="0" err="1" smtClean="0">
                <a:latin typeface="Lucida Bright" panose="02040602050505020304" pitchFamily="18" charset="0"/>
              </a:rPr>
              <a:t>size_t</a:t>
            </a:r>
            <a:r>
              <a:rPr lang="en-US" dirty="0" smtClean="0">
                <a:latin typeface="Lucida Bright" panose="02040602050505020304" pitchFamily="18" charset="0"/>
              </a:rPr>
              <a:t> n, const char *restrict format,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Both return: number of characters stored in array if OK, negative value if encoding error.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printf</a:t>
            </a:r>
            <a:r>
              <a:rPr lang="en-US" dirty="0" smtClean="0">
                <a:latin typeface="Lucida Bright" panose="02040602050505020304" pitchFamily="18" charset="0"/>
              </a:rPr>
              <a:t> function writes to the standard o/p, </a:t>
            </a:r>
            <a:r>
              <a:rPr lang="en-US" dirty="0" err="1" smtClean="0">
                <a:latin typeface="Lucida Bright" panose="02040602050505020304" pitchFamily="18" charset="0"/>
              </a:rPr>
              <a:t>fprintf</a:t>
            </a:r>
            <a:r>
              <a:rPr lang="en-US" dirty="0" smtClean="0">
                <a:latin typeface="Lucida Bright" panose="02040602050505020304" pitchFamily="18" charset="0"/>
              </a:rPr>
              <a:t> writes to the specified stream&amp; </a:t>
            </a:r>
            <a:r>
              <a:rPr lang="en-US" dirty="0" err="1" smtClean="0">
                <a:latin typeface="Lucida Bright" panose="02040602050505020304" pitchFamily="18" charset="0"/>
              </a:rPr>
              <a:t>sprintf</a:t>
            </a:r>
            <a:r>
              <a:rPr lang="en-US" dirty="0" smtClean="0">
                <a:latin typeface="Lucida Bright" panose="02040602050505020304" pitchFamily="18" charset="0"/>
              </a:rPr>
              <a:t> places the formatted characters in the array </a:t>
            </a:r>
            <a:r>
              <a:rPr lang="en-US" dirty="0" err="1" smtClean="0">
                <a:latin typeface="Lucida Bright" panose="02040602050505020304" pitchFamily="18" charset="0"/>
              </a:rPr>
              <a:t>buf</a:t>
            </a:r>
            <a:r>
              <a:rPr lang="en-US" dirty="0" smtClean="0">
                <a:latin typeface="Lucida Bright" panose="02040602050505020304" pitchFamily="18" charset="0"/>
              </a:rPr>
              <a:t>. The </a:t>
            </a:r>
            <a:r>
              <a:rPr lang="en-US" dirty="0" err="1" smtClean="0">
                <a:latin typeface="Lucida Bright" panose="02040602050505020304" pitchFamily="18" charset="0"/>
              </a:rPr>
              <a:t>sprintf</a:t>
            </a:r>
            <a:r>
              <a:rPr lang="en-US" dirty="0" smtClean="0">
                <a:latin typeface="Lucida Bright" panose="02040602050505020304" pitchFamily="18" charset="0"/>
              </a:rPr>
              <a:t> function automatically appends a null byte at the end of the array, but this null byte is not included in the return value.</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br>
              <a:rPr lang="en-US" dirty="0" smtClean="0">
                <a:latin typeface="Lucida Bright" panose="02040602050505020304" pitchFamily="18" charset="0"/>
              </a:rPr>
            </a:b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15364"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r>
              <a:rPr lang="en-US" sz="4000" dirty="0" smtClean="0"/>
              <a:t>Formatted I/O</a:t>
            </a:r>
            <a:endParaRPr lang="en-US" sz="4000" b="1" dirty="0"/>
          </a:p>
        </p:txBody>
      </p:sp>
      <p:sp>
        <p:nvSpPr>
          <p:cNvPr id="6" name="Slide Number Placeholder 5"/>
          <p:cNvSpPr>
            <a:spLocks noGrp="1"/>
          </p:cNvSpPr>
          <p:nvPr>
            <p:ph type="sldNum" sz="quarter" idx="12"/>
          </p:nvPr>
        </p:nvSpPr>
        <p:spPr/>
        <p:txBody>
          <a:bodyPr/>
          <a:lstStyle/>
          <a:p>
            <a:pPr>
              <a:defRPr/>
            </a:pPr>
            <a:fld id="{0F1EA053-D6B5-4CCC-8C96-B3CA7B65908C}" type="slidenum">
              <a:rPr lang="en-US" smtClean="0"/>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r>
              <a:rPr lang="en-US" sz="4000" dirty="0" smtClean="0"/>
              <a:t>Formatted I/O</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4762636"/>
          </a:xfrm>
          <a:prstGeom prst="rect">
            <a:avLst/>
          </a:prstGeom>
          <a:noFill/>
          <a:ln w="9525">
            <a:noFill/>
            <a:miter lim="800000"/>
          </a:ln>
          <a:effectLst/>
        </p:spPr>
        <p:txBody>
          <a:bodyPr wrap="square" anchor="ctr">
            <a:spAutoFit/>
          </a:bodyPr>
          <a:lstStyle/>
          <a:p>
            <a:pPr>
              <a:lnSpc>
                <a:spcPct val="150000"/>
              </a:lnSpc>
              <a:buFontTx/>
              <a:buNone/>
            </a:pPr>
            <a:r>
              <a:rPr lang="en-US" b="1" dirty="0" smtClean="0">
                <a:latin typeface="Lucida Bright" panose="02040602050505020304" pitchFamily="18" charset="0"/>
              </a:rPr>
              <a:t>Formatted Input:</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Formatted input is handled by the three </a:t>
            </a:r>
            <a:r>
              <a:rPr lang="en-US" dirty="0" err="1" smtClean="0">
                <a:latin typeface="Lucida Bright" panose="02040602050505020304" pitchFamily="18" charset="0"/>
              </a:rPr>
              <a:t>scanf</a:t>
            </a:r>
            <a:r>
              <a:rPr lang="en-US" dirty="0" smtClean="0">
                <a:latin typeface="Lucida Bright" panose="02040602050505020304" pitchFamily="18" charset="0"/>
              </a:rPr>
              <a:t> functions.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stdio.h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scanf</a:t>
            </a:r>
            <a:r>
              <a:rPr lang="en-US" dirty="0" smtClean="0">
                <a:latin typeface="Lucida Bright" panose="02040602050505020304" pitchFamily="18" charset="0"/>
              </a:rPr>
              <a:t> (const char *restrict format, ...);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fscanf</a:t>
            </a:r>
            <a:r>
              <a:rPr lang="en-US" dirty="0" smtClean="0">
                <a:latin typeface="Lucida Bright" panose="02040602050505020304" pitchFamily="18" charset="0"/>
              </a:rPr>
              <a:t> (FILE *restrict </a:t>
            </a:r>
            <a:r>
              <a:rPr lang="en-US" dirty="0" err="1" smtClean="0">
                <a:latin typeface="Lucida Bright" panose="02040602050505020304" pitchFamily="18" charset="0"/>
              </a:rPr>
              <a:t>fp</a:t>
            </a:r>
            <a:r>
              <a:rPr lang="en-US" dirty="0" smtClean="0">
                <a:latin typeface="Lucida Bright" panose="02040602050505020304" pitchFamily="18" charset="0"/>
              </a:rPr>
              <a:t>, const char *restrict format, ...);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sscanf</a:t>
            </a:r>
            <a:r>
              <a:rPr lang="en-US" dirty="0" smtClean="0">
                <a:latin typeface="Lucida Bright" panose="02040602050505020304" pitchFamily="18" charset="0"/>
              </a:rPr>
              <a:t> (const char *restrict </a:t>
            </a:r>
            <a:r>
              <a:rPr lang="en-US" dirty="0" err="1" smtClean="0">
                <a:latin typeface="Lucida Bright" panose="02040602050505020304" pitchFamily="18" charset="0"/>
              </a:rPr>
              <a:t>buf</a:t>
            </a:r>
            <a:r>
              <a:rPr lang="en-US" dirty="0" smtClean="0">
                <a:latin typeface="Lucida Bright" panose="02040602050505020304" pitchFamily="18" charset="0"/>
              </a:rPr>
              <a:t>, const char *restrict format,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All three return: number of input items assigned, </a:t>
            </a:r>
            <a:br>
              <a:rPr lang="en-US" dirty="0" smtClean="0">
                <a:latin typeface="Lucida Bright" panose="02040602050505020304" pitchFamily="18" charset="0"/>
              </a:rPr>
            </a:br>
            <a:r>
              <a:rPr lang="en-US" dirty="0" smtClean="0">
                <a:latin typeface="Lucida Bright" panose="02040602050505020304" pitchFamily="18" charset="0"/>
              </a:rPr>
              <a:t>EOF if input error or end of file before any conversion.</a:t>
            </a:r>
            <a:endParaRPr lang="en-US" dirty="0" smtClean="0">
              <a:latin typeface="Lucida Bright" panose="02040602050505020304" pitchFamily="18" charset="0"/>
            </a:endParaRPr>
          </a:p>
          <a:p>
            <a:pPr>
              <a:lnSpc>
                <a:spcPct val="150000"/>
              </a:lnSpc>
              <a:buFontTx/>
              <a:buNone/>
            </a:pPr>
            <a:br>
              <a:rPr lang="en-US" dirty="0" smtClean="0">
                <a:latin typeface="Lucida Bright" panose="02040602050505020304" pitchFamily="18" charset="0"/>
              </a:rPr>
            </a:b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r>
              <a:rPr lang="en-US" sz="4000" dirty="0" smtClean="0"/>
              <a:t>Library functions</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5770811"/>
          </a:xfrm>
          <a:prstGeom prst="rect">
            <a:avLst/>
          </a:prstGeom>
        </p:spPr>
        <p:style>
          <a:lnRef idx="2">
            <a:schemeClr val="dk1"/>
          </a:lnRef>
          <a:fillRef idx="1">
            <a:schemeClr val="lt1"/>
          </a:fillRef>
          <a:effectRef idx="0">
            <a:schemeClr val="dk1"/>
          </a:effectRef>
          <a:fontRef idx="minor">
            <a:schemeClr val="dk1"/>
          </a:fontRef>
        </p:style>
        <p:txBody>
          <a:bodyPr wrap="square" anchor="ctr">
            <a:spAutoFit/>
          </a:bodyPr>
          <a:lstStyle/>
          <a:p>
            <a:r>
              <a:rPr lang="en-US" b="1" dirty="0" smtClean="0">
                <a:latin typeface="Lucida Bright" panose="02040602050505020304" pitchFamily="18" charset="0"/>
              </a:rPr>
              <a:t>List of functions</a:t>
            </a:r>
            <a:endParaRPr lang="en-US" b="1" dirty="0" smtClean="0">
              <a:latin typeface="Lucida Bright" panose="02040602050505020304" pitchFamily="18" charset="0"/>
            </a:endParaRPr>
          </a:p>
          <a:p>
            <a:r>
              <a:rPr lang="en-US" b="1" dirty="0" smtClean="0">
                <a:latin typeface="Lucida Bright" panose="02040602050505020304" pitchFamily="18" charset="0"/>
              </a:rPr>
              <a:t>Function		Description</a:t>
            </a:r>
            <a:endParaRPr lang="en-US" b="1" dirty="0" smtClean="0">
              <a:latin typeface="Lucida Bright" panose="02040602050505020304" pitchFamily="18" charset="0"/>
            </a:endParaRPr>
          </a:p>
          <a:p>
            <a:endParaRPr lang="en-US" b="1" dirty="0" smtClean="0">
              <a:latin typeface="Lucida Bright" panose="02040602050505020304" pitchFamily="18" charset="0"/>
            </a:endParaRPr>
          </a:p>
          <a:p>
            <a:r>
              <a:rPr lang="en-US" b="1" dirty="0" err="1" smtClean="0">
                <a:latin typeface="Lucida Bright" panose="02040602050505020304" pitchFamily="18" charset="0"/>
              </a:rPr>
              <a:t>Clearerr</a:t>
            </a:r>
            <a:r>
              <a:rPr lang="en-US" b="1" dirty="0" smtClean="0">
                <a:latin typeface="Lucida Bright" panose="02040602050505020304" pitchFamily="18" charset="0"/>
              </a:rPr>
              <a:t>		</a:t>
            </a:r>
            <a:r>
              <a:rPr lang="en-US" dirty="0" smtClean="0">
                <a:latin typeface="Lucida Bright" panose="02040602050505020304" pitchFamily="18" charset="0"/>
              </a:rPr>
              <a:t>check and reset stream status</a:t>
            </a:r>
            <a:endParaRPr lang="en-US" dirty="0" smtClean="0">
              <a:latin typeface="Lucida Bright" panose="02040602050505020304" pitchFamily="18" charset="0"/>
            </a:endParaRPr>
          </a:p>
          <a:p>
            <a:r>
              <a:rPr lang="en-US" b="1" dirty="0" err="1" smtClean="0">
                <a:latin typeface="Lucida Bright" panose="02040602050505020304" pitchFamily="18" charset="0"/>
              </a:rPr>
              <a:t>Fclose</a:t>
            </a:r>
            <a:r>
              <a:rPr lang="en-US" b="1" dirty="0" smtClean="0">
                <a:latin typeface="Lucida Bright" panose="02040602050505020304" pitchFamily="18" charset="0"/>
              </a:rPr>
              <a:t>			</a:t>
            </a:r>
            <a:r>
              <a:rPr lang="en-US" dirty="0" smtClean="0">
                <a:latin typeface="Lucida Bright" panose="02040602050505020304" pitchFamily="18" charset="0"/>
              </a:rPr>
              <a:t>close a stream</a:t>
            </a:r>
            <a:endParaRPr lang="en-US" dirty="0" smtClean="0">
              <a:latin typeface="Lucida Bright" panose="02040602050505020304" pitchFamily="18" charset="0"/>
            </a:endParaRPr>
          </a:p>
          <a:p>
            <a:r>
              <a:rPr lang="en-US" b="1" dirty="0" err="1" smtClean="0">
                <a:latin typeface="Lucida Bright" panose="02040602050505020304" pitchFamily="18" charset="0"/>
              </a:rPr>
              <a:t>Fdopen</a:t>
            </a:r>
            <a:r>
              <a:rPr lang="en-US" b="1" dirty="0" smtClean="0">
                <a:latin typeface="Lucida Bright" panose="02040602050505020304" pitchFamily="18" charset="0"/>
              </a:rPr>
              <a:t>			</a:t>
            </a:r>
            <a:r>
              <a:rPr lang="en-US" dirty="0" smtClean="0">
                <a:latin typeface="Lucida Bright" panose="02040602050505020304" pitchFamily="18" charset="0"/>
              </a:rPr>
              <a:t>stream open functions</a:t>
            </a:r>
            <a:endParaRPr lang="en-US" dirty="0" smtClean="0">
              <a:latin typeface="Lucida Bright" panose="02040602050505020304" pitchFamily="18" charset="0"/>
            </a:endParaRPr>
          </a:p>
          <a:p>
            <a:r>
              <a:rPr lang="en-US" b="1" dirty="0" err="1" smtClean="0">
                <a:latin typeface="Lucida Bright" panose="02040602050505020304" pitchFamily="18" charset="0"/>
              </a:rPr>
              <a:t>Feof</a:t>
            </a:r>
            <a:r>
              <a:rPr lang="en-US" b="1" dirty="0" smtClean="0">
                <a:latin typeface="Lucida Bright" panose="02040602050505020304" pitchFamily="18" charset="0"/>
              </a:rPr>
              <a:t>			</a:t>
            </a:r>
            <a:r>
              <a:rPr lang="en-US" dirty="0" smtClean="0">
                <a:latin typeface="Lucida Bright" panose="02040602050505020304" pitchFamily="18" charset="0"/>
              </a:rPr>
              <a:t>check and reset stream status	</a:t>
            </a:r>
            <a:endParaRPr lang="en-US" dirty="0" smtClean="0">
              <a:latin typeface="Lucida Bright" panose="02040602050505020304" pitchFamily="18" charset="0"/>
            </a:endParaRPr>
          </a:p>
          <a:p>
            <a:r>
              <a:rPr lang="en-US" b="1" dirty="0" err="1" smtClean="0">
                <a:latin typeface="Lucida Bright" panose="02040602050505020304" pitchFamily="18" charset="0"/>
              </a:rPr>
              <a:t>Ferror</a:t>
            </a:r>
            <a:r>
              <a:rPr lang="en-US" b="1" dirty="0" smtClean="0">
                <a:latin typeface="Lucida Bright" panose="02040602050505020304" pitchFamily="18" charset="0"/>
              </a:rPr>
              <a:t>			</a:t>
            </a:r>
            <a:r>
              <a:rPr lang="en-US" dirty="0" smtClean="0">
                <a:latin typeface="Lucida Bright" panose="02040602050505020304" pitchFamily="18" charset="0"/>
              </a:rPr>
              <a:t>check and reset stream status</a:t>
            </a:r>
            <a:endParaRPr lang="en-US" dirty="0" smtClean="0">
              <a:latin typeface="Lucida Bright" panose="02040602050505020304" pitchFamily="18" charset="0"/>
            </a:endParaRPr>
          </a:p>
          <a:p>
            <a:r>
              <a:rPr lang="en-US" b="1" dirty="0" err="1" smtClean="0">
                <a:latin typeface="Lucida Bright" panose="02040602050505020304" pitchFamily="18" charset="0"/>
              </a:rPr>
              <a:t>Fflush</a:t>
            </a:r>
            <a:r>
              <a:rPr lang="en-US" b="1" dirty="0" smtClean="0">
                <a:latin typeface="Lucida Bright" panose="02040602050505020304" pitchFamily="18" charset="0"/>
              </a:rPr>
              <a:t>			</a:t>
            </a:r>
            <a:r>
              <a:rPr lang="en-US" dirty="0" smtClean="0">
                <a:latin typeface="Lucida Bright" panose="02040602050505020304" pitchFamily="18" charset="0"/>
              </a:rPr>
              <a:t>flush a stream</a:t>
            </a:r>
            <a:endParaRPr lang="en-US" dirty="0" smtClean="0">
              <a:latin typeface="Lucida Bright" panose="02040602050505020304" pitchFamily="18" charset="0"/>
            </a:endParaRPr>
          </a:p>
          <a:p>
            <a:r>
              <a:rPr lang="en-US" b="1" dirty="0" err="1" smtClean="0">
                <a:latin typeface="Lucida Bright" panose="02040602050505020304" pitchFamily="18" charset="0"/>
              </a:rPr>
              <a:t>Fgetc</a:t>
            </a:r>
            <a:r>
              <a:rPr lang="en-US" b="1" dirty="0" smtClean="0">
                <a:latin typeface="Lucida Bright" panose="02040602050505020304" pitchFamily="18" charset="0"/>
              </a:rPr>
              <a:t>			</a:t>
            </a:r>
            <a:r>
              <a:rPr lang="en-US" dirty="0" smtClean="0">
                <a:latin typeface="Lucida Bright" panose="02040602050505020304" pitchFamily="18" charset="0"/>
              </a:rPr>
              <a:t>get next character or word from input stream</a:t>
            </a:r>
            <a:endParaRPr lang="en-US" dirty="0" smtClean="0">
              <a:latin typeface="Lucida Bright" panose="02040602050505020304" pitchFamily="18" charset="0"/>
            </a:endParaRPr>
          </a:p>
          <a:p>
            <a:r>
              <a:rPr lang="en-US" b="1" dirty="0" err="1" smtClean="0">
                <a:latin typeface="Lucida Bright" panose="02040602050505020304" pitchFamily="18" charset="0"/>
              </a:rPr>
              <a:t>Fgetpos</a:t>
            </a:r>
            <a:r>
              <a:rPr lang="en-US" b="1" dirty="0" smtClean="0">
                <a:latin typeface="Lucida Bright" panose="02040602050505020304" pitchFamily="18" charset="0"/>
              </a:rPr>
              <a:t>			</a:t>
            </a:r>
            <a:r>
              <a:rPr lang="en-US" dirty="0" smtClean="0">
                <a:latin typeface="Lucida Bright" panose="02040602050505020304" pitchFamily="18" charset="0"/>
              </a:rPr>
              <a:t>reposition a stream	</a:t>
            </a:r>
            <a:endParaRPr lang="en-US" dirty="0" smtClean="0">
              <a:latin typeface="Lucida Bright" panose="02040602050505020304" pitchFamily="18" charset="0"/>
            </a:endParaRPr>
          </a:p>
          <a:p>
            <a:r>
              <a:rPr lang="en-US" b="1" dirty="0" err="1" smtClean="0">
                <a:latin typeface="Lucida Bright" panose="02040602050505020304" pitchFamily="18" charset="0"/>
              </a:rPr>
              <a:t>Fgets</a:t>
            </a:r>
            <a:r>
              <a:rPr lang="en-US" b="1" dirty="0" smtClean="0">
                <a:latin typeface="Lucida Bright" panose="02040602050505020304" pitchFamily="18" charset="0"/>
              </a:rPr>
              <a:t>			</a:t>
            </a:r>
            <a:r>
              <a:rPr lang="en-US" dirty="0" smtClean="0">
                <a:latin typeface="Lucida Bright" panose="02040602050505020304" pitchFamily="18" charset="0"/>
              </a:rPr>
              <a:t>get a line from a stream</a:t>
            </a:r>
            <a:endParaRPr lang="en-US" dirty="0" smtClean="0">
              <a:latin typeface="Lucida Bright" panose="02040602050505020304" pitchFamily="18" charset="0"/>
            </a:endParaRPr>
          </a:p>
          <a:p>
            <a:r>
              <a:rPr lang="en-US" b="1" dirty="0" err="1" smtClean="0">
                <a:latin typeface="Lucida Bright" panose="02040602050505020304" pitchFamily="18" charset="0"/>
              </a:rPr>
              <a:t>Fileno</a:t>
            </a:r>
            <a:r>
              <a:rPr lang="en-US" b="1" dirty="0" smtClean="0">
                <a:latin typeface="Lucida Bright" panose="02040602050505020304" pitchFamily="18" charset="0"/>
              </a:rPr>
              <a:t>			</a:t>
            </a:r>
            <a:r>
              <a:rPr lang="en-US" dirty="0" smtClean="0">
                <a:latin typeface="Lucida Bright" panose="02040602050505020304" pitchFamily="18" charset="0"/>
              </a:rPr>
              <a:t>return the integer descriptor of the argument stream</a:t>
            </a:r>
            <a:endParaRPr lang="en-US" dirty="0" smtClean="0">
              <a:latin typeface="Lucida Bright" panose="02040602050505020304" pitchFamily="18" charset="0"/>
            </a:endParaRPr>
          </a:p>
          <a:p>
            <a:r>
              <a:rPr lang="en-US" b="1" dirty="0" err="1" smtClean="0">
                <a:latin typeface="Lucida Bright" panose="02040602050505020304" pitchFamily="18" charset="0"/>
              </a:rPr>
              <a:t>Fopen</a:t>
            </a:r>
            <a:r>
              <a:rPr lang="en-US" b="1" dirty="0" smtClean="0">
                <a:latin typeface="Lucida Bright" panose="02040602050505020304" pitchFamily="18" charset="0"/>
              </a:rPr>
              <a:t>			</a:t>
            </a:r>
            <a:r>
              <a:rPr lang="en-US" dirty="0" smtClean="0">
                <a:latin typeface="Lucida Bright" panose="02040602050505020304" pitchFamily="18" charset="0"/>
              </a:rPr>
              <a:t>stream open functions</a:t>
            </a:r>
            <a:endParaRPr lang="en-US" dirty="0" smtClean="0">
              <a:latin typeface="Lucida Bright" panose="02040602050505020304" pitchFamily="18" charset="0"/>
            </a:endParaRPr>
          </a:p>
          <a:p>
            <a:r>
              <a:rPr lang="en-US" b="1" dirty="0" err="1" smtClean="0">
                <a:latin typeface="Lucida Bright" panose="02040602050505020304" pitchFamily="18" charset="0"/>
              </a:rPr>
              <a:t>Fprintf</a:t>
            </a:r>
            <a:r>
              <a:rPr lang="en-US" b="1" dirty="0" smtClean="0">
                <a:latin typeface="Lucida Bright" panose="02040602050505020304" pitchFamily="18" charset="0"/>
              </a:rPr>
              <a:t>			</a:t>
            </a:r>
            <a:r>
              <a:rPr lang="en-US" dirty="0" smtClean="0">
                <a:latin typeface="Lucida Bright" panose="02040602050505020304" pitchFamily="18" charset="0"/>
              </a:rPr>
              <a:t>formatted output conversion</a:t>
            </a:r>
            <a:endParaRPr lang="en-US" dirty="0" smtClean="0">
              <a:latin typeface="Lucida Bright" panose="02040602050505020304" pitchFamily="18" charset="0"/>
            </a:endParaRPr>
          </a:p>
          <a:p>
            <a:r>
              <a:rPr lang="en-US" b="1" dirty="0" err="1" smtClean="0">
                <a:latin typeface="Lucida Bright" panose="02040602050505020304" pitchFamily="18" charset="0"/>
              </a:rPr>
              <a:t>Fpurge</a:t>
            </a:r>
            <a:r>
              <a:rPr lang="en-US" b="1" dirty="0" smtClean="0">
                <a:latin typeface="Lucida Bright" panose="02040602050505020304" pitchFamily="18" charset="0"/>
              </a:rPr>
              <a:t>			</a:t>
            </a:r>
            <a:r>
              <a:rPr lang="en-US" dirty="0" smtClean="0">
                <a:latin typeface="Lucida Bright" panose="02040602050505020304" pitchFamily="18" charset="0"/>
              </a:rPr>
              <a:t>flush a stream</a:t>
            </a:r>
            <a:endParaRPr lang="en-US" dirty="0" smtClean="0">
              <a:latin typeface="Lucida Bright" panose="02040602050505020304" pitchFamily="18" charset="0"/>
            </a:endParaRPr>
          </a:p>
          <a:p>
            <a:r>
              <a:rPr lang="en-US" b="1" dirty="0" err="1" smtClean="0">
                <a:latin typeface="Lucida Bright" panose="02040602050505020304" pitchFamily="18" charset="0"/>
              </a:rPr>
              <a:t>Fputc</a:t>
            </a:r>
            <a:r>
              <a:rPr lang="en-US" b="1" dirty="0" smtClean="0">
                <a:latin typeface="Lucida Bright" panose="02040602050505020304" pitchFamily="18" charset="0"/>
              </a:rPr>
              <a:t>			</a:t>
            </a:r>
            <a:r>
              <a:rPr lang="en-US" dirty="0" smtClean="0">
                <a:latin typeface="Lucida Bright" panose="02040602050505020304" pitchFamily="18" charset="0"/>
              </a:rPr>
              <a:t>output a character or word to a stream</a:t>
            </a:r>
            <a:endParaRPr lang="en-US" dirty="0" smtClean="0">
              <a:latin typeface="Lucida Bright" panose="02040602050505020304" pitchFamily="18" charset="0"/>
            </a:endParaRPr>
          </a:p>
          <a:p>
            <a:r>
              <a:rPr lang="en-US" b="1" dirty="0" err="1" smtClean="0">
                <a:latin typeface="Lucida Bright" panose="02040602050505020304" pitchFamily="18" charset="0"/>
              </a:rPr>
              <a:t>Fputs</a:t>
            </a:r>
            <a:r>
              <a:rPr lang="en-US" b="1" dirty="0" smtClean="0">
                <a:latin typeface="Lucida Bright" panose="02040602050505020304" pitchFamily="18" charset="0"/>
              </a:rPr>
              <a:t>			</a:t>
            </a:r>
            <a:r>
              <a:rPr lang="en-US" dirty="0" smtClean="0">
                <a:latin typeface="Lucida Bright" panose="02040602050505020304" pitchFamily="18" charset="0"/>
              </a:rPr>
              <a:t>output a line to a stream </a:t>
            </a:r>
            <a:br>
              <a:rPr lang="en-US" dirty="0" smtClean="0">
                <a:latin typeface="Lucida Bright" panose="02040602050505020304" pitchFamily="18" charset="0"/>
              </a:rPr>
            </a:b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Other Stream Functions</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1286250"/>
          </a:xfrm>
          <a:prstGeom prst="rect">
            <a:avLst/>
          </a:prstGeom>
          <a:noFill/>
          <a:ln w="9525">
            <a:noFill/>
            <a:miter lim="800000"/>
          </a:ln>
          <a:effectLst/>
        </p:spPr>
        <p:txBody>
          <a:bodyPr wrap="square" anchor="ctr">
            <a:spAutoFit/>
          </a:bodyPr>
          <a:lstStyle/>
          <a:p>
            <a:pPr>
              <a:lnSpc>
                <a:spcPct val="150000"/>
              </a:lnSpc>
            </a:pPr>
            <a:r>
              <a:rPr lang="en-US" dirty="0" smtClean="0">
                <a:latin typeface="Lucida Bright" panose="02040602050505020304" pitchFamily="18" charset="0"/>
              </a:rPr>
              <a:t>Other library functions use either stream </a:t>
            </a:r>
            <a:r>
              <a:rPr lang="en-US" dirty="0" err="1" smtClean="0">
                <a:latin typeface="Lucida Bright" panose="02040602050505020304" pitchFamily="18" charset="0"/>
              </a:rPr>
              <a:t>paramters</a:t>
            </a:r>
            <a:r>
              <a:rPr lang="en-US" dirty="0" smtClean="0">
                <a:latin typeface="Lucida Bright" panose="02040602050505020304" pitchFamily="18" charset="0"/>
              </a:rPr>
              <a:t> or the standard streams </a:t>
            </a:r>
            <a:r>
              <a:rPr lang="en-US" b="1" dirty="0" err="1" smtClean="0">
                <a:latin typeface="Lucida Bright" panose="02040602050505020304" pitchFamily="18" charset="0"/>
              </a:rPr>
              <a:t>stdin</a:t>
            </a:r>
            <a:r>
              <a:rPr lang="en-US" b="1" dirty="0" smtClean="0">
                <a:latin typeface="Lucida Bright" panose="02040602050505020304" pitchFamily="18" charset="0"/>
              </a:rPr>
              <a:t>, </a:t>
            </a:r>
            <a:r>
              <a:rPr lang="en-US" b="1" dirty="0" err="1" smtClean="0">
                <a:latin typeface="Lucida Bright" panose="02040602050505020304" pitchFamily="18" charset="0"/>
              </a:rPr>
              <a:t>stdout</a:t>
            </a:r>
            <a:r>
              <a:rPr lang="en-US" b="1" dirty="0" smtClean="0">
                <a:latin typeface="Lucida Bright" panose="02040602050505020304" pitchFamily="18" charset="0"/>
              </a:rPr>
              <a:t>, </a:t>
            </a:r>
            <a:r>
              <a:rPr lang="en-US" b="1" dirty="0" err="1" smtClean="0">
                <a:latin typeface="Lucida Bright" panose="02040602050505020304" pitchFamily="18" charset="0"/>
              </a:rPr>
              <a:t>stderr</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pic>
        <p:nvPicPr>
          <p:cNvPr id="4098" name="Picture 2"/>
          <p:cNvPicPr>
            <a:picLocks noChangeAspect="1" noChangeArrowheads="1"/>
          </p:cNvPicPr>
          <p:nvPr/>
        </p:nvPicPr>
        <p:blipFill>
          <a:blip r:embed="rId1"/>
          <a:srcRect/>
          <a:stretch>
            <a:fillRect/>
          </a:stretch>
        </p:blipFill>
        <p:spPr bwMode="auto">
          <a:xfrm>
            <a:off x="381000" y="1752600"/>
            <a:ext cx="8762999"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Stream Errors</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6463308"/>
          </a:xfrm>
          <a:prstGeom prst="rect">
            <a:avLst/>
          </a:prstGeom>
          <a:noFill/>
          <a:ln w="9525">
            <a:noFill/>
            <a:miter lim="800000"/>
          </a:ln>
          <a:effectLst/>
        </p:spPr>
        <p:txBody>
          <a:bodyPr wrap="square" anchor="ctr">
            <a:spAutoFit/>
          </a:bodyPr>
          <a:lstStyle/>
          <a:p>
            <a:endParaRPr lang="en-US" dirty="0" smtClean="0"/>
          </a:p>
          <a:p>
            <a:pPr>
              <a:lnSpc>
                <a:spcPct val="150000"/>
              </a:lnSpc>
            </a:pPr>
            <a:r>
              <a:rPr lang="en-US" dirty="0" smtClean="0">
                <a:latin typeface="Lucida Bright" panose="02040602050505020304" pitchFamily="18" charset="0"/>
              </a:rPr>
              <a:t>To indicate an error, many of the </a:t>
            </a:r>
            <a:r>
              <a:rPr lang="en-US" b="1" dirty="0" err="1" smtClean="0">
                <a:latin typeface="Lucida Bright" panose="02040602050505020304" pitchFamily="18" charset="0"/>
              </a:rPr>
              <a:t>stdio</a:t>
            </a:r>
            <a:r>
              <a:rPr lang="en-US" b="1" dirty="0" smtClean="0">
                <a:latin typeface="Lucida Bright" panose="02040602050505020304" pitchFamily="18" charset="0"/>
              </a:rPr>
              <a:t> library functions return out of range values, such as null pointers or the constant EOF.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In these cases, the error is indicated in the external variable </a:t>
            </a:r>
            <a:r>
              <a:rPr lang="en-US" b="1" dirty="0" err="1" smtClean="0">
                <a:latin typeface="Lucida Bright" panose="02040602050505020304" pitchFamily="18" charset="0"/>
              </a:rPr>
              <a:t>errno</a:t>
            </a:r>
            <a:r>
              <a:rPr lang="en-US" b="1" dirty="0" smtClean="0">
                <a:latin typeface="Lucida Bright" panose="02040602050505020304" pitchFamily="18" charset="0"/>
              </a:rPr>
              <a:t>: </a:t>
            </a:r>
            <a:endParaRPr lang="en-US" b="1" dirty="0" smtClean="0">
              <a:latin typeface="Lucida Bright" panose="02040602050505020304" pitchFamily="18" charset="0"/>
            </a:endParaRP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pPr>
              <a:lnSpc>
                <a:spcPct val="150000"/>
              </a:lnSpc>
            </a:pPr>
            <a:r>
              <a:rPr lang="en-US" dirty="0" smtClean="0"/>
              <a:t>You can also interrogate the state of a file stream to determine whether an error has occurred, or the end of file has been reached. </a:t>
            </a:r>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pic>
        <p:nvPicPr>
          <p:cNvPr id="1026" name="Picture 2"/>
          <p:cNvPicPr>
            <a:picLocks noChangeAspect="1" noChangeArrowheads="1"/>
          </p:cNvPicPr>
          <p:nvPr/>
        </p:nvPicPr>
        <p:blipFill>
          <a:blip r:embed="rId1"/>
          <a:srcRect/>
          <a:stretch>
            <a:fillRect/>
          </a:stretch>
        </p:blipFill>
        <p:spPr bwMode="auto">
          <a:xfrm>
            <a:off x="2514600" y="2514600"/>
            <a:ext cx="3352800" cy="12954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2"/>
          <a:srcRect/>
          <a:stretch>
            <a:fillRect/>
          </a:stretch>
        </p:blipFill>
        <p:spPr bwMode="auto">
          <a:xfrm>
            <a:off x="2362200" y="5029200"/>
            <a:ext cx="3829050" cy="182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Stream Errors</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4662815"/>
          </a:xfrm>
          <a:prstGeom prst="rect">
            <a:avLst/>
          </a:prstGeom>
          <a:noFill/>
          <a:ln w="9525">
            <a:noFill/>
            <a:miter lim="800000"/>
          </a:ln>
          <a:effectLst/>
        </p:spPr>
        <p:txBody>
          <a:bodyPr wrap="square" anchor="ctr">
            <a:spAutoFit/>
          </a:bodyPr>
          <a:lstStyle/>
          <a:p>
            <a:pPr>
              <a:lnSpc>
                <a:spcPct val="150000"/>
              </a:lnSpc>
            </a:pPr>
            <a:r>
              <a:rPr lang="en-US" dirty="0" smtClean="0">
                <a:latin typeface="Lucida Bright" panose="02040602050505020304" pitchFamily="18" charset="0"/>
              </a:rPr>
              <a:t>The </a:t>
            </a:r>
            <a:r>
              <a:rPr lang="en-US" b="1" dirty="0" err="1" smtClean="0">
                <a:latin typeface="Lucida Bright" panose="02040602050505020304" pitchFamily="18" charset="0"/>
              </a:rPr>
              <a:t>ferror</a:t>
            </a:r>
            <a:r>
              <a:rPr lang="en-US" b="1" dirty="0" smtClean="0">
                <a:latin typeface="Lucida Bright" panose="02040602050505020304" pitchFamily="18" charset="0"/>
              </a:rPr>
              <a:t> function tests the error indicator for a stream and returns non-zero if its set, zero otherwise.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b="1" dirty="0" err="1" smtClean="0">
                <a:latin typeface="Lucida Bright" panose="02040602050505020304" pitchFamily="18" charset="0"/>
              </a:rPr>
              <a:t>feof</a:t>
            </a:r>
            <a:r>
              <a:rPr lang="en-US" b="1" dirty="0" smtClean="0">
                <a:latin typeface="Lucida Bright" panose="02040602050505020304" pitchFamily="18" charset="0"/>
              </a:rPr>
              <a:t> function tests the end-of-file indicator within a stream and returns non-zero if it is set zero otherwise.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You use it like this: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b="1" dirty="0" err="1" smtClean="0">
                <a:latin typeface="Lucida Bright" panose="02040602050505020304" pitchFamily="18" charset="0"/>
              </a:rPr>
              <a:t>clearerr</a:t>
            </a:r>
            <a:r>
              <a:rPr lang="en-US" b="1" dirty="0" smtClean="0">
                <a:latin typeface="Lucida Bright" panose="02040602050505020304" pitchFamily="18" charset="0"/>
              </a:rPr>
              <a:t> function clears the end-of-file and error indicators for the stream to which stream points. </a:t>
            </a:r>
            <a:endParaRPr lang="en-US" dirty="0" smtClean="0">
              <a:latin typeface="Lucida Bright" panose="02040602050505020304" pitchFamily="18" charset="0"/>
            </a:endParaRPr>
          </a:p>
        </p:txBody>
      </p:sp>
      <p:pic>
        <p:nvPicPr>
          <p:cNvPr id="2050" name="Picture 2"/>
          <p:cNvPicPr>
            <a:picLocks noChangeAspect="1" noChangeArrowheads="1"/>
          </p:cNvPicPr>
          <p:nvPr/>
        </p:nvPicPr>
        <p:blipFill>
          <a:blip r:embed="rId1"/>
          <a:srcRect/>
          <a:stretch>
            <a:fillRect/>
          </a:stretch>
        </p:blipFill>
        <p:spPr bwMode="auto">
          <a:xfrm>
            <a:off x="2419350" y="3095624"/>
            <a:ext cx="5200650" cy="1247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Streams and File Descriptors </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2585323"/>
          </a:xfrm>
          <a:prstGeom prst="rect">
            <a:avLst/>
          </a:prstGeom>
          <a:noFill/>
          <a:ln w="9525">
            <a:noFill/>
            <a:miter lim="800000"/>
          </a:ln>
          <a:effectLst/>
        </p:spPr>
        <p:txBody>
          <a:bodyPr wrap="square" anchor="ctr">
            <a:spAutoFit/>
          </a:bodyPr>
          <a:lstStyle/>
          <a:p>
            <a:pPr>
              <a:lnSpc>
                <a:spcPct val="150000"/>
              </a:lnSpc>
            </a:pPr>
            <a:r>
              <a:rPr lang="en-US" dirty="0" smtClean="0">
                <a:latin typeface="Lucida Bright" panose="02040602050505020304" pitchFamily="18" charset="0"/>
              </a:rPr>
              <a:t>Each file stream is associated with a low level file descriptor.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You can mix low-level input and output operations with higher level stream operations, but this is generally unwise.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effects of buffering can be difficult to predict. </a:t>
            </a:r>
            <a:endParaRPr lang="en-US" dirty="0" smtClean="0">
              <a:latin typeface="Lucida Bright" panose="02040602050505020304" pitchFamily="18" charset="0"/>
            </a:endParaRPr>
          </a:p>
          <a:p>
            <a:pPr>
              <a:lnSpc>
                <a:spcPct val="150000"/>
              </a:lnSpc>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pic>
        <p:nvPicPr>
          <p:cNvPr id="3074" name="Picture 2"/>
          <p:cNvPicPr>
            <a:picLocks noChangeAspect="1" noChangeArrowheads="1"/>
          </p:cNvPicPr>
          <p:nvPr/>
        </p:nvPicPr>
        <p:blipFill>
          <a:blip r:embed="rId1"/>
          <a:srcRect/>
          <a:stretch>
            <a:fillRect/>
          </a:stretch>
        </p:blipFill>
        <p:spPr bwMode="auto">
          <a:xfrm>
            <a:off x="990600" y="2952750"/>
            <a:ext cx="6115050" cy="2152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r>
              <a:rPr lang="en-US" sz="4000" b="1" dirty="0" smtClean="0"/>
              <a:t>Kernel Support for files</a:t>
            </a: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6324808"/>
          </a:xfrm>
          <a:prstGeom prst="rect">
            <a:avLst/>
          </a:prstGeom>
          <a:noFill/>
          <a:ln w="9525">
            <a:noFill/>
            <a:miter lim="800000"/>
          </a:ln>
          <a:effectLst/>
        </p:spPr>
        <p:txBody>
          <a:bodyPr wrap="square" anchor="ctr">
            <a:spAutoFit/>
          </a:bodyPr>
          <a:lstStyle/>
          <a:p>
            <a:pPr>
              <a:lnSpc>
                <a:spcPct val="150000"/>
              </a:lnSpc>
              <a:buFontTx/>
              <a:buNone/>
            </a:pPr>
            <a:r>
              <a:rPr lang="en-US" dirty="0" smtClean="0">
                <a:latin typeface="Lucida Bright" panose="02040602050505020304" pitchFamily="18" charset="0"/>
              </a:rPr>
              <a:t>In UNIX system V, the kernel maintains a file table that has an entry of all opened files and also there is an </a:t>
            </a:r>
            <a:r>
              <a:rPr lang="en-US" dirty="0" err="1" smtClean="0">
                <a:latin typeface="Lucida Bright" panose="02040602050505020304" pitchFamily="18" charset="0"/>
              </a:rPr>
              <a:t>inode</a:t>
            </a:r>
            <a:r>
              <a:rPr lang="en-US" dirty="0" smtClean="0">
                <a:latin typeface="Lucida Bright" panose="02040602050505020304" pitchFamily="18" charset="0"/>
              </a:rPr>
              <a:t> table that contains a copy of file </a:t>
            </a:r>
            <a:r>
              <a:rPr lang="en-US" dirty="0" err="1" smtClean="0">
                <a:latin typeface="Lucida Bright" panose="02040602050505020304" pitchFamily="18" charset="0"/>
              </a:rPr>
              <a:t>inodes</a:t>
            </a:r>
            <a:r>
              <a:rPr lang="en-US" dirty="0" smtClean="0">
                <a:latin typeface="Lucida Bright" panose="02040602050505020304" pitchFamily="18" charset="0"/>
              </a:rPr>
              <a:t> that are most recently accessed.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The steps involved are : 1. The kernel will search the process descriptor table and look for the first unused entry. If an entry is found, that entry will be designated to reference the file .The index of the entry will be returned to the process as the file descriptor of the opened file.</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2. The kernel will scan the file table in its kernel space to find an unused entry that can be assigned to reference the file.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If an unused entry is found the following events will occur: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process file descriptor table entry will be set to point to this file table entry.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file table entry will be set to point to the </a:t>
            </a:r>
            <a:r>
              <a:rPr lang="en-US" dirty="0" err="1" smtClean="0">
                <a:latin typeface="Lucida Bright" panose="02040602050505020304" pitchFamily="18" charset="0"/>
              </a:rPr>
              <a:t>inode</a:t>
            </a:r>
            <a:r>
              <a:rPr lang="en-US" dirty="0" smtClean="0">
                <a:latin typeface="Lucida Bright" panose="02040602050505020304" pitchFamily="18" charset="0"/>
              </a:rPr>
              <a:t> table entry, where the </a:t>
            </a:r>
            <a:r>
              <a:rPr lang="en-US" dirty="0" err="1" smtClean="0">
                <a:latin typeface="Lucida Bright" panose="02040602050505020304" pitchFamily="18" charset="0"/>
              </a:rPr>
              <a:t>inode</a:t>
            </a:r>
            <a:r>
              <a:rPr lang="en-US" dirty="0" smtClean="0">
                <a:latin typeface="Lucida Bright" panose="02040602050505020304" pitchFamily="18" charset="0"/>
              </a:rPr>
              <a:t> record of the file is stored.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t>System calls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5078313"/>
          </a:xfrm>
          <a:prstGeom prst="rect">
            <a:avLst/>
          </a:prstGeom>
          <a:noFill/>
          <a:ln w="9525">
            <a:noFill/>
            <a:miter lim="800000"/>
          </a:ln>
          <a:effectLst/>
        </p:spPr>
        <p:txBody>
          <a:bodyPr wrap="square" anchor="ctr">
            <a:spAutoFit/>
          </a:bodyPr>
          <a:lstStyle/>
          <a:p>
            <a:pPr>
              <a:lnSpc>
                <a:spcPct val="150000"/>
              </a:lnSpc>
              <a:buFont typeface="Arial" panose="020B0604020202020204" pitchFamily="34" charset="0"/>
              <a:buChar char="•"/>
            </a:pPr>
            <a:r>
              <a:rPr lang="en-US" dirty="0" smtClean="0">
                <a:latin typeface="Lucida Bright" panose="02040602050505020304" pitchFamily="18" charset="0"/>
              </a:rPr>
              <a:t>The file table entry will contain the current file pointer of the open file. This is an offset from the beginning of the file where the next read or write will occur.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file table entry will contain an open mode that specifies that the file opened is for read only, write only or read and write etc. This should be specified in open function call.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reference count (</a:t>
            </a:r>
            <a:r>
              <a:rPr lang="en-US" dirty="0" err="1" smtClean="0">
                <a:latin typeface="Lucida Bright" panose="02040602050505020304" pitchFamily="18" charset="0"/>
              </a:rPr>
              <a:t>rc</a:t>
            </a:r>
            <a:r>
              <a:rPr lang="en-US" dirty="0" smtClean="0">
                <a:latin typeface="Lucida Bright" panose="02040602050505020304" pitchFamily="18" charset="0"/>
              </a:rPr>
              <a:t>) in the file table entry is set to 1. Reference count is used to keep track of how many file descriptors from any process are referring the entry.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reference count of the in-memory </a:t>
            </a:r>
            <a:r>
              <a:rPr lang="en-US" dirty="0" err="1" smtClean="0">
                <a:latin typeface="Lucida Bright" panose="02040602050505020304" pitchFamily="18" charset="0"/>
              </a:rPr>
              <a:t>inode</a:t>
            </a:r>
            <a:r>
              <a:rPr lang="en-US" dirty="0" smtClean="0">
                <a:latin typeface="Lucida Bright" panose="02040602050505020304" pitchFamily="18" charset="0"/>
              </a:rPr>
              <a:t> of the file is increased by 1. This count specifies how many file table entries are pointing to that </a:t>
            </a:r>
            <a:r>
              <a:rPr lang="en-US" dirty="0" err="1" smtClean="0">
                <a:latin typeface="Lucida Bright" panose="02040602050505020304" pitchFamily="18" charset="0"/>
              </a:rPr>
              <a:t>inode</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If either (1) or (2) fails, the </a:t>
            </a:r>
            <a:r>
              <a:rPr lang="en-US" b="1" dirty="0" smtClean="0">
                <a:latin typeface="Lucida Bright" panose="02040602050505020304" pitchFamily="18" charset="0"/>
              </a:rPr>
              <a:t>open system call returns -1 (failure/error) </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t>System calls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870751"/>
          </a:xfrm>
          <a:prstGeom prst="rect">
            <a:avLst/>
          </a:prstGeom>
          <a:noFill/>
          <a:ln w="9525">
            <a:noFill/>
            <a:miter lim="800000"/>
          </a:ln>
          <a:effectLst/>
        </p:spPr>
        <p:txBody>
          <a:bodyPr wrap="square" anchor="ctr">
            <a:spAutoFit/>
          </a:bodyPr>
          <a:lstStyle/>
          <a:p>
            <a:pPr>
              <a:lnSpc>
                <a:spcPct val="150000"/>
              </a:lnSpc>
              <a:buFontTx/>
              <a:buNone/>
            </a:pPr>
            <a:r>
              <a:rPr lang="en-US" dirty="0" smtClean="0">
                <a:latin typeface="Lucida Bright" panose="02040602050505020304" pitchFamily="18" charset="0"/>
              </a:rPr>
              <a:t>Data Structure for File Manipulation </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pic>
        <p:nvPicPr>
          <p:cNvPr id="1026" name="Picture 2"/>
          <p:cNvPicPr>
            <a:picLocks noChangeAspect="1" noChangeArrowheads="1"/>
          </p:cNvPicPr>
          <p:nvPr/>
        </p:nvPicPr>
        <p:blipFill>
          <a:blip r:embed="rId1"/>
          <a:srcRect/>
          <a:stretch>
            <a:fillRect/>
          </a:stretch>
        </p:blipFill>
        <p:spPr bwMode="auto">
          <a:xfrm>
            <a:off x="228600" y="1371600"/>
            <a:ext cx="8229599" cy="518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t>System calls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5493812"/>
          </a:xfrm>
          <a:prstGeom prst="rect">
            <a:avLst/>
          </a:prstGeom>
          <a:noFill/>
          <a:ln w="9525">
            <a:noFill/>
            <a:miter lim="800000"/>
          </a:ln>
          <a:effectLst/>
        </p:spPr>
        <p:txBody>
          <a:bodyPr wrap="square" anchor="ctr">
            <a:spAutoFit/>
          </a:bodyPr>
          <a:lstStyle/>
          <a:p>
            <a:pPr>
              <a:lnSpc>
                <a:spcPct val="150000"/>
              </a:lnSpc>
              <a:buFontTx/>
              <a:buNone/>
            </a:pPr>
            <a:r>
              <a:rPr lang="en-US" dirty="0" smtClean="0">
                <a:latin typeface="Lucida Bright" panose="02040602050505020304" pitchFamily="18" charset="0"/>
              </a:rPr>
              <a:t>Normally the reference count in the file table entry is 1,if we wish to increase the </a:t>
            </a:r>
            <a:r>
              <a:rPr lang="en-US" dirty="0" err="1" smtClean="0">
                <a:latin typeface="Lucida Bright" panose="02040602050505020304" pitchFamily="18" charset="0"/>
              </a:rPr>
              <a:t>rc</a:t>
            </a:r>
            <a:r>
              <a:rPr lang="en-US" dirty="0" smtClean="0">
                <a:latin typeface="Lucida Bright" panose="02040602050505020304" pitchFamily="18" charset="0"/>
              </a:rPr>
              <a:t> in the file table entry, this can be done using fork,dup,dup2 system call. When a open system call is succeeded, its return value will be an integer (file descriptor). Whenever the process wants to read or write data from the file, it should use the file descriptor as one of its argument.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The following events will occur whenever a process calls the close function to close the files that are opened. </a:t>
            </a:r>
            <a:endParaRPr lang="en-US" dirty="0" smtClean="0">
              <a:latin typeface="Lucida Bright" panose="02040602050505020304" pitchFamily="18" charset="0"/>
            </a:endParaRPr>
          </a:p>
          <a:p>
            <a:pPr marL="342900" indent="-342900">
              <a:lnSpc>
                <a:spcPct val="150000"/>
              </a:lnSpc>
              <a:buFontTx/>
              <a:buAutoNum type="arabicPeriod"/>
            </a:pPr>
            <a:r>
              <a:rPr lang="en-US" dirty="0" smtClean="0">
                <a:latin typeface="Lucida Bright" panose="02040602050505020304" pitchFamily="18" charset="0"/>
              </a:rPr>
              <a:t>The kernel sets the corresponding file descriptor table entry to be unused. </a:t>
            </a:r>
            <a:endParaRPr lang="en-US" dirty="0" smtClean="0">
              <a:latin typeface="Lucida Bright" panose="02040602050505020304" pitchFamily="18" charset="0"/>
            </a:endParaRPr>
          </a:p>
          <a:p>
            <a:pPr marL="342900" indent="-342900">
              <a:lnSpc>
                <a:spcPct val="150000"/>
              </a:lnSpc>
              <a:buFontTx/>
              <a:buAutoNum type="arabicPeriod"/>
            </a:pPr>
            <a:r>
              <a:rPr lang="en-US" dirty="0" smtClean="0">
                <a:latin typeface="Lucida Bright" panose="02040602050505020304" pitchFamily="18" charset="0"/>
              </a:rPr>
              <a:t> It decrements the </a:t>
            </a:r>
            <a:r>
              <a:rPr lang="en-US" dirty="0" err="1" smtClean="0">
                <a:latin typeface="Lucida Bright" panose="02040602050505020304" pitchFamily="18" charset="0"/>
              </a:rPr>
              <a:t>rc</a:t>
            </a:r>
            <a:r>
              <a:rPr lang="en-US" dirty="0" smtClean="0">
                <a:latin typeface="Lucida Bright" panose="02040602050505020304" pitchFamily="18" charset="0"/>
              </a:rPr>
              <a:t> in the corresponding file table entry by 1, if </a:t>
            </a:r>
            <a:r>
              <a:rPr lang="en-US" dirty="0" err="1" smtClean="0">
                <a:latin typeface="Lucida Bright" panose="02040602050505020304" pitchFamily="18" charset="0"/>
              </a:rPr>
              <a:t>rc</a:t>
            </a:r>
            <a:r>
              <a:rPr lang="en-US" dirty="0" smtClean="0">
                <a:latin typeface="Lucida Bright" panose="02040602050505020304" pitchFamily="18" charset="0"/>
              </a:rPr>
              <a:t> not equal to 0 go to step 6.</a:t>
            </a:r>
            <a:endParaRPr lang="en-US" dirty="0" smtClean="0">
              <a:latin typeface="Lucida Bright" panose="02040602050505020304" pitchFamily="18" charset="0"/>
            </a:endParaRPr>
          </a:p>
          <a:p>
            <a:pPr marL="342900" indent="-342900">
              <a:lnSpc>
                <a:spcPct val="150000"/>
              </a:lnSpc>
              <a:buFontTx/>
              <a:buAutoNum type="arabicPeriod"/>
            </a:pPr>
            <a:r>
              <a:rPr lang="en-US" dirty="0" smtClean="0">
                <a:latin typeface="Lucida Bright" panose="02040602050505020304" pitchFamily="18" charset="0"/>
              </a:rPr>
              <a:t> The file table entry is marked as unused. </a:t>
            </a:r>
            <a:endParaRPr lang="en-US" dirty="0" smtClean="0">
              <a:latin typeface="Lucida Bright" panose="02040602050505020304" pitchFamily="18" charset="0"/>
            </a:endParaRPr>
          </a:p>
          <a:p>
            <a:pPr marL="342900" indent="-342900">
              <a:lnSpc>
                <a:spcPct val="150000"/>
              </a:lnSpc>
              <a:buFontTx/>
              <a:buAutoNum type="arabicPeriod"/>
            </a:pPr>
            <a:r>
              <a:rPr lang="en-US" dirty="0" smtClean="0">
                <a:latin typeface="Lucida Bright" panose="02040602050505020304" pitchFamily="18" charset="0"/>
              </a:rPr>
              <a:t>The </a:t>
            </a:r>
            <a:r>
              <a:rPr lang="en-US" dirty="0" err="1" smtClean="0">
                <a:latin typeface="Lucida Bright" panose="02040602050505020304" pitchFamily="18" charset="0"/>
              </a:rPr>
              <a:t>rc</a:t>
            </a:r>
            <a:r>
              <a:rPr lang="en-US" dirty="0" smtClean="0">
                <a:latin typeface="Lucida Bright" panose="02040602050505020304" pitchFamily="18" charset="0"/>
              </a:rPr>
              <a:t> in the corresponding file </a:t>
            </a:r>
            <a:r>
              <a:rPr lang="en-US" dirty="0" err="1" smtClean="0">
                <a:latin typeface="Lucida Bright" panose="02040602050505020304" pitchFamily="18" charset="0"/>
              </a:rPr>
              <a:t>inode</a:t>
            </a:r>
            <a:r>
              <a:rPr lang="en-US" dirty="0" smtClean="0">
                <a:latin typeface="Lucida Bright" panose="02040602050505020304" pitchFamily="18" charset="0"/>
              </a:rPr>
              <a:t> table entry is decremented by 1, if </a:t>
            </a:r>
            <a:r>
              <a:rPr lang="en-US" dirty="0" err="1" smtClean="0">
                <a:latin typeface="Lucida Bright" panose="02040602050505020304" pitchFamily="18" charset="0"/>
              </a:rPr>
              <a:t>rc</a:t>
            </a:r>
            <a:r>
              <a:rPr lang="en-US" dirty="0" smtClean="0">
                <a:latin typeface="Lucida Bright" panose="02040602050505020304" pitchFamily="18" charset="0"/>
              </a:rPr>
              <a:t> value not equal to 0 go to step 6</a:t>
            </a:r>
            <a:r>
              <a:rPr lang="en-US" smtClean="0">
                <a:latin typeface="Lucida Bright" panose="02040602050505020304" pitchFamily="18" charset="0"/>
              </a:rPr>
              <a:t>. </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t>System calls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1701748"/>
          </a:xfrm>
          <a:prstGeom prst="rect">
            <a:avLst/>
          </a:prstGeom>
          <a:noFill/>
          <a:ln w="9525">
            <a:noFill/>
            <a:miter lim="800000"/>
          </a:ln>
          <a:effectLst/>
        </p:spPr>
        <p:txBody>
          <a:bodyPr wrap="square" anchor="ctr">
            <a:spAutoFit/>
          </a:bodyPr>
          <a:lstStyle/>
          <a:p>
            <a:pPr marL="342900" indent="-342900">
              <a:lnSpc>
                <a:spcPct val="150000"/>
              </a:lnSpc>
            </a:pPr>
            <a:r>
              <a:rPr lang="en-US" dirty="0" smtClean="0">
                <a:latin typeface="Lucida Bright" panose="02040602050505020304" pitchFamily="18" charset="0"/>
              </a:rPr>
              <a:t>5. If the hard link count of the </a:t>
            </a:r>
            <a:r>
              <a:rPr lang="en-US" dirty="0" err="1" smtClean="0">
                <a:latin typeface="Lucida Bright" panose="02040602050505020304" pitchFamily="18" charset="0"/>
              </a:rPr>
              <a:t>inode</a:t>
            </a:r>
            <a:r>
              <a:rPr lang="en-US" dirty="0" smtClean="0">
                <a:latin typeface="Lucida Bright" panose="02040602050505020304" pitchFamily="18" charset="0"/>
              </a:rPr>
              <a:t> is not zero, it returns to the caller with a success status otherwise it marks the </a:t>
            </a:r>
            <a:r>
              <a:rPr lang="en-US" dirty="0" err="1" smtClean="0">
                <a:latin typeface="Lucida Bright" panose="02040602050505020304" pitchFamily="18" charset="0"/>
              </a:rPr>
              <a:t>inode</a:t>
            </a:r>
            <a:r>
              <a:rPr lang="en-US" dirty="0" smtClean="0">
                <a:latin typeface="Lucida Bright" panose="02040602050505020304" pitchFamily="18" charset="0"/>
              </a:rPr>
              <a:t> table entry as unused and de-allocates all the physical dusk storage of the file. </a:t>
            </a:r>
            <a:endParaRPr lang="en-US" dirty="0" smtClean="0">
              <a:latin typeface="Lucida Bright" panose="02040602050505020304" pitchFamily="18" charset="0"/>
            </a:endParaRPr>
          </a:p>
          <a:p>
            <a:pPr marL="342900" indent="-342900">
              <a:lnSpc>
                <a:spcPct val="150000"/>
              </a:lnSpc>
            </a:pPr>
            <a:r>
              <a:rPr lang="en-US" dirty="0" smtClean="0">
                <a:latin typeface="Lucida Bright" panose="02040602050505020304" pitchFamily="18" charset="0"/>
              </a:rPr>
              <a:t>6.  It returns to the process with a 0 (success) status. </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descriptors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5909310"/>
          </a:xfrm>
          <a:prstGeom prst="rect">
            <a:avLst/>
          </a:prstGeom>
          <a:noFill/>
          <a:ln w="9525">
            <a:noFill/>
            <a:miter lim="800000"/>
          </a:ln>
          <a:effectLst/>
        </p:spPr>
        <p:txBody>
          <a:bodyPr wrap="square" anchor="ctr">
            <a:spAutoFit/>
          </a:bodyPr>
          <a:lstStyle/>
          <a:p>
            <a:pPr>
              <a:lnSpc>
                <a:spcPct val="150000"/>
              </a:lnSpc>
            </a:pPr>
            <a:r>
              <a:rPr lang="en-US" dirty="0" smtClean="0">
                <a:latin typeface="Lucida Bright" panose="02040602050505020304" pitchFamily="18" charset="0"/>
              </a:rPr>
              <a:t>In computer programming, a </a:t>
            </a:r>
            <a:r>
              <a:rPr lang="en-US" b="1" dirty="0" smtClean="0">
                <a:latin typeface="Lucida Bright" panose="02040602050505020304" pitchFamily="18" charset="0"/>
              </a:rPr>
              <a:t>file descriptor</a:t>
            </a:r>
            <a:r>
              <a:rPr lang="en-US" dirty="0" smtClean="0">
                <a:latin typeface="Lucida Bright" panose="02040602050505020304" pitchFamily="18" charset="0"/>
              </a:rPr>
              <a:t> (FD) is an abstract indicator for accessing a </a:t>
            </a:r>
            <a:r>
              <a:rPr lang="en-US" dirty="0" smtClean="0">
                <a:latin typeface="Lucida Bright" panose="02040602050505020304" pitchFamily="18" charset="0"/>
                <a:hlinkClick r:id="rId1" tooltip="File (computing)"/>
              </a:rPr>
              <a:t>file</a:t>
            </a:r>
            <a:r>
              <a:rPr lang="en-US" dirty="0" smtClean="0">
                <a:latin typeface="Lucida Bright" panose="02040602050505020304" pitchFamily="18" charset="0"/>
              </a:rPr>
              <a:t>. The term is generally used in </a:t>
            </a:r>
            <a:r>
              <a:rPr lang="en-US" dirty="0" smtClean="0">
                <a:latin typeface="Lucida Bright" panose="02040602050505020304" pitchFamily="18" charset="0"/>
                <a:hlinkClick r:id="rId2" tooltip="POSIX"/>
              </a:rPr>
              <a:t>POSIX</a:t>
            </a:r>
            <a:r>
              <a:rPr lang="en-US" dirty="0" smtClean="0">
                <a:latin typeface="Lucida Bright" panose="02040602050505020304" pitchFamily="18" charset="0"/>
              </a:rPr>
              <a:t> </a:t>
            </a:r>
            <a:r>
              <a:rPr lang="en-US" dirty="0" smtClean="0">
                <a:latin typeface="Lucida Bright" panose="02040602050505020304" pitchFamily="18" charset="0"/>
                <a:hlinkClick r:id="rId3" tooltip="Operating system"/>
              </a:rPr>
              <a:t>operating systems</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 POSIX, a file descriptor is an integer, specifically of the </a:t>
            </a:r>
            <a:r>
              <a:rPr lang="en-US" dirty="0" smtClean="0">
                <a:latin typeface="Lucida Bright" panose="02040602050505020304" pitchFamily="18" charset="0"/>
                <a:hlinkClick r:id="rId4" tooltip="C (programming language)"/>
              </a:rPr>
              <a:t>C</a:t>
            </a:r>
            <a:r>
              <a:rPr lang="en-US" dirty="0" smtClean="0">
                <a:latin typeface="Lucida Bright" panose="02040602050505020304" pitchFamily="18" charset="0"/>
              </a:rPr>
              <a:t> type </a:t>
            </a:r>
            <a:r>
              <a:rPr lang="en-US" i="1" dirty="0" smtClean="0">
                <a:latin typeface="Lucida Bright" panose="02040602050505020304" pitchFamily="18" charset="0"/>
              </a:rPr>
              <a:t>int</a:t>
            </a:r>
            <a:r>
              <a:rPr lang="en-US" dirty="0" smtClean="0">
                <a:latin typeface="Lucida Bright" panose="02040602050505020304" pitchFamily="18" charset="0"/>
              </a:rPr>
              <a:t>. There are three standard POSIX file descriptors, corresponding to the three </a:t>
            </a:r>
            <a:r>
              <a:rPr lang="en-US" dirty="0" smtClean="0">
                <a:latin typeface="Lucida Bright" panose="02040602050505020304" pitchFamily="18" charset="0"/>
                <a:hlinkClick r:id="rId5" tooltip="Standard streams"/>
              </a:rPr>
              <a:t>standard streams</a:t>
            </a:r>
            <a:r>
              <a:rPr lang="en-US" dirty="0" smtClean="0">
                <a:latin typeface="Lucida Bright" panose="02040602050505020304" pitchFamily="18" charset="0"/>
              </a:rPr>
              <a:t>, which presumably every process (save perhaps a </a:t>
            </a:r>
            <a:r>
              <a:rPr lang="en-US" dirty="0" smtClean="0">
                <a:latin typeface="Lucida Bright" panose="02040602050505020304" pitchFamily="18" charset="0"/>
                <a:hlinkClick r:id="rId6" tooltip="Daemon (computer software)"/>
              </a:rPr>
              <a:t>daemon</a:t>
            </a:r>
            <a:r>
              <a:rPr lang="en-US" dirty="0" smtClean="0">
                <a:latin typeface="Lucida Bright" panose="02040602050505020304" pitchFamily="18" charset="0"/>
              </a:rPr>
              <a:t>) should expect to have: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Integer value	Name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0		Standard input (</a:t>
            </a:r>
            <a:r>
              <a:rPr lang="en-US" i="1" dirty="0" err="1" smtClean="0">
                <a:latin typeface="Lucida Bright" panose="02040602050505020304" pitchFamily="18" charset="0"/>
              </a:rPr>
              <a:t>stdin</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1                           Standard output (</a:t>
            </a:r>
            <a:r>
              <a:rPr lang="en-US" i="1" dirty="0" err="1" smtClean="0">
                <a:latin typeface="Lucida Bright" panose="02040602050505020304" pitchFamily="18" charset="0"/>
              </a:rPr>
              <a:t>stdout</a:t>
            </a:r>
            <a:r>
              <a:rPr lang="en-US" dirty="0" smtClean="0">
                <a:latin typeface="Lucida Bright" panose="02040602050505020304" pitchFamily="18" charset="0"/>
              </a:rPr>
              <a:t>)</a:t>
            </a:r>
            <a:endParaRPr lang="en-US" dirty="0" smtClean="0">
              <a:latin typeface="Lucida Bright" panose="02040602050505020304" pitchFamily="18" charset="0"/>
            </a:endParaRPr>
          </a:p>
          <a:p>
            <a:pPr marL="342900" indent="-342900">
              <a:lnSpc>
                <a:spcPct val="150000"/>
              </a:lnSpc>
              <a:buAutoNum type="arabicPlain" startAt="2"/>
            </a:pPr>
            <a:r>
              <a:rPr lang="en-US" dirty="0" smtClean="0">
                <a:latin typeface="Lucida Bright" panose="02040602050505020304" pitchFamily="18" charset="0"/>
              </a:rPr>
              <a:t>                       Standard error (</a:t>
            </a:r>
            <a:r>
              <a:rPr lang="en-US" i="1" dirty="0" err="1" smtClean="0">
                <a:latin typeface="Lucida Bright" panose="02040602050505020304" pitchFamily="18" charset="0"/>
              </a:rPr>
              <a:t>stderr</a:t>
            </a:r>
            <a:r>
              <a:rPr lang="en-US" dirty="0" smtClean="0">
                <a:latin typeface="Lucida Bright" panose="02040602050505020304" pitchFamily="18" charset="0"/>
              </a:rPr>
              <a:t>)</a:t>
            </a:r>
            <a:endParaRPr lang="en-US" dirty="0" smtClean="0">
              <a:latin typeface="Lucida Bright" panose="02040602050505020304" pitchFamily="18" charset="0"/>
            </a:endParaRPr>
          </a:p>
          <a:p>
            <a:pPr marL="342900" indent="-342900">
              <a:lnSpc>
                <a:spcPct val="150000"/>
              </a:lnSpc>
            </a:pPr>
            <a:r>
              <a:rPr lang="en-US" dirty="0" smtClean="0">
                <a:latin typeface="Lucida Bright" panose="02040602050505020304" pitchFamily="18" charset="0"/>
              </a:rPr>
              <a:t>Generally, a file descriptor is an index for an entry in a </a:t>
            </a:r>
            <a:r>
              <a:rPr lang="en-US" dirty="0" smtClean="0">
                <a:latin typeface="Lucida Bright" panose="02040602050505020304" pitchFamily="18" charset="0"/>
                <a:hlinkClick r:id="rId7" tooltip="Kernel (computer science)"/>
              </a:rPr>
              <a:t>kernel</a:t>
            </a:r>
            <a:r>
              <a:rPr lang="en-US" dirty="0" smtClean="0">
                <a:latin typeface="Lucida Bright" panose="02040602050505020304" pitchFamily="18" charset="0"/>
              </a:rPr>
              <a:t>-resident </a:t>
            </a:r>
            <a:r>
              <a:rPr lang="en-US" dirty="0" smtClean="0">
                <a:latin typeface="Lucida Bright" panose="02040602050505020304" pitchFamily="18" charset="0"/>
                <a:hlinkClick r:id="rId8" tooltip="Array data structure"/>
              </a:rPr>
              <a:t>array data structure</a:t>
            </a:r>
            <a:r>
              <a:rPr lang="en-US" dirty="0" smtClean="0">
                <a:latin typeface="Lucida Bright" panose="02040602050505020304" pitchFamily="18" charset="0"/>
              </a:rPr>
              <a:t> containing the details of open files. In POSIX this data structure is called a file descriptor table, and each </a:t>
            </a:r>
            <a:r>
              <a:rPr lang="en-US" dirty="0" smtClean="0">
                <a:latin typeface="Lucida Bright" panose="02040602050505020304" pitchFamily="18" charset="0"/>
                <a:hlinkClick r:id="rId9" tooltip="Process (computing)"/>
              </a:rPr>
              <a:t>process</a:t>
            </a:r>
            <a:r>
              <a:rPr lang="en-US" dirty="0" smtClean="0">
                <a:latin typeface="Lucida Bright" panose="02040602050505020304" pitchFamily="18" charset="0"/>
              </a:rPr>
              <a:t> has its own file descriptor table. The process passes the file descriptor to the kernel through</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Slide Number Placeholder 2"/>
          <p:cNvSpPr>
            <a:spLocks noGrp="1"/>
          </p:cNvSpPr>
          <p:nvPr>
            <p:ph type="sldNum" sz="quarter" idx="12"/>
          </p:nvPr>
        </p:nvSpPr>
        <p:spPr bwMode="auto">
          <a:ln>
            <a:miter lim="800000"/>
          </a:ln>
        </p:spPr>
        <p:txBody>
          <a:bodyPr wrap="square" numCol="1" anchorCtr="0" compatLnSpc="1"/>
          <a:lstStyle/>
          <a:p>
            <a:pPr>
              <a:defRPr/>
            </a:pPr>
            <a:fld id="{98590AC7-65D6-42E0-9BAD-1786EEF72F58}" type="slidenum">
              <a:rPr lang="en-US"/>
            </a:fld>
            <a:endParaRPr lang="en-US"/>
          </a:p>
        </p:txBody>
      </p:sp>
      <p:sp>
        <p:nvSpPr>
          <p:cNvPr id="1638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lnSpc>
                <a:spcPct val="150000"/>
              </a:lnSpc>
            </a:pPr>
            <a:endParaRPr lang="en-US" sz="4000" dirty="0" smtClean="0"/>
          </a:p>
          <a:p>
            <a:pPr algn="ctr">
              <a:lnSpc>
                <a:spcPct val="150000"/>
              </a:lnSpc>
            </a:pPr>
            <a:r>
              <a:rPr lang="en-US" sz="4000" dirty="0" smtClean="0">
                <a:solidFill>
                  <a:srgbClr val="000000"/>
                </a:solidFill>
                <a:latin typeface="Lucida Bright" panose="02040602050505020304" pitchFamily="18" charset="0"/>
                <a:cs typeface="Times New Roman" panose="02020603050405020304" pitchFamily="18" charset="0"/>
              </a:rPr>
              <a:t>File descriptors</a:t>
            </a:r>
            <a:endParaRPr lang="en-US" sz="4000" dirty="0" smtClean="0">
              <a:solidFill>
                <a:srgbClr val="000000"/>
              </a:solidFill>
              <a:latin typeface="Lucida Bright" panose="02040602050505020304" pitchFamily="18" charset="0"/>
              <a:cs typeface="Times New Roman" panose="02020603050405020304" pitchFamily="18" charset="0"/>
            </a:endParaRPr>
          </a:p>
          <a:p>
            <a:pPr algn="ctr">
              <a:lnSpc>
                <a:spcPct val="150000"/>
              </a:lnSpc>
            </a:pPr>
            <a:endParaRPr lang="en-US" sz="4000" b="1" dirty="0"/>
          </a:p>
        </p:txBody>
      </p:sp>
      <p:sp>
        <p:nvSpPr>
          <p:cNvPr id="16389"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Lucida Sans Unicode" panose="020B0602030504020204" pitchFamily="34" charset="0"/>
            </a:endParaRPr>
          </a:p>
        </p:txBody>
      </p:sp>
      <p:sp>
        <p:nvSpPr>
          <p:cNvPr id="501772" name="Rectangle 12"/>
          <p:cNvSpPr>
            <a:spLocks noChangeArrowheads="1"/>
          </p:cNvSpPr>
          <p:nvPr/>
        </p:nvSpPr>
        <p:spPr bwMode="auto">
          <a:xfrm>
            <a:off x="0" y="914400"/>
            <a:ext cx="9144000" cy="3831818"/>
          </a:xfrm>
          <a:prstGeom prst="rect">
            <a:avLst/>
          </a:prstGeom>
        </p:spPr>
        <p:style>
          <a:lnRef idx="2">
            <a:schemeClr val="dk1"/>
          </a:lnRef>
          <a:fillRef idx="1">
            <a:schemeClr val="lt1"/>
          </a:fillRef>
          <a:effectRef idx="0">
            <a:schemeClr val="dk1"/>
          </a:effectRef>
          <a:fontRef idx="minor">
            <a:schemeClr val="dk1"/>
          </a:fontRef>
        </p:style>
        <p:txBody>
          <a:bodyPr wrap="square" anchor="ctr">
            <a:spAutoFit/>
          </a:bodyPr>
          <a:lstStyle/>
          <a:p>
            <a:pPr>
              <a:lnSpc>
                <a:spcPct val="150000"/>
              </a:lnSpc>
            </a:pPr>
            <a:r>
              <a:rPr lang="en-US" dirty="0" smtClean="0">
                <a:latin typeface="Lucida Bright" panose="02040602050505020304" pitchFamily="18" charset="0"/>
              </a:rPr>
              <a:t>a </a:t>
            </a:r>
            <a:r>
              <a:rPr lang="en-US" dirty="0" smtClean="0">
                <a:latin typeface="Lucida Bright" panose="02040602050505020304" pitchFamily="18" charset="0"/>
                <a:hlinkClick r:id="rId1" tooltip="System call"/>
              </a:rPr>
              <a:t>system call</a:t>
            </a:r>
            <a:r>
              <a:rPr lang="en-US" dirty="0" smtClean="0">
                <a:latin typeface="Lucida Bright" panose="02040602050505020304" pitchFamily="18" charset="0"/>
              </a:rPr>
              <a:t>, and the kernel will access the file on behalf of the process. The process itself cannot read or write the file descriptor table directly.</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On </a:t>
            </a:r>
            <a:r>
              <a:rPr lang="en-US" dirty="0" smtClean="0">
                <a:latin typeface="Lucida Bright" panose="02040602050505020304" pitchFamily="18" charset="0"/>
                <a:hlinkClick r:id="rId2" tooltip="Linux"/>
              </a:rPr>
              <a:t>Linux</a:t>
            </a:r>
            <a:r>
              <a:rPr lang="en-US" dirty="0" smtClean="0">
                <a:latin typeface="Lucida Bright" panose="02040602050505020304" pitchFamily="18" charset="0"/>
              </a:rPr>
              <a:t>, the set of file descriptors open in a process can be accessed under the path /proc/PID/</a:t>
            </a:r>
            <a:r>
              <a:rPr lang="en-US" dirty="0" err="1" smtClean="0">
                <a:latin typeface="Lucida Bright" panose="02040602050505020304" pitchFamily="18" charset="0"/>
              </a:rPr>
              <a:t>fd</a:t>
            </a:r>
            <a:r>
              <a:rPr lang="en-US" dirty="0" smtClean="0">
                <a:latin typeface="Lucida Bright" panose="02040602050505020304" pitchFamily="18" charset="0"/>
              </a:rPr>
              <a:t>/, where PID is the </a:t>
            </a:r>
            <a:r>
              <a:rPr lang="en-US" dirty="0" smtClean="0">
                <a:latin typeface="Lucida Bright" panose="02040602050505020304" pitchFamily="18" charset="0"/>
                <a:hlinkClick r:id="rId3" tooltip="Process identifier"/>
              </a:rPr>
              <a:t>process identifier</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 </a:t>
            </a:r>
            <a:r>
              <a:rPr lang="en-US" dirty="0" smtClean="0">
                <a:latin typeface="Lucida Bright" panose="02040602050505020304" pitchFamily="18" charset="0"/>
                <a:hlinkClick r:id="rId4" tooltip="Unix-like"/>
              </a:rPr>
              <a:t>Unix-like</a:t>
            </a:r>
            <a:r>
              <a:rPr lang="en-US" dirty="0" smtClean="0">
                <a:latin typeface="Lucida Bright" panose="02040602050505020304" pitchFamily="18" charset="0"/>
              </a:rPr>
              <a:t> systems, file descriptors can refer to any </a:t>
            </a:r>
            <a:r>
              <a:rPr lang="en-US" dirty="0" smtClean="0">
                <a:latin typeface="Lucida Bright" panose="02040602050505020304" pitchFamily="18" charset="0"/>
                <a:hlinkClick r:id="rId5" tooltip="Unix file type"/>
              </a:rPr>
              <a:t>Unix file type</a:t>
            </a:r>
            <a:r>
              <a:rPr lang="en-US" dirty="0" smtClean="0">
                <a:latin typeface="Lucida Bright" panose="02040602050505020304" pitchFamily="18" charset="0"/>
              </a:rPr>
              <a:t> named in a file system. As well as regular files, this </a:t>
            </a:r>
            <a:r>
              <a:rPr lang="en-US" dirty="0" err="1" smtClean="0">
                <a:latin typeface="Lucida Bright" panose="02040602050505020304" pitchFamily="18" charset="0"/>
              </a:rPr>
              <a:t>includes</a:t>
            </a:r>
            <a:r>
              <a:rPr lang="en-US" dirty="0" err="1" smtClean="0">
                <a:latin typeface="Lucida Bright" panose="02040602050505020304" pitchFamily="18" charset="0"/>
                <a:hlinkClick r:id="rId6" tooltip="Directory (file systems)"/>
              </a:rPr>
              <a:t>directories</a:t>
            </a:r>
            <a:r>
              <a:rPr lang="en-US" dirty="0" smtClean="0">
                <a:latin typeface="Lucida Bright" panose="02040602050505020304" pitchFamily="18" charset="0"/>
              </a:rPr>
              <a:t>, </a:t>
            </a:r>
            <a:r>
              <a:rPr lang="en-US" dirty="0" smtClean="0">
                <a:latin typeface="Lucida Bright" panose="02040602050505020304" pitchFamily="18" charset="0"/>
                <a:hlinkClick r:id="rId7" tooltip="Block device"/>
              </a:rPr>
              <a:t>block</a:t>
            </a:r>
            <a:r>
              <a:rPr lang="en-US" dirty="0" smtClean="0">
                <a:latin typeface="Lucida Bright" panose="02040602050505020304" pitchFamily="18" charset="0"/>
              </a:rPr>
              <a:t> and </a:t>
            </a:r>
            <a:r>
              <a:rPr lang="en-US" dirty="0" smtClean="0">
                <a:latin typeface="Lucida Bright" panose="02040602050505020304" pitchFamily="18" charset="0"/>
                <a:hlinkClick r:id="rId8" tooltip="Character device"/>
              </a:rPr>
              <a:t>character devices</a:t>
            </a:r>
            <a:r>
              <a:rPr lang="en-US" dirty="0" smtClean="0">
                <a:latin typeface="Lucida Bright" panose="02040602050505020304" pitchFamily="18" charset="0"/>
              </a:rPr>
              <a:t> (also called "special files"), </a:t>
            </a:r>
            <a:r>
              <a:rPr lang="en-US" dirty="0" smtClean="0">
                <a:latin typeface="Lucida Bright" panose="02040602050505020304" pitchFamily="18" charset="0"/>
                <a:hlinkClick r:id="rId9" tooltip="Unix domain socket"/>
              </a:rPr>
              <a:t>Unix domain sockets</a:t>
            </a:r>
            <a:r>
              <a:rPr lang="en-US" dirty="0" smtClean="0">
                <a:latin typeface="Lucida Bright" panose="02040602050505020304" pitchFamily="18" charset="0"/>
              </a:rPr>
              <a:t>, and </a:t>
            </a:r>
            <a:r>
              <a:rPr lang="en-US" dirty="0" smtClean="0">
                <a:latin typeface="Lucida Bright" panose="02040602050505020304" pitchFamily="18" charset="0"/>
                <a:hlinkClick r:id="rId10" tooltip="Named pipe"/>
              </a:rPr>
              <a:t>named pipes</a:t>
            </a:r>
            <a:r>
              <a:rPr lang="en-US" dirty="0" smtClean="0">
                <a:latin typeface="Lucida Bright" panose="02040602050505020304" pitchFamily="18" charset="0"/>
              </a:rPr>
              <a:t>. File descriptors can also refer to other objects that do not normally exist in the file system, such as </a:t>
            </a:r>
            <a:r>
              <a:rPr lang="en-US" dirty="0" smtClean="0">
                <a:latin typeface="Lucida Bright" panose="02040602050505020304" pitchFamily="18" charset="0"/>
                <a:hlinkClick r:id="rId11" tooltip="Anonymous pipe"/>
              </a:rPr>
              <a:t>anonymous pipes</a:t>
            </a:r>
            <a:r>
              <a:rPr lang="en-US" dirty="0" smtClean="0">
                <a:latin typeface="Lucida Bright" panose="02040602050505020304" pitchFamily="18" charset="0"/>
              </a:rPr>
              <a:t> and </a:t>
            </a:r>
            <a:r>
              <a:rPr lang="en-US" dirty="0" smtClean="0">
                <a:latin typeface="Lucida Bright" panose="02040602050505020304" pitchFamily="18" charset="0"/>
                <a:hlinkClick r:id="rId12" tooltip="Network socket"/>
              </a:rPr>
              <a:t>network sockets</a:t>
            </a:r>
            <a:r>
              <a:rPr lang="en-US" dirty="0" smtClean="0">
                <a:latin typeface="Lucida Bright" panose="02040602050505020304" pitchFamily="18" charset="0"/>
              </a:rPr>
              <a:t>.</a:t>
            </a:r>
            <a:endParaRPr lang="en-US"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2"/>
          <p:cNvSpPr>
            <a:spLocks noGrp="1"/>
          </p:cNvSpPr>
          <p:nvPr>
            <p:ph type="sldNum" sz="quarter" idx="12"/>
          </p:nvPr>
        </p:nvSpPr>
        <p:spPr bwMode="auto">
          <a:ln>
            <a:miter lim="800000"/>
          </a:ln>
        </p:spPr>
        <p:txBody>
          <a:bodyPr wrap="square" numCol="1" anchorCtr="0" compatLnSpc="1"/>
          <a:lstStyle/>
          <a:p>
            <a:pPr>
              <a:defRPr/>
            </a:pPr>
            <a:fld id="{45A4B9EA-74AA-4EC0-9EF0-95E6FD309A57}" type="slidenum">
              <a:rPr lang="en-US"/>
            </a:fld>
            <a:endParaRPr lang="en-US"/>
          </a:p>
        </p:txBody>
      </p:sp>
      <p:sp>
        <p:nvSpPr>
          <p:cNvPr id="1741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17412" name="TextBox 10"/>
          <p:cNvSpPr txBox="1">
            <a:spLocks noChangeArrowheads="1"/>
          </p:cNvSpPr>
          <p:nvPr/>
        </p:nvSpPr>
        <p:spPr bwMode="auto">
          <a:xfrm>
            <a:off x="0" y="914400"/>
            <a:ext cx="8534400" cy="3831818"/>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UNIX system calls are used to manage the file system, control processes, and to provide inter process communication.</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Types of system calls in UNIX:</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1.Open  		    2.creat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3.read 			    4.write</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5.Close  		    6.lseek</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7.stat   	 		    8.fstat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9.ioctl 			    10.umask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11 .dup and dup2 	    12.fcntl</a:t>
            </a:r>
            <a:endParaRPr lang="en-US" dirty="0" smtClean="0">
              <a:latin typeface="Lucida Bright" panose="02040602050505020304" pitchFamily="18" charset="0"/>
            </a:endParaRPr>
          </a:p>
        </p:txBody>
      </p:sp>
      <p:sp>
        <p:nvSpPr>
          <p:cNvPr id="1741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p>
          <a:p>
            <a:pPr algn="ctr"/>
            <a:r>
              <a:rPr lang="en-US" sz="4000" b="1" dirty="0" smtClean="0"/>
              <a:t>Low –level file access</a:t>
            </a:r>
            <a:endParaRPr lang="en-US" sz="4000" dirty="0" smtClean="0">
              <a:latin typeface="Lucida Bright" panose="02040602050505020304" pitchFamily="18" charset="0"/>
            </a:endParaRPr>
          </a:p>
          <a:p>
            <a:pPr algn="ctr"/>
            <a:r>
              <a:rPr lang="en-US" sz="4000" b="1" dirty="0" smtClean="0"/>
              <a:t> </a:t>
            </a:r>
            <a:endParaRPr lang="en-US" sz="4000"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p:cNvCxnSpPr/>
          <p:nvPr/>
        </p:nvCxnSpPr>
        <p:spPr>
          <a:xfrm rot="5400000">
            <a:off x="2667794" y="403780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6286501" y="4533900"/>
            <a:ext cx="2286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18436"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18437" name="Rectangle 34"/>
          <p:cNvSpPr>
            <a:spLocks noChangeArrowheads="1"/>
          </p:cNvSpPr>
          <p:nvPr/>
        </p:nvSpPr>
        <p:spPr bwMode="auto">
          <a:xfrm>
            <a:off x="0" y="838200"/>
            <a:ext cx="8915400" cy="8817799"/>
          </a:xfrm>
          <a:prstGeom prst="rect">
            <a:avLst/>
          </a:prstGeom>
          <a:noFill/>
          <a:ln w="9525">
            <a:noFill/>
            <a:miter lim="800000"/>
          </a:ln>
        </p:spPr>
        <p:txBody>
          <a:bodyPr wrap="square">
            <a:spAutoFit/>
          </a:bodyPr>
          <a:lstStyle/>
          <a:p>
            <a:pPr>
              <a:lnSpc>
                <a:spcPct val="150000"/>
              </a:lnSpc>
              <a:buFontTx/>
              <a:buNone/>
            </a:pPr>
            <a:r>
              <a:rPr lang="en-US" b="1" dirty="0" smtClean="0">
                <a:latin typeface="Lucida Bright" panose="02040602050505020304" pitchFamily="18" charset="0"/>
              </a:rPr>
              <a:t>open function:</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This is used to establish a connection between a process and a file i.e. it is used to open an existing file for data transfer function or else it may be also be used to create a new file.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prototype of open function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#include&lt;sys/</a:t>
            </a:r>
            <a:r>
              <a:rPr lang="en-US" dirty="0" err="1" smtClean="0">
                <a:latin typeface="Lucida Bright" panose="02040602050505020304" pitchFamily="18" charset="0"/>
              </a:rPr>
              <a:t>types.h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#include&lt;sys/</a:t>
            </a:r>
            <a:r>
              <a:rPr lang="en-US" dirty="0" err="1" smtClean="0">
                <a:latin typeface="Lucida Bright" panose="02040602050505020304" pitchFamily="18" charset="0"/>
              </a:rPr>
              <a:t>fcntl.h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b="1" i="1" dirty="0" smtClean="0">
                <a:latin typeface="Lucida Bright" panose="02040602050505020304" pitchFamily="18" charset="0"/>
              </a:rPr>
              <a:t>open(const char *pathname, </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accessmode</a:t>
            </a:r>
            <a:r>
              <a:rPr lang="en-US" b="1" i="1" dirty="0" smtClean="0">
                <a:latin typeface="Lucida Bright" panose="02040602050505020304" pitchFamily="18" charset="0"/>
              </a:rPr>
              <a:t>, </a:t>
            </a:r>
            <a:r>
              <a:rPr lang="en-US" b="1" i="1" dirty="0" err="1" smtClean="0">
                <a:latin typeface="Lucida Bright" panose="02040602050505020304" pitchFamily="18" charset="0"/>
              </a:rPr>
              <a:t>mode_t</a:t>
            </a:r>
            <a:r>
              <a:rPr lang="en-US" b="1" i="1" dirty="0" smtClean="0">
                <a:latin typeface="Lucida Bright" panose="02040602050505020304" pitchFamily="18" charset="0"/>
              </a:rPr>
              <a:t> permission); </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If successful, open returns a nonnegative integer representing the open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unsuccessful, open returns –1.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is the name of the file to be created or opened. This may be an 	absolute pathname or relative pathname. </a:t>
            </a:r>
            <a:endParaRPr lang="en-US" dirty="0" smtClean="0">
              <a:latin typeface="Lucida Bright" panose="02040602050505020304" pitchFamily="18" charset="0"/>
            </a:endParaRPr>
          </a:p>
          <a:p>
            <a:pPr>
              <a:lnSpc>
                <a:spcPct val="150000"/>
              </a:lnSpc>
              <a:buFont typeface="Arial" panose="020B0604020202020204" pitchFamily="34" charset="0"/>
              <a:buChar char="•"/>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br>
              <a:rPr lang="fr-FR" dirty="0" smtClean="0">
                <a:latin typeface="Lucida Bright" panose="02040602050505020304" pitchFamily="18" charset="0"/>
              </a:rPr>
            </a:br>
            <a:endParaRPr lang="en-US" dirty="0" smtClean="0">
              <a:latin typeface="Lucida Bright" panose="02040602050505020304" pitchFamily="18" charset="0"/>
            </a:endParaRPr>
          </a:p>
        </p:txBody>
      </p:sp>
      <p:sp>
        <p:nvSpPr>
          <p:cNvPr id="33" name="Slide Number Placeholder 32"/>
          <p:cNvSpPr>
            <a:spLocks noGrp="1"/>
          </p:cNvSpPr>
          <p:nvPr>
            <p:ph type="sldNum" sz="quarter" idx="12"/>
          </p:nvPr>
        </p:nvSpPr>
        <p:spPr/>
        <p:txBody>
          <a:bodyPr/>
          <a:lstStyle/>
          <a:p>
            <a:pPr>
              <a:defRPr/>
            </a:pPr>
            <a:fld id="{5886A101-92F2-497D-99A2-696F08C55836}" type="slidenum">
              <a:rPr lang="en-US" smtClean="0"/>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19459" name="Content Placeholder 56"/>
          <p:cNvSpPr>
            <a:spLocks noGrp="1"/>
          </p:cNvSpPr>
          <p:nvPr>
            <p:ph sz="quarter" idx="3"/>
          </p:nvPr>
        </p:nvSpPr>
        <p:spPr>
          <a:xfrm>
            <a:off x="0" y="914400"/>
            <a:ext cx="8991600" cy="5791200"/>
          </a:xfrm>
        </p:spPr>
        <p:txBody>
          <a:bodyPr/>
          <a:lstStyle/>
          <a:p>
            <a:pPr>
              <a:lnSpc>
                <a:spcPct val="150000"/>
              </a:lnSpc>
              <a:buFont typeface="Arial" panose="020B0604020202020204" pitchFamily="34" charset="0"/>
              <a:buChar char="•"/>
            </a:pPr>
            <a:r>
              <a:rPr lang="en-US" sz="1800" dirty="0" smtClean="0">
                <a:latin typeface="Lucida Bright" panose="02040602050505020304" pitchFamily="18" charset="0"/>
              </a:rPr>
              <a:t> If the given pathname is symbolic link, the open function will resolve the symbolic link reference to a non symbolic link file to which it refers. </a:t>
            </a:r>
            <a:endParaRPr lang="en-US" sz="1800" dirty="0" smtClean="0">
              <a:latin typeface="Lucida Bright" panose="02040602050505020304" pitchFamily="18" charset="0"/>
            </a:endParaRPr>
          </a:p>
          <a:p>
            <a:pPr>
              <a:lnSpc>
                <a:spcPct val="150000"/>
              </a:lnSpc>
              <a:buFont typeface="Arial" panose="020B0604020202020204" pitchFamily="34" charset="0"/>
              <a:buChar char="•"/>
            </a:pPr>
            <a:r>
              <a:rPr lang="en-US" sz="1800" dirty="0" smtClean="0">
                <a:latin typeface="Lucida Bright" panose="02040602050505020304" pitchFamily="18" charset="0"/>
              </a:rPr>
              <a:t> The second argument is access modes, which is an integer value that specifies how  actually the file should be accessed by the calling process. </a:t>
            </a:r>
            <a:endParaRPr lang="en-US" sz="1800" dirty="0" smtClean="0">
              <a:latin typeface="Lucida Bright" panose="02040602050505020304" pitchFamily="18" charset="0"/>
            </a:endParaRPr>
          </a:p>
          <a:p>
            <a:pPr>
              <a:lnSpc>
                <a:spcPct val="150000"/>
              </a:lnSpc>
              <a:buFont typeface="Arial" panose="020B0604020202020204" pitchFamily="34" charset="0"/>
              <a:buChar char="•"/>
            </a:pPr>
            <a:r>
              <a:rPr lang="en-US" sz="1800" dirty="0" smtClean="0">
                <a:latin typeface="Lucida Bright" panose="02040602050505020304" pitchFamily="18" charset="0"/>
              </a:rPr>
              <a:t> Generally the access modes are specified in &lt;</a:t>
            </a:r>
            <a:r>
              <a:rPr lang="en-US" sz="1800" dirty="0" err="1" smtClean="0">
                <a:latin typeface="Lucida Bright" panose="02040602050505020304" pitchFamily="18" charset="0"/>
              </a:rPr>
              <a:t>fcntl.h</a:t>
            </a:r>
            <a:r>
              <a:rPr lang="en-US" sz="1800" dirty="0" smtClean="0">
                <a:latin typeface="Lucida Bright" panose="02040602050505020304" pitchFamily="18" charset="0"/>
              </a:rPr>
              <a:t>&gt;. Various access modes are: </a:t>
            </a:r>
            <a:endParaRPr lang="en-US" sz="1800" dirty="0" smtClean="0">
              <a:latin typeface="Lucida Bright" panose="02040602050505020304" pitchFamily="18" charset="0"/>
            </a:endParaRPr>
          </a:p>
          <a:p>
            <a:pPr>
              <a:lnSpc>
                <a:spcPct val="150000"/>
              </a:lnSpc>
              <a:buFont typeface="Arial" panose="020B0604020202020204" pitchFamily="34" charset="0"/>
              <a:buChar char="•"/>
            </a:pPr>
            <a:r>
              <a:rPr lang="en-US" sz="1800" b="1" dirty="0" smtClean="0">
                <a:latin typeface="Lucida Bright" panose="02040602050505020304" pitchFamily="18" charset="0"/>
              </a:rPr>
              <a:t>O_RDONLY - open for reading file only </a:t>
            </a:r>
            <a:endParaRPr lang="en-US" sz="1800" b="1" dirty="0" smtClean="0">
              <a:latin typeface="Lucida Bright" panose="02040602050505020304" pitchFamily="18" charset="0"/>
            </a:endParaRPr>
          </a:p>
          <a:p>
            <a:pPr>
              <a:lnSpc>
                <a:spcPct val="150000"/>
              </a:lnSpc>
              <a:buFont typeface="Arial" panose="020B0604020202020204" pitchFamily="34" charset="0"/>
              <a:buChar char="•"/>
            </a:pPr>
            <a:r>
              <a:rPr lang="en-US" sz="1800" b="1" dirty="0" smtClean="0">
                <a:latin typeface="Lucida Bright" panose="02040602050505020304" pitchFamily="18" charset="0"/>
              </a:rPr>
              <a:t>O_WRONLY - open for writing file only</a:t>
            </a:r>
            <a:endParaRPr lang="en-US" sz="1800" b="1" dirty="0" smtClean="0">
              <a:latin typeface="Lucida Bright" panose="02040602050505020304" pitchFamily="18" charset="0"/>
            </a:endParaRPr>
          </a:p>
          <a:p>
            <a:pPr>
              <a:lnSpc>
                <a:spcPct val="150000"/>
              </a:lnSpc>
              <a:buFont typeface="Arial" panose="020B0604020202020204" pitchFamily="34" charset="0"/>
              <a:buChar char="•"/>
            </a:pPr>
            <a:r>
              <a:rPr lang="en-US" sz="1800" b="1" dirty="0" smtClean="0">
                <a:latin typeface="Lucida Bright" panose="02040602050505020304" pitchFamily="18" charset="0"/>
              </a:rPr>
              <a:t> O_RDWR - opens for reading and writing file. </a:t>
            </a:r>
            <a:endParaRPr lang="en-US" sz="1800" b="1" dirty="0" smtClean="0">
              <a:latin typeface="Lucida Bright" panose="02040602050505020304" pitchFamily="18" charset="0"/>
            </a:endParaRPr>
          </a:p>
          <a:p>
            <a:pPr>
              <a:lnSpc>
                <a:spcPct val="150000"/>
              </a:lnSpc>
              <a:buFont typeface="Arial" panose="020B0604020202020204" pitchFamily="34" charset="0"/>
              <a:buChar char="•"/>
            </a:pPr>
            <a:r>
              <a:rPr lang="en-US" sz="1800" dirty="0" smtClean="0">
                <a:latin typeface="Lucida Bright" panose="02040602050505020304" pitchFamily="18" charset="0"/>
              </a:rPr>
              <a:t>There are other access modes, which are termed as access modifier flags, and one or more of the following can be specified by bitwise-</a:t>
            </a:r>
            <a:r>
              <a:rPr lang="en-US" sz="1800" dirty="0" err="1" smtClean="0">
                <a:latin typeface="Lucida Bright" panose="02040602050505020304" pitchFamily="18" charset="0"/>
              </a:rPr>
              <a:t>ORing</a:t>
            </a:r>
            <a:r>
              <a:rPr lang="en-US" sz="1800" dirty="0" smtClean="0">
                <a:latin typeface="Lucida Bright" panose="02040602050505020304" pitchFamily="18" charset="0"/>
              </a:rPr>
              <a:t> them with one of the above access mode flags to alter the access mechanism of the file. </a:t>
            </a:r>
            <a:endParaRPr lang="en-US" sz="1800"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2"/>
          <p:cNvSpPr>
            <a:spLocks noGrp="1"/>
          </p:cNvSpPr>
          <p:nvPr>
            <p:ph type="sldNum" sz="quarter" idx="12"/>
          </p:nvPr>
        </p:nvSpPr>
        <p:spPr bwMode="auto">
          <a:noFill/>
          <a:ln>
            <a:miter lim="800000"/>
          </a:ln>
        </p:spPr>
        <p:txBody>
          <a:bodyPr wrap="square" numCol="1" anchorCtr="0" compatLnSpc="1"/>
          <a:lstStyle/>
          <a:p>
            <a:fld id="{6D9B7A3C-AC74-44FD-ABA0-6BAFBD06BAB4}" type="slidenum">
              <a:rPr lang="en-US" b="1" smtClean="0">
                <a:solidFill>
                  <a:schemeClr val="tx1"/>
                </a:solidFill>
                <a:latin typeface="Times New Roman" panose="02020603050405020304" pitchFamily="18" charset="0"/>
                <a:cs typeface="Times New Roman" panose="02020603050405020304" pitchFamily="18" charset="0"/>
              </a:rPr>
            </a:fld>
            <a:endParaRPr lang="en-US" b="1" smtClean="0">
              <a:solidFill>
                <a:schemeClr val="tx1"/>
              </a:solidFill>
              <a:latin typeface="Times New Roman" panose="02020603050405020304" pitchFamily="18" charset="0"/>
              <a:cs typeface="Times New Roman" panose="02020603050405020304" pitchFamily="18" charset="0"/>
            </a:endParaRPr>
          </a:p>
        </p:txBody>
      </p:sp>
      <p:sp>
        <p:nvSpPr>
          <p:cNvPr id="20483"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20485"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Times New Roman" panose="02020603050405020304" pitchFamily="18" charset="0"/>
              <a:cs typeface="Times New Roman" panose="02020603050405020304" pitchFamily="18" charset="0"/>
            </a:endParaRPr>
          </a:p>
        </p:txBody>
      </p:sp>
      <p:sp>
        <p:nvSpPr>
          <p:cNvPr id="592901" name="Rectangle 5"/>
          <p:cNvSpPr>
            <a:spLocks noChangeArrowheads="1"/>
          </p:cNvSpPr>
          <p:nvPr/>
        </p:nvSpPr>
        <p:spPr bwMode="auto">
          <a:xfrm>
            <a:off x="0" y="1066800"/>
            <a:ext cx="8686800" cy="5078313"/>
          </a:xfrm>
          <a:prstGeom prst="rect">
            <a:avLst/>
          </a:prstGeom>
          <a:noFill/>
          <a:ln w="9525">
            <a:noFill/>
            <a:miter lim="800000"/>
          </a:ln>
          <a:effectLst/>
        </p:spPr>
        <p:txBody>
          <a:bodyPr wrap="square" anchor="ctr">
            <a:spAutoFit/>
          </a:bodyPr>
          <a:lstStyle/>
          <a:p>
            <a:pPr>
              <a:lnSpc>
                <a:spcPct val="150000"/>
              </a:lnSpc>
              <a:buFontTx/>
              <a:buNone/>
            </a:pPr>
            <a:r>
              <a:rPr lang="en-US" dirty="0" smtClean="0">
                <a:latin typeface="Lucida Bright" panose="02040602050505020304" pitchFamily="18" charset="0"/>
              </a:rPr>
              <a:t>O_APPEND - Append data to the end of file.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O_CREAT - Create the file if it doesn’t exist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O_EXCL - Generate an error if O_CREAT is also specified and the file already exists.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O_TRUNC - If file exists discard the file content and set the file size to zero bytes.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O_NONBLOCK - Specify subsequent read or write on the file should be non-blocking.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O_NOCTTY - Specify not to use terminal device file as the calling process control terminal. </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2"/>
          <p:cNvSpPr>
            <a:spLocks noGrp="1"/>
          </p:cNvSpPr>
          <p:nvPr>
            <p:ph type="sldNum" sz="quarter" idx="12"/>
          </p:nvPr>
        </p:nvSpPr>
        <p:spPr bwMode="auto">
          <a:noFill/>
          <a:ln>
            <a:miter lim="800000"/>
          </a:ln>
        </p:spPr>
        <p:txBody>
          <a:bodyPr wrap="square" numCol="1" anchorCtr="0" compatLnSpc="1"/>
          <a:lstStyle/>
          <a:p>
            <a:fld id="{6D9B7A3C-AC74-44FD-ABA0-6BAFBD06BAB4}" type="slidenum">
              <a:rPr lang="en-US" b="1" smtClean="0">
                <a:solidFill>
                  <a:schemeClr val="tx1"/>
                </a:solidFill>
                <a:latin typeface="Times New Roman" panose="02020603050405020304" pitchFamily="18" charset="0"/>
                <a:cs typeface="Times New Roman" panose="02020603050405020304" pitchFamily="18" charset="0"/>
              </a:rPr>
            </a:fld>
            <a:endParaRPr lang="en-US" b="1" smtClean="0">
              <a:solidFill>
                <a:schemeClr val="tx1"/>
              </a:solidFill>
              <a:latin typeface="Times New Roman" panose="02020603050405020304" pitchFamily="18" charset="0"/>
              <a:cs typeface="Times New Roman" panose="02020603050405020304" pitchFamily="18" charset="0"/>
            </a:endParaRPr>
          </a:p>
        </p:txBody>
      </p:sp>
      <p:sp>
        <p:nvSpPr>
          <p:cNvPr id="20483"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20485"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Times New Roman" panose="02020603050405020304" pitchFamily="18" charset="0"/>
              <a:cs typeface="Times New Roman" panose="02020603050405020304" pitchFamily="18" charset="0"/>
            </a:endParaRPr>
          </a:p>
        </p:txBody>
      </p:sp>
      <p:sp>
        <p:nvSpPr>
          <p:cNvPr id="592901" name="Rectangle 5"/>
          <p:cNvSpPr>
            <a:spLocks noChangeArrowheads="1"/>
          </p:cNvSpPr>
          <p:nvPr/>
        </p:nvSpPr>
        <p:spPr bwMode="auto">
          <a:xfrm>
            <a:off x="0" y="1066800"/>
            <a:ext cx="8686800" cy="5078313"/>
          </a:xfrm>
          <a:prstGeom prst="rect">
            <a:avLst/>
          </a:prstGeom>
          <a:noFill/>
          <a:ln w="9525">
            <a:noFill/>
            <a:miter lim="800000"/>
          </a:ln>
          <a:effectLst/>
        </p:spPr>
        <p:txBody>
          <a:bodyPr wrap="square" anchor="ctr">
            <a:spAutoFit/>
          </a:bodyPr>
          <a:lstStyle/>
          <a:p>
            <a:pPr>
              <a:lnSpc>
                <a:spcPct val="150000"/>
              </a:lnSpc>
              <a:buFontTx/>
              <a:buNone/>
            </a:pPr>
            <a:r>
              <a:rPr lang="en-US" b="1" dirty="0" smtClean="0">
                <a:latin typeface="Lucida Bright" panose="02040602050505020304" pitchFamily="18" charset="0"/>
              </a:rPr>
              <a:t> </a:t>
            </a:r>
            <a:r>
              <a:rPr lang="en-US" b="1" dirty="0" err="1" smtClean="0">
                <a:latin typeface="Lucida Bright" panose="02040602050505020304" pitchFamily="18" charset="0"/>
              </a:rPr>
              <a:t>creat</a:t>
            </a:r>
            <a:r>
              <a:rPr lang="en-US" b="1" dirty="0" smtClean="0">
                <a:latin typeface="Lucida Bright" panose="02040602050505020304" pitchFamily="18" charset="0"/>
              </a:rPr>
              <a:t> Function</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prototype of </a:t>
            </a:r>
            <a:r>
              <a:rPr lang="en-US" dirty="0" err="1" smtClean="0">
                <a:latin typeface="Lucida Bright" panose="02040602050505020304" pitchFamily="18" charset="0"/>
              </a:rPr>
              <a:t>creat</a:t>
            </a:r>
            <a:r>
              <a:rPr lang="en-US" dirty="0" smtClean="0">
                <a:latin typeface="Lucida Bright" panose="02040602050505020304" pitchFamily="18" charset="0"/>
              </a:rPr>
              <a:t>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 &lt;sys/</a:t>
            </a:r>
            <a:r>
              <a:rPr lang="en-US" dirty="0" err="1" smtClean="0">
                <a:latin typeface="Lucida Bright" panose="02040602050505020304" pitchFamily="18" charset="0"/>
              </a:rPr>
              <a:t>types.h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b="1" i="1" dirty="0" err="1" smtClean="0">
                <a:latin typeface="Lucida Bright" panose="02040602050505020304" pitchFamily="18" charset="0"/>
              </a:rPr>
              <a:t>creat</a:t>
            </a:r>
            <a:r>
              <a:rPr lang="en-US" b="1" i="1" dirty="0" smtClean="0">
                <a:latin typeface="Lucida Bright" panose="02040602050505020304" pitchFamily="18" charset="0"/>
              </a:rPr>
              <a:t>(const char *pathname, </a:t>
            </a:r>
            <a:r>
              <a:rPr lang="en-US" b="1" i="1" dirty="0" err="1" smtClean="0">
                <a:latin typeface="Lucida Bright" panose="02040602050505020304" pitchFamily="18" charset="0"/>
              </a:rPr>
              <a:t>mode_t</a:t>
            </a:r>
            <a:r>
              <a:rPr lang="en-US" b="1" i="1" dirty="0" smtClean="0">
                <a:latin typeface="Lucida Bright" panose="02040602050505020304" pitchFamily="18" charset="0"/>
              </a:rPr>
              <a:t> mode);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Returns: file descriptor opened for write-only if OK, -1 on error.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pathname specifies name of the file to be created.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second argument </a:t>
            </a:r>
            <a:r>
              <a:rPr lang="en-US" dirty="0" err="1" smtClean="0">
                <a:latin typeface="Lucida Bright" panose="02040602050505020304" pitchFamily="18" charset="0"/>
              </a:rPr>
              <a:t>mode_t</a:t>
            </a:r>
            <a:r>
              <a:rPr lang="en-US" dirty="0" smtClean="0">
                <a:latin typeface="Lucida Bright" panose="02040602050505020304" pitchFamily="18" charset="0"/>
              </a:rPr>
              <a:t>, specifies permission of a file to be accessed    	by owner group and others.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creat</a:t>
            </a:r>
            <a:r>
              <a:rPr lang="en-US" dirty="0" smtClean="0">
                <a:latin typeface="Lucida Bright" panose="02040602050505020304" pitchFamily="18" charset="0"/>
              </a:rPr>
              <a:t> function can be implemented using open function as: </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#define </a:t>
            </a:r>
            <a:r>
              <a:rPr lang="en-US" b="1" dirty="0" err="1" smtClean="0">
                <a:latin typeface="Lucida Bright" panose="02040602050505020304" pitchFamily="18" charset="0"/>
              </a:rPr>
              <a:t>creat</a:t>
            </a:r>
            <a:r>
              <a:rPr lang="en-US" b="1" dirty="0" smtClean="0">
                <a:latin typeface="Lucida Bright" panose="02040602050505020304" pitchFamily="18" charset="0"/>
              </a:rPr>
              <a:t>(</a:t>
            </a:r>
            <a:r>
              <a:rPr lang="en-US" b="1" dirty="0" err="1" smtClean="0">
                <a:latin typeface="Lucida Bright" panose="02040602050505020304" pitchFamily="18" charset="0"/>
              </a:rPr>
              <a:t>path_name</a:t>
            </a:r>
            <a:r>
              <a:rPr lang="en-US" b="1" dirty="0" smtClean="0">
                <a:latin typeface="Lucida Bright" panose="02040602050505020304" pitchFamily="18" charset="0"/>
              </a:rPr>
              <a:t>, mode)</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open (pathname, O_WRONLY | O_CREAT | O_TRUNC, mode); </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2"/>
          <p:cNvSpPr>
            <a:spLocks noGrp="1"/>
          </p:cNvSpPr>
          <p:nvPr>
            <p:ph type="sldNum" sz="quarter" idx="12"/>
          </p:nvPr>
        </p:nvSpPr>
        <p:spPr bwMode="auto">
          <a:noFill/>
          <a:ln>
            <a:miter lim="800000"/>
          </a:ln>
        </p:spPr>
        <p:txBody>
          <a:bodyPr wrap="square" numCol="1" anchorCtr="0" compatLnSpc="1"/>
          <a:lstStyle/>
          <a:p>
            <a:fld id="{6D9B7A3C-AC74-44FD-ABA0-6BAFBD06BAB4}" type="slidenum">
              <a:rPr lang="en-US" b="1" smtClean="0">
                <a:solidFill>
                  <a:schemeClr val="tx1"/>
                </a:solidFill>
                <a:latin typeface="Times New Roman" panose="02020603050405020304" pitchFamily="18" charset="0"/>
                <a:cs typeface="Times New Roman" panose="02020603050405020304" pitchFamily="18" charset="0"/>
              </a:rPr>
            </a:fld>
            <a:endParaRPr lang="en-US" b="1" smtClean="0">
              <a:solidFill>
                <a:schemeClr val="tx1"/>
              </a:solidFill>
              <a:latin typeface="Times New Roman" panose="02020603050405020304" pitchFamily="18" charset="0"/>
              <a:cs typeface="Times New Roman" panose="02020603050405020304" pitchFamily="18" charset="0"/>
            </a:endParaRPr>
          </a:p>
        </p:txBody>
      </p:sp>
      <p:sp>
        <p:nvSpPr>
          <p:cNvPr id="20483"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20485"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Times New Roman" panose="02020603050405020304" pitchFamily="18" charset="0"/>
              <a:cs typeface="Times New Roman" panose="02020603050405020304" pitchFamily="18" charset="0"/>
            </a:endParaRPr>
          </a:p>
        </p:txBody>
      </p:sp>
      <p:sp>
        <p:nvSpPr>
          <p:cNvPr id="592901" name="Rectangle 5"/>
          <p:cNvSpPr>
            <a:spLocks noChangeArrowheads="1"/>
          </p:cNvSpPr>
          <p:nvPr/>
        </p:nvSpPr>
        <p:spPr bwMode="auto">
          <a:xfrm>
            <a:off x="0" y="779145"/>
            <a:ext cx="9144000" cy="6819900"/>
          </a:xfrm>
          <a:prstGeom prst="rect">
            <a:avLst/>
          </a:prstGeom>
          <a:noFill/>
          <a:ln w="9525">
            <a:noFill/>
            <a:miter lim="800000"/>
          </a:ln>
          <a:effectLst/>
        </p:spPr>
        <p:txBody>
          <a:bodyPr wrap="square" anchor="ctr">
            <a:noAutofit/>
          </a:bodyPr>
          <a:lstStyle/>
          <a:p>
            <a:pPr>
              <a:lnSpc>
                <a:spcPct val="150000"/>
              </a:lnSpc>
            </a:pPr>
            <a:r>
              <a:rPr lang="en-US" b="1" dirty="0" smtClean="0">
                <a:latin typeface="Lucida Bright" panose="02040602050505020304" pitchFamily="18" charset="0"/>
              </a:rPr>
              <a:t>read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read function fetches a fixed size of block of data from a file referenced by a given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prototype of read function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#include&lt;sys/</a:t>
            </a:r>
            <a:r>
              <a:rPr lang="en-US" dirty="0" err="1" smtClean="0">
                <a:latin typeface="Lucida Bright" panose="02040602050505020304" pitchFamily="18" charset="0"/>
              </a:rPr>
              <a:t>types.h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size_t</a:t>
            </a:r>
            <a:r>
              <a:rPr lang="en-US" dirty="0" smtClean="0">
                <a:latin typeface="Lucida Bright" panose="02040602050505020304" pitchFamily="18" charset="0"/>
              </a:rPr>
              <a:t> </a:t>
            </a:r>
            <a:r>
              <a:rPr lang="en-US" b="1" i="1" dirty="0" smtClean="0">
                <a:latin typeface="Lucida Bright" panose="02040602050505020304" pitchFamily="18" charset="0"/>
              </a:rPr>
              <a:t>read(</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void *</a:t>
            </a:r>
            <a:r>
              <a:rPr lang="en-US" b="1" i="1" dirty="0" err="1" smtClean="0">
                <a:latin typeface="Lucida Bright" panose="02040602050505020304" pitchFamily="18" charset="0"/>
              </a:rPr>
              <a:t>buf</a:t>
            </a:r>
            <a:r>
              <a:rPr lang="en-US" b="1" i="1" dirty="0" smtClean="0">
                <a:latin typeface="Lucida Bright" panose="02040602050505020304" pitchFamily="18" charset="0"/>
              </a:rPr>
              <a:t>, </a:t>
            </a:r>
            <a:r>
              <a:rPr lang="en-US" b="1" i="1" dirty="0" err="1" smtClean="0">
                <a:latin typeface="Lucida Bright" panose="02040602050505020304" pitchFamily="18" charset="0"/>
              </a:rPr>
              <a:t>size_t</a:t>
            </a:r>
            <a:r>
              <a:rPr lang="en-US" b="1" i="1" dirty="0" smtClean="0">
                <a:latin typeface="Lucida Bright" panose="02040602050505020304" pitchFamily="18" charset="0"/>
              </a:rPr>
              <a:t> </a:t>
            </a:r>
            <a:r>
              <a:rPr lang="en-US" b="1" i="1" dirty="0" err="1" smtClean="0">
                <a:latin typeface="Lucida Bright" panose="02040602050505020304" pitchFamily="18" charset="0"/>
              </a:rPr>
              <a:t>nbyte</a:t>
            </a:r>
            <a:r>
              <a:rPr lang="en-US" b="1" i="1" dirty="0" smtClean="0">
                <a:latin typeface="Lucida Bright" panose="02040602050505020304" pitchFamily="18" charset="0"/>
              </a:rPr>
              <a:t>);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successful, read returns the number of bytes actually read.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unsuccessful, read returns –1.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is an integer, </a:t>
            </a:r>
            <a:r>
              <a:rPr lang="en-US" dirty="0" err="1" smtClean="0">
                <a:latin typeface="Lucida Bright" panose="02040602050505020304" pitchFamily="18" charset="0"/>
              </a:rPr>
              <a:t>fdesc</a:t>
            </a:r>
            <a:r>
              <a:rPr lang="en-US" dirty="0" smtClean="0">
                <a:latin typeface="Lucida Bright" panose="02040602050505020304" pitchFamily="18" charset="0"/>
              </a:rPr>
              <a:t> that refers to an opened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second argument, </a:t>
            </a:r>
            <a:r>
              <a:rPr lang="en-US" dirty="0" err="1" smtClean="0">
                <a:latin typeface="Lucida Bright" panose="02040602050505020304" pitchFamily="18" charset="0"/>
              </a:rPr>
              <a:t>buf</a:t>
            </a:r>
            <a:r>
              <a:rPr lang="en-US" dirty="0" smtClean="0">
                <a:latin typeface="Lucida Bright" panose="02040602050505020304" pitchFamily="18" charset="0"/>
              </a:rPr>
              <a:t> is the address of a buffer holding any data read.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third argument specifies how many bytes of data are to be read from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size_t</a:t>
            </a:r>
            <a:r>
              <a:rPr lang="en-US" dirty="0" smtClean="0">
                <a:latin typeface="Lucida Bright" panose="02040602050505020304" pitchFamily="18" charset="0"/>
              </a:rPr>
              <a:t> data type is defined in the &lt;sys/</a:t>
            </a:r>
            <a:r>
              <a:rPr lang="en-US" dirty="0" err="1" smtClean="0">
                <a:latin typeface="Lucida Bright" panose="02040602050505020304" pitchFamily="18" charset="0"/>
              </a:rPr>
              <a:t>types.h</a:t>
            </a:r>
            <a:r>
              <a:rPr lang="en-US" dirty="0" smtClean="0">
                <a:latin typeface="Lucida Bright" panose="02040602050505020304" pitchFamily="18" charset="0"/>
              </a:rPr>
              <a:t>&gt; header and should be the same as unsigned int.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Slide Number Placeholder 2"/>
          <p:cNvSpPr>
            <a:spLocks noGrp="1"/>
          </p:cNvSpPr>
          <p:nvPr>
            <p:ph type="sldNum" sz="quarter" idx="12"/>
          </p:nvPr>
        </p:nvSpPr>
        <p:spPr bwMode="auto">
          <a:noFill/>
          <a:ln>
            <a:miter lim="800000"/>
          </a:ln>
        </p:spPr>
        <p:txBody>
          <a:bodyPr wrap="square" numCol="1" anchorCtr="0" compatLnSpc="1"/>
          <a:lstStyle/>
          <a:p>
            <a:fld id="{6D9B7A3C-AC74-44FD-ABA0-6BAFBD06BAB4}" type="slidenum">
              <a:rPr lang="en-US" b="1" smtClean="0">
                <a:solidFill>
                  <a:schemeClr val="tx1"/>
                </a:solidFill>
                <a:latin typeface="Times New Roman" panose="02020603050405020304" pitchFamily="18" charset="0"/>
                <a:cs typeface="Times New Roman" panose="02020603050405020304" pitchFamily="18" charset="0"/>
              </a:rPr>
            </a:fld>
            <a:endParaRPr lang="en-US" b="1" smtClean="0">
              <a:solidFill>
                <a:schemeClr val="tx1"/>
              </a:solidFill>
              <a:latin typeface="Times New Roman" panose="02020603050405020304" pitchFamily="18" charset="0"/>
              <a:cs typeface="Times New Roman" panose="02020603050405020304" pitchFamily="18" charset="0"/>
            </a:endParaRPr>
          </a:p>
        </p:txBody>
      </p:sp>
      <p:sp>
        <p:nvSpPr>
          <p:cNvPr id="20483" name="Rectangle 2"/>
          <p:cNvSpPr>
            <a:spLocks noChangeArrowheads="1"/>
          </p:cNvSpPr>
          <p:nvPr/>
        </p:nvSpPr>
        <p:spPr bwMode="auto">
          <a:xfrm>
            <a:off x="0" y="0"/>
            <a:ext cx="9144000" cy="9906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20485" name="Text Box 4"/>
          <p:cNvSpPr txBox="1">
            <a:spLocks noChangeArrowheads="1"/>
          </p:cNvSpPr>
          <p:nvPr/>
        </p:nvSpPr>
        <p:spPr bwMode="auto">
          <a:xfrm>
            <a:off x="8229600" y="6400800"/>
            <a:ext cx="184150" cy="366713"/>
          </a:xfrm>
          <a:prstGeom prst="rect">
            <a:avLst/>
          </a:prstGeom>
          <a:noFill/>
          <a:ln w="9525">
            <a:noFill/>
            <a:miter lim="800000"/>
          </a:ln>
        </p:spPr>
        <p:txBody>
          <a:bodyPr wrap="none">
            <a:spAutoFit/>
          </a:bodyPr>
          <a:lstStyle/>
          <a:p>
            <a:endParaRPr lang="en-US">
              <a:latin typeface="Times New Roman" panose="02020603050405020304" pitchFamily="18" charset="0"/>
              <a:cs typeface="Times New Roman" panose="02020603050405020304" pitchFamily="18" charset="0"/>
            </a:endParaRPr>
          </a:p>
        </p:txBody>
      </p:sp>
      <p:sp>
        <p:nvSpPr>
          <p:cNvPr id="592901" name="Rectangle 5"/>
          <p:cNvSpPr>
            <a:spLocks noChangeArrowheads="1"/>
          </p:cNvSpPr>
          <p:nvPr/>
        </p:nvSpPr>
        <p:spPr bwMode="auto">
          <a:xfrm>
            <a:off x="0" y="1066800"/>
            <a:ext cx="9144000" cy="5078313"/>
          </a:xfrm>
          <a:prstGeom prst="rect">
            <a:avLst/>
          </a:prstGeom>
          <a:noFill/>
          <a:ln w="9525">
            <a:noFill/>
            <a:miter lim="800000"/>
          </a:ln>
          <a:effectLst/>
        </p:spPr>
        <p:txBody>
          <a:bodyPr wrap="square" anchor="ctr">
            <a:spAutoFit/>
          </a:bodyPr>
          <a:lstStyle/>
          <a:p>
            <a:pPr>
              <a:lnSpc>
                <a:spcPct val="150000"/>
              </a:lnSpc>
              <a:buFont typeface="Arial" panose="020B0604020202020204" pitchFamily="34" charset="0"/>
              <a:buChar char="•"/>
            </a:pPr>
            <a:r>
              <a:rPr lang="en-US" dirty="0" smtClean="0">
                <a:latin typeface="Lucida Bright" panose="02040602050505020304" pitchFamily="18" charset="0"/>
              </a:rPr>
              <a:t>There are several cases in which the number of bytes actually read is less than the amount requested: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When reading from a regular file, if the end of file is reached before the requested number of bytes has been read. For example, if 30 bytes remain until the end of file and we try to read 100 bytes, read returns 30. The next time we call read, it will return 0 (end of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When reading from a terminal device. Normally, up to one line is read at a time.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When reading from a network. Buffering within the network may cause less than the requested amount to be returned.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When reading from a pipe or FIFO. If the pipe contains fewer bytes than requested, read will return only what is available. </a:t>
            </a: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2"/>
          <p:cNvSpPr>
            <a:spLocks noGrp="1"/>
          </p:cNvSpPr>
          <p:nvPr>
            <p:ph type="sldNum" sz="quarter" idx="12"/>
          </p:nvPr>
        </p:nvSpPr>
        <p:spPr bwMode="auto">
          <a:ln>
            <a:miter lim="800000"/>
          </a:ln>
        </p:spPr>
        <p:txBody>
          <a:bodyPr wrap="square" numCol="1" anchorCtr="0" compatLnSpc="1"/>
          <a:lstStyle/>
          <a:p>
            <a:pPr>
              <a:defRPr/>
            </a:pPr>
            <a:fld id="{811F9539-F367-436F-924F-39341600C9BD}" type="slidenum">
              <a:rPr lang="en-US"/>
            </a:fld>
            <a:endParaRPr lang="en-US"/>
          </a:p>
        </p:txBody>
      </p:sp>
      <p:sp>
        <p:nvSpPr>
          <p:cNvPr id="21507"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
        <p:nvSpPr>
          <p:cNvPr id="21508" name="TextBox 4"/>
          <p:cNvSpPr txBox="1">
            <a:spLocks noChangeArrowheads="1"/>
          </p:cNvSpPr>
          <p:nvPr/>
        </p:nvSpPr>
        <p:spPr bwMode="auto">
          <a:xfrm>
            <a:off x="228600" y="990600"/>
            <a:ext cx="8458200" cy="369888"/>
          </a:xfrm>
          <a:prstGeom prst="rect">
            <a:avLst/>
          </a:prstGeom>
          <a:noFill/>
          <a:ln w="9525">
            <a:noFill/>
            <a:miter lim="800000"/>
          </a:ln>
        </p:spPr>
        <p:txBody>
          <a:bodyPr>
            <a:spAutoFit/>
          </a:bodyPr>
          <a:lstStyle/>
          <a:p>
            <a:endParaRPr lang="en-US"/>
          </a:p>
        </p:txBody>
      </p:sp>
      <p:sp>
        <p:nvSpPr>
          <p:cNvPr id="7" name="Rectangle 6"/>
          <p:cNvSpPr/>
          <p:nvPr/>
        </p:nvSpPr>
        <p:spPr>
          <a:xfrm>
            <a:off x="0" y="762000"/>
            <a:ext cx="8915400" cy="7985760"/>
          </a:xfrm>
          <a:prstGeom prst="rect">
            <a:avLst/>
          </a:prstGeom>
        </p:spPr>
        <p:txBody>
          <a:bodyPr wrap="square">
            <a:spAutoFit/>
          </a:bodyPr>
          <a:lstStyle/>
          <a:p>
            <a:pPr>
              <a:lnSpc>
                <a:spcPct val="150000"/>
              </a:lnSpc>
            </a:pPr>
            <a:r>
              <a:rPr lang="en-US" b="1" dirty="0" smtClean="0">
                <a:latin typeface="Lucida Bright" panose="02040602050505020304" pitchFamily="18" charset="0"/>
              </a:rPr>
              <a:t>write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write system call is used to write data into a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write function puts data to a file in the form of fixed block size referred by a given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The prototype of write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#include&lt;sys/</a:t>
            </a:r>
            <a:r>
              <a:rPr lang="en-US" dirty="0" err="1" smtClean="0">
                <a:latin typeface="Lucida Bright" panose="02040602050505020304" pitchFamily="18" charset="0"/>
              </a:rPr>
              <a:t>types.h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ssize_t</a:t>
            </a:r>
            <a:r>
              <a:rPr lang="en-US" dirty="0" smtClean="0">
                <a:latin typeface="Lucida Bright" panose="02040602050505020304" pitchFamily="18" charset="0"/>
              </a:rPr>
              <a:t> </a:t>
            </a:r>
            <a:r>
              <a:rPr lang="en-US" b="1" i="1" dirty="0" smtClean="0">
                <a:latin typeface="Lucida Bright" panose="02040602050505020304" pitchFamily="18" charset="0"/>
              </a:rPr>
              <a:t>write(</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const void *</a:t>
            </a:r>
            <a:r>
              <a:rPr lang="en-US" b="1" i="1" dirty="0" err="1" smtClean="0">
                <a:latin typeface="Lucida Bright" panose="02040602050505020304" pitchFamily="18" charset="0"/>
              </a:rPr>
              <a:t>buf</a:t>
            </a:r>
            <a:r>
              <a:rPr lang="en-US" b="1" i="1" dirty="0" smtClean="0">
                <a:latin typeface="Lucida Bright" panose="02040602050505020304" pitchFamily="18" charset="0"/>
              </a:rPr>
              <a:t>, </a:t>
            </a:r>
            <a:r>
              <a:rPr lang="en-US" b="1" i="1" dirty="0" err="1" smtClean="0">
                <a:latin typeface="Lucida Bright" panose="02040602050505020304" pitchFamily="18" charset="0"/>
              </a:rPr>
              <a:t>size_t</a:t>
            </a:r>
            <a:r>
              <a:rPr lang="en-US" b="1" i="1" dirty="0" smtClean="0">
                <a:latin typeface="Lucida Bright" panose="02040602050505020304" pitchFamily="18" charset="0"/>
              </a:rPr>
              <a:t> size);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successful, write returns the number of bytes actually written.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unsuccessful, write returns –1.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a:t>
            </a:r>
            <a:r>
              <a:rPr lang="en-US" dirty="0" err="1" smtClean="0">
                <a:latin typeface="Lucida Bright" panose="02040602050505020304" pitchFamily="18" charset="0"/>
              </a:rPr>
              <a:t>fdesc</a:t>
            </a:r>
            <a:r>
              <a:rPr lang="en-US" dirty="0" smtClean="0">
                <a:latin typeface="Lucida Bright" panose="02040602050505020304" pitchFamily="18" charset="0"/>
              </a:rPr>
              <a:t> is an integer that refers to an opened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second argument, </a:t>
            </a:r>
            <a:r>
              <a:rPr lang="en-US" dirty="0" err="1" smtClean="0">
                <a:latin typeface="Lucida Bright" panose="02040602050505020304" pitchFamily="18" charset="0"/>
              </a:rPr>
              <a:t>buf</a:t>
            </a:r>
            <a:r>
              <a:rPr lang="en-US" dirty="0" smtClean="0">
                <a:latin typeface="Lucida Bright" panose="02040602050505020304" pitchFamily="18" charset="0"/>
              </a:rPr>
              <a:t> is the address of a buffer that contains data to be written.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third argument, size specifies how many bytes of data are in the </a:t>
            </a:r>
            <a:r>
              <a:rPr lang="en-US" dirty="0" err="1" smtClean="0">
                <a:latin typeface="Lucida Bright" panose="02040602050505020304" pitchFamily="18" charset="0"/>
              </a:rPr>
              <a:t>buf</a:t>
            </a:r>
            <a:r>
              <a:rPr lang="en-US" dirty="0" smtClean="0">
                <a:latin typeface="Lucida Bright" panose="02040602050505020304" pitchFamily="18" charset="0"/>
              </a:rPr>
              <a:t> argument.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return value is usually equal to the number of bytes of data successfully written 	to a file. (</a:t>
            </a:r>
            <a:r>
              <a:rPr lang="en-US" i="1" dirty="0" smtClean="0">
                <a:latin typeface="Lucida Bright" panose="02040602050505020304" pitchFamily="18" charset="0"/>
              </a:rPr>
              <a:t>size value) </a:t>
            </a:r>
            <a:endParaRPr lang="en-US" i="1"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fld>
            <a:endParaRPr lang="en-US"/>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0" y="914400"/>
            <a:ext cx="8915400" cy="6323965"/>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close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close system call is used to terminate the connection to a file from a process.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prototype of the close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int </a:t>
            </a:r>
            <a:r>
              <a:rPr lang="en-US" b="1" i="1" dirty="0" smtClean="0">
                <a:latin typeface="Lucida Bright" panose="02040602050505020304" pitchFamily="18" charset="0"/>
              </a:rPr>
              <a:t>close(int </a:t>
            </a:r>
            <a:r>
              <a:rPr lang="en-US" b="1" i="1" dirty="0" err="1" smtClean="0">
                <a:latin typeface="Lucida Bright" panose="02040602050505020304" pitchFamily="18" charset="0"/>
              </a:rPr>
              <a:t>fdesc</a:t>
            </a:r>
            <a:r>
              <a:rPr lang="en-US" b="1" i="1" dirty="0" smtClean="0">
                <a:latin typeface="Lucida Bright" panose="02040602050505020304" pitchFamily="18" charset="0"/>
              </a:rPr>
              <a:t>);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If successful, close returns 0. If unsuccessful, close returns –1.</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argument </a:t>
            </a:r>
            <a:r>
              <a:rPr lang="en-US" dirty="0" err="1" smtClean="0">
                <a:latin typeface="Lucida Bright" panose="02040602050505020304" pitchFamily="18" charset="0"/>
              </a:rPr>
              <a:t>fdesc</a:t>
            </a:r>
            <a:r>
              <a:rPr lang="en-US" dirty="0" smtClean="0">
                <a:latin typeface="Lucida Bright" panose="02040602050505020304" pitchFamily="18" charset="0"/>
              </a:rPr>
              <a:t> refers to an opened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Close function frees the unused file descriptors so that they can be reused to reference other files. This is important because a process may open up to OPEN_MAX files at any time and the close function allows a process to reuse file descriptors to access more than OPEN_MAX files in the course of its execution.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close function de-allocates system resources like file table entry and memory buffer allocated to hold the read/write.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fld>
            <a:endParaRPr lang="en-US"/>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0" y="838200"/>
            <a:ext cx="8915400" cy="4247317"/>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fcntl</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fcntl</a:t>
            </a:r>
            <a:r>
              <a:rPr lang="en-US" dirty="0" smtClean="0">
                <a:latin typeface="Lucida Bright" panose="02040602050505020304" pitchFamily="18" charset="0"/>
              </a:rPr>
              <a:t> function helps a user to query or set flags and the close-on-exec flag of any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prototype of </a:t>
            </a:r>
            <a:r>
              <a:rPr lang="en-US" dirty="0" err="1" smtClean="0">
                <a:latin typeface="Lucida Bright" panose="02040602050505020304" pitchFamily="18" charset="0"/>
              </a:rPr>
              <a:t>fcntl</a:t>
            </a:r>
            <a:r>
              <a:rPr lang="en-US" dirty="0" smtClean="0">
                <a:latin typeface="Lucida Bright" panose="02040602050505020304" pitchFamily="18" charset="0"/>
              </a:rPr>
              <a:t>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#include&lt;</a:t>
            </a:r>
            <a:r>
              <a:rPr lang="en-US" dirty="0" err="1" smtClean="0">
                <a:latin typeface="Lucida Bright" panose="02040602050505020304" pitchFamily="18" charset="0"/>
              </a:rPr>
              <a:t>fcntl.h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b="1" i="1" dirty="0" err="1" smtClean="0">
                <a:latin typeface="Lucida Bright" panose="02040602050505020304" pitchFamily="18" charset="0"/>
              </a:rPr>
              <a:t>fcntl</a:t>
            </a:r>
            <a:r>
              <a:rPr lang="en-US" b="1" i="1" dirty="0" smtClean="0">
                <a:latin typeface="Lucida Bright" panose="02040602050505020304" pitchFamily="18" charset="0"/>
              </a:rPr>
              <a:t>(</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cmd</a:t>
            </a:r>
            <a:r>
              <a:rPr lang="en-US" b="1" i="1" dirty="0" smtClean="0">
                <a:latin typeface="Lucida Bright" panose="02040602050505020304" pitchFamily="18" charset="0"/>
              </a:rPr>
              <a:t>, …);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is the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second argument </a:t>
            </a:r>
            <a:r>
              <a:rPr lang="en-US" dirty="0" err="1" smtClean="0">
                <a:latin typeface="Lucida Bright" panose="02040602050505020304" pitchFamily="18" charset="0"/>
              </a:rPr>
              <a:t>cmd</a:t>
            </a:r>
            <a:r>
              <a:rPr lang="en-US" dirty="0" smtClean="0">
                <a:latin typeface="Lucida Bright" panose="02040602050505020304" pitchFamily="18" charset="0"/>
              </a:rPr>
              <a:t> specifies what operation has to be performed.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third argument is dependent on the actual </a:t>
            </a:r>
            <a:r>
              <a:rPr lang="en-US" dirty="0" err="1" smtClean="0">
                <a:latin typeface="Lucida Bright" panose="02040602050505020304" pitchFamily="18" charset="0"/>
              </a:rPr>
              <a:t>cmd</a:t>
            </a:r>
            <a:r>
              <a:rPr lang="en-US" dirty="0" smtClean="0">
                <a:latin typeface="Lucida Bright" panose="02040602050505020304" pitchFamily="18" charset="0"/>
              </a:rPr>
              <a:t> value.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possible </a:t>
            </a:r>
            <a:r>
              <a:rPr lang="en-US" dirty="0" err="1" smtClean="0">
                <a:latin typeface="Lucida Bright" panose="02040602050505020304" pitchFamily="18" charset="0"/>
              </a:rPr>
              <a:t>cmd</a:t>
            </a:r>
            <a:r>
              <a:rPr lang="en-US" dirty="0" smtClean="0">
                <a:latin typeface="Lucida Bright" panose="02040602050505020304" pitchFamily="18" charset="0"/>
              </a:rPr>
              <a:t> values are defined in &lt;</a:t>
            </a:r>
            <a:r>
              <a:rPr lang="en-US" dirty="0" err="1" smtClean="0">
                <a:latin typeface="Lucida Bright" panose="02040602050505020304" pitchFamily="18" charset="0"/>
              </a:rPr>
              <a:t>fcntl.h</a:t>
            </a:r>
            <a:r>
              <a:rPr lang="en-US" dirty="0" smtClean="0">
                <a:latin typeface="Lucida Bright" panose="02040602050505020304" pitchFamily="18" charset="0"/>
              </a:rPr>
              <a:t>&gt; header.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fld>
            <a:endParaRPr lang="en-US"/>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0" y="838200"/>
            <a:ext cx="8915400" cy="6324808"/>
          </a:xfrm>
          <a:prstGeom prst="rect">
            <a:avLst/>
          </a:prstGeom>
          <a:noFill/>
          <a:ln w="9525">
            <a:noFill/>
            <a:miter lim="800000"/>
          </a:ln>
        </p:spPr>
        <p:txBody>
          <a:bodyPr wrap="square">
            <a:spAutoFit/>
          </a:bodyPr>
          <a:lstStyle/>
          <a:p>
            <a:pPr>
              <a:lnSpc>
                <a:spcPct val="150000"/>
              </a:lnSpc>
            </a:pPr>
            <a:r>
              <a:rPr lang="en-US" dirty="0" err="1" smtClean="0">
                <a:latin typeface="Lucida Bright" panose="02040602050505020304" pitchFamily="18" charset="0"/>
              </a:rPr>
              <a:t>cmd</a:t>
            </a:r>
            <a:r>
              <a:rPr lang="en-US" dirty="0" smtClean="0">
                <a:latin typeface="Lucida Bright" panose="02040602050505020304" pitchFamily="18" charset="0"/>
              </a:rPr>
              <a:t> value 	Use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F_GETFL 	Returns the access control flags of a file descriptor </a:t>
            </a:r>
            <a:r>
              <a:rPr lang="en-US" dirty="0" err="1" smtClean="0">
                <a:latin typeface="Lucida Bright" panose="02040602050505020304" pitchFamily="18" charset="0"/>
              </a:rPr>
              <a:t>fdesc</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F_SETFL 	Sets or clears access control flags that are specified in the 		third argument to </a:t>
            </a:r>
            <a:r>
              <a:rPr lang="en-US" dirty="0" err="1" smtClean="0">
                <a:latin typeface="Lucida Bright" panose="02040602050505020304" pitchFamily="18" charset="0"/>
              </a:rPr>
              <a:t>fcntl</a:t>
            </a:r>
            <a:r>
              <a:rPr lang="en-US" dirty="0" smtClean="0">
                <a:latin typeface="Lucida Bright" panose="02040602050505020304" pitchFamily="18" charset="0"/>
              </a:rPr>
              <a:t>. The allowed access control flags are 		O_APPEND &amp; O_NONBLOCK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F_GETFD 	Returns the close-on-exec flag of a file referenced by </a:t>
            </a:r>
            <a:r>
              <a:rPr lang="en-US" dirty="0" err="1" smtClean="0">
                <a:latin typeface="Lucida Bright" panose="02040602050505020304" pitchFamily="18" charset="0"/>
              </a:rPr>
              <a:t>fdesc</a:t>
            </a:r>
            <a:r>
              <a:rPr lang="en-US" dirty="0" smtClean="0">
                <a:latin typeface="Lucida Bright" panose="02040602050505020304" pitchFamily="18" charset="0"/>
              </a:rPr>
              <a:t>. If 		a return value is zero, the flag is off; otherwise on.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F_SETFD 	Sets or clears the close-on-exec flag of a </a:t>
            </a:r>
            <a:r>
              <a:rPr lang="en-US" dirty="0" err="1" smtClean="0">
                <a:latin typeface="Lucida Bright" panose="02040602050505020304" pitchFamily="18" charset="0"/>
              </a:rPr>
              <a:t>fdesc</a:t>
            </a:r>
            <a:r>
              <a:rPr lang="en-US" dirty="0" smtClean="0">
                <a:latin typeface="Lucida Bright" panose="02040602050505020304" pitchFamily="18" charset="0"/>
              </a:rPr>
              <a:t>. The third 			argument to </a:t>
            </a:r>
            <a:r>
              <a:rPr lang="en-US" dirty="0" err="1" smtClean="0">
                <a:latin typeface="Lucida Bright" panose="02040602050505020304" pitchFamily="18" charset="0"/>
              </a:rPr>
              <a:t>fcntl</a:t>
            </a:r>
            <a:r>
              <a:rPr lang="en-US" dirty="0" smtClean="0">
                <a:latin typeface="Lucida Bright" panose="02040602050505020304" pitchFamily="18" charset="0"/>
              </a:rPr>
              <a:t> is an integer value, which is 0 to clear the 		flag, or 1 to set the flag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F_DUPFD 	Duplicates file descriptor </a:t>
            </a:r>
            <a:r>
              <a:rPr lang="en-US" dirty="0" err="1" smtClean="0">
                <a:latin typeface="Lucida Bright" panose="02040602050505020304" pitchFamily="18" charset="0"/>
              </a:rPr>
              <a:t>fdesc</a:t>
            </a:r>
            <a:r>
              <a:rPr lang="en-US" dirty="0" smtClean="0">
                <a:latin typeface="Lucida Bright" panose="02040602050505020304" pitchFamily="18" charset="0"/>
              </a:rPr>
              <a:t> with another file descriptor. 		The third argument to </a:t>
            </a:r>
            <a:r>
              <a:rPr lang="en-US" dirty="0" err="1" smtClean="0">
                <a:latin typeface="Lucida Bright" panose="02040602050505020304" pitchFamily="18" charset="0"/>
              </a:rPr>
              <a:t>fcntl</a:t>
            </a:r>
            <a:r>
              <a:rPr lang="en-US" dirty="0" smtClean="0">
                <a:latin typeface="Lucida Bright" panose="02040602050505020304" pitchFamily="18" charset="0"/>
              </a:rPr>
              <a:t> is an integer value which 			specifies that the duplicated file descriptor must be greater 		than or equal to that value. The return value of </a:t>
            </a:r>
            <a:r>
              <a:rPr lang="en-US" dirty="0" err="1" smtClean="0">
                <a:latin typeface="Lucida Bright" panose="02040602050505020304" pitchFamily="18" charset="0"/>
              </a:rPr>
              <a:t>fcntl</a:t>
            </a:r>
            <a:r>
              <a:rPr lang="en-US" dirty="0" smtClean="0">
                <a:latin typeface="Lucida Bright" panose="02040602050505020304" pitchFamily="18" charset="0"/>
              </a:rPr>
              <a:t> is the 		duplicated file descriptor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fld>
            <a:endParaRPr lang="en-US"/>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0" y="914400"/>
            <a:ext cx="9144000" cy="5909310"/>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lseek</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lseek</a:t>
            </a:r>
            <a:r>
              <a:rPr lang="en-US" dirty="0" smtClean="0">
                <a:latin typeface="Lucida Bright" panose="02040602050505020304" pitchFamily="18" charset="0"/>
              </a:rPr>
              <a:t> function is also used to change the file offset to a different value.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Thus </a:t>
            </a:r>
            <a:r>
              <a:rPr lang="en-US" dirty="0" err="1" smtClean="0">
                <a:latin typeface="Lucida Bright" panose="02040602050505020304" pitchFamily="18" charset="0"/>
              </a:rPr>
              <a:t>lseek</a:t>
            </a:r>
            <a:r>
              <a:rPr lang="en-US" dirty="0" smtClean="0">
                <a:latin typeface="Lucida Bright" panose="02040602050505020304" pitchFamily="18" charset="0"/>
              </a:rPr>
              <a:t> allows a process to perform random access of data on any opened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prototype of </a:t>
            </a:r>
            <a:r>
              <a:rPr lang="en-US" dirty="0" err="1" smtClean="0">
                <a:latin typeface="Lucida Bright" panose="02040602050505020304" pitchFamily="18" charset="0"/>
              </a:rPr>
              <a:t>lseek</a:t>
            </a:r>
            <a:r>
              <a:rPr lang="en-US" dirty="0" smtClean="0">
                <a:latin typeface="Lucida Bright" panose="02040602050505020304" pitchFamily="18" charset="0"/>
              </a:rPr>
              <a:t> is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 &lt;sys/</a:t>
            </a:r>
            <a:r>
              <a:rPr lang="en-US" dirty="0" err="1" smtClean="0">
                <a:latin typeface="Lucida Bright" panose="02040602050505020304" pitchFamily="18" charset="0"/>
              </a:rPr>
              <a:t>types.h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 &lt;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off_t</a:t>
            </a:r>
            <a:r>
              <a:rPr lang="en-US" dirty="0" smtClean="0">
                <a:latin typeface="Lucida Bright" panose="02040602050505020304" pitchFamily="18" charset="0"/>
              </a:rPr>
              <a:t> </a:t>
            </a:r>
            <a:r>
              <a:rPr lang="en-US" b="1" i="1" dirty="0" err="1" smtClean="0">
                <a:latin typeface="Lucida Bright" panose="02040602050505020304" pitchFamily="18" charset="0"/>
              </a:rPr>
              <a:t>lseek</a:t>
            </a:r>
            <a:r>
              <a:rPr lang="en-US" b="1" i="1" dirty="0" smtClean="0">
                <a:latin typeface="Lucida Bright" panose="02040602050505020304" pitchFamily="18" charset="0"/>
              </a:rPr>
              <a:t>(</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a:t>
            </a:r>
            <a:r>
              <a:rPr lang="en-US" b="1" i="1" dirty="0" err="1" smtClean="0">
                <a:latin typeface="Lucida Bright" panose="02040602050505020304" pitchFamily="18" charset="0"/>
              </a:rPr>
              <a:t>off_t</a:t>
            </a:r>
            <a:r>
              <a:rPr lang="en-US" b="1" i="1" dirty="0" smtClean="0">
                <a:latin typeface="Lucida Bright" panose="02040602050505020304" pitchFamily="18" charset="0"/>
              </a:rPr>
              <a:t> pos, </a:t>
            </a:r>
            <a:r>
              <a:rPr lang="en-US" b="1" i="1" dirty="0" err="1" smtClean="0">
                <a:latin typeface="Lucida Bright" panose="02040602050505020304" pitchFamily="18" charset="0"/>
              </a:rPr>
              <a:t>int</a:t>
            </a:r>
            <a:r>
              <a:rPr lang="en-US" b="1" i="1" dirty="0" smtClean="0">
                <a:latin typeface="Lucida Bright" panose="02040602050505020304" pitchFamily="18" charset="0"/>
              </a:rPr>
              <a:t> whence); </a:t>
            </a:r>
            <a:endParaRPr lang="en-US" b="1" i="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On success it returns new file offset, and –1 on error.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first argument </a:t>
            </a:r>
            <a:r>
              <a:rPr lang="en-US" dirty="0" err="1" smtClean="0">
                <a:latin typeface="Lucida Bright" panose="02040602050505020304" pitchFamily="18" charset="0"/>
              </a:rPr>
              <a:t>fdesc</a:t>
            </a:r>
            <a:r>
              <a:rPr lang="en-US" dirty="0" smtClean="0">
                <a:latin typeface="Lucida Bright" panose="02040602050505020304" pitchFamily="18" charset="0"/>
              </a:rPr>
              <a:t>, is an integer file descriptor that refer to an opened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second argument pos, specifies a byte offset to be added to a reference location in deriving the new file offset value.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third argument whence, is the reference location.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fld>
            <a:endParaRPr lang="en-US"/>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p>
        </p:txBody>
      </p:sp>
      <p:sp>
        <p:nvSpPr>
          <p:cNvPr id="22532" name="TextBox 10"/>
          <p:cNvSpPr txBox="1">
            <a:spLocks noChangeArrowheads="1"/>
          </p:cNvSpPr>
          <p:nvPr/>
        </p:nvSpPr>
        <p:spPr bwMode="auto">
          <a:xfrm>
            <a:off x="0" y="914400"/>
            <a:ext cx="8915400" cy="2585323"/>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Whence value 	Reference location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SEEK_CUR 	Current file pointer address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SEEK_SET 	The beginning of a file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SEEK_END 	The end of a file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493812"/>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stat, </a:t>
            </a:r>
            <a:r>
              <a:rPr lang="en-US" b="1" dirty="0" err="1" smtClean="0">
                <a:latin typeface="Lucida Bright" panose="02040602050505020304" pitchFamily="18" charset="0"/>
              </a:rPr>
              <a:t>fstat</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stat and </a:t>
            </a:r>
            <a:r>
              <a:rPr lang="en-US" dirty="0" err="1" smtClean="0">
                <a:latin typeface="Lucida Bright" panose="02040602050505020304" pitchFamily="18" charset="0"/>
              </a:rPr>
              <a:t>fstat</a:t>
            </a:r>
            <a:r>
              <a:rPr lang="en-US" dirty="0" smtClean="0">
                <a:latin typeface="Lucida Bright" panose="02040602050505020304" pitchFamily="18" charset="0"/>
              </a:rPr>
              <a:t> function retrieves the file attributes of a given file.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only difference between stat and </a:t>
            </a:r>
            <a:r>
              <a:rPr lang="en-US" dirty="0" err="1" smtClean="0">
                <a:latin typeface="Lucida Bright" panose="02040602050505020304" pitchFamily="18" charset="0"/>
              </a:rPr>
              <a:t>fstat</a:t>
            </a:r>
            <a:r>
              <a:rPr lang="en-US" dirty="0" smtClean="0">
                <a:latin typeface="Lucida Bright" panose="02040602050505020304" pitchFamily="18" charset="0"/>
              </a:rPr>
              <a:t> is that the first argument of a stat is a file pathname, where as the first argument of </a:t>
            </a:r>
            <a:r>
              <a:rPr lang="en-US" dirty="0" err="1" smtClean="0">
                <a:latin typeface="Lucida Bright" panose="02040602050505020304" pitchFamily="18" charset="0"/>
              </a:rPr>
              <a:t>fstat</a:t>
            </a:r>
            <a:r>
              <a:rPr lang="en-US" dirty="0" smtClean="0">
                <a:latin typeface="Lucida Bright" panose="02040602050505020304" pitchFamily="18" charset="0"/>
              </a:rPr>
              <a:t> is file descriptor.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The prototypes of these functions are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#include&lt;sys/</a:t>
            </a:r>
            <a:r>
              <a:rPr lang="en-US" dirty="0" err="1" smtClean="0">
                <a:latin typeface="Lucida Bright" panose="02040602050505020304" pitchFamily="18" charset="0"/>
              </a:rPr>
              <a:t>stat.h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b="1" i="1" dirty="0" smtClean="0">
                <a:latin typeface="Lucida Bright" panose="02040602050505020304" pitchFamily="18" charset="0"/>
              </a:rPr>
              <a:t>stat(const char *pathname, </a:t>
            </a:r>
            <a:r>
              <a:rPr lang="en-US" b="1" i="1" dirty="0" err="1" smtClean="0">
                <a:latin typeface="Lucida Bright" panose="02040602050505020304" pitchFamily="18" charset="0"/>
              </a:rPr>
              <a:t>struct</a:t>
            </a:r>
            <a:r>
              <a:rPr lang="en-US" b="1" i="1" dirty="0" smtClean="0">
                <a:latin typeface="Lucida Bright" panose="02040602050505020304" pitchFamily="18" charset="0"/>
              </a:rPr>
              <a:t> stat *</a:t>
            </a:r>
            <a:r>
              <a:rPr lang="en-US" b="1" i="1" dirty="0" err="1" smtClean="0">
                <a:latin typeface="Lucida Bright" panose="02040602050505020304" pitchFamily="18" charset="0"/>
              </a:rPr>
              <a:t>statv</a:t>
            </a:r>
            <a:r>
              <a:rPr lang="en-US" b="1" i="1" dirty="0" smtClean="0">
                <a:latin typeface="Lucida Bright" panose="02040602050505020304" pitchFamily="18" charset="0"/>
              </a:rPr>
              <a:t>); </a:t>
            </a:r>
            <a:endParaRPr lang="en-US" b="1" i="1" dirty="0" smtClean="0">
              <a:latin typeface="Lucida Bright" panose="02040602050505020304" pitchFamily="18" charset="0"/>
            </a:endParaRPr>
          </a:p>
          <a:p>
            <a:pPr>
              <a:lnSpc>
                <a:spcPct val="150000"/>
              </a:lnSpc>
            </a:pP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fstat</a:t>
            </a:r>
            <a:r>
              <a:rPr lang="en-US" b="1" i="1" dirty="0" smtClean="0">
                <a:latin typeface="Lucida Bright" panose="02040602050505020304" pitchFamily="18" charset="0"/>
              </a:rPr>
              <a:t>(const </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a:t>
            </a:r>
            <a:r>
              <a:rPr lang="en-US" b="1" i="1" dirty="0" err="1" smtClean="0">
                <a:latin typeface="Lucida Bright" panose="02040602050505020304" pitchFamily="18" charset="0"/>
              </a:rPr>
              <a:t>struct</a:t>
            </a:r>
            <a:r>
              <a:rPr lang="en-US" b="1" i="1" dirty="0" smtClean="0">
                <a:latin typeface="Lucida Bright" panose="02040602050505020304" pitchFamily="18" charset="0"/>
              </a:rPr>
              <a:t> stat *</a:t>
            </a:r>
            <a:r>
              <a:rPr lang="en-US" b="1" i="1" dirty="0" err="1" smtClean="0">
                <a:latin typeface="Lucida Bright" panose="02040602050505020304" pitchFamily="18" charset="0"/>
              </a:rPr>
              <a:t>statv</a:t>
            </a:r>
            <a:r>
              <a:rPr lang="en-US" b="1" i="1" dirty="0" smtClean="0">
                <a:latin typeface="Lucida Bright" panose="02040602050505020304" pitchFamily="18" charset="0"/>
              </a:rPr>
              <a:t>); </a:t>
            </a:r>
            <a:endParaRPr lang="en-US" b="1" i="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second argument to stat and </a:t>
            </a:r>
            <a:r>
              <a:rPr lang="en-US" dirty="0" err="1" smtClean="0">
                <a:latin typeface="Lucida Bright" panose="02040602050505020304" pitchFamily="18" charset="0"/>
              </a:rPr>
              <a:t>fstat</a:t>
            </a:r>
            <a:r>
              <a:rPr lang="en-US" dirty="0" smtClean="0">
                <a:latin typeface="Lucida Bright" panose="02040602050505020304" pitchFamily="18" charset="0"/>
              </a:rPr>
              <a:t> is the address of a </a:t>
            </a:r>
            <a:r>
              <a:rPr lang="en-US" dirty="0" err="1" smtClean="0">
                <a:latin typeface="Lucida Bright" panose="02040602050505020304" pitchFamily="18" charset="0"/>
              </a:rPr>
              <a:t>struct</a:t>
            </a:r>
            <a:r>
              <a:rPr lang="en-US" dirty="0" smtClean="0">
                <a:latin typeface="Lucida Bright" panose="02040602050505020304" pitchFamily="18" charset="0"/>
              </a:rPr>
              <a:t> stat-typed variable which is defined in the &lt;sys/</a:t>
            </a:r>
            <a:r>
              <a:rPr lang="en-US" dirty="0" err="1" smtClean="0">
                <a:latin typeface="Lucida Bright" panose="02040602050505020304" pitchFamily="18" charset="0"/>
              </a:rPr>
              <a:t>stat.h</a:t>
            </a:r>
            <a:r>
              <a:rPr lang="en-US" dirty="0" smtClean="0">
                <a:latin typeface="Lucida Bright" panose="02040602050505020304" pitchFamily="18" charset="0"/>
              </a:rPr>
              <a:t>&gt; header. </a:t>
            </a:r>
            <a:endParaRPr lang="en-US" dirty="0" smtClean="0">
              <a:latin typeface="Lucida Bright" panose="02040602050505020304" pitchFamily="18" charset="0"/>
            </a:endParaRPr>
          </a:p>
          <a:p>
            <a:pPr>
              <a:lnSpc>
                <a:spcPct val="150000"/>
              </a:lnSpc>
            </a:pPr>
            <a:endParaRPr lang="en-US" b="1" i="1"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a:t>
            </a:r>
            <a:endParaRPr lang="en-US" sz="4000" b="1"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909310"/>
          </a:xfrm>
          <a:prstGeom prst="rect">
            <a:avLst/>
          </a:prstGeom>
          <a:noFill/>
          <a:ln w="9525">
            <a:noFill/>
            <a:miter lim="800000"/>
          </a:ln>
        </p:spPr>
        <p:txBody>
          <a:bodyPr wrap="square">
            <a:spAutoFit/>
          </a:bodyPr>
          <a:lstStyle/>
          <a:p>
            <a:pPr>
              <a:lnSpc>
                <a:spcPct val="150000"/>
              </a:lnSpc>
              <a:buFont typeface="Arial" panose="020B0604020202020204" pitchFamily="34" charset="0"/>
              <a:buChar char="•"/>
            </a:pPr>
            <a:r>
              <a:rPr lang="en-US" dirty="0" smtClean="0">
                <a:latin typeface="Lucida Bright" panose="02040602050505020304" pitchFamily="18" charset="0"/>
              </a:rPr>
              <a:t> Its declaration is as follows: </a:t>
            </a:r>
            <a:endParaRPr lang="en-US"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struct</a:t>
            </a:r>
            <a:r>
              <a:rPr lang="en-US" b="1" dirty="0" smtClean="0">
                <a:latin typeface="Lucida Bright" panose="02040602050505020304" pitchFamily="18" charset="0"/>
              </a:rPr>
              <a:t> stat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 </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dev_t</a:t>
            </a:r>
            <a:r>
              <a:rPr lang="en-US" b="1" dirty="0" smtClean="0">
                <a:latin typeface="Lucida Bright" panose="02040602050505020304" pitchFamily="18" charset="0"/>
              </a:rPr>
              <a:t> </a:t>
            </a:r>
            <a:r>
              <a:rPr lang="en-US" b="1" dirty="0" err="1" smtClean="0">
                <a:latin typeface="Lucida Bright" panose="02040602050505020304" pitchFamily="18" charset="0"/>
              </a:rPr>
              <a:t>st_dev</a:t>
            </a:r>
            <a:r>
              <a:rPr lang="en-US" b="1" dirty="0" smtClean="0">
                <a:latin typeface="Lucida Bright" panose="02040602050505020304" pitchFamily="18" charset="0"/>
              </a:rPr>
              <a:t>; /* file system ID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ino_t</a:t>
            </a:r>
            <a:r>
              <a:rPr lang="en-US" b="1" dirty="0" smtClean="0">
                <a:latin typeface="Lucida Bright" panose="02040602050505020304" pitchFamily="18" charset="0"/>
              </a:rPr>
              <a:t> </a:t>
            </a:r>
            <a:r>
              <a:rPr lang="en-US" b="1" dirty="0" err="1" smtClean="0">
                <a:latin typeface="Lucida Bright" panose="02040602050505020304" pitchFamily="18" charset="0"/>
              </a:rPr>
              <a:t>st_ino</a:t>
            </a:r>
            <a:r>
              <a:rPr lang="en-US" b="1" dirty="0" smtClean="0">
                <a:latin typeface="Lucida Bright" panose="02040602050505020304" pitchFamily="18" charset="0"/>
              </a:rPr>
              <a:t>; /* file </a:t>
            </a:r>
            <a:r>
              <a:rPr lang="en-US" b="1" dirty="0" err="1" smtClean="0">
                <a:latin typeface="Lucida Bright" panose="02040602050505020304" pitchFamily="18" charset="0"/>
              </a:rPr>
              <a:t>inode</a:t>
            </a:r>
            <a:r>
              <a:rPr lang="en-US" b="1" dirty="0" smtClean="0">
                <a:latin typeface="Lucida Bright" panose="02040602050505020304" pitchFamily="18" charset="0"/>
              </a:rPr>
              <a:t> number */ </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mode_t</a:t>
            </a:r>
            <a:r>
              <a:rPr lang="en-US" b="1" dirty="0" smtClean="0">
                <a:latin typeface="Lucida Bright" panose="02040602050505020304" pitchFamily="18" charset="0"/>
              </a:rPr>
              <a:t> </a:t>
            </a:r>
            <a:r>
              <a:rPr lang="en-US" b="1" dirty="0" err="1" smtClean="0">
                <a:latin typeface="Lucida Bright" panose="02040602050505020304" pitchFamily="18" charset="0"/>
              </a:rPr>
              <a:t>st_mode</a:t>
            </a:r>
            <a:r>
              <a:rPr lang="en-US" b="1" dirty="0" smtClean="0">
                <a:latin typeface="Lucida Bright" panose="02040602050505020304" pitchFamily="18" charset="0"/>
              </a:rPr>
              <a:t>; /* contains file type and permission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nlink_t</a:t>
            </a:r>
            <a:r>
              <a:rPr lang="en-US" b="1" dirty="0" smtClean="0">
                <a:latin typeface="Lucida Bright" panose="02040602050505020304" pitchFamily="18" charset="0"/>
              </a:rPr>
              <a:t> </a:t>
            </a:r>
            <a:r>
              <a:rPr lang="en-US" b="1" dirty="0" err="1" smtClean="0">
                <a:latin typeface="Lucida Bright" panose="02040602050505020304" pitchFamily="18" charset="0"/>
              </a:rPr>
              <a:t>st_nlink</a:t>
            </a:r>
            <a:r>
              <a:rPr lang="en-US" b="1" dirty="0" smtClean="0">
                <a:latin typeface="Lucida Bright" panose="02040602050505020304" pitchFamily="18" charset="0"/>
              </a:rPr>
              <a:t>; /* hard link count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uid_t</a:t>
            </a:r>
            <a:r>
              <a:rPr lang="en-US" b="1" dirty="0" smtClean="0">
                <a:latin typeface="Lucida Bright" panose="02040602050505020304" pitchFamily="18" charset="0"/>
              </a:rPr>
              <a:t> </a:t>
            </a:r>
            <a:r>
              <a:rPr lang="en-US" b="1" dirty="0" err="1" smtClean="0">
                <a:latin typeface="Lucida Bright" panose="02040602050505020304" pitchFamily="18" charset="0"/>
              </a:rPr>
              <a:t>st_uid</a:t>
            </a:r>
            <a:r>
              <a:rPr lang="en-US" b="1" dirty="0" smtClean="0">
                <a:latin typeface="Lucida Bright" panose="02040602050505020304" pitchFamily="18" charset="0"/>
              </a:rPr>
              <a:t>; /* file user ID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gid_t</a:t>
            </a:r>
            <a:r>
              <a:rPr lang="en-US" b="1" dirty="0" smtClean="0">
                <a:latin typeface="Lucida Bright" panose="02040602050505020304" pitchFamily="18" charset="0"/>
              </a:rPr>
              <a:t> </a:t>
            </a:r>
            <a:r>
              <a:rPr lang="en-US" b="1" dirty="0" err="1" smtClean="0">
                <a:latin typeface="Lucida Bright" panose="02040602050505020304" pitchFamily="18" charset="0"/>
              </a:rPr>
              <a:t>st_gid</a:t>
            </a:r>
            <a:r>
              <a:rPr lang="en-US" b="1" dirty="0" smtClean="0">
                <a:latin typeface="Lucida Bright" panose="02040602050505020304" pitchFamily="18" charset="0"/>
              </a:rPr>
              <a:t>; /* file group ID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dev_t</a:t>
            </a:r>
            <a:r>
              <a:rPr lang="en-US" b="1" dirty="0" smtClean="0">
                <a:latin typeface="Lucida Bright" panose="02040602050505020304" pitchFamily="18" charset="0"/>
              </a:rPr>
              <a:t> </a:t>
            </a:r>
            <a:r>
              <a:rPr lang="en-US" b="1" dirty="0" err="1" smtClean="0">
                <a:latin typeface="Lucida Bright" panose="02040602050505020304" pitchFamily="18" charset="0"/>
              </a:rPr>
              <a:t>st_rdev</a:t>
            </a:r>
            <a:r>
              <a:rPr lang="en-US" b="1" dirty="0" smtClean="0">
                <a:latin typeface="Lucida Bright" panose="02040602050505020304" pitchFamily="18" charset="0"/>
              </a:rPr>
              <a:t>; /*contains major and minor device#*/ </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off_t</a:t>
            </a:r>
            <a:r>
              <a:rPr lang="en-US" b="1" dirty="0" smtClean="0">
                <a:latin typeface="Lucida Bright" panose="02040602050505020304" pitchFamily="18" charset="0"/>
              </a:rPr>
              <a:t> </a:t>
            </a:r>
            <a:r>
              <a:rPr lang="en-US" b="1" dirty="0" err="1" smtClean="0">
                <a:latin typeface="Lucida Bright" panose="02040602050505020304" pitchFamily="18" charset="0"/>
              </a:rPr>
              <a:t>st_size</a:t>
            </a:r>
            <a:r>
              <a:rPr lang="en-US" b="1" dirty="0" smtClean="0">
                <a:latin typeface="Lucida Bright" panose="02040602050505020304" pitchFamily="18" charset="0"/>
              </a:rPr>
              <a:t>; /* file size in bytes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time_t</a:t>
            </a:r>
            <a:r>
              <a:rPr lang="en-US" b="1" dirty="0" smtClean="0">
                <a:latin typeface="Lucida Bright" panose="02040602050505020304" pitchFamily="18" charset="0"/>
              </a:rPr>
              <a:t> </a:t>
            </a:r>
            <a:r>
              <a:rPr lang="en-US" b="1" dirty="0" err="1" smtClean="0">
                <a:latin typeface="Lucida Bright" panose="02040602050505020304" pitchFamily="18" charset="0"/>
              </a:rPr>
              <a:t>st_atime</a:t>
            </a:r>
            <a:r>
              <a:rPr lang="en-US" b="1" dirty="0" smtClean="0">
                <a:latin typeface="Lucida Bright" panose="02040602050505020304" pitchFamily="18" charset="0"/>
              </a:rPr>
              <a:t>; /* last access time */ </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time_t</a:t>
            </a:r>
            <a:r>
              <a:rPr lang="en-US" b="1" dirty="0" smtClean="0">
                <a:latin typeface="Lucida Bright" panose="02040602050505020304" pitchFamily="18" charset="0"/>
              </a:rPr>
              <a:t> </a:t>
            </a:r>
            <a:r>
              <a:rPr lang="en-US" b="1" dirty="0" err="1" smtClean="0">
                <a:latin typeface="Lucida Bright" panose="02040602050505020304" pitchFamily="18" charset="0"/>
              </a:rPr>
              <a:t>st_mtime</a:t>
            </a:r>
            <a:r>
              <a:rPr lang="en-US" b="1" dirty="0" smtClean="0">
                <a:latin typeface="Lucida Bright" panose="02040602050505020304" pitchFamily="18" charset="0"/>
              </a:rPr>
              <a:t>; /* last modification time */</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 </a:t>
            </a:r>
            <a:r>
              <a:rPr lang="en-US" b="1" dirty="0" err="1" smtClean="0">
                <a:latin typeface="Lucida Bright" panose="02040602050505020304" pitchFamily="18" charset="0"/>
              </a:rPr>
              <a:t>time_t</a:t>
            </a:r>
            <a:r>
              <a:rPr lang="en-US" b="1" dirty="0" smtClean="0">
                <a:latin typeface="Lucida Bright" panose="02040602050505020304" pitchFamily="18" charset="0"/>
              </a:rPr>
              <a:t> </a:t>
            </a:r>
            <a:r>
              <a:rPr lang="en-US" b="1" dirty="0" err="1" smtClean="0">
                <a:latin typeface="Lucida Bright" panose="02040602050505020304" pitchFamily="18" charset="0"/>
              </a:rPr>
              <a:t>st_ctime</a:t>
            </a:r>
            <a:r>
              <a:rPr lang="en-US" b="1" dirty="0" smtClean="0">
                <a:latin typeface="Lucida Bright" panose="02040602050505020304" pitchFamily="18" charset="0"/>
              </a:rPr>
              <a:t>; /* last status change time */ }; </a:t>
            </a:r>
            <a:endParaRPr lang="en-US" b="1"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914400"/>
            <a:ext cx="8915400" cy="2585323"/>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 The return value of both functions is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0 if they succeed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-1 if they fail </a:t>
            </a:r>
            <a:endParaRPr lang="en-US" dirty="0" smtClean="0">
              <a:latin typeface="Lucida Bright" panose="02040602050505020304" pitchFamily="18" charset="0"/>
            </a:endParaRPr>
          </a:p>
          <a:p>
            <a:pPr>
              <a:lnSpc>
                <a:spcPct val="150000"/>
              </a:lnSpc>
              <a:buFont typeface="Arial" panose="020B0604020202020204" pitchFamily="34" charset="0"/>
              <a:buChar char="•"/>
            </a:pPr>
            <a:r>
              <a:rPr lang="en-US" dirty="0" smtClean="0">
                <a:latin typeface="Lucida Bright" panose="02040602050505020304" pitchFamily="18" charset="0"/>
              </a:rPr>
              <a:t> </a:t>
            </a:r>
            <a:r>
              <a:rPr lang="en-US" i="1" dirty="0" err="1" smtClean="0">
                <a:latin typeface="Lucida Bright" panose="02040602050505020304" pitchFamily="18" charset="0"/>
              </a:rPr>
              <a:t>errno</a:t>
            </a:r>
            <a:r>
              <a:rPr lang="en-US" i="1" dirty="0" smtClean="0">
                <a:latin typeface="Lucida Bright" panose="02040602050505020304" pitchFamily="18" charset="0"/>
              </a:rPr>
              <a:t> contains an error status code </a:t>
            </a:r>
            <a:endParaRPr lang="en-US" i="1" dirty="0" smtClean="0">
              <a:latin typeface="Lucida Bright" panose="02040602050505020304" pitchFamily="18" charset="0"/>
            </a:endParaRPr>
          </a:p>
          <a:p>
            <a:pPr>
              <a:lnSpc>
                <a:spcPct val="150000"/>
              </a:lnSpc>
              <a:buFont typeface="Arial" panose="020B0604020202020204" pitchFamily="34" charset="0"/>
              <a:buChar char="•"/>
            </a:pPr>
            <a:endParaRPr lang="en-US" i="1" dirty="0" smtClean="0">
              <a:latin typeface="Lucida Bright" panose="02040602050505020304" pitchFamily="18" charset="0"/>
            </a:endParaRPr>
          </a:p>
          <a:p>
            <a:pPr>
              <a:lnSpc>
                <a:spcPct val="150000"/>
              </a:lnSpc>
            </a:pPr>
            <a:endParaRPr lang="en-US" i="1"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a:t>
            </a:r>
            <a:endParaRPr lang="en-US" sz="4000" b="1"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914400"/>
            <a:ext cx="8915400" cy="5492750"/>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ioctl</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ioctl</a:t>
            </a:r>
            <a:r>
              <a:rPr lang="en-US" b="1" dirty="0" smtClean="0">
                <a:latin typeface="Lucida Bright" panose="02040602050505020304" pitchFamily="18" charset="0"/>
              </a:rPr>
              <a:t>(</a:t>
            </a: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fildes</a:t>
            </a:r>
            <a:r>
              <a:rPr lang="en-US" b="1" dirty="0" smtClean="0">
                <a:latin typeface="Lucida Bright" panose="02040602050505020304" pitchFamily="18" charset="0"/>
              </a:rPr>
              <a:t>, </a:t>
            </a: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cmd</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ioctl</a:t>
            </a:r>
            <a:r>
              <a:rPr lang="en-US" dirty="0" smtClean="0">
                <a:latin typeface="Lucida Bright" panose="02040602050505020304" pitchFamily="18" charset="0"/>
              </a:rPr>
              <a:t> is a bit of a rag−bag of things. It provides an interface for controlling the behavior of devices, their descriptors and configuring underlying services. Terminals, file descriptors, sockets, even tape drives may have </a:t>
            </a:r>
            <a:r>
              <a:rPr lang="en-US" dirty="0" err="1" smtClean="0">
                <a:latin typeface="Lucida Bright" panose="02040602050505020304" pitchFamily="18" charset="0"/>
              </a:rPr>
              <a:t>ioctl</a:t>
            </a:r>
            <a:r>
              <a:rPr lang="en-US" dirty="0" smtClean="0">
                <a:latin typeface="Lucida Bright" panose="02040602050505020304" pitchFamily="18" charset="0"/>
              </a:rPr>
              <a:t> calls defined for them and you need to refer to the specific device's man page for details.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POSIX only defines </a:t>
            </a:r>
            <a:r>
              <a:rPr lang="en-US" dirty="0" err="1" smtClean="0">
                <a:latin typeface="Lucida Bright" panose="02040602050505020304" pitchFamily="18" charset="0"/>
              </a:rPr>
              <a:t>ioctl</a:t>
            </a:r>
            <a:r>
              <a:rPr lang="en-US" dirty="0" smtClean="0">
                <a:latin typeface="Lucida Bright" panose="02040602050505020304" pitchFamily="18" charset="0"/>
              </a:rPr>
              <a:t> for streams, which are beyond the scope of this book.</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ioctl</a:t>
            </a:r>
            <a:r>
              <a:rPr lang="en-US" dirty="0" smtClean="0">
                <a:latin typeface="Lucida Bright" panose="02040602050505020304" pitchFamily="18" charset="0"/>
              </a:rPr>
              <a:t> performs the function indicated by </a:t>
            </a:r>
            <a:r>
              <a:rPr lang="en-US" dirty="0" err="1" smtClean="0">
                <a:latin typeface="Lucida Bright" panose="02040602050505020304" pitchFamily="18" charset="0"/>
              </a:rPr>
              <a:t>cmd</a:t>
            </a:r>
            <a:r>
              <a:rPr lang="en-US" dirty="0" smtClean="0">
                <a:latin typeface="Lucida Bright" panose="02040602050505020304" pitchFamily="18" charset="0"/>
              </a:rPr>
              <a:t> on the object referenced by the descriptor </a:t>
            </a:r>
            <a:r>
              <a:rPr lang="en-US" dirty="0" err="1" smtClean="0">
                <a:latin typeface="Lucida Bright" panose="02040602050505020304" pitchFamily="18" charset="0"/>
              </a:rPr>
              <a:t>fildes</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It may take an optional third argument depending on the functions supported by a particular device.</a:t>
            </a:r>
            <a:endParaRPr lang="en-US" i="1"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Low –level file access </a:t>
            </a:r>
            <a:endParaRPr lang="en-US" sz="4000" b="1"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856732"/>
          </a:xfrm>
          <a:prstGeom prst="rect">
            <a:avLst/>
          </a:prstGeom>
          <a:noFill/>
          <a:ln w="9525">
            <a:noFill/>
            <a:miter lim="800000"/>
          </a:ln>
        </p:spPr>
        <p:txBody>
          <a:bodyPr wrap="square">
            <a:spAutoFit/>
          </a:bodyPr>
          <a:lstStyle/>
          <a:p>
            <a:pPr algn="ctr">
              <a:lnSpc>
                <a:spcPct val="150000"/>
              </a:lnSpc>
              <a:buFontTx/>
              <a:buNone/>
            </a:pPr>
            <a:r>
              <a:rPr lang="en-US" b="1" dirty="0" smtClean="0">
                <a:latin typeface="Lucida Bright" panose="02040602050505020304" pitchFamily="18" charset="0"/>
              </a:rPr>
              <a:t> </a:t>
            </a:r>
            <a:endParaRPr lang="en-US" b="1"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Linux system allow multiple processes to read and write the same file concurrently , but it results data in a file can be overridden by another process. To avoid this drawback </a:t>
            </a:r>
            <a:r>
              <a:rPr lang="en-US" dirty="0" err="1" smtClean="0">
                <a:latin typeface="Lucida Bright" panose="02040602050505020304" pitchFamily="18" charset="0"/>
              </a:rPr>
              <a:t>linux</a:t>
            </a:r>
            <a:r>
              <a:rPr lang="en-US" dirty="0" smtClean="0">
                <a:latin typeface="Lucida Bright" panose="02040602050505020304" pitchFamily="18" charset="0"/>
              </a:rPr>
              <a:t>  supports file and record locking. </a:t>
            </a:r>
            <a:endParaRPr lang="en-US" dirty="0" smtClean="0">
              <a:latin typeface="Lucida Bright" panose="02040602050505020304" pitchFamily="18" charset="0"/>
            </a:endParaRPr>
          </a:p>
          <a:p>
            <a:pPr algn="just">
              <a:lnSpc>
                <a:spcPct val="150000"/>
              </a:lnSpc>
            </a:pPr>
            <a:r>
              <a:rPr lang="en-US" b="1" dirty="0" smtClean="0">
                <a:latin typeface="Lucida Bright" panose="02040602050505020304" pitchFamily="18" charset="0"/>
              </a:rPr>
              <a:t>File locking </a:t>
            </a:r>
            <a:r>
              <a:rPr lang="en-US" dirty="0" smtClean="0">
                <a:latin typeface="Lucida Bright" panose="02040602050505020304" pitchFamily="18" charset="0"/>
              </a:rPr>
              <a:t>is applicable only for regular files. It allows a process to impose  a lock on a file so that other process can not modify the file until it is unlocked by the process.</a:t>
            </a:r>
            <a:endParaRPr lang="en-US"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Record locking is used to describe the ability of a process to prevent other processes from modifying a region of a file while the first process is reading or modifying that portion of the file. It is </a:t>
            </a:r>
            <a:r>
              <a:rPr lang="en-US" b="1" dirty="0" smtClean="0">
                <a:latin typeface="Lucida Bright" panose="02040602050505020304" pitchFamily="18" charset="0"/>
              </a:rPr>
              <a:t>byte-range locking</a:t>
            </a:r>
            <a:r>
              <a:rPr lang="en-US" dirty="0" smtClean="0">
                <a:latin typeface="Lucida Bright" panose="02040602050505020304" pitchFamily="18" charset="0"/>
              </a:rPr>
              <a:t>, since it is a range of a file (possibly the entire file) that is locked.</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latin typeface="Lucida Bright" panose="02040602050505020304" pitchFamily="18" charset="0"/>
              </a:rPr>
              <a:t>File and Record Locking</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324808"/>
          </a:xfrm>
          <a:prstGeom prst="rect">
            <a:avLst/>
          </a:prstGeom>
          <a:noFill/>
          <a:ln w="9525">
            <a:noFill/>
            <a:miter lim="800000"/>
          </a:ln>
        </p:spPr>
        <p:txBody>
          <a:bodyPr wrap="square">
            <a:spAutoFit/>
          </a:bodyPr>
          <a:lstStyle/>
          <a:p>
            <a:pPr>
              <a:lnSpc>
                <a:spcPct val="150000"/>
              </a:lnSpc>
              <a:buFontTx/>
              <a:buNone/>
            </a:pPr>
            <a:r>
              <a:rPr lang="en-US" b="1" i="1" dirty="0" err="1" smtClean="0">
                <a:latin typeface="Lucida Bright" panose="02040602050505020304" pitchFamily="18" charset="0"/>
              </a:rPr>
              <a:t>fcntl</a:t>
            </a:r>
            <a:r>
              <a:rPr lang="en-US" b="1" i="1" dirty="0" smtClean="0">
                <a:latin typeface="Lucida Bright" panose="02040602050505020304" pitchFamily="18" charset="0"/>
              </a:rPr>
              <a:t> </a:t>
            </a:r>
            <a:r>
              <a:rPr lang="en-US" b="1" dirty="0" smtClean="0">
                <a:latin typeface="Lucida Bright" panose="02040602050505020304" pitchFamily="18" charset="0"/>
              </a:rPr>
              <a:t>Record Locking:</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fcntl.h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fcntl</a:t>
            </a:r>
            <a:r>
              <a:rPr lang="en-US" dirty="0" smtClean="0">
                <a:latin typeface="Lucida Bright" panose="02040602050505020304" pitchFamily="18" charset="0"/>
              </a:rPr>
              <a:t>(</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filedes</a:t>
            </a: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cmd</a:t>
            </a:r>
            <a:r>
              <a:rPr lang="en-US" dirty="0" smtClean="0">
                <a:latin typeface="Lucida Bright" panose="02040602050505020304" pitchFamily="18" charset="0"/>
              </a:rPr>
              <a:t>, ... /* </a:t>
            </a:r>
            <a:r>
              <a:rPr lang="en-US" dirty="0" err="1" smtClean="0">
                <a:latin typeface="Lucida Bright" panose="02040602050505020304" pitchFamily="18" charset="0"/>
              </a:rPr>
              <a:t>struct</a:t>
            </a:r>
            <a:r>
              <a:rPr lang="en-US" dirty="0" smtClean="0">
                <a:latin typeface="Lucida Bright" panose="02040602050505020304" pitchFamily="18" charset="0"/>
              </a:rPr>
              <a:t> flock *</a:t>
            </a:r>
            <a:r>
              <a:rPr lang="en-US" dirty="0" err="1" smtClean="0">
                <a:latin typeface="Lucida Bright" panose="02040602050505020304" pitchFamily="18" charset="0"/>
              </a:rPr>
              <a:t>flockptr</a:t>
            </a:r>
            <a:r>
              <a:rPr lang="en-US" dirty="0" smtClean="0">
                <a:latin typeface="Lucida Bright" panose="02040602050505020304" pitchFamily="18" charset="0"/>
              </a:rPr>
              <a:t> */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Returns: depends on </a:t>
            </a:r>
            <a:r>
              <a:rPr lang="en-US" dirty="0" err="1" smtClean="0">
                <a:latin typeface="Lucida Bright" panose="02040602050505020304" pitchFamily="18" charset="0"/>
              </a:rPr>
              <a:t>cmd</a:t>
            </a:r>
            <a:r>
              <a:rPr lang="en-US" dirty="0" smtClean="0">
                <a:latin typeface="Lucida Bright" panose="02040602050505020304" pitchFamily="18" charset="0"/>
              </a:rPr>
              <a:t> if OK, -1 on error.</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Here </a:t>
            </a:r>
            <a:r>
              <a:rPr lang="en-US" dirty="0" err="1" smtClean="0">
                <a:latin typeface="Lucida Bright" panose="02040602050505020304" pitchFamily="18" charset="0"/>
              </a:rPr>
              <a:t>cmd</a:t>
            </a:r>
            <a:r>
              <a:rPr lang="en-US" dirty="0" smtClean="0">
                <a:latin typeface="Lucida Bright" panose="02040602050505020304" pitchFamily="18" charset="0"/>
              </a:rPr>
              <a:t> is F_GETLK, F_SETLK, or F_SETLKW.</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Flockptr</a:t>
            </a:r>
            <a:r>
              <a:rPr lang="en-US" dirty="0" smtClean="0">
                <a:latin typeface="Lucida Bright" panose="02040602050505020304" pitchFamily="18" charset="0"/>
              </a:rPr>
              <a:t> is a pointer to an flock structure.</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struct</a:t>
            </a:r>
            <a:r>
              <a:rPr lang="en-US" dirty="0" smtClean="0">
                <a:latin typeface="Lucida Bright" panose="02040602050505020304" pitchFamily="18" charset="0"/>
              </a:rPr>
              <a:t> flock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short </a:t>
            </a:r>
            <a:r>
              <a:rPr lang="en-US" dirty="0" err="1" smtClean="0">
                <a:latin typeface="Lucida Bright" panose="02040602050505020304" pitchFamily="18" charset="0"/>
              </a:rPr>
              <a:t>l_type</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off_t</a:t>
            </a:r>
            <a:r>
              <a:rPr lang="en-US" dirty="0" smtClean="0">
                <a:latin typeface="Lucida Bright" panose="02040602050505020304" pitchFamily="18" charset="0"/>
              </a:rPr>
              <a:t> </a:t>
            </a:r>
            <a:r>
              <a:rPr lang="en-US" dirty="0" err="1" smtClean="0">
                <a:latin typeface="Lucida Bright" panose="02040602050505020304" pitchFamily="18" charset="0"/>
              </a:rPr>
              <a:t>l_start</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short </a:t>
            </a:r>
            <a:r>
              <a:rPr lang="en-US" dirty="0" err="1" smtClean="0">
                <a:latin typeface="Lucida Bright" panose="02040602050505020304" pitchFamily="18" charset="0"/>
              </a:rPr>
              <a:t>l_whence</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off_t</a:t>
            </a:r>
            <a:r>
              <a:rPr lang="en-US" dirty="0" smtClean="0">
                <a:latin typeface="Lucida Bright" panose="02040602050505020304" pitchFamily="18" charset="0"/>
              </a:rPr>
              <a:t> </a:t>
            </a:r>
            <a:r>
              <a:rPr lang="en-US" dirty="0" err="1" smtClean="0">
                <a:latin typeface="Lucida Bright" panose="02040602050505020304" pitchFamily="18" charset="0"/>
              </a:rPr>
              <a:t>l_len</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pid_t</a:t>
            </a:r>
            <a:r>
              <a:rPr lang="en-US" dirty="0" smtClean="0">
                <a:latin typeface="Lucida Bright" panose="02040602050505020304" pitchFamily="18" charset="0"/>
              </a:rPr>
              <a:t> </a:t>
            </a:r>
            <a:r>
              <a:rPr lang="en-US" dirty="0" err="1" smtClean="0">
                <a:latin typeface="Lucida Bright" panose="02040602050505020304" pitchFamily="18" charset="0"/>
              </a:rPr>
              <a:t>l_pid</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smtClean="0">
              <a:latin typeface="Lucida Bright" panose="02040602050505020304" pitchFamily="18" charset="0"/>
            </a:endParaRPr>
          </a:p>
          <a:p>
            <a:pPr algn="ct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7155805"/>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type of lock desired: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F_RDLCK (a shared read lock),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F_WRLCK (an exclusive write lock), or F_UNLCK (unlocking a region).</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starting byte offset of the region being locked or unlocked (</a:t>
            </a:r>
            <a:r>
              <a:rPr lang="en-US" dirty="0" err="1" smtClean="0">
                <a:latin typeface="Lucida Bright" panose="02040602050505020304" pitchFamily="18" charset="0"/>
              </a:rPr>
              <a:t>l_start</a:t>
            </a:r>
            <a:r>
              <a:rPr lang="en-US" dirty="0" smtClean="0">
                <a:latin typeface="Lucida Bright" panose="02040602050505020304" pitchFamily="18" charset="0"/>
              </a:rPr>
              <a:t> and </a:t>
            </a:r>
            <a:r>
              <a:rPr lang="en-US" dirty="0" err="1" smtClean="0">
                <a:latin typeface="Lucida Bright" panose="02040602050505020304" pitchFamily="18" charset="0"/>
              </a:rPr>
              <a:t>l_whence</a:t>
            </a:r>
            <a:r>
              <a:rPr lang="en-US" dirty="0" smtClean="0">
                <a:latin typeface="Lucida Bright" panose="02040602050505020304" pitchFamily="18" charset="0"/>
              </a:rPr>
              <a:t>).</a:t>
            </a:r>
            <a:endParaRPr lang="en-US"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The size of the region in bytes (</a:t>
            </a:r>
            <a:r>
              <a:rPr lang="en-US" dirty="0" err="1" smtClean="0">
                <a:latin typeface="Lucida Bright" panose="02040602050505020304" pitchFamily="18" charset="0"/>
              </a:rPr>
              <a:t>l_len</a:t>
            </a:r>
            <a:r>
              <a:rPr lang="en-US" dirty="0" smtClean="0">
                <a:latin typeface="Lucida Bright" panose="02040602050505020304" pitchFamily="18" charset="0"/>
              </a:rPr>
              <a:t>).</a:t>
            </a:r>
            <a:endParaRPr lang="en-US"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The ID (</a:t>
            </a:r>
            <a:r>
              <a:rPr lang="en-US" dirty="0" err="1" smtClean="0">
                <a:latin typeface="Lucida Bright" panose="02040602050505020304" pitchFamily="18" charset="0"/>
              </a:rPr>
              <a:t>l_pid</a:t>
            </a:r>
            <a:r>
              <a:rPr lang="en-US" dirty="0" smtClean="0">
                <a:latin typeface="Lucida Bright" panose="02040602050505020304" pitchFamily="18" charset="0"/>
              </a:rPr>
              <a:t>) of the process holding the lock that can block the current process (returned by F_GETLK only).</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Rules about the specification of the region to be locked or unlocked:</a:t>
            </a:r>
            <a:endParaRPr lang="en-US"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Locks can start and extend beyond the current end of file, but cannot start or extend before the beginning of the file.</a:t>
            </a:r>
            <a:endParaRPr lang="en-US"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If </a:t>
            </a:r>
            <a:r>
              <a:rPr lang="en-US" dirty="0" err="1" smtClean="0">
                <a:latin typeface="Lucida Bright" panose="02040602050505020304" pitchFamily="18" charset="0"/>
              </a:rPr>
              <a:t>l_len</a:t>
            </a:r>
            <a:r>
              <a:rPr lang="en-US" dirty="0" smtClean="0">
                <a:latin typeface="Lucida Bright" panose="02040602050505020304" pitchFamily="18" charset="0"/>
              </a:rPr>
              <a:t> is 0, it means that the lock extends to the largest possible offset of the file. This allows us to lock a region starting anywhere in the file, up through and including any data that is appended to the file</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smtClean="0">
              <a:latin typeface="Lucida Bright" panose="02040602050505020304" pitchFamily="18" charset="0"/>
            </a:endParaRPr>
          </a:p>
          <a:p>
            <a:pPr algn="ct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272230"/>
          </a:xfrm>
          <a:prstGeom prst="rect">
            <a:avLst/>
          </a:prstGeom>
          <a:noFill/>
          <a:ln w="9525">
            <a:noFill/>
            <a:miter lim="800000"/>
          </a:ln>
        </p:spPr>
        <p:txBody>
          <a:bodyPr wrap="square">
            <a:spAutoFit/>
          </a:bodyPr>
          <a:lstStyle/>
          <a:p>
            <a:pPr algn="ctr">
              <a:lnSpc>
                <a:spcPct val="150000"/>
              </a:lnSpc>
              <a:buFontTx/>
              <a:buNone/>
            </a:pPr>
            <a:r>
              <a:rPr lang="en-US" b="1" dirty="0" smtClean="0">
                <a:latin typeface="Lucida Bright" panose="02040602050505020304" pitchFamily="18" charset="0"/>
              </a:rPr>
              <a:t> </a:t>
            </a:r>
            <a:endParaRPr lang="en-US" b="1" dirty="0" smtClean="0">
              <a:latin typeface="Lucida Bright" panose="02040602050505020304" pitchFamily="18" charset="0"/>
            </a:endParaRPr>
          </a:p>
          <a:p>
            <a:pPr algn="just">
              <a:lnSpc>
                <a:spcPct val="150000"/>
              </a:lnSpc>
            </a:pPr>
            <a:r>
              <a:rPr lang="en-US" dirty="0" smtClean="0">
                <a:latin typeface="Lucida Bright" panose="02040602050505020304" pitchFamily="18" charset="0"/>
              </a:rPr>
              <a:t>To lock the entire file, we set </a:t>
            </a:r>
            <a:r>
              <a:rPr lang="en-US" dirty="0" err="1" smtClean="0">
                <a:latin typeface="Lucida Bright" panose="02040602050505020304" pitchFamily="18" charset="0"/>
              </a:rPr>
              <a:t>l_start</a:t>
            </a:r>
            <a:r>
              <a:rPr lang="en-US" dirty="0" smtClean="0">
                <a:latin typeface="Lucida Bright" panose="02040602050505020304" pitchFamily="18" charset="0"/>
              </a:rPr>
              <a:t> and </a:t>
            </a:r>
            <a:r>
              <a:rPr lang="en-US" dirty="0" err="1" smtClean="0">
                <a:latin typeface="Lucida Bright" panose="02040602050505020304" pitchFamily="18" charset="0"/>
              </a:rPr>
              <a:t>l_whence</a:t>
            </a:r>
            <a:r>
              <a:rPr lang="en-US" dirty="0" smtClean="0">
                <a:latin typeface="Lucida Bright" panose="02040602050505020304" pitchFamily="18" charset="0"/>
              </a:rPr>
              <a:t> to point to the beginning of the file and specify a length (</a:t>
            </a:r>
            <a:r>
              <a:rPr lang="en-US" dirty="0" err="1" smtClean="0">
                <a:latin typeface="Lucida Bright" panose="02040602050505020304" pitchFamily="18" charset="0"/>
              </a:rPr>
              <a:t>l_len</a:t>
            </a:r>
            <a:r>
              <a:rPr lang="en-US" dirty="0" smtClean="0">
                <a:latin typeface="Lucida Bright" panose="02040602050505020304" pitchFamily="18" charset="0"/>
              </a:rPr>
              <a:t>) of 0.</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 Types of locks:</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1.Shared lock: </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read locks are shard locks.  Any </a:t>
            </a:r>
            <a:r>
              <a:rPr lang="en-US" dirty="0" err="1" smtClean="0">
                <a:latin typeface="Lucida Bright" panose="02040602050505020304" pitchFamily="18" charset="0"/>
              </a:rPr>
              <a:t>no.of</a:t>
            </a:r>
            <a:r>
              <a:rPr lang="en-US" dirty="0" smtClean="0">
                <a:latin typeface="Lucida Bright" panose="02040602050505020304" pitchFamily="18" charset="0"/>
              </a:rPr>
              <a:t> process can have read lock on the same object at a time.</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2. Exclusive lock :</a:t>
            </a:r>
            <a:endParaRPr lang="en-US" dirty="0" smtClean="0">
              <a:latin typeface="Lucida Bright" panose="02040602050505020304" pitchFamily="18" charset="0"/>
            </a:endParaRPr>
          </a:p>
          <a:p>
            <a:pPr algn="just">
              <a:lnSpc>
                <a:spcPct val="150000"/>
              </a:lnSpc>
              <a:buFontTx/>
              <a:buNone/>
            </a:pPr>
            <a:r>
              <a:rPr lang="en-US" dirty="0" smtClean="0">
                <a:latin typeface="Lucida Bright" panose="02040602050505020304" pitchFamily="18" charset="0"/>
              </a:rPr>
              <a:t>Write locks are exclusive locks. When one process puts write lock on the object, no other read lock or write lock is allowed on the same object.</a:t>
            </a:r>
            <a:endParaRPr lang="en-US" dirty="0" smtClean="0">
              <a:latin typeface="Lucida Bright" panose="02040602050505020304" pitchFamily="18" charset="0"/>
            </a:endParaRPr>
          </a:p>
          <a:p>
            <a:pPr algn="just">
              <a:lnSpc>
                <a:spcPct val="150000"/>
              </a:lnSpc>
              <a:buFontTx/>
              <a:buNone/>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smtClean="0">
              <a:latin typeface="Lucida Bright" panose="02040602050505020304" pitchFamily="18" charset="0"/>
            </a:endParaRPr>
          </a:p>
          <a:p>
            <a:pPr algn="ct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7571303"/>
          </a:xfrm>
          <a:prstGeom prst="rect">
            <a:avLst/>
          </a:prstGeom>
          <a:noFill/>
          <a:ln w="9525">
            <a:noFill/>
            <a:miter lim="800000"/>
          </a:ln>
        </p:spPr>
        <p:txBody>
          <a:bodyPr wrap="square">
            <a:spAutoFit/>
          </a:bodyPr>
          <a:lstStyle/>
          <a:p>
            <a:pPr>
              <a:lnSpc>
                <a:spcPct val="150000"/>
              </a:lnSpc>
              <a:buFontTx/>
              <a:buNone/>
            </a:pPr>
            <a:r>
              <a:rPr lang="en-US" dirty="0" smtClean="0">
                <a:latin typeface="Lucida Bright" panose="02040602050505020304" pitchFamily="18" charset="0"/>
              </a:rPr>
              <a:t>Commands for the </a:t>
            </a:r>
            <a:r>
              <a:rPr lang="en-US" dirty="0" err="1" smtClean="0">
                <a:latin typeface="Lucida Bright" panose="02040602050505020304" pitchFamily="18" charset="0"/>
              </a:rPr>
              <a:t>fcntl</a:t>
            </a:r>
            <a:r>
              <a:rPr lang="en-US" dirty="0" smtClean="0">
                <a:latin typeface="Lucida Bright" panose="02040602050505020304" pitchFamily="18" charset="0"/>
              </a:rPr>
              <a:t> function:</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F_GETLK: Determine whether the lock described by </a:t>
            </a:r>
            <a:r>
              <a:rPr lang="en-US" dirty="0" err="1" smtClean="0">
                <a:latin typeface="Lucida Bright" panose="02040602050505020304" pitchFamily="18" charset="0"/>
              </a:rPr>
              <a:t>flockptr</a:t>
            </a:r>
            <a:r>
              <a:rPr lang="en-US" dirty="0" smtClean="0">
                <a:latin typeface="Lucida Bright" panose="02040602050505020304" pitchFamily="18" charset="0"/>
              </a:rPr>
              <a:t> is blocked by some other </a:t>
            </a:r>
            <a:r>
              <a:rPr lang="en-US" dirty="0" err="1" smtClean="0">
                <a:latin typeface="Lucida Bright" panose="02040602050505020304" pitchFamily="18" charset="0"/>
              </a:rPr>
              <a:t>lock.It</a:t>
            </a:r>
            <a:r>
              <a:rPr lang="en-US" dirty="0" smtClean="0">
                <a:latin typeface="Lucida Bright" panose="02040602050505020304" pitchFamily="18" charset="0"/>
              </a:rPr>
              <a:t> does only verification and for not applying locks.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F_SETLK: Set the lock described by </a:t>
            </a:r>
            <a:r>
              <a:rPr lang="en-US" dirty="0" err="1" smtClean="0">
                <a:latin typeface="Lucida Bright" panose="02040602050505020304" pitchFamily="18" charset="0"/>
              </a:rPr>
              <a:t>flockptr</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F_SETLKW: This command is a blocking version of F_SETLK. If the requested read lock or write lock cannot be granted because another process currently has some part of the requested region locked, the calling process is put to sleep.</a:t>
            </a:r>
            <a:endParaRPr lang="en-US" dirty="0" smtClean="0">
              <a:latin typeface="Lucida Bright" panose="02040602050505020304" pitchFamily="18" charset="0"/>
            </a:endParaRPr>
          </a:p>
          <a:p>
            <a:pPr>
              <a:lnSpc>
                <a:spcPct val="150000"/>
              </a:lnSpc>
              <a:buFontTx/>
              <a:buNone/>
            </a:pPr>
            <a:r>
              <a:rPr lang="en-US" b="1" dirty="0" smtClean="0">
                <a:latin typeface="Lucida Bright" panose="02040602050505020304" pitchFamily="18" charset="0"/>
              </a:rPr>
              <a:t>Function to lock or unlock a region of a file:</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fcntl.h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lock_reg</a:t>
            </a: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fd</a:t>
            </a: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dirty="0" err="1" smtClean="0">
                <a:latin typeface="Lucida Bright" panose="02040602050505020304" pitchFamily="18" charset="0"/>
              </a:rPr>
              <a:t>cmd</a:t>
            </a:r>
            <a:r>
              <a:rPr lang="en-US" dirty="0" smtClean="0">
                <a:latin typeface="Lucida Bright" panose="02040602050505020304" pitchFamily="18" charset="0"/>
              </a:rPr>
              <a:t>, </a:t>
            </a:r>
            <a:r>
              <a:rPr lang="en-US" dirty="0" err="1" smtClean="0">
                <a:latin typeface="Lucida Bright" panose="02040602050505020304" pitchFamily="18" charset="0"/>
              </a:rPr>
              <a:t>int</a:t>
            </a:r>
            <a:r>
              <a:rPr lang="en-US" dirty="0" smtClean="0">
                <a:latin typeface="Lucida Bright" panose="02040602050505020304" pitchFamily="18" charset="0"/>
              </a:rPr>
              <a:t> type, </a:t>
            </a:r>
            <a:r>
              <a:rPr lang="en-US" dirty="0" err="1" smtClean="0">
                <a:latin typeface="Lucida Bright" panose="02040602050505020304" pitchFamily="18" charset="0"/>
              </a:rPr>
              <a:t>off_t</a:t>
            </a:r>
            <a:r>
              <a:rPr lang="en-US" dirty="0" smtClean="0">
                <a:latin typeface="Lucida Bright" panose="02040602050505020304" pitchFamily="18" charset="0"/>
              </a:rPr>
              <a:t> offset, </a:t>
            </a:r>
            <a:r>
              <a:rPr lang="en-US" dirty="0" err="1" smtClean="0">
                <a:latin typeface="Lucida Bright" panose="02040602050505020304" pitchFamily="18" charset="0"/>
              </a:rPr>
              <a:t>int</a:t>
            </a:r>
            <a:r>
              <a:rPr lang="en-US" dirty="0" smtClean="0">
                <a:latin typeface="Lucida Bright" panose="02040602050505020304" pitchFamily="18" charset="0"/>
              </a:rPr>
              <a:t> whence, </a:t>
            </a:r>
            <a:r>
              <a:rPr lang="en-US" dirty="0" err="1" smtClean="0">
                <a:latin typeface="Lucida Bright" panose="02040602050505020304" pitchFamily="18" charset="0"/>
              </a:rPr>
              <a:t>off_t</a:t>
            </a:r>
            <a:r>
              <a:rPr lang="en-US" dirty="0" smtClean="0">
                <a:latin typeface="Lucida Bright" panose="02040602050505020304" pitchFamily="18" charset="0"/>
              </a:rPr>
              <a:t> </a:t>
            </a:r>
            <a:r>
              <a:rPr lang="en-US" dirty="0" err="1" smtClean="0">
                <a:latin typeface="Lucida Bright" panose="02040602050505020304" pitchFamily="18" charset="0"/>
              </a:rPr>
              <a:t>len</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struct</a:t>
            </a:r>
            <a:r>
              <a:rPr lang="en-US" dirty="0" smtClean="0">
                <a:latin typeface="Lucida Bright" panose="02040602050505020304" pitchFamily="18" charset="0"/>
              </a:rPr>
              <a:t> flock lock;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lock.l_type</a:t>
            </a:r>
            <a:r>
              <a:rPr lang="en-US" dirty="0" smtClean="0">
                <a:latin typeface="Lucida Bright" panose="02040602050505020304" pitchFamily="18" charset="0"/>
              </a:rPr>
              <a:t> = type;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lock.l_start</a:t>
            </a:r>
            <a:r>
              <a:rPr lang="en-US" dirty="0" smtClean="0">
                <a:latin typeface="Lucida Bright" panose="02040602050505020304" pitchFamily="18" charset="0"/>
              </a:rPr>
              <a:t> = offset; </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latin typeface="Lucida Bright" panose="02040602050505020304" pitchFamily="18" charset="0"/>
              </a:rPr>
              <a:t>File and Record Locking</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1"/>
            <a:ext cx="8915400" cy="7155805"/>
          </a:xfrm>
          <a:prstGeom prst="rect">
            <a:avLst/>
          </a:prstGeom>
          <a:noFill/>
          <a:ln w="9525">
            <a:noFill/>
            <a:miter lim="800000"/>
          </a:ln>
        </p:spPr>
        <p:txBody>
          <a:bodyPr wrap="square">
            <a:spAutoFit/>
          </a:bodyPr>
          <a:lstStyle/>
          <a:p>
            <a:pPr>
              <a:lnSpc>
                <a:spcPct val="150000"/>
              </a:lnSpc>
              <a:buFontTx/>
              <a:buNone/>
            </a:pPr>
            <a:r>
              <a:rPr lang="en-US" dirty="0" err="1" smtClean="0">
                <a:latin typeface="Lucida Bright" panose="02040602050505020304" pitchFamily="18" charset="0"/>
              </a:rPr>
              <a:t>lock.l_whence</a:t>
            </a:r>
            <a:r>
              <a:rPr lang="en-US" dirty="0" smtClean="0">
                <a:latin typeface="Lucida Bright" panose="02040602050505020304" pitchFamily="18" charset="0"/>
              </a:rPr>
              <a:t> = whence;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lock.l_len</a:t>
            </a:r>
            <a:r>
              <a:rPr lang="en-US" dirty="0" smtClean="0">
                <a:latin typeface="Lucida Bright" panose="02040602050505020304" pitchFamily="18" charset="0"/>
              </a:rPr>
              <a:t> = </a:t>
            </a:r>
            <a:r>
              <a:rPr lang="en-US" dirty="0" err="1" smtClean="0">
                <a:latin typeface="Lucida Bright" panose="02040602050505020304" pitchFamily="18" charset="0"/>
              </a:rPr>
              <a:t>len</a:t>
            </a: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return(</a:t>
            </a:r>
            <a:r>
              <a:rPr lang="en-US" dirty="0" err="1" smtClean="0">
                <a:latin typeface="Lucida Bright" panose="02040602050505020304" pitchFamily="18" charset="0"/>
              </a:rPr>
              <a:t>fcntl</a:t>
            </a:r>
            <a:r>
              <a:rPr lang="en-US" dirty="0" smtClean="0">
                <a:latin typeface="Lucida Bright" panose="02040602050505020304" pitchFamily="18" charset="0"/>
              </a:rPr>
              <a:t>( </a:t>
            </a:r>
            <a:r>
              <a:rPr lang="en-US" dirty="0" err="1" smtClean="0">
                <a:latin typeface="Lucida Bright" panose="02040602050505020304" pitchFamily="18" charset="0"/>
              </a:rPr>
              <a:t>fd</a:t>
            </a:r>
            <a:r>
              <a:rPr lang="en-US" dirty="0" smtClean="0">
                <a:latin typeface="Lucida Bright" panose="02040602050505020304" pitchFamily="18" charset="0"/>
              </a:rPr>
              <a:t>, </a:t>
            </a:r>
            <a:r>
              <a:rPr lang="en-US" dirty="0" err="1" smtClean="0">
                <a:latin typeface="Lucida Bright" panose="02040602050505020304" pitchFamily="18" charset="0"/>
              </a:rPr>
              <a:t>cmd</a:t>
            </a:r>
            <a:r>
              <a:rPr lang="en-US" dirty="0" smtClean="0">
                <a:latin typeface="Lucida Bright" panose="02040602050505020304" pitchFamily="18" charset="0"/>
              </a:rPr>
              <a:t>, &amp;lock));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r>
              <a:rPr lang="en-US" b="1" dirty="0" smtClean="0">
                <a:latin typeface="Lucida Bright" panose="02040602050505020304" pitchFamily="18" charset="0"/>
              </a:rPr>
              <a:t>Implied Inheritance and Release of Locks:</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Locks are associated with a process and a file.</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when a process terminates, all its locks are released. whenever a descriptor is closed, any locks on the file referenced by that descriptor for that process are released.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Locks are never inherited by the child across a fork.</a:t>
            </a:r>
            <a:endParaRPr lang="en-US" b="1" dirty="0" smtClean="0">
              <a:latin typeface="Lucida Bright" panose="02040602050505020304" pitchFamily="18" charset="0"/>
            </a:endParaRPr>
          </a:p>
          <a:p>
            <a:pPr>
              <a:lnSpc>
                <a:spcPct val="150000"/>
              </a:lnSpc>
              <a:buFontTx/>
              <a:buNone/>
            </a:pPr>
            <a:r>
              <a:rPr lang="en-US" b="1" dirty="0" smtClean="0">
                <a:latin typeface="Lucida Bright" panose="02040602050505020304" pitchFamily="18" charset="0"/>
              </a:rPr>
              <a:t>Place a write lock on an entire file:</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unistd.h</a:t>
            </a:r>
            <a:r>
              <a:rPr lang="en-US" dirty="0" smtClean="0">
                <a:latin typeface="Lucida Bright" panose="02040602050505020304" pitchFamily="18" charset="0"/>
              </a:rPr>
              <a:t>&gt;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#include &lt;</a:t>
            </a:r>
            <a:r>
              <a:rPr lang="en-US" dirty="0" err="1" smtClean="0">
                <a:latin typeface="Lucida Bright" panose="02040602050505020304" pitchFamily="18" charset="0"/>
              </a:rPr>
              <a:t>fcntl.h</a:t>
            </a:r>
            <a:r>
              <a:rPr lang="en-US" dirty="0" smtClean="0">
                <a:latin typeface="Lucida Bright" panose="02040602050505020304" pitchFamily="18" charset="0"/>
              </a:rPr>
              <a:t>&gt;</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int </a:t>
            </a:r>
            <a:r>
              <a:rPr lang="en-US" dirty="0" err="1" smtClean="0">
                <a:latin typeface="Lucida Bright" panose="02040602050505020304" pitchFamily="18" charset="0"/>
              </a:rPr>
              <a:t>lockfile</a:t>
            </a:r>
            <a:r>
              <a:rPr lang="en-US" dirty="0" smtClean="0">
                <a:latin typeface="Lucida Bright" panose="02040602050505020304" pitchFamily="18" charset="0"/>
              </a:rPr>
              <a:t> (int </a:t>
            </a:r>
            <a:r>
              <a:rPr lang="en-US" dirty="0" err="1" smtClean="0">
                <a:latin typeface="Lucida Bright" panose="02040602050505020304" pitchFamily="18" charset="0"/>
              </a:rPr>
              <a:t>fd</a:t>
            </a:r>
            <a:r>
              <a:rPr lang="en-US" dirty="0" smtClean="0">
                <a:latin typeface="Lucida Bright" panose="02040602050505020304" pitchFamily="18" charset="0"/>
              </a:rPr>
              <a:t>) {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latin typeface="Lucida Bright" panose="02040602050505020304" pitchFamily="18" charset="0"/>
              </a:rPr>
              <a:t>File and Record Locking</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687728"/>
          </a:xfrm>
          <a:prstGeom prst="rect">
            <a:avLst/>
          </a:prstGeom>
          <a:noFill/>
          <a:ln w="9525">
            <a:noFill/>
            <a:miter lim="800000"/>
          </a:ln>
        </p:spPr>
        <p:txBody>
          <a:bodyPr wrap="square">
            <a:spAutoFit/>
          </a:bodyPr>
          <a:lstStyle/>
          <a:p>
            <a:pPr>
              <a:lnSpc>
                <a:spcPct val="150000"/>
              </a:lnSpc>
              <a:buFontTx/>
              <a:buNone/>
            </a:pPr>
            <a:r>
              <a:rPr lang="en-US" dirty="0" err="1" smtClean="0">
                <a:latin typeface="Lucida Bright" panose="02040602050505020304" pitchFamily="18" charset="0"/>
              </a:rPr>
              <a:t>struct</a:t>
            </a:r>
            <a:r>
              <a:rPr lang="en-US" dirty="0" smtClean="0">
                <a:latin typeface="Lucida Bright" panose="02040602050505020304" pitchFamily="18" charset="0"/>
              </a:rPr>
              <a:t> flock fl;</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fl.l_type</a:t>
            </a:r>
            <a:r>
              <a:rPr lang="en-US" dirty="0" smtClean="0">
                <a:latin typeface="Lucida Bright" panose="02040602050505020304" pitchFamily="18" charset="0"/>
              </a:rPr>
              <a:t> = F_WRLCK;</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 </a:t>
            </a:r>
            <a:r>
              <a:rPr lang="en-US" dirty="0" err="1" smtClean="0">
                <a:latin typeface="Lucida Bright" panose="02040602050505020304" pitchFamily="18" charset="0"/>
              </a:rPr>
              <a:t>fl.l_start</a:t>
            </a:r>
            <a:r>
              <a:rPr lang="en-US" dirty="0" smtClean="0">
                <a:latin typeface="Lucida Bright" panose="02040602050505020304" pitchFamily="18" charset="0"/>
              </a:rPr>
              <a:t> = 0;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fl.l_whence</a:t>
            </a:r>
            <a:r>
              <a:rPr lang="en-US" dirty="0" smtClean="0">
                <a:latin typeface="Lucida Bright" panose="02040602050505020304" pitchFamily="18" charset="0"/>
              </a:rPr>
              <a:t> = SEEK_SET; </a:t>
            </a:r>
            <a:endParaRPr lang="en-US" dirty="0" smtClean="0">
              <a:latin typeface="Lucida Bright" panose="02040602050505020304" pitchFamily="18" charset="0"/>
            </a:endParaRPr>
          </a:p>
          <a:p>
            <a:pPr>
              <a:lnSpc>
                <a:spcPct val="150000"/>
              </a:lnSpc>
              <a:buFontTx/>
              <a:buNone/>
            </a:pPr>
            <a:r>
              <a:rPr lang="en-US" dirty="0" err="1" smtClean="0">
                <a:latin typeface="Lucida Bright" panose="02040602050505020304" pitchFamily="18" charset="0"/>
              </a:rPr>
              <a:t>fl.l_len</a:t>
            </a:r>
            <a:r>
              <a:rPr lang="en-US" dirty="0" smtClean="0">
                <a:latin typeface="Lucida Bright" panose="02040602050505020304" pitchFamily="18" charset="0"/>
              </a:rPr>
              <a:t> = 0;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return(</a:t>
            </a:r>
            <a:r>
              <a:rPr lang="en-US" dirty="0" err="1" smtClean="0">
                <a:latin typeface="Lucida Bright" panose="02040602050505020304" pitchFamily="18" charset="0"/>
              </a:rPr>
              <a:t>fcntl</a:t>
            </a:r>
            <a:r>
              <a:rPr lang="en-US" dirty="0" smtClean="0">
                <a:latin typeface="Lucida Bright" panose="02040602050505020304" pitchFamily="18" charset="0"/>
              </a:rPr>
              <a:t>(</a:t>
            </a:r>
            <a:r>
              <a:rPr lang="en-US" dirty="0" err="1" smtClean="0">
                <a:latin typeface="Lucida Bright" panose="02040602050505020304" pitchFamily="18" charset="0"/>
              </a:rPr>
              <a:t>fd</a:t>
            </a:r>
            <a:r>
              <a:rPr lang="en-US" dirty="0" smtClean="0">
                <a:latin typeface="Lucida Bright" panose="02040602050505020304" pitchFamily="18" charset="0"/>
              </a:rPr>
              <a:t>, F_SETLK, &amp;fl)); </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buFontTx/>
              <a:buNone/>
            </a:pPr>
            <a:r>
              <a:rPr lang="en-US" b="1" dirty="0" smtClean="0">
                <a:latin typeface="Lucida Bright" panose="02040602050505020304" pitchFamily="18" charset="0"/>
              </a:rPr>
              <a:t>Advisory locking:</a:t>
            </a:r>
            <a:endParaRPr lang="en-US" b="1"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In Unix, advisory locking is done with flock() and </a:t>
            </a:r>
            <a:r>
              <a:rPr lang="en-US" dirty="0" err="1" smtClean="0">
                <a:latin typeface="Lucida Bright" panose="02040602050505020304" pitchFamily="18" charset="0"/>
              </a:rPr>
              <a:t>lockf</a:t>
            </a:r>
            <a:r>
              <a:rPr lang="en-US" dirty="0" smtClean="0">
                <a:latin typeface="Lucida Bright" panose="02040602050505020304" pitchFamily="18" charset="0"/>
              </a:rPr>
              <a:t>() commands.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Both </a:t>
            </a:r>
            <a:r>
              <a:rPr lang="en-US" i="1" dirty="0" err="1" smtClean="0">
                <a:latin typeface="Lucida Bright" panose="02040602050505020304" pitchFamily="18" charset="0"/>
              </a:rPr>
              <a:t>fcntl</a:t>
            </a:r>
            <a:r>
              <a:rPr lang="en-US" dirty="0" smtClean="0">
                <a:latin typeface="Lucida Bright" panose="02040602050505020304" pitchFamily="18" charset="0"/>
              </a:rPr>
              <a:t> and </a:t>
            </a:r>
            <a:r>
              <a:rPr lang="en-US" i="1" dirty="0" smtClean="0">
                <a:latin typeface="Lucida Bright" panose="02040602050505020304" pitchFamily="18" charset="0"/>
              </a:rPr>
              <a:t>flock</a:t>
            </a:r>
            <a:r>
              <a:rPr lang="en-US" dirty="0" smtClean="0">
                <a:latin typeface="Lucida Bright" panose="02040602050505020304" pitchFamily="18" charset="0"/>
              </a:rPr>
              <a:t> offer </a:t>
            </a:r>
            <a:r>
              <a:rPr lang="en-US" i="1" dirty="0" smtClean="0">
                <a:latin typeface="Lucida Bright" panose="02040602050505020304" pitchFamily="18" charset="0"/>
              </a:rPr>
              <a:t>advisory</a:t>
            </a:r>
            <a:r>
              <a:rPr lang="en-US" dirty="0" smtClean="0">
                <a:latin typeface="Lucida Bright" panose="02040602050505020304" pitchFamily="18" charset="0"/>
              </a:rPr>
              <a:t> locking. Advisory locking is locking that requires the cooperation of participating processes.</a:t>
            </a:r>
            <a:endParaRPr lang="en-US" dirty="0" smtClean="0">
              <a:latin typeface="Lucida Bright" panose="02040602050505020304" pitchFamily="18" charset="0"/>
            </a:endParaRPr>
          </a:p>
          <a:p>
            <a:pPr>
              <a:lnSpc>
                <a:spcPct val="150000"/>
              </a:lnSpc>
              <a:buFontTx/>
              <a:buNone/>
            </a:pPr>
            <a:r>
              <a:rPr lang="en-US" dirty="0" smtClean="0">
                <a:latin typeface="Lucida Bright" panose="02040602050505020304" pitchFamily="18" charset="0"/>
              </a:rPr>
              <a:t>advisory locking is sometimes called </a:t>
            </a:r>
            <a:r>
              <a:rPr lang="en-US" i="1" dirty="0" smtClean="0">
                <a:latin typeface="Lucida Bright" panose="02040602050505020304" pitchFamily="18" charset="0"/>
              </a:rPr>
              <a:t>unenforced</a:t>
            </a:r>
            <a:r>
              <a:rPr lang="en-US" dirty="0" smtClean="0">
                <a:latin typeface="Lucida Bright" panose="02040602050505020304" pitchFamily="18" charset="0"/>
              </a:rPr>
              <a:t> locking.</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buFontTx/>
              <a:buNone/>
            </a:pPr>
            <a:endParaRPr lang="en-US" b="1"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272230"/>
          </a:xfrm>
          <a:prstGeom prst="rect">
            <a:avLst/>
          </a:prstGeom>
          <a:noFill/>
          <a:ln w="9525">
            <a:noFill/>
            <a:miter lim="800000"/>
          </a:ln>
        </p:spPr>
        <p:txBody>
          <a:bodyPr wrap="square">
            <a:spAutoFit/>
          </a:bodyPr>
          <a:lstStyle/>
          <a:p>
            <a:pPr>
              <a:lnSpc>
                <a:spcPct val="150000"/>
              </a:lnSpc>
              <a:buFontTx/>
              <a:buNone/>
            </a:pPr>
            <a:r>
              <a:rPr lang="en-US" b="1" dirty="0" smtClean="0">
                <a:latin typeface="Lucida Bright" panose="02040602050505020304" pitchFamily="18" charset="0"/>
              </a:rPr>
              <a:t>Mandatory locking: </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Is the kernel enforced file locking, as opposed to the more usual  cooperative file locking used to guarantee sequential access to files among  processes.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 file is marked as a candidate for mandatory locking by setting the group-id bit in its file mode but removing the group-execute bit.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Mandatory locks can only be applied via the </a:t>
            </a:r>
            <a:r>
              <a:rPr lang="en-US" dirty="0" err="1" smtClean="0">
                <a:latin typeface="Lucida Bright" panose="02040602050505020304" pitchFamily="18" charset="0"/>
              </a:rPr>
              <a:t>fcntl</a:t>
            </a:r>
            <a:r>
              <a:rPr lang="en-US" dirty="0" smtClean="0">
                <a:latin typeface="Lucida Bright" panose="02040602050505020304" pitchFamily="18" charset="0"/>
              </a:rPr>
              <a:t>()/</a:t>
            </a:r>
            <a:r>
              <a:rPr lang="en-US" dirty="0" err="1" smtClean="0">
                <a:latin typeface="Lucida Bright" panose="02040602050505020304" pitchFamily="18" charset="0"/>
              </a:rPr>
              <a:t>lockf</a:t>
            </a:r>
            <a:r>
              <a:rPr lang="en-US" dirty="0" smtClean="0">
                <a:latin typeface="Lucida Bright" panose="02040602050505020304" pitchFamily="18" charset="0"/>
              </a:rPr>
              <a:t>() locking interface.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If a process has locked a region of a file with a mandatory read lock, then other processes are permitted to read from that region. If any of these processes attempts to write to the region it will block until the lock is released.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If a process has locked a region of a file with a mandatory write lock, all attempts to read or write to that region block until the lock is released.</a:t>
            </a: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buFontTx/>
              <a:buNone/>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smtClean="0">
              <a:latin typeface="Lucida Bright" panose="02040602050505020304" pitchFamily="18" charset="0"/>
            </a:endParaRPr>
          </a:p>
          <a:p>
            <a:pPr algn="ct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3416320"/>
          </a:xfrm>
          <a:prstGeom prst="rect">
            <a:avLst/>
          </a:prstGeom>
          <a:noFill/>
          <a:ln w="9525">
            <a:noFill/>
            <a:miter lim="800000"/>
          </a:ln>
        </p:spPr>
        <p:txBody>
          <a:bodyPr wrap="square">
            <a:spAutoFit/>
          </a:bodyPr>
          <a:lstStyle/>
          <a:p>
            <a:pPr>
              <a:lnSpc>
                <a:spcPct val="150000"/>
              </a:lnSpc>
              <a:buFontTx/>
              <a:buNone/>
            </a:pPr>
            <a:r>
              <a:rPr lang="en-US" b="1" dirty="0" smtClean="0">
                <a:latin typeface="Lucida Bright" panose="02040602050505020304" pitchFamily="18" charset="0"/>
              </a:rPr>
              <a:t>Advisory versus Mandatory Locking</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Mandatory locking only protects those portions of a file that are locked. Other portions of the file that are not locked may be accessed according to normal UNIX system file permissions. </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Advisory locking is more efficient because a record lock check does not have to be performed for every I/O request.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endParaRPr lang="en-US" sz="4000" b="1" dirty="0" smtClean="0">
              <a:latin typeface="Lucida Bright" panose="02040602050505020304" pitchFamily="18" charset="0"/>
            </a:endParaRPr>
          </a:p>
          <a:p>
            <a:pPr algn="ctr"/>
            <a:r>
              <a:rPr lang="en-US" sz="4000" b="1" dirty="0" smtClean="0">
                <a:latin typeface="Lucida Bright" panose="02040602050505020304" pitchFamily="18" charset="0"/>
              </a:rPr>
              <a:t>File and Record Locking</a:t>
            </a:r>
            <a:endParaRPr lang="en-US" sz="4000" dirty="0" smtClean="0">
              <a:latin typeface="Lucida Bright" panose="02040602050505020304" pitchFamily="18" charset="0"/>
            </a:endParaRPr>
          </a:p>
          <a:p>
            <a:pPr algn="ct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047809"/>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standard libraries and system calls provide complete control over the creation and maintenance of files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and directories.</a:t>
            </a:r>
            <a:endParaRPr lang="en-US" dirty="0" smtClean="0">
              <a:latin typeface="Lucida Bright" panose="02040602050505020304" pitchFamily="18" charset="0"/>
            </a:endParaRPr>
          </a:p>
          <a:p>
            <a:r>
              <a:rPr lang="en-US" b="1" dirty="0" err="1" smtClean="0">
                <a:latin typeface="Lucida Bright" panose="02040602050505020304" pitchFamily="18" charset="0"/>
              </a:rPr>
              <a:t>chmod</a:t>
            </a:r>
            <a:r>
              <a:rPr lang="en-US" b="1" dirty="0" smtClean="0">
                <a:latin typeface="Lucida Bright" panose="02040602050505020304" pitchFamily="18" charset="0"/>
              </a:rPr>
              <a:t>, </a:t>
            </a:r>
            <a:r>
              <a:rPr lang="en-US" b="1" dirty="0" err="1" smtClean="0">
                <a:latin typeface="Lucida Bright" panose="02040602050505020304" pitchFamily="18" charset="0"/>
              </a:rPr>
              <a:t>fchmod</a:t>
            </a:r>
            <a:r>
              <a:rPr lang="en-US" b="1" dirty="0" smtClean="0">
                <a:latin typeface="Lucida Bright" panose="02040602050505020304" pitchFamily="18" charset="0"/>
              </a:rPr>
              <a:t> </a:t>
            </a:r>
            <a:endParaRPr lang="en-US" b="1"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chmod</a:t>
            </a:r>
            <a:r>
              <a:rPr lang="en-US" dirty="0" smtClean="0">
                <a:latin typeface="Lucida Bright" panose="02040602050505020304" pitchFamily="18" charset="0"/>
              </a:rPr>
              <a:t> and </a:t>
            </a:r>
            <a:r>
              <a:rPr lang="en-US" dirty="0" err="1" smtClean="0">
                <a:latin typeface="Lucida Bright" panose="02040602050505020304" pitchFamily="18" charset="0"/>
              </a:rPr>
              <a:t>fchmod</a:t>
            </a:r>
            <a:r>
              <a:rPr lang="en-US" dirty="0" smtClean="0">
                <a:latin typeface="Lucida Bright" panose="02040602050505020304" pitchFamily="18" charset="0"/>
              </a:rPr>
              <a:t> functions change file access permissions for owner, group &amp; others as well as the </a:t>
            </a:r>
            <a:r>
              <a:rPr lang="en-US" dirty="0" err="1" smtClean="0">
                <a:latin typeface="Lucida Bright" panose="02040602050505020304" pitchFamily="18" charset="0"/>
              </a:rPr>
              <a:t>set_UID</a:t>
            </a:r>
            <a:r>
              <a:rPr lang="en-US" dirty="0" smtClean="0">
                <a:latin typeface="Lucida Bright" panose="02040602050505020304" pitchFamily="18" charset="0"/>
              </a:rPr>
              <a:t>, </a:t>
            </a:r>
            <a:r>
              <a:rPr lang="en-US" dirty="0" err="1" smtClean="0">
                <a:latin typeface="Lucida Bright" panose="02040602050505020304" pitchFamily="18" charset="0"/>
              </a:rPr>
              <a:t>set_GID</a:t>
            </a:r>
            <a:r>
              <a:rPr lang="en-US" dirty="0" smtClean="0">
                <a:latin typeface="Lucida Bright" panose="02040602050505020304" pitchFamily="18" charset="0"/>
              </a:rPr>
              <a:t> and sticky flags. </a:t>
            </a:r>
            <a:endParaRPr lang="en-US"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A process must have the effective UID of either the super-user/owner of the file. </a:t>
            </a:r>
            <a:endParaRPr lang="en-US"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The prototypes of these functions are </a:t>
            </a:r>
            <a:endParaRPr lang="en-US" dirty="0" smtClean="0">
              <a:latin typeface="Lucida Bright" panose="02040602050505020304" pitchFamily="18" charset="0"/>
            </a:endParaRPr>
          </a:p>
          <a:p>
            <a:r>
              <a:rPr lang="en-US" dirty="0" smtClean="0">
                <a:latin typeface="Lucida Bright" panose="02040602050505020304" pitchFamily="18" charset="0"/>
              </a:rPr>
              <a:t>#include&lt;sys/</a:t>
            </a:r>
            <a:r>
              <a:rPr lang="en-US" dirty="0" err="1" smtClean="0">
                <a:latin typeface="Lucida Bright" panose="02040602050505020304" pitchFamily="18" charset="0"/>
              </a:rPr>
              <a:t>types.h</a:t>
            </a:r>
            <a:r>
              <a:rPr lang="en-US" dirty="0" smtClean="0">
                <a:latin typeface="Lucida Bright" panose="02040602050505020304" pitchFamily="18" charset="0"/>
              </a:rPr>
              <a:t>&gt; #include&lt;sys/</a:t>
            </a:r>
            <a:r>
              <a:rPr lang="en-US" dirty="0" err="1" smtClean="0">
                <a:latin typeface="Lucida Bright" panose="02040602050505020304" pitchFamily="18" charset="0"/>
              </a:rPr>
              <a:t>stat.h</a:t>
            </a:r>
            <a:r>
              <a:rPr lang="en-US" dirty="0" smtClean="0">
                <a:latin typeface="Lucida Bright" panose="02040602050505020304" pitchFamily="18" charset="0"/>
              </a:rPr>
              <a:t>&gt; #include&lt;</a:t>
            </a:r>
            <a:r>
              <a:rPr lang="en-US" dirty="0" err="1" smtClean="0">
                <a:latin typeface="Lucida Bright" panose="02040602050505020304" pitchFamily="18" charset="0"/>
              </a:rPr>
              <a:t>unistd.h</a:t>
            </a:r>
            <a:r>
              <a:rPr lang="en-US" dirty="0" smtClean="0">
                <a:latin typeface="Lucida Bright" panose="02040602050505020304" pitchFamily="18" charset="0"/>
              </a:rPr>
              <a:t>&gt; </a:t>
            </a:r>
            <a:r>
              <a:rPr lang="en-US" dirty="0" err="1" smtClean="0">
                <a:latin typeface="Lucida Bright" panose="02040602050505020304" pitchFamily="18" charset="0"/>
              </a:rPr>
              <a:t>int</a:t>
            </a:r>
            <a:r>
              <a:rPr lang="en-US" dirty="0" smtClean="0">
                <a:latin typeface="Lucida Bright" panose="02040602050505020304" pitchFamily="18" charset="0"/>
              </a:rPr>
              <a:t> </a:t>
            </a:r>
            <a:r>
              <a:rPr lang="en-US" b="1" i="1" dirty="0" err="1" smtClean="0">
                <a:latin typeface="Lucida Bright" panose="02040602050505020304" pitchFamily="18" charset="0"/>
              </a:rPr>
              <a:t>chmod</a:t>
            </a:r>
            <a:r>
              <a:rPr lang="en-US" b="1" i="1" dirty="0" smtClean="0">
                <a:latin typeface="Lucida Bright" panose="02040602050505020304" pitchFamily="18" charset="0"/>
              </a:rPr>
              <a:t>(const char *pathname, </a:t>
            </a:r>
            <a:r>
              <a:rPr lang="en-US" b="1" i="1" dirty="0" err="1" smtClean="0">
                <a:latin typeface="Lucida Bright" panose="02040602050505020304" pitchFamily="18" charset="0"/>
              </a:rPr>
              <a:t>mode_t</a:t>
            </a:r>
            <a:r>
              <a:rPr lang="en-US" b="1" i="1" dirty="0" smtClean="0">
                <a:latin typeface="Lucida Bright" panose="02040602050505020304" pitchFamily="18" charset="0"/>
              </a:rPr>
              <a:t> flag); </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fchmod</a:t>
            </a:r>
            <a:r>
              <a:rPr lang="en-US" b="1" i="1" dirty="0" smtClean="0">
                <a:latin typeface="Lucida Bright" panose="02040602050505020304" pitchFamily="18" charset="0"/>
              </a:rPr>
              <a:t>(</a:t>
            </a:r>
            <a:r>
              <a:rPr lang="en-US" b="1" i="1" dirty="0" err="1" smtClean="0">
                <a:latin typeface="Lucida Bright" panose="02040602050505020304" pitchFamily="18" charset="0"/>
              </a:rPr>
              <a:t>int</a:t>
            </a:r>
            <a:r>
              <a:rPr lang="en-US" b="1" i="1" dirty="0" smtClean="0">
                <a:latin typeface="Lucida Bright" panose="02040602050505020304" pitchFamily="18" charset="0"/>
              </a:rPr>
              <a:t> </a:t>
            </a:r>
            <a:r>
              <a:rPr lang="en-US" b="1" i="1" dirty="0" err="1" smtClean="0">
                <a:latin typeface="Lucida Bright" panose="02040602050505020304" pitchFamily="18" charset="0"/>
              </a:rPr>
              <a:t>fdesc</a:t>
            </a:r>
            <a:r>
              <a:rPr lang="en-US" b="1" i="1" dirty="0" smtClean="0">
                <a:latin typeface="Lucida Bright" panose="02040602050505020304" pitchFamily="18" charset="0"/>
              </a:rPr>
              <a:t>, </a:t>
            </a:r>
            <a:r>
              <a:rPr lang="en-US" b="1" i="1" dirty="0" err="1" smtClean="0">
                <a:latin typeface="Lucida Bright" panose="02040602050505020304" pitchFamily="18" charset="0"/>
              </a:rPr>
              <a:t>mode_t</a:t>
            </a:r>
            <a:r>
              <a:rPr lang="en-US" b="1" i="1" dirty="0" smtClean="0">
                <a:latin typeface="Lucida Bright" panose="02040602050505020304" pitchFamily="18" charset="0"/>
              </a:rPr>
              <a:t> flag); </a:t>
            </a:r>
            <a:endParaRPr lang="en-US" b="1" i="1"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The pathname argument of </a:t>
            </a:r>
            <a:r>
              <a:rPr lang="en-US" dirty="0" err="1" smtClean="0">
                <a:latin typeface="Lucida Bright" panose="02040602050505020304" pitchFamily="18" charset="0"/>
              </a:rPr>
              <a:t>chmod</a:t>
            </a:r>
            <a:r>
              <a:rPr lang="en-US" dirty="0" smtClean="0">
                <a:latin typeface="Lucida Bright" panose="02040602050505020304" pitchFamily="18" charset="0"/>
              </a:rPr>
              <a:t> is the path name of a file whereas the </a:t>
            </a:r>
            <a:r>
              <a:rPr lang="en-US" dirty="0" err="1" smtClean="0">
                <a:latin typeface="Lucida Bright" panose="02040602050505020304" pitchFamily="18" charset="0"/>
              </a:rPr>
              <a:t>fdesc</a:t>
            </a:r>
            <a:r>
              <a:rPr lang="en-US" dirty="0" smtClean="0">
                <a:latin typeface="Lucida Bright" panose="02040602050505020304" pitchFamily="18" charset="0"/>
              </a:rPr>
              <a:t> argument of </a:t>
            </a:r>
            <a:r>
              <a:rPr lang="en-US" dirty="0" err="1" smtClean="0">
                <a:latin typeface="Lucida Bright" panose="02040602050505020304" pitchFamily="18" charset="0"/>
              </a:rPr>
              <a:t>fchmod</a:t>
            </a:r>
            <a:r>
              <a:rPr lang="en-US" dirty="0" smtClean="0">
                <a:latin typeface="Lucida Bright" panose="02040602050505020304" pitchFamily="18" charset="0"/>
              </a:rPr>
              <a:t> is the file descriptor of a file. </a:t>
            </a:r>
            <a:endParaRPr lang="en-US"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The </a:t>
            </a:r>
            <a:r>
              <a:rPr lang="en-US" dirty="0" err="1" smtClean="0">
                <a:latin typeface="Lucida Bright" panose="02040602050505020304" pitchFamily="18" charset="0"/>
              </a:rPr>
              <a:t>chmod</a:t>
            </a:r>
            <a:r>
              <a:rPr lang="en-US" dirty="0" smtClean="0">
                <a:latin typeface="Lucida Bright" panose="02040602050505020304" pitchFamily="18" charset="0"/>
              </a:rPr>
              <a:t> function operates on the specified file, whereas the </a:t>
            </a:r>
            <a:r>
              <a:rPr lang="en-US" dirty="0" err="1" smtClean="0">
                <a:latin typeface="Lucida Bright" panose="02040602050505020304" pitchFamily="18" charset="0"/>
              </a:rPr>
              <a:t>fchmod</a:t>
            </a:r>
            <a:r>
              <a:rPr lang="en-US" dirty="0" smtClean="0">
                <a:latin typeface="Lucida Bright" panose="02040602050505020304" pitchFamily="18" charset="0"/>
              </a:rPr>
              <a:t> function operates on a file that has already been opened. </a:t>
            </a:r>
            <a:endParaRPr lang="en-US" dirty="0" smtClean="0">
              <a:latin typeface="Lucida Bright" panose="02040602050505020304" pitchFamily="18" charset="0"/>
            </a:endParaRPr>
          </a:p>
          <a:p>
            <a:pPr>
              <a:buFont typeface="Arial" panose="020B0604020202020204" pitchFamily="34" charset="0"/>
              <a:buChar char="•"/>
            </a:pPr>
            <a:r>
              <a:rPr lang="en-US" dirty="0" smtClean="0">
                <a:latin typeface="Lucida Bright" panose="02040602050505020304" pitchFamily="18" charset="0"/>
              </a:rPr>
              <a:t> To change the permission bits of a file, the effective user ID of the process must be equal to the owner ID of the file, or the process must have super-user permissions. The mode is specified as the bitwise OR of the constants shown below.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and Directory Management</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4662815"/>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chown</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A </a:t>
            </a:r>
            <a:r>
              <a:rPr lang="en-US" dirty="0" err="1" smtClean="0">
                <a:latin typeface="Lucida Bright" panose="02040602050505020304" pitchFamily="18" charset="0"/>
              </a:rPr>
              <a:t>superuser</a:t>
            </a:r>
            <a:r>
              <a:rPr lang="en-US" dirty="0" smtClean="0">
                <a:latin typeface="Lucida Bright" panose="02040602050505020304" pitchFamily="18" charset="0"/>
              </a:rPr>
              <a:t> can change the owner of a file using the </a:t>
            </a:r>
            <a:r>
              <a:rPr lang="en-US" dirty="0" err="1" smtClean="0">
                <a:latin typeface="Lucida Bright" panose="02040602050505020304" pitchFamily="18" charset="0"/>
              </a:rPr>
              <a:t>chown</a:t>
            </a:r>
            <a:r>
              <a:rPr lang="en-US" dirty="0" smtClean="0">
                <a:latin typeface="Lucida Bright" panose="02040602050505020304" pitchFamily="18" charset="0"/>
              </a:rPr>
              <a:t> system call.</a:t>
            </a:r>
            <a:endParaRPr lang="en-US" dirty="0" smtClean="0">
              <a:latin typeface="Lucida Bright" panose="02040602050505020304" pitchFamily="18" charset="0"/>
            </a:endParaRPr>
          </a:p>
          <a:p>
            <a:pPr>
              <a:lnSpc>
                <a:spcPct val="150000"/>
              </a:lnSpc>
            </a:pP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chown</a:t>
            </a:r>
            <a:r>
              <a:rPr lang="en-US" b="1" dirty="0" smtClean="0">
                <a:latin typeface="Lucida Bright" panose="02040602050505020304" pitchFamily="18" charset="0"/>
              </a:rPr>
              <a:t>(const char *path, </a:t>
            </a:r>
            <a:r>
              <a:rPr lang="en-US" b="1" dirty="0" err="1" smtClean="0">
                <a:latin typeface="Lucida Bright" panose="02040602050505020304" pitchFamily="18" charset="0"/>
              </a:rPr>
              <a:t>uid_t</a:t>
            </a:r>
            <a:r>
              <a:rPr lang="en-US" b="1" dirty="0" smtClean="0">
                <a:latin typeface="Lucida Bright" panose="02040602050505020304" pitchFamily="18" charset="0"/>
              </a:rPr>
              <a:t> owner, </a:t>
            </a:r>
            <a:r>
              <a:rPr lang="en-US" b="1" dirty="0" err="1" smtClean="0">
                <a:latin typeface="Lucida Bright" panose="02040602050505020304" pitchFamily="18" charset="0"/>
              </a:rPr>
              <a:t>gid_t</a:t>
            </a:r>
            <a:r>
              <a:rPr lang="en-US" b="1" dirty="0" smtClean="0">
                <a:latin typeface="Lucida Bright" panose="02040602050505020304" pitchFamily="18" charset="0"/>
              </a:rPr>
              <a:t> group);</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call uses the numeric values of the user and group IDs (culled from </a:t>
            </a:r>
            <a:r>
              <a:rPr lang="en-US" dirty="0" err="1" smtClean="0">
                <a:latin typeface="Lucida Bright" panose="02040602050505020304" pitchFamily="18" charset="0"/>
              </a:rPr>
              <a:t>getuid</a:t>
            </a:r>
            <a:r>
              <a:rPr lang="en-US" dirty="0" smtClean="0">
                <a:latin typeface="Lucida Bright" panose="02040602050505020304" pitchFamily="18" charset="0"/>
              </a:rPr>
              <a:t> and </a:t>
            </a:r>
            <a:r>
              <a:rPr lang="en-US" dirty="0" err="1" smtClean="0">
                <a:latin typeface="Lucida Bright" panose="02040602050505020304" pitchFamily="18" charset="0"/>
              </a:rPr>
              <a:t>getgid</a:t>
            </a:r>
            <a:r>
              <a:rPr lang="en-US" dirty="0" smtClean="0">
                <a:latin typeface="Lucida Bright" panose="02040602050505020304" pitchFamily="18" charset="0"/>
              </a:rPr>
              <a:t> calls) and a constant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which can restrict who can change file ownership. The owner and group of a file are changed if the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appropriate privileges are set.</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and Directory Management</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4610236"/>
          </a:xfrm>
          <a:prstGeom prst="rect">
            <a:avLst/>
          </a:prstGeom>
          <a:noFill/>
          <a:ln w="9525">
            <a:noFill/>
            <a:miter lim="800000"/>
          </a:ln>
        </p:spPr>
        <p:txBody>
          <a:bodyPr wrap="square">
            <a:spAutoFit/>
          </a:bodyPr>
          <a:lstStyle/>
          <a:p>
            <a:pPr>
              <a:lnSpc>
                <a:spcPct val="150000"/>
              </a:lnSpc>
            </a:pPr>
            <a:r>
              <a:rPr lang="en-US" b="1" dirty="0" smtClean="0">
                <a:latin typeface="Lucida Bright" panose="02040602050505020304" pitchFamily="18" charset="0"/>
              </a:rPr>
              <a:t>unlink, link, </a:t>
            </a:r>
            <a:r>
              <a:rPr lang="en-US" b="1" dirty="0" err="1" smtClean="0">
                <a:latin typeface="Lucida Bright" panose="02040602050505020304" pitchFamily="18" charset="0"/>
              </a:rPr>
              <a:t>symlink</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We can remove a file using unlink.</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unlink(const char *path);</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link(const char *path1, const char *path2);</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symlink</a:t>
            </a:r>
            <a:r>
              <a:rPr lang="en-US" b="1" dirty="0" smtClean="0">
                <a:latin typeface="Lucida Bright" panose="02040602050505020304" pitchFamily="18" charset="0"/>
              </a:rPr>
              <a:t>(const char *path1, const char *path2);</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unlink system call removes the directory entry for a file decrements the link count for it. It returns 0 if the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unlinking was successful, −1 on an error. You must have write and execute permissions in the directory where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file has its directory entry for this call to function.</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and Directory Management</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6324808"/>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mkdir</a:t>
            </a:r>
            <a:r>
              <a:rPr lang="en-US" b="1" dirty="0" smtClean="0">
                <a:latin typeface="Lucida Bright" panose="02040602050505020304" pitchFamily="18" charset="0"/>
              </a:rPr>
              <a:t>, </a:t>
            </a:r>
            <a:r>
              <a:rPr lang="en-US" b="1" dirty="0" err="1" smtClean="0">
                <a:latin typeface="Lucida Bright" panose="02040602050505020304" pitchFamily="18" charset="0"/>
              </a:rPr>
              <a:t>rmdir</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We can create and remove directories using the </a:t>
            </a:r>
            <a:r>
              <a:rPr lang="en-US" dirty="0" err="1" smtClean="0">
                <a:latin typeface="Lucida Bright" panose="02040602050505020304" pitchFamily="18" charset="0"/>
              </a:rPr>
              <a:t>mkdir</a:t>
            </a:r>
            <a:r>
              <a:rPr lang="en-US" dirty="0" smtClean="0">
                <a:latin typeface="Lucida Bright" panose="02040602050505020304" pitchFamily="18" charset="0"/>
              </a:rPr>
              <a:t> and </a:t>
            </a:r>
            <a:r>
              <a:rPr lang="en-US" dirty="0" err="1" smtClean="0">
                <a:latin typeface="Lucida Bright" panose="02040602050505020304" pitchFamily="18" charset="0"/>
              </a:rPr>
              <a:t>rmdir</a:t>
            </a:r>
            <a:r>
              <a:rPr lang="en-US" dirty="0" smtClean="0">
                <a:latin typeface="Lucida Bright" panose="02040602050505020304" pitchFamily="18" charset="0"/>
              </a:rPr>
              <a:t> system calls.</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stat.h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fr-FR" b="1" dirty="0" err="1" smtClean="0">
                <a:latin typeface="Lucida Bright" panose="02040602050505020304" pitchFamily="18" charset="0"/>
              </a:rPr>
              <a:t>int</a:t>
            </a:r>
            <a:r>
              <a:rPr lang="fr-FR" b="1" dirty="0" smtClean="0">
                <a:latin typeface="Lucida Bright" panose="02040602050505020304" pitchFamily="18" charset="0"/>
              </a:rPr>
              <a:t> </a:t>
            </a:r>
            <a:r>
              <a:rPr lang="fr-FR" b="1" dirty="0" err="1" smtClean="0">
                <a:latin typeface="Lucida Bright" panose="02040602050505020304" pitchFamily="18" charset="0"/>
              </a:rPr>
              <a:t>mkdir</a:t>
            </a:r>
            <a:r>
              <a:rPr lang="fr-FR" b="1" dirty="0" smtClean="0">
                <a:latin typeface="Lucida Bright" panose="02040602050505020304" pitchFamily="18" charset="0"/>
              </a:rPr>
              <a:t>(</a:t>
            </a:r>
            <a:r>
              <a:rPr lang="fr-FR" b="1" dirty="0" err="1" smtClean="0">
                <a:latin typeface="Lucida Bright" panose="02040602050505020304" pitchFamily="18" charset="0"/>
              </a:rPr>
              <a:t>const</a:t>
            </a:r>
            <a:r>
              <a:rPr lang="fr-FR" b="1" dirty="0" smtClean="0">
                <a:latin typeface="Lucida Bright" panose="02040602050505020304" pitchFamily="18" charset="0"/>
              </a:rPr>
              <a:t> char *</a:t>
            </a:r>
            <a:r>
              <a:rPr lang="fr-FR" b="1" dirty="0" err="1" smtClean="0">
                <a:latin typeface="Lucida Bright" panose="02040602050505020304" pitchFamily="18" charset="0"/>
              </a:rPr>
              <a:t>path</a:t>
            </a:r>
            <a:r>
              <a:rPr lang="fr-FR" b="1" dirty="0" smtClean="0">
                <a:latin typeface="Lucida Bright" panose="02040602050505020304" pitchFamily="18" charset="0"/>
              </a:rPr>
              <a:t>, </a:t>
            </a:r>
            <a:r>
              <a:rPr lang="fr-FR" b="1" dirty="0" err="1" smtClean="0">
                <a:latin typeface="Lucida Bright" panose="02040602050505020304" pitchFamily="18" charset="0"/>
              </a:rPr>
              <a:t>mode_t</a:t>
            </a:r>
            <a:r>
              <a:rPr lang="fr-FR" b="1" dirty="0" smtClean="0">
                <a:latin typeface="Lucida Bright" panose="02040602050505020304" pitchFamily="18" charset="0"/>
              </a:rPr>
              <a:t> mode);</a:t>
            </a:r>
            <a:endParaRPr lang="fr-FR"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mkdir</a:t>
            </a:r>
            <a:r>
              <a:rPr lang="en-US" dirty="0" smtClean="0">
                <a:latin typeface="Lucida Bright" panose="02040602050505020304" pitchFamily="18" charset="0"/>
              </a:rPr>
              <a:t> system call is used for creating directories and is the equivalent of the </a:t>
            </a:r>
            <a:r>
              <a:rPr lang="en-US" dirty="0" err="1" smtClean="0">
                <a:latin typeface="Lucida Bright" panose="02040602050505020304" pitchFamily="18" charset="0"/>
              </a:rPr>
              <a:t>mkdir</a:t>
            </a:r>
            <a:r>
              <a:rPr lang="en-US" dirty="0" smtClean="0">
                <a:latin typeface="Lucida Bright" panose="02040602050505020304" pitchFamily="18" charset="0"/>
              </a:rPr>
              <a:t> program. </a:t>
            </a:r>
            <a:r>
              <a:rPr lang="en-US" dirty="0" err="1" smtClean="0">
                <a:latin typeface="Lucida Bright" panose="02040602050505020304" pitchFamily="18" charset="0"/>
              </a:rPr>
              <a:t>mkdir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makes a new directory with path as its name. The directory permissions are passed in the parameter mode and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are given as in the O_CREAT option of the open system call and, again, subject to </a:t>
            </a:r>
            <a:r>
              <a:rPr lang="en-US" dirty="0" err="1" smtClean="0">
                <a:latin typeface="Lucida Bright" panose="02040602050505020304" pitchFamily="18" charset="0"/>
              </a:rPr>
              <a:t>umask</a:t>
            </a:r>
            <a:r>
              <a:rPr lang="en-US" dirty="0" smtClean="0">
                <a:latin typeface="Lucida Bright" panose="02040602050505020304" pitchFamily="18" charset="0"/>
              </a:rPr>
              <a:t>.</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rmdir</a:t>
            </a:r>
            <a:r>
              <a:rPr lang="en-US" b="1" dirty="0" smtClean="0">
                <a:latin typeface="Lucida Bright" panose="02040602050505020304" pitchFamily="18" charset="0"/>
              </a:rPr>
              <a:t>(const char *path);</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rmdir</a:t>
            </a:r>
            <a:r>
              <a:rPr lang="en-US" dirty="0" smtClean="0">
                <a:latin typeface="Lucida Bright" panose="02040602050505020304" pitchFamily="18" charset="0"/>
              </a:rPr>
              <a:t> system call removes directories, but only if they are empty. The </a:t>
            </a:r>
            <a:r>
              <a:rPr lang="en-US" dirty="0" err="1" smtClean="0">
                <a:latin typeface="Lucida Bright" panose="02040602050505020304" pitchFamily="18" charset="0"/>
              </a:rPr>
              <a:t>rmdir</a:t>
            </a:r>
            <a:r>
              <a:rPr lang="en-US" dirty="0" smtClean="0">
                <a:latin typeface="Lucida Bright" panose="02040602050505020304" pitchFamily="18" charset="0"/>
              </a:rPr>
              <a:t> program uses this system call</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to do its job.</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and Directory Management</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909310"/>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chdir</a:t>
            </a:r>
            <a:r>
              <a:rPr lang="en-US" b="1" dirty="0" smtClean="0">
                <a:latin typeface="Lucida Bright" panose="02040602050505020304" pitchFamily="18" charset="0"/>
              </a:rPr>
              <a:t>, </a:t>
            </a:r>
            <a:r>
              <a:rPr lang="en-US" b="1" dirty="0" err="1" smtClean="0">
                <a:latin typeface="Lucida Bright" panose="02040602050505020304" pitchFamily="18" charset="0"/>
              </a:rPr>
              <a:t>getcwd</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A program can navigate directories in much the same way as a user moves around the UNIX file system. As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we use the </a:t>
            </a:r>
            <a:r>
              <a:rPr lang="en-US" dirty="0" err="1" smtClean="0">
                <a:latin typeface="Lucida Bright" panose="02040602050505020304" pitchFamily="18" charset="0"/>
              </a:rPr>
              <a:t>cd</a:t>
            </a:r>
            <a:r>
              <a:rPr lang="en-US" dirty="0" smtClean="0">
                <a:latin typeface="Lucida Bright" panose="02040602050505020304" pitchFamily="18" charset="0"/>
              </a:rPr>
              <a:t> command in the shell to change directory, so a program can use the </a:t>
            </a:r>
            <a:r>
              <a:rPr lang="en-US" dirty="0" err="1" smtClean="0">
                <a:latin typeface="Lucida Bright" panose="02040602050505020304" pitchFamily="18" charset="0"/>
              </a:rPr>
              <a:t>chdir</a:t>
            </a:r>
            <a:r>
              <a:rPr lang="en-US" dirty="0" smtClean="0">
                <a:latin typeface="Lucida Bright" panose="02040602050505020304" pitchFamily="18" charset="0"/>
              </a:rPr>
              <a:t> system call.</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chdir</a:t>
            </a:r>
            <a:r>
              <a:rPr lang="en-US" b="1" dirty="0" smtClean="0">
                <a:latin typeface="Lucida Bright" panose="02040602050505020304" pitchFamily="18" charset="0"/>
              </a:rPr>
              <a:t>(const char *path);</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A program can determine its current working directory by calling the </a:t>
            </a:r>
            <a:r>
              <a:rPr lang="en-US" dirty="0" err="1" smtClean="0">
                <a:latin typeface="Lucida Bright" panose="02040602050505020304" pitchFamily="18" charset="0"/>
              </a:rPr>
              <a:t>getcwd</a:t>
            </a:r>
            <a:r>
              <a:rPr lang="en-US" dirty="0" smtClean="0">
                <a:latin typeface="Lucida Bright" panose="02040602050505020304" pitchFamily="18" charset="0"/>
              </a:rPr>
              <a:t> function.</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unistd.h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char *</a:t>
            </a:r>
            <a:r>
              <a:rPr lang="en-US" b="1" dirty="0" err="1" smtClean="0">
                <a:latin typeface="Lucida Bright" panose="02040602050505020304" pitchFamily="18" charset="0"/>
              </a:rPr>
              <a:t>getcwd</a:t>
            </a:r>
            <a:r>
              <a:rPr lang="en-US" b="1" dirty="0" smtClean="0">
                <a:latin typeface="Lucida Bright" panose="02040602050505020304" pitchFamily="18" charset="0"/>
              </a:rPr>
              <a:t>(char *</a:t>
            </a:r>
            <a:r>
              <a:rPr lang="en-US" b="1" dirty="0" err="1" smtClean="0">
                <a:latin typeface="Lucida Bright" panose="02040602050505020304" pitchFamily="18" charset="0"/>
              </a:rPr>
              <a:t>buf</a:t>
            </a:r>
            <a:r>
              <a:rPr lang="en-US" b="1" dirty="0" smtClean="0">
                <a:latin typeface="Lucida Bright" panose="02040602050505020304" pitchFamily="18" charset="0"/>
              </a:rPr>
              <a:t>, </a:t>
            </a:r>
            <a:r>
              <a:rPr lang="en-US" b="1" dirty="0" err="1" smtClean="0">
                <a:latin typeface="Lucida Bright" panose="02040602050505020304" pitchFamily="18" charset="0"/>
              </a:rPr>
              <a:t>size_t</a:t>
            </a:r>
            <a:r>
              <a:rPr lang="en-US" b="1" dirty="0" smtClean="0">
                <a:latin typeface="Lucida Bright" panose="02040602050505020304" pitchFamily="18" charset="0"/>
              </a:rPr>
              <a:t> size);</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getcwd</a:t>
            </a:r>
            <a:r>
              <a:rPr lang="en-US" dirty="0" smtClean="0">
                <a:latin typeface="Lucida Bright" panose="02040602050505020304" pitchFamily="18" charset="0"/>
              </a:rPr>
              <a:t> function writes the name of the current directory into the given buffer, </a:t>
            </a:r>
            <a:r>
              <a:rPr lang="en-US" dirty="0" err="1" smtClean="0">
                <a:latin typeface="Lucida Bright" panose="02040602050505020304" pitchFamily="18" charset="0"/>
              </a:rPr>
              <a:t>buf</a:t>
            </a:r>
            <a:r>
              <a:rPr lang="en-US" dirty="0" smtClean="0">
                <a:latin typeface="Lucida Bright" panose="02040602050505020304" pitchFamily="18" charset="0"/>
              </a:rPr>
              <a:t>. It returns null if the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directory name would exceed the size of the buffer (an ERANGE error), given</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File and Directory Management</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457200"/>
            <a:ext cx="7848600" cy="5638800"/>
          </a:xfrm>
        </p:spPr>
        <p:txBody>
          <a:bodyPr/>
          <a:lstStyle/>
          <a:p>
            <a:pPr algn="l">
              <a:lnSpc>
                <a:spcPct val="150000"/>
              </a:lnSpc>
            </a:pPr>
            <a:r>
              <a:rPr lang="en-US" sz="2200" dirty="0" smtClean="0">
                <a:solidFill>
                  <a:schemeClr val="tx1"/>
                </a:solidFill>
                <a:latin typeface="Times New Roman" panose="02020603050405020304" pitchFamily="18" charset="0"/>
                <a:cs typeface="Times New Roman" panose="02020603050405020304" pitchFamily="18" charset="0"/>
              </a:rPr>
              <a:t>as the parameter size. It returns </a:t>
            </a:r>
            <a:r>
              <a:rPr lang="en-US" sz="2200" dirty="0" err="1" smtClean="0">
                <a:solidFill>
                  <a:schemeClr val="tx1"/>
                </a:solidFill>
                <a:latin typeface="Times New Roman" panose="02020603050405020304" pitchFamily="18" charset="0"/>
                <a:cs typeface="Times New Roman" panose="02020603050405020304" pitchFamily="18" charset="0"/>
              </a:rPr>
              <a:t>buf</a:t>
            </a:r>
            <a:r>
              <a:rPr lang="en-US" sz="2200" dirty="0" smtClean="0">
                <a:solidFill>
                  <a:schemeClr val="tx1"/>
                </a:solidFill>
                <a:latin typeface="Times New Roman" panose="02020603050405020304" pitchFamily="18" charset="0"/>
                <a:cs typeface="Times New Roman" panose="02020603050405020304" pitchFamily="18" charset="0"/>
              </a:rPr>
              <a:t> on success.</a:t>
            </a:r>
            <a:endParaRPr lang="en-US" sz="2200" dirty="0" smtClean="0">
              <a:solidFill>
                <a:schemeClr val="tx1"/>
              </a:solidFill>
              <a:latin typeface="Times New Roman" panose="02020603050405020304" pitchFamily="18" charset="0"/>
              <a:cs typeface="Times New Roman" panose="02020603050405020304" pitchFamily="18" charset="0"/>
            </a:endParaRPr>
          </a:p>
          <a:p>
            <a:pPr algn="l"/>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76C926EF-2906-4D03-ACE2-C3243ABAF3CC}" type="slidenum">
              <a:rPr lang="en-US" smtClean="0"/>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858976"/>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directory functions are declared in a header file, </a:t>
            </a:r>
            <a:r>
              <a:rPr lang="en-US" dirty="0" err="1" smtClean="0">
                <a:latin typeface="Lucida Bright" panose="02040602050505020304" pitchFamily="18" charset="0"/>
              </a:rPr>
              <a:t>dirent.h</a:t>
            </a:r>
            <a:r>
              <a:rPr lang="en-US" dirty="0" smtClean="0">
                <a:latin typeface="Lucida Bright" panose="02040602050505020304" pitchFamily="18" charset="0"/>
              </a:rPr>
              <a:t>. They use a structure, DIR, as a basis for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directory manipulation. A pointer to this structure, called a </a:t>
            </a:r>
            <a:r>
              <a:rPr lang="en-US" b="1" dirty="0" smtClean="0">
                <a:latin typeface="Lucida Bright" panose="02040602050505020304" pitchFamily="18" charset="0"/>
              </a:rPr>
              <a:t>directory stream (a DIR *), acts in much the</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same way as a file steam (FILE *) does for regular file manipulation. Directory entries themselves are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returned in </a:t>
            </a:r>
            <a:r>
              <a:rPr lang="en-US" dirty="0" err="1" smtClean="0">
                <a:latin typeface="Lucida Bright" panose="02040602050505020304" pitchFamily="18" charset="0"/>
              </a:rPr>
              <a:t>dirent</a:t>
            </a:r>
            <a:r>
              <a:rPr lang="en-US" dirty="0" smtClean="0">
                <a:latin typeface="Lucida Bright" panose="02040602050505020304" pitchFamily="18" charset="0"/>
              </a:rPr>
              <a:t> structures, also declared in </a:t>
            </a:r>
            <a:r>
              <a:rPr lang="en-US" dirty="0" err="1" smtClean="0">
                <a:latin typeface="Lucida Bright" panose="02040602050505020304" pitchFamily="18" charset="0"/>
              </a:rPr>
              <a:t>dirent.h</a:t>
            </a:r>
            <a:r>
              <a:rPr lang="en-US" dirty="0" smtClean="0">
                <a:latin typeface="Lucida Bright" panose="02040602050505020304" pitchFamily="18" charset="0"/>
              </a:rPr>
              <a:t>, as one should never alter the fields in the DIR structure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directly.</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We'll review these functions: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err="1" smtClean="0">
                <a:latin typeface="Lucida Bright" panose="02040602050505020304" pitchFamily="18" charset="0"/>
              </a:rPr>
              <a:t>opendir</a:t>
            </a:r>
            <a:r>
              <a:rPr lang="en-US" dirty="0" smtClean="0">
                <a:latin typeface="Lucida Bright" panose="02040602050505020304" pitchFamily="18" charset="0"/>
              </a:rPr>
              <a:t>, </a:t>
            </a:r>
            <a:r>
              <a:rPr lang="en-US" dirty="0" err="1" smtClean="0">
                <a:latin typeface="Lucida Bright" panose="02040602050505020304" pitchFamily="18" charset="0"/>
              </a:rPr>
              <a:t>closedir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err="1" smtClean="0">
                <a:latin typeface="Lucida Bright" panose="02040602050505020304" pitchFamily="18" charset="0"/>
              </a:rPr>
              <a:t>readdir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err="1" smtClean="0">
                <a:latin typeface="Lucida Bright" panose="02040602050505020304" pitchFamily="18" charset="0"/>
              </a:rPr>
              <a:t>telldir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 </a:t>
            </a:r>
            <a:r>
              <a:rPr lang="en-US" dirty="0" err="1" smtClean="0">
                <a:latin typeface="Lucida Bright" panose="02040602050505020304" pitchFamily="18" charset="0"/>
              </a:rPr>
              <a:t>seekdir</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Scanning Directories</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909310"/>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opendir</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opendir</a:t>
            </a:r>
            <a:r>
              <a:rPr lang="en-US" dirty="0" smtClean="0">
                <a:latin typeface="Lucida Bright" panose="02040602050505020304" pitchFamily="18" charset="0"/>
              </a:rPr>
              <a:t> function opens a directory and establishes a directory stream. If successful, it returns a pointer to</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a DIR structure to be used for reading directory entries.</a:t>
            </a:r>
            <a:endParaRPr lang="en-US"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types.h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dirent.h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DIR *</a:t>
            </a:r>
            <a:r>
              <a:rPr lang="en-US" b="1" dirty="0" err="1" smtClean="0">
                <a:latin typeface="Lucida Bright" panose="02040602050505020304" pitchFamily="18" charset="0"/>
              </a:rPr>
              <a:t>opendir</a:t>
            </a:r>
            <a:r>
              <a:rPr lang="en-US" b="1" dirty="0" smtClean="0">
                <a:latin typeface="Lucida Bright" panose="02040602050505020304" pitchFamily="18" charset="0"/>
              </a:rPr>
              <a:t>(const char *name);</a:t>
            </a:r>
            <a:endParaRPr lang="en-US" b="1"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opendir</a:t>
            </a:r>
            <a:r>
              <a:rPr lang="en-US" dirty="0" smtClean="0">
                <a:latin typeface="Lucida Bright" panose="02040602050505020304" pitchFamily="18" charset="0"/>
              </a:rPr>
              <a:t> returns a null pointer on failure. Note that a directory stream uses a low−level file descriptor to access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directory itself, so </a:t>
            </a:r>
            <a:r>
              <a:rPr lang="en-US" dirty="0" err="1" smtClean="0">
                <a:latin typeface="Lucida Bright" panose="02040602050505020304" pitchFamily="18" charset="0"/>
              </a:rPr>
              <a:t>opendir</a:t>
            </a:r>
            <a:r>
              <a:rPr lang="en-US" dirty="0" smtClean="0">
                <a:latin typeface="Lucida Bright" panose="02040602050505020304" pitchFamily="18" charset="0"/>
              </a:rPr>
              <a:t> could fail with too many open files.</a:t>
            </a:r>
            <a:endParaRPr lang="en-US"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readdir</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types.h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dirent.h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struct</a:t>
            </a:r>
            <a:r>
              <a:rPr lang="en-US" b="1" dirty="0" smtClean="0">
                <a:latin typeface="Lucida Bright" panose="02040602050505020304" pitchFamily="18" charset="0"/>
              </a:rPr>
              <a:t> </a:t>
            </a:r>
            <a:r>
              <a:rPr lang="en-US" b="1" dirty="0" err="1" smtClean="0">
                <a:latin typeface="Lucida Bright" panose="02040602050505020304" pitchFamily="18" charset="0"/>
              </a:rPr>
              <a:t>dirent</a:t>
            </a:r>
            <a:r>
              <a:rPr lang="en-US" b="1" dirty="0" smtClean="0">
                <a:latin typeface="Lucida Bright" panose="02040602050505020304" pitchFamily="18" charset="0"/>
              </a:rPr>
              <a:t> *</a:t>
            </a:r>
            <a:r>
              <a:rPr lang="en-US" b="1" dirty="0" err="1" smtClean="0">
                <a:latin typeface="Lucida Bright" panose="02040602050505020304" pitchFamily="18" charset="0"/>
              </a:rPr>
              <a:t>readdir</a:t>
            </a:r>
            <a:r>
              <a:rPr lang="en-US" b="1" dirty="0" smtClean="0">
                <a:latin typeface="Lucida Bright" panose="02040602050505020304" pitchFamily="18" charset="0"/>
              </a:rPr>
              <a:t>(DIR *</a:t>
            </a:r>
            <a:r>
              <a:rPr lang="en-US" b="1" dirty="0" err="1" smtClean="0">
                <a:latin typeface="Lucida Bright" panose="02040602050505020304" pitchFamily="18" charset="0"/>
              </a:rPr>
              <a:t>dirp</a:t>
            </a:r>
            <a:r>
              <a:rPr lang="en-US" b="1" dirty="0" smtClean="0">
                <a:latin typeface="Lucida Bright" panose="02040602050505020304" pitchFamily="18" charset="0"/>
              </a:rPr>
              <a:t>);</a:t>
            </a:r>
            <a:endParaRPr lang="en-US" b="1"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Scanning Directories</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078313"/>
          </a:xfrm>
          <a:prstGeom prst="rect">
            <a:avLst/>
          </a:prstGeom>
          <a:noFill/>
          <a:ln w="9525">
            <a:noFill/>
            <a:miter lim="800000"/>
          </a:ln>
        </p:spPr>
        <p:txBody>
          <a:bodyPr wrap="square">
            <a:spAutoFit/>
          </a:bodyPr>
          <a:lstStyle/>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readdir</a:t>
            </a:r>
            <a:r>
              <a:rPr lang="en-US" dirty="0" smtClean="0">
                <a:latin typeface="Lucida Bright" panose="02040602050505020304" pitchFamily="18" charset="0"/>
              </a:rPr>
              <a:t> function returns a pointer to a structure detailing the next directory entry in the directory stream</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dirp</a:t>
            </a:r>
            <a:r>
              <a:rPr lang="en-US" dirty="0" smtClean="0">
                <a:latin typeface="Lucida Bright" panose="02040602050505020304" pitchFamily="18" charset="0"/>
              </a:rPr>
              <a:t>. Successive calls to </a:t>
            </a:r>
            <a:r>
              <a:rPr lang="en-US" dirty="0" err="1" smtClean="0">
                <a:latin typeface="Lucida Bright" panose="02040602050505020304" pitchFamily="18" charset="0"/>
              </a:rPr>
              <a:t>readdir</a:t>
            </a:r>
            <a:r>
              <a:rPr lang="en-US" dirty="0" smtClean="0">
                <a:latin typeface="Lucida Bright" panose="02040602050505020304" pitchFamily="18" charset="0"/>
              </a:rPr>
              <a:t> return further directory entries. On error, and at the end of the directory,</a:t>
            </a:r>
            <a:endParaRPr lang="en-US" dirty="0" smtClean="0">
              <a:latin typeface="Lucida Bright" panose="02040602050505020304" pitchFamily="18" charset="0"/>
            </a:endParaRPr>
          </a:p>
          <a:p>
            <a:pPr>
              <a:lnSpc>
                <a:spcPct val="150000"/>
              </a:lnSpc>
            </a:pPr>
            <a:r>
              <a:rPr lang="en-US" dirty="0" err="1" smtClean="0">
                <a:latin typeface="Lucida Bright" panose="02040602050505020304" pitchFamily="18" charset="0"/>
              </a:rPr>
              <a:t>readdir</a:t>
            </a:r>
            <a:r>
              <a:rPr lang="en-US" dirty="0" smtClean="0">
                <a:latin typeface="Lucida Bright" panose="02040602050505020304" pitchFamily="18" charset="0"/>
              </a:rPr>
              <a:t> returns NULL. POSIX compliant systems leave </a:t>
            </a:r>
            <a:r>
              <a:rPr lang="en-US" dirty="0" err="1" smtClean="0">
                <a:latin typeface="Lucida Bright" panose="02040602050505020304" pitchFamily="18" charset="0"/>
              </a:rPr>
              <a:t>errno</a:t>
            </a:r>
            <a:r>
              <a:rPr lang="en-US" dirty="0" smtClean="0">
                <a:latin typeface="Lucida Bright" panose="02040602050505020304" pitchFamily="18" charset="0"/>
              </a:rPr>
              <a:t> unchanged when returning NULL at end of</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directory and set it when an error occurs.</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Note that </a:t>
            </a:r>
            <a:r>
              <a:rPr lang="en-US" dirty="0" err="1" smtClean="0">
                <a:latin typeface="Lucida Bright" panose="02040602050505020304" pitchFamily="18" charset="0"/>
              </a:rPr>
              <a:t>readdir</a:t>
            </a:r>
            <a:r>
              <a:rPr lang="en-US" dirty="0" smtClean="0">
                <a:latin typeface="Lucida Bright" panose="02040602050505020304" pitchFamily="18" charset="0"/>
              </a:rPr>
              <a:t> scanning isn't guaranteed to list all the files (and subdirectories) in a directory if there are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other processes creating and deleting files in the directory at the same time. </a:t>
            </a: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a:p>
            <a:pPr>
              <a:lnSpc>
                <a:spcPct val="150000"/>
              </a:lnSpc>
            </a:pP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Scanning Directories</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909310"/>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telldir</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types.h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dirent.h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long </a:t>
            </a: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telldir</a:t>
            </a:r>
            <a:r>
              <a:rPr lang="en-US" b="1" dirty="0" smtClean="0">
                <a:latin typeface="Lucida Bright" panose="02040602050505020304" pitchFamily="18" charset="0"/>
              </a:rPr>
              <a:t>(DIR *</a:t>
            </a:r>
            <a:r>
              <a:rPr lang="en-US" b="1" dirty="0" err="1" smtClean="0">
                <a:latin typeface="Lucida Bright" panose="02040602050505020304" pitchFamily="18" charset="0"/>
              </a:rPr>
              <a:t>dirp</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telldir</a:t>
            </a:r>
            <a:r>
              <a:rPr lang="en-US" dirty="0" smtClean="0">
                <a:latin typeface="Lucida Bright" panose="02040602050505020304" pitchFamily="18" charset="0"/>
              </a:rPr>
              <a:t> function returns a value that records the current position in a directory stream. You can use this in</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subsequent calls to </a:t>
            </a:r>
            <a:r>
              <a:rPr lang="en-US" dirty="0" err="1" smtClean="0">
                <a:latin typeface="Lucida Bright" panose="02040602050505020304" pitchFamily="18" charset="0"/>
              </a:rPr>
              <a:t>seekdir</a:t>
            </a:r>
            <a:r>
              <a:rPr lang="en-US" dirty="0" smtClean="0">
                <a:latin typeface="Lucida Bright" panose="02040602050505020304" pitchFamily="18" charset="0"/>
              </a:rPr>
              <a:t> to reset a directory scan to the current position.</a:t>
            </a:r>
            <a:endParaRPr lang="en-US"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seekdir</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types.h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dirent.h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void </a:t>
            </a:r>
            <a:r>
              <a:rPr lang="en-US" b="1" dirty="0" err="1" smtClean="0">
                <a:latin typeface="Lucida Bright" panose="02040602050505020304" pitchFamily="18" charset="0"/>
              </a:rPr>
              <a:t>seekdir</a:t>
            </a:r>
            <a:r>
              <a:rPr lang="en-US" b="1" dirty="0" smtClean="0">
                <a:latin typeface="Lucida Bright" panose="02040602050505020304" pitchFamily="18" charset="0"/>
              </a:rPr>
              <a:t>(DIR *</a:t>
            </a:r>
            <a:r>
              <a:rPr lang="en-US" b="1" dirty="0" err="1" smtClean="0">
                <a:latin typeface="Lucida Bright" panose="02040602050505020304" pitchFamily="18" charset="0"/>
              </a:rPr>
              <a:t>dirp</a:t>
            </a:r>
            <a:r>
              <a:rPr lang="en-US" b="1" dirty="0" smtClean="0">
                <a:latin typeface="Lucida Bright" panose="02040602050505020304" pitchFamily="18" charset="0"/>
              </a:rPr>
              <a:t>, long </a:t>
            </a:r>
            <a:r>
              <a:rPr lang="en-US" b="1" dirty="0" err="1" smtClean="0">
                <a:latin typeface="Lucida Bright" panose="02040602050505020304" pitchFamily="18" charset="0"/>
              </a:rPr>
              <a:t>int</a:t>
            </a:r>
            <a:r>
              <a:rPr lang="en-US" b="1" dirty="0" smtClean="0">
                <a:latin typeface="Lucida Bright" panose="02040602050505020304" pitchFamily="18" charset="0"/>
              </a:rPr>
              <a:t> loc);</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seekdir</a:t>
            </a:r>
            <a:r>
              <a:rPr lang="en-US" dirty="0" smtClean="0">
                <a:latin typeface="Lucida Bright" panose="02040602050505020304" pitchFamily="18" charset="0"/>
              </a:rPr>
              <a:t> function sets the directory entry pointer in the directory stream given by </a:t>
            </a:r>
            <a:r>
              <a:rPr lang="en-US" dirty="0" err="1" smtClean="0">
                <a:latin typeface="Lucida Bright" panose="02040602050505020304" pitchFamily="18" charset="0"/>
              </a:rPr>
              <a:t>dirp</a:t>
            </a:r>
            <a:r>
              <a:rPr lang="en-US" dirty="0" smtClean="0">
                <a:latin typeface="Lucida Bright" panose="02040602050505020304" pitchFamily="18" charset="0"/>
              </a:rPr>
              <a:t>. The value of loc,</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used to set the position, should have been obtained from a prior call to </a:t>
            </a:r>
            <a:r>
              <a:rPr lang="en-US" dirty="0" err="1" smtClean="0">
                <a:latin typeface="Lucida Bright" panose="02040602050505020304" pitchFamily="18" charset="0"/>
              </a:rPr>
              <a:t>telldir</a:t>
            </a:r>
            <a:r>
              <a:rPr lang="en-US" dirty="0" smtClean="0">
                <a:latin typeface="Lucida Bright" panose="02040602050505020304" pitchFamily="18" charset="0"/>
              </a:rPr>
              <a:t>.</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Scanning Directories</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2"/>
          <p:cNvSpPr>
            <a:spLocks noGrp="1"/>
          </p:cNvSpPr>
          <p:nvPr>
            <p:ph type="sldNum" sz="quarter" idx="12"/>
          </p:nvPr>
        </p:nvSpPr>
        <p:spPr bwMode="auto">
          <a:ln>
            <a:miter lim="800000"/>
          </a:ln>
        </p:spPr>
        <p:txBody>
          <a:bodyPr wrap="square" numCol="1" anchorCtr="0" compatLnSpc="1"/>
          <a:lstStyle/>
          <a:p>
            <a:pPr>
              <a:defRPr/>
            </a:pPr>
            <a:fld id="{A19340AE-31D1-442E-A314-C4E344C8F788}" type="slidenum">
              <a:rPr lang="en-US">
                <a:latin typeface="Lucida Bright" panose="02040602050505020304" pitchFamily="18" charset="0"/>
              </a:rPr>
            </a:fld>
            <a:endParaRPr lang="en-US">
              <a:latin typeface="Lucida Bright" panose="02040602050505020304" pitchFamily="18" charset="0"/>
            </a:endParaRPr>
          </a:p>
        </p:txBody>
      </p:sp>
      <p:sp>
        <p:nvSpPr>
          <p:cNvPr id="22531" name="Line 2"/>
          <p:cNvSpPr>
            <a:spLocks noChangeShapeType="1"/>
          </p:cNvSpPr>
          <p:nvPr/>
        </p:nvSpPr>
        <p:spPr bwMode="auto">
          <a:xfrm>
            <a:off x="381000" y="457200"/>
            <a:ext cx="0" cy="0"/>
          </a:xfrm>
          <a:prstGeom prst="line">
            <a:avLst/>
          </a:prstGeom>
          <a:noFill/>
          <a:ln w="9525">
            <a:solidFill>
              <a:schemeClr val="tx1"/>
            </a:solidFill>
            <a:round/>
          </a:ln>
        </p:spPr>
        <p:txBody>
          <a:bodyPr/>
          <a:lstStyle/>
          <a:p>
            <a:endParaRPr lang="en-US">
              <a:latin typeface="Lucida Bright" panose="02040602050505020304" pitchFamily="18" charset="0"/>
            </a:endParaRPr>
          </a:p>
        </p:txBody>
      </p:sp>
      <p:sp>
        <p:nvSpPr>
          <p:cNvPr id="22532" name="TextBox 10"/>
          <p:cNvSpPr txBox="1">
            <a:spLocks noChangeArrowheads="1"/>
          </p:cNvSpPr>
          <p:nvPr/>
        </p:nvSpPr>
        <p:spPr bwMode="auto">
          <a:xfrm>
            <a:off x="0" y="838200"/>
            <a:ext cx="8915400" cy="5025735"/>
          </a:xfrm>
          <a:prstGeom prst="rect">
            <a:avLst/>
          </a:prstGeom>
          <a:noFill/>
          <a:ln w="9525">
            <a:noFill/>
            <a:miter lim="800000"/>
          </a:ln>
        </p:spPr>
        <p:txBody>
          <a:bodyPr wrap="square">
            <a:spAutoFit/>
          </a:bodyPr>
          <a:lstStyle/>
          <a:p>
            <a:pPr>
              <a:lnSpc>
                <a:spcPct val="150000"/>
              </a:lnSpc>
            </a:pPr>
            <a:r>
              <a:rPr lang="en-US" b="1" dirty="0" err="1" smtClean="0">
                <a:latin typeface="Lucida Bright" panose="02040602050505020304" pitchFamily="18" charset="0"/>
              </a:rPr>
              <a:t>closedir</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&lt;sys/</a:t>
            </a:r>
            <a:r>
              <a:rPr lang="en-US" b="1" dirty="0" err="1" smtClean="0">
                <a:latin typeface="Lucida Bright" panose="02040602050505020304" pitchFamily="18" charset="0"/>
              </a:rPr>
              <a:t>types.h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smtClean="0">
                <a:latin typeface="Lucida Bright" panose="02040602050505020304" pitchFamily="18" charset="0"/>
              </a:rPr>
              <a:t>#include &lt;</a:t>
            </a:r>
            <a:r>
              <a:rPr lang="en-US" b="1" dirty="0" err="1" smtClean="0">
                <a:latin typeface="Lucida Bright" panose="02040602050505020304" pitchFamily="18" charset="0"/>
              </a:rPr>
              <a:t>dirent.h</a:t>
            </a:r>
            <a:r>
              <a:rPr lang="en-US" b="1" dirty="0" smtClean="0">
                <a:latin typeface="Lucida Bright" panose="02040602050505020304" pitchFamily="18" charset="0"/>
              </a:rPr>
              <a:t>&gt;</a:t>
            </a:r>
            <a:endParaRPr lang="en-US" b="1" dirty="0" smtClean="0">
              <a:latin typeface="Lucida Bright" panose="02040602050505020304" pitchFamily="18" charset="0"/>
            </a:endParaRPr>
          </a:p>
          <a:p>
            <a:pPr>
              <a:lnSpc>
                <a:spcPct val="150000"/>
              </a:lnSpc>
            </a:pPr>
            <a:r>
              <a:rPr lang="en-US" b="1" dirty="0" err="1" smtClean="0">
                <a:latin typeface="Lucida Bright" panose="02040602050505020304" pitchFamily="18" charset="0"/>
              </a:rPr>
              <a:t>int</a:t>
            </a:r>
            <a:r>
              <a:rPr lang="en-US" b="1" dirty="0" smtClean="0">
                <a:latin typeface="Lucida Bright" panose="02040602050505020304" pitchFamily="18" charset="0"/>
              </a:rPr>
              <a:t> </a:t>
            </a:r>
            <a:r>
              <a:rPr lang="en-US" b="1" dirty="0" err="1" smtClean="0">
                <a:latin typeface="Lucida Bright" panose="02040602050505020304" pitchFamily="18" charset="0"/>
              </a:rPr>
              <a:t>closedir</a:t>
            </a:r>
            <a:r>
              <a:rPr lang="en-US" b="1" dirty="0" smtClean="0">
                <a:latin typeface="Lucida Bright" panose="02040602050505020304" pitchFamily="18" charset="0"/>
              </a:rPr>
              <a:t>(DIR *</a:t>
            </a:r>
            <a:r>
              <a:rPr lang="en-US" b="1" dirty="0" err="1" smtClean="0">
                <a:latin typeface="Lucida Bright" panose="02040602050505020304" pitchFamily="18" charset="0"/>
              </a:rPr>
              <a:t>dirp</a:t>
            </a:r>
            <a:r>
              <a:rPr lang="en-US" b="1" dirty="0" smtClean="0">
                <a:latin typeface="Lucida Bright" panose="02040602050505020304" pitchFamily="18" charset="0"/>
              </a:rPr>
              <a:t>);</a:t>
            </a:r>
            <a:endParaRPr lang="en-US" b="1" dirty="0" smtClean="0">
              <a:latin typeface="Lucida Bright" panose="02040602050505020304" pitchFamily="18" charset="0"/>
            </a:endParaRPr>
          </a:p>
          <a:p>
            <a:pPr>
              <a:lnSpc>
                <a:spcPct val="150000"/>
              </a:lnSpc>
            </a:pPr>
            <a:r>
              <a:rPr lang="en-US" dirty="0" smtClean="0">
                <a:latin typeface="Lucida Bright" panose="02040602050505020304" pitchFamily="18" charset="0"/>
              </a:rPr>
              <a:t>The </a:t>
            </a:r>
            <a:r>
              <a:rPr lang="en-US" dirty="0" err="1" smtClean="0">
                <a:latin typeface="Lucida Bright" panose="02040602050505020304" pitchFamily="18" charset="0"/>
              </a:rPr>
              <a:t>closedir</a:t>
            </a:r>
            <a:r>
              <a:rPr lang="en-US" dirty="0" smtClean="0">
                <a:latin typeface="Lucida Bright" panose="02040602050505020304" pitchFamily="18" charset="0"/>
              </a:rPr>
              <a:t> function closes a directory stream and frees up the resources associated with it. It returns 0 on</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success and −1 if there is an error.</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In the next program, </a:t>
            </a:r>
            <a:r>
              <a:rPr lang="en-US" dirty="0" err="1" smtClean="0">
                <a:latin typeface="Lucida Bright" panose="02040602050505020304" pitchFamily="18" charset="0"/>
              </a:rPr>
              <a:t>printdir.c</a:t>
            </a:r>
            <a:r>
              <a:rPr lang="en-US" dirty="0" smtClean="0">
                <a:latin typeface="Lucida Bright" panose="02040602050505020304" pitchFamily="18" charset="0"/>
              </a:rPr>
              <a:t>, we put together a lot of the file manipulation functions to create a simple</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directory listing. Each file in a directory is listed on a line by itself. Each subdirectory has its name, followed</a:t>
            </a:r>
            <a:endParaRPr lang="en-US" dirty="0" smtClean="0">
              <a:latin typeface="Lucida Bright" panose="02040602050505020304" pitchFamily="18" charset="0"/>
            </a:endParaRPr>
          </a:p>
          <a:p>
            <a:pPr>
              <a:lnSpc>
                <a:spcPct val="150000"/>
              </a:lnSpc>
            </a:pPr>
            <a:r>
              <a:rPr lang="en-US" dirty="0" smtClean="0">
                <a:latin typeface="Lucida Bright" panose="02040602050505020304" pitchFamily="18" charset="0"/>
              </a:rPr>
              <a:t>by a slash and the files in it are listed indented by four spaces.</a:t>
            </a:r>
            <a:endParaRPr lang="en-US" dirty="0" smtClean="0">
              <a:latin typeface="Lucida Bright" panose="02040602050505020304" pitchFamily="18" charset="0"/>
            </a:endParaRPr>
          </a:p>
        </p:txBody>
      </p:sp>
      <p:sp>
        <p:nvSpPr>
          <p:cNvPr id="22533" name="Rectangle 2"/>
          <p:cNvSpPr>
            <a:spLocks noChangeArrowheads="1"/>
          </p:cNvSpPr>
          <p:nvPr/>
        </p:nvSpPr>
        <p:spPr bwMode="auto">
          <a:xfrm>
            <a:off x="0" y="0"/>
            <a:ext cx="9144000" cy="914400"/>
          </a:xfrm>
          <a:prstGeom prst="rect">
            <a:avLst/>
          </a:prstGeom>
        </p:spPr>
        <p:style>
          <a:lnRef idx="2">
            <a:schemeClr val="dk1"/>
          </a:lnRef>
          <a:fillRef idx="1">
            <a:schemeClr val="lt1"/>
          </a:fillRef>
          <a:effectRef idx="0">
            <a:schemeClr val="dk1"/>
          </a:effectRef>
          <a:fontRef idx="minor">
            <a:schemeClr val="dk1"/>
          </a:fontRef>
        </p:style>
        <p:txBody>
          <a:bodyPr wrap="none" anchor="ctr"/>
          <a:lstStyle/>
          <a:p>
            <a:pPr algn="ctr"/>
            <a:r>
              <a:rPr lang="en-US" sz="4000" b="1" dirty="0" smtClean="0"/>
              <a:t>Scanning Directories</a:t>
            </a:r>
            <a:endParaRPr lang="en-US" sz="4000" dirty="0">
              <a:latin typeface="Lucida Bright" panose="020406020505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42147</Words>
  <Application>WPS Presentation</Application>
  <PresentationFormat>On-screen Show (4:3)</PresentationFormat>
  <Paragraphs>1108</Paragraphs>
  <Slides>78</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78</vt:i4>
      </vt:variant>
    </vt:vector>
  </HeadingPairs>
  <TitlesOfParts>
    <vt:vector size="89" baseType="lpstr">
      <vt:lpstr>Arial</vt:lpstr>
      <vt:lpstr>SimSun</vt:lpstr>
      <vt:lpstr>Wingdings</vt:lpstr>
      <vt:lpstr>Calibri</vt:lpstr>
      <vt:lpstr>Lucida Bright</vt:lpstr>
      <vt:lpstr>Lucida Sans Unicode</vt:lpstr>
      <vt:lpstr>Times New Roman</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suma</dc:creator>
  <cp:lastModifiedBy>Ediga Amarnath Goud</cp:lastModifiedBy>
  <cp:revision>685</cp:revision>
  <dcterms:created xsi:type="dcterms:W3CDTF">2012-11-21T13:55:00Z</dcterms:created>
  <dcterms:modified xsi:type="dcterms:W3CDTF">2024-10-23T05:27:58Z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7576062D1BB840D9808E65184A94BF11_12</vt:lpwstr>
  </property>
  <property fmtid="{D5CDD505-2E9C-101B-9397-08002B2CF9AE}" pid="3" name="KSOProductBuildVer">
    <vt:lpwstr>1033-12.2.0.18586</vt:lpwstr>
  </property>
</Properties>
</file>